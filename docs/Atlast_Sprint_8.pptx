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3" r:id="rId6"/>
    <p:sldId id="262" r:id="rId7"/>
    <p:sldId id="265" r:id="rId8"/>
    <p:sldId id="266" r:id="rId9"/>
    <p:sldId id="267" r:id="rId10"/>
    <p:sldId id="261" r:id="rId11"/>
    <p:sldId id="260"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67" autoAdjust="0"/>
    <p:restoredTop sz="86441" autoAdjust="0"/>
  </p:normalViewPr>
  <p:slideViewPr>
    <p:cSldViewPr snapToGrid="0">
      <p:cViewPr varScale="1">
        <p:scale>
          <a:sx n="78" d="100"/>
          <a:sy n="78" d="100"/>
        </p:scale>
        <p:origin x="120" y="48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EDBBD0-D204-46A1-8BBB-B96C96695B95}"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DF263D-5665-4A7C-828E-8E913E9FBDB3}" type="slidenum">
              <a:rPr lang="en-US" smtClean="0"/>
              <a:t>‹#›</a:t>
            </a:fld>
            <a:endParaRPr lang="en-US"/>
          </a:p>
        </p:txBody>
      </p:sp>
    </p:spTree>
    <p:extLst>
      <p:ext uri="{BB962C8B-B14F-4D97-AF65-F5344CB8AC3E}">
        <p14:creationId xmlns:p14="http://schemas.microsoft.com/office/powerpoint/2010/main" val="3947309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 — Engineering Brief: Release It</a:t>
            </a:r>
          </a:p>
          <a:p>
            <a:r>
              <a:rPr lang="en-US" b="1" dirty="0"/>
              <a:t>Opening</a:t>
            </a:r>
          </a:p>
          <a:p>
            <a:r>
              <a:rPr lang="en-US" dirty="0"/>
              <a:t>“We have reached the final sprint of the Atlas </a:t>
            </a:r>
            <a:r>
              <a:rPr lang="en-US" dirty="0" err="1"/>
              <a:t>TaskFlow</a:t>
            </a:r>
            <a:r>
              <a:rPr lang="en-US" dirty="0"/>
              <a:t> journey.</a:t>
            </a:r>
          </a:p>
          <a:p>
            <a:r>
              <a:rPr lang="en-US" dirty="0"/>
              <a:t>Over the course of this project, we have planned the product, understood the SaaS environment, designed the solution, built and deployed the application, given it persistence, protected it, and prepared it for real-world use.</a:t>
            </a:r>
          </a:p>
          <a:p>
            <a:r>
              <a:rPr lang="en-US" dirty="0"/>
              <a:t>Now we reach </a:t>
            </a:r>
            <a:r>
              <a:rPr lang="en-US" b="1" dirty="0"/>
              <a:t>Sprint 8: RELEASE IT</a:t>
            </a:r>
            <a:r>
              <a:rPr lang="en-US" dirty="0"/>
              <a:t>.</a:t>
            </a:r>
          </a:p>
          <a:p>
            <a:r>
              <a:rPr lang="en-US" dirty="0"/>
              <a:t>And this sprint asks one final engineering question:</a:t>
            </a:r>
          </a:p>
          <a:p>
            <a:r>
              <a:rPr lang="en-US" b="1" dirty="0"/>
              <a:t>Can we deliver and defend what we built?</a:t>
            </a:r>
            <a:endParaRPr lang="en-US" dirty="0"/>
          </a:p>
          <a:p>
            <a:r>
              <a:rPr lang="en-US" dirty="0"/>
              <a:t>That question is much bigger than, ‘Does the application work?’”</a:t>
            </a:r>
          </a:p>
          <a:p>
            <a:br>
              <a:rPr lang="en-US" dirty="0"/>
            </a:br>
            <a:endParaRPr lang="en-US" dirty="0"/>
          </a:p>
          <a:p>
            <a:r>
              <a:rPr lang="en-US" b="1" dirty="0"/>
              <a:t>From Working Software to a Released Product</a:t>
            </a:r>
          </a:p>
          <a:p>
            <a:r>
              <a:rPr lang="en-US" dirty="0"/>
              <a:t>“At this point, Atlas should already be a functioning application.</a:t>
            </a:r>
          </a:p>
          <a:p>
            <a:r>
              <a:rPr lang="en-US" dirty="0"/>
              <a:t>But a working application isn't automatically a finished product.</a:t>
            </a:r>
          </a:p>
          <a:p>
            <a:r>
              <a:rPr lang="en-US" dirty="0"/>
              <a:t>A professional software team has to be able to answer questions like:</a:t>
            </a:r>
          </a:p>
          <a:p>
            <a:pPr lvl="0"/>
            <a:r>
              <a:rPr lang="en-US" dirty="0"/>
              <a:t>Have we tested it thoroughly?</a:t>
            </a:r>
          </a:p>
          <a:p>
            <a:pPr lvl="0"/>
            <a:r>
              <a:rPr lang="en-US" dirty="0"/>
              <a:t>Have we fixed the important problems?</a:t>
            </a:r>
          </a:p>
          <a:p>
            <a:pPr lvl="0"/>
            <a:r>
              <a:rPr lang="en-US" dirty="0"/>
              <a:t>Is the user experience polished?</a:t>
            </a:r>
          </a:p>
          <a:p>
            <a:pPr lvl="0"/>
            <a:r>
              <a:rPr lang="en-US" dirty="0"/>
              <a:t>Can we deploy it confidently?</a:t>
            </a:r>
          </a:p>
          <a:p>
            <a:pPr lvl="0"/>
            <a:r>
              <a:rPr lang="en-US" dirty="0"/>
              <a:t>Can someone else understand how to use and maintain it?</a:t>
            </a:r>
          </a:p>
          <a:p>
            <a:pPr lvl="0"/>
            <a:r>
              <a:rPr lang="en-US" dirty="0"/>
              <a:t>Can we demonstrate what we've built?</a:t>
            </a:r>
          </a:p>
          <a:p>
            <a:pPr lvl="0"/>
            <a:r>
              <a:rPr lang="en-US" dirty="0"/>
              <a:t>Can we explain the value?</a:t>
            </a:r>
          </a:p>
          <a:p>
            <a:pPr lvl="0"/>
            <a:r>
              <a:rPr lang="en-US" dirty="0"/>
              <a:t>Can we evaluate whether we actually succeeded?</a:t>
            </a:r>
          </a:p>
          <a:p>
            <a:r>
              <a:rPr lang="en-US" dirty="0"/>
              <a:t>Sprint 8 is where we bring all of those pieces together.”</a:t>
            </a:r>
          </a:p>
          <a:p>
            <a:br>
              <a:rPr lang="en-US" dirty="0"/>
            </a:br>
            <a:endParaRPr lang="en-US" dirty="0"/>
          </a:p>
          <a:p>
            <a:r>
              <a:rPr lang="en-US" b="1" dirty="0"/>
              <a:t>The Engineering Question</a:t>
            </a:r>
          </a:p>
          <a:p>
            <a:r>
              <a:rPr lang="en-US" dirty="0"/>
              <a:t>“Notice that our engineering question has changed throughout the Atlas journey.</a:t>
            </a:r>
          </a:p>
          <a:p>
            <a:r>
              <a:rPr lang="en-US" dirty="0"/>
              <a:t>We started with:</a:t>
            </a:r>
          </a:p>
          <a:p>
            <a:r>
              <a:rPr lang="en-US" b="1" dirty="0"/>
              <a:t>How do software engineers approach a problem?</a:t>
            </a:r>
            <a:endParaRPr lang="en-US" dirty="0"/>
          </a:p>
          <a:p>
            <a:r>
              <a:rPr lang="en-US" dirty="0"/>
              <a:t>Then:</a:t>
            </a:r>
          </a:p>
          <a:p>
            <a:r>
              <a:rPr lang="en-US" b="1" dirty="0"/>
              <a:t>What makes an application a SaaS product?</a:t>
            </a:r>
            <a:endParaRPr lang="en-US" dirty="0"/>
          </a:p>
          <a:p>
            <a:r>
              <a:rPr lang="en-US" dirty="0"/>
              <a:t>Then:</a:t>
            </a:r>
          </a:p>
          <a:p>
            <a:r>
              <a:rPr lang="en-US" b="1" dirty="0"/>
              <a:t>What should we build?</a:t>
            </a:r>
            <a:endParaRPr lang="en-US" dirty="0"/>
          </a:p>
          <a:p>
            <a:r>
              <a:rPr lang="en-US" dirty="0"/>
              <a:t>Then:</a:t>
            </a:r>
          </a:p>
          <a:p>
            <a:r>
              <a:rPr lang="en-US" b="1" dirty="0"/>
              <a:t>Can we make it work?</a:t>
            </a:r>
            <a:endParaRPr lang="en-US" dirty="0"/>
          </a:p>
          <a:p>
            <a:r>
              <a:rPr lang="en-US" b="1" dirty="0"/>
              <a:t>Can it remember?</a:t>
            </a:r>
            <a:endParaRPr lang="en-US" dirty="0"/>
          </a:p>
          <a:p>
            <a:r>
              <a:rPr lang="en-US" b="1" dirty="0"/>
              <a:t>Can we protect it?</a:t>
            </a:r>
            <a:endParaRPr lang="en-US" dirty="0"/>
          </a:p>
          <a:p>
            <a:r>
              <a:rPr lang="en-US" b="1" dirty="0"/>
              <a:t>Is it ready?</a:t>
            </a:r>
            <a:endParaRPr lang="en-US" dirty="0"/>
          </a:p>
          <a:p>
            <a:r>
              <a:rPr lang="en-US" dirty="0"/>
              <a:t>And now:</a:t>
            </a:r>
          </a:p>
          <a:p>
            <a:r>
              <a:rPr lang="en-US" b="1" dirty="0"/>
              <a:t>Can we deliver and defend what we built?</a:t>
            </a:r>
            <a:endParaRPr lang="en-US" dirty="0"/>
          </a:p>
          <a:p>
            <a:r>
              <a:rPr lang="en-US" dirty="0"/>
              <a:t>That progression represents the mindset we're trying to develop.</a:t>
            </a:r>
          </a:p>
          <a:p>
            <a:r>
              <a:rPr lang="en-US" dirty="0"/>
              <a:t>We're not just learning technologies.</a:t>
            </a:r>
          </a:p>
          <a:p>
            <a:r>
              <a:rPr lang="en-US" dirty="0"/>
              <a:t>We're learning how to think and work like software engineers.”</a:t>
            </a:r>
          </a:p>
          <a:p>
            <a:br>
              <a:rPr lang="en-US" dirty="0"/>
            </a:br>
            <a:endParaRPr lang="en-US" dirty="0"/>
          </a:p>
          <a:p>
            <a:r>
              <a:rPr lang="en-US" b="1" dirty="0"/>
              <a:t>Key Focus Areas</a:t>
            </a:r>
          </a:p>
          <a:p>
            <a:r>
              <a:rPr lang="en-US" b="1" dirty="0"/>
              <a:t>1. Test Thoroughly</a:t>
            </a:r>
          </a:p>
          <a:p>
            <a:r>
              <a:rPr lang="en-US" dirty="0"/>
              <a:t>“First, we're going to test Atlas one more time.</a:t>
            </a:r>
          </a:p>
          <a:p>
            <a:r>
              <a:rPr lang="en-US" dirty="0"/>
              <a:t>This isn't simply running the application and clicking around for a few minutes.</a:t>
            </a:r>
          </a:p>
          <a:p>
            <a:r>
              <a:rPr lang="en-US" dirty="0"/>
              <a:t>We need to verify that the important functionality works.</a:t>
            </a:r>
          </a:p>
          <a:p>
            <a:r>
              <a:rPr lang="en-US" dirty="0"/>
              <a:t>We need to look for defects.</a:t>
            </a:r>
          </a:p>
          <a:p>
            <a:r>
              <a:rPr lang="en-US" dirty="0"/>
              <a:t>We need to verify that previous fixes didn't introduce new problems.</a:t>
            </a:r>
          </a:p>
          <a:p>
            <a:r>
              <a:rPr lang="en-US" dirty="0"/>
              <a:t>And we need to make sure the application behaves the way we designed it to behave.</a:t>
            </a:r>
          </a:p>
          <a:p>
            <a:r>
              <a:rPr lang="en-US" dirty="0"/>
              <a:t>The goal is confidence.”</a:t>
            </a:r>
          </a:p>
          <a:p>
            <a:br>
              <a:rPr lang="en-US" dirty="0"/>
            </a:br>
            <a:endParaRPr lang="en-US" dirty="0"/>
          </a:p>
          <a:p>
            <a:r>
              <a:rPr lang="en-US" b="1" dirty="0"/>
              <a:t>2. Fix &amp; Improve</a:t>
            </a:r>
          </a:p>
          <a:p>
            <a:r>
              <a:rPr lang="en-US" dirty="0"/>
              <a:t>“Testing will probably uncover problems.</a:t>
            </a:r>
          </a:p>
          <a:p>
            <a:r>
              <a:rPr lang="en-US" dirty="0"/>
              <a:t>That's normal.</a:t>
            </a:r>
          </a:p>
          <a:p>
            <a:r>
              <a:rPr lang="en-US" dirty="0"/>
              <a:t>Finding a bug at this stage doesn't mean the project failed.</a:t>
            </a:r>
          </a:p>
          <a:p>
            <a:r>
              <a:rPr lang="en-US" dirty="0"/>
              <a:t>In fact, </a:t>
            </a:r>
            <a:r>
              <a:rPr lang="en-US" b="1" dirty="0"/>
              <a:t>finding the problem before release is exactly what testing is supposed to accomplish.</a:t>
            </a:r>
            <a:endParaRPr lang="en-US" dirty="0"/>
          </a:p>
          <a:p>
            <a:r>
              <a:rPr lang="en-US" dirty="0"/>
              <a:t>Now we have to prioritize those issues.</a:t>
            </a:r>
          </a:p>
          <a:p>
            <a:r>
              <a:rPr lang="en-US" dirty="0"/>
              <a:t>Which problems must be fixed before release?</a:t>
            </a:r>
          </a:p>
          <a:p>
            <a:r>
              <a:rPr lang="en-US" dirty="0"/>
              <a:t>Which improvements would make the product better?</a:t>
            </a:r>
          </a:p>
          <a:p>
            <a:r>
              <a:rPr lang="en-US" dirty="0"/>
              <a:t>Which issues can reasonably wait for a future version?</a:t>
            </a:r>
          </a:p>
          <a:p>
            <a:r>
              <a:rPr lang="en-US" dirty="0"/>
              <a:t>Professional development isn't about pretending the software has no problems.</a:t>
            </a:r>
          </a:p>
          <a:p>
            <a:r>
              <a:rPr lang="en-US" dirty="0"/>
              <a:t>It's about making informed decisions about what we fix and when.”</a:t>
            </a:r>
          </a:p>
          <a:p>
            <a:br>
              <a:rPr lang="en-US" dirty="0"/>
            </a:br>
            <a:endParaRPr lang="en-US" dirty="0"/>
          </a:p>
          <a:p>
            <a:r>
              <a:rPr lang="en-US" b="1" dirty="0"/>
              <a:t>3. Polish the Product</a:t>
            </a:r>
          </a:p>
          <a:p>
            <a:r>
              <a:rPr lang="en-US" dirty="0"/>
              <a:t>“Now we move beyond simply making the application function.</a:t>
            </a:r>
          </a:p>
          <a:p>
            <a:r>
              <a:rPr lang="en-US" dirty="0"/>
              <a:t>We look at the overall experience.</a:t>
            </a:r>
          </a:p>
          <a:p>
            <a:r>
              <a:rPr lang="en-US" dirty="0"/>
              <a:t>Does the interface make sense?</a:t>
            </a:r>
          </a:p>
          <a:p>
            <a:r>
              <a:rPr lang="en-US" dirty="0"/>
              <a:t>Is navigation consistent?</a:t>
            </a:r>
          </a:p>
          <a:p>
            <a:r>
              <a:rPr lang="en-US" dirty="0"/>
              <a:t>Are labels clear?</a:t>
            </a:r>
          </a:p>
          <a:p>
            <a:r>
              <a:rPr lang="en-US" dirty="0"/>
              <a:t>Are error messages helpful?</a:t>
            </a:r>
          </a:p>
          <a:p>
            <a:r>
              <a:rPr lang="en-US" dirty="0"/>
              <a:t>Does the application look professional?</a:t>
            </a:r>
          </a:p>
          <a:p>
            <a:r>
              <a:rPr lang="en-US" dirty="0"/>
              <a:t>Are there areas where the user experience feels unfinished?</a:t>
            </a:r>
          </a:p>
          <a:p>
            <a:r>
              <a:rPr lang="en-US" dirty="0"/>
              <a:t>This is the difference between something that </a:t>
            </a:r>
            <a:r>
              <a:rPr lang="en-US" b="1" dirty="0"/>
              <a:t>works</a:t>
            </a:r>
            <a:r>
              <a:rPr lang="en-US" dirty="0"/>
              <a:t> and something that feels like a real product.”</a:t>
            </a:r>
          </a:p>
          <a:p>
            <a:br>
              <a:rPr lang="en-US" dirty="0"/>
            </a:br>
            <a:endParaRPr lang="en-US" dirty="0"/>
          </a:p>
          <a:p>
            <a:r>
              <a:rPr lang="en-US" b="1" dirty="0"/>
              <a:t>4. Deploy with Confidence</a:t>
            </a:r>
          </a:p>
          <a:p>
            <a:r>
              <a:rPr lang="en-US" dirty="0"/>
              <a:t>“We've already worked with deployment throughout the course.</a:t>
            </a:r>
          </a:p>
          <a:p>
            <a:r>
              <a:rPr lang="en-US" dirty="0"/>
              <a:t>Now we're performing the final release deployment.</a:t>
            </a:r>
          </a:p>
          <a:p>
            <a:r>
              <a:rPr lang="en-US" dirty="0"/>
              <a:t>We need to verify the production environment, configuration, database connectivity, application behavior, and any other dependencies required by Atlas.</a:t>
            </a:r>
          </a:p>
          <a:p>
            <a:r>
              <a:rPr lang="en-US" dirty="0"/>
              <a:t>Most importantly, we need to know how to verify that the deployment was successful.</a:t>
            </a:r>
          </a:p>
          <a:p>
            <a:r>
              <a:rPr lang="en-US" dirty="0"/>
              <a:t>We're not saying:</a:t>
            </a:r>
          </a:p>
          <a:p>
            <a:r>
              <a:rPr lang="en-US" dirty="0"/>
              <a:t>‘It deployed, so we're done.’</a:t>
            </a:r>
          </a:p>
          <a:p>
            <a:r>
              <a:rPr lang="en-US" dirty="0"/>
              <a:t>We're saying:</a:t>
            </a:r>
          </a:p>
          <a:p>
            <a:r>
              <a:rPr lang="en-US" dirty="0"/>
              <a:t>‘It deployed, and we proved that the production version works.’”</a:t>
            </a:r>
          </a:p>
          <a:p>
            <a:br>
              <a:rPr lang="en-US" dirty="0"/>
            </a:br>
            <a:endParaRPr lang="en-US" dirty="0"/>
          </a:p>
          <a:p>
            <a:r>
              <a:rPr lang="en-US" b="1" dirty="0"/>
              <a:t>5. Document</a:t>
            </a:r>
          </a:p>
          <a:p>
            <a:r>
              <a:rPr lang="en-US" dirty="0"/>
              <a:t>“Professional software doesn't live only inside the developer's head.</a:t>
            </a:r>
          </a:p>
          <a:p>
            <a:r>
              <a:rPr lang="en-US" dirty="0"/>
              <a:t>Documentation allows other people to understand and work with the system.</a:t>
            </a:r>
          </a:p>
          <a:p>
            <a:r>
              <a:rPr lang="en-US" dirty="0"/>
              <a:t>For Atlas, that means thinking about two audiences.</a:t>
            </a:r>
          </a:p>
          <a:p>
            <a:r>
              <a:rPr lang="en-US" dirty="0"/>
              <a:t>First, the </a:t>
            </a:r>
            <a:r>
              <a:rPr lang="en-US" b="1" dirty="0"/>
              <a:t>user</a:t>
            </a:r>
            <a:r>
              <a:rPr lang="en-US" dirty="0"/>
              <a:t>.</a:t>
            </a:r>
          </a:p>
          <a:p>
            <a:r>
              <a:rPr lang="en-US" dirty="0"/>
              <a:t>How do I use Atlas?</a:t>
            </a:r>
          </a:p>
          <a:p>
            <a:r>
              <a:rPr lang="en-US" dirty="0"/>
              <a:t>What does this feature do?</a:t>
            </a:r>
          </a:p>
          <a:p>
            <a:r>
              <a:rPr lang="en-US" dirty="0"/>
              <a:t>Where do I go when I need help?</a:t>
            </a:r>
          </a:p>
          <a:p>
            <a:r>
              <a:rPr lang="en-US" dirty="0"/>
              <a:t>Second, the </a:t>
            </a:r>
            <a:r>
              <a:rPr lang="en-US" b="1" dirty="0"/>
              <a:t>developer or maintainer</a:t>
            </a:r>
            <a:r>
              <a:rPr lang="en-US" dirty="0"/>
              <a:t>.</a:t>
            </a:r>
          </a:p>
          <a:p>
            <a:r>
              <a:rPr lang="en-US" dirty="0"/>
              <a:t>How is the application structured?</a:t>
            </a:r>
          </a:p>
          <a:p>
            <a:r>
              <a:rPr lang="en-US" dirty="0"/>
              <a:t>How do I configure it?</a:t>
            </a:r>
          </a:p>
          <a:p>
            <a:r>
              <a:rPr lang="en-US" dirty="0"/>
              <a:t>How do I deploy it?</a:t>
            </a:r>
          </a:p>
          <a:p>
            <a:r>
              <a:rPr lang="en-US" dirty="0"/>
              <a:t>Where is important functionality located?</a:t>
            </a:r>
          </a:p>
          <a:p>
            <a:r>
              <a:rPr lang="en-US" dirty="0"/>
              <a:t>Good documentation makes the product transferable and maintainable.”</a:t>
            </a:r>
          </a:p>
          <a:p>
            <a:br>
              <a:rPr lang="en-US" dirty="0"/>
            </a:br>
            <a:endParaRPr lang="en-US" dirty="0"/>
          </a:p>
          <a:p>
            <a:r>
              <a:rPr lang="en-US" b="1" dirty="0"/>
              <a:t>6. Demonstrate &amp; Present</a:t>
            </a:r>
          </a:p>
          <a:p>
            <a:r>
              <a:rPr lang="en-US" dirty="0"/>
              <a:t>“Now we have to show people what we built.</a:t>
            </a:r>
          </a:p>
          <a:p>
            <a:r>
              <a:rPr lang="en-US" dirty="0"/>
              <a:t>This is more than demonstrating that buttons work.</a:t>
            </a:r>
          </a:p>
          <a:p>
            <a:r>
              <a:rPr lang="en-US" dirty="0"/>
              <a:t>A good product presentation tells a story.</a:t>
            </a:r>
          </a:p>
          <a:p>
            <a:r>
              <a:rPr lang="en-US" dirty="0"/>
              <a:t>Start with the problem.</a:t>
            </a:r>
          </a:p>
          <a:p>
            <a:r>
              <a:rPr lang="en-US" dirty="0"/>
              <a:t>Explain the users.</a:t>
            </a:r>
          </a:p>
          <a:p>
            <a:r>
              <a:rPr lang="en-US" dirty="0"/>
              <a:t>Explain the solution.</a:t>
            </a:r>
          </a:p>
          <a:p>
            <a:r>
              <a:rPr lang="en-US" dirty="0"/>
              <a:t>Demonstrate the important functionality.</a:t>
            </a:r>
          </a:p>
          <a:p>
            <a:r>
              <a:rPr lang="en-US" dirty="0"/>
              <a:t>Explain the technology and engineering decisions.</a:t>
            </a:r>
          </a:p>
          <a:p>
            <a:r>
              <a:rPr lang="en-US" dirty="0"/>
              <a:t>Then show the value.</a:t>
            </a:r>
          </a:p>
          <a:p>
            <a:r>
              <a:rPr lang="en-US" dirty="0"/>
              <a:t>The audience shouldn't leave thinking:</a:t>
            </a:r>
          </a:p>
          <a:p>
            <a:r>
              <a:rPr lang="en-US" dirty="0"/>
              <a:t>‘They built some software.’</a:t>
            </a:r>
          </a:p>
          <a:p>
            <a:r>
              <a:rPr lang="en-US" dirty="0"/>
              <a:t>They should leave thinking:</a:t>
            </a:r>
          </a:p>
          <a:p>
            <a:r>
              <a:rPr lang="en-US" b="1" dirty="0"/>
              <a:t>‘I understand the problem they solved, how they solved it, and why it matters.’</a:t>
            </a:r>
            <a:r>
              <a:rPr lang="en-US" dirty="0"/>
              <a:t>”</a:t>
            </a:r>
          </a:p>
          <a:p>
            <a:br>
              <a:rPr lang="en-US" dirty="0"/>
            </a:br>
            <a:endParaRPr lang="en-US" dirty="0"/>
          </a:p>
          <a:p>
            <a:r>
              <a:rPr lang="en-US" b="1" dirty="0"/>
              <a:t>7. Evaluate &amp; Reflect</a:t>
            </a:r>
          </a:p>
          <a:p>
            <a:r>
              <a:rPr lang="en-US" dirty="0"/>
              <a:t>“The final step is evaluation and reflection.</a:t>
            </a:r>
          </a:p>
          <a:p>
            <a:r>
              <a:rPr lang="en-US" dirty="0"/>
              <a:t>We need to ask whether Atlas actually achieved what we intended.</a:t>
            </a:r>
          </a:p>
          <a:p>
            <a:r>
              <a:rPr lang="en-US" dirty="0"/>
              <a:t>Did we meet our requirements?</a:t>
            </a:r>
          </a:p>
          <a:p>
            <a:r>
              <a:rPr lang="en-US" dirty="0"/>
              <a:t>Did we solve the problem?</a:t>
            </a:r>
          </a:p>
          <a:p>
            <a:r>
              <a:rPr lang="en-US" dirty="0"/>
              <a:t>What worked well?</a:t>
            </a:r>
          </a:p>
          <a:p>
            <a:r>
              <a:rPr lang="en-US" dirty="0"/>
              <a:t>What didn't?</a:t>
            </a:r>
          </a:p>
          <a:p>
            <a:r>
              <a:rPr lang="en-US" dirty="0"/>
              <a:t>What technical decisions would we change?</a:t>
            </a:r>
          </a:p>
          <a:p>
            <a:r>
              <a:rPr lang="en-US" dirty="0"/>
              <a:t>What did we learn?</a:t>
            </a:r>
          </a:p>
          <a:p>
            <a:r>
              <a:rPr lang="en-US" dirty="0"/>
              <a:t>What would Version 2.0 look like?</a:t>
            </a:r>
          </a:p>
          <a:p>
            <a:r>
              <a:rPr lang="en-US" dirty="0"/>
              <a:t>This is where experience becomes knowledge.</a:t>
            </a:r>
          </a:p>
          <a:p>
            <a:r>
              <a:rPr lang="en-US" dirty="0"/>
              <a:t>A retrospective isn't about assigning blame.</a:t>
            </a:r>
          </a:p>
          <a:p>
            <a:r>
              <a:rPr lang="en-US" dirty="0"/>
              <a:t>It's about learning from the process so the next project can be better.”</a:t>
            </a:r>
          </a:p>
          <a:p>
            <a:br>
              <a:rPr lang="en-US" dirty="0"/>
            </a:br>
            <a:endParaRPr lang="en-US" dirty="0"/>
          </a:p>
          <a:p>
            <a:r>
              <a:rPr lang="en-US" b="1" dirty="0"/>
              <a:t>The Outcome: Atlas </a:t>
            </a:r>
            <a:r>
              <a:rPr lang="en-US" b="1" dirty="0" err="1"/>
              <a:t>TaskFlow</a:t>
            </a:r>
            <a:r>
              <a:rPr lang="en-US" b="1" dirty="0"/>
              <a:t> v1.0</a:t>
            </a:r>
          </a:p>
          <a:p>
            <a:r>
              <a:rPr lang="en-US" dirty="0"/>
              <a:t>“The ultimate outcome of Sprint 8 is </a:t>
            </a:r>
            <a:r>
              <a:rPr lang="en-US" b="1" dirty="0"/>
              <a:t>Atlas </a:t>
            </a:r>
            <a:r>
              <a:rPr lang="en-US" b="1" dirty="0" err="1"/>
              <a:t>TaskFlow</a:t>
            </a:r>
            <a:r>
              <a:rPr lang="en-US" b="1" dirty="0"/>
              <a:t> Version 1.0</a:t>
            </a:r>
            <a:r>
              <a:rPr lang="en-US" dirty="0"/>
              <a:t>.</a:t>
            </a:r>
          </a:p>
          <a:p>
            <a:r>
              <a:rPr lang="en-US" dirty="0"/>
              <a:t>Notice the four words on the right:</a:t>
            </a:r>
          </a:p>
          <a:p>
            <a:r>
              <a:rPr lang="en-US" b="1" dirty="0"/>
              <a:t>Delivered.</a:t>
            </a:r>
            <a:endParaRPr lang="en-US" dirty="0"/>
          </a:p>
          <a:p>
            <a:r>
              <a:rPr lang="en-US" dirty="0"/>
              <a:t>Atlas is actually available as a working product.</a:t>
            </a:r>
          </a:p>
          <a:p>
            <a:r>
              <a:rPr lang="en-US" b="1" dirty="0"/>
              <a:t>Demonstrated.</a:t>
            </a:r>
            <a:endParaRPr lang="en-US" dirty="0"/>
          </a:p>
          <a:p>
            <a:r>
              <a:rPr lang="en-US" dirty="0"/>
              <a:t>We can clearly communicate what it does and why it matters.</a:t>
            </a:r>
          </a:p>
          <a:p>
            <a:r>
              <a:rPr lang="en-US" b="1" dirty="0"/>
              <a:t>Evaluated.</a:t>
            </a:r>
            <a:endParaRPr lang="en-US" dirty="0"/>
          </a:p>
          <a:p>
            <a:r>
              <a:rPr lang="en-US" dirty="0"/>
              <a:t>We've measured the results and reflected on what we learned.</a:t>
            </a:r>
          </a:p>
          <a:p>
            <a:r>
              <a:rPr lang="en-US" b="1" dirty="0"/>
              <a:t>Released.</a:t>
            </a:r>
            <a:endParaRPr lang="en-US" dirty="0"/>
          </a:p>
          <a:p>
            <a:r>
              <a:rPr lang="en-US" dirty="0"/>
              <a:t>Atlas </a:t>
            </a:r>
            <a:r>
              <a:rPr lang="en-US" dirty="0" err="1"/>
              <a:t>TaskFlow</a:t>
            </a:r>
            <a:r>
              <a:rPr lang="en-US" dirty="0"/>
              <a:t> officially becomes Version 1.0.”</a:t>
            </a:r>
          </a:p>
          <a:p>
            <a:br>
              <a:rPr lang="en-US" dirty="0"/>
            </a:br>
            <a:endParaRPr lang="en-US" dirty="0"/>
          </a:p>
          <a:p>
            <a:r>
              <a:rPr lang="en-US" b="1" dirty="0"/>
              <a:t>What Does Version 1.0 Mean?</a:t>
            </a:r>
          </a:p>
          <a:p>
            <a:r>
              <a:rPr lang="en-US" dirty="0"/>
              <a:t>“Version 1.0 doesn't mean Atlas is perfect.</a:t>
            </a:r>
          </a:p>
          <a:p>
            <a:r>
              <a:rPr lang="en-US" dirty="0"/>
              <a:t>That's an important lesson.</a:t>
            </a:r>
          </a:p>
          <a:p>
            <a:r>
              <a:rPr lang="en-US" dirty="0"/>
              <a:t>Version 1.0 means we've reached a meaningful, stable release point.</a:t>
            </a:r>
          </a:p>
          <a:p>
            <a:r>
              <a:rPr lang="en-US" dirty="0"/>
              <a:t>We've made the decisions necessary to say:</a:t>
            </a:r>
          </a:p>
          <a:p>
            <a:r>
              <a:rPr lang="en-US" b="1" dirty="0"/>
              <a:t>This version is good enough to deliver to its intended users, and we are willing to stand behind it.</a:t>
            </a:r>
            <a:endParaRPr lang="en-US" dirty="0"/>
          </a:p>
          <a:p>
            <a:r>
              <a:rPr lang="en-US" dirty="0"/>
              <a:t>Future versions may improve the product.</a:t>
            </a:r>
          </a:p>
          <a:p>
            <a:r>
              <a:rPr lang="en-US" dirty="0"/>
              <a:t>That's normal.</a:t>
            </a:r>
          </a:p>
          <a:p>
            <a:r>
              <a:rPr lang="en-US" dirty="0"/>
              <a:t>Real software products evolve.”</a:t>
            </a:r>
          </a:p>
          <a:p>
            <a:br>
              <a:rPr lang="en-US" dirty="0"/>
            </a:br>
            <a:endParaRPr lang="en-US" dirty="0"/>
          </a:p>
          <a:p>
            <a:r>
              <a:rPr lang="en-US" b="1" dirty="0"/>
              <a:t>Sprint Success Principle</a:t>
            </a:r>
          </a:p>
          <a:p>
            <a:r>
              <a:rPr lang="en-US" dirty="0"/>
              <a:t>“There's a statement at the bottom of the artifact that I want you to remember:</a:t>
            </a:r>
          </a:p>
          <a:p>
            <a:r>
              <a:rPr lang="en-US" b="1" dirty="0"/>
              <a:t>A great product is not just built—it is delivered, proven, and trusted.</a:t>
            </a:r>
            <a:endParaRPr lang="en-US" dirty="0"/>
          </a:p>
          <a:p>
            <a:r>
              <a:rPr lang="en-US" dirty="0"/>
              <a:t>That's really the philosophy behind this entire course.</a:t>
            </a:r>
          </a:p>
          <a:p>
            <a:r>
              <a:rPr lang="en-US" dirty="0"/>
              <a:t>We didn't build Atlas simply to practice C#.</a:t>
            </a:r>
          </a:p>
          <a:p>
            <a:r>
              <a:rPr lang="en-US" dirty="0"/>
              <a:t>We didn't build it simply to learn databases.</a:t>
            </a:r>
          </a:p>
          <a:p>
            <a:r>
              <a:rPr lang="en-US" dirty="0"/>
              <a:t>We didn't deploy it simply to say we used Azure.</a:t>
            </a:r>
          </a:p>
          <a:p>
            <a:r>
              <a:rPr lang="en-US" dirty="0"/>
              <a:t>Those technologies were tools.</a:t>
            </a:r>
          </a:p>
          <a:p>
            <a:r>
              <a:rPr lang="en-US" dirty="0"/>
              <a:t>The real objective was to take a problem and move through the engineering process until we could deliver something meaningful.”</a:t>
            </a:r>
          </a:p>
          <a:p>
            <a:br>
              <a:rPr lang="en-US" dirty="0"/>
            </a:br>
            <a:endParaRPr lang="en-US" dirty="0"/>
          </a:p>
          <a:p>
            <a:r>
              <a:rPr lang="en-US" b="1" dirty="0"/>
              <a:t>The Atlas Journey</a:t>
            </a:r>
          </a:p>
          <a:p>
            <a:r>
              <a:rPr lang="en-US" dirty="0"/>
              <a:t>“Look at the workflow at the bottom.</a:t>
            </a:r>
          </a:p>
          <a:p>
            <a:r>
              <a:rPr lang="en-US" b="1" dirty="0"/>
              <a:t>PLAN IT.</a:t>
            </a:r>
            <a:endParaRPr lang="en-US" dirty="0"/>
          </a:p>
          <a:p>
            <a:r>
              <a:rPr lang="en-US" dirty="0"/>
              <a:t>We started with the problem.</a:t>
            </a:r>
          </a:p>
          <a:p>
            <a:r>
              <a:rPr lang="en-US" b="1" dirty="0"/>
              <a:t>UNDERSTAND IT.</a:t>
            </a:r>
            <a:endParaRPr lang="en-US" dirty="0"/>
          </a:p>
          <a:p>
            <a:r>
              <a:rPr lang="en-US" dirty="0"/>
              <a:t>We learned the SaaS environment.</a:t>
            </a:r>
          </a:p>
          <a:p>
            <a:r>
              <a:rPr lang="en-US" b="1" dirty="0"/>
              <a:t>DESIGN IT.</a:t>
            </a:r>
            <a:endParaRPr lang="en-US" dirty="0"/>
          </a:p>
          <a:p>
            <a:r>
              <a:rPr lang="en-US" dirty="0"/>
              <a:t>We decided what to build.</a:t>
            </a:r>
          </a:p>
          <a:p>
            <a:r>
              <a:rPr lang="en-US" b="1" dirty="0"/>
              <a:t>BUILD &amp; DEPLOY IT.</a:t>
            </a:r>
            <a:endParaRPr lang="en-US" dirty="0"/>
          </a:p>
          <a:p>
            <a:r>
              <a:rPr lang="en-US" dirty="0"/>
              <a:t>We turned the design into working software.</a:t>
            </a:r>
          </a:p>
          <a:p>
            <a:r>
              <a:rPr lang="en-US" b="1" dirty="0"/>
              <a:t>REMEMBER IT.</a:t>
            </a:r>
            <a:endParaRPr lang="en-US" dirty="0"/>
          </a:p>
          <a:p>
            <a:r>
              <a:rPr lang="en-US" dirty="0"/>
              <a:t>We gave Atlas persistent data.</a:t>
            </a:r>
          </a:p>
          <a:p>
            <a:r>
              <a:rPr lang="en-US" b="1" dirty="0"/>
              <a:t>PROTECT IT.</a:t>
            </a:r>
            <a:endParaRPr lang="en-US" dirty="0"/>
          </a:p>
          <a:p>
            <a:r>
              <a:rPr lang="en-US" dirty="0"/>
              <a:t>We protected users and information.</a:t>
            </a:r>
          </a:p>
          <a:p>
            <a:r>
              <a:rPr lang="en-US" b="1" dirty="0"/>
              <a:t>PREPARE IT.</a:t>
            </a:r>
            <a:endParaRPr lang="en-US" dirty="0"/>
          </a:p>
          <a:p>
            <a:r>
              <a:rPr lang="en-US" dirty="0"/>
              <a:t>We made the application ready for real-world use.</a:t>
            </a:r>
          </a:p>
          <a:p>
            <a:r>
              <a:rPr lang="en-US" dirty="0"/>
              <a:t>And now:</a:t>
            </a:r>
          </a:p>
          <a:p>
            <a:r>
              <a:rPr lang="en-US" b="1" dirty="0"/>
              <a:t>RELEASE IT.</a:t>
            </a:r>
            <a:endParaRPr lang="en-US" dirty="0"/>
          </a:p>
          <a:p>
            <a:r>
              <a:rPr lang="en-US" dirty="0"/>
              <a:t>We've completed the journey from idea to product.”</a:t>
            </a:r>
          </a:p>
          <a:p>
            <a:br>
              <a:rPr lang="en-US" dirty="0"/>
            </a:br>
            <a:endParaRPr lang="en-US" dirty="0"/>
          </a:p>
          <a:p>
            <a:r>
              <a:rPr lang="en-US" b="1" dirty="0"/>
              <a:t>The Idea → Impact Progression</a:t>
            </a:r>
          </a:p>
          <a:p>
            <a:r>
              <a:rPr lang="en-US" dirty="0"/>
              <a:t>“The small progression near the bottom is another way to think about the entire course:</a:t>
            </a:r>
          </a:p>
          <a:p>
            <a:r>
              <a:rPr lang="en-US" b="1" dirty="0"/>
              <a:t>IDEA → BUILD → DEPLOY → RELEASE → IMPACT</a:t>
            </a:r>
            <a:endParaRPr lang="en-US" dirty="0"/>
          </a:p>
          <a:p>
            <a:r>
              <a:rPr lang="en-US" dirty="0"/>
              <a:t>The final word is important:</a:t>
            </a:r>
          </a:p>
          <a:p>
            <a:r>
              <a:rPr lang="en-US" b="1" dirty="0"/>
              <a:t>Impact.</a:t>
            </a:r>
            <a:endParaRPr lang="en-US" dirty="0"/>
          </a:p>
          <a:p>
            <a:r>
              <a:rPr lang="en-US" dirty="0"/>
              <a:t>Because software doesn't create value simply because it exists.</a:t>
            </a:r>
          </a:p>
          <a:p>
            <a:r>
              <a:rPr lang="en-US" dirty="0"/>
              <a:t>It creates value when people use it to accomplish something meaningful.”</a:t>
            </a:r>
          </a:p>
          <a:p>
            <a:br>
              <a:rPr lang="en-US" dirty="0"/>
            </a:br>
            <a:endParaRPr lang="en-US" dirty="0"/>
          </a:p>
          <a:p>
            <a:r>
              <a:rPr lang="en-US" b="1" dirty="0"/>
              <a:t>The Professional Mindset</a:t>
            </a:r>
          </a:p>
          <a:p>
            <a:r>
              <a:rPr lang="en-US" dirty="0"/>
              <a:t>“This is the mindset I want you to leave this course with.</a:t>
            </a:r>
          </a:p>
          <a:p>
            <a:r>
              <a:rPr lang="en-US" dirty="0"/>
              <a:t>Don't think like someone who simply writes code.</a:t>
            </a:r>
          </a:p>
          <a:p>
            <a:r>
              <a:rPr lang="en-US" dirty="0"/>
              <a:t>Think like someone who </a:t>
            </a:r>
            <a:r>
              <a:rPr lang="en-US" b="1" dirty="0"/>
              <a:t>owns a solution</a:t>
            </a:r>
            <a:r>
              <a:rPr lang="en-US" dirty="0"/>
              <a:t>.</a:t>
            </a:r>
          </a:p>
          <a:p>
            <a:r>
              <a:rPr lang="en-US" dirty="0"/>
              <a:t>If something breaks, you care.</a:t>
            </a:r>
          </a:p>
          <a:p>
            <a:r>
              <a:rPr lang="en-US" dirty="0"/>
              <a:t>If users struggle, you care.</a:t>
            </a:r>
          </a:p>
          <a:p>
            <a:r>
              <a:rPr lang="en-US" dirty="0"/>
              <a:t>If performance is poor, you care.</a:t>
            </a:r>
          </a:p>
          <a:p>
            <a:r>
              <a:rPr lang="en-US" dirty="0"/>
              <a:t>If documentation is missing, you care.</a:t>
            </a:r>
          </a:p>
          <a:p>
            <a:r>
              <a:rPr lang="en-US" dirty="0"/>
              <a:t>If the product doesn't solve the original problem, you care.</a:t>
            </a:r>
          </a:p>
          <a:p>
            <a:r>
              <a:rPr lang="en-US" dirty="0"/>
              <a:t>Because professional software development isn't just about producing code.</a:t>
            </a:r>
          </a:p>
          <a:p>
            <a:r>
              <a:rPr lang="en-US" dirty="0"/>
              <a:t>It's about delivering outcomes.”</a:t>
            </a:r>
          </a:p>
          <a:p>
            <a:br>
              <a:rPr lang="en-US" dirty="0"/>
            </a:br>
            <a:endParaRPr lang="en-US" dirty="0"/>
          </a:p>
          <a:p>
            <a:r>
              <a:rPr lang="en-US" b="1" dirty="0"/>
              <a:t>Closing</a:t>
            </a:r>
          </a:p>
          <a:p>
            <a:r>
              <a:rPr lang="en-US" dirty="0"/>
              <a:t>“So Sprint 8 is our final engineering sprint.</a:t>
            </a:r>
          </a:p>
          <a:p>
            <a:r>
              <a:rPr lang="en-US" dirty="0"/>
              <a:t>We're going to test.</a:t>
            </a:r>
          </a:p>
          <a:p>
            <a:r>
              <a:rPr lang="en-US" dirty="0"/>
              <a:t>We're going to fix.</a:t>
            </a:r>
          </a:p>
          <a:p>
            <a:r>
              <a:rPr lang="en-US" dirty="0"/>
              <a:t>We're going to polish.</a:t>
            </a:r>
          </a:p>
          <a:p>
            <a:r>
              <a:rPr lang="en-US" dirty="0"/>
              <a:t>We're going to deploy.</a:t>
            </a:r>
          </a:p>
          <a:p>
            <a:r>
              <a:rPr lang="en-US" dirty="0"/>
              <a:t>We're going to document.</a:t>
            </a:r>
          </a:p>
          <a:p>
            <a:r>
              <a:rPr lang="en-US" dirty="0"/>
              <a:t>We're going to demonstrate.</a:t>
            </a:r>
          </a:p>
          <a:p>
            <a:r>
              <a:rPr lang="en-US" dirty="0"/>
              <a:t>We're going to evaluate.</a:t>
            </a:r>
          </a:p>
          <a:p>
            <a:r>
              <a:rPr lang="en-US" dirty="0"/>
              <a:t>We're going to reflect.</a:t>
            </a:r>
          </a:p>
          <a:p>
            <a:r>
              <a:rPr lang="en-US" dirty="0"/>
              <a:t>And then we're going to release </a:t>
            </a:r>
            <a:r>
              <a:rPr lang="en-US" b="1" dirty="0"/>
              <a:t>Atlas </a:t>
            </a:r>
            <a:r>
              <a:rPr lang="en-US" b="1" dirty="0" err="1"/>
              <a:t>TaskFlow</a:t>
            </a:r>
            <a:r>
              <a:rPr lang="en-US" b="1" dirty="0"/>
              <a:t> Version 1.0</a:t>
            </a:r>
            <a:r>
              <a:rPr lang="en-US" dirty="0"/>
              <a:t>.</a:t>
            </a:r>
          </a:p>
          <a:p>
            <a:r>
              <a:rPr lang="en-US" dirty="0"/>
              <a:t>But remember:</a:t>
            </a:r>
          </a:p>
          <a:p>
            <a:r>
              <a:rPr lang="en-US" b="1" dirty="0"/>
              <a:t>Release isn't the end of the engineering journey.</a:t>
            </a:r>
            <a:endParaRPr lang="en-US" dirty="0"/>
          </a:p>
          <a:p>
            <a:r>
              <a:rPr lang="en-US" dirty="0"/>
              <a:t>It's the moment when the work we've done becomes real.</a:t>
            </a:r>
          </a:p>
          <a:p>
            <a:r>
              <a:rPr lang="en-US" dirty="0"/>
              <a:t>We've gone from:</a:t>
            </a:r>
          </a:p>
          <a:p>
            <a:r>
              <a:rPr lang="en-US" b="1" dirty="0"/>
              <a:t>Idea → Product → Release → Impact.</a:t>
            </a:r>
            <a:endParaRPr lang="en-US" dirty="0"/>
          </a:p>
          <a:p>
            <a:r>
              <a:rPr lang="en-US" dirty="0"/>
              <a:t>And that's what we're building Atlas to demonstrate.</a:t>
            </a:r>
          </a:p>
          <a:p>
            <a:r>
              <a:rPr lang="en-US" b="1" dirty="0"/>
              <a:t>Building Atlas. Together.</a:t>
            </a:r>
            <a:r>
              <a:rPr lang="en-US" dirty="0"/>
              <a:t>”</a:t>
            </a:r>
          </a:p>
        </p:txBody>
      </p:sp>
      <p:sp>
        <p:nvSpPr>
          <p:cNvPr id="4" name="Slide Number Placeholder 3"/>
          <p:cNvSpPr>
            <a:spLocks noGrp="1"/>
          </p:cNvSpPr>
          <p:nvPr>
            <p:ph type="sldNum" sz="quarter" idx="5"/>
          </p:nvPr>
        </p:nvSpPr>
        <p:spPr/>
        <p:txBody>
          <a:bodyPr/>
          <a:lstStyle/>
          <a:p>
            <a:fld id="{5FDF263D-5665-4A7C-828E-8E913E9FBDB3}" type="slidenum">
              <a:rPr lang="en-US" smtClean="0"/>
              <a:t>1</a:t>
            </a:fld>
            <a:endParaRPr lang="en-US"/>
          </a:p>
        </p:txBody>
      </p:sp>
    </p:spTree>
    <p:extLst>
      <p:ext uri="{BB962C8B-B14F-4D97-AF65-F5344CB8AC3E}">
        <p14:creationId xmlns:p14="http://schemas.microsoft.com/office/powerpoint/2010/main" val="3087161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 — Final Testing</a:t>
            </a:r>
          </a:p>
          <a:p>
            <a:r>
              <a:rPr lang="en-US" b="1" dirty="0"/>
              <a:t>Opening</a:t>
            </a:r>
          </a:p>
          <a:p>
            <a:r>
              <a:rPr lang="en-US" dirty="0"/>
              <a:t>“Now that we've established the purpose of Sprint 8, we begin the actual release process.</a:t>
            </a:r>
          </a:p>
          <a:p>
            <a:r>
              <a:rPr lang="en-US" dirty="0"/>
              <a:t>Our first major activity is </a:t>
            </a:r>
            <a:r>
              <a:rPr lang="en-US" b="1" dirty="0"/>
              <a:t>Final Testing</a:t>
            </a:r>
            <a:r>
              <a:rPr lang="en-US" dirty="0"/>
              <a:t>.</a:t>
            </a:r>
          </a:p>
          <a:p>
            <a:r>
              <a:rPr lang="en-US" dirty="0"/>
              <a:t>And I want to start with a simple idea:</a:t>
            </a:r>
          </a:p>
          <a:p>
            <a:r>
              <a:rPr lang="en-US" b="1" dirty="0"/>
              <a:t>We don't test because we expect Atlas to fail. We test because we want confidence that Atlas will succeed.</a:t>
            </a:r>
            <a:endParaRPr lang="en-US" dirty="0"/>
          </a:p>
          <a:p>
            <a:r>
              <a:rPr lang="en-US" dirty="0"/>
              <a:t>Testing is how we turn assumptions into evidence.”</a:t>
            </a:r>
          </a:p>
          <a:p>
            <a:br>
              <a:rPr lang="en-US" dirty="0"/>
            </a:br>
            <a:endParaRPr lang="en-US" dirty="0"/>
          </a:p>
          <a:p>
            <a:r>
              <a:rPr lang="en-US" b="1" dirty="0"/>
              <a:t>What Are We Trying to Prove?</a:t>
            </a:r>
          </a:p>
          <a:p>
            <a:r>
              <a:rPr lang="en-US" dirty="0"/>
              <a:t>“At this stage of the project, we're not trying to discover whether we can write code.</a:t>
            </a:r>
          </a:p>
          <a:p>
            <a:r>
              <a:rPr lang="en-US" dirty="0"/>
              <a:t>We've already done that.</a:t>
            </a:r>
          </a:p>
          <a:p>
            <a:r>
              <a:rPr lang="en-US" dirty="0"/>
              <a:t>We're trying to answer:</a:t>
            </a:r>
          </a:p>
          <a:p>
            <a:r>
              <a:rPr lang="en-US" b="1" dirty="0"/>
              <a:t>Does Atlas </a:t>
            </a:r>
            <a:r>
              <a:rPr lang="en-US" b="1" dirty="0" err="1"/>
              <a:t>TaskFlow</a:t>
            </a:r>
            <a:r>
              <a:rPr lang="en-US" b="1" dirty="0"/>
              <a:t> work the way we intended?</a:t>
            </a:r>
            <a:endParaRPr lang="en-US" dirty="0"/>
          </a:p>
          <a:p>
            <a:r>
              <a:rPr lang="en-US" b="1" dirty="0"/>
              <a:t>Does it work for the users we're building it for?</a:t>
            </a:r>
            <a:endParaRPr lang="en-US" dirty="0"/>
          </a:p>
          <a:p>
            <a:r>
              <a:rPr lang="en-US" b="1" dirty="0"/>
              <a:t>Does it handle incorrect input?</a:t>
            </a:r>
            <a:endParaRPr lang="en-US" dirty="0"/>
          </a:p>
          <a:p>
            <a:r>
              <a:rPr lang="en-US" b="1" dirty="0"/>
              <a:t>Does it protect our data?</a:t>
            </a:r>
            <a:endParaRPr lang="en-US" dirty="0"/>
          </a:p>
          <a:p>
            <a:r>
              <a:rPr lang="en-US" b="1" dirty="0"/>
              <a:t>Does it perform reasonably?</a:t>
            </a:r>
            <a:endParaRPr lang="en-US" dirty="0"/>
          </a:p>
          <a:p>
            <a:r>
              <a:rPr lang="en-US" dirty="0"/>
              <a:t>And ultimately:</a:t>
            </a:r>
          </a:p>
          <a:p>
            <a:r>
              <a:rPr lang="en-US" b="1" dirty="0"/>
              <a:t>Is it good enough to release?</a:t>
            </a:r>
            <a:r>
              <a:rPr lang="en-US" dirty="0"/>
              <a:t>”</a:t>
            </a:r>
          </a:p>
          <a:p>
            <a:br>
              <a:rPr lang="en-US" dirty="0"/>
            </a:br>
            <a:endParaRPr lang="en-US" dirty="0"/>
          </a:p>
          <a:p>
            <a:r>
              <a:rPr lang="en-US" b="1" dirty="0"/>
              <a:t>Testing Is Not Just Finding Bugs</a:t>
            </a:r>
          </a:p>
          <a:p>
            <a:r>
              <a:rPr lang="en-US" dirty="0"/>
              <a:t>“One common misconception is that the purpose of testing is to find bugs.</a:t>
            </a:r>
          </a:p>
          <a:p>
            <a:r>
              <a:rPr lang="en-US" dirty="0"/>
              <a:t>Finding bugs is certainly part of it.</a:t>
            </a:r>
          </a:p>
          <a:p>
            <a:r>
              <a:rPr lang="en-US" dirty="0"/>
              <a:t>But the larger purpose is </a:t>
            </a:r>
            <a:r>
              <a:rPr lang="en-US" b="1" dirty="0"/>
              <a:t>confidence</a:t>
            </a:r>
            <a:r>
              <a:rPr lang="en-US" dirty="0"/>
              <a:t>.</a:t>
            </a:r>
          </a:p>
          <a:p>
            <a:r>
              <a:rPr lang="en-US" dirty="0"/>
              <a:t>Every successful test gives us additional evidence that some part of Atlas behaves correctly.</a:t>
            </a:r>
          </a:p>
          <a:p>
            <a:r>
              <a:rPr lang="en-US" dirty="0"/>
              <a:t>Testing helps us reduce uncertainty.</a:t>
            </a:r>
          </a:p>
          <a:p>
            <a:r>
              <a:rPr lang="en-US" dirty="0"/>
              <a:t>We can't prove that software has absolutely no defects.</a:t>
            </a:r>
          </a:p>
          <a:p>
            <a:r>
              <a:rPr lang="en-US" dirty="0"/>
              <a:t>But we can systematically increase our confidence that the important parts of the system work as expected.”</a:t>
            </a:r>
          </a:p>
          <a:p>
            <a:br>
              <a:rPr lang="en-US" dirty="0"/>
            </a:br>
            <a:endParaRPr lang="en-US" dirty="0"/>
          </a:p>
          <a:p>
            <a:r>
              <a:rPr lang="en-US" b="1" dirty="0"/>
              <a:t>Types of Testing</a:t>
            </a:r>
          </a:p>
          <a:p>
            <a:r>
              <a:rPr lang="en-US" b="1" dirty="0"/>
              <a:t>Functional Testing</a:t>
            </a:r>
          </a:p>
          <a:p>
            <a:r>
              <a:rPr lang="en-US" dirty="0"/>
              <a:t>“First, we have functional testing.</a:t>
            </a:r>
          </a:p>
          <a:p>
            <a:r>
              <a:rPr lang="en-US" dirty="0"/>
              <a:t>This asks a very straightforward question:</a:t>
            </a:r>
          </a:p>
          <a:p>
            <a:r>
              <a:rPr lang="en-US" b="1" dirty="0"/>
              <a:t>Does the feature do what it is supposed to do?</a:t>
            </a:r>
            <a:endParaRPr lang="en-US" dirty="0"/>
          </a:p>
          <a:p>
            <a:r>
              <a:rPr lang="en-US" dirty="0"/>
              <a:t>If a user creates a task, does the task get created?</a:t>
            </a:r>
          </a:p>
          <a:p>
            <a:r>
              <a:rPr lang="en-US" dirty="0"/>
              <a:t>If they edit it, does the information update?</a:t>
            </a:r>
          </a:p>
          <a:p>
            <a:r>
              <a:rPr lang="en-US" dirty="0"/>
              <a:t>If they delete it, does it actually disappear?</a:t>
            </a:r>
          </a:p>
          <a:p>
            <a:r>
              <a:rPr lang="en-US" dirty="0"/>
              <a:t>If they log in, do they receive the correct access?</a:t>
            </a:r>
          </a:p>
          <a:p>
            <a:r>
              <a:rPr lang="en-US" dirty="0"/>
              <a:t>We're testing the behavior defined by our requirements.”</a:t>
            </a:r>
          </a:p>
          <a:p>
            <a:br>
              <a:rPr lang="en-US" dirty="0"/>
            </a:br>
            <a:endParaRPr lang="en-US" dirty="0"/>
          </a:p>
          <a:p>
            <a:r>
              <a:rPr lang="en-US" b="1" dirty="0"/>
              <a:t>Browser &amp; Device Testing</a:t>
            </a:r>
          </a:p>
          <a:p>
            <a:r>
              <a:rPr lang="en-US" dirty="0"/>
              <a:t>“Next, we need to remember that users don't all experience Atlas the same way.</a:t>
            </a:r>
          </a:p>
          <a:p>
            <a:r>
              <a:rPr lang="en-US" dirty="0"/>
              <a:t>They may use different browsers.</a:t>
            </a:r>
          </a:p>
          <a:p>
            <a:r>
              <a:rPr lang="en-US" dirty="0"/>
              <a:t>They may use different screen sizes.</a:t>
            </a:r>
          </a:p>
          <a:p>
            <a:r>
              <a:rPr lang="en-US" dirty="0"/>
              <a:t>They may use laptops, tablets, or phones.</a:t>
            </a:r>
          </a:p>
          <a:p>
            <a:r>
              <a:rPr lang="en-US" dirty="0"/>
              <a:t>We want to make sure the interface remains usable across the environments we intend to support.</a:t>
            </a:r>
          </a:p>
          <a:p>
            <a:r>
              <a:rPr lang="en-US" dirty="0"/>
              <a:t>This is where we move beyond:</a:t>
            </a:r>
          </a:p>
          <a:p>
            <a:r>
              <a:rPr lang="en-US" b="1" dirty="0"/>
              <a:t>‘It works on my computer.’</a:t>
            </a:r>
            <a:endParaRPr lang="en-US" dirty="0"/>
          </a:p>
          <a:p>
            <a:r>
              <a:rPr lang="en-US" dirty="0"/>
              <a:t>That's not enough for a real product.”</a:t>
            </a:r>
          </a:p>
          <a:p>
            <a:br>
              <a:rPr lang="en-US" dirty="0"/>
            </a:br>
            <a:endParaRPr lang="en-US" dirty="0"/>
          </a:p>
          <a:p>
            <a:r>
              <a:rPr lang="en-US" b="1" dirty="0"/>
              <a:t>Security Testing</a:t>
            </a:r>
          </a:p>
          <a:p>
            <a:r>
              <a:rPr lang="en-US" dirty="0"/>
              <a:t>“Security testing asks whether the protections we implemented actually work.</a:t>
            </a:r>
          </a:p>
          <a:p>
            <a:r>
              <a:rPr lang="en-US" dirty="0"/>
              <a:t>Can users access information they shouldn't?</a:t>
            </a:r>
          </a:p>
          <a:p>
            <a:r>
              <a:rPr lang="en-US" dirty="0"/>
              <a:t>Can someone bypass authorization?</a:t>
            </a:r>
          </a:p>
          <a:p>
            <a:r>
              <a:rPr lang="en-US" dirty="0"/>
              <a:t>Are protected pages actually protected?</a:t>
            </a:r>
          </a:p>
          <a:p>
            <a:r>
              <a:rPr lang="en-US" dirty="0"/>
              <a:t>Are authentication and role restrictions functioning correctly?</a:t>
            </a:r>
          </a:p>
          <a:p>
            <a:r>
              <a:rPr lang="en-US" dirty="0"/>
              <a:t>We also need to think about what happens when someone deliberately provides unexpected or malicious input.</a:t>
            </a:r>
          </a:p>
          <a:p>
            <a:r>
              <a:rPr lang="en-US" dirty="0"/>
              <a:t>Security isn't something we simply assume works because we wrote the security code.</a:t>
            </a:r>
          </a:p>
          <a:p>
            <a:r>
              <a:rPr lang="en-US" dirty="0"/>
              <a:t>We test it.”</a:t>
            </a:r>
          </a:p>
          <a:p>
            <a:br>
              <a:rPr lang="en-US" dirty="0"/>
            </a:br>
            <a:endParaRPr lang="en-US" dirty="0"/>
          </a:p>
          <a:p>
            <a:r>
              <a:rPr lang="en-US" b="1" dirty="0"/>
              <a:t>Performance Testing</a:t>
            </a:r>
          </a:p>
          <a:p>
            <a:r>
              <a:rPr lang="en-US" dirty="0"/>
              <a:t>“Performance testing asks:</a:t>
            </a:r>
          </a:p>
          <a:p>
            <a:r>
              <a:rPr lang="en-US" b="1" dirty="0"/>
              <a:t>Does Atlas respond in a reasonable amount of time?</a:t>
            </a:r>
            <a:endParaRPr lang="en-US" dirty="0"/>
          </a:p>
          <a:p>
            <a:r>
              <a:rPr lang="en-US" dirty="0"/>
              <a:t>We don't necessarily need to conduct enterprise-scale load testing for this project.</a:t>
            </a:r>
          </a:p>
          <a:p>
            <a:r>
              <a:rPr lang="en-US" dirty="0"/>
              <a:t>But we should understand whether our application behaves reasonably under expected usage.</a:t>
            </a:r>
          </a:p>
          <a:p>
            <a:r>
              <a:rPr lang="en-US" dirty="0"/>
              <a:t>Slow pages, inefficient queries, or unnecessary operations can turn a technically functional application into a frustrating user experience.”</a:t>
            </a:r>
          </a:p>
          <a:p>
            <a:br>
              <a:rPr lang="en-US" dirty="0"/>
            </a:br>
            <a:endParaRPr lang="en-US" dirty="0"/>
          </a:p>
          <a:p>
            <a:r>
              <a:rPr lang="en-US" b="1" dirty="0"/>
              <a:t>Data &amp; Integrity Testing</a:t>
            </a:r>
          </a:p>
          <a:p>
            <a:r>
              <a:rPr lang="en-US" dirty="0"/>
              <a:t>“Because Atlas now has persistent data, we have another responsibility.</a:t>
            </a:r>
          </a:p>
          <a:p>
            <a:r>
              <a:rPr lang="en-US" dirty="0"/>
              <a:t>We need to make sure information remains accurate.</a:t>
            </a:r>
          </a:p>
          <a:p>
            <a:r>
              <a:rPr lang="en-US" dirty="0"/>
              <a:t>If I create a task, is it stored correctly?</a:t>
            </a:r>
          </a:p>
          <a:p>
            <a:r>
              <a:rPr lang="en-US" dirty="0"/>
              <a:t>If I update it, is the new information persisted?</a:t>
            </a:r>
          </a:p>
          <a:p>
            <a:r>
              <a:rPr lang="en-US" dirty="0"/>
              <a:t>If I delete it, does the database reflect that change?</a:t>
            </a:r>
          </a:p>
          <a:p>
            <a:r>
              <a:rPr lang="en-US" dirty="0"/>
              <a:t>What happens if something goes wrong in the middle of an operation?</a:t>
            </a:r>
          </a:p>
          <a:p>
            <a:r>
              <a:rPr lang="en-US" dirty="0"/>
              <a:t>We want to avoid data loss, corruption, or unexpected changes.”</a:t>
            </a:r>
          </a:p>
          <a:p>
            <a:br>
              <a:rPr lang="en-US" dirty="0"/>
            </a:br>
            <a:endParaRPr lang="en-US" dirty="0"/>
          </a:p>
          <a:p>
            <a:r>
              <a:rPr lang="en-US" b="1" dirty="0"/>
              <a:t>Regression Testing</a:t>
            </a:r>
          </a:p>
          <a:p>
            <a:r>
              <a:rPr lang="en-US" dirty="0"/>
              <a:t>“Finally, we have regression testing.</a:t>
            </a:r>
          </a:p>
          <a:p>
            <a:r>
              <a:rPr lang="en-US" dirty="0"/>
              <a:t>This is especially important during Sprint 8 because we're going to be fixing bugs.</a:t>
            </a:r>
          </a:p>
          <a:p>
            <a:r>
              <a:rPr lang="en-US" dirty="0"/>
              <a:t>Here's the danger:</a:t>
            </a:r>
          </a:p>
          <a:p>
            <a:r>
              <a:rPr lang="en-US" dirty="0"/>
              <a:t>We fix one problem and accidentally create another.</a:t>
            </a:r>
          </a:p>
          <a:p>
            <a:r>
              <a:rPr lang="en-US" dirty="0"/>
              <a:t>For example, we change our database code to fix one feature and suddenly another feature stops working.</a:t>
            </a:r>
          </a:p>
          <a:p>
            <a:r>
              <a:rPr lang="en-US" dirty="0"/>
              <a:t>Regression testing helps us make sure that previously working functionality continues to work after changes.”</a:t>
            </a:r>
          </a:p>
          <a:p>
            <a:br>
              <a:rPr lang="en-US" dirty="0"/>
            </a:br>
            <a:endParaRPr lang="en-US" dirty="0"/>
          </a:p>
          <a:p>
            <a:r>
              <a:rPr lang="en-US" b="1" dirty="0"/>
              <a:t>Testing at Multiple Levels</a:t>
            </a:r>
          </a:p>
          <a:p>
            <a:r>
              <a:rPr lang="en-US" dirty="0"/>
              <a:t>“Testing doesn't happen at only one level.</a:t>
            </a:r>
          </a:p>
          <a:p>
            <a:r>
              <a:rPr lang="en-US" dirty="0"/>
              <a:t>The diagram shows four levels.</a:t>
            </a:r>
          </a:p>
          <a:p>
            <a:r>
              <a:rPr lang="en-US" b="1" dirty="0"/>
              <a:t>Unit</a:t>
            </a:r>
          </a:p>
          <a:p>
            <a:r>
              <a:rPr lang="en-US" dirty="0"/>
              <a:t>We test individual pieces of logic.</a:t>
            </a:r>
          </a:p>
          <a:p>
            <a:r>
              <a:rPr lang="en-US" b="1" dirty="0"/>
              <a:t>System</a:t>
            </a:r>
          </a:p>
          <a:p>
            <a:r>
              <a:rPr lang="en-US" dirty="0"/>
              <a:t>We test the application as a complete system.</a:t>
            </a:r>
          </a:p>
          <a:p>
            <a:r>
              <a:rPr lang="en-US" b="1" dirty="0"/>
              <a:t>Integration</a:t>
            </a:r>
          </a:p>
          <a:p>
            <a:r>
              <a:rPr lang="en-US" dirty="0"/>
              <a:t>We verify that components work together.</a:t>
            </a:r>
          </a:p>
          <a:p>
            <a:r>
              <a:rPr lang="en-US" dirty="0"/>
              <a:t>For example:</a:t>
            </a:r>
          </a:p>
          <a:p>
            <a:r>
              <a:rPr lang="en-US" b="1" dirty="0"/>
              <a:t>Razor View → Controller → Model → Entity Framework → Database</a:t>
            </a:r>
            <a:endParaRPr lang="en-US" dirty="0"/>
          </a:p>
          <a:p>
            <a:r>
              <a:rPr lang="en-US" b="1" dirty="0"/>
              <a:t>End-to-End</a:t>
            </a:r>
          </a:p>
          <a:p>
            <a:r>
              <a:rPr lang="en-US" dirty="0"/>
              <a:t>Finally, we test complete user journeys.</a:t>
            </a:r>
          </a:p>
          <a:p>
            <a:r>
              <a:rPr lang="en-US" dirty="0"/>
              <a:t>For example:</a:t>
            </a:r>
          </a:p>
          <a:p>
            <a:r>
              <a:rPr lang="en-US" b="1" dirty="0"/>
              <a:t>Log in → Create Task → Update Task → Complete Task → View Dashboard</a:t>
            </a:r>
            <a:endParaRPr lang="en-US" dirty="0"/>
          </a:p>
          <a:p>
            <a:r>
              <a:rPr lang="en-US" dirty="0"/>
              <a:t>That final level is especially valuable because it tests Atlas from the user's perspective.”</a:t>
            </a:r>
          </a:p>
          <a:p>
            <a:br>
              <a:rPr lang="en-US" dirty="0"/>
            </a:br>
            <a:endParaRPr lang="en-US" dirty="0"/>
          </a:p>
          <a:p>
            <a:r>
              <a:rPr lang="en-US" b="1" dirty="0"/>
              <a:t>When Should We Test?</a:t>
            </a:r>
          </a:p>
          <a:p>
            <a:r>
              <a:rPr lang="en-US" dirty="0"/>
              <a:t>“Another important lesson is that testing shouldn't suddenly begin at the end of the semester.</a:t>
            </a:r>
          </a:p>
          <a:p>
            <a:r>
              <a:rPr lang="en-US" dirty="0"/>
              <a:t>Ideally, we test </a:t>
            </a:r>
            <a:r>
              <a:rPr lang="en-US" b="1" dirty="0"/>
              <a:t>early and often</a:t>
            </a:r>
            <a:r>
              <a:rPr lang="en-US" dirty="0"/>
              <a:t>.</a:t>
            </a:r>
          </a:p>
          <a:p>
            <a:r>
              <a:rPr lang="en-US" dirty="0"/>
              <a:t>We test while features are being developed.</a:t>
            </a:r>
          </a:p>
          <a:p>
            <a:r>
              <a:rPr lang="en-US" dirty="0"/>
              <a:t>We test after changes.</a:t>
            </a:r>
          </a:p>
          <a:p>
            <a:r>
              <a:rPr lang="en-US" dirty="0"/>
              <a:t>We test when bugs are fixed.</a:t>
            </a:r>
          </a:p>
          <a:p>
            <a:r>
              <a:rPr lang="en-US" dirty="0"/>
              <a:t>And then we perform final verification before release.</a:t>
            </a:r>
          </a:p>
          <a:p>
            <a:r>
              <a:rPr lang="en-US" dirty="0"/>
              <a:t>Sprint 8 doesn't represent the first time Atlas has been tested.</a:t>
            </a:r>
          </a:p>
          <a:p>
            <a:r>
              <a:rPr lang="en-US" dirty="0"/>
              <a:t>It represents our </a:t>
            </a:r>
            <a:r>
              <a:rPr lang="en-US" b="1" dirty="0"/>
              <a:t>final comprehensive validation before Version 1.0</a:t>
            </a:r>
            <a:r>
              <a:rPr lang="en-US" dirty="0"/>
              <a:t>.”</a:t>
            </a:r>
          </a:p>
          <a:p>
            <a:br>
              <a:rPr lang="en-US" dirty="0"/>
            </a:br>
            <a:endParaRPr lang="en-US" dirty="0"/>
          </a:p>
          <a:p>
            <a:r>
              <a:rPr lang="en-US" b="1" dirty="0"/>
              <a:t>The Testing Checklist</a:t>
            </a:r>
          </a:p>
          <a:p>
            <a:r>
              <a:rPr lang="en-US" dirty="0"/>
              <a:t>“Now let's look at the checklist.</a:t>
            </a:r>
          </a:p>
          <a:p>
            <a:r>
              <a:rPr lang="en-US" dirty="0"/>
              <a:t>We're going to verify core functionality.</a:t>
            </a:r>
          </a:p>
          <a:p>
            <a:r>
              <a:rPr lang="en-US" dirty="0"/>
              <a:t>We're going to test both normal and edge-case scenarios.</a:t>
            </a:r>
          </a:p>
          <a:p>
            <a:r>
              <a:rPr lang="en-US" dirty="0"/>
              <a:t>We're going to verify user roles and permissions.</a:t>
            </a:r>
          </a:p>
          <a:p>
            <a:r>
              <a:rPr lang="en-US" dirty="0"/>
              <a:t>We're going to check error handling and validation.</a:t>
            </a:r>
          </a:p>
          <a:p>
            <a:r>
              <a:rPr lang="en-US" dirty="0"/>
              <a:t>We're going to verify data accuracy and persistence.</a:t>
            </a:r>
          </a:p>
          <a:p>
            <a:r>
              <a:rPr lang="en-US" dirty="0"/>
              <a:t>We're going to confirm our security controls.</a:t>
            </a:r>
          </a:p>
          <a:p>
            <a:r>
              <a:rPr lang="en-US" dirty="0"/>
              <a:t>We're going to check performance.</a:t>
            </a:r>
          </a:p>
          <a:p>
            <a:r>
              <a:rPr lang="en-US" dirty="0"/>
              <a:t>We're going to test across supported browsers and screen sizes.</a:t>
            </a:r>
          </a:p>
          <a:p>
            <a:r>
              <a:rPr lang="en-US" dirty="0"/>
              <a:t>And after we make fixes, we're going to perform regression testing.</a:t>
            </a:r>
          </a:p>
          <a:p>
            <a:r>
              <a:rPr lang="en-US" dirty="0"/>
              <a:t>This gives us a structured way to approach final testing instead of simply clicking around the application.”</a:t>
            </a:r>
          </a:p>
          <a:p>
            <a:br>
              <a:rPr lang="en-US" dirty="0"/>
            </a:br>
            <a:endParaRPr lang="en-US" dirty="0"/>
          </a:p>
          <a:p>
            <a:r>
              <a:rPr lang="en-US" b="1" dirty="0"/>
              <a:t>Happy Paths Are Not Enough</a:t>
            </a:r>
          </a:p>
          <a:p>
            <a:r>
              <a:rPr lang="en-US" dirty="0"/>
              <a:t>“One of the biggest mistakes developers make is testing only the </a:t>
            </a:r>
            <a:r>
              <a:rPr lang="en-US" b="1" dirty="0"/>
              <a:t>happy path</a:t>
            </a:r>
            <a:r>
              <a:rPr lang="en-US" dirty="0"/>
              <a:t>.</a:t>
            </a:r>
          </a:p>
          <a:p>
            <a:r>
              <a:rPr lang="en-US" dirty="0"/>
              <a:t>The happy path is:</a:t>
            </a:r>
          </a:p>
          <a:p>
            <a:r>
              <a:rPr lang="en-US" dirty="0"/>
              <a:t>Everything goes exactly as expected.</a:t>
            </a:r>
          </a:p>
          <a:p>
            <a:r>
              <a:rPr lang="en-US" dirty="0"/>
              <a:t>But real users don't always follow the happy path.</a:t>
            </a:r>
          </a:p>
          <a:p>
            <a:r>
              <a:rPr lang="en-US" dirty="0"/>
              <a:t>What happens if the user enters nothing?</a:t>
            </a:r>
          </a:p>
          <a:p>
            <a:r>
              <a:rPr lang="en-US" dirty="0"/>
              <a:t>What happens if they enter too much?</a:t>
            </a:r>
          </a:p>
          <a:p>
            <a:r>
              <a:rPr lang="en-US" dirty="0"/>
              <a:t>What happens if they enter an invalid value?</a:t>
            </a:r>
          </a:p>
          <a:p>
            <a:r>
              <a:rPr lang="en-US" dirty="0"/>
              <a:t>What happens if they click something twice?</a:t>
            </a:r>
          </a:p>
          <a:p>
            <a:r>
              <a:rPr lang="en-US" dirty="0"/>
              <a:t>What happens if the database isn't available?</a:t>
            </a:r>
          </a:p>
          <a:p>
            <a:r>
              <a:rPr lang="en-US" dirty="0"/>
              <a:t>What happens if they don't have permission?</a:t>
            </a:r>
          </a:p>
          <a:p>
            <a:r>
              <a:rPr lang="en-US" dirty="0"/>
              <a:t>What happens if they navigate somewhere they shouldn't?</a:t>
            </a:r>
          </a:p>
          <a:p>
            <a:r>
              <a:rPr lang="en-US" dirty="0"/>
              <a:t>Good testing asks:</a:t>
            </a:r>
          </a:p>
          <a:p>
            <a:r>
              <a:rPr lang="en-US" b="1" dirty="0"/>
              <a:t>What happens when things don't go according to plan?</a:t>
            </a:r>
            <a:r>
              <a:rPr lang="en-US" dirty="0"/>
              <a:t>”</a:t>
            </a:r>
          </a:p>
          <a:p>
            <a:br>
              <a:rPr lang="en-US" dirty="0"/>
            </a:br>
            <a:endParaRPr lang="en-US" dirty="0"/>
          </a:p>
          <a:p>
            <a:r>
              <a:rPr lang="en-US" b="1" dirty="0"/>
              <a:t>Common Testing Mistakes</a:t>
            </a:r>
          </a:p>
          <a:p>
            <a:r>
              <a:rPr lang="en-US" dirty="0"/>
              <a:t>“The artifact highlights several mistakes we want to avoid.</a:t>
            </a:r>
          </a:p>
          <a:p>
            <a:r>
              <a:rPr lang="en-US" dirty="0"/>
              <a:t>Don't test only what is easy.</a:t>
            </a:r>
          </a:p>
          <a:p>
            <a:r>
              <a:rPr lang="en-US" dirty="0"/>
              <a:t>Don't rely exclusively on happy-path scenarios.</a:t>
            </a:r>
          </a:p>
          <a:p>
            <a:r>
              <a:rPr lang="en-US" dirty="0"/>
              <a:t>Don't skip negative and edge cases.</a:t>
            </a:r>
          </a:p>
          <a:p>
            <a:r>
              <a:rPr lang="en-US" dirty="0"/>
              <a:t>Don't assume real-world data will behave like your test data.</a:t>
            </a:r>
          </a:p>
          <a:p>
            <a:r>
              <a:rPr lang="en-US" dirty="0"/>
              <a:t>Don't forget to retest after fixes.</a:t>
            </a:r>
          </a:p>
          <a:p>
            <a:r>
              <a:rPr lang="en-US" dirty="0"/>
              <a:t>And perhaps most importantly:</a:t>
            </a:r>
          </a:p>
          <a:p>
            <a:r>
              <a:rPr lang="en-US" b="1" dirty="0"/>
              <a:t>Don't assume something works simply because it worked yesterday.</a:t>
            </a:r>
            <a:endParaRPr lang="en-US" dirty="0"/>
          </a:p>
          <a:p>
            <a:r>
              <a:rPr lang="en-US" dirty="0"/>
              <a:t>Software changes.</a:t>
            </a:r>
          </a:p>
          <a:p>
            <a:r>
              <a:rPr lang="en-US" dirty="0"/>
              <a:t>Testing has to change with it.”</a:t>
            </a:r>
          </a:p>
          <a:p>
            <a:br>
              <a:rPr lang="en-US" dirty="0"/>
            </a:br>
            <a:endParaRPr lang="en-US" dirty="0"/>
          </a:p>
          <a:p>
            <a:r>
              <a:rPr lang="en-US" b="1" dirty="0"/>
              <a:t>Confidence Comes From Testing</a:t>
            </a:r>
          </a:p>
          <a:p>
            <a:r>
              <a:rPr lang="en-US" dirty="0"/>
              <a:t>“This brings us to one of the most important statements on the artifact:</a:t>
            </a:r>
          </a:p>
          <a:p>
            <a:r>
              <a:rPr lang="en-US" b="1" dirty="0"/>
              <a:t>Confidence comes from testing.</a:t>
            </a:r>
            <a:endParaRPr lang="en-US" dirty="0"/>
          </a:p>
          <a:p>
            <a:r>
              <a:rPr lang="en-US" dirty="0"/>
              <a:t>We're not trying to create perfect software.</a:t>
            </a:r>
          </a:p>
          <a:p>
            <a:r>
              <a:rPr lang="en-US" dirty="0"/>
              <a:t>We're trying to create software where we understand its behavior, have addressed important problems, and have evidence supporting our release decision.</a:t>
            </a:r>
          </a:p>
          <a:p>
            <a:r>
              <a:rPr lang="en-US" dirty="0"/>
              <a:t>That's what allows us to stand behind Version 1.0.”</a:t>
            </a:r>
          </a:p>
          <a:p>
            <a:br>
              <a:rPr lang="en-US" dirty="0"/>
            </a:br>
            <a:endParaRPr lang="en-US" dirty="0"/>
          </a:p>
          <a:p>
            <a:r>
              <a:rPr lang="en-US" b="1" dirty="0"/>
              <a:t>The Release Pipeline</a:t>
            </a:r>
          </a:p>
          <a:p>
            <a:r>
              <a:rPr lang="en-US" dirty="0"/>
              <a:t>“Look at the final progression:</a:t>
            </a:r>
          </a:p>
          <a:p>
            <a:r>
              <a:rPr lang="en-US" b="1" dirty="0"/>
              <a:t>Bugs Found → Issues Fixed → Quality Verified → Ready to Deploy → Ready to Release</a:t>
            </a:r>
            <a:endParaRPr lang="en-US" dirty="0"/>
          </a:p>
          <a:p>
            <a:r>
              <a:rPr lang="en-US" dirty="0"/>
              <a:t>That's the progression we're trying to achieve.</a:t>
            </a:r>
          </a:p>
          <a:p>
            <a:r>
              <a:rPr lang="en-US" dirty="0"/>
              <a:t>Notice that finding bugs is actually a good thing at this stage.</a:t>
            </a:r>
          </a:p>
          <a:p>
            <a:r>
              <a:rPr lang="en-US" dirty="0"/>
              <a:t>A bug discovered during testing is an opportunity to improve Atlas </a:t>
            </a:r>
            <a:r>
              <a:rPr lang="en-US" b="1" dirty="0"/>
              <a:t>before the user discovers it for us</a:t>
            </a:r>
            <a:r>
              <a:rPr lang="en-US" dirty="0"/>
              <a:t>.”</a:t>
            </a:r>
          </a:p>
          <a:p>
            <a:br>
              <a:rPr lang="en-US" dirty="0"/>
            </a:br>
            <a:endParaRPr lang="en-US" dirty="0"/>
          </a:p>
          <a:p>
            <a:r>
              <a:rPr lang="en-US" b="1" dirty="0"/>
              <a:t>Testing as an Engineering Responsibility</a:t>
            </a:r>
          </a:p>
          <a:p>
            <a:r>
              <a:rPr lang="en-US" dirty="0"/>
              <a:t>“This is where I want to reinforce the engineering mindset.</a:t>
            </a:r>
          </a:p>
          <a:p>
            <a:r>
              <a:rPr lang="en-US" dirty="0"/>
              <a:t>Testing isn't something we do because an instructor tells us we need a test section in the project.</a:t>
            </a:r>
          </a:p>
          <a:p>
            <a:r>
              <a:rPr lang="en-US" dirty="0"/>
              <a:t>Testing is part of our responsibility as software engineers.</a:t>
            </a:r>
          </a:p>
          <a:p>
            <a:r>
              <a:rPr lang="en-US" dirty="0"/>
              <a:t>When we release software, we're effectively saying:</a:t>
            </a:r>
          </a:p>
          <a:p>
            <a:r>
              <a:rPr lang="en-US" b="1" dirty="0"/>
              <a:t>We believe this software is ready for someone else to depend on.</a:t>
            </a:r>
            <a:endParaRPr lang="en-US" dirty="0"/>
          </a:p>
          <a:p>
            <a:r>
              <a:rPr lang="en-US" dirty="0"/>
              <a:t>That's a serious statement.</a:t>
            </a:r>
          </a:p>
          <a:p>
            <a:r>
              <a:rPr lang="en-US" dirty="0"/>
              <a:t>Testing gives us the evidence to support it.”</a:t>
            </a:r>
          </a:p>
          <a:p>
            <a:br>
              <a:rPr lang="en-US" dirty="0"/>
            </a:br>
            <a:endParaRPr lang="en-US" dirty="0"/>
          </a:p>
          <a:p>
            <a:r>
              <a:rPr lang="en-US" b="1" dirty="0"/>
              <a:t>Closing</a:t>
            </a:r>
          </a:p>
          <a:p>
            <a:r>
              <a:rPr lang="en-US" dirty="0"/>
              <a:t>“So our objective for Final Testing is simple:</a:t>
            </a:r>
          </a:p>
          <a:p>
            <a:r>
              <a:rPr lang="en-US" b="1" dirty="0"/>
              <a:t>Prove it works.</a:t>
            </a:r>
            <a:endParaRPr lang="en-US" dirty="0"/>
          </a:p>
          <a:p>
            <a:r>
              <a:rPr lang="en-US" b="1" dirty="0"/>
              <a:t>Prove it's ready.</a:t>
            </a:r>
            <a:endParaRPr lang="en-US" dirty="0"/>
          </a:p>
          <a:p>
            <a:r>
              <a:rPr lang="en-US" dirty="0"/>
              <a:t>We're going to systematically test Atlas, identify important issues, fix those issues, and test again.</a:t>
            </a:r>
          </a:p>
          <a:p>
            <a:r>
              <a:rPr lang="en-US" dirty="0"/>
              <a:t>And when we're finished, we should be able to say something much stronger than:</a:t>
            </a:r>
          </a:p>
          <a:p>
            <a:r>
              <a:rPr lang="en-US" dirty="0"/>
              <a:t>‘I think Atlas works.’</a:t>
            </a:r>
          </a:p>
          <a:p>
            <a:r>
              <a:rPr lang="en-US" dirty="0"/>
              <a:t>We should be able to say:</a:t>
            </a:r>
          </a:p>
          <a:p>
            <a:r>
              <a:rPr lang="en-US" b="1" dirty="0"/>
              <a:t>‘We tested Atlas, we addressed the important issues, and we have evidence that it is ready for release.’</a:t>
            </a:r>
            <a:endParaRPr lang="en-US" dirty="0"/>
          </a:p>
          <a:p>
            <a:r>
              <a:rPr lang="en-US" dirty="0"/>
              <a:t>That is the confidence we're looking for.”</a:t>
            </a:r>
          </a:p>
          <a:p>
            <a:r>
              <a:rPr lang="en-US" b="1" dirty="0"/>
              <a:t>Transition</a:t>
            </a:r>
          </a:p>
          <a:p>
            <a:r>
              <a:rPr lang="en-US" dirty="0"/>
              <a:t>“Once testing uncovers problems, our next responsibility is obvious.</a:t>
            </a:r>
          </a:p>
          <a:p>
            <a:r>
              <a:rPr lang="en-US" dirty="0"/>
              <a:t>We have to </a:t>
            </a:r>
            <a:r>
              <a:rPr lang="en-US" b="1" dirty="0"/>
              <a:t>fix them</a:t>
            </a:r>
            <a:r>
              <a:rPr lang="en-US" dirty="0"/>
              <a:t>.</a:t>
            </a:r>
          </a:p>
          <a:p>
            <a:r>
              <a:rPr lang="en-US" dirty="0"/>
              <a:t>So our next artifact moves us from testing Atlas to improving Atlas—taking what we discovered and turning it into a better product.”</a:t>
            </a:r>
          </a:p>
          <a:p>
            <a:endParaRPr lang="en-US" dirty="0"/>
          </a:p>
        </p:txBody>
      </p:sp>
      <p:sp>
        <p:nvSpPr>
          <p:cNvPr id="4" name="Slide Number Placeholder 3"/>
          <p:cNvSpPr>
            <a:spLocks noGrp="1"/>
          </p:cNvSpPr>
          <p:nvPr>
            <p:ph type="sldNum" sz="quarter" idx="5"/>
          </p:nvPr>
        </p:nvSpPr>
        <p:spPr/>
        <p:txBody>
          <a:bodyPr/>
          <a:lstStyle/>
          <a:p>
            <a:fld id="{5FDF263D-5665-4A7C-828E-8E913E9FBDB3}" type="slidenum">
              <a:rPr lang="en-US" smtClean="0"/>
              <a:t>2</a:t>
            </a:fld>
            <a:endParaRPr lang="en-US"/>
          </a:p>
        </p:txBody>
      </p:sp>
    </p:spTree>
    <p:extLst>
      <p:ext uri="{BB962C8B-B14F-4D97-AF65-F5344CB8AC3E}">
        <p14:creationId xmlns:p14="http://schemas.microsoft.com/office/powerpoint/2010/main" val="4187897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 — Final Bug Fixes</a:t>
            </a:r>
          </a:p>
          <a:p>
            <a:r>
              <a:rPr lang="en-US" b="1" dirty="0"/>
              <a:t>Opening</a:t>
            </a:r>
          </a:p>
          <a:p>
            <a:r>
              <a:rPr lang="en-US" dirty="0"/>
              <a:t>“In our previous artifact, we talked about final testing.</a:t>
            </a:r>
          </a:p>
          <a:p>
            <a:r>
              <a:rPr lang="en-US" dirty="0"/>
              <a:t>Testing tells us where Atlas has problems.</a:t>
            </a:r>
          </a:p>
          <a:p>
            <a:r>
              <a:rPr lang="en-US" dirty="0"/>
              <a:t>Now we have to do something about those problems.</a:t>
            </a:r>
          </a:p>
          <a:p>
            <a:r>
              <a:rPr lang="en-US" dirty="0"/>
              <a:t>That's the purpose of </a:t>
            </a:r>
            <a:r>
              <a:rPr lang="en-US" b="1" dirty="0"/>
              <a:t>Final Bug Fixes</a:t>
            </a:r>
            <a:r>
              <a:rPr lang="en-US" dirty="0"/>
              <a:t>.</a:t>
            </a:r>
          </a:p>
          <a:p>
            <a:r>
              <a:rPr lang="en-US" dirty="0"/>
              <a:t>Our goal isn't simply to make the bug disappear.</a:t>
            </a:r>
          </a:p>
          <a:p>
            <a:r>
              <a:rPr lang="en-US" dirty="0"/>
              <a:t>Our goal is to understand </a:t>
            </a:r>
            <a:r>
              <a:rPr lang="en-US" b="1" dirty="0"/>
              <a:t>why the problem happened, fix it correctly, verify the fix, and make sure we didn't break something else in the process.</a:t>
            </a:r>
            <a:r>
              <a:rPr lang="en-US" dirty="0"/>
              <a:t>”</a:t>
            </a:r>
          </a:p>
          <a:p>
            <a:br>
              <a:rPr lang="en-US" dirty="0"/>
            </a:br>
            <a:endParaRPr lang="en-US" dirty="0"/>
          </a:p>
          <a:p>
            <a:r>
              <a:rPr lang="en-US" b="1" dirty="0"/>
              <a:t>Why Bug Fixing Matters</a:t>
            </a:r>
          </a:p>
          <a:p>
            <a:r>
              <a:rPr lang="en-US" dirty="0"/>
              <a:t>“When we're developing software, finding a bug can sometimes feel like failure.</a:t>
            </a:r>
          </a:p>
          <a:p>
            <a:r>
              <a:rPr lang="en-US" dirty="0"/>
              <a:t>But during this stage of the project, finding bugs is actually valuable.</a:t>
            </a:r>
          </a:p>
          <a:p>
            <a:r>
              <a:rPr lang="en-US" dirty="0"/>
              <a:t>Every defect we identify before release is something our users don't have to discover themselves.</a:t>
            </a:r>
          </a:p>
          <a:p>
            <a:r>
              <a:rPr lang="en-US" dirty="0"/>
              <a:t>Testing gives us information.</a:t>
            </a:r>
          </a:p>
          <a:p>
            <a:r>
              <a:rPr lang="en-US" b="1" dirty="0"/>
              <a:t>Bug fixing turns that information into improvement.</a:t>
            </a:r>
            <a:endParaRPr lang="en-US" dirty="0"/>
          </a:p>
          <a:p>
            <a:r>
              <a:rPr lang="en-US" dirty="0"/>
              <a:t>That's how we strengthen Atlas before Version 1.0.”</a:t>
            </a:r>
          </a:p>
          <a:p>
            <a:br>
              <a:rPr lang="en-US" dirty="0"/>
            </a:br>
            <a:endParaRPr lang="en-US" dirty="0"/>
          </a:p>
          <a:p>
            <a:r>
              <a:rPr lang="en-US" b="1" dirty="0"/>
              <a:t>Our Purpose</a:t>
            </a:r>
          </a:p>
          <a:p>
            <a:r>
              <a:rPr lang="en-US" dirty="0"/>
              <a:t>“The purpose of this phase is straightforward:</a:t>
            </a:r>
          </a:p>
          <a:p>
            <a:r>
              <a:rPr lang="en-US" dirty="0"/>
              <a:t>Resolve defects that affect:</a:t>
            </a:r>
          </a:p>
          <a:p>
            <a:pPr lvl="0"/>
            <a:r>
              <a:rPr lang="en-US" dirty="0"/>
              <a:t>functionality,</a:t>
            </a:r>
          </a:p>
          <a:p>
            <a:pPr lvl="0"/>
            <a:r>
              <a:rPr lang="en-US" dirty="0"/>
              <a:t>security,</a:t>
            </a:r>
          </a:p>
          <a:p>
            <a:pPr lvl="0"/>
            <a:r>
              <a:rPr lang="en-US" dirty="0"/>
              <a:t>data integrity,</a:t>
            </a:r>
          </a:p>
          <a:p>
            <a:pPr lvl="0"/>
            <a:r>
              <a:rPr lang="en-US" dirty="0"/>
              <a:t>reliability,</a:t>
            </a:r>
          </a:p>
          <a:p>
            <a:pPr lvl="0"/>
            <a:r>
              <a:rPr lang="en-US" dirty="0"/>
              <a:t>or the user experience.</a:t>
            </a:r>
          </a:p>
          <a:p>
            <a:r>
              <a:rPr lang="en-US" dirty="0"/>
              <a:t>But we also have to make decisions about </a:t>
            </a:r>
            <a:r>
              <a:rPr lang="en-US" b="1" dirty="0"/>
              <a:t>which problems need to be fixed now</a:t>
            </a:r>
            <a:r>
              <a:rPr lang="en-US" dirty="0"/>
              <a:t> and which can wait for a future version.</a:t>
            </a:r>
          </a:p>
          <a:p>
            <a:r>
              <a:rPr lang="en-US" dirty="0"/>
              <a:t>That's where prioritization becomes important.”</a:t>
            </a:r>
          </a:p>
          <a:p>
            <a:br>
              <a:rPr lang="en-US" dirty="0"/>
            </a:br>
            <a:endParaRPr lang="en-US" dirty="0"/>
          </a:p>
          <a:p>
            <a:r>
              <a:rPr lang="en-US" b="1" dirty="0"/>
              <a:t>Bug Priority Framework</a:t>
            </a:r>
          </a:p>
          <a:p>
            <a:r>
              <a:rPr lang="en-US" b="1" dirty="0"/>
              <a:t>P0 — Critical</a:t>
            </a:r>
          </a:p>
          <a:p>
            <a:r>
              <a:rPr lang="en-US" dirty="0"/>
              <a:t>“A P0 issue is something that prevents the system from functioning properly or creates a serious risk.</a:t>
            </a:r>
          </a:p>
          <a:p>
            <a:r>
              <a:rPr lang="en-US" dirty="0"/>
              <a:t>Examples might include:</a:t>
            </a:r>
          </a:p>
          <a:p>
            <a:pPr lvl="0"/>
            <a:r>
              <a:rPr lang="en-US" dirty="0"/>
              <a:t>Users cannot log in.</a:t>
            </a:r>
          </a:p>
          <a:p>
            <a:pPr lvl="0"/>
            <a:r>
              <a:rPr lang="en-US" dirty="0"/>
              <a:t>The application loses important data.</a:t>
            </a:r>
          </a:p>
          <a:p>
            <a:pPr lvl="0"/>
            <a:r>
              <a:rPr lang="en-US" dirty="0"/>
              <a:t>A security control can be bypassed.</a:t>
            </a:r>
          </a:p>
          <a:p>
            <a:pPr lvl="0"/>
            <a:r>
              <a:rPr lang="en-US" dirty="0"/>
              <a:t>The application cannot perform a core function.</a:t>
            </a:r>
          </a:p>
          <a:p>
            <a:r>
              <a:rPr lang="en-US" dirty="0"/>
              <a:t>These issues are release blockers.</a:t>
            </a:r>
          </a:p>
          <a:p>
            <a:r>
              <a:rPr lang="en-US" b="1" dirty="0"/>
              <a:t>We don't knowingly release with a critical defect.</a:t>
            </a:r>
            <a:r>
              <a:rPr lang="en-US" dirty="0"/>
              <a:t>”</a:t>
            </a:r>
          </a:p>
          <a:p>
            <a:br>
              <a:rPr lang="en-US" dirty="0"/>
            </a:br>
            <a:endParaRPr lang="en-US" dirty="0"/>
          </a:p>
          <a:p>
            <a:r>
              <a:rPr lang="en-US" b="1" dirty="0"/>
              <a:t>P1 — High</a:t>
            </a:r>
          </a:p>
          <a:p>
            <a:r>
              <a:rPr lang="en-US" dirty="0"/>
              <a:t>“P1 issues are serious problems that significantly affect functionality or users.</a:t>
            </a:r>
          </a:p>
          <a:p>
            <a:r>
              <a:rPr lang="en-US" dirty="0"/>
              <a:t>Maybe a major feature isn't working correctly.</a:t>
            </a:r>
          </a:p>
          <a:p>
            <a:r>
              <a:rPr lang="en-US" dirty="0"/>
              <a:t>Maybe a large group of users can't complete an important workflow.</a:t>
            </a:r>
          </a:p>
          <a:p>
            <a:r>
              <a:rPr lang="en-US" dirty="0"/>
              <a:t>These issues should be addressed as quickly as possible before release.”</a:t>
            </a:r>
          </a:p>
          <a:p>
            <a:br>
              <a:rPr lang="en-US" dirty="0"/>
            </a:br>
            <a:endParaRPr lang="en-US" dirty="0"/>
          </a:p>
          <a:p>
            <a:r>
              <a:rPr lang="en-US" b="1" dirty="0"/>
              <a:t>P2 — Medium</a:t>
            </a:r>
          </a:p>
          <a:p>
            <a:r>
              <a:rPr lang="en-US" dirty="0"/>
              <a:t>“P2 issues are important but aren't necessarily release blockers.</a:t>
            </a:r>
          </a:p>
          <a:p>
            <a:r>
              <a:rPr lang="en-US" dirty="0"/>
              <a:t>They might involve smaller functionality problems or usability issues.</a:t>
            </a:r>
          </a:p>
          <a:p>
            <a:r>
              <a:rPr lang="en-US" dirty="0"/>
              <a:t>If we have time during the release sprint, we fix them.</a:t>
            </a:r>
          </a:p>
          <a:p>
            <a:r>
              <a:rPr lang="en-US" dirty="0"/>
              <a:t>If not, we document and prioritize them for a future release.”</a:t>
            </a:r>
          </a:p>
          <a:p>
            <a:br>
              <a:rPr lang="en-US" dirty="0"/>
            </a:br>
            <a:endParaRPr lang="en-US" dirty="0"/>
          </a:p>
          <a:p>
            <a:r>
              <a:rPr lang="en-US" b="1" dirty="0"/>
              <a:t>P3 — Low</a:t>
            </a:r>
          </a:p>
          <a:p>
            <a:r>
              <a:rPr lang="en-US" dirty="0"/>
              <a:t>“P3 issues are lower-priority items.</a:t>
            </a:r>
          </a:p>
          <a:p>
            <a:r>
              <a:rPr lang="en-US" dirty="0"/>
              <a:t>These might be cosmetic issues, minor improvements, or ideas that would make Atlas better but don't prevent users from accomplishing their work.</a:t>
            </a:r>
          </a:p>
          <a:p>
            <a:r>
              <a:rPr lang="en-US" dirty="0"/>
              <a:t>We don't ignore them.</a:t>
            </a:r>
          </a:p>
          <a:p>
            <a:r>
              <a:rPr lang="en-US" dirty="0"/>
              <a:t>We simply recognize that not every issue has the same urgency.”</a:t>
            </a:r>
          </a:p>
          <a:p>
            <a:br>
              <a:rPr lang="en-US" dirty="0"/>
            </a:br>
            <a:endParaRPr lang="en-US" dirty="0"/>
          </a:p>
          <a:p>
            <a:r>
              <a:rPr lang="en-US" b="1" dirty="0"/>
              <a:t>The Professional Lesson</a:t>
            </a:r>
          </a:p>
          <a:p>
            <a:r>
              <a:rPr lang="en-US" dirty="0"/>
              <a:t>“This is an important engineering lesson:</a:t>
            </a:r>
          </a:p>
          <a:p>
            <a:r>
              <a:rPr lang="en-US" b="1" dirty="0"/>
              <a:t>Not every bug deserves the same response.</a:t>
            </a:r>
            <a:endParaRPr lang="en-US" dirty="0"/>
          </a:p>
          <a:p>
            <a:r>
              <a:rPr lang="en-US" dirty="0"/>
              <a:t>If we treat every issue as an emergency, we waste time and make poor decisions.</a:t>
            </a:r>
          </a:p>
          <a:p>
            <a:r>
              <a:rPr lang="en-US" dirty="0"/>
              <a:t>If we treat every issue as low priority, we risk releasing broken software.</a:t>
            </a:r>
          </a:p>
          <a:p>
            <a:r>
              <a:rPr lang="en-US" dirty="0"/>
              <a:t>Professional engineers evaluate:</a:t>
            </a:r>
          </a:p>
          <a:p>
            <a:r>
              <a:rPr lang="en-US" b="1" dirty="0"/>
              <a:t>Impact + Risk + Urgency</a:t>
            </a:r>
            <a:endParaRPr lang="en-US" dirty="0"/>
          </a:p>
          <a:p>
            <a:r>
              <a:rPr lang="en-US" dirty="0"/>
              <a:t>and then make an informed decision.”</a:t>
            </a:r>
          </a:p>
          <a:p>
            <a:br>
              <a:rPr lang="en-US" dirty="0"/>
            </a:br>
            <a:endParaRPr lang="en-US" dirty="0"/>
          </a:p>
          <a:p>
            <a:r>
              <a:rPr lang="en-US" b="1" dirty="0"/>
              <a:t>Our Fix Process</a:t>
            </a:r>
          </a:p>
          <a:p>
            <a:r>
              <a:rPr lang="en-US" dirty="0"/>
              <a:t>“The artifact gives us a six-step process.</a:t>
            </a:r>
          </a:p>
          <a:p>
            <a:r>
              <a:rPr lang="en-US" b="1" dirty="0"/>
              <a:t>1. Review</a:t>
            </a:r>
          </a:p>
          <a:p>
            <a:r>
              <a:rPr lang="en-US" dirty="0"/>
              <a:t>First, we review the issues discovered during final testing.</a:t>
            </a:r>
          </a:p>
          <a:p>
            <a:r>
              <a:rPr lang="en-US" dirty="0"/>
              <a:t>What happened?</a:t>
            </a:r>
          </a:p>
          <a:p>
            <a:r>
              <a:rPr lang="en-US" dirty="0"/>
              <a:t>How often does it happen?</a:t>
            </a:r>
          </a:p>
          <a:p>
            <a:r>
              <a:rPr lang="en-US" dirty="0"/>
              <a:t>Who is affected?</a:t>
            </a:r>
          </a:p>
          <a:p>
            <a:r>
              <a:rPr lang="en-US" dirty="0"/>
              <a:t>How serious is it?</a:t>
            </a:r>
          </a:p>
          <a:p>
            <a:br>
              <a:rPr lang="en-US" dirty="0"/>
            </a:br>
            <a:endParaRPr lang="en-US" dirty="0"/>
          </a:p>
          <a:p>
            <a:r>
              <a:rPr lang="en-US" b="1" dirty="0"/>
              <a:t>2. Analyze</a:t>
            </a:r>
          </a:p>
          <a:p>
            <a:r>
              <a:rPr lang="en-US" dirty="0"/>
              <a:t>Next, we investigate the problem.</a:t>
            </a:r>
          </a:p>
          <a:p>
            <a:r>
              <a:rPr lang="en-US" dirty="0"/>
              <a:t>We reproduce the bug.</a:t>
            </a:r>
          </a:p>
          <a:p>
            <a:r>
              <a:rPr lang="en-US" dirty="0"/>
              <a:t>We examine the relevant code.</a:t>
            </a:r>
          </a:p>
          <a:p>
            <a:r>
              <a:rPr lang="en-US" dirty="0"/>
              <a:t>We look at logs or error messages.</a:t>
            </a:r>
          </a:p>
          <a:p>
            <a:r>
              <a:rPr lang="en-US" dirty="0"/>
              <a:t>We examine the data.</a:t>
            </a:r>
          </a:p>
          <a:p>
            <a:r>
              <a:rPr lang="en-US" dirty="0"/>
              <a:t>And most importantly, we identify the </a:t>
            </a:r>
            <a:r>
              <a:rPr lang="en-US" b="1" dirty="0"/>
              <a:t>root cause</a:t>
            </a:r>
            <a:r>
              <a:rPr lang="en-US" dirty="0"/>
              <a:t>.</a:t>
            </a:r>
          </a:p>
          <a:p>
            <a:br>
              <a:rPr lang="en-US" dirty="0"/>
            </a:br>
            <a:endParaRPr lang="en-US" dirty="0"/>
          </a:p>
          <a:p>
            <a:r>
              <a:rPr lang="en-US" b="1" dirty="0"/>
              <a:t>3. Fix</a:t>
            </a:r>
          </a:p>
          <a:p>
            <a:r>
              <a:rPr lang="en-US" dirty="0"/>
              <a:t>Then we make the change.</a:t>
            </a:r>
          </a:p>
          <a:p>
            <a:r>
              <a:rPr lang="en-US" dirty="0"/>
              <a:t>That might mean modifying code, configuration, database logic, validation, UI behavior, or some other part of the system.</a:t>
            </a:r>
          </a:p>
          <a:p>
            <a:r>
              <a:rPr lang="en-US" dirty="0"/>
              <a:t>But the goal is to make the </a:t>
            </a:r>
            <a:r>
              <a:rPr lang="en-US" b="1" dirty="0"/>
              <a:t>smallest appropriate change that correctly addresses the underlying problem</a:t>
            </a:r>
            <a:r>
              <a:rPr lang="en-US" dirty="0"/>
              <a:t>.</a:t>
            </a:r>
          </a:p>
          <a:p>
            <a:br>
              <a:rPr lang="en-US" dirty="0"/>
            </a:br>
            <a:endParaRPr lang="en-US" dirty="0"/>
          </a:p>
          <a:p>
            <a:r>
              <a:rPr lang="en-US" b="1" dirty="0"/>
              <a:t>4. Verify</a:t>
            </a:r>
          </a:p>
          <a:p>
            <a:r>
              <a:rPr lang="en-US" dirty="0"/>
              <a:t>After making the fix, we test the specific scenario that originally failed.</a:t>
            </a:r>
          </a:p>
          <a:p>
            <a:r>
              <a:rPr lang="en-US" dirty="0"/>
              <a:t>Does the problem actually go away?</a:t>
            </a:r>
          </a:p>
          <a:p>
            <a:r>
              <a:rPr lang="en-US" dirty="0"/>
              <a:t>We shouldn't mark an issue as resolved simply because we changed the code.</a:t>
            </a:r>
          </a:p>
          <a:p>
            <a:r>
              <a:rPr lang="en-US" dirty="0"/>
              <a:t>We need evidence.</a:t>
            </a:r>
          </a:p>
          <a:p>
            <a:br>
              <a:rPr lang="en-US" dirty="0"/>
            </a:br>
            <a:endParaRPr lang="en-US" dirty="0"/>
          </a:p>
          <a:p>
            <a:r>
              <a:rPr lang="en-US" b="1" dirty="0"/>
              <a:t>5. Regression Test</a:t>
            </a:r>
          </a:p>
          <a:p>
            <a:r>
              <a:rPr lang="en-US" dirty="0"/>
              <a:t>Now we ask an even more important question:</a:t>
            </a:r>
          </a:p>
          <a:p>
            <a:r>
              <a:rPr lang="en-US" b="1" dirty="0"/>
              <a:t>Did our fix break anything else?</a:t>
            </a:r>
            <a:endParaRPr lang="en-US" dirty="0"/>
          </a:p>
          <a:p>
            <a:r>
              <a:rPr lang="en-US" dirty="0"/>
              <a:t>We rerun related tests.</a:t>
            </a:r>
          </a:p>
          <a:p>
            <a:r>
              <a:rPr lang="en-US" dirty="0"/>
              <a:t>This is regression testing.</a:t>
            </a:r>
          </a:p>
          <a:p>
            <a:r>
              <a:rPr lang="en-US" dirty="0"/>
              <a:t>A fix isn't really successful if we solve one problem and introduce another.</a:t>
            </a:r>
          </a:p>
          <a:p>
            <a:br>
              <a:rPr lang="en-US" dirty="0"/>
            </a:br>
            <a:endParaRPr lang="en-US" dirty="0"/>
          </a:p>
          <a:p>
            <a:r>
              <a:rPr lang="en-US" b="1" dirty="0"/>
              <a:t>6. Document</a:t>
            </a:r>
          </a:p>
          <a:p>
            <a:r>
              <a:rPr lang="en-US" dirty="0"/>
              <a:t>Finally, we update the issue and our documentation.</a:t>
            </a:r>
          </a:p>
          <a:p>
            <a:r>
              <a:rPr lang="en-US" dirty="0"/>
              <a:t>What was the problem?</a:t>
            </a:r>
          </a:p>
          <a:p>
            <a:r>
              <a:rPr lang="en-US" dirty="0"/>
              <a:t>What caused it?</a:t>
            </a:r>
          </a:p>
          <a:p>
            <a:r>
              <a:rPr lang="en-US" dirty="0"/>
              <a:t>What was changed?</a:t>
            </a:r>
          </a:p>
          <a:p>
            <a:r>
              <a:rPr lang="en-US" dirty="0"/>
              <a:t>How was it verified?</a:t>
            </a:r>
          </a:p>
          <a:p>
            <a:r>
              <a:rPr lang="en-US" dirty="0"/>
              <a:t>If the behavior of the application changed, the appropriate user or developer documentation should change as well.”</a:t>
            </a:r>
          </a:p>
          <a:p>
            <a:br>
              <a:rPr lang="en-US" dirty="0"/>
            </a:br>
            <a:endParaRPr lang="en-US" dirty="0"/>
          </a:p>
          <a:p>
            <a:r>
              <a:rPr lang="en-US" b="1" dirty="0"/>
              <a:t>Fix → Verify → Regress</a:t>
            </a:r>
          </a:p>
          <a:p>
            <a:r>
              <a:rPr lang="en-US" dirty="0"/>
              <a:t>“The cycle in the middle of the artifact is important:</a:t>
            </a:r>
          </a:p>
          <a:p>
            <a:r>
              <a:rPr lang="en-US" b="1" dirty="0"/>
              <a:t>Fix → Verify → Regress → Repeat</a:t>
            </a:r>
            <a:endParaRPr lang="en-US" dirty="0"/>
          </a:p>
          <a:p>
            <a:r>
              <a:rPr lang="en-US" dirty="0"/>
              <a:t>We may have to go through this cycle several times.</a:t>
            </a:r>
          </a:p>
          <a:p>
            <a:r>
              <a:rPr lang="en-US" dirty="0"/>
              <a:t>That's okay.</a:t>
            </a:r>
          </a:p>
          <a:p>
            <a:r>
              <a:rPr lang="en-US" dirty="0"/>
              <a:t>Software quality improves incrementally.</a:t>
            </a:r>
          </a:p>
          <a:p>
            <a:r>
              <a:rPr lang="en-US" dirty="0"/>
              <a:t>One fix might reveal another problem.</a:t>
            </a:r>
          </a:p>
          <a:p>
            <a:r>
              <a:rPr lang="en-US" dirty="0"/>
              <a:t>A regression test might uncover something we didn't know about.</a:t>
            </a:r>
          </a:p>
          <a:p>
            <a:r>
              <a:rPr lang="en-US" dirty="0"/>
              <a:t>That's part of engineering.”</a:t>
            </a:r>
          </a:p>
          <a:p>
            <a:br>
              <a:rPr lang="en-US" dirty="0"/>
            </a:br>
            <a:endParaRPr lang="en-US" dirty="0"/>
          </a:p>
          <a:p>
            <a:r>
              <a:rPr lang="en-US" b="1" dirty="0"/>
              <a:t>Don't Guess at the Fix</a:t>
            </a:r>
          </a:p>
          <a:p>
            <a:r>
              <a:rPr lang="en-US" dirty="0"/>
              <a:t>“One of the most common mistakes developers make is guessing.</a:t>
            </a:r>
          </a:p>
          <a:p>
            <a:r>
              <a:rPr lang="en-US" dirty="0"/>
              <a:t>They see an error and immediately change something that looks suspicious.</a:t>
            </a:r>
          </a:p>
          <a:p>
            <a:r>
              <a:rPr lang="en-US" dirty="0"/>
              <a:t>Maybe the error disappears.</a:t>
            </a:r>
          </a:p>
          <a:p>
            <a:r>
              <a:rPr lang="en-US" dirty="0"/>
              <a:t>But we don't actually understand why.</a:t>
            </a:r>
          </a:p>
          <a:p>
            <a:r>
              <a:rPr lang="en-US" dirty="0"/>
              <a:t>That creates fragile software.</a:t>
            </a:r>
          </a:p>
          <a:p>
            <a:r>
              <a:rPr lang="en-US" dirty="0"/>
              <a:t>Instead, we want to reproduce the problem and identify the root cause before making the change.</a:t>
            </a:r>
          </a:p>
          <a:p>
            <a:r>
              <a:rPr lang="en-US" dirty="0"/>
              <a:t>The question isn't:</a:t>
            </a:r>
          </a:p>
          <a:p>
            <a:r>
              <a:rPr lang="en-US" dirty="0"/>
              <a:t>‘What code can I change to make this error disappear?’</a:t>
            </a:r>
          </a:p>
          <a:p>
            <a:r>
              <a:rPr lang="en-US" dirty="0"/>
              <a:t>The better question is:</a:t>
            </a:r>
          </a:p>
          <a:p>
            <a:r>
              <a:rPr lang="en-US" b="1" dirty="0"/>
              <a:t>‘Why is this happening, and what is the correct way to address it?’</a:t>
            </a:r>
            <a:r>
              <a:rPr lang="en-US" dirty="0"/>
              <a:t>”</a:t>
            </a:r>
          </a:p>
          <a:p>
            <a:br>
              <a:rPr lang="en-US" dirty="0"/>
            </a:br>
            <a:endParaRPr lang="en-US" dirty="0"/>
          </a:p>
          <a:p>
            <a:r>
              <a:rPr lang="en-US" b="1" dirty="0"/>
              <a:t>Don't Skip Regression Testing</a:t>
            </a:r>
          </a:p>
          <a:p>
            <a:r>
              <a:rPr lang="en-US" dirty="0"/>
              <a:t>“Another common mistake is skipping regression testing.</a:t>
            </a:r>
          </a:p>
          <a:p>
            <a:r>
              <a:rPr lang="en-US" dirty="0"/>
              <a:t>Imagine a student fixes the task creation feature.</a:t>
            </a:r>
          </a:p>
          <a:p>
            <a:r>
              <a:rPr lang="en-US" dirty="0"/>
              <a:t>They test task creation.</a:t>
            </a:r>
          </a:p>
          <a:p>
            <a:r>
              <a:rPr lang="en-US" dirty="0"/>
              <a:t>It works.</a:t>
            </a:r>
          </a:p>
          <a:p>
            <a:r>
              <a:rPr lang="en-US" dirty="0"/>
              <a:t>They declare victory.</a:t>
            </a:r>
          </a:p>
          <a:p>
            <a:r>
              <a:rPr lang="en-US" dirty="0"/>
              <a:t>But the change accidentally broke task editing.</a:t>
            </a:r>
          </a:p>
          <a:p>
            <a:r>
              <a:rPr lang="en-US" dirty="0"/>
              <a:t>Without regression testing, that problem might make it into production.</a:t>
            </a:r>
          </a:p>
          <a:p>
            <a:r>
              <a:rPr lang="en-US" dirty="0"/>
              <a:t>So after important fixes, we don't just test the thing we changed.</a:t>
            </a:r>
          </a:p>
          <a:p>
            <a:r>
              <a:rPr lang="en-US" dirty="0"/>
              <a:t>We test the functionality connected to it.”</a:t>
            </a:r>
          </a:p>
          <a:p>
            <a:br>
              <a:rPr lang="en-US" dirty="0"/>
            </a:br>
            <a:endParaRPr lang="en-US" dirty="0"/>
          </a:p>
          <a:p>
            <a:r>
              <a:rPr lang="en-US" b="1" dirty="0"/>
              <a:t>Clean, Maintainable Fixes</a:t>
            </a:r>
          </a:p>
          <a:p>
            <a:r>
              <a:rPr lang="en-US" dirty="0"/>
              <a:t>“There's another important principle here:</a:t>
            </a:r>
          </a:p>
          <a:p>
            <a:r>
              <a:rPr lang="en-US" b="1" dirty="0"/>
              <a:t>Don't create a bad fix just because we're close to the deadline.</a:t>
            </a:r>
            <a:endParaRPr lang="en-US" dirty="0"/>
          </a:p>
          <a:p>
            <a:r>
              <a:rPr lang="en-US" dirty="0"/>
              <a:t>We still want clean, maintainable code.</a:t>
            </a:r>
          </a:p>
          <a:p>
            <a:r>
              <a:rPr lang="en-US" dirty="0"/>
              <a:t>Avoid unnecessary duplication.</a:t>
            </a:r>
          </a:p>
          <a:p>
            <a:r>
              <a:rPr lang="en-US" dirty="0"/>
              <a:t>Follow the existing architecture.</a:t>
            </a:r>
          </a:p>
          <a:p>
            <a:r>
              <a:rPr lang="en-US" dirty="0"/>
              <a:t>Use meaningful names.</a:t>
            </a:r>
          </a:p>
          <a:p>
            <a:r>
              <a:rPr lang="en-US" dirty="0"/>
              <a:t>Don't leave temporary debugging code behind.</a:t>
            </a:r>
          </a:p>
          <a:p>
            <a:r>
              <a:rPr lang="en-US" dirty="0"/>
              <a:t>Don't solve a simple problem with a complicated workaround.</a:t>
            </a:r>
          </a:p>
          <a:p>
            <a:r>
              <a:rPr lang="en-US" dirty="0"/>
              <a:t>Remember that another developer may have to maintain this code after we're finished.”</a:t>
            </a:r>
          </a:p>
          <a:p>
            <a:br>
              <a:rPr lang="en-US" dirty="0"/>
            </a:br>
            <a:endParaRPr lang="en-US" dirty="0"/>
          </a:p>
          <a:p>
            <a:r>
              <a:rPr lang="en-US" b="1" dirty="0"/>
              <a:t>The Fixing Checklist</a:t>
            </a:r>
          </a:p>
          <a:p>
            <a:r>
              <a:rPr lang="en-US" dirty="0"/>
              <a:t>“Before we close an issue, we should be able to answer several questions.</a:t>
            </a:r>
          </a:p>
          <a:p>
            <a:r>
              <a:rPr lang="en-US" dirty="0"/>
              <a:t>Did we reproduce the issue?</a:t>
            </a:r>
          </a:p>
          <a:p>
            <a:r>
              <a:rPr lang="en-US" dirty="0"/>
              <a:t>Did we identify the root cause?</a:t>
            </a:r>
          </a:p>
          <a:p>
            <a:r>
              <a:rPr lang="en-US" dirty="0"/>
              <a:t>Did we make the appropriate change?</a:t>
            </a:r>
          </a:p>
          <a:p>
            <a:r>
              <a:rPr lang="en-US" dirty="0"/>
              <a:t>Did we test the fix?</a:t>
            </a:r>
          </a:p>
          <a:p>
            <a:r>
              <a:rPr lang="en-US" dirty="0"/>
              <a:t>Did we run regression tests?</a:t>
            </a:r>
          </a:p>
          <a:p>
            <a:r>
              <a:rPr lang="en-US" dirty="0"/>
              <a:t>Did we verify security implications?</a:t>
            </a:r>
          </a:p>
          <a:p>
            <a:r>
              <a:rPr lang="en-US" dirty="0"/>
              <a:t>Did we update validation or error messages if necessary?</a:t>
            </a:r>
          </a:p>
          <a:p>
            <a:r>
              <a:rPr lang="en-US" dirty="0"/>
              <a:t>Did we update documentation if behavior changed?</a:t>
            </a:r>
          </a:p>
          <a:p>
            <a:r>
              <a:rPr lang="en-US" dirty="0"/>
              <a:t>Did we mark the issue as resolved?</a:t>
            </a:r>
          </a:p>
          <a:p>
            <a:r>
              <a:rPr lang="en-US" dirty="0"/>
              <a:t>And did we commit the change with a meaningful commit message?</a:t>
            </a:r>
          </a:p>
          <a:p>
            <a:r>
              <a:rPr lang="en-US" dirty="0"/>
              <a:t>This creates a traceable process instead of random changes being made to the codebase.”</a:t>
            </a:r>
          </a:p>
          <a:p>
            <a:br>
              <a:rPr lang="en-US" dirty="0"/>
            </a:br>
            <a:endParaRPr lang="en-US" dirty="0"/>
          </a:p>
          <a:p>
            <a:r>
              <a:rPr lang="en-US" b="1" dirty="0"/>
              <a:t>Quality Improves One Fix at a Time</a:t>
            </a:r>
          </a:p>
          <a:p>
            <a:r>
              <a:rPr lang="en-US" dirty="0"/>
              <a:t>“I really like the statement in this artifact:</a:t>
            </a:r>
          </a:p>
          <a:p>
            <a:r>
              <a:rPr lang="en-US" b="1" dirty="0"/>
              <a:t>Quality is improved one fix at a time.</a:t>
            </a:r>
            <a:endParaRPr lang="en-US" dirty="0"/>
          </a:p>
          <a:p>
            <a:r>
              <a:rPr lang="en-US" dirty="0"/>
              <a:t>Every correctly resolved defect makes Atlas a little stronger.</a:t>
            </a:r>
          </a:p>
          <a:p>
            <a:r>
              <a:rPr lang="en-US" dirty="0"/>
              <a:t>Every clean commit improves the maintainability of the codebase.</a:t>
            </a:r>
          </a:p>
          <a:p>
            <a:r>
              <a:rPr lang="en-US" dirty="0"/>
              <a:t>Every successful regression test increases our confidence.</a:t>
            </a:r>
          </a:p>
          <a:p>
            <a:r>
              <a:rPr lang="en-US" dirty="0"/>
              <a:t>We're gradually moving from:</a:t>
            </a:r>
          </a:p>
          <a:p>
            <a:r>
              <a:rPr lang="en-US" b="1" dirty="0"/>
              <a:t>‘This application works.’</a:t>
            </a:r>
            <a:endParaRPr lang="en-US" dirty="0"/>
          </a:p>
          <a:p>
            <a:r>
              <a:rPr lang="en-US" dirty="0"/>
              <a:t>toward:</a:t>
            </a:r>
          </a:p>
          <a:p>
            <a:r>
              <a:rPr lang="en-US" b="1" dirty="0"/>
              <a:t>‘This is a product we can confidently release.’</a:t>
            </a:r>
            <a:r>
              <a:rPr lang="en-US" dirty="0"/>
              <a:t>”</a:t>
            </a:r>
          </a:p>
          <a:p>
            <a:br>
              <a:rPr lang="en-US" dirty="0"/>
            </a:br>
            <a:endParaRPr lang="en-US" dirty="0"/>
          </a:p>
          <a:p>
            <a:r>
              <a:rPr lang="en-US" b="1" dirty="0"/>
              <a:t>From Bug to Better</a:t>
            </a:r>
          </a:p>
          <a:p>
            <a:r>
              <a:rPr lang="en-US" dirty="0"/>
              <a:t>“Look at the process along the bottom:</a:t>
            </a:r>
          </a:p>
          <a:p>
            <a:r>
              <a:rPr lang="en-US" b="1" dirty="0"/>
              <a:t>Bug Found</a:t>
            </a:r>
            <a:endParaRPr lang="en-US" dirty="0"/>
          </a:p>
          <a:p>
            <a:r>
              <a:rPr lang="en-US" dirty="0"/>
              <a:t>We discover a problem.</a:t>
            </a:r>
          </a:p>
          <a:p>
            <a:r>
              <a:rPr lang="en-US" dirty="0"/>
              <a:t>↓</a:t>
            </a:r>
          </a:p>
          <a:p>
            <a:r>
              <a:rPr lang="en-US" b="1" dirty="0"/>
              <a:t>Root Cause</a:t>
            </a:r>
            <a:endParaRPr lang="en-US" dirty="0"/>
          </a:p>
          <a:p>
            <a:r>
              <a:rPr lang="en-US" dirty="0"/>
              <a:t>We understand why it happened.</a:t>
            </a:r>
          </a:p>
          <a:p>
            <a:r>
              <a:rPr lang="en-US" dirty="0"/>
              <a:t>↓</a:t>
            </a:r>
          </a:p>
          <a:p>
            <a:r>
              <a:rPr lang="en-US" b="1" dirty="0"/>
              <a:t>Fix Applied</a:t>
            </a:r>
            <a:endParaRPr lang="en-US" dirty="0"/>
          </a:p>
          <a:p>
            <a:r>
              <a:rPr lang="en-US" dirty="0"/>
              <a:t>We make the appropriate change.</a:t>
            </a:r>
          </a:p>
          <a:p>
            <a:r>
              <a:rPr lang="en-US" dirty="0"/>
              <a:t>↓</a:t>
            </a:r>
          </a:p>
          <a:p>
            <a:r>
              <a:rPr lang="en-US" b="1" dirty="0"/>
              <a:t>Verified</a:t>
            </a:r>
            <a:endParaRPr lang="en-US" dirty="0"/>
          </a:p>
          <a:p>
            <a:r>
              <a:rPr lang="en-US" dirty="0"/>
              <a:t>We prove that the original problem is resolved.</a:t>
            </a:r>
          </a:p>
          <a:p>
            <a:r>
              <a:rPr lang="en-US" dirty="0"/>
              <a:t>↓</a:t>
            </a:r>
          </a:p>
          <a:p>
            <a:r>
              <a:rPr lang="en-US" b="1" dirty="0"/>
              <a:t>Regression Tested</a:t>
            </a:r>
            <a:endParaRPr lang="en-US" dirty="0"/>
          </a:p>
          <a:p>
            <a:r>
              <a:rPr lang="en-US" dirty="0"/>
              <a:t>We make sure we didn't break something else.</a:t>
            </a:r>
          </a:p>
          <a:p>
            <a:r>
              <a:rPr lang="en-US" dirty="0"/>
              <a:t>↓</a:t>
            </a:r>
          </a:p>
          <a:p>
            <a:r>
              <a:rPr lang="en-US" b="1" dirty="0"/>
              <a:t>Stronger Atlas</a:t>
            </a:r>
            <a:endParaRPr lang="en-US" dirty="0"/>
          </a:p>
          <a:p>
            <a:r>
              <a:rPr lang="en-US" dirty="0"/>
              <a:t>The product is better than it was before.”</a:t>
            </a:r>
          </a:p>
          <a:p>
            <a:br>
              <a:rPr lang="en-US" dirty="0"/>
            </a:br>
            <a:endParaRPr lang="en-US" dirty="0"/>
          </a:p>
          <a:p>
            <a:r>
              <a:rPr lang="en-US" b="1" dirty="0"/>
              <a:t>Version Control Matters</a:t>
            </a:r>
          </a:p>
          <a:p>
            <a:r>
              <a:rPr lang="en-US" dirty="0"/>
              <a:t>“One small but important piece of this process is the final commit.</a:t>
            </a:r>
          </a:p>
          <a:p>
            <a:r>
              <a:rPr lang="en-US" dirty="0"/>
              <a:t>When we fix a bug, we should make a clear commit that communicates what changed.</a:t>
            </a:r>
          </a:p>
          <a:p>
            <a:r>
              <a:rPr lang="en-US" dirty="0"/>
              <a:t>For example:</a:t>
            </a:r>
          </a:p>
          <a:p>
            <a:r>
              <a:rPr lang="en-US" dirty="0"/>
              <a:t>‘Fix task validation for empty due dates.’</a:t>
            </a:r>
          </a:p>
          <a:p>
            <a:r>
              <a:rPr lang="en-US" dirty="0"/>
              <a:t>That's much more useful than:</a:t>
            </a:r>
          </a:p>
          <a:p>
            <a:r>
              <a:rPr lang="en-US" dirty="0"/>
              <a:t>‘stuff’</a:t>
            </a:r>
          </a:p>
          <a:p>
            <a:r>
              <a:rPr lang="en-US" dirty="0"/>
              <a:t>or:</a:t>
            </a:r>
          </a:p>
          <a:p>
            <a:r>
              <a:rPr lang="en-US" dirty="0"/>
              <a:t>‘final fix’</a:t>
            </a:r>
          </a:p>
          <a:p>
            <a:r>
              <a:rPr lang="en-US" dirty="0"/>
              <a:t>Good commit messages create a history that helps future developers understand how the application evolved.”</a:t>
            </a:r>
          </a:p>
          <a:p>
            <a:br>
              <a:rPr lang="en-US" dirty="0"/>
            </a:br>
            <a:endParaRPr lang="en-US" dirty="0"/>
          </a:p>
          <a:p>
            <a:r>
              <a:rPr lang="en-US" b="1" dirty="0"/>
              <a:t>The Bigger Engineering Lesson</a:t>
            </a:r>
          </a:p>
          <a:p>
            <a:r>
              <a:rPr lang="en-US" dirty="0"/>
              <a:t>“Here's the bigger lesson.</a:t>
            </a:r>
          </a:p>
          <a:p>
            <a:r>
              <a:rPr lang="en-US" dirty="0"/>
              <a:t>Professional software development isn't about writing perfect code the first time.</a:t>
            </a:r>
          </a:p>
          <a:p>
            <a:r>
              <a:rPr lang="en-US" dirty="0"/>
              <a:t>That's unrealistic.</a:t>
            </a:r>
          </a:p>
          <a:p>
            <a:r>
              <a:rPr lang="en-US" dirty="0"/>
              <a:t>It's about having a process for </a:t>
            </a:r>
            <a:r>
              <a:rPr lang="en-US" b="1" dirty="0"/>
              <a:t>discovering problems, understanding them, correcting them, and learning from them.</a:t>
            </a:r>
            <a:endParaRPr lang="en-US" dirty="0"/>
          </a:p>
          <a:p>
            <a:r>
              <a:rPr lang="en-US" dirty="0"/>
              <a:t>That's why testing and bug fixing work together.</a:t>
            </a:r>
          </a:p>
          <a:p>
            <a:r>
              <a:rPr lang="en-US" dirty="0"/>
              <a:t>Testing asks:</a:t>
            </a:r>
          </a:p>
          <a:p>
            <a:r>
              <a:rPr lang="en-US" b="1" dirty="0"/>
              <a:t>What isn't working?</a:t>
            </a:r>
            <a:endParaRPr lang="en-US" dirty="0"/>
          </a:p>
          <a:p>
            <a:r>
              <a:rPr lang="en-US" dirty="0"/>
              <a:t>Bug fixing asks:</a:t>
            </a:r>
          </a:p>
          <a:p>
            <a:r>
              <a:rPr lang="en-US" b="1" dirty="0"/>
              <a:t>Why isn't it working, and how do we correct it?</a:t>
            </a:r>
            <a:endParaRPr lang="en-US" dirty="0"/>
          </a:p>
          <a:p>
            <a:r>
              <a:rPr lang="en-US" dirty="0"/>
              <a:t>Regression testing asks:</a:t>
            </a:r>
          </a:p>
          <a:p>
            <a:r>
              <a:rPr lang="en-US" b="1" dirty="0"/>
              <a:t>Did our correction create another problem?</a:t>
            </a:r>
            <a:r>
              <a:rPr lang="en-US" dirty="0"/>
              <a:t>”</a:t>
            </a:r>
          </a:p>
          <a:p>
            <a:br>
              <a:rPr lang="en-US" dirty="0"/>
            </a:br>
            <a:endParaRPr lang="en-US" dirty="0"/>
          </a:p>
          <a:p>
            <a:r>
              <a:rPr lang="en-US" b="1" dirty="0"/>
              <a:t>Closing</a:t>
            </a:r>
          </a:p>
          <a:p>
            <a:r>
              <a:rPr lang="en-US" dirty="0"/>
              <a:t>“So at the end of this phase, we want to be able to look at our defect list and make informed decisions.</a:t>
            </a:r>
          </a:p>
          <a:p>
            <a:r>
              <a:rPr lang="en-US" dirty="0"/>
              <a:t>Critical problems should be resolved.</a:t>
            </a:r>
          </a:p>
          <a:p>
            <a:r>
              <a:rPr lang="en-US" dirty="0"/>
              <a:t>High-impact problems should be addressed.</a:t>
            </a:r>
          </a:p>
          <a:p>
            <a:r>
              <a:rPr lang="en-US" dirty="0"/>
              <a:t>Lower-priority issues should be documented and intentionally managed.</a:t>
            </a:r>
          </a:p>
          <a:p>
            <a:r>
              <a:rPr lang="en-US" dirty="0"/>
              <a:t>And every fix we make should be verified.</a:t>
            </a:r>
          </a:p>
          <a:p>
            <a:r>
              <a:rPr lang="en-US" dirty="0"/>
              <a:t>The goal isn't to claim that Atlas has absolutely no bugs.</a:t>
            </a:r>
          </a:p>
          <a:p>
            <a:r>
              <a:rPr lang="en-US" dirty="0"/>
              <a:t>The goal is to make sure we understand the remaining issues and have addressed everything necessary for a responsible Version 1.0 release.</a:t>
            </a:r>
          </a:p>
          <a:p>
            <a:r>
              <a:rPr lang="en-US" dirty="0"/>
              <a:t>So remember:</a:t>
            </a:r>
          </a:p>
          <a:p>
            <a:r>
              <a:rPr lang="en-US" b="1" dirty="0"/>
              <a:t>Fix what matters. Improve what counts.</a:t>
            </a:r>
            <a:endParaRPr lang="en-US" dirty="0"/>
          </a:p>
          <a:p>
            <a:r>
              <a:rPr lang="en-US" dirty="0"/>
              <a:t>And ultimately:</a:t>
            </a:r>
          </a:p>
          <a:p>
            <a:r>
              <a:rPr lang="en-US" b="1" dirty="0"/>
              <a:t>Fixed with care. Released with confidence.</a:t>
            </a:r>
            <a:r>
              <a:rPr lang="en-US" dirty="0"/>
              <a:t>”</a:t>
            </a:r>
          </a:p>
          <a:p>
            <a:r>
              <a:rPr lang="en-US" b="1" dirty="0"/>
              <a:t>Transition</a:t>
            </a:r>
          </a:p>
          <a:p>
            <a:r>
              <a:rPr lang="en-US" dirty="0"/>
              <a:t>“Now that we've tested Atlas and resolved the important defects, we're going to shift our attention from correctness to experience.</a:t>
            </a:r>
          </a:p>
          <a:p>
            <a:r>
              <a:rPr lang="en-US" dirty="0"/>
              <a:t>The next question is:</a:t>
            </a:r>
          </a:p>
          <a:p>
            <a:r>
              <a:rPr lang="en-US" b="1" dirty="0"/>
              <a:t>Does Atlas feel like a finished product?</a:t>
            </a:r>
            <a:endParaRPr lang="en-US" dirty="0"/>
          </a:p>
          <a:p>
            <a:r>
              <a:rPr lang="en-US" dirty="0"/>
              <a:t>That's where </a:t>
            </a:r>
            <a:r>
              <a:rPr lang="en-US" b="1" dirty="0"/>
              <a:t>Product Polish</a:t>
            </a:r>
            <a:r>
              <a:rPr lang="en-US" dirty="0"/>
              <a:t> comes in.”</a:t>
            </a:r>
          </a:p>
          <a:p>
            <a:endParaRPr lang="en-US" dirty="0"/>
          </a:p>
        </p:txBody>
      </p:sp>
      <p:sp>
        <p:nvSpPr>
          <p:cNvPr id="4" name="Slide Number Placeholder 3"/>
          <p:cNvSpPr>
            <a:spLocks noGrp="1"/>
          </p:cNvSpPr>
          <p:nvPr>
            <p:ph type="sldNum" sz="quarter" idx="5"/>
          </p:nvPr>
        </p:nvSpPr>
        <p:spPr/>
        <p:txBody>
          <a:bodyPr/>
          <a:lstStyle/>
          <a:p>
            <a:fld id="{5FDF263D-5665-4A7C-828E-8E913E9FBDB3}" type="slidenum">
              <a:rPr lang="en-US" smtClean="0"/>
              <a:t>3</a:t>
            </a:fld>
            <a:endParaRPr lang="en-US"/>
          </a:p>
        </p:txBody>
      </p:sp>
    </p:spTree>
    <p:extLst>
      <p:ext uri="{BB962C8B-B14F-4D97-AF65-F5344CB8AC3E}">
        <p14:creationId xmlns:p14="http://schemas.microsoft.com/office/powerpoint/2010/main" val="2260048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 — Product Polish</a:t>
            </a:r>
          </a:p>
          <a:p>
            <a:r>
              <a:rPr lang="en-US" b="1" dirty="0"/>
              <a:t>Opening</a:t>
            </a:r>
          </a:p>
          <a:p>
            <a:r>
              <a:rPr lang="en-US" dirty="0"/>
              <a:t>“We've tested Atlas.</a:t>
            </a:r>
          </a:p>
          <a:p>
            <a:r>
              <a:rPr lang="en-US" dirty="0"/>
              <a:t>We've found problems.</a:t>
            </a:r>
          </a:p>
          <a:p>
            <a:r>
              <a:rPr lang="en-US" dirty="0"/>
              <a:t>We've fixed the important bugs.</a:t>
            </a:r>
          </a:p>
          <a:p>
            <a:r>
              <a:rPr lang="en-US" dirty="0"/>
              <a:t>Now we need to take a step back and look at the product as a whole.</a:t>
            </a:r>
          </a:p>
          <a:p>
            <a:r>
              <a:rPr lang="en-US" dirty="0"/>
              <a:t>This is </a:t>
            </a:r>
            <a:r>
              <a:rPr lang="en-US" b="1" dirty="0"/>
              <a:t>Product Polish</a:t>
            </a:r>
            <a:r>
              <a:rPr lang="en-US" dirty="0"/>
              <a:t>.</a:t>
            </a:r>
          </a:p>
          <a:p>
            <a:r>
              <a:rPr lang="en-US" dirty="0"/>
              <a:t>And the question we're asking is:</a:t>
            </a:r>
          </a:p>
          <a:p>
            <a:r>
              <a:rPr lang="en-US" b="1" dirty="0"/>
              <a:t>Does Atlas just work, or does Atlas feel like a finished product?</a:t>
            </a:r>
            <a:r>
              <a:rPr lang="en-US" dirty="0"/>
              <a:t>”</a:t>
            </a:r>
          </a:p>
          <a:p>
            <a:br>
              <a:rPr lang="en-US" dirty="0"/>
            </a:br>
            <a:endParaRPr lang="en-US" dirty="0"/>
          </a:p>
          <a:p>
            <a:r>
              <a:rPr lang="en-US" b="1" dirty="0"/>
              <a:t>From Functional to Professional</a:t>
            </a:r>
          </a:p>
          <a:p>
            <a:r>
              <a:rPr lang="en-US" dirty="0"/>
              <a:t>“There's an important difference between software that functions and software that feels professional.</a:t>
            </a:r>
          </a:p>
          <a:p>
            <a:r>
              <a:rPr lang="en-US" dirty="0"/>
              <a:t>Functional software says:</a:t>
            </a:r>
          </a:p>
          <a:p>
            <a:r>
              <a:rPr lang="en-US" dirty="0"/>
              <a:t>‘The button works.’</a:t>
            </a:r>
          </a:p>
          <a:p>
            <a:r>
              <a:rPr lang="en-US" dirty="0"/>
              <a:t>Professional software asks:</a:t>
            </a:r>
          </a:p>
          <a:p>
            <a:r>
              <a:rPr lang="en-US" dirty="0"/>
              <a:t>‘Is the button where the user expects it to be?’</a:t>
            </a:r>
          </a:p>
          <a:p>
            <a:r>
              <a:rPr lang="en-US" dirty="0"/>
              <a:t>Functional software says:</a:t>
            </a:r>
          </a:p>
          <a:p>
            <a:r>
              <a:rPr lang="en-US" dirty="0"/>
              <a:t>‘The form submits.’</a:t>
            </a:r>
          </a:p>
          <a:p>
            <a:r>
              <a:rPr lang="en-US" dirty="0"/>
              <a:t>Professional software asks:</a:t>
            </a:r>
          </a:p>
          <a:p>
            <a:r>
              <a:rPr lang="en-US" dirty="0"/>
              <a:t>‘Does the user understand what information belongs in the form, what happens after they submit it, and what to do if something goes wrong?’</a:t>
            </a:r>
          </a:p>
          <a:p>
            <a:r>
              <a:rPr lang="en-US" dirty="0"/>
              <a:t>That's the mindset we're developing here.”</a:t>
            </a:r>
          </a:p>
          <a:p>
            <a:br>
              <a:rPr lang="en-US" dirty="0"/>
            </a:br>
            <a:endParaRPr lang="en-US" dirty="0"/>
          </a:p>
          <a:p>
            <a:r>
              <a:rPr lang="en-US" b="1" dirty="0"/>
              <a:t>Why Product Polish Matters</a:t>
            </a:r>
          </a:p>
          <a:p>
            <a:r>
              <a:rPr lang="en-US" dirty="0"/>
              <a:t>“Users don't experience our source code.</a:t>
            </a:r>
          </a:p>
          <a:p>
            <a:r>
              <a:rPr lang="en-US" dirty="0"/>
              <a:t>They experience the interface.</a:t>
            </a:r>
          </a:p>
          <a:p>
            <a:r>
              <a:rPr lang="en-US" dirty="0"/>
              <a:t>They experience the navigation.</a:t>
            </a:r>
          </a:p>
          <a:p>
            <a:r>
              <a:rPr lang="en-US" dirty="0"/>
              <a:t>They experience the messages.</a:t>
            </a:r>
          </a:p>
          <a:p>
            <a:r>
              <a:rPr lang="en-US" dirty="0"/>
              <a:t>They experience how quickly the page responds.</a:t>
            </a:r>
          </a:p>
          <a:p>
            <a:r>
              <a:rPr lang="en-US" dirty="0"/>
              <a:t>They experience whether things make sense.</a:t>
            </a:r>
          </a:p>
          <a:p>
            <a:r>
              <a:rPr lang="en-US" dirty="0"/>
              <a:t>And those experiences influence whether they trust the product.</a:t>
            </a:r>
          </a:p>
          <a:p>
            <a:r>
              <a:rPr lang="en-US" dirty="0"/>
              <a:t>A polished application communicates:</a:t>
            </a:r>
          </a:p>
          <a:p>
            <a:r>
              <a:rPr lang="en-US" b="1" dirty="0"/>
              <a:t>Someone cared about this.</a:t>
            </a:r>
            <a:endParaRPr lang="en-US" dirty="0"/>
          </a:p>
          <a:p>
            <a:r>
              <a:rPr lang="en-US" dirty="0"/>
              <a:t>It tells users that we paid attention to their experience.”</a:t>
            </a:r>
          </a:p>
          <a:p>
            <a:br>
              <a:rPr lang="en-US" dirty="0"/>
            </a:br>
            <a:endParaRPr lang="en-US" dirty="0"/>
          </a:p>
          <a:p>
            <a:r>
              <a:rPr lang="en-US" b="1" dirty="0"/>
              <a:t>Our Purpose</a:t>
            </a:r>
          </a:p>
          <a:p>
            <a:r>
              <a:rPr lang="en-US" dirty="0"/>
              <a:t>“The purpose of this phase is to create a consistent and professional experience.</a:t>
            </a:r>
          </a:p>
          <a:p>
            <a:r>
              <a:rPr lang="en-US" dirty="0"/>
              <a:t>We're looking for rough edges.</a:t>
            </a:r>
          </a:p>
          <a:p>
            <a:r>
              <a:rPr lang="en-US" dirty="0"/>
              <a:t>We're removing unnecessary distractions.</a:t>
            </a:r>
          </a:p>
          <a:p>
            <a:r>
              <a:rPr lang="en-US" dirty="0"/>
              <a:t>We're improving usability.</a:t>
            </a:r>
          </a:p>
          <a:p>
            <a:r>
              <a:rPr lang="en-US" dirty="0"/>
              <a:t>And we're making Atlas something that we're proud to put in front of users.</a:t>
            </a:r>
          </a:p>
          <a:p>
            <a:r>
              <a:rPr lang="en-US" dirty="0"/>
              <a:t>This isn't about adding flashy effects just because we can.</a:t>
            </a:r>
          </a:p>
          <a:p>
            <a:r>
              <a:rPr lang="en-US" dirty="0"/>
              <a:t>It's about </a:t>
            </a:r>
            <a:r>
              <a:rPr lang="en-US" b="1" dirty="0"/>
              <a:t>intentional refinement</a:t>
            </a:r>
            <a:r>
              <a:rPr lang="en-US" dirty="0"/>
              <a:t>.”</a:t>
            </a:r>
          </a:p>
          <a:p>
            <a:br>
              <a:rPr lang="en-US" dirty="0"/>
            </a:br>
            <a:endParaRPr lang="en-US" dirty="0"/>
          </a:p>
          <a:p>
            <a:r>
              <a:rPr lang="en-US" b="1" dirty="0"/>
              <a:t>Polish Principle 1 — Put Users First</a:t>
            </a:r>
          </a:p>
          <a:p>
            <a:r>
              <a:rPr lang="en-US" dirty="0"/>
              <a:t>“Every design decision should make the user's experience easier or better.</a:t>
            </a:r>
          </a:p>
          <a:p>
            <a:r>
              <a:rPr lang="en-US" dirty="0"/>
              <a:t>We need to think from the user's perspective.</a:t>
            </a:r>
          </a:p>
          <a:p>
            <a:r>
              <a:rPr lang="en-US" dirty="0"/>
              <a:t>Does the navigation make sense?</a:t>
            </a:r>
          </a:p>
          <a:p>
            <a:r>
              <a:rPr lang="en-US" dirty="0"/>
              <a:t>Can they find what they're looking for?</a:t>
            </a:r>
          </a:p>
          <a:p>
            <a:r>
              <a:rPr lang="en-US" dirty="0"/>
              <a:t>Do they understand what each button does?</a:t>
            </a:r>
          </a:p>
          <a:p>
            <a:r>
              <a:rPr lang="en-US" dirty="0"/>
              <a:t>Can they recover when they make a mistake?</a:t>
            </a:r>
          </a:p>
          <a:p>
            <a:r>
              <a:rPr lang="en-US" dirty="0"/>
              <a:t>If something is confusing to us, imagine how confusing it might be to someone seeing Atlas for the first time.”</a:t>
            </a:r>
          </a:p>
          <a:p>
            <a:br>
              <a:rPr lang="en-US" dirty="0"/>
            </a:br>
            <a:endParaRPr lang="en-US" dirty="0"/>
          </a:p>
          <a:p>
            <a:r>
              <a:rPr lang="en-US" b="1" dirty="0"/>
              <a:t>Polish Principle 2 — Be Consistent</a:t>
            </a:r>
          </a:p>
          <a:p>
            <a:r>
              <a:rPr lang="en-US" dirty="0"/>
              <a:t>“Consistency is one of the easiest ways to make an application feel professional.</a:t>
            </a:r>
          </a:p>
          <a:p>
            <a:r>
              <a:rPr lang="en-US" dirty="0"/>
              <a:t>If one button uses a certain style, similar buttons should behave and look similar.</a:t>
            </a:r>
          </a:p>
          <a:p>
            <a:r>
              <a:rPr lang="en-US" dirty="0"/>
              <a:t>If headings use a particular hierarchy, that hierarchy should remain consistent.</a:t>
            </a:r>
          </a:p>
          <a:p>
            <a:r>
              <a:rPr lang="en-US" dirty="0"/>
              <a:t>Spacing, typography, colors, navigation, forms, and messages should all follow recognizable patterns.</a:t>
            </a:r>
          </a:p>
          <a:p>
            <a:r>
              <a:rPr lang="en-US" dirty="0"/>
              <a:t>Consistency reduces the amount of thinking users have to do.”</a:t>
            </a:r>
          </a:p>
          <a:p>
            <a:br>
              <a:rPr lang="en-US" dirty="0"/>
            </a:br>
            <a:endParaRPr lang="en-US" dirty="0"/>
          </a:p>
          <a:p>
            <a:r>
              <a:rPr lang="en-US" b="1" dirty="0"/>
              <a:t>Polish Principle 3 — Clarity Over Cleverness</a:t>
            </a:r>
          </a:p>
          <a:p>
            <a:r>
              <a:rPr lang="en-US" dirty="0"/>
              <a:t>“This is a big one.</a:t>
            </a:r>
          </a:p>
          <a:p>
            <a:r>
              <a:rPr lang="en-US" dirty="0"/>
              <a:t>Sometimes developers want to create something clever.</a:t>
            </a:r>
          </a:p>
          <a:p>
            <a:r>
              <a:rPr lang="en-US" dirty="0"/>
              <a:t>But clever isn't always useful.</a:t>
            </a:r>
          </a:p>
          <a:p>
            <a:r>
              <a:rPr lang="en-US" dirty="0"/>
              <a:t>Simple, obvious, and understandable usually wins.</a:t>
            </a:r>
          </a:p>
          <a:p>
            <a:r>
              <a:rPr lang="en-US" dirty="0"/>
              <a:t>Use clear labels.</a:t>
            </a:r>
          </a:p>
          <a:p>
            <a:r>
              <a:rPr lang="en-US" dirty="0"/>
              <a:t>Use straightforward navigation.</a:t>
            </a:r>
          </a:p>
          <a:p>
            <a:r>
              <a:rPr lang="en-US" dirty="0"/>
              <a:t>Use language users understand.</a:t>
            </a:r>
          </a:p>
          <a:p>
            <a:r>
              <a:rPr lang="en-US" dirty="0"/>
              <a:t>Don't make users guess what an icon means.</a:t>
            </a:r>
          </a:p>
          <a:p>
            <a:r>
              <a:rPr lang="en-US" dirty="0"/>
              <a:t>Don't make someone click three times when one clear action would work.</a:t>
            </a:r>
          </a:p>
          <a:p>
            <a:r>
              <a:rPr lang="en-US" dirty="0"/>
              <a:t>When we're polishing Atlas, we're choosing </a:t>
            </a:r>
            <a:r>
              <a:rPr lang="en-US" b="1" dirty="0"/>
              <a:t>clarity over cleverness</a:t>
            </a:r>
            <a:r>
              <a:rPr lang="en-US" dirty="0"/>
              <a:t>.”</a:t>
            </a:r>
          </a:p>
          <a:p>
            <a:br>
              <a:rPr lang="en-US" dirty="0"/>
            </a:br>
            <a:endParaRPr lang="en-US" dirty="0"/>
          </a:p>
          <a:p>
            <a:r>
              <a:rPr lang="en-US" b="1" dirty="0"/>
              <a:t>Polish Principle 4 — Details Matter</a:t>
            </a:r>
          </a:p>
          <a:p>
            <a:r>
              <a:rPr lang="en-US" dirty="0"/>
              <a:t>“The small things add up.</a:t>
            </a:r>
          </a:p>
          <a:p>
            <a:r>
              <a:rPr lang="en-US" dirty="0"/>
              <a:t>A missing label.</a:t>
            </a:r>
          </a:p>
          <a:p>
            <a:r>
              <a:rPr lang="en-US" dirty="0"/>
              <a:t>An awkward spacing issue.</a:t>
            </a:r>
          </a:p>
          <a:p>
            <a:r>
              <a:rPr lang="en-US" dirty="0"/>
              <a:t>A button that doesn't look clickable.</a:t>
            </a:r>
          </a:p>
          <a:p>
            <a:r>
              <a:rPr lang="en-US" dirty="0"/>
              <a:t>A typo.</a:t>
            </a:r>
          </a:p>
          <a:p>
            <a:r>
              <a:rPr lang="en-US" dirty="0"/>
              <a:t>A confusing validation message.</a:t>
            </a:r>
          </a:p>
          <a:p>
            <a:r>
              <a:rPr lang="en-US" dirty="0"/>
              <a:t>An empty page with no explanation.</a:t>
            </a:r>
          </a:p>
          <a:p>
            <a:r>
              <a:rPr lang="en-US" dirty="0"/>
              <a:t>A broken link.</a:t>
            </a:r>
          </a:p>
          <a:p>
            <a:r>
              <a:rPr lang="en-US" dirty="0"/>
              <a:t>None of these might individually destroy the application.</a:t>
            </a:r>
          </a:p>
          <a:p>
            <a:r>
              <a:rPr lang="en-US" dirty="0"/>
              <a:t>But together, they make the product feel unfinished.</a:t>
            </a:r>
          </a:p>
          <a:p>
            <a:r>
              <a:rPr lang="en-US" dirty="0"/>
              <a:t>Professional products pay attention to the details.”</a:t>
            </a:r>
          </a:p>
          <a:p>
            <a:br>
              <a:rPr lang="en-US" dirty="0"/>
            </a:br>
            <a:endParaRPr lang="en-US" dirty="0"/>
          </a:p>
          <a:p>
            <a:r>
              <a:rPr lang="en-US" b="1" dirty="0"/>
              <a:t>Polish Principle 5 — Delight</a:t>
            </a:r>
          </a:p>
          <a:p>
            <a:r>
              <a:rPr lang="en-US" dirty="0"/>
              <a:t>“Finally, we want the experience to feel good.</a:t>
            </a:r>
          </a:p>
          <a:p>
            <a:r>
              <a:rPr lang="en-US" dirty="0"/>
              <a:t>That doesn't mean we need animations everywhere or complicated visual effects.</a:t>
            </a:r>
          </a:p>
          <a:p>
            <a:r>
              <a:rPr lang="en-US" dirty="0"/>
              <a:t>Sometimes delight is simple.</a:t>
            </a:r>
          </a:p>
          <a:p>
            <a:r>
              <a:rPr lang="en-US" dirty="0"/>
              <a:t>A helpful confirmation message.</a:t>
            </a:r>
          </a:p>
          <a:p>
            <a:r>
              <a:rPr lang="en-US" dirty="0"/>
              <a:t>A clear success state.</a:t>
            </a:r>
          </a:p>
          <a:p>
            <a:r>
              <a:rPr lang="en-US" dirty="0"/>
              <a:t>A thoughtful empty state.</a:t>
            </a:r>
          </a:p>
          <a:p>
            <a:r>
              <a:rPr lang="en-US" dirty="0"/>
              <a:t>A useful piece of guidance.</a:t>
            </a:r>
          </a:p>
          <a:p>
            <a:r>
              <a:rPr lang="en-US" dirty="0"/>
              <a:t>A smooth transition.</a:t>
            </a:r>
          </a:p>
          <a:p>
            <a:r>
              <a:rPr lang="en-US" dirty="0"/>
              <a:t>A small interaction that makes the user think:</a:t>
            </a:r>
          </a:p>
          <a:p>
            <a:r>
              <a:rPr lang="en-US" dirty="0"/>
              <a:t>‘That was easy.’</a:t>
            </a:r>
          </a:p>
          <a:p>
            <a:r>
              <a:rPr lang="en-US" dirty="0"/>
              <a:t>Those small moments build a positive relationship with the product.”</a:t>
            </a:r>
          </a:p>
          <a:p>
            <a:br>
              <a:rPr lang="en-US" dirty="0"/>
            </a:br>
            <a:endParaRPr lang="en-US" dirty="0"/>
          </a:p>
          <a:p>
            <a:r>
              <a:rPr lang="en-US" b="1" dirty="0"/>
              <a:t>Common Rough Edges</a:t>
            </a:r>
          </a:p>
          <a:p>
            <a:r>
              <a:rPr lang="en-US" dirty="0"/>
              <a:t>“Now let's look at some of the common rough edges we should look for.</a:t>
            </a:r>
          </a:p>
          <a:p>
            <a:r>
              <a:rPr lang="en-US" b="1" dirty="0"/>
              <a:t>Inconsistent spacing and alignment</a:t>
            </a:r>
          </a:p>
          <a:p>
            <a:r>
              <a:rPr lang="en-US" dirty="0"/>
              <a:t>Do elements line up?</a:t>
            </a:r>
          </a:p>
          <a:p>
            <a:r>
              <a:rPr lang="en-US" dirty="0"/>
              <a:t>Are margins and padding consistent?</a:t>
            </a:r>
          </a:p>
          <a:p>
            <a:r>
              <a:rPr lang="en-US" b="1" dirty="0"/>
              <a:t>Missing or unclear headings</a:t>
            </a:r>
          </a:p>
          <a:p>
            <a:r>
              <a:rPr lang="en-US" dirty="0"/>
              <a:t>Can users immediately understand what they're looking at?</a:t>
            </a:r>
          </a:p>
          <a:p>
            <a:r>
              <a:rPr lang="en-US" b="1" dirty="0"/>
              <a:t>Poor placeholder text</a:t>
            </a:r>
          </a:p>
          <a:p>
            <a:r>
              <a:rPr lang="en-US" dirty="0"/>
              <a:t>Does the form tell users what information they should enter?</a:t>
            </a:r>
          </a:p>
          <a:p>
            <a:r>
              <a:rPr lang="en-US" b="1" dirty="0"/>
              <a:t>Generic or unhelpful error messages</a:t>
            </a:r>
          </a:p>
          <a:p>
            <a:r>
              <a:rPr lang="en-US" dirty="0"/>
              <a:t>‘Error occurred’ doesn't help anyone.</a:t>
            </a:r>
          </a:p>
          <a:p>
            <a:r>
              <a:rPr lang="en-US" dirty="0"/>
              <a:t>A better message explains what happened and, when possible, what the user should do next.</a:t>
            </a:r>
          </a:p>
          <a:p>
            <a:r>
              <a:rPr lang="en-US" b="1" dirty="0"/>
              <a:t>Broken or misaligned components</a:t>
            </a:r>
          </a:p>
          <a:p>
            <a:r>
              <a:rPr lang="en-US" dirty="0"/>
              <a:t>Do buttons, cards, tables, and forms look intentional?</a:t>
            </a:r>
          </a:p>
          <a:p>
            <a:r>
              <a:rPr lang="en-US" b="1" dirty="0"/>
              <a:t>Hard-to-read text</a:t>
            </a:r>
          </a:p>
          <a:p>
            <a:r>
              <a:rPr lang="en-US" dirty="0"/>
              <a:t>Is the contrast strong enough?</a:t>
            </a:r>
          </a:p>
          <a:p>
            <a:r>
              <a:rPr lang="en-US" dirty="0"/>
              <a:t>Is the font size appropriate?</a:t>
            </a:r>
          </a:p>
          <a:p>
            <a:r>
              <a:rPr lang="en-US" b="1" dirty="0"/>
              <a:t>Debug code and comments</a:t>
            </a:r>
          </a:p>
          <a:p>
            <a:r>
              <a:rPr lang="en-US" dirty="0"/>
              <a:t>Have we removed temporary debugging output and development artifacts?</a:t>
            </a:r>
          </a:p>
          <a:p>
            <a:r>
              <a:rPr lang="en-US" b="1" dirty="0"/>
              <a:t>Unclear empty states</a:t>
            </a:r>
          </a:p>
          <a:p>
            <a:r>
              <a:rPr lang="en-US" dirty="0"/>
              <a:t>What happens when there are no tasks?</a:t>
            </a:r>
          </a:p>
          <a:p>
            <a:r>
              <a:rPr lang="en-US" dirty="0"/>
              <a:t>The application should explain what the user can do next rather than simply displaying an empty screen.”</a:t>
            </a:r>
          </a:p>
          <a:p>
            <a:br>
              <a:rPr lang="en-US" dirty="0"/>
            </a:br>
            <a:endParaRPr lang="en-US" dirty="0"/>
          </a:p>
          <a:p>
            <a:r>
              <a:rPr lang="en-US" b="1" dirty="0"/>
              <a:t>Accessibility Is Part of Polish</a:t>
            </a:r>
          </a:p>
          <a:p>
            <a:r>
              <a:rPr lang="en-US" dirty="0"/>
              <a:t>“Accessibility also belongs in this conversation.</a:t>
            </a:r>
          </a:p>
          <a:p>
            <a:r>
              <a:rPr lang="en-US" dirty="0"/>
              <a:t>A polished application isn't just attractive to people who happen to use it the way we do.</a:t>
            </a:r>
          </a:p>
          <a:p>
            <a:r>
              <a:rPr lang="en-US" dirty="0"/>
              <a:t>We need to consider:</a:t>
            </a:r>
          </a:p>
          <a:p>
            <a:pPr lvl="0"/>
            <a:r>
              <a:rPr lang="en-US" dirty="0"/>
              <a:t>readable text,</a:t>
            </a:r>
          </a:p>
          <a:p>
            <a:pPr lvl="0"/>
            <a:r>
              <a:rPr lang="en-US" dirty="0"/>
              <a:t>sufficient contrast,</a:t>
            </a:r>
          </a:p>
          <a:p>
            <a:pPr lvl="0"/>
            <a:r>
              <a:rPr lang="en-US" dirty="0"/>
              <a:t>meaningful labels,</a:t>
            </a:r>
          </a:p>
          <a:p>
            <a:pPr lvl="0"/>
            <a:r>
              <a:rPr lang="en-US" dirty="0"/>
              <a:t>keyboard accessibility,</a:t>
            </a:r>
          </a:p>
          <a:p>
            <a:pPr lvl="0"/>
            <a:r>
              <a:rPr lang="en-US" dirty="0"/>
              <a:t>logical navigation,</a:t>
            </a:r>
          </a:p>
          <a:p>
            <a:pPr lvl="0"/>
            <a:r>
              <a:rPr lang="en-US" dirty="0"/>
              <a:t>appropriate form labels,</a:t>
            </a:r>
          </a:p>
          <a:p>
            <a:pPr lvl="0"/>
            <a:r>
              <a:rPr lang="en-US" dirty="0"/>
              <a:t>and alternative ways of understanding important information.</a:t>
            </a:r>
          </a:p>
          <a:p>
            <a:r>
              <a:rPr lang="en-US" dirty="0"/>
              <a:t>Accessibility isn't an optional feature we add if we have time.</a:t>
            </a:r>
          </a:p>
          <a:p>
            <a:r>
              <a:rPr lang="en-US" dirty="0"/>
              <a:t>It's part of building a quality product.”</a:t>
            </a:r>
          </a:p>
          <a:p>
            <a:br>
              <a:rPr lang="en-US" dirty="0"/>
            </a:br>
            <a:endParaRPr lang="en-US" dirty="0"/>
          </a:p>
          <a:p>
            <a:r>
              <a:rPr lang="en-US" b="1" dirty="0"/>
              <a:t>Responsive Design</a:t>
            </a:r>
          </a:p>
          <a:p>
            <a:r>
              <a:rPr lang="en-US" dirty="0"/>
              <a:t>“We also need to look at different screen sizes.</a:t>
            </a:r>
          </a:p>
          <a:p>
            <a:r>
              <a:rPr lang="en-US" dirty="0"/>
              <a:t>Atlas may look great on our development laptop.</a:t>
            </a:r>
          </a:p>
          <a:p>
            <a:r>
              <a:rPr lang="en-US" dirty="0"/>
              <a:t>What happens on a smaller screen?</a:t>
            </a:r>
          </a:p>
          <a:p>
            <a:r>
              <a:rPr lang="en-US" dirty="0"/>
              <a:t>Does the navigation still work?</a:t>
            </a:r>
          </a:p>
          <a:p>
            <a:r>
              <a:rPr lang="en-US" dirty="0"/>
              <a:t>Do tables overflow?</a:t>
            </a:r>
          </a:p>
          <a:p>
            <a:r>
              <a:rPr lang="en-US" dirty="0"/>
              <a:t>Do buttons become difficult to use?</a:t>
            </a:r>
          </a:p>
          <a:p>
            <a:r>
              <a:rPr lang="en-US" dirty="0"/>
              <a:t>Does text remain readable?</a:t>
            </a:r>
          </a:p>
          <a:p>
            <a:r>
              <a:rPr lang="en-US" dirty="0"/>
              <a:t>Does the layout collapse gracefully?</a:t>
            </a:r>
          </a:p>
          <a:p>
            <a:r>
              <a:rPr lang="en-US" dirty="0"/>
              <a:t>Responsive design is another example of thinking beyond our own development environment.”</a:t>
            </a:r>
          </a:p>
          <a:p>
            <a:br>
              <a:rPr lang="en-US" dirty="0"/>
            </a:br>
            <a:endParaRPr lang="en-US" dirty="0"/>
          </a:p>
          <a:p>
            <a:r>
              <a:rPr lang="en-US" b="1" dirty="0"/>
              <a:t>Before and After</a:t>
            </a:r>
          </a:p>
          <a:p>
            <a:r>
              <a:rPr lang="en-US" dirty="0"/>
              <a:t>“The before-and-after example on this artifact is important.</a:t>
            </a:r>
          </a:p>
          <a:p>
            <a:r>
              <a:rPr lang="en-US" dirty="0"/>
              <a:t>The first version may technically work.</a:t>
            </a:r>
          </a:p>
          <a:p>
            <a:r>
              <a:rPr lang="en-US" dirty="0"/>
              <a:t>But the improved version provides:</a:t>
            </a:r>
          </a:p>
          <a:p>
            <a:pPr lvl="0"/>
            <a:r>
              <a:rPr lang="en-US" dirty="0"/>
              <a:t>clearer context,</a:t>
            </a:r>
          </a:p>
          <a:p>
            <a:pPr lvl="0"/>
            <a:r>
              <a:rPr lang="en-US" dirty="0"/>
              <a:t>better labels,</a:t>
            </a:r>
          </a:p>
          <a:p>
            <a:pPr lvl="0"/>
            <a:r>
              <a:rPr lang="en-US" dirty="0"/>
              <a:t>stronger feedback,</a:t>
            </a:r>
          </a:p>
          <a:p>
            <a:pPr lvl="0"/>
            <a:r>
              <a:rPr lang="en-US" dirty="0"/>
              <a:t>consistent styling,</a:t>
            </a:r>
          </a:p>
          <a:p>
            <a:pPr lvl="0"/>
            <a:r>
              <a:rPr lang="en-US" dirty="0"/>
              <a:t>and a more obvious user experience.</a:t>
            </a:r>
          </a:p>
          <a:p>
            <a:r>
              <a:rPr lang="en-US" dirty="0"/>
              <a:t>Notice that we didn't necessarily add a huge new feature.</a:t>
            </a:r>
          </a:p>
          <a:p>
            <a:r>
              <a:rPr lang="en-US" dirty="0"/>
              <a:t>We </a:t>
            </a:r>
            <a:r>
              <a:rPr lang="en-US" b="1" dirty="0"/>
              <a:t>refined the experience</a:t>
            </a:r>
            <a:r>
              <a:rPr lang="en-US" dirty="0"/>
              <a:t>.</a:t>
            </a:r>
          </a:p>
          <a:p>
            <a:r>
              <a:rPr lang="en-US" dirty="0"/>
              <a:t>That's what product polish is about.”</a:t>
            </a:r>
          </a:p>
          <a:p>
            <a:br>
              <a:rPr lang="en-US" dirty="0"/>
            </a:br>
            <a:endParaRPr lang="en-US" dirty="0"/>
          </a:p>
          <a:p>
            <a:r>
              <a:rPr lang="en-US" b="1" dirty="0"/>
              <a:t>Tools That Can Help</a:t>
            </a:r>
          </a:p>
          <a:p>
            <a:r>
              <a:rPr lang="en-US" dirty="0"/>
              <a:t>“We already have tools available that can help us with this work.</a:t>
            </a:r>
          </a:p>
          <a:p>
            <a:r>
              <a:rPr lang="en-US" dirty="0"/>
              <a:t>Bootstrap provides consistent UI components and responsive layout capabilities.</a:t>
            </a:r>
          </a:p>
          <a:p>
            <a:r>
              <a:rPr lang="en-US" dirty="0"/>
              <a:t>Font Awesome can help us use recognizable icons.</a:t>
            </a:r>
          </a:p>
          <a:p>
            <a:r>
              <a:rPr lang="en-US" dirty="0"/>
              <a:t>Google Fonts can help establish typography.</a:t>
            </a:r>
          </a:p>
          <a:p>
            <a:r>
              <a:rPr lang="en-US" dirty="0"/>
              <a:t>Accessibility tools can help identify problems that we might not notice ourselves.</a:t>
            </a:r>
          </a:p>
          <a:p>
            <a:r>
              <a:rPr lang="en-US" dirty="0"/>
              <a:t>And browser developer tools can help us inspect responsive layouts and diagnose visual issues.</a:t>
            </a:r>
          </a:p>
          <a:p>
            <a:r>
              <a:rPr lang="en-US" dirty="0"/>
              <a:t>But remember:</a:t>
            </a:r>
          </a:p>
          <a:p>
            <a:r>
              <a:rPr lang="en-US" b="1" dirty="0"/>
              <a:t>Tools don't replace judgment.</a:t>
            </a:r>
            <a:endParaRPr lang="en-US" dirty="0"/>
          </a:p>
          <a:p>
            <a:r>
              <a:rPr lang="en-US" dirty="0"/>
              <a:t>A tool can tell us that something may be wrong.</a:t>
            </a:r>
          </a:p>
          <a:p>
            <a:r>
              <a:rPr lang="en-US" dirty="0"/>
              <a:t>We still have to decide what the user actually needs.”</a:t>
            </a:r>
          </a:p>
          <a:p>
            <a:br>
              <a:rPr lang="en-US" dirty="0"/>
            </a:br>
            <a:endParaRPr lang="en-US" dirty="0"/>
          </a:p>
          <a:p>
            <a:r>
              <a:rPr lang="en-US" b="1" dirty="0"/>
              <a:t>The Polish Checklist</a:t>
            </a:r>
          </a:p>
          <a:p>
            <a:r>
              <a:rPr lang="en-US" dirty="0"/>
              <a:t>“Before we call Atlas polished, we should walk through the checklist.</a:t>
            </a:r>
          </a:p>
          <a:p>
            <a:r>
              <a:rPr lang="en-US" dirty="0"/>
              <a:t>Are layouts consistent?</a:t>
            </a:r>
          </a:p>
          <a:p>
            <a:r>
              <a:rPr lang="en-US" dirty="0"/>
              <a:t>Are page titles and headings clear?</a:t>
            </a:r>
          </a:p>
          <a:p>
            <a:r>
              <a:rPr lang="en-US" dirty="0"/>
              <a:t>Are fonts, colors, and spacing consistent?</a:t>
            </a:r>
          </a:p>
          <a:p>
            <a:r>
              <a:rPr lang="en-US" dirty="0"/>
              <a:t>Is the text readable?</a:t>
            </a:r>
          </a:p>
          <a:p>
            <a:r>
              <a:rPr lang="en-US" dirty="0"/>
              <a:t>Are form labels and placeholders useful?</a:t>
            </a:r>
          </a:p>
          <a:p>
            <a:r>
              <a:rPr lang="en-US" dirty="0"/>
              <a:t>Are validation messages helpful?</a:t>
            </a:r>
          </a:p>
          <a:p>
            <a:r>
              <a:rPr lang="en-US" dirty="0"/>
              <a:t>Do empty states explain what users should do?</a:t>
            </a:r>
          </a:p>
          <a:p>
            <a:r>
              <a:rPr lang="en-US" dirty="0"/>
              <a:t>Are loading states handled appropriately?</a:t>
            </a:r>
          </a:p>
          <a:p>
            <a:r>
              <a:rPr lang="en-US" dirty="0"/>
              <a:t>Are buttons consistent?</a:t>
            </a:r>
          </a:p>
          <a:p>
            <a:r>
              <a:rPr lang="en-US" dirty="0"/>
              <a:t>Is the application responsive?</a:t>
            </a:r>
          </a:p>
          <a:p>
            <a:r>
              <a:rPr lang="en-US" dirty="0"/>
              <a:t>Have we removed debug code?</a:t>
            </a:r>
          </a:p>
          <a:p>
            <a:r>
              <a:rPr lang="en-US" dirty="0"/>
              <a:t>Are the pages free of obvious typos?</a:t>
            </a:r>
          </a:p>
          <a:p>
            <a:r>
              <a:rPr lang="en-US" dirty="0"/>
              <a:t>Does the application feel finished?</a:t>
            </a:r>
          </a:p>
          <a:p>
            <a:r>
              <a:rPr lang="en-US" dirty="0"/>
              <a:t>This is the kind of review a professional team should perform before releasing a product.”</a:t>
            </a:r>
          </a:p>
          <a:p>
            <a:br>
              <a:rPr lang="en-US" dirty="0"/>
            </a:br>
            <a:endParaRPr lang="en-US" dirty="0"/>
          </a:p>
          <a:p>
            <a:r>
              <a:rPr lang="en-US" b="1" dirty="0"/>
              <a:t>Notice → Refine → Review → Test → Feel → WOW</a:t>
            </a:r>
          </a:p>
          <a:p>
            <a:r>
              <a:rPr lang="en-US" dirty="0"/>
              <a:t>“The polish progression at the bottom gives us a useful process.</a:t>
            </a:r>
          </a:p>
          <a:p>
            <a:r>
              <a:rPr lang="en-US" b="1" dirty="0"/>
              <a:t>Notice</a:t>
            </a:r>
          </a:p>
          <a:p>
            <a:r>
              <a:rPr lang="en-US" dirty="0"/>
              <a:t>Look for things that could be improved.</a:t>
            </a:r>
          </a:p>
          <a:p>
            <a:r>
              <a:rPr lang="en-US" b="1" dirty="0"/>
              <a:t>Refine</a:t>
            </a:r>
          </a:p>
          <a:p>
            <a:r>
              <a:rPr lang="en-US" dirty="0"/>
              <a:t>Make the change.</a:t>
            </a:r>
          </a:p>
          <a:p>
            <a:r>
              <a:rPr lang="en-US" b="1" dirty="0"/>
              <a:t>Review</a:t>
            </a:r>
          </a:p>
          <a:p>
            <a:r>
              <a:rPr lang="en-US" dirty="0"/>
              <a:t>Check the application for consistency.</a:t>
            </a:r>
          </a:p>
          <a:p>
            <a:r>
              <a:rPr lang="en-US" b="1" dirty="0"/>
              <a:t>Test</a:t>
            </a:r>
          </a:p>
          <a:p>
            <a:r>
              <a:rPr lang="en-US" dirty="0"/>
              <a:t>Make sure our improvement didn't break functionality.</a:t>
            </a:r>
          </a:p>
          <a:p>
            <a:r>
              <a:rPr lang="en-US" b="1" dirty="0"/>
              <a:t>Feel</a:t>
            </a:r>
          </a:p>
          <a:p>
            <a:r>
              <a:rPr lang="en-US" dirty="0"/>
              <a:t>Experience the application from the user's perspective.</a:t>
            </a:r>
          </a:p>
          <a:p>
            <a:r>
              <a:rPr lang="en-US" b="1" dirty="0"/>
              <a:t>WOW</a:t>
            </a:r>
          </a:p>
          <a:p>
            <a:r>
              <a:rPr lang="en-US" dirty="0"/>
              <a:t>Deliver an experience we're proud to release.</a:t>
            </a:r>
          </a:p>
          <a:p>
            <a:r>
              <a:rPr lang="en-US" dirty="0"/>
              <a:t>That last step isn't about impressing people with technology.</a:t>
            </a:r>
          </a:p>
          <a:p>
            <a:r>
              <a:rPr lang="en-US" dirty="0"/>
              <a:t>It's about making the experience feel intentional.”</a:t>
            </a:r>
          </a:p>
          <a:p>
            <a:br>
              <a:rPr lang="en-US" dirty="0"/>
            </a:br>
            <a:endParaRPr lang="en-US" dirty="0"/>
          </a:p>
          <a:p>
            <a:r>
              <a:rPr lang="en-US" b="1" dirty="0"/>
              <a:t>Don't Over-Polish</a:t>
            </a:r>
          </a:p>
          <a:p>
            <a:r>
              <a:rPr lang="en-US" dirty="0"/>
              <a:t>“There is one danger we should also discuss.</a:t>
            </a:r>
          </a:p>
          <a:p>
            <a:r>
              <a:rPr lang="en-US" dirty="0"/>
              <a:t>We don't want to spend the rest of the semester making tiny visual adjustments while important release work remains unfinished.</a:t>
            </a:r>
          </a:p>
          <a:p>
            <a:r>
              <a:rPr lang="en-US" dirty="0"/>
              <a:t>Polish has to be prioritized.</a:t>
            </a:r>
          </a:p>
          <a:p>
            <a:r>
              <a:rPr lang="en-US" dirty="0"/>
              <a:t>We should fix things that:</a:t>
            </a:r>
          </a:p>
          <a:p>
            <a:pPr lvl="0"/>
            <a:r>
              <a:rPr lang="en-US" dirty="0"/>
              <a:t>affect usability,</a:t>
            </a:r>
          </a:p>
          <a:p>
            <a:pPr lvl="0"/>
            <a:r>
              <a:rPr lang="en-US" dirty="0"/>
              <a:t>create confusion,</a:t>
            </a:r>
          </a:p>
          <a:p>
            <a:pPr lvl="0"/>
            <a:r>
              <a:rPr lang="en-US" dirty="0"/>
              <a:t>reduce accessibility,</a:t>
            </a:r>
          </a:p>
          <a:p>
            <a:pPr lvl="0"/>
            <a:r>
              <a:rPr lang="en-US" dirty="0"/>
              <a:t>damage trust,</a:t>
            </a:r>
          </a:p>
          <a:p>
            <a:pPr lvl="0"/>
            <a:r>
              <a:rPr lang="en-US" dirty="0"/>
              <a:t>or make the application feel incomplete.</a:t>
            </a:r>
          </a:p>
          <a:p>
            <a:r>
              <a:rPr lang="en-US" dirty="0"/>
              <a:t>We're not trying to create perfection.</a:t>
            </a:r>
          </a:p>
          <a:p>
            <a:r>
              <a:rPr lang="en-US" dirty="0"/>
              <a:t>We're trying to create a </a:t>
            </a:r>
            <a:r>
              <a:rPr lang="en-US" b="1" dirty="0"/>
              <a:t>professional Version 1.0</a:t>
            </a:r>
            <a:r>
              <a:rPr lang="en-US" dirty="0"/>
              <a:t>.”</a:t>
            </a:r>
          </a:p>
          <a:p>
            <a:br>
              <a:rPr lang="en-US" dirty="0"/>
            </a:br>
            <a:endParaRPr lang="en-US" dirty="0"/>
          </a:p>
          <a:p>
            <a:r>
              <a:rPr lang="en-US" b="1" dirty="0"/>
              <a:t>The Bigger Lesson</a:t>
            </a:r>
          </a:p>
          <a:p>
            <a:r>
              <a:rPr lang="en-US" dirty="0"/>
              <a:t>“Product polish teaches us something important about software engineering:</a:t>
            </a:r>
          </a:p>
          <a:p>
            <a:r>
              <a:rPr lang="en-US" b="1" dirty="0"/>
              <a:t>Quality is not only technical.</a:t>
            </a:r>
            <a:endParaRPr lang="en-US" dirty="0"/>
          </a:p>
          <a:p>
            <a:r>
              <a:rPr lang="en-US" dirty="0"/>
              <a:t>Quality includes the user's experience.</a:t>
            </a:r>
          </a:p>
          <a:p>
            <a:r>
              <a:rPr lang="en-US" dirty="0"/>
              <a:t>It includes clarity.</a:t>
            </a:r>
          </a:p>
          <a:p>
            <a:r>
              <a:rPr lang="en-US" dirty="0"/>
              <a:t>It includes consistency.</a:t>
            </a:r>
          </a:p>
          <a:p>
            <a:r>
              <a:rPr lang="en-US" dirty="0"/>
              <a:t>It includes accessibility.</a:t>
            </a:r>
          </a:p>
          <a:p>
            <a:r>
              <a:rPr lang="en-US" dirty="0"/>
              <a:t>It includes communication.</a:t>
            </a:r>
          </a:p>
          <a:p>
            <a:r>
              <a:rPr lang="en-US" dirty="0"/>
              <a:t>It includes attention to detail.</a:t>
            </a:r>
          </a:p>
          <a:p>
            <a:r>
              <a:rPr lang="en-US" dirty="0"/>
              <a:t>That's why two applications can provide essentially the same functionality while one feels dramatically better than the other.”</a:t>
            </a:r>
          </a:p>
          <a:p>
            <a:br>
              <a:rPr lang="en-US" dirty="0"/>
            </a:br>
            <a:endParaRPr lang="en-US" dirty="0"/>
          </a:p>
          <a:p>
            <a:r>
              <a:rPr lang="en-US" b="1" dirty="0"/>
              <a:t>Closing</a:t>
            </a:r>
          </a:p>
          <a:p>
            <a:r>
              <a:rPr lang="en-US" dirty="0"/>
              <a:t>“So our goal isn't simply:</a:t>
            </a:r>
          </a:p>
          <a:p>
            <a:r>
              <a:rPr lang="en-US" dirty="0"/>
              <a:t>‘Atlas works.’</a:t>
            </a:r>
          </a:p>
          <a:p>
            <a:r>
              <a:rPr lang="en-US" dirty="0"/>
              <a:t>We've already established that.</a:t>
            </a:r>
          </a:p>
          <a:p>
            <a:r>
              <a:rPr lang="en-US" dirty="0"/>
              <a:t>Our goal is:</a:t>
            </a:r>
          </a:p>
          <a:p>
            <a:r>
              <a:rPr lang="en-US" b="1" dirty="0"/>
              <a:t>‘Atlas works, makes sense, looks professional, and feels ready for users.’</a:t>
            </a:r>
            <a:endParaRPr lang="en-US" dirty="0"/>
          </a:p>
          <a:p>
            <a:r>
              <a:rPr lang="en-US" dirty="0"/>
              <a:t>The final touch matters.</a:t>
            </a:r>
          </a:p>
          <a:p>
            <a:r>
              <a:rPr lang="en-US" dirty="0"/>
              <a:t>Because users don't see all the work that went into our database design, controllers, models, deployment configuration, or testing.</a:t>
            </a:r>
          </a:p>
          <a:p>
            <a:r>
              <a:rPr lang="en-US" dirty="0"/>
              <a:t>They see the product.</a:t>
            </a:r>
          </a:p>
          <a:p>
            <a:r>
              <a:rPr lang="en-US" dirty="0"/>
              <a:t>And the product should communicate the quality of the engineering behind it.</a:t>
            </a:r>
          </a:p>
          <a:p>
            <a:r>
              <a:rPr lang="en-US" dirty="0"/>
              <a:t>Remember:</a:t>
            </a:r>
          </a:p>
          <a:p>
            <a:r>
              <a:rPr lang="en-US" b="1" dirty="0"/>
              <a:t>Polish turns functional into professional—and good into great.</a:t>
            </a:r>
            <a:endParaRPr lang="en-US" dirty="0"/>
          </a:p>
          <a:p>
            <a:r>
              <a:rPr lang="en-US" dirty="0"/>
              <a:t>Now that Atlas has been tested, fixed, and polished, we're ready to take the next major step:</a:t>
            </a:r>
          </a:p>
          <a:p>
            <a:r>
              <a:rPr lang="en-US" b="1" dirty="0"/>
              <a:t>Deploy it with confidence.</a:t>
            </a:r>
            <a:r>
              <a:rPr lang="en-US" dirty="0"/>
              <a:t>”</a:t>
            </a:r>
          </a:p>
          <a:p>
            <a:endParaRPr lang="en-US" dirty="0"/>
          </a:p>
        </p:txBody>
      </p:sp>
      <p:sp>
        <p:nvSpPr>
          <p:cNvPr id="4" name="Slide Number Placeholder 3"/>
          <p:cNvSpPr>
            <a:spLocks noGrp="1"/>
          </p:cNvSpPr>
          <p:nvPr>
            <p:ph type="sldNum" sz="quarter" idx="5"/>
          </p:nvPr>
        </p:nvSpPr>
        <p:spPr/>
        <p:txBody>
          <a:bodyPr/>
          <a:lstStyle/>
          <a:p>
            <a:fld id="{5FDF263D-5665-4A7C-828E-8E913E9FBDB3}" type="slidenum">
              <a:rPr lang="en-US" smtClean="0"/>
              <a:t>4</a:t>
            </a:fld>
            <a:endParaRPr lang="en-US"/>
          </a:p>
        </p:txBody>
      </p:sp>
    </p:spTree>
    <p:extLst>
      <p:ext uri="{BB962C8B-B14F-4D97-AF65-F5344CB8AC3E}">
        <p14:creationId xmlns:p14="http://schemas.microsoft.com/office/powerpoint/2010/main" val="2957772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 — Deploy With Confidence</a:t>
            </a:r>
          </a:p>
          <a:p>
            <a:r>
              <a:rPr lang="en-US" b="1" dirty="0"/>
              <a:t>Opening</a:t>
            </a:r>
          </a:p>
          <a:p>
            <a:r>
              <a:rPr lang="en-US" dirty="0"/>
              <a:t>“We've tested Atlas.</a:t>
            </a:r>
          </a:p>
          <a:p>
            <a:r>
              <a:rPr lang="en-US" dirty="0"/>
              <a:t>We've fixed the important problems.</a:t>
            </a:r>
          </a:p>
          <a:p>
            <a:r>
              <a:rPr lang="en-US" dirty="0"/>
              <a:t>We've polished the user experience.</a:t>
            </a:r>
          </a:p>
          <a:p>
            <a:r>
              <a:rPr lang="en-US" dirty="0"/>
              <a:t>Now we're ready for one of the most important moments in the release process:</a:t>
            </a:r>
          </a:p>
          <a:p>
            <a:r>
              <a:rPr lang="en-US" b="1" dirty="0"/>
              <a:t>Deployment.</a:t>
            </a:r>
            <a:endParaRPr lang="en-US" dirty="0"/>
          </a:p>
          <a:p>
            <a:r>
              <a:rPr lang="en-US" dirty="0"/>
              <a:t>We're taking the version we've been developing and moving it into the production environment where real users can access it.</a:t>
            </a:r>
          </a:p>
          <a:p>
            <a:r>
              <a:rPr lang="en-US" dirty="0"/>
              <a:t>But I want to make one thing very clear:</a:t>
            </a:r>
          </a:p>
          <a:p>
            <a:r>
              <a:rPr lang="en-US" b="1" dirty="0"/>
              <a:t>Deployment is not simply moving code to a server.</a:t>
            </a:r>
            <a:endParaRPr lang="en-US" dirty="0"/>
          </a:p>
          <a:p>
            <a:r>
              <a:rPr lang="en-US" dirty="0"/>
              <a:t>Deployment is a controlled engineering process.”</a:t>
            </a:r>
          </a:p>
          <a:p>
            <a:br>
              <a:rPr lang="en-US" dirty="0"/>
            </a:br>
            <a:endParaRPr lang="en-US" dirty="0"/>
          </a:p>
          <a:p>
            <a:r>
              <a:rPr lang="en-US" b="1" dirty="0"/>
              <a:t>What Does Deployment Actually Mean?</a:t>
            </a:r>
          </a:p>
          <a:p>
            <a:r>
              <a:rPr lang="en-US" dirty="0"/>
              <a:t>“When we deploy Atlas, we're taking everything required to run the application and making it available in the environment where our users will actually use it.</a:t>
            </a:r>
          </a:p>
          <a:p>
            <a:r>
              <a:rPr lang="en-US" dirty="0"/>
              <a:t>That includes more than our source code.</a:t>
            </a:r>
          </a:p>
          <a:p>
            <a:r>
              <a:rPr lang="en-US" dirty="0"/>
              <a:t>We also have:</a:t>
            </a:r>
          </a:p>
          <a:p>
            <a:pPr lvl="0"/>
            <a:r>
              <a:rPr lang="en-US" dirty="0"/>
              <a:t>configuration,</a:t>
            </a:r>
          </a:p>
          <a:p>
            <a:pPr lvl="0"/>
            <a:r>
              <a:rPr lang="en-US" dirty="0"/>
              <a:t>environment variables,</a:t>
            </a:r>
          </a:p>
          <a:p>
            <a:pPr lvl="0"/>
            <a:r>
              <a:rPr lang="en-US" dirty="0"/>
              <a:t>database connections,</a:t>
            </a:r>
          </a:p>
          <a:p>
            <a:pPr lvl="0"/>
            <a:r>
              <a:rPr lang="en-US" dirty="0"/>
              <a:t>database migrations,</a:t>
            </a:r>
          </a:p>
          <a:p>
            <a:pPr lvl="0"/>
            <a:r>
              <a:rPr lang="en-US" dirty="0"/>
              <a:t>dependencies,</a:t>
            </a:r>
          </a:p>
          <a:p>
            <a:pPr lvl="0"/>
            <a:r>
              <a:rPr lang="en-US" dirty="0"/>
              <a:t>security settings,</a:t>
            </a:r>
          </a:p>
          <a:p>
            <a:pPr lvl="0"/>
            <a:r>
              <a:rPr lang="en-US" dirty="0"/>
              <a:t>static files,</a:t>
            </a:r>
          </a:p>
          <a:p>
            <a:pPr lvl="0"/>
            <a:r>
              <a:rPr lang="en-US" dirty="0"/>
              <a:t>application settings,</a:t>
            </a:r>
          </a:p>
          <a:p>
            <a:pPr lvl="0"/>
            <a:r>
              <a:rPr lang="en-US" dirty="0"/>
              <a:t>monitoring,</a:t>
            </a:r>
          </a:p>
          <a:p>
            <a:pPr lvl="0"/>
            <a:r>
              <a:rPr lang="en-US" dirty="0"/>
              <a:t>and infrastructure.</a:t>
            </a:r>
          </a:p>
          <a:p>
            <a:r>
              <a:rPr lang="en-US" dirty="0"/>
              <a:t>If one of those pieces is missing or incorrectly configured, our application might deploy successfully but still not actually work.”</a:t>
            </a:r>
          </a:p>
          <a:p>
            <a:br>
              <a:rPr lang="en-US" dirty="0"/>
            </a:br>
            <a:endParaRPr lang="en-US" dirty="0"/>
          </a:p>
          <a:p>
            <a:r>
              <a:rPr lang="en-US" b="1" dirty="0"/>
              <a:t>Our Purpose</a:t>
            </a:r>
          </a:p>
          <a:p>
            <a:r>
              <a:rPr lang="en-US" dirty="0"/>
              <a:t>“The purpose of this stage is threefold.</a:t>
            </a:r>
          </a:p>
          <a:p>
            <a:r>
              <a:rPr lang="en-US" dirty="0"/>
              <a:t>First:</a:t>
            </a:r>
          </a:p>
          <a:p>
            <a:r>
              <a:rPr lang="en-US" b="1" dirty="0"/>
              <a:t>Release a stable and properly configured version of Atlas.</a:t>
            </a:r>
            <a:endParaRPr lang="en-US" dirty="0"/>
          </a:p>
          <a:p>
            <a:r>
              <a:rPr lang="en-US" dirty="0"/>
              <a:t>Second:</a:t>
            </a:r>
          </a:p>
          <a:p>
            <a:r>
              <a:rPr lang="en-US" b="1" dirty="0"/>
              <a:t>Verify that the production environment actually works.</a:t>
            </a:r>
            <a:endParaRPr lang="en-US" dirty="0"/>
          </a:p>
          <a:p>
            <a:r>
              <a:rPr lang="en-US" dirty="0"/>
              <a:t>And third:</a:t>
            </a:r>
          </a:p>
          <a:p>
            <a:r>
              <a:rPr lang="en-US" b="1" dirty="0"/>
              <a:t>Make sure our users can successfully access Atlas.</a:t>
            </a:r>
            <a:endParaRPr lang="en-US" dirty="0"/>
          </a:p>
          <a:p>
            <a:r>
              <a:rPr lang="en-US" dirty="0"/>
              <a:t>So we're not measuring deployment success by whether Azure says ‘Deployment successful.’</a:t>
            </a:r>
          </a:p>
          <a:p>
            <a:r>
              <a:rPr lang="en-US" dirty="0"/>
              <a:t>We're measuring it by whether </a:t>
            </a:r>
            <a:r>
              <a:rPr lang="en-US" b="1" dirty="0"/>
              <a:t>Atlas actually works in production.</a:t>
            </a:r>
            <a:r>
              <a:rPr lang="en-US" dirty="0"/>
              <a:t>”</a:t>
            </a:r>
          </a:p>
          <a:p>
            <a:br>
              <a:rPr lang="en-US" dirty="0"/>
            </a:br>
            <a:endParaRPr lang="en-US" dirty="0"/>
          </a:p>
          <a:p>
            <a:r>
              <a:rPr lang="en-US" b="1" dirty="0"/>
              <a:t>Deployment Environments</a:t>
            </a:r>
          </a:p>
          <a:p>
            <a:r>
              <a:rPr lang="en-US" dirty="0"/>
              <a:t>“The artifact shows four environments.</a:t>
            </a:r>
          </a:p>
          <a:p>
            <a:r>
              <a:rPr lang="en-US" b="1" dirty="0"/>
              <a:t>Development</a:t>
            </a:r>
          </a:p>
          <a:p>
            <a:r>
              <a:rPr lang="en-US" dirty="0"/>
              <a:t>This is where we build and experiment.</a:t>
            </a:r>
          </a:p>
          <a:p>
            <a:r>
              <a:rPr lang="en-US" dirty="0"/>
              <a:t>It's where we're making changes frequently and learning.</a:t>
            </a:r>
          </a:p>
          <a:p>
            <a:r>
              <a:rPr lang="en-US" dirty="0"/>
              <a:t>We expect things to change here.</a:t>
            </a:r>
          </a:p>
          <a:p>
            <a:r>
              <a:rPr lang="en-US" b="1" dirty="0"/>
              <a:t>Testing / QA</a:t>
            </a:r>
          </a:p>
          <a:p>
            <a:r>
              <a:rPr lang="en-US" dirty="0"/>
              <a:t>This environment gives us a place to verify features and integrations before production.</a:t>
            </a:r>
          </a:p>
          <a:p>
            <a:r>
              <a:rPr lang="en-US" dirty="0"/>
              <a:t>We're asking:</a:t>
            </a:r>
          </a:p>
          <a:p>
            <a:r>
              <a:rPr lang="en-US" dirty="0"/>
              <a:t>Does this change work beyond my development machine?</a:t>
            </a:r>
          </a:p>
          <a:p>
            <a:r>
              <a:rPr lang="en-US" b="1" dirty="0"/>
              <a:t>Staging</a:t>
            </a:r>
          </a:p>
          <a:p>
            <a:r>
              <a:rPr lang="en-US" dirty="0"/>
              <a:t>Staging should resemble production as closely as practical.</a:t>
            </a:r>
          </a:p>
          <a:p>
            <a:r>
              <a:rPr lang="en-US" dirty="0"/>
              <a:t>It's our final opportunity to discover problems before exposing the change to real users.</a:t>
            </a:r>
          </a:p>
          <a:p>
            <a:r>
              <a:rPr lang="en-US" b="1" dirty="0"/>
              <a:t>Production</a:t>
            </a:r>
          </a:p>
          <a:p>
            <a:r>
              <a:rPr lang="en-US" dirty="0"/>
              <a:t>This is the live environment.</a:t>
            </a:r>
          </a:p>
          <a:p>
            <a:r>
              <a:rPr lang="en-US" dirty="0"/>
              <a:t>This is where real users access Atlas.</a:t>
            </a:r>
          </a:p>
          <a:p>
            <a:r>
              <a:rPr lang="en-US" dirty="0"/>
              <a:t>And because real users depend on it, we have to treat this environment differently.”</a:t>
            </a:r>
          </a:p>
          <a:p>
            <a:br>
              <a:rPr lang="en-US" dirty="0"/>
            </a:br>
            <a:endParaRPr lang="en-US" dirty="0"/>
          </a:p>
          <a:p>
            <a:r>
              <a:rPr lang="en-US" b="1" dirty="0"/>
              <a:t>Why Environments Matter</a:t>
            </a:r>
          </a:p>
          <a:p>
            <a:r>
              <a:rPr lang="en-US" dirty="0"/>
              <a:t>“Imagine developing directly against the production database.</a:t>
            </a:r>
          </a:p>
          <a:p>
            <a:r>
              <a:rPr lang="en-US" dirty="0"/>
              <a:t>You make a change.</a:t>
            </a:r>
          </a:p>
          <a:p>
            <a:r>
              <a:rPr lang="en-US" dirty="0"/>
              <a:t>You test something.</a:t>
            </a:r>
          </a:p>
          <a:p>
            <a:r>
              <a:rPr lang="en-US" dirty="0"/>
              <a:t>You accidentally delete or modify important data.</a:t>
            </a:r>
          </a:p>
          <a:p>
            <a:r>
              <a:rPr lang="en-US" dirty="0"/>
              <a:t>That's a disaster.</a:t>
            </a:r>
          </a:p>
          <a:p>
            <a:r>
              <a:rPr lang="en-US" dirty="0"/>
              <a:t>Separating environments gives us a safety boundary.</a:t>
            </a:r>
          </a:p>
          <a:p>
            <a:r>
              <a:rPr lang="en-US" dirty="0"/>
              <a:t>We can experiment in development.</a:t>
            </a:r>
          </a:p>
          <a:p>
            <a:r>
              <a:rPr lang="en-US" dirty="0"/>
              <a:t>Validate in testing.</a:t>
            </a:r>
          </a:p>
          <a:p>
            <a:r>
              <a:rPr lang="en-US" dirty="0"/>
              <a:t>Confirm the release in staging.</a:t>
            </a:r>
          </a:p>
          <a:p>
            <a:r>
              <a:rPr lang="en-US" dirty="0"/>
              <a:t>And then deploy to production with much greater confidence.”</a:t>
            </a:r>
          </a:p>
          <a:p>
            <a:br>
              <a:rPr lang="en-US" dirty="0"/>
            </a:br>
            <a:endParaRPr lang="en-US" dirty="0"/>
          </a:p>
          <a:p>
            <a:r>
              <a:rPr lang="en-US" b="1" dirty="0"/>
              <a:t>The Deployment Approach</a:t>
            </a:r>
          </a:p>
          <a:p>
            <a:r>
              <a:rPr lang="en-US" dirty="0"/>
              <a:t>“The deployment process shown here is based on four ideas:</a:t>
            </a:r>
          </a:p>
          <a:p>
            <a:r>
              <a:rPr lang="en-US" b="1" dirty="0"/>
              <a:t>Automate.</a:t>
            </a:r>
            <a:endParaRPr lang="en-US" dirty="0"/>
          </a:p>
          <a:p>
            <a:r>
              <a:rPr lang="en-US" b="1" dirty="0"/>
              <a:t>Validate.</a:t>
            </a:r>
            <a:endParaRPr lang="en-US" dirty="0"/>
          </a:p>
          <a:p>
            <a:r>
              <a:rPr lang="en-US" b="1" dirty="0"/>
              <a:t>Monitor.</a:t>
            </a:r>
            <a:endParaRPr lang="en-US" dirty="0"/>
          </a:p>
          <a:p>
            <a:r>
              <a:rPr lang="en-US" b="1" dirty="0"/>
              <a:t>Iterate.</a:t>
            </a:r>
            <a:endParaRPr lang="en-US" dirty="0"/>
          </a:p>
          <a:p>
            <a:r>
              <a:rPr lang="en-US" dirty="0"/>
              <a:t>Whenever possible, we want deployment to be repeatable.</a:t>
            </a:r>
          </a:p>
          <a:p>
            <a:r>
              <a:rPr lang="en-US" dirty="0"/>
              <a:t>If deployment depends on someone remembering 25 manual steps, eventually someone will forget step 17.</a:t>
            </a:r>
          </a:p>
          <a:p>
            <a:r>
              <a:rPr lang="en-US" dirty="0"/>
              <a:t>Automation helps reduce that risk.”</a:t>
            </a:r>
          </a:p>
          <a:p>
            <a:br>
              <a:rPr lang="en-US" dirty="0"/>
            </a:br>
            <a:endParaRPr lang="en-US" dirty="0"/>
          </a:p>
          <a:p>
            <a:r>
              <a:rPr lang="en-US" b="1" dirty="0"/>
              <a:t>CI/CD</a:t>
            </a:r>
          </a:p>
          <a:p>
            <a:r>
              <a:rPr lang="en-US" dirty="0"/>
              <a:t>“CI/CD stands for </a:t>
            </a:r>
            <a:r>
              <a:rPr lang="en-US" b="1" dirty="0"/>
              <a:t>Continuous Integration and Continuous Delivery or Deployment</a:t>
            </a:r>
            <a:r>
              <a:rPr lang="en-US" dirty="0"/>
              <a:t>, depending on how the organization uses the terminology.</a:t>
            </a:r>
          </a:p>
          <a:p>
            <a:r>
              <a:rPr lang="en-US" dirty="0"/>
              <a:t>The basic idea is that our software moves through a repeatable pipeline.</a:t>
            </a:r>
          </a:p>
          <a:p>
            <a:r>
              <a:rPr lang="en-US" dirty="0"/>
              <a:t>The pipeline shown here is:</a:t>
            </a:r>
          </a:p>
          <a:p>
            <a:r>
              <a:rPr lang="en-US" b="1" dirty="0"/>
              <a:t>Commit → Build → Test → Deploy → Verify</a:t>
            </a:r>
            <a:endParaRPr lang="en-US" dirty="0"/>
          </a:p>
          <a:p>
            <a:r>
              <a:rPr lang="en-US" dirty="0"/>
              <a:t>A developer commits code.</a:t>
            </a:r>
          </a:p>
          <a:p>
            <a:r>
              <a:rPr lang="en-US" dirty="0"/>
              <a:t>The system builds the application.</a:t>
            </a:r>
          </a:p>
          <a:p>
            <a:r>
              <a:rPr lang="en-US" dirty="0"/>
              <a:t>Automated tests run.</a:t>
            </a:r>
          </a:p>
          <a:p>
            <a:r>
              <a:rPr lang="en-US" dirty="0"/>
              <a:t>The application is deployed.</a:t>
            </a:r>
          </a:p>
          <a:p>
            <a:r>
              <a:rPr lang="en-US" dirty="0"/>
              <a:t>And then we verify that the deployment actually works.</a:t>
            </a:r>
          </a:p>
          <a:p>
            <a:r>
              <a:rPr lang="en-US" dirty="0"/>
              <a:t>This is much safer than:</a:t>
            </a:r>
          </a:p>
          <a:p>
            <a:r>
              <a:rPr lang="en-US" dirty="0"/>
              <a:t>‘I made some changes, zipped the project, and copied it to the server.’”</a:t>
            </a:r>
          </a:p>
          <a:p>
            <a:br>
              <a:rPr lang="en-US" dirty="0"/>
            </a:br>
            <a:endParaRPr lang="en-US" dirty="0"/>
          </a:p>
          <a:p>
            <a:r>
              <a:rPr lang="en-US" b="1" dirty="0"/>
              <a:t>Why Automation Matters</a:t>
            </a:r>
          </a:p>
          <a:p>
            <a:r>
              <a:rPr lang="en-US" dirty="0"/>
              <a:t>“Automation gives us consistency.</a:t>
            </a:r>
          </a:p>
          <a:p>
            <a:r>
              <a:rPr lang="en-US" dirty="0"/>
              <a:t>The same basic process happens every time.</a:t>
            </a:r>
          </a:p>
          <a:p>
            <a:r>
              <a:rPr lang="en-US" dirty="0"/>
              <a:t>It reduces manual errors.</a:t>
            </a:r>
          </a:p>
          <a:p>
            <a:r>
              <a:rPr lang="en-US" dirty="0"/>
              <a:t>It creates a history of deployments.</a:t>
            </a:r>
          </a:p>
          <a:p>
            <a:r>
              <a:rPr lang="en-US" dirty="0"/>
              <a:t>And it makes it easier to understand what changed.</a:t>
            </a:r>
          </a:p>
          <a:p>
            <a:r>
              <a:rPr lang="en-US" dirty="0"/>
              <a:t>For a professional software team, that's extremely valuable.</a:t>
            </a:r>
          </a:p>
          <a:p>
            <a:r>
              <a:rPr lang="en-US" dirty="0"/>
              <a:t>We don't want deployment to be a mysterious event that only one person knows how to perform.”</a:t>
            </a:r>
          </a:p>
          <a:p>
            <a:br>
              <a:rPr lang="en-US" dirty="0"/>
            </a:br>
            <a:endParaRPr lang="en-US" dirty="0"/>
          </a:p>
          <a:p>
            <a:r>
              <a:rPr lang="en-US" b="1" dirty="0"/>
              <a:t>Before We Go Live</a:t>
            </a:r>
          </a:p>
          <a:p>
            <a:r>
              <a:rPr lang="en-US" dirty="0"/>
              <a:t>“Before production deployment, we have one final checklist.</a:t>
            </a:r>
          </a:p>
          <a:p>
            <a:r>
              <a:rPr lang="en-US" dirty="0"/>
              <a:t>Are all tests and bug fixes complete?</a:t>
            </a:r>
          </a:p>
          <a:p>
            <a:r>
              <a:rPr lang="en-US" dirty="0"/>
              <a:t>Have we reviewed the release notes?</a:t>
            </a:r>
          </a:p>
          <a:p>
            <a:r>
              <a:rPr lang="en-US" dirty="0"/>
              <a:t>Are security controls configured correctly?</a:t>
            </a:r>
          </a:p>
          <a:p>
            <a:r>
              <a:rPr lang="en-US" dirty="0"/>
              <a:t>Is our data backed up?</a:t>
            </a:r>
          </a:p>
          <a:p>
            <a:r>
              <a:rPr lang="en-US" dirty="0"/>
              <a:t>Have we communicated the deployment window?</a:t>
            </a:r>
          </a:p>
          <a:p>
            <a:r>
              <a:rPr lang="en-US" dirty="0"/>
              <a:t>Is support prepared?</a:t>
            </a:r>
          </a:p>
          <a:p>
            <a:r>
              <a:rPr lang="en-US" dirty="0"/>
              <a:t>Are non-critical changes frozen?</a:t>
            </a:r>
          </a:p>
          <a:p>
            <a:r>
              <a:rPr lang="en-US" dirty="0"/>
              <a:t>And has someone actually approved the go-live?</a:t>
            </a:r>
          </a:p>
          <a:p>
            <a:r>
              <a:rPr lang="en-US" dirty="0"/>
              <a:t>These checks create a final safety barrier.”</a:t>
            </a:r>
          </a:p>
          <a:p>
            <a:br>
              <a:rPr lang="en-US" dirty="0"/>
            </a:br>
            <a:endParaRPr lang="en-US" dirty="0"/>
          </a:p>
          <a:p>
            <a:r>
              <a:rPr lang="en-US" b="1" dirty="0"/>
              <a:t>Configuration Is Critical</a:t>
            </a:r>
          </a:p>
          <a:p>
            <a:r>
              <a:rPr lang="en-US" dirty="0"/>
              <a:t>“One of the most common deployment problems is configuration.</a:t>
            </a:r>
          </a:p>
          <a:p>
            <a:r>
              <a:rPr lang="en-US" dirty="0"/>
              <a:t>Something works perfectly on the developer's machine but fails in production.</a:t>
            </a:r>
          </a:p>
          <a:p>
            <a:r>
              <a:rPr lang="en-US" dirty="0"/>
              <a:t>Why?</a:t>
            </a:r>
          </a:p>
          <a:p>
            <a:r>
              <a:rPr lang="en-US" dirty="0"/>
              <a:t>Maybe the database connection string is different.</a:t>
            </a:r>
          </a:p>
          <a:p>
            <a:r>
              <a:rPr lang="en-US" dirty="0"/>
              <a:t>Maybe an environment variable is missing.</a:t>
            </a:r>
          </a:p>
          <a:p>
            <a:r>
              <a:rPr lang="en-US" dirty="0"/>
              <a:t>Maybe an API key wasn't configured.</a:t>
            </a:r>
          </a:p>
          <a:p>
            <a:r>
              <a:rPr lang="en-US" dirty="0"/>
              <a:t>Maybe the application is pointing to the wrong database.</a:t>
            </a:r>
          </a:p>
          <a:p>
            <a:r>
              <a:rPr lang="en-US" dirty="0"/>
              <a:t>Maybe the production environment has different settings.</a:t>
            </a:r>
          </a:p>
          <a:p>
            <a:r>
              <a:rPr lang="en-US" dirty="0"/>
              <a:t>This is why we have to treat configuration as part of the application—not as an afterthought.”</a:t>
            </a:r>
          </a:p>
          <a:p>
            <a:br>
              <a:rPr lang="en-US" dirty="0"/>
            </a:br>
            <a:endParaRPr lang="en-US" dirty="0"/>
          </a:p>
          <a:p>
            <a:r>
              <a:rPr lang="en-US" b="1" dirty="0"/>
              <a:t>Never Hard-Code Secrets</a:t>
            </a:r>
          </a:p>
          <a:p>
            <a:r>
              <a:rPr lang="en-US" dirty="0"/>
              <a:t>“This is also a good time to reinforce a security lesson.</a:t>
            </a:r>
          </a:p>
          <a:p>
            <a:r>
              <a:rPr lang="en-US" dirty="0"/>
              <a:t>We should not hard-code sensitive credentials into our source code.</a:t>
            </a:r>
          </a:p>
          <a:p>
            <a:r>
              <a:rPr lang="en-US" dirty="0"/>
              <a:t>Things like:</a:t>
            </a:r>
          </a:p>
          <a:p>
            <a:pPr lvl="0"/>
            <a:r>
              <a:rPr lang="en-US" dirty="0"/>
              <a:t>passwords,</a:t>
            </a:r>
          </a:p>
          <a:p>
            <a:pPr lvl="0"/>
            <a:r>
              <a:rPr lang="en-US" dirty="0"/>
              <a:t>API keys,</a:t>
            </a:r>
          </a:p>
          <a:p>
            <a:pPr lvl="0"/>
            <a:r>
              <a:rPr lang="en-US" dirty="0"/>
              <a:t>connection secrets,</a:t>
            </a:r>
          </a:p>
          <a:p>
            <a:pPr lvl="0"/>
            <a:r>
              <a:rPr lang="en-US" dirty="0"/>
              <a:t>tokens,</a:t>
            </a:r>
          </a:p>
          <a:p>
            <a:pPr lvl="0"/>
            <a:r>
              <a:rPr lang="en-US" dirty="0"/>
              <a:t>and other credentials</a:t>
            </a:r>
          </a:p>
          <a:p>
            <a:r>
              <a:rPr lang="en-US" dirty="0"/>
              <a:t>should be managed securely.</a:t>
            </a:r>
          </a:p>
          <a:p>
            <a:r>
              <a:rPr lang="en-US" dirty="0"/>
              <a:t>And they should not be committed to GitHub simply because it's convenient.</a:t>
            </a:r>
          </a:p>
          <a:p>
            <a:r>
              <a:rPr lang="en-US" dirty="0"/>
              <a:t>Production deployment is where those security practices become especially important.”</a:t>
            </a:r>
          </a:p>
          <a:p>
            <a:br>
              <a:rPr lang="en-US" dirty="0"/>
            </a:br>
            <a:endParaRPr lang="en-US" dirty="0"/>
          </a:p>
          <a:p>
            <a:r>
              <a:rPr lang="en-US" b="1" dirty="0"/>
              <a:t>Smoke Testing</a:t>
            </a:r>
          </a:p>
          <a:p>
            <a:r>
              <a:rPr lang="en-US" dirty="0"/>
              <a:t>“After deployment, we don't immediately walk away.</a:t>
            </a:r>
          </a:p>
          <a:p>
            <a:r>
              <a:rPr lang="en-US" dirty="0"/>
              <a:t>We perform </a:t>
            </a:r>
            <a:r>
              <a:rPr lang="en-US" b="1" dirty="0"/>
              <a:t>smoke tests</a:t>
            </a:r>
            <a:r>
              <a:rPr lang="en-US" dirty="0"/>
              <a:t>.</a:t>
            </a:r>
          </a:p>
          <a:p>
            <a:r>
              <a:rPr lang="en-US" dirty="0"/>
              <a:t>A smoke test is a quick verification that the essential parts of the application are functioning.</a:t>
            </a:r>
          </a:p>
          <a:p>
            <a:r>
              <a:rPr lang="en-US" dirty="0"/>
              <a:t>For Atlas, we might verify:</a:t>
            </a:r>
          </a:p>
          <a:p>
            <a:r>
              <a:rPr lang="en-US" dirty="0"/>
              <a:t>Can a user log in?</a:t>
            </a:r>
          </a:p>
          <a:p>
            <a:r>
              <a:rPr lang="en-US" dirty="0"/>
              <a:t>Does the dashboard load?</a:t>
            </a:r>
          </a:p>
          <a:p>
            <a:r>
              <a:rPr lang="en-US" dirty="0"/>
              <a:t>Can we create a task?</a:t>
            </a:r>
          </a:p>
          <a:p>
            <a:r>
              <a:rPr lang="en-US" dirty="0"/>
              <a:t>Can we retrieve data?</a:t>
            </a:r>
          </a:p>
          <a:p>
            <a:r>
              <a:rPr lang="en-US" dirty="0"/>
              <a:t>Can we update data?</a:t>
            </a:r>
          </a:p>
          <a:p>
            <a:r>
              <a:rPr lang="en-US" dirty="0"/>
              <a:t>Can we delete data?</a:t>
            </a:r>
          </a:p>
          <a:p>
            <a:r>
              <a:rPr lang="en-US" dirty="0"/>
              <a:t>Are permissions working?</a:t>
            </a:r>
          </a:p>
          <a:p>
            <a:r>
              <a:rPr lang="en-US" dirty="0"/>
              <a:t>Are there obvious errors?</a:t>
            </a:r>
          </a:p>
          <a:p>
            <a:r>
              <a:rPr lang="en-US" dirty="0"/>
              <a:t>The goal isn't to repeat the entire testing process.</a:t>
            </a:r>
          </a:p>
          <a:p>
            <a:r>
              <a:rPr lang="en-US" dirty="0"/>
              <a:t>The goal is to answer:</a:t>
            </a:r>
          </a:p>
          <a:p>
            <a:r>
              <a:rPr lang="en-US" b="1" dirty="0"/>
              <a:t>Is the production system fundamentally alive and functioning?</a:t>
            </a:r>
            <a:r>
              <a:rPr lang="en-US" dirty="0"/>
              <a:t>”</a:t>
            </a:r>
          </a:p>
          <a:p>
            <a:br>
              <a:rPr lang="en-US" dirty="0"/>
            </a:br>
            <a:endParaRPr lang="en-US" dirty="0"/>
          </a:p>
          <a:p>
            <a:r>
              <a:rPr lang="en-US" b="1" dirty="0"/>
              <a:t>Production Verification</a:t>
            </a:r>
          </a:p>
          <a:p>
            <a:r>
              <a:rPr lang="en-US" dirty="0"/>
              <a:t>“Here's an important distinction:</a:t>
            </a:r>
          </a:p>
          <a:p>
            <a:r>
              <a:rPr lang="en-US" b="1" dirty="0"/>
              <a:t>Deployment succeeded</a:t>
            </a:r>
            <a:r>
              <a:rPr lang="en-US" dirty="0"/>
              <a:t> does not necessarily mean </a:t>
            </a:r>
            <a:r>
              <a:rPr lang="en-US" b="1" dirty="0"/>
              <a:t>the application succeeded</a:t>
            </a:r>
            <a:r>
              <a:rPr lang="en-US" dirty="0"/>
              <a:t>.</a:t>
            </a:r>
          </a:p>
          <a:p>
            <a:r>
              <a:rPr lang="en-US" dirty="0"/>
              <a:t>The cloud platform may tell us that the deployment completed.</a:t>
            </a:r>
          </a:p>
          <a:p>
            <a:r>
              <a:rPr lang="en-US" dirty="0"/>
              <a:t>But we still need to verify:</a:t>
            </a:r>
          </a:p>
          <a:p>
            <a:pPr lvl="0"/>
            <a:r>
              <a:rPr lang="en-US" dirty="0"/>
              <a:t>the application starts,</a:t>
            </a:r>
          </a:p>
          <a:p>
            <a:pPr lvl="0"/>
            <a:r>
              <a:rPr lang="en-US" dirty="0"/>
              <a:t>the database is accessible,</a:t>
            </a:r>
          </a:p>
          <a:p>
            <a:pPr lvl="0"/>
            <a:r>
              <a:rPr lang="en-US" dirty="0"/>
              <a:t>users can authenticate,</a:t>
            </a:r>
          </a:p>
          <a:p>
            <a:pPr lvl="0"/>
            <a:r>
              <a:rPr lang="en-US" dirty="0"/>
              <a:t>important workflows function,</a:t>
            </a:r>
          </a:p>
          <a:p>
            <a:pPr lvl="0"/>
            <a:r>
              <a:rPr lang="en-US" dirty="0"/>
              <a:t>static resources load,</a:t>
            </a:r>
          </a:p>
          <a:p>
            <a:pPr lvl="0"/>
            <a:r>
              <a:rPr lang="en-US" dirty="0"/>
              <a:t>and monitoring is working.</a:t>
            </a:r>
          </a:p>
          <a:p>
            <a:r>
              <a:rPr lang="en-US" dirty="0"/>
              <a:t>That's why verification is a separate step in our process.”</a:t>
            </a:r>
          </a:p>
          <a:p>
            <a:br>
              <a:rPr lang="en-US" dirty="0"/>
            </a:br>
            <a:endParaRPr lang="en-US" dirty="0"/>
          </a:p>
          <a:p>
            <a:r>
              <a:rPr lang="en-US" b="1" dirty="0"/>
              <a:t>Monitoring After Deployment</a:t>
            </a:r>
          </a:p>
          <a:p>
            <a:r>
              <a:rPr lang="en-US" dirty="0"/>
              <a:t>“Once Atlas is live, we monitor it.</a:t>
            </a:r>
          </a:p>
          <a:p>
            <a:r>
              <a:rPr lang="en-US" dirty="0"/>
              <a:t>We're looking for:</a:t>
            </a:r>
          </a:p>
          <a:p>
            <a:pPr lvl="0"/>
            <a:r>
              <a:rPr lang="en-US" dirty="0"/>
              <a:t>errors,</a:t>
            </a:r>
          </a:p>
          <a:p>
            <a:pPr lvl="0"/>
            <a:r>
              <a:rPr lang="en-US" dirty="0"/>
              <a:t>performance problems,</a:t>
            </a:r>
          </a:p>
          <a:p>
            <a:pPr lvl="0"/>
            <a:r>
              <a:rPr lang="en-US" dirty="0"/>
              <a:t>failed requests,</a:t>
            </a:r>
          </a:p>
          <a:p>
            <a:pPr lvl="0"/>
            <a:r>
              <a:rPr lang="en-US" dirty="0"/>
              <a:t>unexpected behavior,</a:t>
            </a:r>
          </a:p>
          <a:p>
            <a:pPr lvl="0"/>
            <a:r>
              <a:rPr lang="en-US" dirty="0"/>
              <a:t>database issues,</a:t>
            </a:r>
          </a:p>
          <a:p>
            <a:pPr lvl="0"/>
            <a:r>
              <a:rPr lang="en-US" dirty="0"/>
              <a:t>and user-impacting problems.</a:t>
            </a:r>
          </a:p>
          <a:p>
            <a:r>
              <a:rPr lang="en-US" dirty="0"/>
              <a:t>Monitoring gives us visibility into what's happening after deployment.</a:t>
            </a:r>
          </a:p>
          <a:p>
            <a:r>
              <a:rPr lang="en-US" dirty="0"/>
              <a:t>Without monitoring, we may not know there's a problem until a user tells us.”</a:t>
            </a:r>
          </a:p>
          <a:p>
            <a:br>
              <a:rPr lang="en-US" dirty="0"/>
            </a:br>
            <a:endParaRPr lang="en-US" dirty="0"/>
          </a:p>
          <a:p>
            <a:r>
              <a:rPr lang="en-US" b="1" dirty="0"/>
              <a:t>The Rollback Plan</a:t>
            </a:r>
          </a:p>
          <a:p>
            <a:r>
              <a:rPr lang="en-US" dirty="0"/>
              <a:t>“Now let's discuss something every professional deployment process should consider:</a:t>
            </a:r>
          </a:p>
          <a:p>
            <a:r>
              <a:rPr lang="en-US" b="1" dirty="0"/>
              <a:t>What happens if the deployment goes badly?</a:t>
            </a:r>
            <a:endParaRPr lang="en-US" dirty="0"/>
          </a:p>
          <a:p>
            <a:r>
              <a:rPr lang="en-US" dirty="0"/>
              <a:t>That's where rollback comes in.</a:t>
            </a:r>
          </a:p>
          <a:p>
            <a:r>
              <a:rPr lang="en-US" dirty="0"/>
              <a:t>We want to maintain the ability to return to a known-good version.</a:t>
            </a:r>
          </a:p>
          <a:p>
            <a:r>
              <a:rPr lang="en-US" dirty="0"/>
              <a:t>The example on the artifact shows:</a:t>
            </a:r>
          </a:p>
          <a:p>
            <a:r>
              <a:rPr lang="en-US" b="1" dirty="0"/>
              <a:t>Current Release → Previous Release</a:t>
            </a:r>
            <a:endParaRPr lang="en-US" dirty="0"/>
          </a:p>
          <a:p>
            <a:r>
              <a:rPr lang="en-US" dirty="0"/>
              <a:t>If something goes seriously wrong, we need a process for recovering.</a:t>
            </a:r>
          </a:p>
          <a:p>
            <a:r>
              <a:rPr lang="en-US" dirty="0"/>
              <a:t>That doesn't mean every problem requires an immediate rollback.</a:t>
            </a:r>
          </a:p>
          <a:p>
            <a:r>
              <a:rPr lang="en-US" dirty="0"/>
              <a:t>But we should know:</a:t>
            </a:r>
          </a:p>
          <a:p>
            <a:pPr lvl="0"/>
            <a:r>
              <a:rPr lang="en-US" dirty="0"/>
              <a:t>what we would roll back,</a:t>
            </a:r>
          </a:p>
          <a:p>
            <a:pPr lvl="0"/>
            <a:r>
              <a:rPr lang="en-US" dirty="0"/>
              <a:t>how we would do it,</a:t>
            </a:r>
          </a:p>
          <a:p>
            <a:pPr lvl="0"/>
            <a:r>
              <a:rPr lang="en-US" dirty="0"/>
              <a:t>who makes that decision,</a:t>
            </a:r>
          </a:p>
          <a:p>
            <a:pPr lvl="0"/>
            <a:r>
              <a:rPr lang="en-US" dirty="0"/>
              <a:t>and how we would communicate it.”</a:t>
            </a:r>
          </a:p>
          <a:p>
            <a:br>
              <a:rPr lang="en-US" dirty="0"/>
            </a:br>
            <a:endParaRPr lang="en-US" dirty="0"/>
          </a:p>
          <a:p>
            <a:r>
              <a:rPr lang="en-US" b="1" dirty="0"/>
              <a:t>Rollback Is Not Failure</a:t>
            </a:r>
          </a:p>
          <a:p>
            <a:r>
              <a:rPr lang="en-US" dirty="0"/>
              <a:t>“There's an important mindset here.</a:t>
            </a:r>
          </a:p>
          <a:p>
            <a:r>
              <a:rPr lang="en-US" dirty="0"/>
              <a:t>Rolling back isn't admitting that we failed.</a:t>
            </a:r>
          </a:p>
          <a:p>
            <a:r>
              <a:rPr lang="en-US" dirty="0"/>
              <a:t>It's demonstrating that we planned for failure.</a:t>
            </a:r>
          </a:p>
          <a:p>
            <a:r>
              <a:rPr lang="en-US" dirty="0"/>
              <a:t>A mature engineering team doesn't assume:</a:t>
            </a:r>
          </a:p>
          <a:p>
            <a:r>
              <a:rPr lang="en-US" dirty="0"/>
              <a:t>‘Nothing will ever go wrong.’</a:t>
            </a:r>
          </a:p>
          <a:p>
            <a:r>
              <a:rPr lang="en-US" dirty="0"/>
              <a:t>Instead, it asks:</a:t>
            </a:r>
          </a:p>
          <a:p>
            <a:r>
              <a:rPr lang="en-US" b="1" dirty="0"/>
              <a:t>‘What will we do if something does go wrong?’</a:t>
            </a:r>
            <a:endParaRPr lang="en-US" dirty="0"/>
          </a:p>
          <a:p>
            <a:r>
              <a:rPr lang="en-US" dirty="0"/>
              <a:t>That is engineering resilience.”</a:t>
            </a:r>
          </a:p>
          <a:p>
            <a:br>
              <a:rPr lang="en-US" dirty="0"/>
            </a:br>
            <a:endParaRPr lang="en-US" dirty="0"/>
          </a:p>
          <a:p>
            <a:r>
              <a:rPr lang="en-US" b="1" dirty="0"/>
              <a:t>Deployment Ownership</a:t>
            </a:r>
          </a:p>
          <a:p>
            <a:r>
              <a:rPr lang="en-US" dirty="0"/>
              <a:t>“Another important concept is ownership.</a:t>
            </a:r>
          </a:p>
          <a:p>
            <a:r>
              <a:rPr lang="en-US" dirty="0"/>
              <a:t>Someone needs to know:</a:t>
            </a:r>
          </a:p>
          <a:p>
            <a:r>
              <a:rPr lang="en-US" dirty="0"/>
              <a:t>Who is responsible for the deployment?</a:t>
            </a:r>
          </a:p>
          <a:p>
            <a:r>
              <a:rPr lang="en-US" dirty="0"/>
              <a:t>Who verifies production?</a:t>
            </a:r>
          </a:p>
          <a:p>
            <a:r>
              <a:rPr lang="en-US" dirty="0"/>
              <a:t>Who watches the system afterward?</a:t>
            </a:r>
          </a:p>
          <a:p>
            <a:r>
              <a:rPr lang="en-US" dirty="0"/>
              <a:t>Who responds if something breaks?</a:t>
            </a:r>
          </a:p>
          <a:p>
            <a:r>
              <a:rPr lang="en-US" dirty="0"/>
              <a:t>Who communicates with stakeholders?</a:t>
            </a:r>
          </a:p>
          <a:p>
            <a:r>
              <a:rPr lang="en-US" dirty="0"/>
              <a:t>If everyone assumes someone else is responsible, problems can fall through the cracks.</a:t>
            </a:r>
          </a:p>
          <a:p>
            <a:r>
              <a:rPr lang="en-US" dirty="0"/>
              <a:t>Successful releases have clear ownership.”</a:t>
            </a:r>
          </a:p>
          <a:p>
            <a:br>
              <a:rPr lang="en-US" dirty="0"/>
            </a:br>
            <a:endParaRPr lang="en-US" dirty="0"/>
          </a:p>
          <a:p>
            <a:r>
              <a:rPr lang="en-US" b="1" dirty="0"/>
              <a:t>The Deployment Journey</a:t>
            </a:r>
          </a:p>
          <a:p>
            <a:r>
              <a:rPr lang="en-US" dirty="0"/>
              <a:t>“Look at the progression at the bottom:</a:t>
            </a:r>
          </a:p>
          <a:p>
            <a:r>
              <a:rPr lang="en-US" b="1" dirty="0"/>
              <a:t>Plan → Prepare → Build → Test → Deploy → Verify → Monitor → Support → Improve</a:t>
            </a:r>
            <a:endParaRPr lang="en-US" dirty="0"/>
          </a:p>
          <a:p>
            <a:r>
              <a:rPr lang="en-US" dirty="0"/>
              <a:t>Notice that deployment is only one step.</a:t>
            </a:r>
          </a:p>
          <a:p>
            <a:r>
              <a:rPr lang="en-US" dirty="0"/>
              <a:t>That's intentional.</a:t>
            </a:r>
          </a:p>
          <a:p>
            <a:r>
              <a:rPr lang="en-US" dirty="0"/>
              <a:t>Deployment isn't the end of our responsibility.</a:t>
            </a:r>
          </a:p>
          <a:p>
            <a:r>
              <a:rPr lang="en-US" dirty="0"/>
              <a:t>Once Atlas goes live, we immediately move into verification, monitoring, and support.</a:t>
            </a:r>
          </a:p>
          <a:p>
            <a:r>
              <a:rPr lang="en-US" dirty="0"/>
              <a:t>Then we learn and improve.”</a:t>
            </a:r>
          </a:p>
          <a:p>
            <a:br>
              <a:rPr lang="en-US" dirty="0"/>
            </a:br>
            <a:endParaRPr lang="en-US" dirty="0"/>
          </a:p>
          <a:p>
            <a:r>
              <a:rPr lang="en-US" b="1" dirty="0"/>
              <a:t>What Does a Successful Deployment Look Like?</a:t>
            </a:r>
          </a:p>
          <a:p>
            <a:r>
              <a:rPr lang="en-US" dirty="0"/>
              <a:t>“A successful deployment means more than seeing a green checkmark in Azure.</a:t>
            </a:r>
          </a:p>
          <a:p>
            <a:r>
              <a:rPr lang="en-US" dirty="0"/>
              <a:t>We should be able to say:</a:t>
            </a:r>
          </a:p>
          <a:p>
            <a:r>
              <a:rPr lang="en-US" dirty="0"/>
              <a:t>Atlas is deployed.</a:t>
            </a:r>
          </a:p>
          <a:p>
            <a:r>
              <a:rPr lang="en-US" dirty="0"/>
              <a:t>The application is accessible.</a:t>
            </a:r>
          </a:p>
          <a:p>
            <a:r>
              <a:rPr lang="en-US" dirty="0"/>
              <a:t>The database is connected.</a:t>
            </a:r>
          </a:p>
          <a:p>
            <a:r>
              <a:rPr lang="en-US" dirty="0"/>
              <a:t>Authentication works.</a:t>
            </a:r>
          </a:p>
          <a:p>
            <a:r>
              <a:rPr lang="en-US" dirty="0"/>
              <a:t>Core functionality works.</a:t>
            </a:r>
          </a:p>
          <a:p>
            <a:r>
              <a:rPr lang="en-US" dirty="0"/>
              <a:t>Security controls are active.</a:t>
            </a:r>
          </a:p>
          <a:p>
            <a:r>
              <a:rPr lang="en-US" dirty="0"/>
              <a:t>Monitoring is active.</a:t>
            </a:r>
          </a:p>
          <a:p>
            <a:r>
              <a:rPr lang="en-US" dirty="0"/>
              <a:t>The release has been verified.</a:t>
            </a:r>
          </a:p>
          <a:p>
            <a:r>
              <a:rPr lang="en-US" dirty="0"/>
              <a:t>And the team knows what to do if something goes wrong.</a:t>
            </a:r>
          </a:p>
          <a:p>
            <a:r>
              <a:rPr lang="en-US" b="1" dirty="0"/>
              <a:t>That's deployment with confidence.</a:t>
            </a:r>
            <a:r>
              <a:rPr lang="en-US" dirty="0"/>
              <a:t>”</a:t>
            </a:r>
          </a:p>
          <a:p>
            <a:br>
              <a:rPr lang="en-US" dirty="0"/>
            </a:br>
            <a:endParaRPr lang="en-US" dirty="0"/>
          </a:p>
          <a:p>
            <a:r>
              <a:rPr lang="en-US" b="1" dirty="0"/>
              <a:t>The Professional Lesson</a:t>
            </a:r>
          </a:p>
          <a:p>
            <a:r>
              <a:rPr lang="en-US" dirty="0"/>
              <a:t>“I want you to take this principle away:</a:t>
            </a:r>
          </a:p>
          <a:p>
            <a:r>
              <a:rPr lang="en-US" b="1" dirty="0"/>
              <a:t>We don't deploy and hope. We deploy, verify, and monitor.</a:t>
            </a:r>
            <a:endParaRPr lang="en-US" dirty="0"/>
          </a:p>
          <a:p>
            <a:r>
              <a:rPr lang="en-US" dirty="0"/>
              <a:t>That's a completely different mindset.</a:t>
            </a:r>
          </a:p>
          <a:p>
            <a:r>
              <a:rPr lang="en-US" dirty="0"/>
              <a:t>Hope is not a deployment strategy.</a:t>
            </a:r>
          </a:p>
          <a:p>
            <a:r>
              <a:rPr lang="en-US" dirty="0"/>
              <a:t>A checklist is better.</a:t>
            </a:r>
          </a:p>
          <a:p>
            <a:r>
              <a:rPr lang="en-US" dirty="0"/>
              <a:t>Automation is better.</a:t>
            </a:r>
          </a:p>
          <a:p>
            <a:r>
              <a:rPr lang="en-US" dirty="0"/>
              <a:t>Testing is better.</a:t>
            </a:r>
          </a:p>
          <a:p>
            <a:r>
              <a:rPr lang="en-US" dirty="0"/>
              <a:t>Monitoring is better.</a:t>
            </a:r>
          </a:p>
          <a:p>
            <a:r>
              <a:rPr lang="en-US" dirty="0"/>
              <a:t>Rollback planning is better.</a:t>
            </a:r>
          </a:p>
          <a:p>
            <a:r>
              <a:rPr lang="en-US" dirty="0"/>
              <a:t>Together, those practices create confidence.”</a:t>
            </a:r>
          </a:p>
          <a:p>
            <a:br>
              <a:rPr lang="en-US" dirty="0"/>
            </a:br>
            <a:endParaRPr lang="en-US" dirty="0"/>
          </a:p>
          <a:p>
            <a:r>
              <a:rPr lang="en-US" b="1" dirty="0"/>
              <a:t>Closing</a:t>
            </a:r>
          </a:p>
          <a:p>
            <a:r>
              <a:rPr lang="en-US" dirty="0"/>
              <a:t>“So we've now taken Atlas through the release pipeline.</a:t>
            </a:r>
          </a:p>
          <a:p>
            <a:r>
              <a:rPr lang="en-US" dirty="0"/>
              <a:t>We've tested it.</a:t>
            </a:r>
          </a:p>
          <a:p>
            <a:r>
              <a:rPr lang="en-US" dirty="0"/>
              <a:t>We've fixed it.</a:t>
            </a:r>
          </a:p>
          <a:p>
            <a:r>
              <a:rPr lang="en-US" dirty="0"/>
              <a:t>We've polished it.</a:t>
            </a:r>
          </a:p>
          <a:p>
            <a:r>
              <a:rPr lang="en-US" dirty="0"/>
              <a:t>And now we're deploying it.</a:t>
            </a:r>
          </a:p>
          <a:p>
            <a:r>
              <a:rPr lang="en-US" dirty="0"/>
              <a:t>But we're not finished.</a:t>
            </a:r>
          </a:p>
          <a:p>
            <a:r>
              <a:rPr lang="en-US" dirty="0"/>
              <a:t>Once Atlas is in production, we have to make sure people can understand and use it.</a:t>
            </a:r>
          </a:p>
          <a:p>
            <a:r>
              <a:rPr lang="en-US" dirty="0"/>
              <a:t>That means our next major responsibility is </a:t>
            </a:r>
            <a:r>
              <a:rPr lang="en-US" b="1" dirty="0"/>
              <a:t>documentation</a:t>
            </a:r>
            <a:r>
              <a:rPr lang="en-US" dirty="0"/>
              <a:t>.</a:t>
            </a:r>
          </a:p>
          <a:p>
            <a:r>
              <a:rPr lang="en-US" dirty="0"/>
              <a:t>Because a professional product isn't complete when only its developers know how it works.</a:t>
            </a:r>
          </a:p>
          <a:p>
            <a:r>
              <a:rPr lang="en-US" dirty="0"/>
              <a:t>It's complete when users and future developers can understand it too.”</a:t>
            </a:r>
          </a:p>
          <a:p>
            <a:r>
              <a:rPr lang="en-US" b="1" dirty="0"/>
              <a:t>Transition</a:t>
            </a:r>
          </a:p>
          <a:p>
            <a:r>
              <a:rPr lang="en-US" dirty="0"/>
              <a:t>“Next, we're going to build the documentation that turns Atlas from a project that we understand into a product that </a:t>
            </a:r>
            <a:r>
              <a:rPr lang="en-US" b="1" dirty="0"/>
              <a:t>other people can successfully use and maintain</a:t>
            </a:r>
            <a:r>
              <a:rPr lang="en-US" dirty="0"/>
              <a:t>.”</a:t>
            </a:r>
          </a:p>
          <a:p>
            <a:endParaRPr lang="en-US" dirty="0"/>
          </a:p>
        </p:txBody>
      </p:sp>
      <p:sp>
        <p:nvSpPr>
          <p:cNvPr id="4" name="Slide Number Placeholder 3"/>
          <p:cNvSpPr>
            <a:spLocks noGrp="1"/>
          </p:cNvSpPr>
          <p:nvPr>
            <p:ph type="sldNum" sz="quarter" idx="5"/>
          </p:nvPr>
        </p:nvSpPr>
        <p:spPr/>
        <p:txBody>
          <a:bodyPr/>
          <a:lstStyle/>
          <a:p>
            <a:fld id="{5FDF263D-5665-4A7C-828E-8E913E9FBDB3}" type="slidenum">
              <a:rPr lang="en-US" smtClean="0"/>
              <a:t>5</a:t>
            </a:fld>
            <a:endParaRPr lang="en-US"/>
          </a:p>
        </p:txBody>
      </p:sp>
    </p:spTree>
    <p:extLst>
      <p:ext uri="{BB962C8B-B14F-4D97-AF65-F5344CB8AC3E}">
        <p14:creationId xmlns:p14="http://schemas.microsoft.com/office/powerpoint/2010/main" val="4043860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 — Document It Right</a:t>
            </a:r>
          </a:p>
          <a:p>
            <a:r>
              <a:rPr lang="en-US" b="1" dirty="0"/>
              <a:t>Opening</a:t>
            </a:r>
          </a:p>
          <a:p>
            <a:r>
              <a:rPr lang="en-US" dirty="0"/>
              <a:t>“We've now deployed Atlas.</a:t>
            </a:r>
          </a:p>
          <a:p>
            <a:r>
              <a:rPr lang="en-US" dirty="0"/>
              <a:t>But imagine that tomorrow I hand Atlas to another developer and say:</a:t>
            </a:r>
          </a:p>
          <a:p>
            <a:r>
              <a:rPr lang="en-US" dirty="0"/>
              <a:t>‘Here you go. Take over.’</a:t>
            </a:r>
          </a:p>
          <a:p>
            <a:r>
              <a:rPr lang="en-US" dirty="0"/>
              <a:t>They open the repository.</a:t>
            </a:r>
          </a:p>
          <a:p>
            <a:r>
              <a:rPr lang="en-US" dirty="0"/>
              <a:t>They open the application.</a:t>
            </a:r>
          </a:p>
          <a:p>
            <a:r>
              <a:rPr lang="en-US" dirty="0"/>
              <a:t>They look at the database.</a:t>
            </a:r>
          </a:p>
          <a:p>
            <a:r>
              <a:rPr lang="en-US" dirty="0"/>
              <a:t>And then they ask:</a:t>
            </a:r>
          </a:p>
          <a:p>
            <a:r>
              <a:rPr lang="en-US" b="1" dirty="0"/>
              <a:t>How does this thing work?</a:t>
            </a:r>
            <a:endParaRPr lang="en-US" dirty="0"/>
          </a:p>
          <a:p>
            <a:r>
              <a:rPr lang="en-US" dirty="0"/>
              <a:t>If our answer is:</a:t>
            </a:r>
          </a:p>
          <a:p>
            <a:r>
              <a:rPr lang="en-US" dirty="0"/>
              <a:t>‘I'll show you.’</a:t>
            </a:r>
          </a:p>
          <a:p>
            <a:r>
              <a:rPr lang="en-US" dirty="0"/>
              <a:t>then we have a problem.</a:t>
            </a:r>
          </a:p>
          <a:p>
            <a:r>
              <a:rPr lang="en-US" dirty="0"/>
              <a:t>Because professional software cannot depend on one person's memory.</a:t>
            </a:r>
          </a:p>
          <a:p>
            <a:r>
              <a:rPr lang="en-US" dirty="0"/>
              <a:t>That's why our next release activity is:</a:t>
            </a:r>
          </a:p>
          <a:p>
            <a:r>
              <a:rPr lang="en-US" b="1" dirty="0"/>
              <a:t>Document It Right.”</a:t>
            </a:r>
          </a:p>
          <a:p>
            <a:br>
              <a:rPr lang="en-US" dirty="0"/>
            </a:br>
            <a:endParaRPr lang="en-US" dirty="0"/>
          </a:p>
          <a:p>
            <a:r>
              <a:rPr lang="en-US" b="1" dirty="0"/>
              <a:t>Documentation Is Part of the Product</a:t>
            </a:r>
          </a:p>
          <a:p>
            <a:r>
              <a:rPr lang="en-US" dirty="0"/>
              <a:t>“Documentation is sometimes treated as something we do after the real work is finished.</a:t>
            </a:r>
          </a:p>
          <a:p>
            <a:r>
              <a:rPr lang="en-US" dirty="0"/>
              <a:t>That's the wrong mindset.</a:t>
            </a:r>
          </a:p>
          <a:p>
            <a:r>
              <a:rPr lang="en-US" dirty="0"/>
              <a:t>Documentation is part of the product.</a:t>
            </a:r>
          </a:p>
          <a:p>
            <a:r>
              <a:rPr lang="en-US" dirty="0"/>
              <a:t>Users need documentation to understand how to use Atlas.</a:t>
            </a:r>
          </a:p>
          <a:p>
            <a:r>
              <a:rPr lang="en-US" dirty="0"/>
              <a:t>Developers need documentation to understand how Atlas works.</a:t>
            </a:r>
          </a:p>
          <a:p>
            <a:r>
              <a:rPr lang="en-US" dirty="0"/>
              <a:t>Administrators need documentation to configure and maintain it.</a:t>
            </a:r>
          </a:p>
          <a:p>
            <a:r>
              <a:rPr lang="en-US" dirty="0"/>
              <a:t>And future team members need documentation to understand the decisions we made.</a:t>
            </a:r>
          </a:p>
          <a:p>
            <a:r>
              <a:rPr lang="en-US" dirty="0"/>
              <a:t>Documentation turns what we know into something other people can use.”</a:t>
            </a:r>
          </a:p>
          <a:p>
            <a:br>
              <a:rPr lang="en-US" dirty="0"/>
            </a:br>
            <a:endParaRPr lang="en-US" dirty="0"/>
          </a:p>
          <a:p>
            <a:r>
              <a:rPr lang="en-US" b="1" dirty="0"/>
              <a:t>Our Purpose</a:t>
            </a:r>
          </a:p>
          <a:p>
            <a:r>
              <a:rPr lang="en-US" dirty="0"/>
              <a:t>“The purpose of our documentation is fourfold.</a:t>
            </a:r>
          </a:p>
          <a:p>
            <a:r>
              <a:rPr lang="en-US" dirty="0"/>
              <a:t>First, </a:t>
            </a:r>
            <a:r>
              <a:rPr lang="en-US" b="1" dirty="0"/>
              <a:t>help users succeed.</a:t>
            </a:r>
            <a:endParaRPr lang="en-US" dirty="0"/>
          </a:p>
          <a:p>
            <a:r>
              <a:rPr lang="en-US" dirty="0"/>
              <a:t>Second, </a:t>
            </a:r>
            <a:r>
              <a:rPr lang="en-US" b="1" dirty="0"/>
              <a:t>help developers maintain the system.</a:t>
            </a:r>
            <a:endParaRPr lang="en-US" dirty="0"/>
          </a:p>
          <a:p>
            <a:r>
              <a:rPr lang="en-US" dirty="0"/>
              <a:t>Third, </a:t>
            </a:r>
            <a:r>
              <a:rPr lang="en-US" b="1" dirty="0"/>
              <a:t>capture the decisions and knowledge behind Atlas.</a:t>
            </a:r>
            <a:endParaRPr lang="en-US" dirty="0"/>
          </a:p>
          <a:p>
            <a:r>
              <a:rPr lang="en-US" dirty="0"/>
              <a:t>And fourth, </a:t>
            </a:r>
            <a:r>
              <a:rPr lang="en-US" b="1" dirty="0"/>
              <a:t>make the product sustainable.</a:t>
            </a:r>
            <a:endParaRPr lang="en-US" dirty="0"/>
          </a:p>
          <a:p>
            <a:r>
              <a:rPr lang="en-US" dirty="0"/>
              <a:t>That last one matters.</a:t>
            </a:r>
          </a:p>
          <a:p>
            <a:r>
              <a:rPr lang="en-US" dirty="0"/>
              <a:t>A system may work perfectly today.</a:t>
            </a:r>
          </a:p>
          <a:p>
            <a:r>
              <a:rPr lang="en-US" dirty="0"/>
              <a:t>But if nobody knows how to maintain it tomorrow, we've created technical debt.”</a:t>
            </a:r>
          </a:p>
          <a:p>
            <a:br>
              <a:rPr lang="en-US" dirty="0"/>
            </a:br>
            <a:endParaRPr lang="en-US" dirty="0"/>
          </a:p>
          <a:p>
            <a:r>
              <a:rPr lang="en-US" b="1" dirty="0"/>
              <a:t>Two Primary Audiences</a:t>
            </a:r>
          </a:p>
          <a:p>
            <a:r>
              <a:rPr lang="en-US" dirty="0"/>
              <a:t>“One of the first things we need to understand is that not all documentation is written for the same person.</a:t>
            </a:r>
          </a:p>
          <a:p>
            <a:r>
              <a:rPr lang="en-US" dirty="0"/>
              <a:t>We have at least two major audiences.</a:t>
            </a:r>
          </a:p>
          <a:p>
            <a:r>
              <a:rPr lang="en-US" b="1" dirty="0"/>
              <a:t>Users</a:t>
            </a:r>
          </a:p>
          <a:p>
            <a:r>
              <a:rPr lang="en-US" dirty="0"/>
              <a:t>Users want to know:</a:t>
            </a:r>
          </a:p>
          <a:p>
            <a:r>
              <a:rPr lang="en-US" b="1" dirty="0"/>
              <a:t>How do I use Atlas?</a:t>
            </a:r>
            <a:endParaRPr lang="en-US" dirty="0"/>
          </a:p>
          <a:p>
            <a:r>
              <a:rPr lang="en-US" dirty="0"/>
              <a:t>They don't necessarily care about our database schema or MVC architecture.</a:t>
            </a:r>
          </a:p>
          <a:p>
            <a:r>
              <a:rPr lang="en-US" dirty="0"/>
              <a:t>They need clear instructions that help them accomplish their tasks.</a:t>
            </a:r>
          </a:p>
          <a:p>
            <a:r>
              <a:rPr lang="en-US" b="1" dirty="0"/>
              <a:t>Developers &amp; Maintainers</a:t>
            </a:r>
          </a:p>
          <a:p>
            <a:r>
              <a:rPr lang="en-US" dirty="0"/>
              <a:t>Developers want to know:</a:t>
            </a:r>
          </a:p>
          <a:p>
            <a:r>
              <a:rPr lang="en-US" b="1" dirty="0"/>
              <a:t>How does Atlas work?</a:t>
            </a:r>
            <a:endParaRPr lang="en-US" dirty="0"/>
          </a:p>
          <a:p>
            <a:r>
              <a:rPr lang="en-US" dirty="0"/>
              <a:t>They need information about architecture, configuration, dependencies, database design, deployment, security, and troubleshooting.</a:t>
            </a:r>
          </a:p>
          <a:p>
            <a:r>
              <a:rPr lang="en-US" dirty="0"/>
              <a:t>If we give developers a 30-page user manual, we've missed the audience.</a:t>
            </a:r>
          </a:p>
          <a:p>
            <a:r>
              <a:rPr lang="en-US" dirty="0"/>
              <a:t>If we give users a database schema, we've also missed the audience.”</a:t>
            </a:r>
          </a:p>
          <a:p>
            <a:br>
              <a:rPr lang="en-US" dirty="0"/>
            </a:br>
            <a:endParaRPr lang="en-US" dirty="0"/>
          </a:p>
          <a:p>
            <a:r>
              <a:rPr lang="en-US" b="1" dirty="0"/>
              <a:t>Types of Documentation</a:t>
            </a:r>
          </a:p>
          <a:p>
            <a:r>
              <a:rPr lang="en-US" b="1" dirty="0"/>
              <a:t>User Guide</a:t>
            </a:r>
          </a:p>
          <a:p>
            <a:r>
              <a:rPr lang="en-US" dirty="0"/>
              <a:t>“The user guide explains how to use Atlas.</a:t>
            </a:r>
          </a:p>
          <a:p>
            <a:r>
              <a:rPr lang="en-US" dirty="0"/>
              <a:t>It might include:</a:t>
            </a:r>
          </a:p>
          <a:p>
            <a:pPr lvl="0"/>
            <a:r>
              <a:rPr lang="en-US" dirty="0"/>
              <a:t>signing in,</a:t>
            </a:r>
          </a:p>
          <a:p>
            <a:pPr lvl="0"/>
            <a:r>
              <a:rPr lang="en-US" dirty="0"/>
              <a:t>navigating the dashboard,</a:t>
            </a:r>
          </a:p>
          <a:p>
            <a:pPr lvl="0"/>
            <a:r>
              <a:rPr lang="en-US" dirty="0"/>
              <a:t>creating tasks,</a:t>
            </a:r>
          </a:p>
          <a:p>
            <a:pPr lvl="0"/>
            <a:r>
              <a:rPr lang="en-US" dirty="0"/>
              <a:t>editing tasks,</a:t>
            </a:r>
          </a:p>
          <a:p>
            <a:pPr lvl="0"/>
            <a:r>
              <a:rPr lang="en-US" dirty="0"/>
              <a:t>managing projects,</a:t>
            </a:r>
          </a:p>
          <a:p>
            <a:pPr lvl="0"/>
            <a:r>
              <a:rPr lang="en-US" dirty="0"/>
              <a:t>completing tasks,</a:t>
            </a:r>
          </a:p>
          <a:p>
            <a:pPr lvl="0"/>
            <a:r>
              <a:rPr lang="en-US" dirty="0"/>
              <a:t>and understanding important features.</a:t>
            </a:r>
          </a:p>
          <a:p>
            <a:r>
              <a:rPr lang="en-US" dirty="0"/>
              <a:t>The user guide should be written in language the user understands.”</a:t>
            </a:r>
          </a:p>
          <a:p>
            <a:br>
              <a:rPr lang="en-US" dirty="0"/>
            </a:br>
            <a:endParaRPr lang="en-US" dirty="0"/>
          </a:p>
          <a:p>
            <a:r>
              <a:rPr lang="en-US" b="1" dirty="0"/>
              <a:t>Installation &amp; Setup</a:t>
            </a:r>
          </a:p>
          <a:p>
            <a:r>
              <a:rPr lang="en-US" dirty="0"/>
              <a:t>“Installation documentation explains how to get Atlas running.</a:t>
            </a:r>
          </a:p>
          <a:p>
            <a:r>
              <a:rPr lang="en-US" dirty="0"/>
              <a:t>For a developer, that might include:</a:t>
            </a:r>
          </a:p>
          <a:p>
            <a:pPr lvl="0"/>
            <a:r>
              <a:rPr lang="en-US" dirty="0"/>
              <a:t>prerequisites,</a:t>
            </a:r>
          </a:p>
          <a:p>
            <a:pPr lvl="0"/>
            <a:r>
              <a:rPr lang="en-US" dirty="0"/>
              <a:t>software versions,</a:t>
            </a:r>
          </a:p>
          <a:p>
            <a:pPr lvl="0"/>
            <a:r>
              <a:rPr lang="en-US" dirty="0"/>
              <a:t>repository setup,</a:t>
            </a:r>
          </a:p>
          <a:p>
            <a:pPr lvl="0"/>
            <a:r>
              <a:rPr lang="en-US" dirty="0"/>
              <a:t>configuration,</a:t>
            </a:r>
          </a:p>
          <a:p>
            <a:pPr lvl="0"/>
            <a:r>
              <a:rPr lang="en-US" dirty="0"/>
              <a:t>database setup,</a:t>
            </a:r>
          </a:p>
          <a:p>
            <a:pPr lvl="0"/>
            <a:r>
              <a:rPr lang="en-US" dirty="0"/>
              <a:t>migrations,</a:t>
            </a:r>
          </a:p>
          <a:p>
            <a:pPr lvl="0"/>
            <a:r>
              <a:rPr lang="en-US" dirty="0"/>
              <a:t>environment variables,</a:t>
            </a:r>
          </a:p>
          <a:p>
            <a:pPr lvl="0"/>
            <a:r>
              <a:rPr lang="en-US" dirty="0"/>
              <a:t>and local development instructions.</a:t>
            </a:r>
          </a:p>
          <a:p>
            <a:r>
              <a:rPr lang="en-US" dirty="0"/>
              <a:t>The goal is to allow another developer to reproduce the development environment without needing us sitting beside them.”</a:t>
            </a:r>
          </a:p>
          <a:p>
            <a:br>
              <a:rPr lang="en-US" dirty="0"/>
            </a:br>
            <a:endParaRPr lang="en-US" dirty="0"/>
          </a:p>
          <a:p>
            <a:r>
              <a:rPr lang="en-US" b="1" dirty="0"/>
              <a:t>Technical Design</a:t>
            </a:r>
          </a:p>
          <a:p>
            <a:r>
              <a:rPr lang="en-US" dirty="0"/>
              <a:t>“Technical documentation explains how the system is constructed.</a:t>
            </a:r>
          </a:p>
          <a:p>
            <a:r>
              <a:rPr lang="en-US" dirty="0"/>
              <a:t>This could include:</a:t>
            </a:r>
          </a:p>
          <a:p>
            <a:pPr lvl="0"/>
            <a:r>
              <a:rPr lang="en-US" dirty="0"/>
              <a:t>architecture,</a:t>
            </a:r>
          </a:p>
          <a:p>
            <a:pPr lvl="0"/>
            <a:r>
              <a:rPr lang="en-US" dirty="0"/>
              <a:t>application structure,</a:t>
            </a:r>
          </a:p>
          <a:p>
            <a:pPr lvl="0"/>
            <a:r>
              <a:rPr lang="en-US" dirty="0"/>
              <a:t>major components,</a:t>
            </a:r>
          </a:p>
          <a:p>
            <a:pPr lvl="0"/>
            <a:r>
              <a:rPr lang="en-US" dirty="0"/>
              <a:t>important design decisions,</a:t>
            </a:r>
          </a:p>
          <a:p>
            <a:pPr lvl="0"/>
            <a:r>
              <a:rPr lang="en-US" dirty="0"/>
              <a:t>data flow,</a:t>
            </a:r>
          </a:p>
          <a:p>
            <a:pPr lvl="0"/>
            <a:r>
              <a:rPr lang="en-US" dirty="0"/>
              <a:t>dependencies,</a:t>
            </a:r>
          </a:p>
          <a:p>
            <a:pPr lvl="0"/>
            <a:r>
              <a:rPr lang="en-US" dirty="0"/>
              <a:t>and integration points.</a:t>
            </a:r>
          </a:p>
          <a:p>
            <a:r>
              <a:rPr lang="en-US" dirty="0"/>
              <a:t>This is where we preserve the engineering knowledge behind Atlas.”</a:t>
            </a:r>
          </a:p>
          <a:p>
            <a:br>
              <a:rPr lang="en-US" dirty="0"/>
            </a:br>
            <a:endParaRPr lang="en-US" dirty="0"/>
          </a:p>
          <a:p>
            <a:r>
              <a:rPr lang="en-US" b="1" dirty="0"/>
              <a:t>Data &amp; Model Documentation</a:t>
            </a:r>
          </a:p>
          <a:p>
            <a:r>
              <a:rPr lang="en-US" dirty="0"/>
              <a:t>“Because Atlas now uses persistent data, we also need to explain the data.</a:t>
            </a:r>
          </a:p>
          <a:p>
            <a:r>
              <a:rPr lang="en-US" dirty="0"/>
              <a:t>What entities exist?</a:t>
            </a:r>
          </a:p>
          <a:p>
            <a:r>
              <a:rPr lang="en-US" dirty="0"/>
              <a:t>How are they related?</a:t>
            </a:r>
          </a:p>
          <a:p>
            <a:r>
              <a:rPr lang="en-US" dirty="0"/>
              <a:t>What does each important field represent?</a:t>
            </a:r>
          </a:p>
          <a:p>
            <a:r>
              <a:rPr lang="en-US" dirty="0"/>
              <a:t>What constraints exist?</a:t>
            </a:r>
          </a:p>
          <a:p>
            <a:r>
              <a:rPr lang="en-US" dirty="0"/>
              <a:t>How does the application interact with the database?</a:t>
            </a:r>
          </a:p>
          <a:p>
            <a:r>
              <a:rPr lang="en-US" dirty="0"/>
              <a:t>This becomes especially important when someone needs to troubleshoot or extend the system.”</a:t>
            </a:r>
          </a:p>
          <a:p>
            <a:br>
              <a:rPr lang="en-US" dirty="0"/>
            </a:br>
            <a:endParaRPr lang="en-US" dirty="0"/>
          </a:p>
          <a:p>
            <a:r>
              <a:rPr lang="en-US" b="1" dirty="0"/>
              <a:t>API Documentation</a:t>
            </a:r>
          </a:p>
          <a:p>
            <a:r>
              <a:rPr lang="en-US" dirty="0"/>
              <a:t>“If Atlas exposes APIs, those APIs need documentation too.</a:t>
            </a:r>
          </a:p>
          <a:p>
            <a:r>
              <a:rPr lang="en-US" dirty="0"/>
              <a:t>Developers need to know:</a:t>
            </a:r>
          </a:p>
          <a:p>
            <a:pPr lvl="0"/>
            <a:r>
              <a:rPr lang="en-US" dirty="0"/>
              <a:t>what endpoints exist,</a:t>
            </a:r>
          </a:p>
          <a:p>
            <a:pPr lvl="0"/>
            <a:r>
              <a:rPr lang="en-US" dirty="0"/>
              <a:t>what requests they accept,</a:t>
            </a:r>
          </a:p>
          <a:p>
            <a:pPr lvl="0"/>
            <a:r>
              <a:rPr lang="en-US" dirty="0"/>
              <a:t>what responses they return,</a:t>
            </a:r>
          </a:p>
          <a:p>
            <a:pPr lvl="0"/>
            <a:r>
              <a:rPr lang="en-US" dirty="0"/>
              <a:t>what authentication is required,</a:t>
            </a:r>
          </a:p>
          <a:p>
            <a:pPr lvl="0"/>
            <a:r>
              <a:rPr lang="en-US" dirty="0"/>
              <a:t>and what errors might occur.</a:t>
            </a:r>
          </a:p>
          <a:p>
            <a:r>
              <a:rPr lang="en-US" dirty="0"/>
              <a:t>Even if Atlas doesn't currently expose a large API surface, students should understand the principle:</a:t>
            </a:r>
          </a:p>
          <a:p>
            <a:r>
              <a:rPr lang="en-US" b="1" dirty="0"/>
              <a:t>Interfaces need contracts.</a:t>
            </a:r>
            <a:r>
              <a:rPr lang="en-US" dirty="0"/>
              <a:t>”</a:t>
            </a:r>
          </a:p>
          <a:p>
            <a:br>
              <a:rPr lang="en-US" dirty="0"/>
            </a:br>
            <a:endParaRPr lang="en-US" dirty="0"/>
          </a:p>
          <a:p>
            <a:r>
              <a:rPr lang="en-US" b="1" dirty="0"/>
              <a:t>Troubleshooting</a:t>
            </a:r>
          </a:p>
          <a:p>
            <a:r>
              <a:rPr lang="en-US" dirty="0"/>
              <a:t>“Finally, we need troubleshooting documentation.</a:t>
            </a:r>
          </a:p>
          <a:p>
            <a:r>
              <a:rPr lang="en-US" dirty="0"/>
              <a:t>Users and developers will eventually encounter problems.</a:t>
            </a:r>
          </a:p>
          <a:p>
            <a:r>
              <a:rPr lang="en-US" dirty="0"/>
              <a:t>A good troubleshooting guide answers:</a:t>
            </a:r>
          </a:p>
          <a:p>
            <a:r>
              <a:rPr lang="en-US" dirty="0"/>
              <a:t>What happened?</a:t>
            </a:r>
          </a:p>
          <a:p>
            <a:r>
              <a:rPr lang="en-US" dirty="0"/>
              <a:t>Why might it happen?</a:t>
            </a:r>
          </a:p>
          <a:p>
            <a:r>
              <a:rPr lang="en-US" dirty="0"/>
              <a:t>What should I check?</a:t>
            </a:r>
          </a:p>
          <a:p>
            <a:r>
              <a:rPr lang="en-US" dirty="0"/>
              <a:t>How do I fix it?</a:t>
            </a:r>
          </a:p>
          <a:p>
            <a:r>
              <a:rPr lang="en-US" dirty="0"/>
              <a:t>This is particularly valuable for recurring issues.”</a:t>
            </a:r>
          </a:p>
          <a:p>
            <a:br>
              <a:rPr lang="en-US" dirty="0"/>
            </a:br>
            <a:endParaRPr lang="en-US" dirty="0"/>
          </a:p>
          <a:p>
            <a:r>
              <a:rPr lang="en-US" b="1" dirty="0"/>
              <a:t>What Good Documentation Includes</a:t>
            </a:r>
          </a:p>
          <a:p>
            <a:r>
              <a:rPr lang="en-US" dirty="0"/>
              <a:t>“Good documentation has several characteristics.</a:t>
            </a:r>
          </a:p>
          <a:p>
            <a:r>
              <a:rPr lang="en-US" dirty="0"/>
              <a:t>First, it has a </a:t>
            </a:r>
            <a:r>
              <a:rPr lang="en-US" b="1" dirty="0"/>
              <a:t>clear purpose</a:t>
            </a:r>
            <a:r>
              <a:rPr lang="en-US" dirty="0"/>
              <a:t>.</a:t>
            </a:r>
          </a:p>
          <a:p>
            <a:r>
              <a:rPr lang="en-US" dirty="0"/>
              <a:t>The reader should immediately know what the document is for.</a:t>
            </a:r>
          </a:p>
          <a:p>
            <a:r>
              <a:rPr lang="en-US" dirty="0"/>
              <a:t>Second, it provides </a:t>
            </a:r>
            <a:r>
              <a:rPr lang="en-US" b="1" dirty="0"/>
              <a:t>step-by-step instructions</a:t>
            </a:r>
            <a:r>
              <a:rPr lang="en-US" dirty="0"/>
              <a:t> when the task requires them.</a:t>
            </a:r>
          </a:p>
          <a:p>
            <a:r>
              <a:rPr lang="en-US" dirty="0"/>
              <a:t>Third, it uses </a:t>
            </a:r>
            <a:r>
              <a:rPr lang="en-US" b="1" dirty="0"/>
              <a:t>examples</a:t>
            </a:r>
            <a:r>
              <a:rPr lang="en-US" dirty="0"/>
              <a:t>.</a:t>
            </a:r>
          </a:p>
          <a:p>
            <a:r>
              <a:rPr lang="en-US" dirty="0"/>
              <a:t>Fourth, it uses screenshots and diagrams when those visuals make the information easier to understand.</a:t>
            </a:r>
          </a:p>
          <a:p>
            <a:r>
              <a:rPr lang="en-US" dirty="0"/>
              <a:t>Fifth, it explains important assumptions and dependencies.</a:t>
            </a:r>
          </a:p>
          <a:p>
            <a:r>
              <a:rPr lang="en-US" dirty="0"/>
              <a:t>And finally, it remains current as the application changes.”</a:t>
            </a:r>
          </a:p>
          <a:p>
            <a:br>
              <a:rPr lang="en-US" dirty="0"/>
            </a:br>
            <a:endParaRPr lang="en-US" dirty="0"/>
          </a:p>
          <a:p>
            <a:r>
              <a:rPr lang="en-US" b="1" dirty="0"/>
              <a:t>Write for Your Audience</a:t>
            </a:r>
          </a:p>
          <a:p>
            <a:r>
              <a:rPr lang="en-US" dirty="0"/>
              <a:t>“One of the most important rules is:</a:t>
            </a:r>
          </a:p>
          <a:p>
            <a:r>
              <a:rPr lang="en-US" b="1" dirty="0"/>
              <a:t>Write for your audience.</a:t>
            </a:r>
            <a:endParaRPr lang="en-US" dirty="0"/>
          </a:p>
          <a:p>
            <a:r>
              <a:rPr lang="en-US" dirty="0"/>
              <a:t>Don't write documentation to impress other developers.</a:t>
            </a:r>
          </a:p>
          <a:p>
            <a:r>
              <a:rPr lang="en-US" dirty="0"/>
              <a:t>Write it to help someone accomplish something.</a:t>
            </a:r>
          </a:p>
          <a:p>
            <a:r>
              <a:rPr lang="en-US" dirty="0"/>
              <a:t>For a user, instead of saying:</a:t>
            </a:r>
          </a:p>
          <a:p>
            <a:r>
              <a:rPr lang="en-US" dirty="0"/>
              <a:t>‘The application invokes the </a:t>
            </a:r>
            <a:r>
              <a:rPr lang="en-US" dirty="0" err="1"/>
              <a:t>TaskController</a:t>
            </a:r>
            <a:r>
              <a:rPr lang="en-US" dirty="0"/>
              <a:t> Create action.’</a:t>
            </a:r>
          </a:p>
          <a:p>
            <a:r>
              <a:rPr lang="en-US" dirty="0"/>
              <a:t>we might say:</a:t>
            </a:r>
          </a:p>
          <a:p>
            <a:r>
              <a:rPr lang="en-US" dirty="0"/>
              <a:t>‘Select </a:t>
            </a:r>
            <a:r>
              <a:rPr lang="en-US" b="1" dirty="0"/>
              <a:t>New Task</a:t>
            </a:r>
            <a:r>
              <a:rPr lang="en-US" dirty="0"/>
              <a:t> from the navigation menu.’</a:t>
            </a:r>
          </a:p>
          <a:p>
            <a:r>
              <a:rPr lang="en-US" dirty="0"/>
              <a:t>The first sentence describes implementation.</a:t>
            </a:r>
          </a:p>
          <a:p>
            <a:r>
              <a:rPr lang="en-US" dirty="0"/>
              <a:t>The second actually helps the user.”</a:t>
            </a:r>
          </a:p>
          <a:p>
            <a:br>
              <a:rPr lang="en-US" dirty="0"/>
            </a:br>
            <a:endParaRPr lang="en-US" dirty="0"/>
          </a:p>
          <a:p>
            <a:r>
              <a:rPr lang="en-US" b="1" dirty="0"/>
              <a:t>Documentation Should Be Findable</a:t>
            </a:r>
          </a:p>
          <a:p>
            <a:r>
              <a:rPr lang="en-US" dirty="0"/>
              <a:t>“Another common problem is documentation that technically exists but nobody can find.</a:t>
            </a:r>
          </a:p>
          <a:p>
            <a:r>
              <a:rPr lang="en-US" dirty="0"/>
              <a:t>If the instructions are buried in an old email, they're not very useful.</a:t>
            </a:r>
          </a:p>
          <a:p>
            <a:r>
              <a:rPr lang="en-US" dirty="0"/>
              <a:t>That's why the artifact shows several possible storage locations:</a:t>
            </a:r>
          </a:p>
          <a:p>
            <a:pPr lvl="0"/>
            <a:r>
              <a:rPr lang="en-US" dirty="0"/>
              <a:t>GitHub repository,</a:t>
            </a:r>
          </a:p>
          <a:p>
            <a:pPr lvl="0"/>
            <a:r>
              <a:rPr lang="en-US" dirty="0"/>
              <a:t>documentation/wiki,</a:t>
            </a:r>
          </a:p>
          <a:p>
            <a:pPr lvl="0"/>
            <a:r>
              <a:rPr lang="en-US" dirty="0"/>
              <a:t>exported PDF documents,</a:t>
            </a:r>
          </a:p>
          <a:p>
            <a:pPr lvl="0"/>
            <a:r>
              <a:rPr lang="en-US" dirty="0"/>
              <a:t>SharePoint or Teams,</a:t>
            </a:r>
          </a:p>
          <a:p>
            <a:pPr lvl="0"/>
            <a:r>
              <a:rPr lang="en-US" dirty="0"/>
              <a:t>cloud storage.</a:t>
            </a:r>
          </a:p>
          <a:p>
            <a:r>
              <a:rPr lang="en-US" dirty="0"/>
              <a:t>The specific platform isn't the most important part.</a:t>
            </a:r>
          </a:p>
          <a:p>
            <a:r>
              <a:rPr lang="en-US" dirty="0"/>
              <a:t>The important thing is that the documentation has a </a:t>
            </a:r>
            <a:r>
              <a:rPr lang="en-US" b="1" dirty="0"/>
              <a:t>known, central, accessible location</a:t>
            </a:r>
            <a:r>
              <a:rPr lang="en-US" dirty="0"/>
              <a:t>.”</a:t>
            </a:r>
          </a:p>
          <a:p>
            <a:br>
              <a:rPr lang="en-US" dirty="0"/>
            </a:br>
            <a:endParaRPr lang="en-US" dirty="0"/>
          </a:p>
          <a:p>
            <a:r>
              <a:rPr lang="en-US" b="1" dirty="0"/>
              <a:t>Documentation and Version Control</a:t>
            </a:r>
          </a:p>
          <a:p>
            <a:r>
              <a:rPr lang="en-US" dirty="0"/>
              <a:t>“Documentation should also be versioned alongside the software when appropriate.</a:t>
            </a:r>
          </a:p>
          <a:p>
            <a:r>
              <a:rPr lang="en-US" dirty="0"/>
              <a:t>If Atlas Version 1.0 changes how authentication works, the documentation should reflect that.</a:t>
            </a:r>
          </a:p>
          <a:p>
            <a:r>
              <a:rPr lang="en-US" dirty="0"/>
              <a:t>If we change the database setup, the setup instructions need to change.</a:t>
            </a:r>
          </a:p>
          <a:p>
            <a:r>
              <a:rPr lang="en-US" dirty="0"/>
              <a:t>If a feature is removed, the user guide shouldn't continue telling people to use it.</a:t>
            </a:r>
          </a:p>
          <a:p>
            <a:r>
              <a:rPr lang="en-US" dirty="0"/>
              <a:t>Documentation and software have to evolve together.”</a:t>
            </a:r>
          </a:p>
          <a:p>
            <a:br>
              <a:rPr lang="en-US" dirty="0"/>
            </a:br>
            <a:endParaRPr lang="en-US" dirty="0"/>
          </a:p>
          <a:p>
            <a:r>
              <a:rPr lang="en-US" b="1" dirty="0"/>
              <a:t>The Documentation Checklist</a:t>
            </a:r>
          </a:p>
          <a:p>
            <a:r>
              <a:rPr lang="en-US" dirty="0"/>
              <a:t>“Let's walk through the checklist.</a:t>
            </a:r>
          </a:p>
          <a:p>
            <a:r>
              <a:rPr lang="en-US" dirty="0"/>
              <a:t>Is all required documentation complete?</a:t>
            </a:r>
          </a:p>
          <a:p>
            <a:r>
              <a:rPr lang="en-US" dirty="0"/>
              <a:t>Is the information accurate?</a:t>
            </a:r>
          </a:p>
          <a:p>
            <a:r>
              <a:rPr lang="en-US" dirty="0"/>
              <a:t>Are the instructions clear?</a:t>
            </a:r>
          </a:p>
          <a:p>
            <a:r>
              <a:rPr lang="en-US" dirty="0"/>
              <a:t>Are examples correct?</a:t>
            </a:r>
          </a:p>
          <a:p>
            <a:r>
              <a:rPr lang="en-US" dirty="0"/>
              <a:t>Do screenshots actually match the current version?</a:t>
            </a:r>
          </a:p>
          <a:p>
            <a:r>
              <a:rPr lang="en-US" dirty="0"/>
              <a:t>Are links working?</a:t>
            </a:r>
          </a:p>
          <a:p>
            <a:r>
              <a:rPr lang="en-US" dirty="0"/>
              <a:t>Are dependencies documented?</a:t>
            </a:r>
          </a:p>
          <a:p>
            <a:r>
              <a:rPr lang="en-US" dirty="0"/>
              <a:t>Are technical details included where appropriate?</a:t>
            </a:r>
          </a:p>
          <a:p>
            <a:r>
              <a:rPr lang="en-US" dirty="0"/>
              <a:t>Can users understand the important workflows?</a:t>
            </a:r>
          </a:p>
          <a:p>
            <a:r>
              <a:rPr lang="en-US" dirty="0"/>
              <a:t>Can developers set up the project?</a:t>
            </a:r>
          </a:p>
          <a:p>
            <a:r>
              <a:rPr lang="en-US" dirty="0"/>
              <a:t>Are security and access requirements explained?</a:t>
            </a:r>
          </a:p>
          <a:p>
            <a:r>
              <a:rPr lang="en-US" dirty="0"/>
              <a:t>Is troubleshooting information available?</a:t>
            </a:r>
          </a:p>
          <a:p>
            <a:r>
              <a:rPr lang="en-US" dirty="0"/>
              <a:t>Is the documentation stored somewhere accessible?</a:t>
            </a:r>
          </a:p>
          <a:p>
            <a:r>
              <a:rPr lang="en-US" dirty="0"/>
              <a:t>Has someone reviewed it?</a:t>
            </a:r>
          </a:p>
          <a:p>
            <a:r>
              <a:rPr lang="en-US" dirty="0"/>
              <a:t>And finally:</a:t>
            </a:r>
          </a:p>
          <a:p>
            <a:r>
              <a:rPr lang="en-US" b="1" dirty="0"/>
              <a:t>Is it ready for Version 1.0?</a:t>
            </a:r>
            <a:r>
              <a:rPr lang="en-US" dirty="0"/>
              <a:t>”</a:t>
            </a:r>
          </a:p>
          <a:p>
            <a:br>
              <a:rPr lang="en-US" dirty="0"/>
            </a:br>
            <a:endParaRPr lang="en-US" dirty="0"/>
          </a:p>
          <a:p>
            <a:r>
              <a:rPr lang="en-US" b="1" dirty="0"/>
              <a:t>Common Documentation Mistakes</a:t>
            </a:r>
          </a:p>
          <a:p>
            <a:r>
              <a:rPr lang="en-US" dirty="0"/>
              <a:t>“The artifact also identifies several mistakes we want to avoid.</a:t>
            </a:r>
          </a:p>
          <a:p>
            <a:r>
              <a:rPr lang="en-US" b="1" dirty="0"/>
              <a:t>Outdated documentation</a:t>
            </a:r>
          </a:p>
          <a:p>
            <a:r>
              <a:rPr lang="en-US" dirty="0"/>
              <a:t>If the application changes but the documentation doesn't, the documentation becomes misleading.</a:t>
            </a:r>
          </a:p>
          <a:p>
            <a:r>
              <a:rPr lang="en-US" b="1" dirty="0"/>
              <a:t>Copying without understanding</a:t>
            </a:r>
          </a:p>
          <a:p>
            <a:r>
              <a:rPr lang="en-US" dirty="0"/>
              <a:t>Don't copy documentation from another project without adapting it to Atlas.</a:t>
            </a:r>
          </a:p>
          <a:p>
            <a:r>
              <a:rPr lang="en-US" b="1" dirty="0"/>
              <a:t>Missing visuals</a:t>
            </a:r>
          </a:p>
          <a:p>
            <a:r>
              <a:rPr lang="en-US" dirty="0"/>
              <a:t>Some concepts are much easier to understand with screenshots or diagrams.</a:t>
            </a:r>
          </a:p>
          <a:p>
            <a:r>
              <a:rPr lang="en-US" b="1" dirty="0"/>
              <a:t>Assuming too much</a:t>
            </a:r>
          </a:p>
          <a:p>
            <a:r>
              <a:rPr lang="en-US" dirty="0"/>
              <a:t>Don't assume the reader knows everything we know.</a:t>
            </a:r>
          </a:p>
          <a:p>
            <a:r>
              <a:rPr lang="en-US" b="1" dirty="0"/>
              <a:t>Hard-to-find documentation</a:t>
            </a:r>
          </a:p>
          <a:p>
            <a:r>
              <a:rPr lang="en-US" dirty="0"/>
              <a:t>If users can't locate it, it doesn't help them.</a:t>
            </a:r>
          </a:p>
          <a:p>
            <a:r>
              <a:rPr lang="en-US" b="1" dirty="0"/>
              <a:t>Ignoring changes</a:t>
            </a:r>
          </a:p>
          <a:p>
            <a:r>
              <a:rPr lang="en-US" dirty="0"/>
              <a:t>Documentation needs to evolve alongside the application.”</a:t>
            </a:r>
          </a:p>
          <a:p>
            <a:br>
              <a:rPr lang="en-US" dirty="0"/>
            </a:br>
            <a:endParaRPr lang="en-US" dirty="0"/>
          </a:p>
          <a:p>
            <a:r>
              <a:rPr lang="en-US" b="1" dirty="0"/>
              <a:t>Documentation Is Technical Debt Prevention</a:t>
            </a:r>
          </a:p>
          <a:p>
            <a:r>
              <a:rPr lang="en-US" dirty="0"/>
              <a:t>“Here's another way to think about documentation.</a:t>
            </a:r>
          </a:p>
          <a:p>
            <a:r>
              <a:rPr lang="en-US" dirty="0"/>
              <a:t>Imagine a developer leaves the project.</a:t>
            </a:r>
          </a:p>
          <a:p>
            <a:r>
              <a:rPr lang="en-US" dirty="0"/>
              <a:t>Someone new joins six months later.</a:t>
            </a:r>
          </a:p>
          <a:p>
            <a:r>
              <a:rPr lang="en-US" dirty="0"/>
              <a:t>They have to understand the system.</a:t>
            </a:r>
          </a:p>
          <a:p>
            <a:r>
              <a:rPr lang="en-US" dirty="0"/>
              <a:t>If there is no documentation, they have to reverse-engineer everything.</a:t>
            </a:r>
          </a:p>
          <a:p>
            <a:r>
              <a:rPr lang="en-US" dirty="0"/>
              <a:t>That takes time.</a:t>
            </a:r>
          </a:p>
          <a:p>
            <a:r>
              <a:rPr lang="en-US" dirty="0"/>
              <a:t>It creates mistakes.</a:t>
            </a:r>
          </a:p>
          <a:p>
            <a:r>
              <a:rPr lang="en-US" dirty="0"/>
              <a:t>And it slows development.</a:t>
            </a:r>
          </a:p>
          <a:p>
            <a:r>
              <a:rPr lang="en-US" dirty="0"/>
              <a:t>Good documentation reduces that risk.</a:t>
            </a:r>
          </a:p>
          <a:p>
            <a:r>
              <a:rPr lang="en-US" dirty="0"/>
              <a:t>It doesn't eliminate the need to understand the code.</a:t>
            </a:r>
          </a:p>
          <a:p>
            <a:r>
              <a:rPr lang="en-US" dirty="0"/>
              <a:t>It gives the next developer a map.”</a:t>
            </a:r>
          </a:p>
          <a:p>
            <a:br>
              <a:rPr lang="en-US" dirty="0"/>
            </a:br>
            <a:endParaRPr lang="en-US" dirty="0"/>
          </a:p>
          <a:p>
            <a:r>
              <a:rPr lang="en-US" b="1" dirty="0"/>
              <a:t>The Documentation Journey</a:t>
            </a:r>
          </a:p>
          <a:p>
            <a:r>
              <a:rPr lang="en-US" dirty="0"/>
              <a:t>“The process at the bottom gives us a practical workflow:</a:t>
            </a:r>
          </a:p>
          <a:p>
            <a:r>
              <a:rPr lang="en-US" b="1" dirty="0"/>
              <a:t>Plan → Outline → Write → Add Visuals → Review → Update → Publish → Maintain</a:t>
            </a:r>
            <a:endParaRPr lang="en-US" dirty="0"/>
          </a:p>
          <a:p>
            <a:r>
              <a:rPr lang="en-US" dirty="0"/>
              <a:t>Notice that documentation is not:</a:t>
            </a:r>
          </a:p>
          <a:p>
            <a:r>
              <a:rPr lang="en-US" b="1" dirty="0"/>
              <a:t>Write once → Forget forever.</a:t>
            </a:r>
            <a:endParaRPr lang="en-US" dirty="0"/>
          </a:p>
          <a:p>
            <a:r>
              <a:rPr lang="en-US" dirty="0"/>
              <a:t>It's a living part of the product.</a:t>
            </a:r>
          </a:p>
          <a:p>
            <a:r>
              <a:rPr lang="en-US" dirty="0"/>
              <a:t>When Atlas changes, the documentation should change with it.”</a:t>
            </a:r>
          </a:p>
          <a:p>
            <a:br>
              <a:rPr lang="en-US" dirty="0"/>
            </a:br>
            <a:endParaRPr lang="en-US" dirty="0"/>
          </a:p>
          <a:p>
            <a:r>
              <a:rPr lang="en-US" b="1" dirty="0"/>
              <a:t>Documentation Is Evidence</a:t>
            </a:r>
          </a:p>
          <a:p>
            <a:r>
              <a:rPr lang="en-US" dirty="0"/>
              <a:t>“There's another reason documentation matters during release.</a:t>
            </a:r>
          </a:p>
          <a:p>
            <a:r>
              <a:rPr lang="en-US" dirty="0"/>
              <a:t>Documentation provides evidence that we've thought through the system.</a:t>
            </a:r>
          </a:p>
          <a:p>
            <a:r>
              <a:rPr lang="en-US" dirty="0"/>
              <a:t>If we can clearly explain:</a:t>
            </a:r>
          </a:p>
          <a:p>
            <a:pPr lvl="0"/>
            <a:r>
              <a:rPr lang="en-US" dirty="0"/>
              <a:t>how the system works,</a:t>
            </a:r>
          </a:p>
          <a:p>
            <a:pPr lvl="0"/>
            <a:r>
              <a:rPr lang="en-US" dirty="0"/>
              <a:t>how users interact with it,</a:t>
            </a:r>
          </a:p>
          <a:p>
            <a:pPr lvl="0"/>
            <a:r>
              <a:rPr lang="en-US" dirty="0"/>
              <a:t>how it's configured,</a:t>
            </a:r>
          </a:p>
          <a:p>
            <a:pPr lvl="0"/>
            <a:r>
              <a:rPr lang="en-US" dirty="0"/>
              <a:t>how it's deployed,</a:t>
            </a:r>
          </a:p>
          <a:p>
            <a:pPr lvl="0"/>
            <a:r>
              <a:rPr lang="en-US" dirty="0"/>
              <a:t>how the data is structured,</a:t>
            </a:r>
          </a:p>
          <a:p>
            <a:pPr lvl="0"/>
            <a:r>
              <a:rPr lang="en-US" dirty="0"/>
              <a:t>and how problems are resolved,</a:t>
            </a:r>
          </a:p>
          <a:p>
            <a:r>
              <a:rPr lang="en-US" dirty="0"/>
              <a:t>that demonstrates a level of engineering maturity.</a:t>
            </a:r>
          </a:p>
          <a:p>
            <a:r>
              <a:rPr lang="en-US" dirty="0"/>
              <a:t>If we can't explain it, that may reveal that we don't fully understand it ourselves.”</a:t>
            </a:r>
          </a:p>
          <a:p>
            <a:br>
              <a:rPr lang="en-US" dirty="0"/>
            </a:br>
            <a:endParaRPr lang="en-US" dirty="0"/>
          </a:p>
          <a:p>
            <a:r>
              <a:rPr lang="en-US" b="1" dirty="0"/>
              <a:t>The Bigger Lesson</a:t>
            </a:r>
          </a:p>
          <a:p>
            <a:r>
              <a:rPr lang="en-US" dirty="0"/>
              <a:t>“I want to emphasize this statement:</a:t>
            </a:r>
          </a:p>
          <a:p>
            <a:r>
              <a:rPr lang="en-US" b="1" dirty="0"/>
              <a:t>Great software isn't just built well. It's documented well.</a:t>
            </a:r>
            <a:endParaRPr lang="en-US" dirty="0"/>
          </a:p>
          <a:p>
            <a:r>
              <a:rPr lang="en-US" dirty="0"/>
              <a:t>The best code in the world isn't very valuable if nobody can understand how to use or maintain it.</a:t>
            </a:r>
          </a:p>
          <a:p>
            <a:r>
              <a:rPr lang="en-US" dirty="0"/>
              <a:t>Documentation creates </a:t>
            </a:r>
            <a:r>
              <a:rPr lang="en-US" b="1" dirty="0"/>
              <a:t>transferable knowledge</a:t>
            </a:r>
            <a:r>
              <a:rPr lang="en-US" dirty="0"/>
              <a:t>.</a:t>
            </a:r>
          </a:p>
          <a:p>
            <a:r>
              <a:rPr lang="en-US" dirty="0"/>
              <a:t>And transferable knowledge creates sustainable software.”</a:t>
            </a:r>
          </a:p>
          <a:p>
            <a:br>
              <a:rPr lang="en-US" dirty="0"/>
            </a:br>
            <a:endParaRPr lang="en-US" dirty="0"/>
          </a:p>
          <a:p>
            <a:r>
              <a:rPr lang="en-US" b="1" dirty="0"/>
              <a:t>Documentation as a Professional Skill</a:t>
            </a:r>
          </a:p>
          <a:p>
            <a:r>
              <a:rPr lang="en-US" dirty="0"/>
              <a:t>“This is also an important career skill.</a:t>
            </a:r>
          </a:p>
          <a:p>
            <a:r>
              <a:rPr lang="en-US" dirty="0"/>
              <a:t>In professional software development, you're constantly communicating:</a:t>
            </a:r>
          </a:p>
          <a:p>
            <a:pPr lvl="0"/>
            <a:r>
              <a:rPr lang="en-US" dirty="0"/>
              <a:t>with other developers,</a:t>
            </a:r>
          </a:p>
          <a:p>
            <a:pPr lvl="0"/>
            <a:r>
              <a:rPr lang="en-US" dirty="0"/>
              <a:t>with testers,</a:t>
            </a:r>
          </a:p>
          <a:p>
            <a:pPr lvl="0"/>
            <a:r>
              <a:rPr lang="en-US" dirty="0"/>
              <a:t>with project managers,</a:t>
            </a:r>
          </a:p>
          <a:p>
            <a:pPr lvl="0"/>
            <a:r>
              <a:rPr lang="en-US" dirty="0"/>
              <a:t>with customers,</a:t>
            </a:r>
          </a:p>
          <a:p>
            <a:pPr lvl="0"/>
            <a:r>
              <a:rPr lang="en-US" dirty="0"/>
              <a:t>with support teams,</a:t>
            </a:r>
          </a:p>
          <a:p>
            <a:pPr lvl="0"/>
            <a:r>
              <a:rPr lang="en-US" dirty="0"/>
              <a:t>and with future developers.</a:t>
            </a:r>
          </a:p>
          <a:p>
            <a:r>
              <a:rPr lang="en-US" dirty="0"/>
              <a:t>Being able to explain technical information clearly is part of being a strong software engineer.</a:t>
            </a:r>
          </a:p>
          <a:p>
            <a:r>
              <a:rPr lang="en-US" dirty="0"/>
              <a:t>Documentation is one of the ways you demonstrate that skill.”</a:t>
            </a:r>
          </a:p>
          <a:p>
            <a:br>
              <a:rPr lang="en-US" dirty="0"/>
            </a:br>
            <a:endParaRPr lang="en-US" dirty="0"/>
          </a:p>
          <a:p>
            <a:r>
              <a:rPr lang="en-US" b="1" dirty="0"/>
              <a:t>Closing</a:t>
            </a:r>
          </a:p>
          <a:p>
            <a:r>
              <a:rPr lang="en-US" dirty="0"/>
              <a:t>“So our goal here isn't to produce a giant pile of documents.</a:t>
            </a:r>
          </a:p>
          <a:p>
            <a:r>
              <a:rPr lang="en-US" dirty="0"/>
              <a:t>The goal is to produce </a:t>
            </a:r>
            <a:r>
              <a:rPr lang="en-US" b="1" dirty="0"/>
              <a:t>useful documentation</a:t>
            </a:r>
            <a:r>
              <a:rPr lang="en-US" dirty="0"/>
              <a:t>.</a:t>
            </a:r>
          </a:p>
          <a:p>
            <a:r>
              <a:rPr lang="en-US" dirty="0"/>
              <a:t>A user should be able to figure out how to use Atlas.</a:t>
            </a:r>
          </a:p>
          <a:p>
            <a:r>
              <a:rPr lang="en-US" dirty="0"/>
              <a:t>A developer should be able to set it up.</a:t>
            </a:r>
          </a:p>
          <a:p>
            <a:r>
              <a:rPr lang="en-US" dirty="0"/>
              <a:t>A maintainer should be able to troubleshoot it.</a:t>
            </a:r>
          </a:p>
          <a:p>
            <a:r>
              <a:rPr lang="en-US" dirty="0"/>
              <a:t>And a future team should be able to understand why we built it the way we did.</a:t>
            </a:r>
          </a:p>
          <a:p>
            <a:r>
              <a:rPr lang="en-US" dirty="0"/>
              <a:t>Remember:</a:t>
            </a:r>
          </a:p>
          <a:p>
            <a:r>
              <a:rPr lang="en-US" b="1" dirty="0"/>
              <a:t>Documented today. Understood tomorrow. Maintained forever.</a:t>
            </a:r>
            <a:endParaRPr lang="en-US" dirty="0"/>
          </a:p>
          <a:p>
            <a:r>
              <a:rPr lang="en-US" dirty="0"/>
              <a:t>That's how we turn Atlas from a project that we built into a product that other people can actually use and maintain.”</a:t>
            </a:r>
          </a:p>
          <a:p>
            <a:r>
              <a:rPr lang="en-US" b="1" dirty="0"/>
              <a:t>Transition</a:t>
            </a:r>
          </a:p>
          <a:p>
            <a:r>
              <a:rPr lang="en-US" dirty="0"/>
              <a:t>“Now that Atlas is deployed and documented, we're ready to show people what we've built.</a:t>
            </a:r>
          </a:p>
          <a:p>
            <a:r>
              <a:rPr lang="en-US" dirty="0"/>
              <a:t>The next step is one of the most important professional skills in software development:</a:t>
            </a:r>
          </a:p>
          <a:p>
            <a:r>
              <a:rPr lang="en-US" b="1" dirty="0"/>
              <a:t>demonstrating the product effectively.</a:t>
            </a:r>
            <a:r>
              <a:rPr lang="en-US" dirty="0"/>
              <a:t>”</a:t>
            </a:r>
          </a:p>
          <a:p>
            <a:endParaRPr lang="en-US" dirty="0"/>
          </a:p>
        </p:txBody>
      </p:sp>
      <p:sp>
        <p:nvSpPr>
          <p:cNvPr id="4" name="Slide Number Placeholder 3"/>
          <p:cNvSpPr>
            <a:spLocks noGrp="1"/>
          </p:cNvSpPr>
          <p:nvPr>
            <p:ph type="sldNum" sz="quarter" idx="5"/>
          </p:nvPr>
        </p:nvSpPr>
        <p:spPr/>
        <p:txBody>
          <a:bodyPr/>
          <a:lstStyle/>
          <a:p>
            <a:fld id="{5FDF263D-5665-4A7C-828E-8E913E9FBDB3}" type="slidenum">
              <a:rPr lang="en-US" smtClean="0"/>
              <a:t>6</a:t>
            </a:fld>
            <a:endParaRPr lang="en-US"/>
          </a:p>
        </p:txBody>
      </p:sp>
    </p:spTree>
    <p:extLst>
      <p:ext uri="{BB962C8B-B14F-4D97-AF65-F5344CB8AC3E}">
        <p14:creationId xmlns:p14="http://schemas.microsoft.com/office/powerpoint/2010/main" val="39525189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 — Demonstrate It Well</a:t>
            </a:r>
          </a:p>
          <a:p>
            <a:r>
              <a:rPr lang="en-US" b="1" dirty="0"/>
              <a:t>Opening</a:t>
            </a:r>
          </a:p>
          <a:p>
            <a:r>
              <a:rPr lang="en-US" dirty="0"/>
              <a:t>“We've built Atlas.</a:t>
            </a:r>
          </a:p>
          <a:p>
            <a:r>
              <a:rPr lang="en-US" dirty="0"/>
              <a:t>We've tested it.</a:t>
            </a:r>
          </a:p>
          <a:p>
            <a:r>
              <a:rPr lang="en-US" dirty="0"/>
              <a:t>We've fixed the bugs.</a:t>
            </a:r>
          </a:p>
          <a:p>
            <a:r>
              <a:rPr lang="en-US" dirty="0"/>
              <a:t>We've polished it.</a:t>
            </a:r>
          </a:p>
          <a:p>
            <a:r>
              <a:rPr lang="en-US" dirty="0"/>
              <a:t>We've deployed it.</a:t>
            </a:r>
          </a:p>
          <a:p>
            <a:r>
              <a:rPr lang="en-US" dirty="0"/>
              <a:t>We've documented it.</a:t>
            </a:r>
          </a:p>
          <a:p>
            <a:r>
              <a:rPr lang="en-US" dirty="0"/>
              <a:t>Now comes the moment where we have to </a:t>
            </a:r>
            <a:r>
              <a:rPr lang="en-US" b="1" dirty="0"/>
              <a:t>show people what we built</a:t>
            </a:r>
            <a:r>
              <a:rPr lang="en-US" dirty="0"/>
              <a:t>.</a:t>
            </a:r>
          </a:p>
          <a:p>
            <a:r>
              <a:rPr lang="en-US" dirty="0"/>
              <a:t>This is </a:t>
            </a:r>
            <a:r>
              <a:rPr lang="en-US" b="1" dirty="0"/>
              <a:t>Demonstrate It Well</a:t>
            </a:r>
            <a:r>
              <a:rPr lang="en-US" dirty="0"/>
              <a:t>.</a:t>
            </a:r>
          </a:p>
          <a:p>
            <a:r>
              <a:rPr lang="en-US" dirty="0"/>
              <a:t>And there's an important distinction I want you to understand:</a:t>
            </a:r>
          </a:p>
          <a:p>
            <a:r>
              <a:rPr lang="en-US" b="1" dirty="0"/>
              <a:t>A demonstration is not just clicking through an application.</a:t>
            </a:r>
            <a:endParaRPr lang="en-US" dirty="0"/>
          </a:p>
          <a:p>
            <a:r>
              <a:rPr lang="en-US" dirty="0"/>
              <a:t>A great demonstration tells a story.</a:t>
            </a:r>
          </a:p>
          <a:p>
            <a:r>
              <a:rPr lang="en-US" dirty="0"/>
              <a:t>It shows the problem.</a:t>
            </a:r>
          </a:p>
          <a:p>
            <a:r>
              <a:rPr lang="en-US" dirty="0"/>
              <a:t>It shows the solution.</a:t>
            </a:r>
          </a:p>
          <a:p>
            <a:r>
              <a:rPr lang="en-US" dirty="0"/>
              <a:t>And it helps the audience understand why the solution matters.”</a:t>
            </a:r>
          </a:p>
          <a:p>
            <a:br>
              <a:rPr lang="en-US" dirty="0"/>
            </a:br>
            <a:endParaRPr lang="en-US" dirty="0"/>
          </a:p>
          <a:p>
            <a:r>
              <a:rPr lang="en-US" b="1" dirty="0"/>
              <a:t>Our Purpose</a:t>
            </a:r>
          </a:p>
          <a:p>
            <a:r>
              <a:rPr lang="en-US" dirty="0"/>
              <a:t>“The purpose of our demonstration is to accomplish four things.</a:t>
            </a:r>
          </a:p>
          <a:p>
            <a:r>
              <a:rPr lang="en-US" dirty="0"/>
              <a:t>First, </a:t>
            </a:r>
            <a:r>
              <a:rPr lang="en-US" b="1" dirty="0"/>
              <a:t>communicate the value and impact of Atlas.</a:t>
            </a:r>
            <a:endParaRPr lang="en-US" dirty="0"/>
          </a:p>
          <a:p>
            <a:r>
              <a:rPr lang="en-US" dirty="0"/>
              <a:t>Second, </a:t>
            </a:r>
            <a:r>
              <a:rPr lang="en-US" b="1" dirty="0"/>
              <a:t>build confidence in our solution.</a:t>
            </a:r>
            <a:endParaRPr lang="en-US" dirty="0"/>
          </a:p>
          <a:p>
            <a:r>
              <a:rPr lang="en-US" dirty="0"/>
              <a:t>Third, </a:t>
            </a:r>
            <a:r>
              <a:rPr lang="en-US" b="1" dirty="0"/>
              <a:t>answer questions and respond to feedback.</a:t>
            </a:r>
            <a:endParaRPr lang="en-US" dirty="0"/>
          </a:p>
          <a:p>
            <a:r>
              <a:rPr lang="en-US" dirty="0"/>
              <a:t>And finally, </a:t>
            </a:r>
            <a:r>
              <a:rPr lang="en-US" b="1" dirty="0"/>
              <a:t>inspire the people watching us to understand what we've created and where it could go next.</a:t>
            </a:r>
            <a:endParaRPr lang="en-US" dirty="0"/>
          </a:p>
          <a:p>
            <a:r>
              <a:rPr lang="en-US" dirty="0"/>
              <a:t>We're not simply proving that the buttons work.</a:t>
            </a:r>
          </a:p>
          <a:p>
            <a:r>
              <a:rPr lang="en-US" dirty="0"/>
              <a:t>We're demonstrating that we've built something meaningful.”</a:t>
            </a:r>
          </a:p>
          <a:p>
            <a:br>
              <a:rPr lang="en-US" dirty="0"/>
            </a:br>
            <a:endParaRPr lang="en-US" dirty="0"/>
          </a:p>
          <a:p>
            <a:r>
              <a:rPr lang="en-US" b="1" dirty="0"/>
              <a:t>Know Your Audience</a:t>
            </a:r>
          </a:p>
          <a:p>
            <a:r>
              <a:rPr lang="en-US" dirty="0"/>
              <a:t>“Before we talk about what we're going to say, we need to think about </a:t>
            </a:r>
            <a:r>
              <a:rPr lang="en-US" b="1" dirty="0"/>
              <a:t>who we're saying it to</a:t>
            </a:r>
            <a:r>
              <a:rPr lang="en-US" dirty="0"/>
              <a:t>.</a:t>
            </a:r>
          </a:p>
          <a:p>
            <a:r>
              <a:rPr lang="en-US" dirty="0"/>
              <a:t>Your audience might include:</a:t>
            </a:r>
          </a:p>
          <a:p>
            <a:pPr lvl="0"/>
            <a:r>
              <a:rPr lang="en-US" dirty="0"/>
              <a:t>classmates,</a:t>
            </a:r>
          </a:p>
          <a:p>
            <a:pPr lvl="0"/>
            <a:r>
              <a:rPr lang="en-US" dirty="0"/>
              <a:t>instructors,</a:t>
            </a:r>
          </a:p>
          <a:p>
            <a:pPr lvl="0"/>
            <a:r>
              <a:rPr lang="en-US" dirty="0"/>
              <a:t>technical reviewers,</a:t>
            </a:r>
          </a:p>
          <a:p>
            <a:pPr lvl="0"/>
            <a:r>
              <a:rPr lang="en-US" dirty="0"/>
              <a:t>potential users,</a:t>
            </a:r>
          </a:p>
          <a:p>
            <a:pPr lvl="0"/>
            <a:r>
              <a:rPr lang="en-US" dirty="0"/>
              <a:t>stakeholders,</a:t>
            </a:r>
          </a:p>
          <a:p>
            <a:pPr lvl="0"/>
            <a:r>
              <a:rPr lang="en-US" dirty="0"/>
              <a:t>or even someone who has never seen the project before.</a:t>
            </a:r>
          </a:p>
          <a:p>
            <a:r>
              <a:rPr lang="en-US" dirty="0"/>
              <a:t>Those people don't all care about the same things.</a:t>
            </a:r>
          </a:p>
          <a:p>
            <a:r>
              <a:rPr lang="en-US" dirty="0"/>
              <a:t>A developer might want to know about architecture.</a:t>
            </a:r>
          </a:p>
          <a:p>
            <a:r>
              <a:rPr lang="en-US" dirty="0"/>
              <a:t>A user might want to know how the application makes their work easier.</a:t>
            </a:r>
          </a:p>
          <a:p>
            <a:r>
              <a:rPr lang="en-US" dirty="0"/>
              <a:t>A stakeholder might care about value, efficiency, and outcomes.</a:t>
            </a:r>
          </a:p>
          <a:p>
            <a:r>
              <a:rPr lang="en-US" dirty="0"/>
              <a:t>So ask yourself:</a:t>
            </a:r>
          </a:p>
          <a:p>
            <a:r>
              <a:rPr lang="en-US" b="1" dirty="0"/>
              <a:t>What does this audience need to understand?</a:t>
            </a:r>
            <a:r>
              <a:rPr lang="en-US" dirty="0"/>
              <a:t>”</a:t>
            </a:r>
          </a:p>
          <a:p>
            <a:br>
              <a:rPr lang="en-US" dirty="0"/>
            </a:br>
            <a:endParaRPr lang="en-US" dirty="0"/>
          </a:p>
          <a:p>
            <a:r>
              <a:rPr lang="en-US" b="1" dirty="0"/>
              <a:t>Tell the Story</a:t>
            </a:r>
          </a:p>
          <a:p>
            <a:r>
              <a:rPr lang="en-US" dirty="0"/>
              <a:t>“The presentation structure gives us six stages.</a:t>
            </a:r>
          </a:p>
          <a:p>
            <a:r>
              <a:rPr lang="en-US" b="1" dirty="0"/>
              <a:t>1. Introduction</a:t>
            </a:r>
          </a:p>
          <a:p>
            <a:r>
              <a:rPr lang="en-US" dirty="0"/>
              <a:t>Start by getting the audience's attention.</a:t>
            </a:r>
          </a:p>
          <a:p>
            <a:r>
              <a:rPr lang="en-US" dirty="0"/>
              <a:t>Introduce Atlas.</a:t>
            </a:r>
          </a:p>
          <a:p>
            <a:r>
              <a:rPr lang="en-US" dirty="0"/>
              <a:t>Introduce your team.</a:t>
            </a:r>
          </a:p>
          <a:p>
            <a:r>
              <a:rPr lang="en-US" dirty="0"/>
              <a:t>Establish what you're about to show.</a:t>
            </a:r>
          </a:p>
          <a:p>
            <a:r>
              <a:rPr lang="en-US" dirty="0"/>
              <a:t>Don't spend five minutes reading an agenda.</a:t>
            </a:r>
          </a:p>
          <a:p>
            <a:r>
              <a:rPr lang="en-US" dirty="0"/>
              <a:t>Get us into the story.”</a:t>
            </a:r>
          </a:p>
          <a:p>
            <a:br>
              <a:rPr lang="en-US" dirty="0"/>
            </a:br>
            <a:endParaRPr lang="en-US" dirty="0"/>
          </a:p>
          <a:p>
            <a:r>
              <a:rPr lang="en-US" b="1" dirty="0"/>
              <a:t>2. The Problem</a:t>
            </a:r>
          </a:p>
          <a:p>
            <a:r>
              <a:rPr lang="en-US" dirty="0"/>
              <a:t>“Next, explain the problem.</a:t>
            </a:r>
          </a:p>
          <a:p>
            <a:r>
              <a:rPr lang="en-US" dirty="0"/>
              <a:t>What are we trying to solve?</a:t>
            </a:r>
          </a:p>
          <a:p>
            <a:r>
              <a:rPr lang="en-US" dirty="0"/>
              <a:t>Who experiences this problem?</a:t>
            </a:r>
          </a:p>
          <a:p>
            <a:r>
              <a:rPr lang="en-US" dirty="0"/>
              <a:t>Why does it matter?</a:t>
            </a:r>
          </a:p>
          <a:p>
            <a:r>
              <a:rPr lang="en-US" dirty="0"/>
              <a:t>What happens if we don't solve it?</a:t>
            </a:r>
          </a:p>
          <a:p>
            <a:r>
              <a:rPr lang="en-US" dirty="0"/>
              <a:t>This is important because the audience needs context before they see the solution.</a:t>
            </a:r>
          </a:p>
          <a:p>
            <a:r>
              <a:rPr lang="en-US" dirty="0"/>
              <a:t>If I don't understand the problem, I can't appreciate the solution.”</a:t>
            </a:r>
          </a:p>
          <a:p>
            <a:br>
              <a:rPr lang="en-US" dirty="0"/>
            </a:br>
            <a:endParaRPr lang="en-US" dirty="0"/>
          </a:p>
          <a:p>
            <a:r>
              <a:rPr lang="en-US" b="1" dirty="0"/>
              <a:t>3. The Solution</a:t>
            </a:r>
          </a:p>
          <a:p>
            <a:r>
              <a:rPr lang="en-US" dirty="0"/>
              <a:t>“Now introduce Atlas.</a:t>
            </a:r>
          </a:p>
          <a:p>
            <a:r>
              <a:rPr lang="en-US" dirty="0"/>
              <a:t>Explain how the product addresses the problem.</a:t>
            </a:r>
          </a:p>
          <a:p>
            <a:r>
              <a:rPr lang="en-US" dirty="0"/>
              <a:t>Don't immediately start clicking through every screen.</a:t>
            </a:r>
          </a:p>
          <a:p>
            <a:r>
              <a:rPr lang="en-US" dirty="0"/>
              <a:t>Give us the big picture first.</a:t>
            </a:r>
          </a:p>
          <a:p>
            <a:r>
              <a:rPr lang="en-US" dirty="0"/>
              <a:t>Explain what Atlas does and how the major pieces work together.”</a:t>
            </a:r>
          </a:p>
          <a:p>
            <a:br>
              <a:rPr lang="en-US" dirty="0"/>
            </a:br>
            <a:endParaRPr lang="en-US" dirty="0"/>
          </a:p>
          <a:p>
            <a:r>
              <a:rPr lang="en-US" b="1" dirty="0"/>
              <a:t>4. Demonstration</a:t>
            </a:r>
          </a:p>
          <a:p>
            <a:r>
              <a:rPr lang="en-US" dirty="0"/>
              <a:t>“Now we actually show the product.</a:t>
            </a:r>
          </a:p>
          <a:p>
            <a:r>
              <a:rPr lang="en-US" dirty="0"/>
              <a:t>But notice something important:</a:t>
            </a:r>
          </a:p>
          <a:p>
            <a:r>
              <a:rPr lang="en-US" dirty="0"/>
              <a:t>We're not demonstrating every feature just because we built it.</a:t>
            </a:r>
          </a:p>
          <a:p>
            <a:r>
              <a:rPr lang="en-US" dirty="0"/>
              <a:t>We're demonstrating the </a:t>
            </a:r>
            <a:r>
              <a:rPr lang="en-US" b="1" dirty="0"/>
              <a:t>important workflows</a:t>
            </a:r>
            <a:r>
              <a:rPr lang="en-US" dirty="0"/>
              <a:t>.</a:t>
            </a:r>
          </a:p>
          <a:p>
            <a:r>
              <a:rPr lang="en-US" dirty="0"/>
              <a:t>For example:</a:t>
            </a:r>
          </a:p>
          <a:p>
            <a:r>
              <a:rPr lang="en-US" dirty="0"/>
              <a:t>A user signs in.</a:t>
            </a:r>
          </a:p>
          <a:p>
            <a:r>
              <a:rPr lang="en-US" dirty="0"/>
              <a:t>They arrive at the dashboard.</a:t>
            </a:r>
          </a:p>
          <a:p>
            <a:r>
              <a:rPr lang="en-US" dirty="0"/>
              <a:t>They create a task.</a:t>
            </a:r>
          </a:p>
          <a:p>
            <a:r>
              <a:rPr lang="en-US" dirty="0"/>
              <a:t>They update it.</a:t>
            </a:r>
          </a:p>
          <a:p>
            <a:r>
              <a:rPr lang="en-US" dirty="0"/>
              <a:t>They complete it.</a:t>
            </a:r>
          </a:p>
          <a:p>
            <a:r>
              <a:rPr lang="en-US" dirty="0"/>
              <a:t>The system persists the information.</a:t>
            </a:r>
          </a:p>
          <a:p>
            <a:r>
              <a:rPr lang="en-US" dirty="0"/>
              <a:t>The dashboard reflects the change.</a:t>
            </a:r>
          </a:p>
          <a:p>
            <a:r>
              <a:rPr lang="en-US" dirty="0"/>
              <a:t>That tells a story.</a:t>
            </a:r>
          </a:p>
          <a:p>
            <a:r>
              <a:rPr lang="en-US" dirty="0"/>
              <a:t>We're showing how the product helps the user accomplish something.”</a:t>
            </a:r>
          </a:p>
          <a:p>
            <a:br>
              <a:rPr lang="en-US" dirty="0"/>
            </a:br>
            <a:endParaRPr lang="en-US" dirty="0"/>
          </a:p>
          <a:p>
            <a:r>
              <a:rPr lang="en-US" b="1" dirty="0"/>
              <a:t>5. Impact &amp; Value</a:t>
            </a:r>
          </a:p>
          <a:p>
            <a:r>
              <a:rPr lang="en-US" dirty="0"/>
              <a:t>“After showing the solution, we explain why it matters.</a:t>
            </a:r>
          </a:p>
          <a:p>
            <a:r>
              <a:rPr lang="en-US" dirty="0"/>
              <a:t>What did Atlas improve?</a:t>
            </a:r>
          </a:p>
          <a:p>
            <a:r>
              <a:rPr lang="en-US" dirty="0"/>
              <a:t>What problem does it solve?</a:t>
            </a:r>
          </a:p>
          <a:p>
            <a:r>
              <a:rPr lang="en-US" dirty="0"/>
              <a:t>What time does it save?</a:t>
            </a:r>
          </a:p>
          <a:p>
            <a:r>
              <a:rPr lang="en-US" dirty="0"/>
              <a:t>What information does it organize?</a:t>
            </a:r>
          </a:p>
          <a:p>
            <a:r>
              <a:rPr lang="en-US" dirty="0"/>
              <a:t>What errors might it reduce?</a:t>
            </a:r>
          </a:p>
          <a:p>
            <a:r>
              <a:rPr lang="en-US" dirty="0"/>
              <a:t>What experience does it improve?</a:t>
            </a:r>
          </a:p>
          <a:p>
            <a:r>
              <a:rPr lang="en-US" dirty="0"/>
              <a:t>This is where we move from:</a:t>
            </a:r>
          </a:p>
          <a:p>
            <a:r>
              <a:rPr lang="en-US" dirty="0"/>
              <a:t>‘Here is what our software does.’</a:t>
            </a:r>
          </a:p>
          <a:p>
            <a:r>
              <a:rPr lang="en-US" dirty="0"/>
              <a:t>to:</a:t>
            </a:r>
          </a:p>
          <a:p>
            <a:r>
              <a:rPr lang="en-US" b="1" dirty="0"/>
              <a:t>‘Here is why our software matters.’</a:t>
            </a:r>
            <a:r>
              <a:rPr lang="en-US" dirty="0"/>
              <a:t>”</a:t>
            </a:r>
          </a:p>
          <a:p>
            <a:br>
              <a:rPr lang="en-US" dirty="0"/>
            </a:br>
            <a:endParaRPr lang="en-US" dirty="0"/>
          </a:p>
          <a:p>
            <a:r>
              <a:rPr lang="en-US" b="1" dirty="0"/>
              <a:t>6. Closing</a:t>
            </a:r>
          </a:p>
          <a:p>
            <a:r>
              <a:rPr lang="en-US" dirty="0"/>
              <a:t>“Finally, we bring the story together.</a:t>
            </a:r>
          </a:p>
          <a:p>
            <a:r>
              <a:rPr lang="en-US" dirty="0"/>
              <a:t>Summarize the problem.</a:t>
            </a:r>
          </a:p>
          <a:p>
            <a:r>
              <a:rPr lang="en-US" dirty="0"/>
              <a:t>Remind the audience of the solution.</a:t>
            </a:r>
          </a:p>
          <a:p>
            <a:r>
              <a:rPr lang="en-US" dirty="0"/>
              <a:t>Highlight the most important outcome.</a:t>
            </a:r>
          </a:p>
          <a:p>
            <a:r>
              <a:rPr lang="en-US" dirty="0"/>
              <a:t>Then tell them where Atlas could go next.</a:t>
            </a:r>
          </a:p>
          <a:p>
            <a:r>
              <a:rPr lang="en-US" dirty="0"/>
              <a:t>A strong closing gives the audience something to remember.”</a:t>
            </a:r>
          </a:p>
          <a:p>
            <a:br>
              <a:rPr lang="en-US" dirty="0"/>
            </a:br>
            <a:endParaRPr lang="en-US" dirty="0"/>
          </a:p>
          <a:p>
            <a:r>
              <a:rPr lang="en-US" b="1" dirty="0"/>
              <a:t>Demo Like a Professional</a:t>
            </a:r>
          </a:p>
          <a:p>
            <a:r>
              <a:rPr lang="en-US" dirty="0"/>
              <a:t>“The artifact gives us several practical rules.</a:t>
            </a:r>
          </a:p>
          <a:p>
            <a:r>
              <a:rPr lang="en-US" b="1" dirty="0"/>
              <a:t>Start from a known-good state.</a:t>
            </a:r>
          </a:p>
          <a:p>
            <a:r>
              <a:rPr lang="en-US" dirty="0"/>
              <a:t>Don't begin the demonstration with an application that's already halfway through a workflow.</a:t>
            </a:r>
          </a:p>
          <a:p>
            <a:r>
              <a:rPr lang="en-US" dirty="0"/>
              <a:t>Reset everything.</a:t>
            </a:r>
          </a:p>
          <a:p>
            <a:r>
              <a:rPr lang="en-US" dirty="0"/>
              <a:t>Know exactly where you're starting.</a:t>
            </a:r>
          </a:p>
          <a:p>
            <a:r>
              <a:rPr lang="en-US" b="1" dirty="0"/>
              <a:t>Narrate what you're doing.</a:t>
            </a:r>
          </a:p>
          <a:p>
            <a:r>
              <a:rPr lang="en-US" dirty="0"/>
              <a:t>Don't silently click through the interface.</a:t>
            </a:r>
          </a:p>
          <a:p>
            <a:r>
              <a:rPr lang="en-US" dirty="0"/>
              <a:t>Explain what you're doing and why.</a:t>
            </a:r>
          </a:p>
          <a:p>
            <a:r>
              <a:rPr lang="en-US" b="1" dirty="0"/>
              <a:t>Demonstrate the workflow.</a:t>
            </a:r>
          </a:p>
          <a:p>
            <a:r>
              <a:rPr lang="en-US" dirty="0"/>
              <a:t>Don't just show features individually.</a:t>
            </a:r>
          </a:p>
          <a:p>
            <a:r>
              <a:rPr lang="en-US" dirty="0"/>
              <a:t>Show how the features work together.</a:t>
            </a:r>
          </a:p>
          <a:p>
            <a:r>
              <a:rPr lang="en-US" b="1" dirty="0"/>
              <a:t>Show happy paths and important errors.</a:t>
            </a:r>
          </a:p>
          <a:p>
            <a:r>
              <a:rPr lang="en-US" dirty="0"/>
              <a:t>If validation is an important part of Atlas, demonstrate it.</a:t>
            </a:r>
          </a:p>
          <a:p>
            <a:r>
              <a:rPr lang="en-US" dirty="0"/>
              <a:t>If authentication matters, demonstrate it.</a:t>
            </a:r>
          </a:p>
          <a:p>
            <a:r>
              <a:rPr lang="en-US" dirty="0"/>
              <a:t>Show that the system behaves intelligently when something goes wrong.”</a:t>
            </a:r>
          </a:p>
          <a:p>
            <a:br>
              <a:rPr lang="en-US" dirty="0"/>
            </a:br>
            <a:endParaRPr lang="en-US" dirty="0"/>
          </a:p>
          <a:p>
            <a:r>
              <a:rPr lang="en-US" b="1" dirty="0"/>
              <a:t>Don't Just Click</a:t>
            </a:r>
          </a:p>
          <a:p>
            <a:r>
              <a:rPr lang="en-US" dirty="0"/>
              <a:t>“This is one of the biggest presentation mistakes students make.</a:t>
            </a:r>
          </a:p>
          <a:p>
            <a:r>
              <a:rPr lang="en-US" dirty="0"/>
              <a:t>They put the application on the screen and say:</a:t>
            </a:r>
          </a:p>
          <a:p>
            <a:r>
              <a:rPr lang="en-US" dirty="0"/>
              <a:t>‘Here's the dashboard.’</a:t>
            </a:r>
          </a:p>
          <a:p>
            <a:r>
              <a:rPr lang="en-US" dirty="0"/>
              <a:t>Click.</a:t>
            </a:r>
          </a:p>
          <a:p>
            <a:r>
              <a:rPr lang="en-US" dirty="0"/>
              <a:t>‘Here's the task page.’</a:t>
            </a:r>
          </a:p>
          <a:p>
            <a:r>
              <a:rPr lang="en-US" dirty="0"/>
              <a:t>Click.</a:t>
            </a:r>
          </a:p>
          <a:p>
            <a:r>
              <a:rPr lang="en-US" dirty="0"/>
              <a:t>‘Here's the project page.’</a:t>
            </a:r>
          </a:p>
          <a:p>
            <a:r>
              <a:rPr lang="en-US" dirty="0"/>
              <a:t>Click.</a:t>
            </a:r>
          </a:p>
          <a:p>
            <a:r>
              <a:rPr lang="en-US" dirty="0"/>
              <a:t>And suddenly ten minutes have passed.</a:t>
            </a:r>
          </a:p>
          <a:p>
            <a:r>
              <a:rPr lang="en-US" dirty="0"/>
              <a:t>That's not really a demonstration.</a:t>
            </a:r>
          </a:p>
          <a:p>
            <a:r>
              <a:rPr lang="en-US" dirty="0"/>
              <a:t>We're watching someone navigate a website.</a:t>
            </a:r>
          </a:p>
          <a:p>
            <a:r>
              <a:rPr lang="en-US" dirty="0"/>
              <a:t>Instead, tell us what we're seeing.</a:t>
            </a:r>
          </a:p>
          <a:p>
            <a:r>
              <a:rPr lang="en-US" dirty="0"/>
              <a:t>For example:</a:t>
            </a:r>
          </a:p>
          <a:p>
            <a:r>
              <a:rPr lang="en-US" dirty="0"/>
              <a:t>‘Imagine I'm a user who needs to organize today's work. I sign in and immediately see my current tasks on the dashboard. I'll create a new task, assign a priority, and save it.’</a:t>
            </a:r>
          </a:p>
          <a:p>
            <a:r>
              <a:rPr lang="en-US" dirty="0"/>
              <a:t>Now we're watching a </a:t>
            </a:r>
            <a:r>
              <a:rPr lang="en-US" b="1" dirty="0"/>
              <a:t>story</a:t>
            </a:r>
            <a:r>
              <a:rPr lang="en-US" dirty="0"/>
              <a:t>, not a tour.”</a:t>
            </a:r>
          </a:p>
          <a:p>
            <a:br>
              <a:rPr lang="en-US" dirty="0"/>
            </a:br>
            <a:endParaRPr lang="en-US" dirty="0"/>
          </a:p>
          <a:p>
            <a:r>
              <a:rPr lang="en-US" b="1" dirty="0"/>
              <a:t>Demonstrate the Why</a:t>
            </a:r>
          </a:p>
          <a:p>
            <a:r>
              <a:rPr lang="en-US" dirty="0"/>
              <a:t>“Every major part of the demonstration should answer:</a:t>
            </a:r>
          </a:p>
          <a:p>
            <a:r>
              <a:rPr lang="en-US" b="1" dirty="0"/>
              <a:t>Why does this matter?</a:t>
            </a:r>
            <a:endParaRPr lang="en-US" dirty="0"/>
          </a:p>
          <a:p>
            <a:r>
              <a:rPr lang="en-US" dirty="0"/>
              <a:t>If you show a dashboard, explain why the dashboard exists.</a:t>
            </a:r>
          </a:p>
          <a:p>
            <a:r>
              <a:rPr lang="en-US" dirty="0"/>
              <a:t>If you show task priorities, explain what problem priorities solve.</a:t>
            </a:r>
          </a:p>
          <a:p>
            <a:r>
              <a:rPr lang="en-US" dirty="0"/>
              <a:t>If you show persistence, explain why the user needs their information to remain available.</a:t>
            </a:r>
          </a:p>
          <a:p>
            <a:r>
              <a:rPr lang="en-US" dirty="0"/>
              <a:t>If you show authentication, explain why access control matters.</a:t>
            </a:r>
          </a:p>
          <a:p>
            <a:r>
              <a:rPr lang="en-US" dirty="0"/>
              <a:t>The audience should understand the engineering decision behind the feature.”</a:t>
            </a:r>
          </a:p>
          <a:p>
            <a:br>
              <a:rPr lang="en-US" dirty="0"/>
            </a:br>
            <a:endParaRPr lang="en-US" dirty="0"/>
          </a:p>
          <a:p>
            <a:r>
              <a:rPr lang="en-US" b="1" dirty="0"/>
              <a:t>Use Realistic Data</a:t>
            </a:r>
          </a:p>
          <a:p>
            <a:r>
              <a:rPr lang="en-US" dirty="0"/>
              <a:t>“Your demonstration data should look realistic.</a:t>
            </a:r>
          </a:p>
          <a:p>
            <a:r>
              <a:rPr lang="en-US" dirty="0"/>
              <a:t>Avoid things like:</a:t>
            </a:r>
          </a:p>
          <a:p>
            <a:r>
              <a:rPr lang="en-US" dirty="0"/>
              <a:t>Task 1</a:t>
            </a:r>
            <a:br>
              <a:rPr lang="en-US" dirty="0"/>
            </a:br>
            <a:r>
              <a:rPr lang="en-US" dirty="0"/>
              <a:t>Task 2</a:t>
            </a:r>
            <a:br>
              <a:rPr lang="en-US" dirty="0"/>
            </a:br>
            <a:r>
              <a:rPr lang="en-US" dirty="0"/>
              <a:t>Test</a:t>
            </a:r>
            <a:br>
              <a:rPr lang="en-US" dirty="0"/>
            </a:br>
            <a:r>
              <a:rPr lang="en-US" dirty="0"/>
              <a:t>Test2</a:t>
            </a:r>
            <a:br>
              <a:rPr lang="en-US" dirty="0"/>
            </a:br>
            <a:r>
              <a:rPr lang="en-US" dirty="0"/>
              <a:t>Bob</a:t>
            </a:r>
            <a:br>
              <a:rPr lang="en-US" dirty="0"/>
            </a:br>
            <a:r>
              <a:rPr lang="en-US" dirty="0" err="1"/>
              <a:t>abc</a:t>
            </a:r>
            <a:endParaRPr lang="en-US" dirty="0"/>
          </a:p>
          <a:p>
            <a:r>
              <a:rPr lang="en-US" dirty="0"/>
              <a:t>That makes the application feel like a classroom exercise.</a:t>
            </a:r>
          </a:p>
          <a:p>
            <a:r>
              <a:rPr lang="en-US" dirty="0"/>
              <a:t>Instead, use realistic examples that reflect the problem you're solving.</a:t>
            </a:r>
          </a:p>
          <a:p>
            <a:r>
              <a:rPr lang="en-US" dirty="0"/>
              <a:t>Good demonstration data makes the product feel real.”</a:t>
            </a:r>
          </a:p>
          <a:p>
            <a:br>
              <a:rPr lang="en-US" dirty="0"/>
            </a:br>
            <a:endParaRPr lang="en-US" dirty="0"/>
          </a:p>
          <a:p>
            <a:r>
              <a:rPr lang="en-US" b="1" dirty="0"/>
              <a:t>Practice the Flow</a:t>
            </a:r>
          </a:p>
          <a:p>
            <a:r>
              <a:rPr lang="en-US" dirty="0"/>
              <a:t>“Professional demonstrations are rehearsed.</a:t>
            </a:r>
          </a:p>
          <a:p>
            <a:r>
              <a:rPr lang="en-US" dirty="0"/>
              <a:t>That doesn't mean memorizing every word.</a:t>
            </a:r>
          </a:p>
          <a:p>
            <a:r>
              <a:rPr lang="en-US" dirty="0"/>
              <a:t>It means knowing:</a:t>
            </a:r>
          </a:p>
          <a:p>
            <a:pPr lvl="0"/>
            <a:r>
              <a:rPr lang="en-US" dirty="0"/>
              <a:t>where you're going,</a:t>
            </a:r>
          </a:p>
          <a:p>
            <a:pPr lvl="0"/>
            <a:r>
              <a:rPr lang="en-US" dirty="0"/>
              <a:t>what you're demonstrating,</a:t>
            </a:r>
          </a:p>
          <a:p>
            <a:pPr lvl="0"/>
            <a:r>
              <a:rPr lang="en-US" dirty="0"/>
              <a:t>what you want to say,</a:t>
            </a:r>
          </a:p>
          <a:p>
            <a:pPr lvl="0"/>
            <a:r>
              <a:rPr lang="en-US" dirty="0"/>
              <a:t>and how long each section should take.</a:t>
            </a:r>
          </a:p>
          <a:p>
            <a:r>
              <a:rPr lang="en-US" dirty="0"/>
              <a:t>Practice the workflow.</a:t>
            </a:r>
          </a:p>
          <a:p>
            <a:r>
              <a:rPr lang="en-US" dirty="0"/>
              <a:t>Practice the transitions.</a:t>
            </a:r>
          </a:p>
          <a:p>
            <a:r>
              <a:rPr lang="en-US" dirty="0"/>
              <a:t>Practice the timing.</a:t>
            </a:r>
          </a:p>
          <a:p>
            <a:r>
              <a:rPr lang="en-US" dirty="0"/>
              <a:t>And most importantly:</a:t>
            </a:r>
          </a:p>
          <a:p>
            <a:r>
              <a:rPr lang="en-US" b="1" dirty="0"/>
              <a:t>Practice the technology.</a:t>
            </a:r>
            <a:endParaRPr lang="en-US" dirty="0"/>
          </a:p>
          <a:p>
            <a:r>
              <a:rPr lang="en-US" dirty="0"/>
              <a:t>Don't discover during the presentation that the application isn't running.”</a:t>
            </a:r>
          </a:p>
          <a:p>
            <a:br>
              <a:rPr lang="en-US" dirty="0"/>
            </a:br>
            <a:endParaRPr lang="en-US" dirty="0"/>
          </a:p>
          <a:p>
            <a:r>
              <a:rPr lang="en-US" b="1" dirty="0"/>
              <a:t>Have a Backup Plan</a:t>
            </a:r>
          </a:p>
          <a:p>
            <a:r>
              <a:rPr lang="en-US" dirty="0"/>
              <a:t>“Technology can fail.</a:t>
            </a:r>
          </a:p>
          <a:p>
            <a:r>
              <a:rPr lang="en-US" dirty="0"/>
              <a:t>The network can fail.</a:t>
            </a:r>
          </a:p>
          <a:p>
            <a:r>
              <a:rPr lang="en-US" dirty="0"/>
              <a:t>Azure can have a problem.</a:t>
            </a:r>
          </a:p>
          <a:p>
            <a:r>
              <a:rPr lang="en-US" dirty="0"/>
              <a:t>A database can refuse a connection.</a:t>
            </a:r>
          </a:p>
          <a:p>
            <a:r>
              <a:rPr lang="en-US" dirty="0"/>
              <a:t>A laptop can stop cooperating.</a:t>
            </a:r>
          </a:p>
          <a:p>
            <a:r>
              <a:rPr lang="en-US" dirty="0"/>
              <a:t>That's why professional presenters have a backup plan.</a:t>
            </a:r>
          </a:p>
          <a:p>
            <a:r>
              <a:rPr lang="en-US" dirty="0"/>
              <a:t>Have screenshots.</a:t>
            </a:r>
          </a:p>
          <a:p>
            <a:r>
              <a:rPr lang="en-US" dirty="0"/>
              <a:t>Have a recorded demonstration.</a:t>
            </a:r>
          </a:p>
          <a:p>
            <a:r>
              <a:rPr lang="en-US" dirty="0"/>
              <a:t>Have representative data.</a:t>
            </a:r>
          </a:p>
          <a:p>
            <a:r>
              <a:rPr lang="en-US" dirty="0"/>
              <a:t>Know how to explain the system without the live application if necessary.</a:t>
            </a:r>
          </a:p>
          <a:p>
            <a:r>
              <a:rPr lang="en-US" dirty="0"/>
              <a:t>A backup plan doesn't mean we expect failure.</a:t>
            </a:r>
          </a:p>
          <a:p>
            <a:r>
              <a:rPr lang="en-US" dirty="0"/>
              <a:t>It means we're prepared for it.”</a:t>
            </a:r>
          </a:p>
          <a:p>
            <a:br>
              <a:rPr lang="en-US" dirty="0"/>
            </a:br>
            <a:endParaRPr lang="en-US" dirty="0"/>
          </a:p>
          <a:p>
            <a:r>
              <a:rPr lang="en-US" b="1" dirty="0"/>
              <a:t>The Presentation Checklist</a:t>
            </a:r>
          </a:p>
          <a:p>
            <a:r>
              <a:rPr lang="en-US" dirty="0"/>
              <a:t>“Before presenting, verify the checklist.</a:t>
            </a:r>
          </a:p>
          <a:p>
            <a:r>
              <a:rPr lang="en-US" dirty="0"/>
              <a:t>Do you know your audience?</a:t>
            </a:r>
          </a:p>
          <a:p>
            <a:r>
              <a:rPr lang="en-US" dirty="0"/>
              <a:t>Is the purpose clear?</a:t>
            </a:r>
          </a:p>
          <a:p>
            <a:r>
              <a:rPr lang="en-US" dirty="0"/>
              <a:t>Does the presentation have a logical structure?</a:t>
            </a:r>
          </a:p>
          <a:p>
            <a:r>
              <a:rPr lang="en-US" dirty="0"/>
              <a:t>Have you practiced?</a:t>
            </a:r>
          </a:p>
          <a:p>
            <a:r>
              <a:rPr lang="en-US" dirty="0"/>
              <a:t>Can you demonstrate the important workflows?</a:t>
            </a:r>
          </a:p>
          <a:p>
            <a:r>
              <a:rPr lang="en-US" dirty="0"/>
              <a:t>Have you explained the problem?</a:t>
            </a:r>
          </a:p>
          <a:p>
            <a:r>
              <a:rPr lang="en-US" dirty="0"/>
              <a:t>Have you explained the solution?</a:t>
            </a:r>
          </a:p>
          <a:p>
            <a:r>
              <a:rPr lang="en-US" dirty="0"/>
              <a:t>Have you explained the value?</a:t>
            </a:r>
          </a:p>
          <a:p>
            <a:r>
              <a:rPr lang="en-US" dirty="0"/>
              <a:t>Have you tested the technology?</a:t>
            </a:r>
          </a:p>
          <a:p>
            <a:r>
              <a:rPr lang="en-US" dirty="0"/>
              <a:t>Are you prepared for questions?</a:t>
            </a:r>
          </a:p>
          <a:p>
            <a:r>
              <a:rPr lang="en-US" dirty="0"/>
              <a:t>Do you have a backup plan?</a:t>
            </a:r>
          </a:p>
          <a:p>
            <a:r>
              <a:rPr lang="en-US" dirty="0"/>
              <a:t>Can you finish within the allotted time?</a:t>
            </a:r>
          </a:p>
          <a:p>
            <a:r>
              <a:rPr lang="en-US" dirty="0"/>
              <a:t>And do you have a strong closing?”</a:t>
            </a:r>
          </a:p>
          <a:p>
            <a:br>
              <a:rPr lang="en-US" dirty="0"/>
            </a:br>
            <a:endParaRPr lang="en-US" dirty="0"/>
          </a:p>
          <a:p>
            <a:r>
              <a:rPr lang="en-US" b="1" dirty="0"/>
              <a:t>Common Presentation Mistakes</a:t>
            </a:r>
          </a:p>
          <a:p>
            <a:r>
              <a:rPr lang="en-US" dirty="0"/>
              <a:t>“Let's talk about what we don't want to do.</a:t>
            </a:r>
          </a:p>
          <a:p>
            <a:r>
              <a:rPr lang="en-US" b="1" dirty="0"/>
              <a:t>Reading slides word-for-word</a:t>
            </a:r>
          </a:p>
          <a:p>
            <a:r>
              <a:rPr lang="en-US" dirty="0"/>
              <a:t>The audience can read.</a:t>
            </a:r>
          </a:p>
          <a:p>
            <a:r>
              <a:rPr lang="en-US" dirty="0"/>
              <a:t>Your job is to explain.</a:t>
            </a:r>
          </a:p>
          <a:p>
            <a:r>
              <a:rPr lang="en-US" b="1" dirty="0"/>
              <a:t>Too much text</a:t>
            </a:r>
          </a:p>
          <a:p>
            <a:r>
              <a:rPr lang="en-US" dirty="0"/>
              <a:t>The presentation should support your explanation, not replace it.</a:t>
            </a:r>
          </a:p>
          <a:p>
            <a:r>
              <a:rPr lang="en-US" b="1" dirty="0"/>
              <a:t>Weak structure</a:t>
            </a:r>
          </a:p>
          <a:p>
            <a:r>
              <a:rPr lang="en-US" dirty="0"/>
              <a:t>If we can't follow the story, we won't remember it.</a:t>
            </a:r>
          </a:p>
          <a:p>
            <a:r>
              <a:rPr lang="en-US" b="1" dirty="0"/>
              <a:t>Ignoring the why</a:t>
            </a:r>
          </a:p>
          <a:p>
            <a:r>
              <a:rPr lang="en-US" dirty="0"/>
              <a:t>Don't just tell us what you built.</a:t>
            </a:r>
          </a:p>
          <a:p>
            <a:r>
              <a:rPr lang="en-US" dirty="0"/>
              <a:t>Tell us why you built it.</a:t>
            </a:r>
          </a:p>
          <a:p>
            <a:r>
              <a:rPr lang="en-US" b="1" dirty="0"/>
              <a:t>Too much technical detail</a:t>
            </a:r>
          </a:p>
          <a:p>
            <a:r>
              <a:rPr lang="en-US" dirty="0"/>
              <a:t>Technical information matters, but it should serve the story.</a:t>
            </a:r>
          </a:p>
          <a:p>
            <a:r>
              <a:rPr lang="en-US" b="1" dirty="0"/>
              <a:t>Ignoring time limits</a:t>
            </a:r>
          </a:p>
          <a:p>
            <a:r>
              <a:rPr lang="en-US" dirty="0"/>
              <a:t>A great presentation that runs 20 minutes over its limit isn't a great presentation.</a:t>
            </a:r>
          </a:p>
          <a:p>
            <a:r>
              <a:rPr lang="en-US" b="1" dirty="0"/>
              <a:t>Not testing beforehand</a:t>
            </a:r>
          </a:p>
          <a:p>
            <a:r>
              <a:rPr lang="en-US" dirty="0"/>
              <a:t>Never assume the demo will work because it worked yesterday.</a:t>
            </a:r>
          </a:p>
          <a:p>
            <a:r>
              <a:rPr lang="en-US" b="1" dirty="0"/>
              <a:t>No clear takeaway</a:t>
            </a:r>
          </a:p>
          <a:p>
            <a:r>
              <a:rPr lang="en-US" dirty="0"/>
              <a:t>The audience should know what they are supposed to remember.”</a:t>
            </a:r>
          </a:p>
          <a:p>
            <a:br>
              <a:rPr lang="en-US" dirty="0"/>
            </a:br>
            <a:endParaRPr lang="en-US" dirty="0"/>
          </a:p>
          <a:p>
            <a:r>
              <a:rPr lang="en-US" b="1" dirty="0"/>
              <a:t>Handling Questions</a:t>
            </a:r>
          </a:p>
          <a:p>
            <a:r>
              <a:rPr lang="en-US" dirty="0"/>
              <a:t>“Questions are part of the demonstration.</a:t>
            </a:r>
          </a:p>
          <a:p>
            <a:r>
              <a:rPr lang="en-US" dirty="0"/>
              <a:t>When someone asks a question, don't immediately start talking.</a:t>
            </a:r>
          </a:p>
          <a:p>
            <a:r>
              <a:rPr lang="en-US" dirty="0"/>
              <a:t>First, </a:t>
            </a:r>
            <a:r>
              <a:rPr lang="en-US" b="1" dirty="0"/>
              <a:t>listen to the entire question</a:t>
            </a:r>
            <a:r>
              <a:rPr lang="en-US" dirty="0"/>
              <a:t>.</a:t>
            </a:r>
          </a:p>
          <a:p>
            <a:r>
              <a:rPr lang="en-US" dirty="0"/>
              <a:t>Then answer clearly.</a:t>
            </a:r>
          </a:p>
          <a:p>
            <a:r>
              <a:rPr lang="en-US" dirty="0"/>
              <a:t>If you don't know the answer, it's okay to say:</a:t>
            </a:r>
          </a:p>
          <a:p>
            <a:r>
              <a:rPr lang="en-US" dirty="0"/>
              <a:t>‘I don't know, but I would investigate that by...’</a:t>
            </a:r>
          </a:p>
          <a:p>
            <a:r>
              <a:rPr lang="en-US" dirty="0"/>
              <a:t>That's much better than making something up.</a:t>
            </a:r>
          </a:p>
          <a:p>
            <a:r>
              <a:rPr lang="en-US" dirty="0"/>
              <a:t>And sometimes a question reveals an opportunity.</a:t>
            </a:r>
          </a:p>
          <a:p>
            <a:r>
              <a:rPr lang="en-US" dirty="0"/>
              <a:t>It might point to something we should improve in Version 2.0.”</a:t>
            </a:r>
          </a:p>
          <a:p>
            <a:br>
              <a:rPr lang="en-US" dirty="0"/>
            </a:br>
            <a:endParaRPr lang="en-US" dirty="0"/>
          </a:p>
          <a:p>
            <a:r>
              <a:rPr lang="en-US" b="1" dirty="0"/>
              <a:t>Technical Questions</a:t>
            </a:r>
          </a:p>
          <a:p>
            <a:r>
              <a:rPr lang="en-US" dirty="0"/>
              <a:t>“You may receive technical questions.</a:t>
            </a:r>
          </a:p>
          <a:p>
            <a:r>
              <a:rPr lang="en-US" dirty="0"/>
              <a:t>For example:</a:t>
            </a:r>
          </a:p>
          <a:p>
            <a:r>
              <a:rPr lang="en-US" dirty="0"/>
              <a:t>Why did you choose this architecture?</a:t>
            </a:r>
          </a:p>
          <a:p>
            <a:r>
              <a:rPr lang="en-US" dirty="0"/>
              <a:t>Why did you use Entity Framework Core?</a:t>
            </a:r>
          </a:p>
          <a:p>
            <a:r>
              <a:rPr lang="en-US" dirty="0"/>
              <a:t>How does authentication work?</a:t>
            </a:r>
          </a:p>
          <a:p>
            <a:r>
              <a:rPr lang="en-US" dirty="0"/>
              <a:t>How is the database structured?</a:t>
            </a:r>
          </a:p>
          <a:p>
            <a:r>
              <a:rPr lang="en-US" dirty="0"/>
              <a:t>How did you deploy the application?</a:t>
            </a:r>
          </a:p>
          <a:p>
            <a:r>
              <a:rPr lang="en-US" dirty="0"/>
              <a:t>How would you scale it?</a:t>
            </a:r>
          </a:p>
          <a:p>
            <a:r>
              <a:rPr lang="en-US" dirty="0"/>
              <a:t>These questions are valuable because they allow you to demonstrate your engineering thinking.</a:t>
            </a:r>
          </a:p>
          <a:p>
            <a:r>
              <a:rPr lang="en-US" dirty="0"/>
              <a:t>Don't just tell us what technology you used.</a:t>
            </a:r>
          </a:p>
          <a:p>
            <a:r>
              <a:rPr lang="en-US" dirty="0"/>
              <a:t>Explain </a:t>
            </a:r>
            <a:r>
              <a:rPr lang="en-US" b="1" dirty="0"/>
              <a:t>why you used it</a:t>
            </a:r>
            <a:r>
              <a:rPr lang="en-US" dirty="0"/>
              <a:t>.”</a:t>
            </a:r>
          </a:p>
          <a:p>
            <a:br>
              <a:rPr lang="en-US" dirty="0"/>
            </a:br>
            <a:endParaRPr lang="en-US" dirty="0"/>
          </a:p>
          <a:p>
            <a:r>
              <a:rPr lang="en-US" b="1" dirty="0"/>
              <a:t>The Audience Is Not the Enemy</a:t>
            </a:r>
          </a:p>
          <a:p>
            <a:r>
              <a:rPr lang="en-US" dirty="0"/>
              <a:t>“Sometimes students become nervous during presentations because they think the audience is looking for mistakes.</a:t>
            </a:r>
          </a:p>
          <a:p>
            <a:r>
              <a:rPr lang="en-US" dirty="0"/>
              <a:t>Instead, think about the audience as people you're inviting into the project.</a:t>
            </a:r>
          </a:p>
          <a:p>
            <a:r>
              <a:rPr lang="en-US" dirty="0"/>
              <a:t>You're saying:</a:t>
            </a:r>
          </a:p>
          <a:p>
            <a:r>
              <a:rPr lang="en-US" dirty="0"/>
              <a:t>‘We built this. Here's the problem. Here's how we approached it. Here's what we learned. Here's what we created.’</a:t>
            </a:r>
          </a:p>
          <a:p>
            <a:r>
              <a:rPr lang="en-US" dirty="0"/>
              <a:t>Confidence comes from preparation.</a:t>
            </a:r>
          </a:p>
          <a:p>
            <a:r>
              <a:rPr lang="en-US" dirty="0"/>
              <a:t>You don't have to know everything.</a:t>
            </a:r>
          </a:p>
          <a:p>
            <a:r>
              <a:rPr lang="en-US" dirty="0"/>
              <a:t>You need to understand what you built and be able to explain your decisions.”</a:t>
            </a:r>
          </a:p>
          <a:p>
            <a:br>
              <a:rPr lang="en-US" dirty="0"/>
            </a:br>
            <a:endParaRPr lang="en-US" dirty="0"/>
          </a:p>
          <a:p>
            <a:r>
              <a:rPr lang="en-US" b="1" dirty="0"/>
              <a:t>The Presentation Journey</a:t>
            </a:r>
          </a:p>
          <a:p>
            <a:r>
              <a:rPr lang="en-US" dirty="0"/>
              <a:t>“The journey at the bottom gives us the process:</a:t>
            </a:r>
          </a:p>
          <a:p>
            <a:r>
              <a:rPr lang="en-US" b="1" dirty="0"/>
              <a:t>Plan → Outline → Practice → Prepare → Present → Engage → Impact → Improve</a:t>
            </a:r>
            <a:endParaRPr lang="en-US" dirty="0"/>
          </a:p>
          <a:p>
            <a:r>
              <a:rPr lang="en-US" dirty="0"/>
              <a:t>Notice that presentation doesn't end when you finish speaking.</a:t>
            </a:r>
          </a:p>
          <a:p>
            <a:r>
              <a:rPr lang="en-US" dirty="0"/>
              <a:t>Listen to the questions.</a:t>
            </a:r>
          </a:p>
          <a:p>
            <a:r>
              <a:rPr lang="en-US" dirty="0"/>
              <a:t>Collect feedback.</a:t>
            </a:r>
          </a:p>
          <a:p>
            <a:r>
              <a:rPr lang="en-US" dirty="0"/>
              <a:t>Think about what worked.</a:t>
            </a:r>
          </a:p>
          <a:p>
            <a:r>
              <a:rPr lang="en-US" dirty="0"/>
              <a:t>Think about what didn't.</a:t>
            </a:r>
          </a:p>
          <a:p>
            <a:r>
              <a:rPr lang="en-US" dirty="0"/>
              <a:t>And use that information to improve the next presentation.”</a:t>
            </a:r>
          </a:p>
          <a:p>
            <a:br>
              <a:rPr lang="en-US" dirty="0"/>
            </a:br>
            <a:endParaRPr lang="en-US" dirty="0"/>
          </a:p>
          <a:p>
            <a:r>
              <a:rPr lang="en-US" b="1" dirty="0"/>
              <a:t>Communication Is an Engineering Skill</a:t>
            </a:r>
          </a:p>
          <a:p>
            <a:r>
              <a:rPr lang="en-US" dirty="0"/>
              <a:t>“This is an important lesson beyond Atlas.</a:t>
            </a:r>
          </a:p>
          <a:p>
            <a:r>
              <a:rPr lang="en-US" dirty="0"/>
              <a:t>You can be the best programmer in the room and still struggle professionally if you can't explain your work.</a:t>
            </a:r>
          </a:p>
          <a:p>
            <a:r>
              <a:rPr lang="en-US" dirty="0"/>
              <a:t>Software engineers communicate constantly.</a:t>
            </a:r>
          </a:p>
          <a:p>
            <a:r>
              <a:rPr lang="en-US" dirty="0"/>
              <a:t>They explain architecture.</a:t>
            </a:r>
          </a:p>
          <a:p>
            <a:r>
              <a:rPr lang="en-US" dirty="0"/>
              <a:t>They write documentation.</a:t>
            </a:r>
          </a:p>
          <a:p>
            <a:r>
              <a:rPr lang="en-US" dirty="0"/>
              <a:t>They defend design decisions.</a:t>
            </a:r>
          </a:p>
          <a:p>
            <a:r>
              <a:rPr lang="en-US" dirty="0"/>
              <a:t>They explain problems.</a:t>
            </a:r>
          </a:p>
          <a:p>
            <a:r>
              <a:rPr lang="en-US" dirty="0"/>
              <a:t>They communicate with users.</a:t>
            </a:r>
          </a:p>
          <a:p>
            <a:r>
              <a:rPr lang="en-US" dirty="0"/>
              <a:t>They present solutions.</a:t>
            </a:r>
          </a:p>
          <a:p>
            <a:r>
              <a:rPr lang="en-US" dirty="0"/>
              <a:t>So communication isn't separate from engineering.</a:t>
            </a:r>
          </a:p>
          <a:p>
            <a:r>
              <a:rPr lang="en-US" b="1" dirty="0"/>
              <a:t>Communication is part of engineering.</a:t>
            </a:r>
            <a:r>
              <a:rPr lang="en-US" dirty="0"/>
              <a:t>”</a:t>
            </a:r>
          </a:p>
          <a:p>
            <a:br>
              <a:rPr lang="en-US" dirty="0"/>
            </a:br>
            <a:endParaRPr lang="en-US" dirty="0"/>
          </a:p>
          <a:p>
            <a:r>
              <a:rPr lang="en-US" b="1" dirty="0"/>
              <a:t>The Bigger Picture</a:t>
            </a:r>
          </a:p>
          <a:p>
            <a:r>
              <a:rPr lang="en-US" dirty="0"/>
              <a:t>“Think about what we've done.</a:t>
            </a:r>
          </a:p>
          <a:p>
            <a:r>
              <a:rPr lang="en-US" dirty="0"/>
              <a:t>We started with an idea.</a:t>
            </a:r>
          </a:p>
          <a:p>
            <a:r>
              <a:rPr lang="en-US" dirty="0"/>
              <a:t>We turned that idea into requirements.</a:t>
            </a:r>
          </a:p>
          <a:p>
            <a:r>
              <a:rPr lang="en-US" dirty="0"/>
              <a:t>We designed the product.</a:t>
            </a:r>
          </a:p>
          <a:p>
            <a:r>
              <a:rPr lang="en-US" dirty="0"/>
              <a:t>We built it.</a:t>
            </a:r>
          </a:p>
          <a:p>
            <a:r>
              <a:rPr lang="en-US" dirty="0"/>
              <a:t>We gave it persistence.</a:t>
            </a:r>
          </a:p>
          <a:p>
            <a:r>
              <a:rPr lang="en-US" dirty="0"/>
              <a:t>We protected it.</a:t>
            </a:r>
          </a:p>
          <a:p>
            <a:r>
              <a:rPr lang="en-US" dirty="0"/>
              <a:t>We prepared it.</a:t>
            </a:r>
          </a:p>
          <a:p>
            <a:r>
              <a:rPr lang="en-US" dirty="0"/>
              <a:t>We released it.</a:t>
            </a:r>
          </a:p>
          <a:p>
            <a:r>
              <a:rPr lang="en-US" dirty="0"/>
              <a:t>And now we're telling the story of what we accomplished.</a:t>
            </a:r>
          </a:p>
          <a:p>
            <a:r>
              <a:rPr lang="en-US" dirty="0"/>
              <a:t>That's the complete engineering journey.”</a:t>
            </a:r>
          </a:p>
          <a:p>
            <a:br>
              <a:rPr lang="en-US" dirty="0"/>
            </a:br>
            <a:endParaRPr lang="en-US" dirty="0"/>
          </a:p>
          <a:p>
            <a:r>
              <a:rPr lang="en-US" b="1" dirty="0"/>
              <a:t>Closing</a:t>
            </a:r>
          </a:p>
          <a:p>
            <a:r>
              <a:rPr lang="en-US" dirty="0"/>
              <a:t>“A great product deserves a great demonstration.</a:t>
            </a:r>
          </a:p>
          <a:p>
            <a:r>
              <a:rPr lang="en-US" dirty="0"/>
              <a:t>Not because we're trying to impress people.</a:t>
            </a:r>
          </a:p>
          <a:p>
            <a:r>
              <a:rPr lang="en-US" dirty="0"/>
              <a:t>Because we want people to understand the value of the work we've done.</a:t>
            </a:r>
          </a:p>
          <a:p>
            <a:r>
              <a:rPr lang="en-US" dirty="0"/>
              <a:t>Our goal is to leave the audience thinking:</a:t>
            </a:r>
          </a:p>
          <a:p>
            <a:r>
              <a:rPr lang="en-US" b="1" dirty="0"/>
              <a:t>I understand the problem.</a:t>
            </a:r>
            <a:endParaRPr lang="en-US" dirty="0"/>
          </a:p>
          <a:p>
            <a:r>
              <a:rPr lang="en-US" b="1" dirty="0"/>
              <a:t>I understand the solution.</a:t>
            </a:r>
            <a:endParaRPr lang="en-US" dirty="0"/>
          </a:p>
          <a:p>
            <a:r>
              <a:rPr lang="en-US" b="1" dirty="0"/>
              <a:t>I understand why it matters.</a:t>
            </a:r>
            <a:endParaRPr lang="en-US" dirty="0"/>
          </a:p>
          <a:p>
            <a:r>
              <a:rPr lang="en-US" dirty="0"/>
              <a:t>And:</a:t>
            </a:r>
          </a:p>
          <a:p>
            <a:r>
              <a:rPr lang="en-US" b="1" dirty="0"/>
              <a:t>I can see where this could go next.</a:t>
            </a:r>
            <a:endParaRPr lang="en-US" dirty="0"/>
          </a:p>
          <a:p>
            <a:r>
              <a:rPr lang="en-US" dirty="0"/>
              <a:t>So remember:</a:t>
            </a:r>
          </a:p>
          <a:p>
            <a:r>
              <a:rPr lang="en-US" b="1" dirty="0"/>
              <a:t>Show the value. Tell the story. Inspire confidence.</a:t>
            </a:r>
            <a:endParaRPr lang="en-US" dirty="0"/>
          </a:p>
          <a:p>
            <a:r>
              <a:rPr lang="en-US" dirty="0"/>
              <a:t>We don't just build great software.</a:t>
            </a:r>
          </a:p>
          <a:p>
            <a:r>
              <a:rPr lang="en-US" b="1" dirty="0"/>
              <a:t>We communicate the value we create.</a:t>
            </a:r>
            <a:r>
              <a:rPr lang="en-US" dirty="0"/>
              <a:t>”</a:t>
            </a:r>
          </a:p>
          <a:p>
            <a:r>
              <a:rPr lang="en-US" b="1" dirty="0"/>
              <a:t>Transition</a:t>
            </a:r>
          </a:p>
          <a:p>
            <a:r>
              <a:rPr lang="en-US" dirty="0"/>
              <a:t>“Now that we know how to demonstrate Atlas, the next question is whether we can clearly communicate what we learned from building it.</a:t>
            </a:r>
          </a:p>
          <a:p>
            <a:r>
              <a:rPr lang="en-US" dirty="0"/>
              <a:t>That's where we move from demonstration into </a:t>
            </a:r>
            <a:r>
              <a:rPr lang="en-US" b="1" dirty="0"/>
              <a:t>product evaluation</a:t>
            </a:r>
            <a:r>
              <a:rPr lang="en-US" dirty="0"/>
              <a:t>.”</a:t>
            </a:r>
          </a:p>
          <a:p>
            <a:endParaRPr lang="en-US" dirty="0"/>
          </a:p>
        </p:txBody>
      </p:sp>
      <p:sp>
        <p:nvSpPr>
          <p:cNvPr id="4" name="Slide Number Placeholder 3"/>
          <p:cNvSpPr>
            <a:spLocks noGrp="1"/>
          </p:cNvSpPr>
          <p:nvPr>
            <p:ph type="sldNum" sz="quarter" idx="5"/>
          </p:nvPr>
        </p:nvSpPr>
        <p:spPr/>
        <p:txBody>
          <a:bodyPr/>
          <a:lstStyle/>
          <a:p>
            <a:fld id="{5FDF263D-5665-4A7C-828E-8E913E9FBDB3}" type="slidenum">
              <a:rPr lang="en-US" smtClean="0"/>
              <a:t>7</a:t>
            </a:fld>
            <a:endParaRPr lang="en-US"/>
          </a:p>
        </p:txBody>
      </p:sp>
    </p:spTree>
    <p:extLst>
      <p:ext uri="{BB962C8B-B14F-4D97-AF65-F5344CB8AC3E}">
        <p14:creationId xmlns:p14="http://schemas.microsoft.com/office/powerpoint/2010/main" val="16924958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 — Evaluate the Product</a:t>
            </a:r>
          </a:p>
          <a:p>
            <a:r>
              <a:rPr lang="en-US" b="1" dirty="0"/>
              <a:t>Opening</a:t>
            </a:r>
          </a:p>
          <a:p>
            <a:r>
              <a:rPr lang="en-US" dirty="0"/>
              <a:t>“We've now tested Atlas.</a:t>
            </a:r>
          </a:p>
          <a:p>
            <a:r>
              <a:rPr lang="en-US" dirty="0"/>
              <a:t>We've fixed the important problems.</a:t>
            </a:r>
          </a:p>
          <a:p>
            <a:r>
              <a:rPr lang="en-US" dirty="0"/>
              <a:t>We've polished the product.</a:t>
            </a:r>
          </a:p>
          <a:p>
            <a:r>
              <a:rPr lang="en-US" dirty="0"/>
              <a:t>We've deployed it.</a:t>
            </a:r>
          </a:p>
          <a:p>
            <a:r>
              <a:rPr lang="en-US" dirty="0"/>
              <a:t>We've documented it.</a:t>
            </a:r>
          </a:p>
          <a:p>
            <a:r>
              <a:rPr lang="en-US" dirty="0"/>
              <a:t>We've demonstrated it.</a:t>
            </a:r>
          </a:p>
          <a:p>
            <a:r>
              <a:rPr lang="en-US" dirty="0"/>
              <a:t>Now we need to answer one of the most important questions in the entire project:</a:t>
            </a:r>
          </a:p>
          <a:p>
            <a:r>
              <a:rPr lang="en-US" b="1" dirty="0"/>
              <a:t>Did we actually build the right thing?</a:t>
            </a:r>
            <a:endParaRPr lang="en-US" dirty="0"/>
          </a:p>
          <a:p>
            <a:r>
              <a:rPr lang="en-US" dirty="0"/>
              <a:t>That's what </a:t>
            </a:r>
            <a:r>
              <a:rPr lang="en-US" b="1" dirty="0"/>
              <a:t>Evaluate the Product</a:t>
            </a:r>
            <a:r>
              <a:rPr lang="en-US" dirty="0"/>
              <a:t> is about.</a:t>
            </a:r>
          </a:p>
          <a:p>
            <a:r>
              <a:rPr lang="en-US" dirty="0"/>
              <a:t>Evaluation moves us beyond:</a:t>
            </a:r>
          </a:p>
          <a:p>
            <a:r>
              <a:rPr lang="en-US" dirty="0"/>
              <a:t>‘Does the software work?’</a:t>
            </a:r>
          </a:p>
          <a:p>
            <a:r>
              <a:rPr lang="en-US" dirty="0"/>
              <a:t>and toward:</a:t>
            </a:r>
          </a:p>
          <a:p>
            <a:r>
              <a:rPr lang="en-US" b="1" dirty="0"/>
              <a:t>‘Does the software actually create the value we intended?’</a:t>
            </a:r>
            <a:r>
              <a:rPr lang="en-US" dirty="0"/>
              <a:t>”</a:t>
            </a:r>
          </a:p>
          <a:p>
            <a:br>
              <a:rPr lang="en-US" dirty="0"/>
            </a:br>
            <a:endParaRPr lang="en-US" dirty="0"/>
          </a:p>
          <a:p>
            <a:r>
              <a:rPr lang="en-US" b="1" dirty="0"/>
              <a:t>Why Evaluate?</a:t>
            </a:r>
          </a:p>
          <a:p>
            <a:r>
              <a:rPr lang="en-US" dirty="0"/>
              <a:t>“Think back to Sprint 1.</a:t>
            </a:r>
          </a:p>
          <a:p>
            <a:r>
              <a:rPr lang="en-US" dirty="0"/>
              <a:t>We started with a problem.</a:t>
            </a:r>
          </a:p>
          <a:p>
            <a:r>
              <a:rPr lang="en-US" dirty="0"/>
              <a:t>We identified users.</a:t>
            </a:r>
          </a:p>
          <a:p>
            <a:r>
              <a:rPr lang="en-US" dirty="0"/>
              <a:t>We developed a vision.</a:t>
            </a:r>
          </a:p>
          <a:p>
            <a:r>
              <a:rPr lang="en-US" dirty="0"/>
              <a:t>We established goals.</a:t>
            </a:r>
          </a:p>
          <a:p>
            <a:r>
              <a:rPr lang="en-US" dirty="0"/>
              <a:t>We created requirements.</a:t>
            </a:r>
          </a:p>
          <a:p>
            <a:r>
              <a:rPr lang="en-US" dirty="0"/>
              <a:t>We designed Atlas around those goals.</a:t>
            </a:r>
          </a:p>
          <a:p>
            <a:r>
              <a:rPr lang="en-US" dirty="0"/>
              <a:t>Now we need to close the loop.</a:t>
            </a:r>
          </a:p>
          <a:p>
            <a:r>
              <a:rPr lang="en-US" dirty="0"/>
              <a:t>Did we accomplish what we originally said we were going to accomplish?</a:t>
            </a:r>
          </a:p>
          <a:p>
            <a:r>
              <a:rPr lang="en-US" dirty="0"/>
              <a:t>That's why evaluation matters.</a:t>
            </a:r>
          </a:p>
          <a:p>
            <a:r>
              <a:rPr lang="en-US" dirty="0"/>
              <a:t>We shouldn't simply declare a project successful because the code runs.”</a:t>
            </a:r>
          </a:p>
          <a:p>
            <a:br>
              <a:rPr lang="en-US" dirty="0"/>
            </a:br>
            <a:endParaRPr lang="en-US" dirty="0"/>
          </a:p>
          <a:p>
            <a:r>
              <a:rPr lang="en-US" b="1" dirty="0"/>
              <a:t>Our Purpose</a:t>
            </a:r>
          </a:p>
          <a:p>
            <a:r>
              <a:rPr lang="en-US" dirty="0"/>
              <a:t>“The purpose of evaluation is to:</a:t>
            </a:r>
          </a:p>
          <a:p>
            <a:pPr lvl="0"/>
            <a:r>
              <a:rPr lang="en-US" dirty="0"/>
              <a:t>assess how well Atlas meets its original goals,</a:t>
            </a:r>
          </a:p>
          <a:p>
            <a:pPr lvl="0"/>
            <a:r>
              <a:rPr lang="en-US" dirty="0"/>
              <a:t>validate that we're solving the right problem,</a:t>
            </a:r>
          </a:p>
          <a:p>
            <a:pPr lvl="0"/>
            <a:r>
              <a:rPr lang="en-US" dirty="0"/>
              <a:t>identify strengths and weaknesses,</a:t>
            </a:r>
          </a:p>
          <a:p>
            <a:pPr lvl="0"/>
            <a:r>
              <a:rPr lang="en-US" dirty="0"/>
              <a:t>discover opportunities for improvement,</a:t>
            </a:r>
          </a:p>
          <a:p>
            <a:pPr lvl="0"/>
            <a:r>
              <a:rPr lang="en-US" dirty="0"/>
              <a:t>use evidence to guide our next iteration,</a:t>
            </a:r>
          </a:p>
          <a:p>
            <a:pPr lvl="0"/>
            <a:r>
              <a:rPr lang="en-US" dirty="0"/>
              <a:t>and ultimately determine whether we're delivering value.”</a:t>
            </a:r>
          </a:p>
          <a:p>
            <a:br>
              <a:rPr lang="en-US" dirty="0"/>
            </a:br>
            <a:endParaRPr lang="en-US" dirty="0"/>
          </a:p>
          <a:p>
            <a:r>
              <a:rPr lang="en-US" b="1" dirty="0"/>
              <a:t>Success Is More Than Functionality</a:t>
            </a:r>
          </a:p>
          <a:p>
            <a:r>
              <a:rPr lang="en-US" dirty="0"/>
              <a:t>“This is a very important distinction.</a:t>
            </a:r>
          </a:p>
          <a:p>
            <a:r>
              <a:rPr lang="en-US" dirty="0"/>
              <a:t>A feature can work perfectly and still fail to provide value.</a:t>
            </a:r>
          </a:p>
          <a:p>
            <a:r>
              <a:rPr lang="en-US" dirty="0"/>
              <a:t>Imagine Atlas has a task-management feature.</a:t>
            </a:r>
          </a:p>
          <a:p>
            <a:r>
              <a:rPr lang="en-US" dirty="0"/>
              <a:t>The feature works exactly according to the requirements.</a:t>
            </a:r>
          </a:p>
          <a:p>
            <a:r>
              <a:rPr lang="en-US" dirty="0"/>
              <a:t>But users find it confusing and don't actually use it.</a:t>
            </a:r>
          </a:p>
          <a:p>
            <a:r>
              <a:rPr lang="en-US" dirty="0"/>
              <a:t>Technically, the feature works.</a:t>
            </a:r>
          </a:p>
          <a:p>
            <a:r>
              <a:rPr lang="en-US" dirty="0"/>
              <a:t>From a product perspective, we've still got a problem.</a:t>
            </a:r>
          </a:p>
          <a:p>
            <a:r>
              <a:rPr lang="en-US" dirty="0"/>
              <a:t>That's why evaluation needs to look beyond functionality.”</a:t>
            </a:r>
          </a:p>
          <a:p>
            <a:br>
              <a:rPr lang="en-US" dirty="0"/>
            </a:br>
            <a:endParaRPr lang="en-US" dirty="0"/>
          </a:p>
          <a:p>
            <a:r>
              <a:rPr lang="en-US" b="1" dirty="0"/>
              <a:t>Six Dimensions of Evaluation</a:t>
            </a:r>
          </a:p>
          <a:p>
            <a:r>
              <a:rPr lang="en-US" dirty="0"/>
              <a:t>“The artifact gives us six dimensions to evaluate.</a:t>
            </a:r>
          </a:p>
          <a:p>
            <a:r>
              <a:rPr lang="en-US" b="1" dirty="0"/>
              <a:t>1. Functional</a:t>
            </a:r>
          </a:p>
          <a:p>
            <a:r>
              <a:rPr lang="en-US" dirty="0"/>
              <a:t>Does Atlas do what it's supposed to do?</a:t>
            </a:r>
          </a:p>
          <a:p>
            <a:r>
              <a:rPr lang="en-US" dirty="0"/>
              <a:t>Are the required features complete?</a:t>
            </a:r>
          </a:p>
          <a:p>
            <a:r>
              <a:rPr lang="en-US" dirty="0"/>
              <a:t>Are the workflows working?</a:t>
            </a:r>
          </a:p>
          <a:p>
            <a:r>
              <a:rPr lang="en-US" dirty="0"/>
              <a:t>This is where our requirements and test results become evidence.”</a:t>
            </a:r>
          </a:p>
          <a:p>
            <a:br>
              <a:rPr lang="en-US" dirty="0"/>
            </a:br>
            <a:endParaRPr lang="en-US" dirty="0"/>
          </a:p>
          <a:p>
            <a:r>
              <a:rPr lang="en-US" b="1" dirty="0"/>
              <a:t>2. Usability</a:t>
            </a:r>
          </a:p>
          <a:p>
            <a:r>
              <a:rPr lang="en-US" dirty="0"/>
              <a:t>“Is Atlas easy to learn and use?</a:t>
            </a:r>
          </a:p>
          <a:p>
            <a:r>
              <a:rPr lang="en-US" dirty="0"/>
              <a:t>Can users figure out what to do?</a:t>
            </a:r>
          </a:p>
          <a:p>
            <a:r>
              <a:rPr lang="en-US" dirty="0"/>
              <a:t>Is navigation intuitive?</a:t>
            </a:r>
          </a:p>
          <a:p>
            <a:r>
              <a:rPr lang="en-US" dirty="0"/>
              <a:t>Are forms understandable?</a:t>
            </a:r>
          </a:p>
          <a:p>
            <a:r>
              <a:rPr lang="en-US" dirty="0"/>
              <a:t>Can users complete tasks without unnecessary confusion?</a:t>
            </a:r>
          </a:p>
          <a:p>
            <a:r>
              <a:rPr lang="en-US" dirty="0"/>
              <a:t>Something can be technically correct and still be frustrating to use.”</a:t>
            </a:r>
          </a:p>
          <a:p>
            <a:br>
              <a:rPr lang="en-US" dirty="0"/>
            </a:br>
            <a:endParaRPr lang="en-US" dirty="0"/>
          </a:p>
          <a:p>
            <a:r>
              <a:rPr lang="en-US" b="1" dirty="0"/>
              <a:t>3. Performance</a:t>
            </a:r>
          </a:p>
          <a:p>
            <a:r>
              <a:rPr lang="en-US" dirty="0"/>
              <a:t>“Does Atlas respond quickly enough?</a:t>
            </a:r>
          </a:p>
          <a:p>
            <a:r>
              <a:rPr lang="en-US" dirty="0"/>
              <a:t>Are pages loading within reasonable expectations?</a:t>
            </a:r>
          </a:p>
          <a:p>
            <a:r>
              <a:rPr lang="en-US" dirty="0"/>
              <a:t>Do database operations perform adequately?</a:t>
            </a:r>
          </a:p>
          <a:p>
            <a:r>
              <a:rPr lang="en-US" dirty="0"/>
              <a:t>Does the system continue to behave well as the amount of data increases?</a:t>
            </a:r>
          </a:p>
          <a:p>
            <a:r>
              <a:rPr lang="en-US" dirty="0"/>
              <a:t>Performance is part of the user experience.”</a:t>
            </a:r>
          </a:p>
          <a:p>
            <a:br>
              <a:rPr lang="en-US" dirty="0"/>
            </a:br>
            <a:endParaRPr lang="en-US" dirty="0"/>
          </a:p>
          <a:p>
            <a:r>
              <a:rPr lang="en-US" b="1" dirty="0"/>
              <a:t>4. Reliability</a:t>
            </a:r>
          </a:p>
          <a:p>
            <a:r>
              <a:rPr lang="en-US" dirty="0"/>
              <a:t>“Is Atlas stable?</a:t>
            </a:r>
          </a:p>
          <a:p>
            <a:r>
              <a:rPr lang="en-US" dirty="0"/>
              <a:t>Does it remain available?</a:t>
            </a:r>
          </a:p>
          <a:p>
            <a:r>
              <a:rPr lang="en-US" dirty="0"/>
              <a:t>Does it handle errors appropriately?</a:t>
            </a:r>
          </a:p>
          <a:p>
            <a:r>
              <a:rPr lang="en-US" dirty="0"/>
              <a:t>Can users recover from problems?</a:t>
            </a:r>
          </a:p>
          <a:p>
            <a:r>
              <a:rPr lang="en-US" dirty="0"/>
              <a:t>Are important operations dependable?</a:t>
            </a:r>
          </a:p>
          <a:p>
            <a:r>
              <a:rPr lang="en-US" dirty="0"/>
              <a:t>A system that works only when everything goes perfectly isn't a reliable system.”</a:t>
            </a:r>
          </a:p>
          <a:p>
            <a:br>
              <a:rPr lang="en-US" dirty="0"/>
            </a:br>
            <a:endParaRPr lang="en-US" dirty="0"/>
          </a:p>
          <a:p>
            <a:r>
              <a:rPr lang="en-US" b="1" dirty="0"/>
              <a:t>5. Security</a:t>
            </a:r>
          </a:p>
          <a:p>
            <a:r>
              <a:rPr lang="en-US" dirty="0"/>
              <a:t>“Are users and their information protected?</a:t>
            </a:r>
          </a:p>
          <a:p>
            <a:r>
              <a:rPr lang="en-US" dirty="0"/>
              <a:t>Are authentication and authorization working?</a:t>
            </a:r>
          </a:p>
          <a:p>
            <a:r>
              <a:rPr lang="en-US" dirty="0"/>
              <a:t>Can users access only the information they're supposed to access?</a:t>
            </a:r>
          </a:p>
          <a:p>
            <a:r>
              <a:rPr lang="en-US" dirty="0"/>
              <a:t>Are sensitive credentials protected?</a:t>
            </a:r>
          </a:p>
          <a:p>
            <a:r>
              <a:rPr lang="en-US" dirty="0"/>
              <a:t>Are our security controls behaving as expected?</a:t>
            </a:r>
          </a:p>
          <a:p>
            <a:r>
              <a:rPr lang="en-US" dirty="0"/>
              <a:t>Security becomes another dimension we need to evaluate rather than simply assume.”</a:t>
            </a:r>
          </a:p>
          <a:p>
            <a:br>
              <a:rPr lang="en-US" dirty="0"/>
            </a:br>
            <a:endParaRPr lang="en-US" dirty="0"/>
          </a:p>
          <a:p>
            <a:r>
              <a:rPr lang="en-US" b="1" dirty="0"/>
              <a:t>6. Value</a:t>
            </a:r>
          </a:p>
          <a:p>
            <a:r>
              <a:rPr lang="en-US" dirty="0"/>
              <a:t>“And finally:</a:t>
            </a:r>
          </a:p>
          <a:p>
            <a:r>
              <a:rPr lang="en-US" b="1" dirty="0"/>
              <a:t>Does Atlas deliver meaningful value?</a:t>
            </a:r>
            <a:endParaRPr lang="en-US" dirty="0"/>
          </a:p>
          <a:p>
            <a:r>
              <a:rPr lang="en-US" dirty="0"/>
              <a:t>This is arguably the most important dimension.</a:t>
            </a:r>
          </a:p>
          <a:p>
            <a:r>
              <a:rPr lang="en-US" dirty="0"/>
              <a:t>Did we save time?</a:t>
            </a:r>
          </a:p>
          <a:p>
            <a:r>
              <a:rPr lang="en-US" dirty="0"/>
              <a:t>Reduce errors?</a:t>
            </a:r>
          </a:p>
          <a:p>
            <a:r>
              <a:rPr lang="en-US" dirty="0"/>
              <a:t>Improve organization?</a:t>
            </a:r>
          </a:p>
          <a:p>
            <a:r>
              <a:rPr lang="en-US" dirty="0"/>
              <a:t>Improve communication?</a:t>
            </a:r>
          </a:p>
          <a:p>
            <a:r>
              <a:rPr lang="en-US" dirty="0"/>
              <a:t>Make a process easier?</a:t>
            </a:r>
          </a:p>
          <a:p>
            <a:r>
              <a:rPr lang="en-US" dirty="0"/>
              <a:t>Solve the original problem?</a:t>
            </a:r>
          </a:p>
          <a:p>
            <a:r>
              <a:rPr lang="en-US" dirty="0"/>
              <a:t>This is where technology connects back to the reason we built the product in the first place.”</a:t>
            </a:r>
          </a:p>
          <a:p>
            <a:br>
              <a:rPr lang="en-US" dirty="0"/>
            </a:br>
            <a:endParaRPr lang="en-US" dirty="0"/>
          </a:p>
          <a:p>
            <a:r>
              <a:rPr lang="en-US" b="1" dirty="0"/>
              <a:t>Evidence Matters</a:t>
            </a:r>
          </a:p>
          <a:p>
            <a:r>
              <a:rPr lang="en-US" dirty="0"/>
              <a:t>“Notice that we're not supposed to evaluate Atlas based entirely on opinions.</a:t>
            </a:r>
          </a:p>
          <a:p>
            <a:r>
              <a:rPr lang="en-US" dirty="0"/>
              <a:t>We want </a:t>
            </a:r>
            <a:r>
              <a:rPr lang="en-US" b="1" dirty="0"/>
              <a:t>evidence</a:t>
            </a:r>
            <a:r>
              <a:rPr lang="en-US" dirty="0"/>
              <a:t>.</a:t>
            </a:r>
          </a:p>
          <a:p>
            <a:r>
              <a:rPr lang="en-US" dirty="0"/>
              <a:t>That evidence can come from many sources.</a:t>
            </a:r>
          </a:p>
          <a:p>
            <a:r>
              <a:rPr lang="en-US" b="1" dirty="0"/>
              <a:t>Usage analytics</a:t>
            </a:r>
          </a:p>
          <a:p>
            <a:r>
              <a:rPr lang="en-US" dirty="0"/>
              <a:t>How are people actually using Atlas?</a:t>
            </a:r>
          </a:p>
          <a:p>
            <a:r>
              <a:rPr lang="en-US" b="1" dirty="0"/>
              <a:t>User feedback</a:t>
            </a:r>
          </a:p>
          <a:p>
            <a:r>
              <a:rPr lang="en-US" dirty="0"/>
              <a:t>What do users like?</a:t>
            </a:r>
          </a:p>
          <a:p>
            <a:r>
              <a:rPr lang="en-US" dirty="0"/>
              <a:t>What frustrates them?</a:t>
            </a:r>
          </a:p>
          <a:p>
            <a:r>
              <a:rPr lang="en-US" b="1" dirty="0"/>
              <a:t>Stakeholder feedback</a:t>
            </a:r>
          </a:p>
          <a:p>
            <a:r>
              <a:rPr lang="en-US" dirty="0"/>
              <a:t>Does the product meet organizational expectations?</a:t>
            </a:r>
          </a:p>
          <a:p>
            <a:r>
              <a:rPr lang="en-US" b="1" dirty="0"/>
              <a:t>Testing results</a:t>
            </a:r>
          </a:p>
          <a:p>
            <a:r>
              <a:rPr lang="en-US" dirty="0"/>
              <a:t>What did our functional and quality testing show?</a:t>
            </a:r>
          </a:p>
          <a:p>
            <a:r>
              <a:rPr lang="en-US" b="1" dirty="0"/>
              <a:t>Performance metrics</a:t>
            </a:r>
          </a:p>
          <a:p>
            <a:r>
              <a:rPr lang="en-US" dirty="0"/>
              <a:t>How fast and stable is the system?</a:t>
            </a:r>
          </a:p>
          <a:p>
            <a:r>
              <a:rPr lang="en-US" b="1" dirty="0"/>
              <a:t>Issue logs</a:t>
            </a:r>
          </a:p>
          <a:p>
            <a:r>
              <a:rPr lang="en-US" dirty="0"/>
              <a:t>What problems are users encountering?</a:t>
            </a:r>
          </a:p>
          <a:p>
            <a:r>
              <a:rPr lang="en-US" b="1" dirty="0"/>
              <a:t>Observation</a:t>
            </a:r>
          </a:p>
          <a:p>
            <a:r>
              <a:rPr lang="en-US" dirty="0"/>
              <a:t>What do we actually see when people use the product?”</a:t>
            </a:r>
          </a:p>
          <a:p>
            <a:br>
              <a:rPr lang="en-US" dirty="0"/>
            </a:br>
            <a:endParaRPr lang="en-US" dirty="0"/>
          </a:p>
          <a:p>
            <a:r>
              <a:rPr lang="en-US" b="1" dirty="0"/>
              <a:t>Measure What Matters</a:t>
            </a:r>
          </a:p>
          <a:p>
            <a:r>
              <a:rPr lang="en-US" dirty="0"/>
              <a:t>“One of the biggest mistakes teams make is measuring everything they possibly can.</a:t>
            </a:r>
          </a:p>
          <a:p>
            <a:r>
              <a:rPr lang="en-US" dirty="0"/>
              <a:t>More metrics don't automatically mean better evaluation.</a:t>
            </a:r>
          </a:p>
          <a:p>
            <a:r>
              <a:rPr lang="en-US" dirty="0"/>
              <a:t>We need to identify the metrics that actually tell us whether we're succeeding.</a:t>
            </a:r>
          </a:p>
          <a:p>
            <a:r>
              <a:rPr lang="en-US" dirty="0"/>
              <a:t>For example:</a:t>
            </a:r>
          </a:p>
          <a:p>
            <a:r>
              <a:rPr lang="en-US" b="1" dirty="0"/>
              <a:t>Active users</a:t>
            </a:r>
            <a:endParaRPr lang="en-US" dirty="0"/>
          </a:p>
          <a:p>
            <a:r>
              <a:rPr lang="en-US" dirty="0"/>
              <a:t>Are people actually using Atlas?</a:t>
            </a:r>
          </a:p>
          <a:p>
            <a:r>
              <a:rPr lang="en-US" b="1" dirty="0"/>
              <a:t>Tasks created and completed</a:t>
            </a:r>
            <a:endParaRPr lang="en-US" dirty="0"/>
          </a:p>
          <a:p>
            <a:r>
              <a:rPr lang="en-US" dirty="0"/>
              <a:t>Is the system being used to accomplish work?</a:t>
            </a:r>
          </a:p>
          <a:p>
            <a:r>
              <a:rPr lang="en-US" b="1" dirty="0"/>
              <a:t>Completion rate</a:t>
            </a:r>
            <a:endParaRPr lang="en-US" dirty="0"/>
          </a:p>
          <a:p>
            <a:r>
              <a:rPr lang="en-US" dirty="0"/>
              <a:t>Are users successfully completing their workflows?</a:t>
            </a:r>
          </a:p>
          <a:p>
            <a:r>
              <a:rPr lang="en-US" b="1" dirty="0"/>
              <a:t>Response time</a:t>
            </a:r>
            <a:endParaRPr lang="en-US" dirty="0"/>
          </a:p>
          <a:p>
            <a:r>
              <a:rPr lang="en-US" dirty="0"/>
              <a:t>Does the application perform well?</a:t>
            </a:r>
          </a:p>
          <a:p>
            <a:r>
              <a:rPr lang="en-US" b="1" dirty="0"/>
              <a:t>Uptime</a:t>
            </a:r>
            <a:endParaRPr lang="en-US" dirty="0"/>
          </a:p>
          <a:p>
            <a:r>
              <a:rPr lang="en-US" dirty="0"/>
              <a:t>Is the system available when users need it?</a:t>
            </a:r>
          </a:p>
          <a:p>
            <a:r>
              <a:rPr lang="en-US" b="1" dirty="0"/>
              <a:t>User satisfaction</a:t>
            </a:r>
            <a:endParaRPr lang="en-US" dirty="0"/>
          </a:p>
          <a:p>
            <a:r>
              <a:rPr lang="en-US" dirty="0"/>
              <a:t>Are people actually happy with the experience?</a:t>
            </a:r>
          </a:p>
          <a:p>
            <a:r>
              <a:rPr lang="en-US" dirty="0"/>
              <a:t>The metric should connect back to a meaningful question.”</a:t>
            </a:r>
          </a:p>
          <a:p>
            <a:br>
              <a:rPr lang="en-US" dirty="0"/>
            </a:br>
            <a:endParaRPr lang="en-US" dirty="0"/>
          </a:p>
          <a:p>
            <a:r>
              <a:rPr lang="en-US" b="1" dirty="0"/>
              <a:t>Don't Invent Metrics Without Purpose</a:t>
            </a:r>
          </a:p>
          <a:p>
            <a:r>
              <a:rPr lang="en-US" dirty="0"/>
              <a:t>“A metric is only useful if we know why we're measuring it.</a:t>
            </a:r>
          </a:p>
          <a:p>
            <a:r>
              <a:rPr lang="en-US" dirty="0"/>
              <a:t>Suppose we track:</a:t>
            </a:r>
          </a:p>
          <a:p>
            <a:r>
              <a:rPr lang="en-US" dirty="0"/>
              <a:t>Number of buttons clicked.</a:t>
            </a:r>
          </a:p>
          <a:p>
            <a:r>
              <a:rPr lang="en-US" dirty="0"/>
              <a:t>What does that tell us?</a:t>
            </a:r>
          </a:p>
          <a:p>
            <a:r>
              <a:rPr lang="en-US" dirty="0"/>
              <a:t>Probably not much.</a:t>
            </a:r>
          </a:p>
          <a:p>
            <a:r>
              <a:rPr lang="en-US" dirty="0"/>
              <a:t>Instead, we might track:</a:t>
            </a:r>
          </a:p>
          <a:p>
            <a:r>
              <a:rPr lang="en-US" dirty="0"/>
              <a:t>Percentage of users who successfully complete the task creation workflow.</a:t>
            </a:r>
          </a:p>
          <a:p>
            <a:r>
              <a:rPr lang="en-US" dirty="0"/>
              <a:t>Now we have something connected to a meaningful outcome.</a:t>
            </a:r>
          </a:p>
          <a:p>
            <a:r>
              <a:rPr lang="en-US" dirty="0"/>
              <a:t>Always ask:</a:t>
            </a:r>
          </a:p>
          <a:p>
            <a:r>
              <a:rPr lang="en-US" b="1" dirty="0"/>
              <a:t>What decision will this metric help us make?</a:t>
            </a:r>
            <a:r>
              <a:rPr lang="en-US" dirty="0"/>
              <a:t>”</a:t>
            </a:r>
          </a:p>
          <a:p>
            <a:br>
              <a:rPr lang="en-US" dirty="0"/>
            </a:br>
            <a:endParaRPr lang="en-US" dirty="0"/>
          </a:p>
          <a:p>
            <a:r>
              <a:rPr lang="en-US" b="1" dirty="0"/>
              <a:t>Evaluation Methods</a:t>
            </a:r>
          </a:p>
          <a:p>
            <a:r>
              <a:rPr lang="en-US" dirty="0"/>
              <a:t>“The artifact identifies several methods.</a:t>
            </a:r>
          </a:p>
          <a:p>
            <a:r>
              <a:rPr lang="en-US" b="1" dirty="0"/>
              <a:t>Surveys</a:t>
            </a:r>
          </a:p>
          <a:p>
            <a:r>
              <a:rPr lang="en-US" dirty="0"/>
              <a:t>Ask users structured questions.</a:t>
            </a:r>
          </a:p>
          <a:p>
            <a:r>
              <a:rPr lang="en-US" b="1" dirty="0"/>
              <a:t>Interviews</a:t>
            </a:r>
          </a:p>
          <a:p>
            <a:r>
              <a:rPr lang="en-US" dirty="0"/>
              <a:t>Have conversations that provide deeper qualitative feedback.</a:t>
            </a:r>
          </a:p>
          <a:p>
            <a:r>
              <a:rPr lang="en-US" b="1" dirty="0"/>
              <a:t>Usability testing</a:t>
            </a:r>
          </a:p>
          <a:p>
            <a:r>
              <a:rPr lang="en-US" dirty="0"/>
              <a:t>Watch users actually attempt tasks.</a:t>
            </a:r>
          </a:p>
          <a:p>
            <a:r>
              <a:rPr lang="en-US" b="1" dirty="0"/>
              <a:t>Analytics review</a:t>
            </a:r>
          </a:p>
          <a:p>
            <a:r>
              <a:rPr lang="en-US" dirty="0"/>
              <a:t>Study real usage data.</a:t>
            </a:r>
          </a:p>
          <a:p>
            <a:r>
              <a:rPr lang="en-US" b="1" dirty="0"/>
              <a:t>Performance testing</a:t>
            </a:r>
          </a:p>
          <a:p>
            <a:r>
              <a:rPr lang="en-US" dirty="0"/>
              <a:t>Measure system behavior.</a:t>
            </a:r>
          </a:p>
          <a:p>
            <a:r>
              <a:rPr lang="en-US" b="1" dirty="0"/>
              <a:t>Code and quality review</a:t>
            </a:r>
          </a:p>
          <a:p>
            <a:r>
              <a:rPr lang="en-US" dirty="0"/>
              <a:t>Examine the engineering implementation.</a:t>
            </a:r>
          </a:p>
          <a:p>
            <a:r>
              <a:rPr lang="en-US" dirty="0"/>
              <a:t>Each method tells us something different.</a:t>
            </a:r>
          </a:p>
          <a:p>
            <a:r>
              <a:rPr lang="en-US" dirty="0"/>
              <a:t>The strongest evaluation usually combines multiple sources.”</a:t>
            </a:r>
          </a:p>
          <a:p>
            <a:br>
              <a:rPr lang="en-US" dirty="0"/>
            </a:br>
            <a:endParaRPr lang="en-US" dirty="0"/>
          </a:p>
          <a:p>
            <a:r>
              <a:rPr lang="en-US" b="1" dirty="0"/>
              <a:t>Avoid Confirmation Bias</a:t>
            </a:r>
          </a:p>
          <a:p>
            <a:r>
              <a:rPr lang="en-US" dirty="0"/>
              <a:t>“This is another important engineering lesson.</a:t>
            </a:r>
          </a:p>
          <a:p>
            <a:r>
              <a:rPr lang="en-US" dirty="0"/>
              <a:t>We naturally want our project to succeed.</a:t>
            </a:r>
          </a:p>
          <a:p>
            <a:r>
              <a:rPr lang="en-US" dirty="0"/>
              <a:t>After spending weeks building Atlas, we want people to say:</a:t>
            </a:r>
          </a:p>
          <a:p>
            <a:r>
              <a:rPr lang="en-US" dirty="0"/>
              <a:t>‘This is great!’</a:t>
            </a:r>
          </a:p>
          <a:p>
            <a:r>
              <a:rPr lang="en-US" dirty="0"/>
              <a:t>But if we only collect positive feedback, we're not really evaluating the product.</a:t>
            </a:r>
          </a:p>
          <a:p>
            <a:r>
              <a:rPr lang="en-US" dirty="0"/>
              <a:t>We need to be willing to hear:</a:t>
            </a:r>
          </a:p>
          <a:p>
            <a:r>
              <a:rPr lang="en-US" dirty="0"/>
              <a:t>‘This is confusing.’</a:t>
            </a:r>
          </a:p>
          <a:p>
            <a:r>
              <a:rPr lang="en-US" dirty="0"/>
              <a:t>‘I don't understand this.’</a:t>
            </a:r>
          </a:p>
          <a:p>
            <a:r>
              <a:rPr lang="en-US" dirty="0"/>
              <a:t>‘This feature doesn't help me.’</a:t>
            </a:r>
          </a:p>
          <a:p>
            <a:r>
              <a:rPr lang="en-US" dirty="0"/>
              <a:t>‘This takes too long.’</a:t>
            </a:r>
          </a:p>
          <a:p>
            <a:r>
              <a:rPr lang="en-US" dirty="0"/>
              <a:t>Negative feedback isn't an attack on our work.</a:t>
            </a:r>
          </a:p>
          <a:p>
            <a:r>
              <a:rPr lang="en-US" dirty="0"/>
              <a:t>It's information that helps us improve it.”</a:t>
            </a:r>
          </a:p>
          <a:p>
            <a:br>
              <a:rPr lang="en-US" dirty="0"/>
            </a:br>
            <a:endParaRPr lang="en-US" dirty="0"/>
          </a:p>
          <a:p>
            <a:r>
              <a:rPr lang="en-US" b="1" dirty="0"/>
              <a:t>Common Evaluation Mistakes</a:t>
            </a:r>
          </a:p>
          <a:p>
            <a:r>
              <a:rPr lang="en-US" dirty="0"/>
              <a:t>“Let's look at the common pitfalls.</a:t>
            </a:r>
          </a:p>
          <a:p>
            <a:r>
              <a:rPr lang="en-US" b="1" dirty="0"/>
              <a:t>Assuming success without evidence</a:t>
            </a:r>
          </a:p>
          <a:p>
            <a:r>
              <a:rPr lang="en-US" dirty="0"/>
              <a:t>We can't simply declare victory.</a:t>
            </a:r>
          </a:p>
          <a:p>
            <a:r>
              <a:rPr lang="en-US" b="1" dirty="0"/>
              <a:t>Measuring the wrong things</a:t>
            </a:r>
          </a:p>
          <a:p>
            <a:r>
              <a:rPr lang="en-US" dirty="0"/>
              <a:t>A metric should connect to an important outcome.</a:t>
            </a:r>
          </a:p>
          <a:p>
            <a:r>
              <a:rPr lang="en-US" b="1" dirty="0"/>
              <a:t>No baseline</a:t>
            </a:r>
          </a:p>
          <a:p>
            <a:r>
              <a:rPr lang="en-US" dirty="0"/>
              <a:t>If we don't know where we started, it's difficult to determine improvement.</a:t>
            </a:r>
          </a:p>
          <a:p>
            <a:r>
              <a:rPr lang="en-US" b="1" dirty="0"/>
              <a:t>Collecting feedback but doing nothing</a:t>
            </a:r>
          </a:p>
          <a:p>
            <a:r>
              <a:rPr lang="en-US" dirty="0"/>
              <a:t>Feedback only creates value when we act on it.</a:t>
            </a:r>
          </a:p>
          <a:p>
            <a:r>
              <a:rPr lang="en-US" b="1" dirty="0"/>
              <a:t>Ignoring negative feedback</a:t>
            </a:r>
          </a:p>
          <a:p>
            <a:r>
              <a:rPr lang="en-US" dirty="0"/>
              <a:t>The uncomfortable information may be the most useful.</a:t>
            </a:r>
          </a:p>
          <a:p>
            <a:r>
              <a:rPr lang="en-US" b="1" dirty="0"/>
              <a:t>Never reevaluating</a:t>
            </a:r>
          </a:p>
          <a:p>
            <a:r>
              <a:rPr lang="en-US" dirty="0"/>
              <a:t>The product changes.</a:t>
            </a:r>
          </a:p>
          <a:p>
            <a:r>
              <a:rPr lang="en-US" dirty="0"/>
              <a:t>The users change.</a:t>
            </a:r>
          </a:p>
          <a:p>
            <a:r>
              <a:rPr lang="en-US" dirty="0"/>
              <a:t>The environment changes.</a:t>
            </a:r>
          </a:p>
          <a:p>
            <a:r>
              <a:rPr lang="en-US" dirty="0"/>
              <a:t>Evaluation has to continue.”</a:t>
            </a:r>
          </a:p>
          <a:p>
            <a:br>
              <a:rPr lang="en-US" dirty="0"/>
            </a:br>
            <a:endParaRPr lang="en-US" dirty="0"/>
          </a:p>
          <a:p>
            <a:r>
              <a:rPr lang="en-US" b="1" dirty="0"/>
              <a:t>From Insights to Action</a:t>
            </a:r>
          </a:p>
          <a:p>
            <a:r>
              <a:rPr lang="en-US" dirty="0"/>
              <a:t>“This is where evaluation becomes especially powerful.</a:t>
            </a:r>
          </a:p>
          <a:p>
            <a:r>
              <a:rPr lang="en-US" dirty="0"/>
              <a:t>We don't want a report that says:</a:t>
            </a:r>
          </a:p>
          <a:p>
            <a:r>
              <a:rPr lang="en-US" dirty="0"/>
              <a:t>‘Users don't like mobile navigation.’</a:t>
            </a:r>
          </a:p>
          <a:p>
            <a:r>
              <a:rPr lang="en-US" dirty="0"/>
              <a:t>and then does nothing.</a:t>
            </a:r>
          </a:p>
          <a:p>
            <a:r>
              <a:rPr lang="en-US" dirty="0"/>
              <a:t>We want to turn that insight into an action.</a:t>
            </a:r>
          </a:p>
          <a:p>
            <a:r>
              <a:rPr lang="en-US" dirty="0"/>
              <a:t>The process becomes:</a:t>
            </a:r>
          </a:p>
          <a:p>
            <a:r>
              <a:rPr lang="en-US" b="1" dirty="0"/>
              <a:t>Identify → Prioritize → Plan → Improve → Re-evaluate</a:t>
            </a:r>
            <a:endParaRPr lang="en-US" dirty="0"/>
          </a:p>
          <a:p>
            <a:r>
              <a:rPr lang="en-US" dirty="0"/>
              <a:t>For example:</a:t>
            </a:r>
          </a:p>
          <a:p>
            <a:r>
              <a:rPr lang="en-US" dirty="0"/>
              <a:t>Users report that the mobile task list is difficult to use.</a:t>
            </a:r>
          </a:p>
          <a:p>
            <a:r>
              <a:rPr lang="en-US" dirty="0"/>
              <a:t>We identify that as an issue.</a:t>
            </a:r>
          </a:p>
          <a:p>
            <a:r>
              <a:rPr lang="en-US" dirty="0"/>
              <a:t>We prioritize it.</a:t>
            </a:r>
          </a:p>
          <a:p>
            <a:r>
              <a:rPr lang="en-US" dirty="0"/>
              <a:t>We plan a responsive redesign.</a:t>
            </a:r>
          </a:p>
          <a:p>
            <a:r>
              <a:rPr lang="en-US" dirty="0"/>
              <a:t>We implement it.</a:t>
            </a:r>
          </a:p>
          <a:p>
            <a:r>
              <a:rPr lang="en-US" dirty="0"/>
              <a:t>Then we measure again.</a:t>
            </a:r>
          </a:p>
          <a:p>
            <a:r>
              <a:rPr lang="en-US" dirty="0"/>
              <a:t>Did the experience improve?</a:t>
            </a:r>
          </a:p>
          <a:p>
            <a:r>
              <a:rPr lang="en-US" dirty="0"/>
              <a:t>That's continuous improvement.”</a:t>
            </a:r>
          </a:p>
          <a:p>
            <a:br>
              <a:rPr lang="en-US" dirty="0"/>
            </a:br>
            <a:endParaRPr lang="en-US" dirty="0"/>
          </a:p>
          <a:p>
            <a:r>
              <a:rPr lang="en-US" b="1" dirty="0"/>
              <a:t>The Evaluation Journey</a:t>
            </a:r>
          </a:p>
          <a:p>
            <a:r>
              <a:rPr lang="en-US" dirty="0"/>
              <a:t>“Look at the journey at the bottom:</a:t>
            </a:r>
          </a:p>
          <a:p>
            <a:r>
              <a:rPr lang="en-US" b="1" dirty="0"/>
              <a:t>Define Goals → Collect Data → Analyze → Report → Decide → Act → Repeat</a:t>
            </a:r>
            <a:endParaRPr lang="en-US" dirty="0"/>
          </a:p>
          <a:p>
            <a:r>
              <a:rPr lang="en-US" dirty="0"/>
              <a:t>This is a cycle.</a:t>
            </a:r>
          </a:p>
          <a:p>
            <a:r>
              <a:rPr lang="en-US" dirty="0"/>
              <a:t>We don't evaluate once and then forget about it.</a:t>
            </a:r>
          </a:p>
          <a:p>
            <a:r>
              <a:rPr lang="en-US" dirty="0"/>
              <a:t>We learn.</a:t>
            </a:r>
          </a:p>
          <a:p>
            <a:r>
              <a:rPr lang="en-US" dirty="0"/>
              <a:t>We make decisions.</a:t>
            </a:r>
          </a:p>
          <a:p>
            <a:r>
              <a:rPr lang="en-US" dirty="0"/>
              <a:t>We improve.</a:t>
            </a:r>
          </a:p>
          <a:p>
            <a:r>
              <a:rPr lang="en-US" dirty="0"/>
              <a:t>Then we evaluate again.</a:t>
            </a:r>
          </a:p>
          <a:p>
            <a:r>
              <a:rPr lang="en-US" dirty="0"/>
              <a:t>That's how products evolve.”</a:t>
            </a:r>
          </a:p>
          <a:p>
            <a:br>
              <a:rPr lang="en-US" dirty="0"/>
            </a:br>
            <a:endParaRPr lang="en-US" dirty="0"/>
          </a:p>
          <a:p>
            <a:r>
              <a:rPr lang="en-US" b="1" dirty="0"/>
              <a:t>Evaluation Connects the Entire Course</a:t>
            </a:r>
          </a:p>
          <a:p>
            <a:r>
              <a:rPr lang="en-US" dirty="0"/>
              <a:t>“This artifact actually connects back to the very beginning of Atlas.</a:t>
            </a:r>
          </a:p>
          <a:p>
            <a:r>
              <a:rPr lang="en-US" dirty="0"/>
              <a:t>Remember Sprint 1?</a:t>
            </a:r>
          </a:p>
          <a:p>
            <a:r>
              <a:rPr lang="en-US" dirty="0"/>
              <a:t>We started by identifying a problem.</a:t>
            </a:r>
          </a:p>
          <a:p>
            <a:r>
              <a:rPr lang="en-US" dirty="0"/>
              <a:t>Now we're asking:</a:t>
            </a:r>
          </a:p>
          <a:p>
            <a:r>
              <a:rPr lang="en-US" b="1" dirty="0"/>
              <a:t>Did we solve that problem?</a:t>
            </a:r>
            <a:endParaRPr lang="en-US" dirty="0"/>
          </a:p>
          <a:p>
            <a:r>
              <a:rPr lang="en-US" dirty="0"/>
              <a:t>Remember Sprint 3?</a:t>
            </a:r>
          </a:p>
          <a:p>
            <a:r>
              <a:rPr lang="en-US" dirty="0"/>
              <a:t>We created requirements.</a:t>
            </a:r>
          </a:p>
          <a:p>
            <a:r>
              <a:rPr lang="en-US" dirty="0"/>
              <a:t>Now we're asking:</a:t>
            </a:r>
          </a:p>
          <a:p>
            <a:r>
              <a:rPr lang="en-US" b="1" dirty="0"/>
              <a:t>Did we meet those requirements?</a:t>
            </a:r>
            <a:endParaRPr lang="en-US" dirty="0"/>
          </a:p>
          <a:p>
            <a:r>
              <a:rPr lang="en-US" dirty="0"/>
              <a:t>Remember Sprint 4?</a:t>
            </a:r>
          </a:p>
          <a:p>
            <a:r>
              <a:rPr lang="en-US" dirty="0"/>
              <a:t>We built and deployed the application.</a:t>
            </a:r>
          </a:p>
          <a:p>
            <a:r>
              <a:rPr lang="en-US" dirty="0"/>
              <a:t>Now we're asking:</a:t>
            </a:r>
          </a:p>
          <a:p>
            <a:r>
              <a:rPr lang="en-US" b="1" dirty="0"/>
              <a:t>Does it work in the real world?</a:t>
            </a:r>
            <a:endParaRPr lang="en-US" dirty="0"/>
          </a:p>
          <a:p>
            <a:r>
              <a:rPr lang="en-US" dirty="0"/>
              <a:t>Remember Sprint 5?</a:t>
            </a:r>
          </a:p>
          <a:p>
            <a:r>
              <a:rPr lang="en-US" dirty="0"/>
              <a:t>We added persistence.</a:t>
            </a:r>
          </a:p>
          <a:p>
            <a:r>
              <a:rPr lang="en-US" dirty="0"/>
              <a:t>Now we're asking:</a:t>
            </a:r>
          </a:p>
          <a:p>
            <a:r>
              <a:rPr lang="en-US" b="1" dirty="0"/>
              <a:t>Is the data accurate and useful?</a:t>
            </a:r>
            <a:endParaRPr lang="en-US" dirty="0"/>
          </a:p>
          <a:p>
            <a:r>
              <a:rPr lang="en-US" dirty="0"/>
              <a:t>Remember Sprint 6?</a:t>
            </a:r>
          </a:p>
          <a:p>
            <a:r>
              <a:rPr lang="en-US" dirty="0"/>
              <a:t>We protected users and data.</a:t>
            </a:r>
          </a:p>
          <a:p>
            <a:r>
              <a:rPr lang="en-US" dirty="0"/>
              <a:t>Now we're asking:</a:t>
            </a:r>
          </a:p>
          <a:p>
            <a:r>
              <a:rPr lang="en-US" b="1" dirty="0"/>
              <a:t>Are those protections actually working?</a:t>
            </a:r>
            <a:endParaRPr lang="en-US" dirty="0"/>
          </a:p>
          <a:p>
            <a:r>
              <a:rPr lang="en-US" dirty="0"/>
              <a:t>Remember Sprint 7?</a:t>
            </a:r>
          </a:p>
          <a:p>
            <a:r>
              <a:rPr lang="en-US" dirty="0"/>
              <a:t>We prepared Atlas for real users.</a:t>
            </a:r>
          </a:p>
          <a:p>
            <a:r>
              <a:rPr lang="en-US" dirty="0"/>
              <a:t>Now we're asking:</a:t>
            </a:r>
          </a:p>
          <a:p>
            <a:r>
              <a:rPr lang="en-US" b="1" dirty="0"/>
              <a:t>Was that preparation successful?</a:t>
            </a:r>
            <a:endParaRPr lang="en-US" dirty="0"/>
          </a:p>
          <a:p>
            <a:r>
              <a:rPr lang="en-US" dirty="0"/>
              <a:t>Everything comes back together here.”</a:t>
            </a:r>
          </a:p>
          <a:p>
            <a:br>
              <a:rPr lang="en-US" dirty="0"/>
            </a:br>
            <a:endParaRPr lang="en-US" dirty="0"/>
          </a:p>
          <a:p>
            <a:r>
              <a:rPr lang="en-US" b="1" dirty="0"/>
              <a:t>Evaluation Is Not About Proving We're Perfect</a:t>
            </a:r>
          </a:p>
          <a:p>
            <a:r>
              <a:rPr lang="en-US" dirty="0"/>
              <a:t>“I want to emphasize the quote on the artifact:</a:t>
            </a:r>
          </a:p>
          <a:p>
            <a:r>
              <a:rPr lang="en-US" b="1" dirty="0"/>
              <a:t>Evaluation is not about proving we are perfect.</a:t>
            </a:r>
            <a:endParaRPr lang="en-US" dirty="0"/>
          </a:p>
          <a:p>
            <a:r>
              <a:rPr lang="en-US" dirty="0"/>
              <a:t>We're not.</a:t>
            </a:r>
          </a:p>
          <a:p>
            <a:r>
              <a:rPr lang="en-US" dirty="0"/>
              <a:t>No software product is.</a:t>
            </a:r>
          </a:p>
          <a:p>
            <a:r>
              <a:rPr lang="en-US" dirty="0"/>
              <a:t>Evaluation is about understanding:</a:t>
            </a:r>
          </a:p>
          <a:p>
            <a:r>
              <a:rPr lang="en-US" b="1" dirty="0"/>
              <a:t>How can we create more value for our users every day?</a:t>
            </a:r>
            <a:endParaRPr lang="en-US" dirty="0"/>
          </a:p>
          <a:p>
            <a:r>
              <a:rPr lang="en-US" dirty="0"/>
              <a:t>That changes the mindset completely.</a:t>
            </a:r>
          </a:p>
          <a:p>
            <a:r>
              <a:rPr lang="en-US" dirty="0"/>
              <a:t>We're not defending our project.</a:t>
            </a:r>
          </a:p>
          <a:p>
            <a:r>
              <a:rPr lang="en-US" dirty="0"/>
              <a:t>We're learning from it.”</a:t>
            </a:r>
          </a:p>
          <a:p>
            <a:br>
              <a:rPr lang="en-US" dirty="0"/>
            </a:br>
            <a:endParaRPr lang="en-US" dirty="0"/>
          </a:p>
          <a:p>
            <a:r>
              <a:rPr lang="en-US" b="1" dirty="0"/>
              <a:t>What Should We Learn?</a:t>
            </a:r>
          </a:p>
          <a:p>
            <a:r>
              <a:rPr lang="en-US" dirty="0"/>
              <a:t>“At the end of our evaluation, we should be able to identify:</a:t>
            </a:r>
          </a:p>
          <a:p>
            <a:r>
              <a:rPr lang="en-US" b="1" dirty="0"/>
              <a:t>Strengths</a:t>
            </a:r>
          </a:p>
          <a:p>
            <a:r>
              <a:rPr lang="en-US" dirty="0"/>
              <a:t>What worked particularly well?</a:t>
            </a:r>
          </a:p>
          <a:p>
            <a:r>
              <a:rPr lang="en-US" b="1" dirty="0"/>
              <a:t>Weaknesses</a:t>
            </a:r>
          </a:p>
          <a:p>
            <a:r>
              <a:rPr lang="en-US" dirty="0"/>
              <a:t>Where did we struggle?</a:t>
            </a:r>
          </a:p>
          <a:p>
            <a:r>
              <a:rPr lang="en-US" b="1" dirty="0"/>
              <a:t>Opportunities</a:t>
            </a:r>
          </a:p>
          <a:p>
            <a:r>
              <a:rPr lang="en-US" dirty="0"/>
              <a:t>What could make Atlas better?</a:t>
            </a:r>
          </a:p>
          <a:p>
            <a:r>
              <a:rPr lang="en-US" b="1" dirty="0"/>
              <a:t>Risks</a:t>
            </a:r>
          </a:p>
          <a:p>
            <a:r>
              <a:rPr lang="en-US" dirty="0"/>
              <a:t>What could become a problem if we don't address it?</a:t>
            </a:r>
          </a:p>
          <a:p>
            <a:r>
              <a:rPr lang="en-US" b="1" dirty="0"/>
              <a:t>Future improvements</a:t>
            </a:r>
          </a:p>
          <a:p>
            <a:r>
              <a:rPr lang="en-US" dirty="0"/>
              <a:t>What should Version 2.0 prioritize?”</a:t>
            </a:r>
          </a:p>
          <a:p>
            <a:br>
              <a:rPr lang="en-US" dirty="0"/>
            </a:br>
            <a:endParaRPr lang="en-US" dirty="0"/>
          </a:p>
          <a:p>
            <a:r>
              <a:rPr lang="en-US" b="1" dirty="0"/>
              <a:t>Version 1.0 Is Evidence, Not Perfection</a:t>
            </a:r>
          </a:p>
          <a:p>
            <a:r>
              <a:rPr lang="en-US" dirty="0"/>
              <a:t>“Version 1.0 gives us a baseline.</a:t>
            </a:r>
          </a:p>
          <a:p>
            <a:r>
              <a:rPr lang="en-US" dirty="0"/>
              <a:t>Now we have a real product.</a:t>
            </a:r>
          </a:p>
          <a:p>
            <a:r>
              <a:rPr lang="en-US" dirty="0"/>
              <a:t>We can observe real behavior.</a:t>
            </a:r>
          </a:p>
          <a:p>
            <a:r>
              <a:rPr lang="en-US" dirty="0"/>
              <a:t>We can collect real feedback.</a:t>
            </a:r>
          </a:p>
          <a:p>
            <a:r>
              <a:rPr lang="en-US" dirty="0"/>
              <a:t>And we can make better decisions about what comes next.</a:t>
            </a:r>
          </a:p>
          <a:p>
            <a:r>
              <a:rPr lang="en-US" dirty="0"/>
              <a:t>That's one of the advantages of actually releasing software.</a:t>
            </a:r>
          </a:p>
          <a:p>
            <a:r>
              <a:rPr lang="en-US" dirty="0"/>
              <a:t>Before release, many of our decisions are assumptions.</a:t>
            </a:r>
          </a:p>
          <a:p>
            <a:r>
              <a:rPr lang="en-US" dirty="0"/>
              <a:t>After release, we have evidence.”</a:t>
            </a:r>
          </a:p>
          <a:p>
            <a:br>
              <a:rPr lang="en-US" dirty="0"/>
            </a:br>
            <a:endParaRPr lang="en-US" dirty="0"/>
          </a:p>
          <a:p>
            <a:r>
              <a:rPr lang="en-US" b="1" dirty="0"/>
              <a:t>The Professional Mindset</a:t>
            </a:r>
          </a:p>
          <a:p>
            <a:r>
              <a:rPr lang="en-US" dirty="0"/>
              <a:t>“This is how professional product teams operate.</a:t>
            </a:r>
          </a:p>
          <a:p>
            <a:r>
              <a:rPr lang="en-US" dirty="0"/>
              <a:t>They don't simply say:</a:t>
            </a:r>
          </a:p>
          <a:p>
            <a:r>
              <a:rPr lang="en-US" dirty="0"/>
              <a:t>‘We shipped it.’</a:t>
            </a:r>
          </a:p>
          <a:p>
            <a:r>
              <a:rPr lang="en-US" dirty="0"/>
              <a:t>They ask:</a:t>
            </a:r>
          </a:p>
          <a:p>
            <a:r>
              <a:rPr lang="en-US" dirty="0"/>
              <a:t>‘What happened after we shipped it?’</a:t>
            </a:r>
          </a:p>
          <a:p>
            <a:r>
              <a:rPr lang="en-US" dirty="0"/>
              <a:t>They look at metrics.</a:t>
            </a:r>
          </a:p>
          <a:p>
            <a:r>
              <a:rPr lang="en-US" dirty="0"/>
              <a:t>They listen to users.</a:t>
            </a:r>
          </a:p>
          <a:p>
            <a:r>
              <a:rPr lang="en-US" dirty="0"/>
              <a:t>They study problems.</a:t>
            </a:r>
          </a:p>
          <a:p>
            <a:r>
              <a:rPr lang="en-US" dirty="0"/>
              <a:t>They prioritize improvements.</a:t>
            </a:r>
          </a:p>
          <a:p>
            <a:r>
              <a:rPr lang="en-US" dirty="0"/>
              <a:t>And they make decisions based on evidence.</a:t>
            </a:r>
          </a:p>
          <a:p>
            <a:r>
              <a:rPr lang="en-US" dirty="0"/>
              <a:t>That's the mindset we're practicing with Atlas.”</a:t>
            </a:r>
          </a:p>
          <a:p>
            <a:br>
              <a:rPr lang="en-US" dirty="0"/>
            </a:br>
            <a:endParaRPr lang="en-US" dirty="0"/>
          </a:p>
          <a:p>
            <a:r>
              <a:rPr lang="en-US" b="1" dirty="0"/>
              <a:t>Closing</a:t>
            </a:r>
          </a:p>
          <a:p>
            <a:r>
              <a:rPr lang="en-US" dirty="0"/>
              <a:t>“So the purpose of evaluation is not to give ourselves a pat on the back.</a:t>
            </a:r>
          </a:p>
          <a:p>
            <a:r>
              <a:rPr lang="en-US" dirty="0"/>
              <a:t>It's to learn.</a:t>
            </a:r>
          </a:p>
          <a:p>
            <a:r>
              <a:rPr lang="en-US" dirty="0"/>
              <a:t>We want to know:</a:t>
            </a:r>
          </a:p>
          <a:p>
            <a:r>
              <a:rPr lang="en-US" b="1" dirty="0"/>
              <a:t>Did we meet our goals?</a:t>
            </a:r>
            <a:endParaRPr lang="en-US" dirty="0"/>
          </a:p>
          <a:p>
            <a:r>
              <a:rPr lang="en-US" b="1" dirty="0"/>
              <a:t>Did we solve the problem?</a:t>
            </a:r>
            <a:endParaRPr lang="en-US" dirty="0"/>
          </a:p>
          <a:p>
            <a:r>
              <a:rPr lang="en-US" b="1" dirty="0"/>
              <a:t>Did users benefit?</a:t>
            </a:r>
            <a:endParaRPr lang="en-US" dirty="0"/>
          </a:p>
          <a:p>
            <a:r>
              <a:rPr lang="en-US" b="1" dirty="0"/>
              <a:t>What worked?</a:t>
            </a:r>
            <a:endParaRPr lang="en-US" dirty="0"/>
          </a:p>
          <a:p>
            <a:r>
              <a:rPr lang="en-US" b="1" dirty="0"/>
              <a:t>What didn't?</a:t>
            </a:r>
            <a:endParaRPr lang="en-US" dirty="0"/>
          </a:p>
          <a:p>
            <a:r>
              <a:rPr lang="en-US" b="1" dirty="0"/>
              <a:t>What should we improve?</a:t>
            </a:r>
            <a:endParaRPr lang="en-US" dirty="0"/>
          </a:p>
          <a:p>
            <a:r>
              <a:rPr lang="en-US" dirty="0"/>
              <a:t>And most importantly:</a:t>
            </a:r>
          </a:p>
          <a:p>
            <a:r>
              <a:rPr lang="en-US" b="1" dirty="0"/>
              <a:t>What did we learn that will make the next version better?</a:t>
            </a:r>
            <a:endParaRPr lang="en-US" dirty="0"/>
          </a:p>
          <a:p>
            <a:r>
              <a:rPr lang="en-US" dirty="0"/>
              <a:t>Remember:</a:t>
            </a:r>
          </a:p>
          <a:p>
            <a:r>
              <a:rPr lang="en-US" b="1" dirty="0"/>
              <a:t>Measure honestly. Learn continuously. Deliver value.</a:t>
            </a:r>
            <a:endParaRPr lang="en-US" dirty="0"/>
          </a:p>
          <a:p>
            <a:r>
              <a:rPr lang="en-US" dirty="0"/>
              <a:t>We've now evaluated Atlas.</a:t>
            </a:r>
          </a:p>
          <a:p>
            <a:r>
              <a:rPr lang="en-US" dirty="0"/>
              <a:t>The next step is to take everything we've learned and make deliberate decisions about the future of the product.</a:t>
            </a:r>
          </a:p>
          <a:p>
            <a:r>
              <a:rPr lang="en-US" dirty="0"/>
              <a:t>That's where we move into our </a:t>
            </a:r>
            <a:r>
              <a:rPr lang="en-US" b="1" dirty="0"/>
              <a:t>Project Retrospective</a:t>
            </a:r>
            <a:r>
              <a:rPr lang="en-US" dirty="0"/>
              <a:t>.”</a:t>
            </a:r>
          </a:p>
          <a:p>
            <a:endParaRPr lang="en-US" dirty="0"/>
          </a:p>
        </p:txBody>
      </p:sp>
      <p:sp>
        <p:nvSpPr>
          <p:cNvPr id="4" name="Slide Number Placeholder 3"/>
          <p:cNvSpPr>
            <a:spLocks noGrp="1"/>
          </p:cNvSpPr>
          <p:nvPr>
            <p:ph type="sldNum" sz="quarter" idx="5"/>
          </p:nvPr>
        </p:nvSpPr>
        <p:spPr/>
        <p:txBody>
          <a:bodyPr/>
          <a:lstStyle/>
          <a:p>
            <a:fld id="{5FDF263D-5665-4A7C-828E-8E913E9FBDB3}" type="slidenum">
              <a:rPr lang="en-US" smtClean="0"/>
              <a:t>8</a:t>
            </a:fld>
            <a:endParaRPr lang="en-US"/>
          </a:p>
        </p:txBody>
      </p:sp>
    </p:spTree>
    <p:extLst>
      <p:ext uri="{BB962C8B-B14F-4D97-AF65-F5344CB8AC3E}">
        <p14:creationId xmlns:p14="http://schemas.microsoft.com/office/powerpoint/2010/main" val="28367748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 — Project Retrospective</a:t>
            </a:r>
          </a:p>
          <a:p>
            <a:r>
              <a:rPr lang="en-US" b="1" dirty="0"/>
              <a:t>Opening</a:t>
            </a:r>
          </a:p>
          <a:p>
            <a:r>
              <a:rPr lang="en-US" dirty="0"/>
              <a:t>“We've evaluated the product.</a:t>
            </a:r>
          </a:p>
          <a:p>
            <a:r>
              <a:rPr lang="en-US" dirty="0"/>
              <a:t>Now it's time to evaluate </a:t>
            </a:r>
            <a:r>
              <a:rPr lang="en-US" b="1" dirty="0"/>
              <a:t>how we built it</a:t>
            </a:r>
            <a:r>
              <a:rPr lang="en-US" dirty="0"/>
              <a:t>.</a:t>
            </a:r>
          </a:p>
          <a:p>
            <a:r>
              <a:rPr lang="en-US" dirty="0"/>
              <a:t>That's an important distinction.</a:t>
            </a:r>
          </a:p>
          <a:p>
            <a:r>
              <a:rPr lang="en-US" dirty="0"/>
              <a:t>A product evaluation asks:</a:t>
            </a:r>
          </a:p>
          <a:p>
            <a:r>
              <a:rPr lang="en-US" b="1" dirty="0"/>
              <a:t>How well did Atlas perform?</a:t>
            </a:r>
            <a:endParaRPr lang="en-US" dirty="0"/>
          </a:p>
          <a:p>
            <a:r>
              <a:rPr lang="en-US" dirty="0"/>
              <a:t>A retrospective asks:</a:t>
            </a:r>
          </a:p>
          <a:p>
            <a:r>
              <a:rPr lang="en-US" b="1" dirty="0"/>
              <a:t>How well did we work together to build Atlas?</a:t>
            </a:r>
            <a:endParaRPr lang="en-US" dirty="0"/>
          </a:p>
          <a:p>
            <a:r>
              <a:rPr lang="en-US" dirty="0"/>
              <a:t>This is our </a:t>
            </a:r>
            <a:r>
              <a:rPr lang="en-US" b="1" dirty="0"/>
              <a:t>Project Retrospective</a:t>
            </a:r>
            <a:r>
              <a:rPr lang="en-US" dirty="0"/>
              <a:t>.”</a:t>
            </a:r>
          </a:p>
          <a:p>
            <a:br>
              <a:rPr lang="en-US" dirty="0"/>
            </a:br>
            <a:endParaRPr lang="en-US" dirty="0"/>
          </a:p>
          <a:p>
            <a:r>
              <a:rPr lang="en-US" b="1" dirty="0"/>
              <a:t>Why Retrospectives Matter</a:t>
            </a:r>
          </a:p>
          <a:p>
            <a:r>
              <a:rPr lang="en-US" dirty="0"/>
              <a:t>“A retrospective gives the team a structured opportunity to stop, look back, and learn.</a:t>
            </a:r>
          </a:p>
          <a:p>
            <a:r>
              <a:rPr lang="en-US" dirty="0"/>
              <a:t>We worked through eight sprints.</a:t>
            </a:r>
          </a:p>
          <a:p>
            <a:r>
              <a:rPr lang="en-US" dirty="0"/>
              <a:t>We made decisions.</a:t>
            </a:r>
          </a:p>
          <a:p>
            <a:r>
              <a:rPr lang="en-US" dirty="0"/>
              <a:t>We solved problems.</a:t>
            </a:r>
          </a:p>
          <a:p>
            <a:r>
              <a:rPr lang="en-US" dirty="0"/>
              <a:t>We encountered bugs.</a:t>
            </a:r>
          </a:p>
          <a:p>
            <a:r>
              <a:rPr lang="en-US" dirty="0"/>
              <a:t>We changed direction.</a:t>
            </a:r>
          </a:p>
          <a:p>
            <a:r>
              <a:rPr lang="en-US" dirty="0"/>
              <a:t>We probably made mistakes.</a:t>
            </a:r>
          </a:p>
          <a:p>
            <a:r>
              <a:rPr lang="en-US" dirty="0"/>
              <a:t>We probably discovered things that worked surprisingly well.</a:t>
            </a:r>
          </a:p>
          <a:p>
            <a:r>
              <a:rPr lang="en-US" dirty="0"/>
              <a:t>The goal isn't to pretend everything went perfectly.</a:t>
            </a:r>
          </a:p>
          <a:p>
            <a:r>
              <a:rPr lang="en-US" dirty="0"/>
              <a:t>The goal is to understand what happened so that our </a:t>
            </a:r>
            <a:r>
              <a:rPr lang="en-US" b="1" dirty="0"/>
              <a:t>next project can be better</a:t>
            </a:r>
            <a:r>
              <a:rPr lang="en-US" dirty="0"/>
              <a:t>.”</a:t>
            </a:r>
          </a:p>
          <a:p>
            <a:br>
              <a:rPr lang="en-US" dirty="0"/>
            </a:br>
            <a:endParaRPr lang="en-US" dirty="0"/>
          </a:p>
          <a:p>
            <a:r>
              <a:rPr lang="en-US" b="1" dirty="0"/>
              <a:t>Reflection, Not Blame</a:t>
            </a:r>
          </a:p>
          <a:p>
            <a:r>
              <a:rPr lang="en-US" dirty="0"/>
              <a:t>“This is probably the most important rule of a retrospective:</a:t>
            </a:r>
          </a:p>
          <a:p>
            <a:r>
              <a:rPr lang="en-US" b="1" dirty="0"/>
              <a:t>We focus on the process, not the people.</a:t>
            </a:r>
            <a:endParaRPr lang="en-US" dirty="0"/>
          </a:p>
          <a:p>
            <a:r>
              <a:rPr lang="en-US" dirty="0"/>
              <a:t>If deployment took longer than expected, we don't say:</a:t>
            </a:r>
          </a:p>
          <a:p>
            <a:r>
              <a:rPr lang="en-US" dirty="0"/>
              <a:t>‘Jordan caused the delay.’</a:t>
            </a:r>
          </a:p>
          <a:p>
            <a:r>
              <a:rPr lang="en-US" dirty="0"/>
              <a:t>We ask:</a:t>
            </a:r>
          </a:p>
          <a:p>
            <a:r>
              <a:rPr lang="en-US" dirty="0"/>
              <a:t>‘What about our deployment process made the delay possible?’</a:t>
            </a:r>
          </a:p>
          <a:p>
            <a:r>
              <a:rPr lang="en-US" dirty="0"/>
              <a:t>If testing was rushed, we don't blame the person who ran the tests.</a:t>
            </a:r>
          </a:p>
          <a:p>
            <a:r>
              <a:rPr lang="en-US" dirty="0"/>
              <a:t>We ask:</a:t>
            </a:r>
          </a:p>
          <a:p>
            <a:r>
              <a:rPr lang="en-US" dirty="0"/>
              <a:t>‘Why did testing get compressed at the end?’</a:t>
            </a:r>
          </a:p>
          <a:p>
            <a:r>
              <a:rPr lang="en-US" dirty="0"/>
              <a:t>We're looking for systems, decisions, communication, and processes that we can improve.”</a:t>
            </a:r>
          </a:p>
          <a:p>
            <a:br>
              <a:rPr lang="en-US" dirty="0"/>
            </a:br>
            <a:endParaRPr lang="en-US" dirty="0"/>
          </a:p>
          <a:p>
            <a:r>
              <a:rPr lang="en-US" b="1" dirty="0"/>
              <a:t>Our Purpose</a:t>
            </a:r>
          </a:p>
          <a:p>
            <a:r>
              <a:rPr lang="en-US" dirty="0"/>
              <a:t>“The purpose of the retrospective is to:</a:t>
            </a:r>
          </a:p>
          <a:p>
            <a:pPr lvl="0"/>
            <a:r>
              <a:rPr lang="en-US" dirty="0"/>
              <a:t>reflect on our process,</a:t>
            </a:r>
          </a:p>
          <a:p>
            <a:pPr lvl="0"/>
            <a:r>
              <a:rPr lang="en-US" dirty="0"/>
              <a:t>identify what helped us succeed,</a:t>
            </a:r>
          </a:p>
          <a:p>
            <a:pPr lvl="0"/>
            <a:r>
              <a:rPr lang="en-US" dirty="0"/>
              <a:t>identify what slowed us down,</a:t>
            </a:r>
          </a:p>
          <a:p>
            <a:pPr lvl="0"/>
            <a:r>
              <a:rPr lang="en-US" dirty="0"/>
              <a:t>capture actionable improvements,</a:t>
            </a:r>
          </a:p>
          <a:p>
            <a:pPr lvl="0"/>
            <a:r>
              <a:rPr lang="en-US" dirty="0"/>
              <a:t>strengthen the team,</a:t>
            </a:r>
          </a:p>
          <a:p>
            <a:pPr lvl="0"/>
            <a:r>
              <a:rPr lang="en-US" dirty="0"/>
              <a:t>and make the next version of Atlas—or our next project—better.”</a:t>
            </a:r>
          </a:p>
          <a:p>
            <a:br>
              <a:rPr lang="en-US" dirty="0"/>
            </a:br>
            <a:endParaRPr lang="en-US" dirty="0"/>
          </a:p>
          <a:p>
            <a:r>
              <a:rPr lang="en-US" b="1" dirty="0"/>
              <a:t>The Four Lenses</a:t>
            </a:r>
          </a:p>
          <a:p>
            <a:r>
              <a:rPr lang="en-US" dirty="0"/>
              <a:t>“The artifact gives us four questions.</a:t>
            </a:r>
          </a:p>
          <a:p>
            <a:r>
              <a:rPr lang="en-US" dirty="0"/>
              <a:t>These are simple questions, but they can produce very powerful conversations.”</a:t>
            </a:r>
          </a:p>
          <a:p>
            <a:br>
              <a:rPr lang="en-US" dirty="0"/>
            </a:br>
            <a:endParaRPr lang="en-US" dirty="0"/>
          </a:p>
          <a:p>
            <a:r>
              <a:rPr lang="en-US" b="1" dirty="0"/>
              <a:t>1. What Went Well?</a:t>
            </a:r>
          </a:p>
          <a:p>
            <a:r>
              <a:rPr lang="en-US" dirty="0"/>
              <a:t>“First:</a:t>
            </a:r>
          </a:p>
          <a:p>
            <a:r>
              <a:rPr lang="en-US" b="1" dirty="0"/>
              <a:t>What went well?</a:t>
            </a:r>
            <a:endParaRPr lang="en-US" dirty="0"/>
          </a:p>
          <a:p>
            <a:r>
              <a:rPr lang="en-US" dirty="0"/>
              <a:t>What should we keep doing?</a:t>
            </a:r>
          </a:p>
          <a:p>
            <a:r>
              <a:rPr lang="en-US" dirty="0"/>
              <a:t>Maybe the team communicated effectively.</a:t>
            </a:r>
          </a:p>
          <a:p>
            <a:r>
              <a:rPr lang="en-US" dirty="0"/>
              <a:t>Maybe our design process worked particularly well.</a:t>
            </a:r>
          </a:p>
          <a:p>
            <a:r>
              <a:rPr lang="en-US" dirty="0"/>
              <a:t>Maybe our testing process caught important problems early.</a:t>
            </a:r>
          </a:p>
          <a:p>
            <a:r>
              <a:rPr lang="en-US" dirty="0"/>
              <a:t>Maybe GitHub helped us stay organized.</a:t>
            </a:r>
          </a:p>
          <a:p>
            <a:r>
              <a:rPr lang="en-US" dirty="0"/>
              <a:t>Maybe the division of responsibilities worked.</a:t>
            </a:r>
          </a:p>
          <a:p>
            <a:r>
              <a:rPr lang="en-US" dirty="0"/>
              <a:t>The goal here isn't to brag.</a:t>
            </a:r>
          </a:p>
          <a:p>
            <a:r>
              <a:rPr lang="en-US" dirty="0"/>
              <a:t>It's to identify successful practices that we should repeat.”</a:t>
            </a:r>
          </a:p>
          <a:p>
            <a:br>
              <a:rPr lang="en-US" dirty="0"/>
            </a:br>
            <a:endParaRPr lang="en-US" dirty="0"/>
          </a:p>
          <a:p>
            <a:r>
              <a:rPr lang="en-US" b="1" dirty="0"/>
              <a:t>2. What Could We Improve?</a:t>
            </a:r>
          </a:p>
          <a:p>
            <a:r>
              <a:rPr lang="en-US" dirty="0"/>
              <a:t>“Next:</a:t>
            </a:r>
          </a:p>
          <a:p>
            <a:r>
              <a:rPr lang="en-US" b="1" dirty="0"/>
              <a:t>What could we improve?</a:t>
            </a:r>
            <a:endParaRPr lang="en-US" dirty="0"/>
          </a:p>
          <a:p>
            <a:r>
              <a:rPr lang="en-US" dirty="0"/>
              <a:t>Where did we struggle?</a:t>
            </a:r>
          </a:p>
          <a:p>
            <a:r>
              <a:rPr lang="en-US" dirty="0"/>
              <a:t>What took longer than expected?</a:t>
            </a:r>
          </a:p>
          <a:p>
            <a:r>
              <a:rPr lang="en-US" dirty="0"/>
              <a:t>Where did we have confusion?</a:t>
            </a:r>
          </a:p>
          <a:p>
            <a:r>
              <a:rPr lang="en-US" dirty="0"/>
              <a:t>Where did we have unnecessary rework?</a:t>
            </a:r>
          </a:p>
          <a:p>
            <a:r>
              <a:rPr lang="en-US" dirty="0"/>
              <a:t>Where did our process break down?</a:t>
            </a:r>
          </a:p>
          <a:p>
            <a:r>
              <a:rPr lang="en-US" dirty="0"/>
              <a:t>This question helps us find opportunities for improvement without assigning blame.”</a:t>
            </a:r>
          </a:p>
          <a:p>
            <a:br>
              <a:rPr lang="en-US" dirty="0"/>
            </a:br>
            <a:endParaRPr lang="en-US" dirty="0"/>
          </a:p>
          <a:p>
            <a:r>
              <a:rPr lang="en-US" b="1" dirty="0"/>
              <a:t>3. What Should We Start?</a:t>
            </a:r>
          </a:p>
          <a:p>
            <a:r>
              <a:rPr lang="en-US" dirty="0"/>
              <a:t>“Now we ask:</a:t>
            </a:r>
          </a:p>
          <a:p>
            <a:r>
              <a:rPr lang="en-US" b="1" dirty="0"/>
              <a:t>What should we start doing?</a:t>
            </a:r>
            <a:endParaRPr lang="en-US" dirty="0"/>
          </a:p>
          <a:p>
            <a:r>
              <a:rPr lang="en-US" dirty="0"/>
              <a:t>Maybe we should start testing earlier.</a:t>
            </a:r>
          </a:p>
          <a:p>
            <a:r>
              <a:rPr lang="en-US" dirty="0"/>
              <a:t>Maybe we should start documenting decisions as we make them.</a:t>
            </a:r>
          </a:p>
          <a:p>
            <a:r>
              <a:rPr lang="en-US" dirty="0"/>
              <a:t>Maybe we should start using pull requests.</a:t>
            </a:r>
          </a:p>
          <a:p>
            <a:r>
              <a:rPr lang="en-US" dirty="0"/>
              <a:t>Maybe we should start holding short daily check-ins.</a:t>
            </a:r>
          </a:p>
          <a:p>
            <a:r>
              <a:rPr lang="en-US" dirty="0"/>
              <a:t>Maybe we should start maintaining a clearer definition of done.</a:t>
            </a:r>
          </a:p>
          <a:p>
            <a:r>
              <a:rPr lang="en-US" dirty="0"/>
              <a:t>This is where we turn lessons into new practices.”</a:t>
            </a:r>
          </a:p>
          <a:p>
            <a:br>
              <a:rPr lang="en-US" dirty="0"/>
            </a:br>
            <a:endParaRPr lang="en-US" dirty="0"/>
          </a:p>
          <a:p>
            <a:r>
              <a:rPr lang="en-US" b="1" dirty="0"/>
              <a:t>4. What Should We Stop?</a:t>
            </a:r>
          </a:p>
          <a:p>
            <a:r>
              <a:rPr lang="en-US" dirty="0"/>
              <a:t>“And finally:</a:t>
            </a:r>
          </a:p>
          <a:p>
            <a:r>
              <a:rPr lang="en-US" b="1" dirty="0"/>
              <a:t>What should we stop doing?</a:t>
            </a:r>
            <a:endParaRPr lang="en-US" dirty="0"/>
          </a:p>
          <a:p>
            <a:r>
              <a:rPr lang="en-US" dirty="0"/>
              <a:t>What created unnecessary work?</a:t>
            </a:r>
          </a:p>
          <a:p>
            <a:r>
              <a:rPr lang="en-US" dirty="0"/>
              <a:t>What caused confusion?</a:t>
            </a:r>
          </a:p>
          <a:p>
            <a:r>
              <a:rPr lang="en-US" dirty="0"/>
              <a:t>What wasted time?</a:t>
            </a:r>
          </a:p>
          <a:p>
            <a:r>
              <a:rPr lang="en-US" dirty="0"/>
              <a:t>What didn't provide value?</a:t>
            </a:r>
          </a:p>
          <a:p>
            <a:r>
              <a:rPr lang="en-US" dirty="0"/>
              <a:t>Maybe we spent too much time polishing something that wasn't important.</a:t>
            </a:r>
          </a:p>
          <a:p>
            <a:r>
              <a:rPr lang="en-US" dirty="0"/>
              <a:t>Maybe we waited too long to ask for help.</a:t>
            </a:r>
          </a:p>
          <a:p>
            <a:r>
              <a:rPr lang="en-US" dirty="0"/>
              <a:t>Maybe we kept repeating a manual process that could have been automated.</a:t>
            </a:r>
          </a:p>
          <a:p>
            <a:r>
              <a:rPr lang="en-US" dirty="0"/>
              <a:t>Stopping ineffective behavior can be just as valuable as starting a new practice.”</a:t>
            </a:r>
          </a:p>
          <a:p>
            <a:br>
              <a:rPr lang="en-US" dirty="0"/>
            </a:br>
            <a:endParaRPr lang="en-US" dirty="0"/>
          </a:p>
          <a:p>
            <a:r>
              <a:rPr lang="en-US" b="1" dirty="0"/>
              <a:t>Look at the Entire Atlas Journey</a:t>
            </a:r>
          </a:p>
          <a:p>
            <a:r>
              <a:rPr lang="en-US" dirty="0"/>
              <a:t>“Now let's look across all eight sprints.</a:t>
            </a:r>
          </a:p>
          <a:p>
            <a:r>
              <a:rPr lang="en-US" dirty="0"/>
              <a:t>Sprint 1 taught us about </a:t>
            </a:r>
            <a:r>
              <a:rPr lang="en-US" b="1" dirty="0"/>
              <a:t>vision and discovery</a:t>
            </a:r>
            <a:r>
              <a:rPr lang="en-US" dirty="0"/>
              <a:t>.</a:t>
            </a:r>
          </a:p>
          <a:p>
            <a:r>
              <a:rPr lang="en-US" dirty="0"/>
              <a:t>Sprint 2 taught us about </a:t>
            </a:r>
            <a:r>
              <a:rPr lang="en-US" b="1" dirty="0"/>
              <a:t>SaaS and product thinking</a:t>
            </a:r>
            <a:r>
              <a:rPr lang="en-US" dirty="0"/>
              <a:t>.</a:t>
            </a:r>
          </a:p>
          <a:p>
            <a:r>
              <a:rPr lang="en-US" dirty="0"/>
              <a:t>Sprint 3 taught us about </a:t>
            </a:r>
            <a:r>
              <a:rPr lang="en-US" b="1" dirty="0"/>
              <a:t>design</a:t>
            </a:r>
            <a:r>
              <a:rPr lang="en-US" dirty="0"/>
              <a:t>.</a:t>
            </a:r>
          </a:p>
          <a:p>
            <a:r>
              <a:rPr lang="en-US" dirty="0"/>
              <a:t>Sprint 4 taught us about </a:t>
            </a:r>
            <a:r>
              <a:rPr lang="en-US" b="1" dirty="0"/>
              <a:t>building and deployment</a:t>
            </a:r>
            <a:r>
              <a:rPr lang="en-US" dirty="0"/>
              <a:t>.</a:t>
            </a:r>
          </a:p>
          <a:p>
            <a:r>
              <a:rPr lang="en-US" dirty="0"/>
              <a:t>Sprint 5 taught us about </a:t>
            </a:r>
            <a:r>
              <a:rPr lang="en-US" b="1" dirty="0"/>
              <a:t>persistence and data</a:t>
            </a:r>
            <a:r>
              <a:rPr lang="en-US" dirty="0"/>
              <a:t>.</a:t>
            </a:r>
          </a:p>
          <a:p>
            <a:r>
              <a:rPr lang="en-US" dirty="0"/>
              <a:t>Sprint 6 taught us about </a:t>
            </a:r>
            <a:r>
              <a:rPr lang="en-US" b="1" dirty="0"/>
              <a:t>security and protection</a:t>
            </a:r>
            <a:r>
              <a:rPr lang="en-US" dirty="0"/>
              <a:t>.</a:t>
            </a:r>
          </a:p>
          <a:p>
            <a:r>
              <a:rPr lang="en-US" dirty="0"/>
              <a:t>Sprint 7 taught us about </a:t>
            </a:r>
            <a:r>
              <a:rPr lang="en-US" b="1" dirty="0"/>
              <a:t>production readiness</a:t>
            </a:r>
            <a:r>
              <a:rPr lang="en-US" dirty="0"/>
              <a:t>.</a:t>
            </a:r>
          </a:p>
          <a:p>
            <a:r>
              <a:rPr lang="en-US" dirty="0"/>
              <a:t>And Sprint 8 taught us about </a:t>
            </a:r>
            <a:r>
              <a:rPr lang="en-US" b="1" dirty="0"/>
              <a:t>release and evaluation</a:t>
            </a:r>
            <a:r>
              <a:rPr lang="en-US" dirty="0"/>
              <a:t>.</a:t>
            </a:r>
          </a:p>
          <a:p>
            <a:r>
              <a:rPr lang="en-US" dirty="0"/>
              <a:t>Every sprint gave us something technically.</a:t>
            </a:r>
          </a:p>
          <a:p>
            <a:r>
              <a:rPr lang="en-US" dirty="0"/>
              <a:t>But every sprint also taught us something about </a:t>
            </a:r>
            <a:r>
              <a:rPr lang="en-US" b="1" dirty="0"/>
              <a:t>how we work</a:t>
            </a:r>
            <a:r>
              <a:rPr lang="en-US" dirty="0"/>
              <a:t>.”</a:t>
            </a:r>
          </a:p>
          <a:p>
            <a:br>
              <a:rPr lang="en-US" dirty="0"/>
            </a:br>
            <a:endParaRPr lang="en-US" dirty="0"/>
          </a:p>
          <a:p>
            <a:r>
              <a:rPr lang="en-US" b="1" dirty="0"/>
              <a:t>Evidence Makes the Retrospective Better</a:t>
            </a:r>
          </a:p>
          <a:p>
            <a:r>
              <a:rPr lang="en-US" dirty="0"/>
              <a:t>“A retrospective shouldn't rely entirely on memory.</a:t>
            </a:r>
          </a:p>
          <a:p>
            <a:r>
              <a:rPr lang="en-US" dirty="0"/>
              <a:t>Memory is interesting.</a:t>
            </a:r>
          </a:p>
          <a:p>
            <a:r>
              <a:rPr lang="en-US" dirty="0"/>
              <a:t>Two people can experience the exact same project and remember it completely differently.</a:t>
            </a:r>
          </a:p>
          <a:p>
            <a:r>
              <a:rPr lang="en-US" dirty="0"/>
              <a:t>That's why we want evidence.</a:t>
            </a:r>
          </a:p>
          <a:p>
            <a:r>
              <a:rPr lang="en-US" dirty="0"/>
              <a:t>We can look at:</a:t>
            </a:r>
          </a:p>
          <a:p>
            <a:pPr lvl="0"/>
            <a:r>
              <a:rPr lang="en-US" dirty="0"/>
              <a:t>sprint reviews,</a:t>
            </a:r>
          </a:p>
          <a:p>
            <a:pPr lvl="0"/>
            <a:r>
              <a:rPr lang="en-US" dirty="0"/>
              <a:t>project metrics,</a:t>
            </a:r>
          </a:p>
          <a:p>
            <a:pPr lvl="0"/>
            <a:r>
              <a:rPr lang="en-US" dirty="0"/>
              <a:t>issue trends,</a:t>
            </a:r>
          </a:p>
          <a:p>
            <a:pPr lvl="0"/>
            <a:r>
              <a:rPr lang="en-US" dirty="0"/>
              <a:t>team feedback,</a:t>
            </a:r>
          </a:p>
          <a:p>
            <a:pPr lvl="0"/>
            <a:r>
              <a:rPr lang="en-US" dirty="0"/>
              <a:t>user feedback,</a:t>
            </a:r>
          </a:p>
          <a:p>
            <a:pPr lvl="0"/>
            <a:r>
              <a:rPr lang="en-US" dirty="0"/>
              <a:t>velocity or throughput,</a:t>
            </a:r>
          </a:p>
          <a:p>
            <a:pPr lvl="0"/>
            <a:r>
              <a:rPr lang="en-US" dirty="0"/>
              <a:t>development workflow,</a:t>
            </a:r>
          </a:p>
          <a:p>
            <a:pPr lvl="0"/>
            <a:r>
              <a:rPr lang="en-US" dirty="0"/>
              <a:t>lessons learned,</a:t>
            </a:r>
          </a:p>
          <a:p>
            <a:pPr lvl="0"/>
            <a:r>
              <a:rPr lang="en-US" dirty="0"/>
              <a:t>and the decisions we made along the way.</a:t>
            </a:r>
          </a:p>
          <a:p>
            <a:r>
              <a:rPr lang="en-US" dirty="0"/>
              <a:t>Evidence helps us move from:</a:t>
            </a:r>
          </a:p>
          <a:p>
            <a:r>
              <a:rPr lang="en-US" dirty="0"/>
              <a:t>‘I feel like that didn't work.’</a:t>
            </a:r>
          </a:p>
          <a:p>
            <a:r>
              <a:rPr lang="en-US" dirty="0"/>
              <a:t>to:</a:t>
            </a:r>
          </a:p>
          <a:p>
            <a:r>
              <a:rPr lang="en-US" b="1" dirty="0"/>
              <a:t>‘Here's what happened, and here's what we can learn from it.’</a:t>
            </a:r>
            <a:r>
              <a:rPr lang="en-US" dirty="0"/>
              <a:t>”</a:t>
            </a:r>
          </a:p>
          <a:p>
            <a:br>
              <a:rPr lang="en-US" dirty="0"/>
            </a:br>
            <a:endParaRPr lang="en-US" dirty="0"/>
          </a:p>
          <a:p>
            <a:r>
              <a:rPr lang="en-US" b="1" dirty="0"/>
              <a:t>Be Honest</a:t>
            </a:r>
          </a:p>
          <a:p>
            <a:r>
              <a:rPr lang="en-US" dirty="0"/>
              <a:t>“This only works if we're honest.</a:t>
            </a:r>
          </a:p>
          <a:p>
            <a:r>
              <a:rPr lang="en-US" dirty="0"/>
              <a:t>If something didn't work, say so.</a:t>
            </a:r>
          </a:p>
          <a:p>
            <a:r>
              <a:rPr lang="en-US" dirty="0"/>
              <a:t>If a decision turned out to be wrong, acknowledge it.</a:t>
            </a:r>
          </a:p>
          <a:p>
            <a:r>
              <a:rPr lang="en-US" dirty="0"/>
              <a:t>If communication broke down, talk about it.</a:t>
            </a:r>
          </a:p>
          <a:p>
            <a:r>
              <a:rPr lang="en-US" dirty="0"/>
              <a:t>If we underestimated the work, learn from it.</a:t>
            </a:r>
          </a:p>
          <a:p>
            <a:r>
              <a:rPr lang="en-US" dirty="0"/>
              <a:t>A retrospective isn't useful if everyone says:</a:t>
            </a:r>
          </a:p>
          <a:p>
            <a:r>
              <a:rPr lang="en-US" dirty="0"/>
              <a:t>‘Everything was great.’</a:t>
            </a:r>
          </a:p>
          <a:p>
            <a:r>
              <a:rPr lang="en-US" dirty="0"/>
              <a:t>That's not learning.</a:t>
            </a:r>
          </a:p>
          <a:p>
            <a:r>
              <a:rPr lang="en-US" dirty="0"/>
              <a:t>We're not trying to protect our egos.</a:t>
            </a:r>
          </a:p>
          <a:p>
            <a:r>
              <a:rPr lang="en-US" dirty="0"/>
              <a:t>We're trying to improve the team.”</a:t>
            </a:r>
          </a:p>
          <a:p>
            <a:br>
              <a:rPr lang="en-US" dirty="0"/>
            </a:br>
            <a:endParaRPr lang="en-US" dirty="0"/>
          </a:p>
          <a:p>
            <a:r>
              <a:rPr lang="en-US" b="1" dirty="0"/>
              <a:t>Create a Safe Conversation</a:t>
            </a:r>
          </a:p>
          <a:p>
            <a:r>
              <a:rPr lang="en-US" dirty="0"/>
              <a:t>“Everyone should have an opportunity to contribute.</a:t>
            </a:r>
          </a:p>
          <a:p>
            <a:r>
              <a:rPr lang="en-US" dirty="0"/>
              <a:t>That means listening.</a:t>
            </a:r>
          </a:p>
          <a:p>
            <a:r>
              <a:rPr lang="en-US" dirty="0"/>
              <a:t>Don't interrupt.</a:t>
            </a:r>
          </a:p>
          <a:p>
            <a:r>
              <a:rPr lang="en-US" dirty="0"/>
              <a:t>Don't immediately defend yourself.</a:t>
            </a:r>
          </a:p>
          <a:p>
            <a:r>
              <a:rPr lang="en-US" dirty="0"/>
              <a:t>Don't dismiss someone else's experience.</a:t>
            </a:r>
          </a:p>
          <a:p>
            <a:r>
              <a:rPr lang="en-US" dirty="0"/>
              <a:t>And don't turn the retrospective into an argument about who was right.</a:t>
            </a:r>
          </a:p>
          <a:p>
            <a:r>
              <a:rPr lang="en-US" dirty="0"/>
              <a:t>We're trying to understand different perspectives.</a:t>
            </a:r>
          </a:p>
          <a:p>
            <a:r>
              <a:rPr lang="en-US" dirty="0"/>
              <a:t>Sometimes the most useful lesson comes from someone who experienced the project differently than we did.”</a:t>
            </a:r>
          </a:p>
          <a:p>
            <a:br>
              <a:rPr lang="en-US" dirty="0"/>
            </a:br>
            <a:endParaRPr lang="en-US" dirty="0"/>
          </a:p>
          <a:p>
            <a:r>
              <a:rPr lang="en-US" b="1" dirty="0"/>
              <a:t>Turn Insights Into Actions</a:t>
            </a:r>
          </a:p>
          <a:p>
            <a:r>
              <a:rPr lang="en-US" dirty="0"/>
              <a:t>“This is where retrospectives often fail.</a:t>
            </a:r>
          </a:p>
          <a:p>
            <a:r>
              <a:rPr lang="en-US" dirty="0"/>
              <a:t>A team has a great conversation.</a:t>
            </a:r>
          </a:p>
          <a:p>
            <a:r>
              <a:rPr lang="en-US" dirty="0"/>
              <a:t>Everyone identifies ten things they could improve.</a:t>
            </a:r>
          </a:p>
          <a:p>
            <a:r>
              <a:rPr lang="en-US" dirty="0"/>
              <a:t>Then everyone leaves.</a:t>
            </a:r>
          </a:p>
          <a:p>
            <a:r>
              <a:rPr lang="en-US" dirty="0"/>
              <a:t>Nothing changes.</a:t>
            </a:r>
          </a:p>
          <a:p>
            <a:r>
              <a:rPr lang="en-US" dirty="0"/>
              <a:t>That's not a successful retrospective.</a:t>
            </a:r>
          </a:p>
          <a:p>
            <a:r>
              <a:rPr lang="en-US" dirty="0"/>
              <a:t>We need to turn insights into </a:t>
            </a:r>
            <a:r>
              <a:rPr lang="en-US" b="1" dirty="0"/>
              <a:t>specific actions</a:t>
            </a:r>
            <a:r>
              <a:rPr lang="en-US" dirty="0"/>
              <a:t>.</a:t>
            </a:r>
          </a:p>
          <a:p>
            <a:r>
              <a:rPr lang="en-US" dirty="0"/>
              <a:t>For example:</a:t>
            </a:r>
          </a:p>
          <a:p>
            <a:r>
              <a:rPr lang="en-US" dirty="0"/>
              <a:t>Instead of:</a:t>
            </a:r>
          </a:p>
          <a:p>
            <a:r>
              <a:rPr lang="en-US" dirty="0"/>
              <a:t>‘We need better testing.’</a:t>
            </a:r>
          </a:p>
          <a:p>
            <a:r>
              <a:rPr lang="en-US" dirty="0"/>
              <a:t>Say:</a:t>
            </a:r>
          </a:p>
          <a:p>
            <a:r>
              <a:rPr lang="en-US" dirty="0"/>
              <a:t>‘Starting next sprint, we'll create test cases before implementation is considered complete.’</a:t>
            </a:r>
          </a:p>
          <a:p>
            <a:r>
              <a:rPr lang="en-US" dirty="0"/>
              <a:t>Instead of:</a:t>
            </a:r>
          </a:p>
          <a:p>
            <a:r>
              <a:rPr lang="en-US" dirty="0"/>
              <a:t>‘Communication needs improvement.’</a:t>
            </a:r>
          </a:p>
          <a:p>
            <a:r>
              <a:rPr lang="en-US" dirty="0"/>
              <a:t>Say:</a:t>
            </a:r>
          </a:p>
          <a:p>
            <a:r>
              <a:rPr lang="en-US" dirty="0"/>
              <a:t>‘We'll have a 10-minute team check-in at the beginning of each development session.’</a:t>
            </a:r>
          </a:p>
          <a:p>
            <a:r>
              <a:rPr lang="en-US" dirty="0"/>
              <a:t>Specific actions are measurable and achievable.”</a:t>
            </a:r>
          </a:p>
          <a:p>
            <a:br>
              <a:rPr lang="en-US" dirty="0"/>
            </a:br>
            <a:endParaRPr lang="en-US" dirty="0"/>
          </a:p>
          <a:p>
            <a:r>
              <a:rPr lang="en-US" b="1" dirty="0"/>
              <a:t>Assign Ownership</a:t>
            </a:r>
          </a:p>
          <a:p>
            <a:r>
              <a:rPr lang="en-US" dirty="0"/>
              <a:t>“Every important action should have an owner.</a:t>
            </a:r>
          </a:p>
          <a:p>
            <a:r>
              <a:rPr lang="en-US" dirty="0"/>
              <a:t>That doesn't mean one person is blamed for the problem.</a:t>
            </a:r>
          </a:p>
          <a:p>
            <a:r>
              <a:rPr lang="en-US" dirty="0"/>
              <a:t>It means someone is responsible for helping the improvement happen.</a:t>
            </a:r>
          </a:p>
          <a:p>
            <a:r>
              <a:rPr lang="en-US" dirty="0"/>
              <a:t>For example:</a:t>
            </a:r>
          </a:p>
          <a:p>
            <a:r>
              <a:rPr lang="en-US" b="1" dirty="0"/>
              <a:t>Action:</a:t>
            </a:r>
            <a:r>
              <a:rPr lang="en-US" dirty="0"/>
              <a:t> Create a deployment checklist.</a:t>
            </a:r>
          </a:p>
          <a:p>
            <a:r>
              <a:rPr lang="en-US" b="1" dirty="0"/>
              <a:t>Owner:</a:t>
            </a:r>
            <a:r>
              <a:rPr lang="en-US" dirty="0"/>
              <a:t> Team member responsible for release coordination.</a:t>
            </a:r>
          </a:p>
          <a:p>
            <a:r>
              <a:rPr lang="en-US" b="1" dirty="0"/>
              <a:t>Due date:</a:t>
            </a:r>
            <a:r>
              <a:rPr lang="en-US" dirty="0"/>
              <a:t> Before the next release.</a:t>
            </a:r>
          </a:p>
          <a:p>
            <a:r>
              <a:rPr lang="en-US" b="1" dirty="0"/>
              <a:t>Success measure:</a:t>
            </a:r>
            <a:r>
              <a:rPr lang="en-US" dirty="0"/>
              <a:t> Deployment checklist used successfully.</a:t>
            </a:r>
          </a:p>
          <a:p>
            <a:r>
              <a:rPr lang="en-US" dirty="0"/>
              <a:t>Now the insight has become an actual improvement.”</a:t>
            </a:r>
          </a:p>
          <a:p>
            <a:br>
              <a:rPr lang="en-US" dirty="0"/>
            </a:br>
            <a:endParaRPr lang="en-US" dirty="0"/>
          </a:p>
          <a:p>
            <a:r>
              <a:rPr lang="en-US" b="1" dirty="0"/>
              <a:t>Measure the Improvement</a:t>
            </a:r>
          </a:p>
          <a:p>
            <a:r>
              <a:rPr lang="en-US" dirty="0"/>
              <a:t>“Whenever possible, we should define how we'll know whether the change helped.</a:t>
            </a:r>
          </a:p>
          <a:p>
            <a:r>
              <a:rPr lang="en-US" dirty="0"/>
              <a:t>Suppose we decide:</a:t>
            </a:r>
          </a:p>
          <a:p>
            <a:r>
              <a:rPr lang="en-US" dirty="0"/>
              <a:t>‘We're going to improve testing.’</a:t>
            </a:r>
          </a:p>
          <a:p>
            <a:r>
              <a:rPr lang="en-US" dirty="0"/>
              <a:t>How will we know?</a:t>
            </a:r>
          </a:p>
          <a:p>
            <a:r>
              <a:rPr lang="en-US" dirty="0"/>
              <a:t>Maybe:</a:t>
            </a:r>
          </a:p>
          <a:p>
            <a:pPr lvl="0"/>
            <a:r>
              <a:rPr lang="en-US" dirty="0"/>
              <a:t>fewer escaped defects,</a:t>
            </a:r>
          </a:p>
          <a:p>
            <a:pPr lvl="0"/>
            <a:r>
              <a:rPr lang="en-US" dirty="0"/>
              <a:t>greater test coverage,</a:t>
            </a:r>
          </a:p>
          <a:p>
            <a:pPr lvl="0"/>
            <a:r>
              <a:rPr lang="en-US" dirty="0"/>
              <a:t>fewer regressions,</a:t>
            </a:r>
          </a:p>
          <a:p>
            <a:pPr lvl="0"/>
            <a:r>
              <a:rPr lang="en-US" dirty="0"/>
              <a:t>faster test execution,</a:t>
            </a:r>
          </a:p>
          <a:p>
            <a:pPr lvl="0"/>
            <a:r>
              <a:rPr lang="en-US" dirty="0"/>
              <a:t>or fewer production issues.</a:t>
            </a:r>
          </a:p>
          <a:p>
            <a:r>
              <a:rPr lang="en-US" dirty="0"/>
              <a:t>The goal isn't to create bureaucracy.</a:t>
            </a:r>
          </a:p>
          <a:p>
            <a:r>
              <a:rPr lang="en-US" dirty="0"/>
              <a:t>The goal is to make improvement visible.”</a:t>
            </a:r>
          </a:p>
          <a:p>
            <a:br>
              <a:rPr lang="en-US" dirty="0"/>
            </a:br>
            <a:endParaRPr lang="en-US" dirty="0"/>
          </a:p>
          <a:p>
            <a:r>
              <a:rPr lang="en-US" b="1" dirty="0"/>
              <a:t>Common Retrospective Pitfalls</a:t>
            </a:r>
          </a:p>
          <a:p>
            <a:r>
              <a:rPr lang="en-US" dirty="0"/>
              <a:t>“Let's look at the mistakes we want to avoid.</a:t>
            </a:r>
          </a:p>
          <a:p>
            <a:r>
              <a:rPr lang="en-US" b="1" dirty="0"/>
              <a:t>Blaming individuals</a:t>
            </a:r>
          </a:p>
          <a:p>
            <a:r>
              <a:rPr lang="en-US" dirty="0"/>
              <a:t>We're improving the process, not attacking people.</a:t>
            </a:r>
          </a:p>
          <a:p>
            <a:r>
              <a:rPr lang="en-US" b="1" dirty="0"/>
              <a:t>Rehashing old arguments</a:t>
            </a:r>
          </a:p>
          <a:p>
            <a:r>
              <a:rPr lang="en-US" dirty="0"/>
              <a:t>If we've already discussed something, focus on what we can do differently now.</a:t>
            </a:r>
          </a:p>
          <a:p>
            <a:r>
              <a:rPr lang="en-US" b="1" dirty="0"/>
              <a:t>No action items</a:t>
            </a:r>
          </a:p>
          <a:p>
            <a:r>
              <a:rPr lang="en-US" dirty="0"/>
              <a:t>Reflection without action doesn't create improvement.</a:t>
            </a:r>
          </a:p>
          <a:p>
            <a:r>
              <a:rPr lang="en-US" b="1" dirty="0"/>
              <a:t>Vague actions</a:t>
            </a:r>
          </a:p>
          <a:p>
            <a:r>
              <a:rPr lang="en-US" dirty="0"/>
              <a:t>‘Communicate better’ isn't a plan.</a:t>
            </a:r>
          </a:p>
          <a:p>
            <a:r>
              <a:rPr lang="en-US" b="1" dirty="0"/>
              <a:t>Too many actions</a:t>
            </a:r>
          </a:p>
          <a:p>
            <a:r>
              <a:rPr lang="en-US" dirty="0"/>
              <a:t>If we create 25 improvement tasks, we probably won't complete any of them.</a:t>
            </a:r>
          </a:p>
          <a:p>
            <a:r>
              <a:rPr lang="en-US" dirty="0"/>
              <a:t>Choose the most important few.</a:t>
            </a:r>
          </a:p>
          <a:p>
            <a:r>
              <a:rPr lang="en-US" b="1" dirty="0"/>
              <a:t>Ignoring what isn't working</a:t>
            </a:r>
          </a:p>
          <a:p>
            <a:r>
              <a:rPr lang="en-US" dirty="0"/>
              <a:t>If something is consistently creating problems, we need to address it.</a:t>
            </a:r>
          </a:p>
          <a:p>
            <a:r>
              <a:rPr lang="en-US" b="1" dirty="0"/>
              <a:t>Skipping follow-up</a:t>
            </a:r>
          </a:p>
          <a:p>
            <a:r>
              <a:rPr lang="en-US" dirty="0"/>
              <a:t>The retrospective isn't complete when the meeting ends.</a:t>
            </a:r>
          </a:p>
          <a:p>
            <a:r>
              <a:rPr lang="en-US" dirty="0"/>
              <a:t>We need to check whether the improvements actually happened.”</a:t>
            </a:r>
          </a:p>
          <a:p>
            <a:br>
              <a:rPr lang="en-US" dirty="0"/>
            </a:br>
            <a:endParaRPr lang="en-US" dirty="0"/>
          </a:p>
          <a:p>
            <a:r>
              <a:rPr lang="en-US" b="1" dirty="0"/>
              <a:t>The Continuous Improvement Journey</a:t>
            </a:r>
          </a:p>
          <a:p>
            <a:r>
              <a:rPr lang="en-US" dirty="0"/>
              <a:t>“The bottom of the artifact shows our improvement loop:</a:t>
            </a:r>
          </a:p>
          <a:p>
            <a:r>
              <a:rPr lang="en-US" b="1" dirty="0"/>
              <a:t>Reflect → Gather → Analyze → Decide → Act → Review → Repeat</a:t>
            </a:r>
            <a:endParaRPr lang="en-US" dirty="0"/>
          </a:p>
          <a:p>
            <a:r>
              <a:rPr lang="en-US" dirty="0"/>
              <a:t>That's the real value of the retrospective.</a:t>
            </a:r>
          </a:p>
          <a:p>
            <a:r>
              <a:rPr lang="en-US" dirty="0"/>
              <a:t>We reflect on what happened.</a:t>
            </a:r>
          </a:p>
          <a:p>
            <a:r>
              <a:rPr lang="en-US" dirty="0"/>
              <a:t>We gather evidence.</a:t>
            </a:r>
          </a:p>
          <a:p>
            <a:r>
              <a:rPr lang="en-US" dirty="0"/>
              <a:t>We analyze the patterns.</a:t>
            </a:r>
          </a:p>
          <a:p>
            <a:r>
              <a:rPr lang="en-US" dirty="0"/>
              <a:t>We decide what matters.</a:t>
            </a:r>
          </a:p>
          <a:p>
            <a:r>
              <a:rPr lang="en-US" dirty="0"/>
              <a:t>We act.</a:t>
            </a:r>
          </a:p>
          <a:p>
            <a:r>
              <a:rPr lang="en-US" dirty="0"/>
              <a:t>Then we review whether the change helped.</a:t>
            </a:r>
          </a:p>
          <a:p>
            <a:r>
              <a:rPr lang="en-US" dirty="0"/>
              <a:t>And eventually we repeat the cycle.”</a:t>
            </a:r>
          </a:p>
          <a:p>
            <a:br>
              <a:rPr lang="en-US" dirty="0"/>
            </a:br>
            <a:endParaRPr lang="en-US" dirty="0"/>
          </a:p>
          <a:p>
            <a:r>
              <a:rPr lang="en-US" b="1" dirty="0"/>
              <a:t>Retrospectives Build Better Teams</a:t>
            </a:r>
          </a:p>
          <a:p>
            <a:r>
              <a:rPr lang="en-US" dirty="0"/>
              <a:t>“There's a statement near the bottom that I really want you to remember:</a:t>
            </a:r>
          </a:p>
          <a:p>
            <a:r>
              <a:rPr lang="en-US" b="1" dirty="0"/>
              <a:t>We don't just build great software. We build great teams.</a:t>
            </a:r>
            <a:endParaRPr lang="en-US" dirty="0"/>
          </a:p>
          <a:p>
            <a:r>
              <a:rPr lang="en-US" dirty="0"/>
              <a:t>A strong engineering team isn't one that never makes mistakes.</a:t>
            </a:r>
          </a:p>
          <a:p>
            <a:r>
              <a:rPr lang="en-US" dirty="0"/>
              <a:t>It's one that </a:t>
            </a:r>
            <a:r>
              <a:rPr lang="en-US" b="1" dirty="0"/>
              <a:t>learns from mistakes quickly</a:t>
            </a:r>
            <a:r>
              <a:rPr lang="en-US" dirty="0"/>
              <a:t>.</a:t>
            </a:r>
          </a:p>
          <a:p>
            <a:r>
              <a:rPr lang="en-US" dirty="0"/>
              <a:t>It's a team that can say:</a:t>
            </a:r>
          </a:p>
          <a:p>
            <a:r>
              <a:rPr lang="en-US" dirty="0"/>
              <a:t>‘That didn't work.’</a:t>
            </a:r>
          </a:p>
          <a:p>
            <a:r>
              <a:rPr lang="en-US" dirty="0"/>
              <a:t>and then ask:</a:t>
            </a:r>
          </a:p>
          <a:p>
            <a:r>
              <a:rPr lang="en-US" dirty="0"/>
              <a:t>‘What should we do differently next time?’</a:t>
            </a:r>
          </a:p>
          <a:p>
            <a:r>
              <a:rPr lang="en-US" dirty="0"/>
              <a:t>That's a powerful professional skill.”</a:t>
            </a:r>
          </a:p>
          <a:p>
            <a:br>
              <a:rPr lang="en-US" dirty="0"/>
            </a:br>
            <a:endParaRPr lang="en-US" dirty="0"/>
          </a:p>
          <a:p>
            <a:r>
              <a:rPr lang="en-US" b="1" dirty="0"/>
              <a:t>The Bigger Lesson</a:t>
            </a:r>
          </a:p>
          <a:p>
            <a:r>
              <a:rPr lang="en-US" dirty="0"/>
              <a:t>“Think about the entire Atlas project.</a:t>
            </a:r>
          </a:p>
          <a:p>
            <a:r>
              <a:rPr lang="en-US" dirty="0"/>
              <a:t>We didn't just learn how to use technologies.</a:t>
            </a:r>
          </a:p>
          <a:p>
            <a:r>
              <a:rPr lang="en-US" dirty="0"/>
              <a:t>We learned how to:</a:t>
            </a:r>
          </a:p>
          <a:p>
            <a:pPr lvl="0"/>
            <a:r>
              <a:rPr lang="en-US" dirty="0"/>
              <a:t>plan,</a:t>
            </a:r>
          </a:p>
          <a:p>
            <a:pPr lvl="0"/>
            <a:r>
              <a:rPr lang="en-US" dirty="0"/>
              <a:t>communicate,</a:t>
            </a:r>
          </a:p>
          <a:p>
            <a:pPr lvl="0"/>
            <a:r>
              <a:rPr lang="en-US" dirty="0"/>
              <a:t>design,</a:t>
            </a:r>
          </a:p>
          <a:p>
            <a:pPr lvl="0"/>
            <a:r>
              <a:rPr lang="en-US" dirty="0"/>
              <a:t>build,</a:t>
            </a:r>
          </a:p>
          <a:p>
            <a:pPr lvl="0"/>
            <a:r>
              <a:rPr lang="en-US" dirty="0"/>
              <a:t>test,</a:t>
            </a:r>
          </a:p>
          <a:p>
            <a:pPr lvl="0"/>
            <a:r>
              <a:rPr lang="en-US" dirty="0"/>
              <a:t>debug,</a:t>
            </a:r>
          </a:p>
          <a:p>
            <a:pPr lvl="0"/>
            <a:r>
              <a:rPr lang="en-US" dirty="0"/>
              <a:t>deploy,</a:t>
            </a:r>
          </a:p>
          <a:p>
            <a:pPr lvl="0"/>
            <a:r>
              <a:rPr lang="en-US" dirty="0"/>
              <a:t>document,</a:t>
            </a:r>
          </a:p>
          <a:p>
            <a:pPr lvl="0"/>
            <a:r>
              <a:rPr lang="en-US" dirty="0"/>
              <a:t>present,</a:t>
            </a:r>
          </a:p>
          <a:p>
            <a:pPr lvl="0"/>
            <a:r>
              <a:rPr lang="en-US" dirty="0"/>
              <a:t>evaluate,</a:t>
            </a:r>
          </a:p>
          <a:p>
            <a:pPr lvl="0"/>
            <a:r>
              <a:rPr lang="en-US" dirty="0"/>
              <a:t>and reflect.</a:t>
            </a:r>
          </a:p>
          <a:p>
            <a:r>
              <a:rPr lang="en-US" dirty="0"/>
              <a:t>Those skills transfer far beyond Atlas.</a:t>
            </a:r>
          </a:p>
          <a:p>
            <a:r>
              <a:rPr lang="en-US" dirty="0"/>
              <a:t>The technology will change.</a:t>
            </a:r>
          </a:p>
          <a:p>
            <a:r>
              <a:rPr lang="en-US" dirty="0"/>
              <a:t>The tools will change.</a:t>
            </a:r>
          </a:p>
          <a:p>
            <a:r>
              <a:rPr lang="en-US" dirty="0"/>
              <a:t>The frameworks will change.</a:t>
            </a:r>
          </a:p>
          <a:p>
            <a:r>
              <a:rPr lang="en-US" dirty="0"/>
              <a:t>But the engineering process—and our ability to learn from it—will remain valuable.”</a:t>
            </a:r>
          </a:p>
          <a:p>
            <a:br>
              <a:rPr lang="en-US" dirty="0"/>
            </a:br>
            <a:endParaRPr lang="en-US" dirty="0"/>
          </a:p>
          <a:p>
            <a:r>
              <a:rPr lang="en-US" b="1" dirty="0"/>
              <a:t>Our Commitment</a:t>
            </a:r>
          </a:p>
          <a:p>
            <a:r>
              <a:rPr lang="en-US" dirty="0"/>
              <a:t>“So the retrospective ends with a commitment.</a:t>
            </a:r>
          </a:p>
          <a:p>
            <a:r>
              <a:rPr lang="en-US" dirty="0"/>
              <a:t>We're going to keep learning.</a:t>
            </a:r>
          </a:p>
          <a:p>
            <a:r>
              <a:rPr lang="en-US" dirty="0"/>
              <a:t>We're going to keep improving.</a:t>
            </a:r>
          </a:p>
          <a:p>
            <a:r>
              <a:rPr lang="en-US" dirty="0"/>
              <a:t>We're going to keep building value.</a:t>
            </a:r>
          </a:p>
          <a:p>
            <a:r>
              <a:rPr lang="en-US" dirty="0"/>
              <a:t>And we're going to take what we've learned here into the next version of Atlas and into the next project we build.</a:t>
            </a:r>
          </a:p>
          <a:p>
            <a:r>
              <a:rPr lang="en-US" dirty="0"/>
              <a:t>The goal isn't simply:</a:t>
            </a:r>
          </a:p>
          <a:p>
            <a:r>
              <a:rPr lang="en-US" b="1" dirty="0"/>
              <a:t>Better software.</a:t>
            </a:r>
            <a:endParaRPr lang="en-US" dirty="0"/>
          </a:p>
          <a:p>
            <a:r>
              <a:rPr lang="en-US" dirty="0"/>
              <a:t>It's:</a:t>
            </a:r>
          </a:p>
          <a:p>
            <a:r>
              <a:rPr lang="en-US" b="1" dirty="0"/>
              <a:t>Better decisions. Better processes. Better teamwork. Better outcomes.</a:t>
            </a:r>
            <a:r>
              <a:rPr lang="en-US" dirty="0"/>
              <a:t>”</a:t>
            </a:r>
          </a:p>
          <a:p>
            <a:br>
              <a:rPr lang="en-US" dirty="0"/>
            </a:br>
            <a:endParaRPr lang="en-US" dirty="0"/>
          </a:p>
          <a:p>
            <a:r>
              <a:rPr lang="en-US" b="1" dirty="0"/>
              <a:t>Closing</a:t>
            </a:r>
          </a:p>
          <a:p>
            <a:r>
              <a:rPr lang="en-US" dirty="0"/>
              <a:t>“So let's leave this retrospective with four questions:</a:t>
            </a:r>
          </a:p>
          <a:p>
            <a:r>
              <a:rPr lang="en-US" b="1" dirty="0"/>
              <a:t>What should we keep?</a:t>
            </a:r>
            <a:endParaRPr lang="en-US" dirty="0"/>
          </a:p>
          <a:p>
            <a:r>
              <a:rPr lang="en-US" b="1" dirty="0"/>
              <a:t>What should we improve?</a:t>
            </a:r>
            <a:endParaRPr lang="en-US" dirty="0"/>
          </a:p>
          <a:p>
            <a:r>
              <a:rPr lang="en-US" b="1" dirty="0"/>
              <a:t>What should we start?</a:t>
            </a:r>
            <a:endParaRPr lang="en-US" dirty="0"/>
          </a:p>
          <a:p>
            <a:r>
              <a:rPr lang="en-US" b="1" dirty="0"/>
              <a:t>What should we stop?</a:t>
            </a:r>
            <a:endParaRPr lang="en-US" dirty="0"/>
          </a:p>
          <a:p>
            <a:r>
              <a:rPr lang="en-US" dirty="0"/>
              <a:t>And then the most important question:</a:t>
            </a:r>
          </a:p>
          <a:p>
            <a:r>
              <a:rPr lang="en-US" b="1" dirty="0"/>
              <a:t>What are we actually going to do differently?</a:t>
            </a:r>
            <a:endParaRPr lang="en-US" dirty="0"/>
          </a:p>
          <a:p>
            <a:r>
              <a:rPr lang="en-US" dirty="0"/>
              <a:t>Because reflection without action is just discussion.</a:t>
            </a:r>
          </a:p>
          <a:p>
            <a:r>
              <a:rPr lang="en-US" dirty="0"/>
              <a:t>The value of a retrospective comes from what happens </a:t>
            </a:r>
            <a:r>
              <a:rPr lang="en-US" b="1" dirty="0"/>
              <a:t>after</a:t>
            </a:r>
            <a:r>
              <a:rPr lang="en-US" dirty="0"/>
              <a:t> the retrospective.</a:t>
            </a:r>
          </a:p>
          <a:p>
            <a:r>
              <a:rPr lang="en-US" dirty="0"/>
              <a:t>So remember:</a:t>
            </a:r>
          </a:p>
          <a:p>
            <a:r>
              <a:rPr lang="en-US" b="1" dirty="0"/>
              <a:t>Reflect. Learn. Improve. Deliver better together.</a:t>
            </a:r>
            <a:endParaRPr lang="en-US" dirty="0"/>
          </a:p>
          <a:p>
            <a:r>
              <a:rPr lang="en-US" dirty="0"/>
              <a:t>That's how we finish Atlas stronger than we started.”</a:t>
            </a:r>
          </a:p>
          <a:p>
            <a:r>
              <a:rPr lang="en-US" b="1" dirty="0"/>
              <a:t>Transition</a:t>
            </a:r>
          </a:p>
          <a:p>
            <a:r>
              <a:rPr lang="en-US" dirty="0"/>
              <a:t>“We've now evaluated both the </a:t>
            </a:r>
            <a:r>
              <a:rPr lang="en-US" b="1" dirty="0"/>
              <a:t>product</a:t>
            </a:r>
            <a:r>
              <a:rPr lang="en-US" dirty="0"/>
              <a:t> and the </a:t>
            </a:r>
            <a:r>
              <a:rPr lang="en-US" b="1" dirty="0"/>
              <a:t>process</a:t>
            </a:r>
            <a:r>
              <a:rPr lang="en-US" dirty="0"/>
              <a:t>.</a:t>
            </a:r>
          </a:p>
          <a:p>
            <a:r>
              <a:rPr lang="en-US" dirty="0"/>
              <a:t>There's one final step left.</a:t>
            </a:r>
          </a:p>
          <a:p>
            <a:r>
              <a:rPr lang="en-US" dirty="0"/>
              <a:t>We need to bring everything together, formally declare what we've accomplished, and release </a:t>
            </a:r>
            <a:r>
              <a:rPr lang="en-US" b="1" dirty="0"/>
              <a:t>Atlas </a:t>
            </a:r>
            <a:r>
              <a:rPr lang="en-US" b="1" dirty="0" err="1"/>
              <a:t>TaskFlow</a:t>
            </a:r>
            <a:r>
              <a:rPr lang="en-US" b="1" dirty="0"/>
              <a:t> Version 1.0</a:t>
            </a:r>
            <a:r>
              <a:rPr lang="en-US" dirty="0"/>
              <a:t>.”</a:t>
            </a:r>
          </a:p>
          <a:p>
            <a:endParaRPr lang="en-US" dirty="0"/>
          </a:p>
        </p:txBody>
      </p:sp>
      <p:sp>
        <p:nvSpPr>
          <p:cNvPr id="4" name="Slide Number Placeholder 3"/>
          <p:cNvSpPr>
            <a:spLocks noGrp="1"/>
          </p:cNvSpPr>
          <p:nvPr>
            <p:ph type="sldNum" sz="quarter" idx="5"/>
          </p:nvPr>
        </p:nvSpPr>
        <p:spPr/>
        <p:txBody>
          <a:bodyPr/>
          <a:lstStyle/>
          <a:p>
            <a:fld id="{5FDF263D-5665-4A7C-828E-8E913E9FBDB3}" type="slidenum">
              <a:rPr lang="en-US" smtClean="0"/>
              <a:t>9</a:t>
            </a:fld>
            <a:endParaRPr lang="en-US"/>
          </a:p>
        </p:txBody>
      </p:sp>
    </p:spTree>
    <p:extLst>
      <p:ext uri="{BB962C8B-B14F-4D97-AF65-F5344CB8AC3E}">
        <p14:creationId xmlns:p14="http://schemas.microsoft.com/office/powerpoint/2010/main" val="401869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 — Project Summary</a:t>
            </a:r>
          </a:p>
          <a:p>
            <a:r>
              <a:rPr lang="en-US" b="1" dirty="0"/>
              <a:t>Bringing It All Together</a:t>
            </a:r>
          </a:p>
          <a:p>
            <a:r>
              <a:rPr lang="en-US" b="1" dirty="0"/>
              <a:t>Opening</a:t>
            </a:r>
          </a:p>
          <a:p>
            <a:r>
              <a:rPr lang="en-US" dirty="0"/>
              <a:t>“We've reached an important moment.</a:t>
            </a:r>
          </a:p>
          <a:p>
            <a:r>
              <a:rPr lang="en-US" dirty="0"/>
              <a:t>We've spent this course building Atlas </a:t>
            </a:r>
            <a:r>
              <a:rPr lang="en-US" dirty="0" err="1"/>
              <a:t>TaskFlow</a:t>
            </a:r>
            <a:r>
              <a:rPr lang="en-US" dirty="0"/>
              <a:t> one sprint at a time.</a:t>
            </a:r>
          </a:p>
          <a:p>
            <a:r>
              <a:rPr lang="en-US" dirty="0"/>
              <a:t>Today, we're going to step back and look at the entire journey.</a:t>
            </a:r>
          </a:p>
          <a:p>
            <a:r>
              <a:rPr lang="en-US" dirty="0"/>
              <a:t>Not just the code.</a:t>
            </a:r>
          </a:p>
          <a:p>
            <a:r>
              <a:rPr lang="en-US" dirty="0"/>
              <a:t>Not just the database.</a:t>
            </a:r>
          </a:p>
          <a:p>
            <a:r>
              <a:rPr lang="en-US" dirty="0"/>
              <a:t>Not just Azure.</a:t>
            </a:r>
          </a:p>
          <a:p>
            <a:r>
              <a:rPr lang="en-US" dirty="0"/>
              <a:t>Not just the interface.</a:t>
            </a:r>
          </a:p>
          <a:p>
            <a:r>
              <a:rPr lang="en-US" dirty="0"/>
              <a:t>We're going to look at the </a:t>
            </a:r>
            <a:r>
              <a:rPr lang="en-US" b="1" dirty="0"/>
              <a:t>complete product and engineering story</a:t>
            </a:r>
            <a:r>
              <a:rPr lang="en-US" dirty="0"/>
              <a:t>.</a:t>
            </a:r>
          </a:p>
          <a:p>
            <a:r>
              <a:rPr lang="en-US" dirty="0"/>
              <a:t>This is our </a:t>
            </a:r>
            <a:r>
              <a:rPr lang="en-US" b="1" dirty="0"/>
              <a:t>Project Summary</a:t>
            </a:r>
            <a:r>
              <a:rPr lang="en-US" dirty="0"/>
              <a:t>.”</a:t>
            </a:r>
          </a:p>
          <a:p>
            <a:br>
              <a:rPr lang="en-US" dirty="0"/>
            </a:br>
            <a:endParaRPr lang="en-US" dirty="0"/>
          </a:p>
          <a:p>
            <a:r>
              <a:rPr lang="en-US" b="1" dirty="0"/>
              <a:t>Atlas Is More Than a Project</a:t>
            </a:r>
          </a:p>
          <a:p>
            <a:r>
              <a:rPr lang="en-US" dirty="0"/>
              <a:t>“Let's start with the statement at the top:</a:t>
            </a:r>
          </a:p>
          <a:p>
            <a:r>
              <a:rPr lang="en-US" b="1" dirty="0"/>
              <a:t>Atlas </a:t>
            </a:r>
            <a:r>
              <a:rPr lang="en-US" b="1" dirty="0" err="1"/>
              <a:t>TaskFlow</a:t>
            </a:r>
            <a:r>
              <a:rPr lang="en-US" b="1" dirty="0"/>
              <a:t> is more than a project.</a:t>
            </a:r>
            <a:endParaRPr lang="en-US" dirty="0"/>
          </a:p>
          <a:p>
            <a:r>
              <a:rPr lang="en-US" dirty="0"/>
              <a:t>That's intentional.</a:t>
            </a:r>
          </a:p>
          <a:p>
            <a:r>
              <a:rPr lang="en-US" dirty="0"/>
              <a:t>A traditional class project might be:</a:t>
            </a:r>
          </a:p>
          <a:p>
            <a:r>
              <a:rPr lang="en-US" dirty="0"/>
              <a:t>‘Build an application that demonstrates these programming concepts.’</a:t>
            </a:r>
          </a:p>
          <a:p>
            <a:r>
              <a:rPr lang="en-US" dirty="0"/>
              <a:t>Atlas is different.</a:t>
            </a:r>
          </a:p>
          <a:p>
            <a:r>
              <a:rPr lang="en-US" dirty="0"/>
              <a:t>We started with a problem.</a:t>
            </a:r>
          </a:p>
          <a:p>
            <a:r>
              <a:rPr lang="en-US" dirty="0"/>
              <a:t>We identified users.</a:t>
            </a:r>
          </a:p>
          <a:p>
            <a:r>
              <a:rPr lang="en-US" dirty="0"/>
              <a:t>We designed a solution.</a:t>
            </a:r>
          </a:p>
          <a:p>
            <a:r>
              <a:rPr lang="en-US" dirty="0"/>
              <a:t>We built it.</a:t>
            </a:r>
          </a:p>
          <a:p>
            <a:r>
              <a:rPr lang="en-US" dirty="0"/>
              <a:t>We tested it.</a:t>
            </a:r>
          </a:p>
          <a:p>
            <a:r>
              <a:rPr lang="en-US" dirty="0"/>
              <a:t>We secured it.</a:t>
            </a:r>
          </a:p>
          <a:p>
            <a:r>
              <a:rPr lang="en-US" dirty="0"/>
              <a:t>We deployed it.</a:t>
            </a:r>
          </a:p>
          <a:p>
            <a:r>
              <a:rPr lang="en-US" dirty="0"/>
              <a:t>We documented it.</a:t>
            </a:r>
          </a:p>
          <a:p>
            <a:r>
              <a:rPr lang="en-US" dirty="0"/>
              <a:t>We demonstrated it.</a:t>
            </a:r>
          </a:p>
          <a:p>
            <a:r>
              <a:rPr lang="en-US" dirty="0"/>
              <a:t>We evaluated it.</a:t>
            </a:r>
          </a:p>
          <a:p>
            <a:r>
              <a:rPr lang="en-US" dirty="0"/>
              <a:t>And now we're preparing to release it.</a:t>
            </a:r>
          </a:p>
          <a:p>
            <a:r>
              <a:rPr lang="en-US" dirty="0"/>
              <a:t>That's a product journey.”</a:t>
            </a:r>
          </a:p>
          <a:p>
            <a:br>
              <a:rPr lang="en-US" dirty="0"/>
            </a:br>
            <a:endParaRPr lang="en-US" dirty="0"/>
          </a:p>
          <a:p>
            <a:r>
              <a:rPr lang="en-US" b="1" dirty="0"/>
              <a:t>Our Purpose</a:t>
            </a:r>
          </a:p>
          <a:p>
            <a:r>
              <a:rPr lang="en-US" dirty="0"/>
              <a:t>“Let's remember why we built Atlas in the first place.</a:t>
            </a:r>
          </a:p>
          <a:p>
            <a:r>
              <a:rPr lang="en-US" dirty="0"/>
              <a:t>Our purpose was to solve a meaningful problem.</a:t>
            </a:r>
          </a:p>
          <a:p>
            <a:r>
              <a:rPr lang="en-US" dirty="0"/>
              <a:t>We wanted to create something useful for teams and people trying to organize work.</a:t>
            </a:r>
          </a:p>
          <a:p>
            <a:r>
              <a:rPr lang="en-US" dirty="0"/>
              <a:t>We wanted to deliver value to users and stakeholders.</a:t>
            </a:r>
          </a:p>
          <a:p>
            <a:r>
              <a:rPr lang="en-US" dirty="0"/>
              <a:t>We wanted to build something secure, reliable, and maintainable.</a:t>
            </a:r>
          </a:p>
          <a:p>
            <a:r>
              <a:rPr lang="en-US" dirty="0"/>
              <a:t>And we wanted to learn continuously as we built.</a:t>
            </a:r>
          </a:p>
          <a:p>
            <a:r>
              <a:rPr lang="en-US" dirty="0"/>
              <a:t>Most importantly, we wanted to release something we could be proud of.</a:t>
            </a:r>
          </a:p>
          <a:p>
            <a:r>
              <a:rPr lang="en-US" dirty="0"/>
              <a:t>That's a very different mindset from simply completing an assignment.”</a:t>
            </a:r>
          </a:p>
          <a:p>
            <a:br>
              <a:rPr lang="en-US" dirty="0"/>
            </a:br>
            <a:endParaRPr lang="en-US" dirty="0"/>
          </a:p>
          <a:p>
            <a:r>
              <a:rPr lang="en-US" b="1" dirty="0"/>
              <a:t>The Eight-Sprint Journey</a:t>
            </a:r>
          </a:p>
          <a:p>
            <a:r>
              <a:rPr lang="en-US" dirty="0"/>
              <a:t>“Now look at the journey across the middle.</a:t>
            </a:r>
          </a:p>
          <a:p>
            <a:r>
              <a:rPr lang="en-US" dirty="0"/>
              <a:t>Eight sprints.</a:t>
            </a:r>
          </a:p>
          <a:p>
            <a:r>
              <a:rPr lang="en-US" dirty="0"/>
              <a:t>One connected story.”</a:t>
            </a:r>
          </a:p>
          <a:p>
            <a:br>
              <a:rPr lang="en-US" dirty="0"/>
            </a:br>
            <a:endParaRPr lang="en-US" dirty="0"/>
          </a:p>
          <a:p>
            <a:r>
              <a:rPr lang="en-US" b="1" dirty="0"/>
              <a:t>Sprint 1 — PLAN IT</a:t>
            </a:r>
          </a:p>
          <a:p>
            <a:r>
              <a:rPr lang="en-US" dirty="0"/>
              <a:t>“We started with </a:t>
            </a:r>
            <a:r>
              <a:rPr lang="en-US" b="1" dirty="0"/>
              <a:t>Plan It</a:t>
            </a:r>
            <a:r>
              <a:rPr lang="en-US" dirty="0"/>
              <a:t>.</a:t>
            </a:r>
          </a:p>
          <a:p>
            <a:r>
              <a:rPr lang="en-US" dirty="0"/>
              <a:t>Before writing code, we asked:</a:t>
            </a:r>
          </a:p>
          <a:p>
            <a:r>
              <a:rPr lang="en-US" dirty="0"/>
              <a:t>What problem are we solving?</a:t>
            </a:r>
          </a:p>
          <a:p>
            <a:r>
              <a:rPr lang="en-US" dirty="0"/>
              <a:t>We thought about users, stakeholders, product vision, requirements, and how engineers approach problems.</a:t>
            </a:r>
          </a:p>
          <a:p>
            <a:r>
              <a:rPr lang="en-US" dirty="0"/>
              <a:t>The lesson was:</a:t>
            </a:r>
          </a:p>
          <a:p>
            <a:r>
              <a:rPr lang="en-US" b="1" dirty="0"/>
              <a:t>Don't start with code. Start with understanding.</a:t>
            </a:r>
            <a:r>
              <a:rPr lang="en-US" dirty="0"/>
              <a:t>”</a:t>
            </a:r>
          </a:p>
          <a:p>
            <a:br>
              <a:rPr lang="en-US" dirty="0"/>
            </a:br>
            <a:endParaRPr lang="en-US" dirty="0"/>
          </a:p>
          <a:p>
            <a:r>
              <a:rPr lang="en-US" b="1" dirty="0"/>
              <a:t>Sprint 2 — UNDERSTAND IT</a:t>
            </a:r>
          </a:p>
          <a:p>
            <a:r>
              <a:rPr lang="en-US" dirty="0"/>
              <a:t>“Then we moved into </a:t>
            </a:r>
            <a:r>
              <a:rPr lang="en-US" b="1" dirty="0"/>
              <a:t>Understand It</a:t>
            </a:r>
            <a:r>
              <a:rPr lang="en-US" dirty="0"/>
              <a:t>.</a:t>
            </a:r>
          </a:p>
          <a:p>
            <a:r>
              <a:rPr lang="en-US" dirty="0"/>
              <a:t>We learned what makes an application a SaaS product.</a:t>
            </a:r>
          </a:p>
          <a:p>
            <a:r>
              <a:rPr lang="en-US" dirty="0"/>
              <a:t>We considered cloud computing, customers, users, business models, and how a SaaS product creates value.</a:t>
            </a:r>
          </a:p>
          <a:p>
            <a:r>
              <a:rPr lang="en-US" dirty="0"/>
              <a:t>The lesson:</a:t>
            </a:r>
          </a:p>
          <a:p>
            <a:r>
              <a:rPr lang="en-US" b="1" dirty="0"/>
              <a:t>We're not just building software. We're building a service.</a:t>
            </a:r>
            <a:r>
              <a:rPr lang="en-US" dirty="0"/>
              <a:t>”</a:t>
            </a:r>
          </a:p>
          <a:p>
            <a:br>
              <a:rPr lang="en-US" dirty="0"/>
            </a:br>
            <a:endParaRPr lang="en-US" dirty="0"/>
          </a:p>
          <a:p>
            <a:r>
              <a:rPr lang="en-US" b="1" dirty="0"/>
              <a:t>Sprint 3 — DESIGN IT</a:t>
            </a:r>
          </a:p>
          <a:p>
            <a:r>
              <a:rPr lang="en-US" dirty="0"/>
              <a:t>“Then came </a:t>
            </a:r>
            <a:r>
              <a:rPr lang="en-US" b="1" dirty="0"/>
              <a:t>Design It</a:t>
            </a:r>
            <a:r>
              <a:rPr lang="en-US" dirty="0"/>
              <a:t>.</a:t>
            </a:r>
          </a:p>
          <a:p>
            <a:r>
              <a:rPr lang="en-US" dirty="0"/>
              <a:t>We turned our understanding into a blueprint.</a:t>
            </a:r>
          </a:p>
          <a:p>
            <a:r>
              <a:rPr lang="en-US" dirty="0"/>
              <a:t>Requirements.</a:t>
            </a:r>
          </a:p>
          <a:p>
            <a:r>
              <a:rPr lang="en-US" dirty="0"/>
              <a:t>Personas.</a:t>
            </a:r>
          </a:p>
          <a:p>
            <a:r>
              <a:rPr lang="en-US" dirty="0"/>
              <a:t>User journeys.</a:t>
            </a:r>
          </a:p>
          <a:p>
            <a:r>
              <a:rPr lang="en-US" dirty="0"/>
              <a:t>User stories.</a:t>
            </a:r>
          </a:p>
          <a:p>
            <a:r>
              <a:rPr lang="en-US" dirty="0"/>
              <a:t>Task flows.</a:t>
            </a:r>
          </a:p>
          <a:p>
            <a:r>
              <a:rPr lang="en-US" dirty="0"/>
              <a:t>Wireframes.</a:t>
            </a:r>
          </a:p>
          <a:p>
            <a:r>
              <a:rPr lang="en-US" dirty="0"/>
              <a:t>Information architecture.</a:t>
            </a:r>
          </a:p>
          <a:p>
            <a:r>
              <a:rPr lang="en-US" dirty="0"/>
              <a:t>Feature definitions.</a:t>
            </a:r>
          </a:p>
          <a:p>
            <a:r>
              <a:rPr lang="en-US" dirty="0"/>
              <a:t>Architecture thinking.</a:t>
            </a:r>
          </a:p>
          <a:p>
            <a:r>
              <a:rPr lang="en-US" dirty="0"/>
              <a:t>The lesson:</a:t>
            </a:r>
          </a:p>
          <a:p>
            <a:r>
              <a:rPr lang="en-US" b="1" dirty="0"/>
              <a:t>Know what you're building before you build it.</a:t>
            </a:r>
            <a:r>
              <a:rPr lang="en-US" dirty="0"/>
              <a:t>”</a:t>
            </a:r>
          </a:p>
          <a:p>
            <a:br>
              <a:rPr lang="en-US" dirty="0"/>
            </a:br>
            <a:endParaRPr lang="en-US" dirty="0"/>
          </a:p>
          <a:p>
            <a:r>
              <a:rPr lang="en-US" b="1" dirty="0"/>
              <a:t>Sprint 4 — BUILD &amp; DEPLOY IT</a:t>
            </a:r>
          </a:p>
          <a:p>
            <a:r>
              <a:rPr lang="en-US" dirty="0"/>
              <a:t>“Then we built.</a:t>
            </a:r>
          </a:p>
          <a:p>
            <a:r>
              <a:rPr lang="en-US" dirty="0"/>
              <a:t>ASP.NET Core.</a:t>
            </a:r>
          </a:p>
          <a:p>
            <a:r>
              <a:rPr lang="en-US" dirty="0"/>
              <a:t>MVC concepts.</a:t>
            </a:r>
          </a:p>
          <a:p>
            <a:r>
              <a:rPr lang="en-US" dirty="0"/>
              <a:t>Razor views.</a:t>
            </a:r>
          </a:p>
          <a:p>
            <a:r>
              <a:rPr lang="en-US" dirty="0"/>
              <a:t>Bootstrap.</a:t>
            </a:r>
          </a:p>
          <a:p>
            <a:r>
              <a:rPr lang="en-US" dirty="0"/>
              <a:t>GitHub.</a:t>
            </a:r>
          </a:p>
          <a:p>
            <a:r>
              <a:rPr lang="en-US" dirty="0"/>
              <a:t>Azure.</a:t>
            </a:r>
          </a:p>
          <a:p>
            <a:r>
              <a:rPr lang="en-US" dirty="0"/>
              <a:t>We turned the design into a working cloud application.</a:t>
            </a:r>
          </a:p>
          <a:p>
            <a:r>
              <a:rPr lang="en-US" dirty="0"/>
              <a:t>The lesson:</a:t>
            </a:r>
          </a:p>
          <a:p>
            <a:r>
              <a:rPr lang="en-US" b="1" dirty="0"/>
              <a:t>Turn the design into something real.</a:t>
            </a:r>
            <a:r>
              <a:rPr lang="en-US" dirty="0"/>
              <a:t>”</a:t>
            </a:r>
          </a:p>
          <a:p>
            <a:br>
              <a:rPr lang="en-US" dirty="0"/>
            </a:br>
            <a:endParaRPr lang="en-US" dirty="0"/>
          </a:p>
          <a:p>
            <a:r>
              <a:rPr lang="en-US" b="1" dirty="0"/>
              <a:t>Sprint 5 — REMEMBER IT</a:t>
            </a:r>
          </a:p>
          <a:p>
            <a:r>
              <a:rPr lang="en-US" dirty="0"/>
              <a:t>“Next came </a:t>
            </a:r>
            <a:r>
              <a:rPr lang="en-US" b="1" dirty="0"/>
              <a:t>Remember It</a:t>
            </a:r>
            <a:r>
              <a:rPr lang="en-US" dirty="0"/>
              <a:t>.</a:t>
            </a:r>
          </a:p>
          <a:p>
            <a:r>
              <a:rPr lang="en-US" dirty="0"/>
              <a:t>We gave Atlas memory.</a:t>
            </a:r>
          </a:p>
          <a:p>
            <a:r>
              <a:rPr lang="en-US" dirty="0"/>
              <a:t>We introduced databases.</a:t>
            </a:r>
          </a:p>
          <a:p>
            <a:r>
              <a:rPr lang="en-US" dirty="0"/>
              <a:t>Entity Framework Core.</a:t>
            </a:r>
          </a:p>
          <a:p>
            <a:r>
              <a:rPr lang="en-US" dirty="0"/>
              <a:t>Models.</a:t>
            </a:r>
          </a:p>
          <a:p>
            <a:r>
              <a:rPr lang="en-US" dirty="0" err="1"/>
              <a:t>DbContext</a:t>
            </a:r>
            <a:r>
              <a:rPr lang="en-US" dirty="0"/>
              <a:t>.</a:t>
            </a:r>
          </a:p>
          <a:p>
            <a:r>
              <a:rPr lang="en-US" dirty="0"/>
              <a:t>CRUD operations.</a:t>
            </a:r>
          </a:p>
          <a:p>
            <a:r>
              <a:rPr lang="en-US" dirty="0"/>
              <a:t>Validation.</a:t>
            </a:r>
          </a:p>
          <a:p>
            <a:r>
              <a:rPr lang="en-US" dirty="0"/>
              <a:t>Error handling.</a:t>
            </a:r>
          </a:p>
          <a:p>
            <a:r>
              <a:rPr lang="en-US" dirty="0"/>
              <a:t>Now Atlas could store and retrieve information.</a:t>
            </a:r>
          </a:p>
          <a:p>
            <a:r>
              <a:rPr lang="en-US" dirty="0"/>
              <a:t>The lesson:</a:t>
            </a:r>
          </a:p>
          <a:p>
            <a:r>
              <a:rPr lang="en-US" b="1" dirty="0"/>
              <a:t>Applications become useful when they can remember.</a:t>
            </a:r>
            <a:r>
              <a:rPr lang="en-US" dirty="0"/>
              <a:t>”</a:t>
            </a:r>
          </a:p>
          <a:p>
            <a:br>
              <a:rPr lang="en-US" dirty="0"/>
            </a:br>
            <a:endParaRPr lang="en-US" dirty="0"/>
          </a:p>
          <a:p>
            <a:r>
              <a:rPr lang="en-US" b="1" dirty="0"/>
              <a:t>Sprint 6 — PROTECT IT</a:t>
            </a:r>
          </a:p>
          <a:p>
            <a:r>
              <a:rPr lang="en-US" dirty="0"/>
              <a:t>“Then we asked:</a:t>
            </a:r>
          </a:p>
          <a:p>
            <a:r>
              <a:rPr lang="en-US" dirty="0"/>
              <a:t>Who should be allowed to access that information?</a:t>
            </a:r>
          </a:p>
          <a:p>
            <a:r>
              <a:rPr lang="en-US" dirty="0"/>
              <a:t>We introduced authentication.</a:t>
            </a:r>
          </a:p>
          <a:p>
            <a:r>
              <a:rPr lang="en-US" dirty="0"/>
              <a:t>Authorization.</a:t>
            </a:r>
          </a:p>
          <a:p>
            <a:r>
              <a:rPr lang="en-US" dirty="0"/>
              <a:t>Roles.</a:t>
            </a:r>
          </a:p>
          <a:p>
            <a:r>
              <a:rPr lang="en-US" dirty="0"/>
              <a:t>Permissions.</a:t>
            </a:r>
          </a:p>
          <a:p>
            <a:r>
              <a:rPr lang="en-US" dirty="0"/>
              <a:t>Security practices.</a:t>
            </a:r>
          </a:p>
          <a:p>
            <a:r>
              <a:rPr lang="en-US" dirty="0"/>
              <a:t>We learned that once software stores real information, we have a responsibility to protect it.</a:t>
            </a:r>
          </a:p>
          <a:p>
            <a:r>
              <a:rPr lang="en-US" dirty="0"/>
              <a:t>The lesson:</a:t>
            </a:r>
          </a:p>
          <a:p>
            <a:r>
              <a:rPr lang="en-US" b="1" dirty="0"/>
              <a:t>Build trust into the product.</a:t>
            </a:r>
            <a:r>
              <a:rPr lang="en-US" dirty="0"/>
              <a:t>”</a:t>
            </a:r>
          </a:p>
          <a:p>
            <a:br>
              <a:rPr lang="en-US" dirty="0"/>
            </a:br>
            <a:endParaRPr lang="en-US" dirty="0"/>
          </a:p>
          <a:p>
            <a:r>
              <a:rPr lang="en-US" b="1" dirty="0"/>
              <a:t>Sprint 7 — PREPARE IT</a:t>
            </a:r>
          </a:p>
          <a:p>
            <a:r>
              <a:rPr lang="en-US" dirty="0"/>
              <a:t>“Then we moved into </a:t>
            </a:r>
            <a:r>
              <a:rPr lang="en-US" b="1" dirty="0"/>
              <a:t>Prepare It</a:t>
            </a:r>
            <a:r>
              <a:rPr lang="en-US" dirty="0"/>
              <a:t>.</a:t>
            </a:r>
          </a:p>
          <a:p>
            <a:r>
              <a:rPr lang="en-US" dirty="0"/>
              <a:t>We asked:</a:t>
            </a:r>
          </a:p>
          <a:p>
            <a:r>
              <a:rPr lang="en-US" dirty="0"/>
              <a:t>Is Atlas actually ready for real users?</a:t>
            </a:r>
          </a:p>
          <a:p>
            <a:r>
              <a:rPr lang="en-US" dirty="0"/>
              <a:t>We considered reliability.</a:t>
            </a:r>
          </a:p>
          <a:p>
            <a:r>
              <a:rPr lang="en-US" dirty="0"/>
              <a:t>Observability.</a:t>
            </a:r>
          </a:p>
          <a:p>
            <a:r>
              <a:rPr lang="en-US" dirty="0"/>
              <a:t>Usability.</a:t>
            </a:r>
          </a:p>
          <a:p>
            <a:r>
              <a:rPr lang="en-US" dirty="0"/>
              <a:t>Security.</a:t>
            </a:r>
          </a:p>
          <a:p>
            <a:r>
              <a:rPr lang="en-US" dirty="0"/>
              <a:t>Performance.</a:t>
            </a:r>
          </a:p>
          <a:p>
            <a:r>
              <a:rPr lang="en-US" dirty="0"/>
              <a:t>Operations.</a:t>
            </a:r>
          </a:p>
          <a:p>
            <a:r>
              <a:rPr lang="en-US" dirty="0"/>
              <a:t>Configuration.</a:t>
            </a:r>
          </a:p>
          <a:p>
            <a:r>
              <a:rPr lang="en-US" dirty="0"/>
              <a:t>Documentation.</a:t>
            </a:r>
          </a:p>
          <a:p>
            <a:r>
              <a:rPr lang="en-US" dirty="0"/>
              <a:t>Production readiness.</a:t>
            </a:r>
          </a:p>
          <a:p>
            <a:r>
              <a:rPr lang="en-US" dirty="0"/>
              <a:t>We took working software and tried to make it dependable software.</a:t>
            </a:r>
          </a:p>
          <a:p>
            <a:r>
              <a:rPr lang="en-US" dirty="0"/>
              <a:t>The lesson:</a:t>
            </a:r>
          </a:p>
          <a:p>
            <a:r>
              <a:rPr lang="en-US" b="1" dirty="0"/>
              <a:t>Working isn't enough. It has to be ready.</a:t>
            </a:r>
            <a:r>
              <a:rPr lang="en-US" dirty="0"/>
              <a:t>”</a:t>
            </a:r>
          </a:p>
          <a:p>
            <a:br>
              <a:rPr lang="en-US" dirty="0"/>
            </a:br>
            <a:endParaRPr lang="en-US" dirty="0"/>
          </a:p>
          <a:p>
            <a:r>
              <a:rPr lang="en-US" b="1" dirty="0"/>
              <a:t>Sprint 8 — RELEASE IT</a:t>
            </a:r>
          </a:p>
          <a:p>
            <a:r>
              <a:rPr lang="en-US" dirty="0"/>
              <a:t>“And finally:</a:t>
            </a:r>
          </a:p>
          <a:p>
            <a:r>
              <a:rPr lang="en-US" b="1" dirty="0"/>
              <a:t>Release It.</a:t>
            </a:r>
            <a:endParaRPr lang="en-US" dirty="0"/>
          </a:p>
          <a:p>
            <a:r>
              <a:rPr lang="en-US" dirty="0"/>
              <a:t>We tested.</a:t>
            </a:r>
          </a:p>
          <a:p>
            <a:r>
              <a:rPr lang="en-US" dirty="0"/>
              <a:t>We fixed.</a:t>
            </a:r>
          </a:p>
          <a:p>
            <a:r>
              <a:rPr lang="en-US" dirty="0"/>
              <a:t>We polished.</a:t>
            </a:r>
          </a:p>
          <a:p>
            <a:r>
              <a:rPr lang="en-US" dirty="0"/>
              <a:t>We deployed.</a:t>
            </a:r>
          </a:p>
          <a:p>
            <a:r>
              <a:rPr lang="en-US" dirty="0"/>
              <a:t>We documented.</a:t>
            </a:r>
          </a:p>
          <a:p>
            <a:r>
              <a:rPr lang="en-US" dirty="0"/>
              <a:t>We demonstrated.</a:t>
            </a:r>
          </a:p>
          <a:p>
            <a:r>
              <a:rPr lang="en-US" dirty="0"/>
              <a:t>We evaluated.</a:t>
            </a:r>
          </a:p>
          <a:p>
            <a:r>
              <a:rPr lang="en-US" dirty="0"/>
              <a:t>We reflected.</a:t>
            </a:r>
          </a:p>
          <a:p>
            <a:r>
              <a:rPr lang="en-US" dirty="0"/>
              <a:t>And now we're bringing everything together.</a:t>
            </a:r>
          </a:p>
          <a:p>
            <a:r>
              <a:rPr lang="en-US" dirty="0"/>
              <a:t>The lesson:</a:t>
            </a:r>
          </a:p>
          <a:p>
            <a:r>
              <a:rPr lang="en-US" b="1" dirty="0"/>
              <a:t>A product isn't finished when it works. It's finished when we can responsibly deliver it.</a:t>
            </a:r>
            <a:r>
              <a:rPr lang="en-US" dirty="0"/>
              <a:t>”</a:t>
            </a:r>
          </a:p>
          <a:p>
            <a:br>
              <a:rPr lang="en-US" dirty="0"/>
            </a:br>
            <a:endParaRPr lang="en-US" dirty="0"/>
          </a:p>
          <a:p>
            <a:r>
              <a:rPr lang="en-US" b="1" dirty="0"/>
              <a:t>What We Achieved</a:t>
            </a:r>
          </a:p>
          <a:p>
            <a:r>
              <a:rPr lang="en-US" dirty="0"/>
              <a:t>“Let's look at the achievement list.</a:t>
            </a:r>
          </a:p>
          <a:p>
            <a:r>
              <a:rPr lang="en-US" dirty="0"/>
              <a:t>We delivered a production-ready SaaS application.</a:t>
            </a:r>
          </a:p>
          <a:p>
            <a:r>
              <a:rPr lang="en-US" dirty="0"/>
              <a:t>We implemented authentication and authorization.</a:t>
            </a:r>
          </a:p>
          <a:p>
            <a:r>
              <a:rPr lang="en-US" dirty="0"/>
              <a:t>We designed a maintainable architecture.</a:t>
            </a:r>
          </a:p>
          <a:p>
            <a:r>
              <a:rPr lang="en-US" dirty="0"/>
              <a:t>We implemented persistent data using a relational database.</a:t>
            </a:r>
          </a:p>
          <a:p>
            <a:r>
              <a:rPr lang="en-US" dirty="0"/>
              <a:t>We deployed Atlas to Azure.</a:t>
            </a:r>
          </a:p>
          <a:p>
            <a:r>
              <a:rPr lang="en-US" dirty="0"/>
              <a:t>We created documentation.</a:t>
            </a:r>
          </a:p>
          <a:p>
            <a:r>
              <a:rPr lang="en-US" dirty="0"/>
              <a:t>We evaluated the product.</a:t>
            </a:r>
          </a:p>
          <a:p>
            <a:r>
              <a:rPr lang="en-US" dirty="0"/>
              <a:t>And we gathered feedback.</a:t>
            </a:r>
          </a:p>
          <a:p>
            <a:r>
              <a:rPr lang="en-US" dirty="0"/>
              <a:t>That's a substantial engineering journey.”</a:t>
            </a:r>
          </a:p>
          <a:p>
            <a:br>
              <a:rPr lang="en-US" dirty="0"/>
            </a:br>
            <a:endParaRPr lang="en-US" dirty="0"/>
          </a:p>
          <a:p>
            <a:r>
              <a:rPr lang="en-US" b="1" dirty="0"/>
              <a:t>The Technology Is Important — But It Isn't the Story</a:t>
            </a:r>
          </a:p>
          <a:p>
            <a:r>
              <a:rPr lang="en-US" dirty="0"/>
              <a:t>“Look at the technology panel.</a:t>
            </a:r>
          </a:p>
          <a:p>
            <a:r>
              <a:rPr lang="en-US" dirty="0"/>
              <a:t>We used:</a:t>
            </a:r>
          </a:p>
          <a:p>
            <a:r>
              <a:rPr lang="en-US" b="1" dirty="0"/>
              <a:t>ASP.NET Core</a:t>
            </a:r>
            <a:endParaRPr lang="en-US" dirty="0"/>
          </a:p>
          <a:p>
            <a:r>
              <a:rPr lang="en-US" b="1" dirty="0"/>
              <a:t>Entity Framework Core</a:t>
            </a:r>
            <a:endParaRPr lang="en-US" dirty="0"/>
          </a:p>
          <a:p>
            <a:r>
              <a:rPr lang="en-US" b="1" dirty="0"/>
              <a:t>Azure App Service</a:t>
            </a:r>
            <a:endParaRPr lang="en-US" dirty="0"/>
          </a:p>
          <a:p>
            <a:r>
              <a:rPr lang="en-US" b="1" dirty="0"/>
              <a:t>Azure SQL Database</a:t>
            </a:r>
            <a:endParaRPr lang="en-US" dirty="0"/>
          </a:p>
          <a:p>
            <a:r>
              <a:rPr lang="en-US" b="1" dirty="0"/>
              <a:t>Microsoft Entra ID</a:t>
            </a:r>
            <a:endParaRPr lang="en-US" dirty="0"/>
          </a:p>
          <a:p>
            <a:r>
              <a:rPr lang="en-US" b="1" dirty="0"/>
              <a:t>GitHub</a:t>
            </a:r>
            <a:endParaRPr lang="en-US" dirty="0"/>
          </a:p>
          <a:p>
            <a:r>
              <a:rPr lang="en-US" b="1" dirty="0"/>
              <a:t>GitHub Actions</a:t>
            </a:r>
            <a:endParaRPr lang="en-US" dirty="0"/>
          </a:p>
          <a:p>
            <a:r>
              <a:rPr lang="en-US" b="1" dirty="0"/>
              <a:t>Bootstrap</a:t>
            </a:r>
            <a:endParaRPr lang="en-US" dirty="0"/>
          </a:p>
          <a:p>
            <a:r>
              <a:rPr lang="en-US" b="1" dirty="0"/>
              <a:t>HTML, CSS, and JavaScript</a:t>
            </a:r>
            <a:endParaRPr lang="en-US" dirty="0"/>
          </a:p>
          <a:p>
            <a:r>
              <a:rPr lang="en-US" dirty="0"/>
              <a:t>Those technologies matter.</a:t>
            </a:r>
          </a:p>
          <a:p>
            <a:r>
              <a:rPr lang="en-US" dirty="0"/>
              <a:t>You should understand them.</a:t>
            </a:r>
          </a:p>
          <a:p>
            <a:r>
              <a:rPr lang="en-US" dirty="0"/>
              <a:t>But notice something:</a:t>
            </a:r>
          </a:p>
          <a:p>
            <a:r>
              <a:rPr lang="en-US" dirty="0"/>
              <a:t>The technologies aren't the story.</a:t>
            </a:r>
          </a:p>
          <a:p>
            <a:r>
              <a:rPr lang="en-US" dirty="0"/>
              <a:t>They are the </a:t>
            </a:r>
            <a:r>
              <a:rPr lang="en-US" b="1" dirty="0"/>
              <a:t>tools we used to tell the story</a:t>
            </a:r>
            <a:r>
              <a:rPr lang="en-US" dirty="0"/>
              <a:t>.</a:t>
            </a:r>
          </a:p>
          <a:p>
            <a:r>
              <a:rPr lang="en-US" dirty="0"/>
              <a:t>We didn't learn Azure just so we could say:</a:t>
            </a:r>
          </a:p>
          <a:p>
            <a:r>
              <a:rPr lang="en-US" dirty="0"/>
              <a:t>‘We used Azure.’</a:t>
            </a:r>
          </a:p>
          <a:p>
            <a:r>
              <a:rPr lang="en-US" dirty="0"/>
              <a:t>We used Azure because we needed to deploy a cloud application.</a:t>
            </a:r>
          </a:p>
          <a:p>
            <a:r>
              <a:rPr lang="en-US" dirty="0"/>
              <a:t>We didn't learn Entity Framework Core just because it's on a technology list.</a:t>
            </a:r>
          </a:p>
          <a:p>
            <a:r>
              <a:rPr lang="en-US" dirty="0"/>
              <a:t>We learned it because Atlas needed persistent data.</a:t>
            </a:r>
          </a:p>
          <a:p>
            <a:r>
              <a:rPr lang="en-US" dirty="0"/>
              <a:t>That's the engineering mindset.”</a:t>
            </a:r>
          </a:p>
          <a:p>
            <a:br>
              <a:rPr lang="en-US" dirty="0"/>
            </a:br>
            <a:endParaRPr lang="en-US" dirty="0"/>
          </a:p>
          <a:p>
            <a:r>
              <a:rPr lang="en-US" b="1" dirty="0"/>
              <a:t>What We Solved</a:t>
            </a:r>
          </a:p>
          <a:p>
            <a:r>
              <a:rPr lang="en-US" dirty="0"/>
              <a:t>“Now let's return to the user.</a:t>
            </a:r>
          </a:p>
          <a:p>
            <a:r>
              <a:rPr lang="en-US" dirty="0"/>
              <a:t>What problem did Atlas actually solve?</a:t>
            </a:r>
          </a:p>
          <a:p>
            <a:r>
              <a:rPr lang="en-US" dirty="0"/>
              <a:t>Atlas helps teams organize work, track progress, and collaborate through a centralized platform.</a:t>
            </a:r>
          </a:p>
          <a:p>
            <a:r>
              <a:rPr lang="en-US" dirty="0"/>
              <a:t>That means we're connecting our technical implementation back to a real user outcome.</a:t>
            </a:r>
          </a:p>
          <a:p>
            <a:r>
              <a:rPr lang="en-US" dirty="0"/>
              <a:t>That's important.</a:t>
            </a:r>
          </a:p>
          <a:p>
            <a:r>
              <a:rPr lang="en-US" dirty="0"/>
              <a:t>Because the ultimate purpose of software isn't to demonstrate technology.</a:t>
            </a:r>
          </a:p>
          <a:p>
            <a:r>
              <a:rPr lang="en-US" dirty="0"/>
              <a:t>It's to help someone accomplish something.”</a:t>
            </a:r>
          </a:p>
          <a:p>
            <a:br>
              <a:rPr lang="en-US" dirty="0"/>
            </a:br>
            <a:endParaRPr lang="en-US" dirty="0"/>
          </a:p>
          <a:p>
            <a:r>
              <a:rPr lang="en-US" b="1" dirty="0"/>
              <a:t>Who Benefits?</a:t>
            </a:r>
          </a:p>
          <a:p>
            <a:r>
              <a:rPr lang="en-US" dirty="0"/>
              <a:t>“Who benefits from Atlas?</a:t>
            </a:r>
          </a:p>
          <a:p>
            <a:r>
              <a:rPr lang="en-US" dirty="0"/>
              <a:t>Teams.</a:t>
            </a:r>
          </a:p>
          <a:p>
            <a:r>
              <a:rPr lang="en-US" dirty="0"/>
              <a:t>Project managers.</a:t>
            </a:r>
          </a:p>
          <a:p>
            <a:r>
              <a:rPr lang="en-US" dirty="0"/>
              <a:t>Developers.</a:t>
            </a:r>
          </a:p>
          <a:p>
            <a:r>
              <a:rPr lang="en-US" dirty="0"/>
              <a:t>Contributors.</a:t>
            </a:r>
          </a:p>
          <a:p>
            <a:r>
              <a:rPr lang="en-US" dirty="0"/>
              <a:t>Organizations.</a:t>
            </a:r>
          </a:p>
          <a:p>
            <a:r>
              <a:rPr lang="en-US" dirty="0"/>
              <a:t>Stakeholders.</a:t>
            </a:r>
          </a:p>
          <a:p>
            <a:r>
              <a:rPr lang="en-US" dirty="0"/>
              <a:t>And anyone who needs a better way to organize work.</a:t>
            </a:r>
          </a:p>
          <a:p>
            <a:r>
              <a:rPr lang="en-US" dirty="0"/>
              <a:t>Different users may experience different value.</a:t>
            </a:r>
          </a:p>
          <a:p>
            <a:r>
              <a:rPr lang="en-US" dirty="0"/>
              <a:t>That's why understanding the audience was so important back in Sprint 1.”</a:t>
            </a:r>
          </a:p>
          <a:p>
            <a:br>
              <a:rPr lang="en-US" dirty="0"/>
            </a:br>
            <a:endParaRPr lang="en-US" dirty="0"/>
          </a:p>
          <a:p>
            <a:r>
              <a:rPr lang="en-US" b="1" dirty="0"/>
              <a:t>Measuring Impact</a:t>
            </a:r>
          </a:p>
          <a:p>
            <a:r>
              <a:rPr lang="en-US" dirty="0"/>
              <a:t>“Now we get to something interesting:</a:t>
            </a:r>
          </a:p>
          <a:p>
            <a:r>
              <a:rPr lang="en-US" b="1" dirty="0"/>
              <a:t>How do we know Atlas is successful?</a:t>
            </a:r>
            <a:endParaRPr lang="en-US" dirty="0"/>
          </a:p>
          <a:p>
            <a:r>
              <a:rPr lang="en-US" dirty="0"/>
              <a:t>We need evidence.</a:t>
            </a:r>
          </a:p>
          <a:p>
            <a:r>
              <a:rPr lang="en-US" dirty="0"/>
              <a:t>The metrics shown here are examples of the types of measurements we might track after release.</a:t>
            </a:r>
          </a:p>
          <a:p>
            <a:r>
              <a:rPr lang="en-US" dirty="0"/>
              <a:t>Things like:</a:t>
            </a:r>
          </a:p>
          <a:p>
            <a:pPr lvl="0"/>
            <a:r>
              <a:rPr lang="en-US" dirty="0"/>
              <a:t>task completion,</a:t>
            </a:r>
          </a:p>
          <a:p>
            <a:pPr lvl="0"/>
            <a:r>
              <a:rPr lang="en-US" dirty="0"/>
              <a:t>productivity,</a:t>
            </a:r>
          </a:p>
          <a:p>
            <a:pPr lvl="0"/>
            <a:r>
              <a:rPr lang="en-US" dirty="0"/>
              <a:t>user satisfaction,</a:t>
            </a:r>
          </a:p>
          <a:p>
            <a:pPr lvl="0"/>
            <a:r>
              <a:rPr lang="en-US" dirty="0"/>
              <a:t>system availability,</a:t>
            </a:r>
          </a:p>
          <a:p>
            <a:pPr lvl="0"/>
            <a:r>
              <a:rPr lang="en-US" dirty="0"/>
              <a:t>response time.</a:t>
            </a:r>
          </a:p>
          <a:p>
            <a:r>
              <a:rPr lang="en-US" dirty="0"/>
              <a:t>The exact numbers matter less than the principle:</a:t>
            </a:r>
          </a:p>
          <a:p>
            <a:r>
              <a:rPr lang="en-US" b="1" dirty="0"/>
              <a:t>If we can't measure outcomes, it's difficult to know whether we're actually improving them.</a:t>
            </a:r>
            <a:endParaRPr lang="en-US" dirty="0"/>
          </a:p>
          <a:p>
            <a:r>
              <a:rPr lang="en-US" dirty="0"/>
              <a:t>And we have to be honest about our data.</a:t>
            </a:r>
          </a:p>
          <a:p>
            <a:r>
              <a:rPr lang="en-US" dirty="0"/>
              <a:t>If a metric comes from a limited initial release period, we should say so.</a:t>
            </a:r>
          </a:p>
          <a:p>
            <a:r>
              <a:rPr lang="en-US" dirty="0"/>
              <a:t>Good engineering doesn't manipulate numbers to make the product look better.</a:t>
            </a:r>
          </a:p>
          <a:p>
            <a:r>
              <a:rPr lang="en-US" dirty="0"/>
              <a:t>It uses evidence to understand reality.”</a:t>
            </a:r>
          </a:p>
          <a:p>
            <a:br>
              <a:rPr lang="en-US" dirty="0"/>
            </a:br>
            <a:endParaRPr lang="en-US" dirty="0"/>
          </a:p>
          <a:p>
            <a:r>
              <a:rPr lang="en-US" b="1" dirty="0"/>
              <a:t>What's Next?</a:t>
            </a:r>
          </a:p>
          <a:p>
            <a:r>
              <a:rPr lang="en-US" dirty="0"/>
              <a:t>“Version 1.0 doesn't mean we're done forever.</a:t>
            </a:r>
          </a:p>
          <a:p>
            <a:r>
              <a:rPr lang="en-US" dirty="0"/>
              <a:t>In fact, release gives us information that helps determine what comes next.</a:t>
            </a:r>
          </a:p>
          <a:p>
            <a:r>
              <a:rPr lang="en-US" dirty="0"/>
              <a:t>Maybe users want priorities and reminders.</a:t>
            </a:r>
          </a:p>
          <a:p>
            <a:r>
              <a:rPr lang="en-US" dirty="0"/>
              <a:t>Maybe they want attachments and comments.</a:t>
            </a:r>
          </a:p>
          <a:p>
            <a:r>
              <a:rPr lang="en-US" dirty="0"/>
              <a:t>Maybe reporting needs improvement.</a:t>
            </a:r>
          </a:p>
          <a:p>
            <a:r>
              <a:rPr lang="en-US" dirty="0"/>
              <a:t>Maybe mobile experiences need work.</a:t>
            </a:r>
          </a:p>
          <a:p>
            <a:r>
              <a:rPr lang="en-US" dirty="0"/>
              <a:t>Maybe teams need better collaboration features.</a:t>
            </a:r>
          </a:p>
          <a:p>
            <a:r>
              <a:rPr lang="en-US" dirty="0"/>
              <a:t>Maybe new analytics would create value.</a:t>
            </a:r>
          </a:p>
          <a:p>
            <a:r>
              <a:rPr lang="en-US" dirty="0"/>
              <a:t>Those possibilities become candidates for future versions.</a:t>
            </a:r>
          </a:p>
          <a:p>
            <a:r>
              <a:rPr lang="en-US" dirty="0"/>
              <a:t>But we shouldn't automatically build everything users ask for.</a:t>
            </a:r>
          </a:p>
          <a:p>
            <a:r>
              <a:rPr lang="en-US" dirty="0"/>
              <a:t>We evaluate.</a:t>
            </a:r>
          </a:p>
          <a:p>
            <a:r>
              <a:rPr lang="en-US" dirty="0"/>
              <a:t>We prioritize.</a:t>
            </a:r>
          </a:p>
          <a:p>
            <a:r>
              <a:rPr lang="en-US" dirty="0"/>
              <a:t>We make decisions.</a:t>
            </a:r>
          </a:p>
          <a:p>
            <a:r>
              <a:rPr lang="en-US" dirty="0"/>
              <a:t>That's product thinking.”</a:t>
            </a:r>
          </a:p>
          <a:p>
            <a:br>
              <a:rPr lang="en-US" dirty="0"/>
            </a:br>
            <a:endParaRPr lang="en-US" dirty="0"/>
          </a:p>
          <a:p>
            <a:r>
              <a:rPr lang="en-US" b="1" dirty="0"/>
              <a:t>The Continuous Delivery &amp; Improvement Cycle</a:t>
            </a:r>
          </a:p>
          <a:p>
            <a:r>
              <a:rPr lang="en-US" dirty="0"/>
              <a:t>“The bottom of the artifact gives us one of the most important ideas in the entire course:</a:t>
            </a:r>
          </a:p>
          <a:p>
            <a:r>
              <a:rPr lang="en-US" b="1" dirty="0"/>
              <a:t>Plan → Build → Test → Deploy → Monitor → Learn → Improve → Repeat</a:t>
            </a:r>
            <a:endParaRPr lang="en-US" dirty="0"/>
          </a:p>
          <a:p>
            <a:r>
              <a:rPr lang="en-US" dirty="0"/>
              <a:t>Notice the final word:</a:t>
            </a:r>
          </a:p>
          <a:p>
            <a:r>
              <a:rPr lang="en-US" b="1" dirty="0"/>
              <a:t>Repeat.</a:t>
            </a:r>
            <a:endParaRPr lang="en-US" dirty="0"/>
          </a:p>
          <a:p>
            <a:r>
              <a:rPr lang="en-US" dirty="0"/>
              <a:t>Software development is a cycle.</a:t>
            </a:r>
          </a:p>
          <a:p>
            <a:r>
              <a:rPr lang="en-US" dirty="0"/>
              <a:t>We don't build once and disappear.</a:t>
            </a:r>
          </a:p>
          <a:p>
            <a:r>
              <a:rPr lang="en-US" dirty="0"/>
              <a:t>We continuously learn from what happens after release.</a:t>
            </a:r>
          </a:p>
          <a:p>
            <a:r>
              <a:rPr lang="en-US" dirty="0"/>
              <a:t>That learning informs the next version.”</a:t>
            </a:r>
          </a:p>
          <a:p>
            <a:br>
              <a:rPr lang="en-US" dirty="0"/>
            </a:br>
            <a:endParaRPr lang="en-US" dirty="0"/>
          </a:p>
          <a:p>
            <a:r>
              <a:rPr lang="en-US" b="1" dirty="0"/>
              <a:t>The Course Comes Full Circle</a:t>
            </a:r>
          </a:p>
          <a:p>
            <a:r>
              <a:rPr lang="en-US" dirty="0"/>
              <a:t>“Remember where we started.</a:t>
            </a:r>
          </a:p>
          <a:p>
            <a:r>
              <a:rPr lang="en-US" dirty="0"/>
              <a:t>Sprint 1:</a:t>
            </a:r>
          </a:p>
          <a:p>
            <a:r>
              <a:rPr lang="en-US" b="1" dirty="0"/>
              <a:t>What problem are we solving?</a:t>
            </a:r>
            <a:endParaRPr lang="en-US" dirty="0"/>
          </a:p>
          <a:p>
            <a:r>
              <a:rPr lang="en-US" dirty="0"/>
              <a:t>Now, at the end:</a:t>
            </a:r>
          </a:p>
          <a:p>
            <a:r>
              <a:rPr lang="en-US" b="1" dirty="0"/>
              <a:t>Did we solve it?</a:t>
            </a:r>
            <a:endParaRPr lang="en-US" dirty="0"/>
          </a:p>
          <a:p>
            <a:r>
              <a:rPr lang="en-US" dirty="0"/>
              <a:t>That's the full circle.</a:t>
            </a:r>
          </a:p>
          <a:p>
            <a:r>
              <a:rPr lang="en-US" dirty="0"/>
              <a:t>We started with a question.</a:t>
            </a:r>
          </a:p>
          <a:p>
            <a:r>
              <a:rPr lang="en-US" dirty="0"/>
              <a:t>We built a solution.</a:t>
            </a:r>
          </a:p>
          <a:p>
            <a:r>
              <a:rPr lang="en-US" dirty="0"/>
              <a:t>And now we have evidence we can use to evaluate that solution.</a:t>
            </a:r>
          </a:p>
          <a:p>
            <a:r>
              <a:rPr lang="en-US" dirty="0"/>
              <a:t>That's engineering.”</a:t>
            </a:r>
          </a:p>
          <a:p>
            <a:br>
              <a:rPr lang="en-US" dirty="0"/>
            </a:br>
            <a:endParaRPr lang="en-US" dirty="0"/>
          </a:p>
          <a:p>
            <a:r>
              <a:rPr lang="en-US" b="1" dirty="0"/>
              <a:t>What Students Should Be Proud Of</a:t>
            </a:r>
          </a:p>
          <a:p>
            <a:r>
              <a:rPr lang="en-US" dirty="0"/>
              <a:t>“I want you to recognize what you've accomplished.</a:t>
            </a:r>
          </a:p>
          <a:p>
            <a:r>
              <a:rPr lang="en-US" dirty="0"/>
              <a:t>You didn't simply write some C#.</a:t>
            </a:r>
          </a:p>
          <a:p>
            <a:r>
              <a:rPr lang="en-US" dirty="0"/>
              <a:t>You didn't simply create some web pages.</a:t>
            </a:r>
          </a:p>
          <a:p>
            <a:r>
              <a:rPr lang="en-US" dirty="0"/>
              <a:t>You didn't simply deploy an Azure application.</a:t>
            </a:r>
          </a:p>
          <a:p>
            <a:r>
              <a:rPr lang="en-US" dirty="0"/>
              <a:t>You learned how the pieces fit together.</a:t>
            </a:r>
          </a:p>
          <a:p>
            <a:r>
              <a:rPr lang="en-US" dirty="0"/>
              <a:t>You experienced:</a:t>
            </a:r>
          </a:p>
          <a:p>
            <a:r>
              <a:rPr lang="en-US" b="1" dirty="0"/>
              <a:t>planning,</a:t>
            </a:r>
            <a:endParaRPr lang="en-US" dirty="0"/>
          </a:p>
          <a:p>
            <a:r>
              <a:rPr lang="en-US" b="1" dirty="0"/>
              <a:t>product thinking,</a:t>
            </a:r>
            <a:endParaRPr lang="en-US" dirty="0"/>
          </a:p>
          <a:p>
            <a:r>
              <a:rPr lang="en-US" b="1" dirty="0"/>
              <a:t>design,</a:t>
            </a:r>
            <a:endParaRPr lang="en-US" dirty="0"/>
          </a:p>
          <a:p>
            <a:r>
              <a:rPr lang="en-US" b="1" dirty="0"/>
              <a:t>development,</a:t>
            </a:r>
            <a:endParaRPr lang="en-US" dirty="0"/>
          </a:p>
          <a:p>
            <a:r>
              <a:rPr lang="en-US" b="1" dirty="0"/>
              <a:t>data,</a:t>
            </a:r>
            <a:endParaRPr lang="en-US" dirty="0"/>
          </a:p>
          <a:p>
            <a:r>
              <a:rPr lang="en-US" b="1" dirty="0"/>
              <a:t>security,</a:t>
            </a:r>
            <a:endParaRPr lang="en-US" dirty="0"/>
          </a:p>
          <a:p>
            <a:r>
              <a:rPr lang="en-US" b="1" dirty="0"/>
              <a:t>deployment,</a:t>
            </a:r>
            <a:endParaRPr lang="en-US" dirty="0"/>
          </a:p>
          <a:p>
            <a:r>
              <a:rPr lang="en-US" b="1" dirty="0"/>
              <a:t>testing,</a:t>
            </a:r>
            <a:endParaRPr lang="en-US" dirty="0"/>
          </a:p>
          <a:p>
            <a:r>
              <a:rPr lang="en-US" b="1" dirty="0"/>
              <a:t>documentation,</a:t>
            </a:r>
            <a:endParaRPr lang="en-US" dirty="0"/>
          </a:p>
          <a:p>
            <a:r>
              <a:rPr lang="en-US" b="1" dirty="0"/>
              <a:t>presentation,</a:t>
            </a:r>
            <a:endParaRPr lang="en-US" dirty="0"/>
          </a:p>
          <a:p>
            <a:r>
              <a:rPr lang="en-US" b="1" dirty="0"/>
              <a:t>evaluation,</a:t>
            </a:r>
            <a:endParaRPr lang="en-US" dirty="0"/>
          </a:p>
          <a:p>
            <a:r>
              <a:rPr lang="en-US" dirty="0"/>
              <a:t>and </a:t>
            </a:r>
            <a:r>
              <a:rPr lang="en-US" b="1" dirty="0"/>
              <a:t>reflection.</a:t>
            </a:r>
            <a:endParaRPr lang="en-US" dirty="0"/>
          </a:p>
          <a:p>
            <a:r>
              <a:rPr lang="en-US" dirty="0"/>
              <a:t>That's a much bigger skill set.”</a:t>
            </a:r>
          </a:p>
          <a:p>
            <a:br>
              <a:rPr lang="en-US" dirty="0"/>
            </a:br>
            <a:endParaRPr lang="en-US" dirty="0"/>
          </a:p>
          <a:p>
            <a:r>
              <a:rPr lang="en-US" b="1" dirty="0"/>
              <a:t>The Professional Mindset</a:t>
            </a:r>
          </a:p>
          <a:p>
            <a:r>
              <a:rPr lang="en-US" dirty="0"/>
              <a:t>“There's another line on this artifact that I really like:</a:t>
            </a:r>
          </a:p>
          <a:p>
            <a:r>
              <a:rPr lang="en-US" b="1" dirty="0"/>
              <a:t>Alone we can do so little; together we can do so much.</a:t>
            </a:r>
            <a:endParaRPr lang="en-US" dirty="0"/>
          </a:p>
          <a:p>
            <a:r>
              <a:rPr lang="en-US" dirty="0"/>
              <a:t>Software engineering is a team sport.</a:t>
            </a:r>
          </a:p>
          <a:p>
            <a:r>
              <a:rPr lang="en-US" dirty="0"/>
              <a:t>Real products are built by people with different skills.</a:t>
            </a:r>
          </a:p>
          <a:p>
            <a:r>
              <a:rPr lang="en-US" dirty="0"/>
              <a:t>Developers.</a:t>
            </a:r>
          </a:p>
          <a:p>
            <a:r>
              <a:rPr lang="en-US" dirty="0"/>
              <a:t>Designers.</a:t>
            </a:r>
          </a:p>
          <a:p>
            <a:r>
              <a:rPr lang="en-US" dirty="0"/>
              <a:t>Testers.</a:t>
            </a:r>
          </a:p>
          <a:p>
            <a:r>
              <a:rPr lang="en-US" dirty="0"/>
              <a:t>Product managers.</a:t>
            </a:r>
          </a:p>
          <a:p>
            <a:r>
              <a:rPr lang="en-US" dirty="0"/>
              <a:t>Cloud engineers.</a:t>
            </a:r>
          </a:p>
          <a:p>
            <a:r>
              <a:rPr lang="en-US" dirty="0"/>
              <a:t>Security professionals.</a:t>
            </a:r>
          </a:p>
          <a:p>
            <a:r>
              <a:rPr lang="en-US" dirty="0"/>
              <a:t>Users.</a:t>
            </a:r>
          </a:p>
          <a:p>
            <a:r>
              <a:rPr lang="en-US" dirty="0"/>
              <a:t>Stakeholders.</a:t>
            </a:r>
          </a:p>
          <a:p>
            <a:r>
              <a:rPr lang="en-US" dirty="0"/>
              <a:t>Communication connects all of them.</a:t>
            </a:r>
          </a:p>
          <a:p>
            <a:r>
              <a:rPr lang="en-US" dirty="0"/>
              <a:t>Atlas gave us a small-scale experience of that larger professional environment.”</a:t>
            </a:r>
          </a:p>
          <a:p>
            <a:br>
              <a:rPr lang="en-US" dirty="0"/>
            </a:br>
            <a:endParaRPr lang="en-US" dirty="0"/>
          </a:p>
          <a:p>
            <a:r>
              <a:rPr lang="en-US" b="1" dirty="0"/>
              <a:t>The Commitment</a:t>
            </a:r>
          </a:p>
          <a:p>
            <a:r>
              <a:rPr lang="en-US" dirty="0"/>
              <a:t>“Our commitment going forward is simple.</a:t>
            </a:r>
          </a:p>
          <a:p>
            <a:r>
              <a:rPr lang="en-US" dirty="0"/>
              <a:t>We're going to keep learning.</a:t>
            </a:r>
          </a:p>
          <a:p>
            <a:r>
              <a:rPr lang="en-US" dirty="0"/>
              <a:t>We're going to keep delivering.</a:t>
            </a:r>
          </a:p>
          <a:p>
            <a:r>
              <a:rPr lang="en-US" dirty="0"/>
              <a:t>We're going to keep listening to users.</a:t>
            </a:r>
          </a:p>
          <a:p>
            <a:r>
              <a:rPr lang="en-US" dirty="0"/>
              <a:t>We're going to keep improving Atlas.</a:t>
            </a:r>
          </a:p>
          <a:p>
            <a:r>
              <a:rPr lang="en-US" dirty="0"/>
              <a:t>And we're going to carry the engineering habits we learned here into whatever we build next.”</a:t>
            </a:r>
          </a:p>
          <a:p>
            <a:br>
              <a:rPr lang="en-US" dirty="0"/>
            </a:br>
            <a:endParaRPr lang="en-US" dirty="0"/>
          </a:p>
          <a:p>
            <a:r>
              <a:rPr lang="en-US" b="1" dirty="0"/>
              <a:t>The Bigger Story</a:t>
            </a:r>
          </a:p>
          <a:p>
            <a:r>
              <a:rPr lang="en-US" dirty="0"/>
              <a:t>“Think about the entire Atlas journey in one sentence:</a:t>
            </a:r>
          </a:p>
          <a:p>
            <a:r>
              <a:rPr lang="en-US" b="1" dirty="0"/>
              <a:t>We started with an idea and turned it into a product.</a:t>
            </a:r>
            <a:endParaRPr lang="en-US" dirty="0"/>
          </a:p>
          <a:p>
            <a:r>
              <a:rPr lang="en-US" dirty="0"/>
              <a:t>But even that doesn't capture everything.</a:t>
            </a:r>
          </a:p>
          <a:p>
            <a:r>
              <a:rPr lang="en-US" dirty="0"/>
              <a:t>We started with a problem.</a:t>
            </a:r>
          </a:p>
          <a:p>
            <a:r>
              <a:rPr lang="en-US" dirty="0"/>
              <a:t>We understood the people affected by it.</a:t>
            </a:r>
          </a:p>
          <a:p>
            <a:r>
              <a:rPr lang="en-US" dirty="0"/>
              <a:t>We designed a solution.</a:t>
            </a:r>
          </a:p>
          <a:p>
            <a:r>
              <a:rPr lang="en-US" dirty="0"/>
              <a:t>We built the solution.</a:t>
            </a:r>
          </a:p>
          <a:p>
            <a:r>
              <a:rPr lang="en-US" dirty="0"/>
              <a:t>We gave it memory.</a:t>
            </a:r>
          </a:p>
          <a:p>
            <a:r>
              <a:rPr lang="en-US" dirty="0"/>
              <a:t>We protected it.</a:t>
            </a:r>
          </a:p>
          <a:p>
            <a:r>
              <a:rPr lang="en-US" dirty="0"/>
              <a:t>We prepared it.</a:t>
            </a:r>
          </a:p>
          <a:p>
            <a:r>
              <a:rPr lang="en-US" dirty="0"/>
              <a:t>We released it.</a:t>
            </a:r>
          </a:p>
          <a:p>
            <a:r>
              <a:rPr lang="en-US" dirty="0"/>
              <a:t>We evaluated it.</a:t>
            </a:r>
          </a:p>
          <a:p>
            <a:r>
              <a:rPr lang="en-US" dirty="0"/>
              <a:t>And we learned from the experience.</a:t>
            </a:r>
          </a:p>
          <a:p>
            <a:r>
              <a:rPr lang="en-US" dirty="0"/>
              <a:t>That's the story of Atlas </a:t>
            </a:r>
            <a:r>
              <a:rPr lang="en-US" dirty="0" err="1"/>
              <a:t>TaskFlow</a:t>
            </a:r>
            <a:r>
              <a:rPr lang="en-US" dirty="0"/>
              <a:t>.”</a:t>
            </a:r>
          </a:p>
          <a:p>
            <a:br>
              <a:rPr lang="en-US" dirty="0"/>
            </a:br>
            <a:endParaRPr lang="en-US" dirty="0"/>
          </a:p>
          <a:p>
            <a:r>
              <a:rPr lang="en-US" b="1" dirty="0"/>
              <a:t>Closing</a:t>
            </a:r>
          </a:p>
          <a:p>
            <a:r>
              <a:rPr lang="en-US" dirty="0"/>
              <a:t>“So this is our moment to pause and recognize the journey.</a:t>
            </a:r>
          </a:p>
          <a:p>
            <a:r>
              <a:rPr lang="en-US" dirty="0"/>
              <a:t>Eight sprints.</a:t>
            </a:r>
          </a:p>
          <a:p>
            <a:r>
              <a:rPr lang="en-US" dirty="0"/>
              <a:t>One product.</a:t>
            </a:r>
          </a:p>
          <a:p>
            <a:r>
              <a:rPr lang="en-US" dirty="0"/>
              <a:t>A lot of engineering.</a:t>
            </a:r>
          </a:p>
          <a:p>
            <a:r>
              <a:rPr lang="en-US" dirty="0"/>
              <a:t>A lot of learning.</a:t>
            </a:r>
          </a:p>
          <a:p>
            <a:r>
              <a:rPr lang="en-US" dirty="0"/>
              <a:t>And hopefully a very different understanding of what it means to build software.</a:t>
            </a:r>
          </a:p>
          <a:p>
            <a:r>
              <a:rPr lang="en-US" dirty="0"/>
              <a:t>Atlas </a:t>
            </a:r>
            <a:r>
              <a:rPr lang="en-US" dirty="0" err="1"/>
              <a:t>TaskFlow</a:t>
            </a:r>
            <a:r>
              <a:rPr lang="en-US" dirty="0"/>
              <a:t> isn't valuable because we built it.</a:t>
            </a:r>
          </a:p>
          <a:p>
            <a:r>
              <a:rPr lang="en-US" dirty="0"/>
              <a:t>It's valuable because we learned </a:t>
            </a:r>
            <a:r>
              <a:rPr lang="en-US" b="1" dirty="0"/>
              <a:t>how to build, deliver, evaluate, and improve something that people can actually use.</a:t>
            </a:r>
            <a:endParaRPr lang="en-US" dirty="0"/>
          </a:p>
          <a:p>
            <a:r>
              <a:rPr lang="en-US" dirty="0"/>
              <a:t>And that is the skill we take with us.</a:t>
            </a:r>
          </a:p>
          <a:p>
            <a:r>
              <a:rPr lang="en-US" dirty="0"/>
              <a:t>So remember:</a:t>
            </a:r>
          </a:p>
          <a:p>
            <a:r>
              <a:rPr lang="en-US" b="1" dirty="0"/>
              <a:t>Build something useful.</a:t>
            </a:r>
            <a:endParaRPr lang="en-US" dirty="0"/>
          </a:p>
          <a:p>
            <a:r>
              <a:rPr lang="en-US" b="1" dirty="0"/>
              <a:t>Deliver it responsibly.</a:t>
            </a:r>
            <a:endParaRPr lang="en-US" dirty="0"/>
          </a:p>
          <a:p>
            <a:r>
              <a:rPr lang="en-US" b="1" dirty="0"/>
              <a:t>Learn from reality.</a:t>
            </a:r>
            <a:endParaRPr lang="en-US" dirty="0"/>
          </a:p>
          <a:p>
            <a:r>
              <a:rPr lang="en-US" b="1" dirty="0"/>
              <a:t>Make the next version better.</a:t>
            </a:r>
            <a:endParaRPr lang="en-US" dirty="0"/>
          </a:p>
          <a:p>
            <a:r>
              <a:rPr lang="en-US" dirty="0"/>
              <a:t>That's Atlas.</a:t>
            </a:r>
          </a:p>
          <a:p>
            <a:r>
              <a:rPr lang="en-US" b="1" dirty="0"/>
              <a:t>Building Atlas. Together.</a:t>
            </a:r>
            <a:r>
              <a:rPr lang="en-US" dirty="0"/>
              <a:t>”</a:t>
            </a:r>
          </a:p>
          <a:p>
            <a:r>
              <a:rPr lang="en-US" b="1" dirty="0"/>
              <a:t>Transition</a:t>
            </a:r>
          </a:p>
          <a:p>
            <a:r>
              <a:rPr lang="en-US" dirty="0"/>
              <a:t>“We've summarized the journey.</a:t>
            </a:r>
          </a:p>
          <a:p>
            <a:r>
              <a:rPr lang="en-US" dirty="0"/>
              <a:t>Now we're ready for the final step:</a:t>
            </a:r>
          </a:p>
          <a:p>
            <a:r>
              <a:rPr lang="en-US" b="1" dirty="0"/>
              <a:t>officially releasing Atlas </a:t>
            </a:r>
            <a:r>
              <a:rPr lang="en-US" b="1" dirty="0" err="1"/>
              <a:t>TaskFlow</a:t>
            </a:r>
            <a:r>
              <a:rPr lang="en-US" b="1" dirty="0"/>
              <a:t> Version 1.0.</a:t>
            </a:r>
            <a:r>
              <a:rPr lang="en-US" dirty="0"/>
              <a:t>”</a:t>
            </a:r>
          </a:p>
          <a:p>
            <a:endParaRPr lang="en-US" dirty="0"/>
          </a:p>
        </p:txBody>
      </p:sp>
      <p:sp>
        <p:nvSpPr>
          <p:cNvPr id="4" name="Slide Number Placeholder 3"/>
          <p:cNvSpPr>
            <a:spLocks noGrp="1"/>
          </p:cNvSpPr>
          <p:nvPr>
            <p:ph type="sldNum" sz="quarter" idx="5"/>
          </p:nvPr>
        </p:nvSpPr>
        <p:spPr/>
        <p:txBody>
          <a:bodyPr/>
          <a:lstStyle/>
          <a:p>
            <a:fld id="{5FDF263D-5665-4A7C-828E-8E913E9FBDB3}" type="slidenum">
              <a:rPr lang="en-US" smtClean="0"/>
              <a:t>10</a:t>
            </a:fld>
            <a:endParaRPr lang="en-US"/>
          </a:p>
        </p:txBody>
      </p:sp>
    </p:spTree>
    <p:extLst>
      <p:ext uri="{BB962C8B-B14F-4D97-AF65-F5344CB8AC3E}">
        <p14:creationId xmlns:p14="http://schemas.microsoft.com/office/powerpoint/2010/main" val="20071121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 — Officially Release It</a:t>
            </a:r>
          </a:p>
          <a:p>
            <a:r>
              <a:rPr lang="en-US" b="1" dirty="0"/>
              <a:t>Opening</a:t>
            </a:r>
          </a:p>
          <a:p>
            <a:r>
              <a:rPr lang="en-US" dirty="0"/>
              <a:t>“This is the moment we've been building toward.</a:t>
            </a:r>
          </a:p>
          <a:p>
            <a:r>
              <a:rPr lang="en-US" dirty="0"/>
              <a:t>We've planned Atlas.</a:t>
            </a:r>
          </a:p>
          <a:p>
            <a:r>
              <a:rPr lang="en-US" dirty="0"/>
              <a:t>We've designed it.</a:t>
            </a:r>
          </a:p>
          <a:p>
            <a:r>
              <a:rPr lang="en-US" dirty="0"/>
              <a:t>We've built it.</a:t>
            </a:r>
          </a:p>
          <a:p>
            <a:r>
              <a:rPr lang="en-US" dirty="0"/>
              <a:t>We've given it persistence.</a:t>
            </a:r>
          </a:p>
          <a:p>
            <a:r>
              <a:rPr lang="en-US" dirty="0"/>
              <a:t>We've protected it.</a:t>
            </a:r>
          </a:p>
          <a:p>
            <a:r>
              <a:rPr lang="en-US" dirty="0"/>
              <a:t>We've prepared it.</a:t>
            </a:r>
          </a:p>
          <a:p>
            <a:r>
              <a:rPr lang="en-US" dirty="0"/>
              <a:t>We've tested it.</a:t>
            </a:r>
          </a:p>
          <a:p>
            <a:r>
              <a:rPr lang="en-US" dirty="0"/>
              <a:t>We've fixed it.</a:t>
            </a:r>
          </a:p>
          <a:p>
            <a:r>
              <a:rPr lang="en-US" dirty="0"/>
              <a:t>We've polished it.</a:t>
            </a:r>
          </a:p>
          <a:p>
            <a:r>
              <a:rPr lang="en-US" dirty="0"/>
              <a:t>We've deployed it.</a:t>
            </a:r>
          </a:p>
          <a:p>
            <a:r>
              <a:rPr lang="en-US" dirty="0"/>
              <a:t>We've documented it.</a:t>
            </a:r>
          </a:p>
          <a:p>
            <a:r>
              <a:rPr lang="en-US" dirty="0"/>
              <a:t>We've demonstrated it.</a:t>
            </a:r>
          </a:p>
          <a:p>
            <a:r>
              <a:rPr lang="en-US" dirty="0"/>
              <a:t>We've evaluated it.</a:t>
            </a:r>
          </a:p>
          <a:p>
            <a:r>
              <a:rPr lang="en-US" dirty="0"/>
              <a:t>We've reflected on it.</a:t>
            </a:r>
          </a:p>
          <a:p>
            <a:r>
              <a:rPr lang="en-US" dirty="0"/>
              <a:t>Now there is one question left:</a:t>
            </a:r>
          </a:p>
          <a:p>
            <a:r>
              <a:rPr lang="en-US" b="1" dirty="0"/>
              <a:t>Are we ready to officially release Atlas </a:t>
            </a:r>
            <a:r>
              <a:rPr lang="en-US" b="1" dirty="0" err="1"/>
              <a:t>TaskFlow</a:t>
            </a:r>
            <a:r>
              <a:rPr lang="en-US" b="1" dirty="0"/>
              <a:t> Version 1.0?</a:t>
            </a:r>
            <a:r>
              <a:rPr lang="en-US" dirty="0"/>
              <a:t>”</a:t>
            </a:r>
          </a:p>
          <a:p>
            <a:br>
              <a:rPr lang="en-US" dirty="0"/>
            </a:br>
            <a:endParaRPr lang="en-US" dirty="0"/>
          </a:p>
          <a:p>
            <a:r>
              <a:rPr lang="en-US" b="1" dirty="0"/>
              <a:t>This Is a Release Decision</a:t>
            </a:r>
          </a:p>
          <a:p>
            <a:r>
              <a:rPr lang="en-US" dirty="0"/>
              <a:t>“Notice that we're not simply saying:</a:t>
            </a:r>
          </a:p>
          <a:p>
            <a:r>
              <a:rPr lang="en-US" dirty="0"/>
              <a:t>‘We're done.’</a:t>
            </a:r>
          </a:p>
          <a:p>
            <a:r>
              <a:rPr lang="en-US" dirty="0"/>
              <a:t>We're making a </a:t>
            </a:r>
            <a:r>
              <a:rPr lang="en-US" b="1" dirty="0"/>
              <a:t>release decision</a:t>
            </a:r>
            <a:r>
              <a:rPr lang="en-US" dirty="0"/>
              <a:t>.</a:t>
            </a:r>
          </a:p>
          <a:p>
            <a:r>
              <a:rPr lang="en-US" dirty="0"/>
              <a:t>That's an important professional distinction.</a:t>
            </a:r>
          </a:p>
          <a:p>
            <a:r>
              <a:rPr lang="en-US" dirty="0"/>
              <a:t>A release decision means we've reviewed the evidence and decided:</a:t>
            </a:r>
          </a:p>
          <a:p>
            <a:r>
              <a:rPr lang="en-US" b="1" dirty="0"/>
              <a:t>Yes.</a:t>
            </a:r>
            <a:endParaRPr lang="en-US" dirty="0"/>
          </a:p>
          <a:p>
            <a:r>
              <a:rPr lang="en-US" dirty="0"/>
              <a:t>The product meets the required quality bar.</a:t>
            </a:r>
          </a:p>
          <a:p>
            <a:r>
              <a:rPr lang="en-US" dirty="0"/>
              <a:t>The important risks have been addressed.</a:t>
            </a:r>
          </a:p>
          <a:p>
            <a:r>
              <a:rPr lang="en-US" dirty="0"/>
              <a:t>The team understands what we're releasing.</a:t>
            </a:r>
          </a:p>
          <a:p>
            <a:r>
              <a:rPr lang="en-US" dirty="0"/>
              <a:t>And we're willing to stand behind Version 1.0.”</a:t>
            </a:r>
          </a:p>
          <a:p>
            <a:br>
              <a:rPr lang="en-US" dirty="0"/>
            </a:br>
            <a:endParaRPr lang="en-US" dirty="0"/>
          </a:p>
          <a:p>
            <a:r>
              <a:rPr lang="en-US" b="1" dirty="0"/>
              <a:t>Our Purpose</a:t>
            </a:r>
          </a:p>
          <a:p>
            <a:r>
              <a:rPr lang="en-US" dirty="0"/>
              <a:t>“The purpose of this release is to deliver Atlas as a stable, secure, and valuable solution.</a:t>
            </a:r>
          </a:p>
          <a:p>
            <a:r>
              <a:rPr lang="en-US" dirty="0"/>
              <a:t>We want users to have a reliable experience.</a:t>
            </a:r>
          </a:p>
          <a:p>
            <a:r>
              <a:rPr lang="en-US" dirty="0"/>
              <a:t>We want to communicate the release clearly.</a:t>
            </a:r>
          </a:p>
          <a:p>
            <a:r>
              <a:rPr lang="en-US" dirty="0"/>
              <a:t>We want to recognize the team's work.</a:t>
            </a:r>
          </a:p>
          <a:p>
            <a:r>
              <a:rPr lang="en-US" dirty="0"/>
              <a:t>And we want to begin the next chapter of continuous improvement.</a:t>
            </a:r>
          </a:p>
          <a:p>
            <a:r>
              <a:rPr lang="en-US" dirty="0"/>
              <a:t>Notice that last point.</a:t>
            </a:r>
          </a:p>
          <a:p>
            <a:r>
              <a:rPr lang="en-US" b="1" dirty="0"/>
              <a:t>Release doesn't stop improvement.</a:t>
            </a:r>
            <a:endParaRPr lang="en-US" dirty="0"/>
          </a:p>
          <a:p>
            <a:r>
              <a:rPr lang="en-US" dirty="0"/>
              <a:t>It starts the next cycle.”</a:t>
            </a:r>
          </a:p>
          <a:p>
            <a:br>
              <a:rPr lang="en-US" dirty="0"/>
            </a:br>
            <a:endParaRPr lang="en-US" dirty="0"/>
          </a:p>
          <a:p>
            <a:r>
              <a:rPr lang="en-US" b="1" dirty="0"/>
              <a:t>The Release Checklist</a:t>
            </a:r>
          </a:p>
          <a:p>
            <a:r>
              <a:rPr lang="en-US" dirty="0"/>
              <a:t>“Before we officially release, we need to verify the release checklist.</a:t>
            </a:r>
          </a:p>
          <a:p>
            <a:r>
              <a:rPr lang="en-US" b="1" dirty="0"/>
              <a:t>Critical bugs resolved.</a:t>
            </a:r>
          </a:p>
          <a:p>
            <a:r>
              <a:rPr lang="en-US" dirty="0"/>
              <a:t>We shouldn't knowingly release with a critical defect.</a:t>
            </a:r>
          </a:p>
          <a:p>
            <a:r>
              <a:rPr lang="en-US" b="1" dirty="0"/>
              <a:t>Tests passed.</a:t>
            </a:r>
          </a:p>
          <a:p>
            <a:r>
              <a:rPr lang="en-US" dirty="0"/>
              <a:t>Our final validation needs to give us confidence.</a:t>
            </a:r>
          </a:p>
          <a:p>
            <a:r>
              <a:rPr lang="en-US" b="1" dirty="0"/>
              <a:t>Performance meets expectations.</a:t>
            </a:r>
          </a:p>
          <a:p>
            <a:r>
              <a:rPr lang="en-US" dirty="0"/>
              <a:t>The application needs to perform within our defined baseline.</a:t>
            </a:r>
          </a:p>
          <a:p>
            <a:r>
              <a:rPr lang="en-US" b="1" dirty="0"/>
              <a:t>Security requirements verified.</a:t>
            </a:r>
          </a:p>
          <a:p>
            <a:r>
              <a:rPr lang="en-US" dirty="0"/>
              <a:t>Authentication, authorization, and protection controls need to be functioning.</a:t>
            </a:r>
          </a:p>
          <a:p>
            <a:r>
              <a:rPr lang="en-US" b="1" dirty="0"/>
              <a:t>Backup and recovery confirmed.</a:t>
            </a:r>
          </a:p>
          <a:p>
            <a:r>
              <a:rPr lang="en-US" dirty="0"/>
              <a:t>We need a reasonable recovery plan for important data and systems.</a:t>
            </a:r>
          </a:p>
          <a:p>
            <a:r>
              <a:rPr lang="en-US" b="1" dirty="0"/>
              <a:t>Monitoring and alerts enabled.</a:t>
            </a:r>
          </a:p>
          <a:p>
            <a:r>
              <a:rPr lang="en-US" dirty="0"/>
              <a:t>We need visibility into what's happening after release.</a:t>
            </a:r>
          </a:p>
          <a:p>
            <a:r>
              <a:rPr lang="en-US" b="1" dirty="0"/>
              <a:t>Documentation complete.</a:t>
            </a:r>
          </a:p>
          <a:p>
            <a:r>
              <a:rPr lang="en-US" dirty="0"/>
              <a:t>Users and developers need the information required to work with Atlas.</a:t>
            </a:r>
          </a:p>
          <a:p>
            <a:r>
              <a:rPr lang="en-US" b="1" dirty="0"/>
              <a:t>Deployment verified.</a:t>
            </a:r>
          </a:p>
          <a:p>
            <a:r>
              <a:rPr lang="en-US" dirty="0"/>
              <a:t>The production environment needs to be confirmed as functional.</a:t>
            </a:r>
          </a:p>
          <a:p>
            <a:r>
              <a:rPr lang="en-US" b="1" dirty="0"/>
              <a:t>Rollback plan understood.</a:t>
            </a:r>
          </a:p>
          <a:p>
            <a:r>
              <a:rPr lang="en-US" dirty="0"/>
              <a:t>If something goes wrong, we need to know what we're going to do.</a:t>
            </a:r>
          </a:p>
          <a:p>
            <a:r>
              <a:rPr lang="en-US" b="1" dirty="0"/>
              <a:t>Stakeholders notified.</a:t>
            </a:r>
          </a:p>
          <a:p>
            <a:r>
              <a:rPr lang="en-US" dirty="0"/>
              <a:t>The people affected by the release should know what's happening.</a:t>
            </a:r>
          </a:p>
          <a:p>
            <a:r>
              <a:rPr lang="en-US" b="1" dirty="0"/>
              <a:t>Go/no-go decision approved.</a:t>
            </a:r>
          </a:p>
          <a:p>
            <a:r>
              <a:rPr lang="en-US" dirty="0"/>
              <a:t>Someone needs to formally say:</a:t>
            </a:r>
          </a:p>
          <a:p>
            <a:r>
              <a:rPr lang="en-US" b="1" dirty="0"/>
              <a:t>Go.</a:t>
            </a:r>
            <a:endParaRPr lang="en-US" dirty="0"/>
          </a:p>
          <a:p>
            <a:r>
              <a:rPr lang="en-US" b="1" dirty="0"/>
              <a:t>Release communication prepared.</a:t>
            </a:r>
          </a:p>
          <a:p>
            <a:r>
              <a:rPr lang="en-US" dirty="0"/>
              <a:t>We need to explain what we're releasing and why.</a:t>
            </a:r>
          </a:p>
          <a:p>
            <a:r>
              <a:rPr lang="en-US" b="1" dirty="0"/>
              <a:t>Team sign-off completed.</a:t>
            </a:r>
          </a:p>
          <a:p>
            <a:r>
              <a:rPr lang="en-US" dirty="0"/>
              <a:t>The team needs to agree that we're ready.”</a:t>
            </a:r>
          </a:p>
          <a:p>
            <a:br>
              <a:rPr lang="en-US" dirty="0"/>
            </a:br>
            <a:endParaRPr lang="en-US" dirty="0"/>
          </a:p>
          <a:p>
            <a:r>
              <a:rPr lang="en-US" b="1" dirty="0"/>
              <a:t>The Go / No-Go Decision</a:t>
            </a:r>
          </a:p>
          <a:p>
            <a:r>
              <a:rPr lang="en-US" dirty="0"/>
              <a:t>“This is where all of our earlier work comes together.</a:t>
            </a:r>
          </a:p>
          <a:p>
            <a:r>
              <a:rPr lang="en-US" dirty="0"/>
              <a:t>We have two possible decisions.</a:t>
            </a:r>
          </a:p>
          <a:p>
            <a:r>
              <a:rPr lang="en-US" b="1" dirty="0"/>
              <a:t>GO</a:t>
            </a:r>
          </a:p>
          <a:p>
            <a:r>
              <a:rPr lang="en-US" dirty="0"/>
              <a:t>We're confident enough to release.</a:t>
            </a:r>
          </a:p>
          <a:p>
            <a:r>
              <a:rPr lang="en-US" dirty="0"/>
              <a:t>Or:</a:t>
            </a:r>
          </a:p>
          <a:p>
            <a:r>
              <a:rPr lang="en-US" b="1" dirty="0"/>
              <a:t>NO-GO</a:t>
            </a:r>
          </a:p>
          <a:p>
            <a:r>
              <a:rPr lang="en-US" dirty="0"/>
              <a:t>Something important still needs to be addressed.</a:t>
            </a:r>
          </a:p>
          <a:p>
            <a:r>
              <a:rPr lang="en-US" dirty="0"/>
              <a:t>And here's an important engineering lesson:</a:t>
            </a:r>
          </a:p>
          <a:p>
            <a:r>
              <a:rPr lang="en-US" b="1" dirty="0"/>
              <a:t>A no-go decision isn't failure.</a:t>
            </a:r>
            <a:endParaRPr lang="en-US" dirty="0"/>
          </a:p>
          <a:p>
            <a:r>
              <a:rPr lang="en-US" dirty="0"/>
              <a:t>If the evidence tells us we're not ready, stopping the release is the correct engineering decision.</a:t>
            </a:r>
          </a:p>
          <a:p>
            <a:r>
              <a:rPr lang="en-US" dirty="0"/>
              <a:t>It's much better to delay a release than knowingly put users at risk.”</a:t>
            </a:r>
          </a:p>
          <a:p>
            <a:br>
              <a:rPr lang="en-US" dirty="0"/>
            </a:br>
            <a:endParaRPr lang="en-US" dirty="0"/>
          </a:p>
          <a:p>
            <a:r>
              <a:rPr lang="en-US" b="1" dirty="0"/>
              <a:t>The Seven Release Steps</a:t>
            </a:r>
          </a:p>
          <a:p>
            <a:r>
              <a:rPr lang="en-US" dirty="0"/>
              <a:t>“The artifact gives us seven steps.”</a:t>
            </a:r>
          </a:p>
          <a:p>
            <a:br>
              <a:rPr lang="en-US" dirty="0"/>
            </a:br>
            <a:endParaRPr lang="en-US" dirty="0"/>
          </a:p>
          <a:p>
            <a:r>
              <a:rPr lang="en-US" b="1" dirty="0"/>
              <a:t>1. Final Sign-Off</a:t>
            </a:r>
          </a:p>
          <a:p>
            <a:r>
              <a:rPr lang="en-US" dirty="0"/>
              <a:t>“First, we obtain final approval.</a:t>
            </a:r>
          </a:p>
          <a:p>
            <a:r>
              <a:rPr lang="en-US" dirty="0"/>
              <a:t>The appropriate people agree:</a:t>
            </a:r>
          </a:p>
          <a:p>
            <a:r>
              <a:rPr lang="en-US" b="1" dirty="0"/>
              <a:t>Atlas is ready to release.</a:t>
            </a:r>
            <a:endParaRPr lang="en-US" dirty="0"/>
          </a:p>
          <a:p>
            <a:r>
              <a:rPr lang="en-US" dirty="0"/>
              <a:t>This creates accountability around the decision.”</a:t>
            </a:r>
          </a:p>
          <a:p>
            <a:br>
              <a:rPr lang="en-US" dirty="0"/>
            </a:br>
            <a:endParaRPr lang="en-US" dirty="0"/>
          </a:p>
          <a:p>
            <a:r>
              <a:rPr lang="en-US" b="1" dirty="0"/>
              <a:t>2. Communicate</a:t>
            </a:r>
          </a:p>
          <a:p>
            <a:r>
              <a:rPr lang="en-US" dirty="0"/>
              <a:t>“Next, we communicate the release.</a:t>
            </a:r>
          </a:p>
          <a:p>
            <a:r>
              <a:rPr lang="en-US" dirty="0"/>
              <a:t>Users and stakeholders should know:</a:t>
            </a:r>
          </a:p>
          <a:p>
            <a:r>
              <a:rPr lang="en-US" dirty="0"/>
              <a:t>What is being released?</a:t>
            </a:r>
          </a:p>
          <a:p>
            <a:r>
              <a:rPr lang="en-US" dirty="0"/>
              <a:t>When?</a:t>
            </a:r>
          </a:p>
          <a:p>
            <a:r>
              <a:rPr lang="en-US" dirty="0"/>
              <a:t>Why?</a:t>
            </a:r>
          </a:p>
          <a:p>
            <a:r>
              <a:rPr lang="en-US" dirty="0"/>
              <a:t>What changes?</a:t>
            </a:r>
          </a:p>
          <a:p>
            <a:r>
              <a:rPr lang="en-US" dirty="0"/>
              <a:t>Where can they get help?</a:t>
            </a:r>
          </a:p>
          <a:p>
            <a:r>
              <a:rPr lang="en-US" dirty="0"/>
              <a:t>Good communication reduces uncertainty.”</a:t>
            </a:r>
          </a:p>
          <a:p>
            <a:br>
              <a:rPr lang="en-US" dirty="0"/>
            </a:br>
            <a:endParaRPr lang="en-US" dirty="0"/>
          </a:p>
          <a:p>
            <a:r>
              <a:rPr lang="en-US" b="1" dirty="0"/>
              <a:t>3. Go Live</a:t>
            </a:r>
          </a:p>
          <a:p>
            <a:r>
              <a:rPr lang="en-US" dirty="0"/>
              <a:t>“Now Atlas officially becomes available to users.</a:t>
            </a:r>
          </a:p>
          <a:p>
            <a:r>
              <a:rPr lang="en-US" dirty="0"/>
              <a:t>This is the actual production release.</a:t>
            </a:r>
          </a:p>
          <a:p>
            <a:r>
              <a:rPr lang="en-US" dirty="0"/>
              <a:t>The application is live.</a:t>
            </a:r>
          </a:p>
          <a:p>
            <a:r>
              <a:rPr lang="en-US" dirty="0"/>
              <a:t>Version 1.0 exists.</a:t>
            </a:r>
          </a:p>
          <a:p>
            <a:r>
              <a:rPr lang="en-US" dirty="0"/>
              <a:t>This is the moment where our development work becomes a real product.”</a:t>
            </a:r>
          </a:p>
          <a:p>
            <a:br>
              <a:rPr lang="en-US" dirty="0"/>
            </a:br>
            <a:endParaRPr lang="en-US" dirty="0"/>
          </a:p>
          <a:p>
            <a:r>
              <a:rPr lang="en-US" b="1" dirty="0"/>
              <a:t>4. Welcome Users</a:t>
            </a:r>
          </a:p>
          <a:p>
            <a:r>
              <a:rPr lang="en-US" dirty="0"/>
              <a:t>“Once users arrive, we need to help them succeed.</a:t>
            </a:r>
          </a:p>
          <a:p>
            <a:r>
              <a:rPr lang="en-US" dirty="0"/>
              <a:t>Provide the user guide.</a:t>
            </a:r>
          </a:p>
          <a:p>
            <a:r>
              <a:rPr lang="en-US" dirty="0"/>
              <a:t>Explain the important workflows.</a:t>
            </a:r>
          </a:p>
          <a:p>
            <a:r>
              <a:rPr lang="en-US" dirty="0"/>
              <a:t>Point them toward support.</a:t>
            </a:r>
          </a:p>
          <a:p>
            <a:r>
              <a:rPr lang="en-US" dirty="0"/>
              <a:t>Help them understand what Atlas can do for them.</a:t>
            </a:r>
          </a:p>
          <a:p>
            <a:r>
              <a:rPr lang="en-US" dirty="0"/>
              <a:t>Remember:</a:t>
            </a:r>
          </a:p>
          <a:p>
            <a:r>
              <a:rPr lang="en-US" b="1" dirty="0"/>
              <a:t>A product isn't successful because we released it.</a:t>
            </a:r>
            <a:endParaRPr lang="en-US" dirty="0"/>
          </a:p>
          <a:p>
            <a:r>
              <a:rPr lang="en-US" dirty="0"/>
              <a:t>It's successful when people can actually use it.”</a:t>
            </a:r>
          </a:p>
          <a:p>
            <a:br>
              <a:rPr lang="en-US" dirty="0"/>
            </a:br>
            <a:endParaRPr lang="en-US" dirty="0"/>
          </a:p>
          <a:p>
            <a:r>
              <a:rPr lang="en-US" b="1" dirty="0"/>
              <a:t>5. Monitor</a:t>
            </a:r>
          </a:p>
          <a:p>
            <a:r>
              <a:rPr lang="en-US" dirty="0"/>
              <a:t>“Now we watch.</a:t>
            </a:r>
          </a:p>
          <a:p>
            <a:r>
              <a:rPr lang="en-US" dirty="0"/>
              <a:t>We monitor the system.</a:t>
            </a:r>
          </a:p>
          <a:p>
            <a:r>
              <a:rPr lang="en-US" dirty="0"/>
              <a:t>We monitor performance.</a:t>
            </a:r>
          </a:p>
          <a:p>
            <a:r>
              <a:rPr lang="en-US" dirty="0"/>
              <a:t>We monitor errors.</a:t>
            </a:r>
          </a:p>
          <a:p>
            <a:r>
              <a:rPr lang="en-US" dirty="0"/>
              <a:t>We listen to users.</a:t>
            </a:r>
          </a:p>
          <a:p>
            <a:r>
              <a:rPr lang="en-US" dirty="0"/>
              <a:t>We're looking for anything unexpected.</a:t>
            </a:r>
          </a:p>
          <a:p>
            <a:r>
              <a:rPr lang="en-US" dirty="0"/>
              <a:t>This is where our observability work from Sprint 7 becomes valuable.”</a:t>
            </a:r>
          </a:p>
          <a:p>
            <a:br>
              <a:rPr lang="en-US" dirty="0"/>
            </a:br>
            <a:endParaRPr lang="en-US" dirty="0"/>
          </a:p>
          <a:p>
            <a:r>
              <a:rPr lang="en-US" b="1" dirty="0"/>
              <a:t>6. Support</a:t>
            </a:r>
          </a:p>
          <a:p>
            <a:r>
              <a:rPr lang="en-US" dirty="0"/>
              <a:t>“If users encounter problems, we respond.</a:t>
            </a:r>
          </a:p>
          <a:p>
            <a:r>
              <a:rPr lang="en-US" dirty="0"/>
              <a:t>We answer questions.</a:t>
            </a:r>
          </a:p>
          <a:p>
            <a:r>
              <a:rPr lang="en-US" dirty="0"/>
              <a:t>We troubleshoot issues.</a:t>
            </a:r>
          </a:p>
          <a:p>
            <a:r>
              <a:rPr lang="en-US" dirty="0"/>
              <a:t>We resolve defects.</a:t>
            </a:r>
          </a:p>
          <a:p>
            <a:r>
              <a:rPr lang="en-US" dirty="0"/>
              <a:t>And we distinguish between:</a:t>
            </a:r>
          </a:p>
          <a:p>
            <a:r>
              <a:rPr lang="en-US" b="1" dirty="0"/>
              <a:t>a problem with the product</a:t>
            </a:r>
            <a:endParaRPr lang="en-US" dirty="0"/>
          </a:p>
          <a:p>
            <a:r>
              <a:rPr lang="en-US" dirty="0"/>
              <a:t>and</a:t>
            </a:r>
          </a:p>
          <a:p>
            <a:r>
              <a:rPr lang="en-US" b="1" dirty="0"/>
              <a:t>a user who simply needs help understanding the product.</a:t>
            </a:r>
            <a:endParaRPr lang="en-US" dirty="0"/>
          </a:p>
          <a:p>
            <a:r>
              <a:rPr lang="en-US" dirty="0"/>
              <a:t>Both deserve a good response.”</a:t>
            </a:r>
          </a:p>
          <a:p>
            <a:br>
              <a:rPr lang="en-US" dirty="0"/>
            </a:br>
            <a:endParaRPr lang="en-US" dirty="0"/>
          </a:p>
          <a:p>
            <a:r>
              <a:rPr lang="en-US" b="1" dirty="0"/>
              <a:t>7. Improve</a:t>
            </a:r>
          </a:p>
          <a:p>
            <a:r>
              <a:rPr lang="en-US" dirty="0"/>
              <a:t>“Finally, we learn.</a:t>
            </a:r>
          </a:p>
          <a:p>
            <a:r>
              <a:rPr lang="en-US" dirty="0"/>
              <a:t>The feedback we receive after release becomes input for the next version.</a:t>
            </a:r>
          </a:p>
          <a:p>
            <a:r>
              <a:rPr lang="en-US" dirty="0"/>
              <a:t>Maybe we discover a bug.</a:t>
            </a:r>
          </a:p>
          <a:p>
            <a:r>
              <a:rPr lang="en-US" dirty="0"/>
              <a:t>Maybe users request a new capability.</a:t>
            </a:r>
          </a:p>
          <a:p>
            <a:r>
              <a:rPr lang="en-US" dirty="0"/>
              <a:t>Maybe our metrics reveal an unexpected behavior.</a:t>
            </a:r>
          </a:p>
          <a:p>
            <a:r>
              <a:rPr lang="en-US" dirty="0"/>
              <a:t>Maybe a workflow could be simplified.</a:t>
            </a:r>
          </a:p>
          <a:p>
            <a:r>
              <a:rPr lang="en-US" dirty="0"/>
              <a:t>We capture those insights.</a:t>
            </a:r>
          </a:p>
          <a:p>
            <a:r>
              <a:rPr lang="en-US" dirty="0"/>
              <a:t>Then we prioritize them.</a:t>
            </a:r>
          </a:p>
          <a:p>
            <a:r>
              <a:rPr lang="en-US" dirty="0"/>
              <a:t>And we improve Atlas.”</a:t>
            </a:r>
          </a:p>
          <a:p>
            <a:br>
              <a:rPr lang="en-US" dirty="0"/>
            </a:br>
            <a:endParaRPr lang="en-US" dirty="0"/>
          </a:p>
          <a:p>
            <a:r>
              <a:rPr lang="en-US" b="1" dirty="0"/>
              <a:t>What This Release Means</a:t>
            </a:r>
          </a:p>
          <a:p>
            <a:r>
              <a:rPr lang="en-US" dirty="0"/>
              <a:t>“This release represents several things.</a:t>
            </a:r>
          </a:p>
          <a:p>
            <a:r>
              <a:rPr lang="en-US" dirty="0"/>
              <a:t>It represents a </a:t>
            </a:r>
            <a:r>
              <a:rPr lang="en-US" b="1" dirty="0"/>
              <a:t>reliable solution</a:t>
            </a:r>
            <a:r>
              <a:rPr lang="en-US" dirty="0"/>
              <a:t> that users can depend on.</a:t>
            </a:r>
          </a:p>
          <a:p>
            <a:r>
              <a:rPr lang="en-US" dirty="0"/>
              <a:t>It represents </a:t>
            </a:r>
            <a:r>
              <a:rPr lang="en-US" b="1" dirty="0"/>
              <a:t>secure data and protected access</a:t>
            </a:r>
            <a:r>
              <a:rPr lang="en-US" dirty="0"/>
              <a:t>.</a:t>
            </a:r>
          </a:p>
          <a:p>
            <a:r>
              <a:rPr lang="en-US" dirty="0"/>
              <a:t>It represents </a:t>
            </a:r>
            <a:r>
              <a:rPr lang="en-US" b="1" dirty="0"/>
              <a:t>real workflows solving real problems</a:t>
            </a:r>
            <a:r>
              <a:rPr lang="en-US" dirty="0"/>
              <a:t>.</a:t>
            </a:r>
          </a:p>
          <a:p>
            <a:r>
              <a:rPr lang="en-US" dirty="0"/>
              <a:t>It represents a </a:t>
            </a:r>
            <a:r>
              <a:rPr lang="en-US" b="1" dirty="0"/>
              <a:t>foundation for future innovation</a:t>
            </a:r>
            <a:r>
              <a:rPr lang="en-US" dirty="0"/>
              <a:t>.</a:t>
            </a:r>
          </a:p>
          <a:p>
            <a:r>
              <a:rPr lang="en-US" dirty="0"/>
              <a:t>And it represents a team that successfully delivered something together.”</a:t>
            </a:r>
          </a:p>
          <a:p>
            <a:br>
              <a:rPr lang="en-US" dirty="0"/>
            </a:br>
            <a:endParaRPr lang="en-US" dirty="0"/>
          </a:p>
          <a:p>
            <a:r>
              <a:rPr lang="en-US" b="1" dirty="0"/>
              <a:t>Quality Gates</a:t>
            </a:r>
          </a:p>
          <a:p>
            <a:r>
              <a:rPr lang="en-US" dirty="0"/>
              <a:t>“Look at the quality gates.</a:t>
            </a:r>
          </a:p>
          <a:p>
            <a:r>
              <a:rPr lang="en-US" dirty="0"/>
              <a:t>Functional requirements are satisfied.</a:t>
            </a:r>
          </a:p>
          <a:p>
            <a:r>
              <a:rPr lang="en-US" dirty="0"/>
              <a:t>Usability has been validated.</a:t>
            </a:r>
          </a:p>
          <a:p>
            <a:r>
              <a:rPr lang="en-US" dirty="0"/>
              <a:t>Performance meets expectations.</a:t>
            </a:r>
          </a:p>
          <a:p>
            <a:r>
              <a:rPr lang="en-US" dirty="0"/>
              <a:t>Security has been verified.</a:t>
            </a:r>
          </a:p>
          <a:p>
            <a:r>
              <a:rPr lang="en-US" dirty="0"/>
              <a:t>Data integrity is confirmed.</a:t>
            </a:r>
          </a:p>
          <a:p>
            <a:r>
              <a:rPr lang="en-US" dirty="0"/>
              <a:t>Operational readiness has been achieved.</a:t>
            </a:r>
          </a:p>
          <a:p>
            <a:r>
              <a:rPr lang="en-US" dirty="0"/>
              <a:t>These aren't just boxes on a checklist.</a:t>
            </a:r>
          </a:p>
          <a:p>
            <a:r>
              <a:rPr lang="en-US" dirty="0"/>
              <a:t>They're the evidence supporting our release decision.”</a:t>
            </a:r>
          </a:p>
          <a:p>
            <a:br>
              <a:rPr lang="en-US" dirty="0"/>
            </a:br>
            <a:endParaRPr lang="en-US" dirty="0"/>
          </a:p>
          <a:p>
            <a:r>
              <a:rPr lang="en-US" b="1" dirty="0"/>
              <a:t>What We're Promising Users</a:t>
            </a:r>
          </a:p>
          <a:p>
            <a:r>
              <a:rPr lang="en-US" dirty="0"/>
              <a:t>“Now comes something even more important.</a:t>
            </a:r>
          </a:p>
          <a:p>
            <a:r>
              <a:rPr lang="en-US" dirty="0"/>
              <a:t>We're making a commitment to our users.</a:t>
            </a:r>
          </a:p>
          <a:p>
            <a:r>
              <a:rPr lang="en-US" dirty="0"/>
              <a:t>We're saying:</a:t>
            </a:r>
          </a:p>
          <a:p>
            <a:r>
              <a:rPr lang="en-US" b="1" dirty="0"/>
              <a:t>We will deliver a secure, reliable, and valuable experience.</a:t>
            </a:r>
            <a:endParaRPr lang="en-US" dirty="0"/>
          </a:p>
          <a:p>
            <a:r>
              <a:rPr lang="en-US" dirty="0"/>
              <a:t>And we're also saying:</a:t>
            </a:r>
          </a:p>
          <a:p>
            <a:r>
              <a:rPr lang="en-US" b="1" dirty="0"/>
              <a:t>We will continue to improve Atlas based on your needs and feedback.</a:t>
            </a:r>
            <a:endParaRPr lang="en-US" dirty="0"/>
          </a:p>
          <a:p>
            <a:r>
              <a:rPr lang="en-US" dirty="0"/>
              <a:t>That second commitment is critical.</a:t>
            </a:r>
          </a:p>
          <a:p>
            <a:r>
              <a:rPr lang="en-US" dirty="0"/>
              <a:t>We aren't pretending Version 1.0 is perfect.</a:t>
            </a:r>
          </a:p>
          <a:p>
            <a:r>
              <a:rPr lang="en-US" dirty="0"/>
              <a:t>We're promising that we'll continue learning.”</a:t>
            </a:r>
          </a:p>
          <a:p>
            <a:br>
              <a:rPr lang="en-US" dirty="0"/>
            </a:br>
            <a:endParaRPr lang="en-US" dirty="0"/>
          </a:p>
          <a:p>
            <a:r>
              <a:rPr lang="en-US" b="1" dirty="0"/>
              <a:t>The Impact We Deliver</a:t>
            </a:r>
          </a:p>
          <a:p>
            <a:r>
              <a:rPr lang="en-US" dirty="0"/>
              <a:t>“What should users actually get from Atlas?</a:t>
            </a:r>
          </a:p>
          <a:p>
            <a:r>
              <a:rPr lang="en-US" dirty="0"/>
              <a:t>Better organization.</a:t>
            </a:r>
          </a:p>
          <a:p>
            <a:r>
              <a:rPr lang="en-US" dirty="0"/>
              <a:t>Better visibility.</a:t>
            </a:r>
          </a:p>
          <a:p>
            <a:r>
              <a:rPr lang="en-US" dirty="0"/>
              <a:t>Better collaboration.</a:t>
            </a:r>
          </a:p>
          <a:p>
            <a:r>
              <a:rPr lang="en-US" dirty="0"/>
              <a:t>Less manual effort.</a:t>
            </a:r>
          </a:p>
          <a:p>
            <a:r>
              <a:rPr lang="en-US" dirty="0"/>
              <a:t>Fewer errors.</a:t>
            </a:r>
          </a:p>
          <a:p>
            <a:r>
              <a:rPr lang="en-US" dirty="0"/>
              <a:t>More actionable information.</a:t>
            </a:r>
          </a:p>
          <a:p>
            <a:r>
              <a:rPr lang="en-US" dirty="0"/>
              <a:t>More time to focus on important work.</a:t>
            </a:r>
          </a:p>
          <a:p>
            <a:r>
              <a:rPr lang="en-US" dirty="0"/>
              <a:t>Those are the outcomes we're ultimately trying to create.</a:t>
            </a:r>
          </a:p>
          <a:p>
            <a:r>
              <a:rPr lang="en-US" dirty="0"/>
              <a:t>The technology enables them.</a:t>
            </a:r>
          </a:p>
          <a:p>
            <a:r>
              <a:rPr lang="en-US" dirty="0"/>
              <a:t>But the </a:t>
            </a:r>
            <a:r>
              <a:rPr lang="en-US" b="1" dirty="0"/>
              <a:t>impact</a:t>
            </a:r>
            <a:r>
              <a:rPr lang="en-US" dirty="0"/>
              <a:t> is what matters.”</a:t>
            </a:r>
          </a:p>
          <a:p>
            <a:br>
              <a:rPr lang="en-US" dirty="0"/>
            </a:br>
            <a:endParaRPr lang="en-US" dirty="0"/>
          </a:p>
          <a:p>
            <a:r>
              <a:rPr lang="en-US" b="1" dirty="0"/>
              <a:t>The Official Release Announcement</a:t>
            </a:r>
          </a:p>
          <a:p>
            <a:r>
              <a:rPr lang="en-US" dirty="0"/>
              <a:t>“The artifact includes an example release announcement.</a:t>
            </a:r>
          </a:p>
          <a:p>
            <a:r>
              <a:rPr lang="en-US" dirty="0"/>
              <a:t>Notice how simple it is.</a:t>
            </a:r>
          </a:p>
          <a:p>
            <a:r>
              <a:rPr lang="en-US" dirty="0"/>
              <a:t>We're excited to announce the release.</a:t>
            </a:r>
          </a:p>
          <a:p>
            <a:r>
              <a:rPr lang="en-US" dirty="0"/>
              <a:t>We explain what we're releasing.</a:t>
            </a:r>
          </a:p>
          <a:p>
            <a:r>
              <a:rPr lang="en-US" dirty="0"/>
              <a:t>We thank the people who contributed.</a:t>
            </a:r>
          </a:p>
          <a:p>
            <a:r>
              <a:rPr lang="en-US" dirty="0"/>
              <a:t>And we communicate confidence in the product.</a:t>
            </a:r>
          </a:p>
          <a:p>
            <a:r>
              <a:rPr lang="en-US" dirty="0"/>
              <a:t>A release announcement doesn't need to be complicated.</a:t>
            </a:r>
          </a:p>
          <a:p>
            <a:r>
              <a:rPr lang="en-US" dirty="0"/>
              <a:t>It needs to be </a:t>
            </a:r>
            <a:r>
              <a:rPr lang="en-US" b="1" dirty="0"/>
              <a:t>clear, accurate, and useful</a:t>
            </a:r>
            <a:r>
              <a:rPr lang="en-US" dirty="0"/>
              <a:t>.”</a:t>
            </a:r>
          </a:p>
          <a:p>
            <a:br>
              <a:rPr lang="en-US" dirty="0"/>
            </a:br>
            <a:endParaRPr lang="en-US" dirty="0"/>
          </a:p>
          <a:p>
            <a:r>
              <a:rPr lang="en-US" b="1" dirty="0"/>
              <a:t>Team Sign-Off</a:t>
            </a:r>
          </a:p>
          <a:p>
            <a:r>
              <a:rPr lang="en-US" dirty="0"/>
              <a:t>“This section is also important.</a:t>
            </a:r>
          </a:p>
          <a:p>
            <a:r>
              <a:rPr lang="en-US" dirty="0"/>
              <a:t>The team signs off on the release.</a:t>
            </a:r>
          </a:p>
          <a:p>
            <a:r>
              <a:rPr lang="en-US" dirty="0"/>
              <a:t>Why?</a:t>
            </a:r>
          </a:p>
          <a:p>
            <a:r>
              <a:rPr lang="en-US" dirty="0"/>
              <a:t>Because software is a team responsibility.</a:t>
            </a:r>
          </a:p>
          <a:p>
            <a:r>
              <a:rPr lang="en-US" dirty="0"/>
              <a:t>The developer may write the code.</a:t>
            </a:r>
          </a:p>
          <a:p>
            <a:r>
              <a:rPr lang="en-US" dirty="0"/>
              <a:t>The QA person may verify it.</a:t>
            </a:r>
          </a:p>
          <a:p>
            <a:r>
              <a:rPr lang="en-US" dirty="0"/>
              <a:t>The DevOps person may deploy it.</a:t>
            </a:r>
          </a:p>
          <a:p>
            <a:r>
              <a:rPr lang="en-US" dirty="0"/>
              <a:t>The product owner may approve it.</a:t>
            </a:r>
          </a:p>
          <a:p>
            <a:r>
              <a:rPr lang="en-US" dirty="0"/>
              <a:t>But the release is a shared outcome.</a:t>
            </a:r>
          </a:p>
          <a:p>
            <a:r>
              <a:rPr lang="en-US" dirty="0"/>
              <a:t>Everyone contributed to getting Atlas here.”</a:t>
            </a:r>
          </a:p>
          <a:p>
            <a:br>
              <a:rPr lang="en-US" dirty="0"/>
            </a:br>
            <a:endParaRPr lang="en-US" dirty="0"/>
          </a:p>
          <a:p>
            <a:r>
              <a:rPr lang="en-US" b="1" dirty="0"/>
              <a:t>Celebrate the Release</a:t>
            </a:r>
          </a:p>
          <a:p>
            <a:r>
              <a:rPr lang="en-US" dirty="0"/>
              <a:t>“Now, yes—this is also a moment to celebrate.</a:t>
            </a:r>
          </a:p>
          <a:p>
            <a:r>
              <a:rPr lang="en-US" dirty="0"/>
              <a:t>We've done a lot of work.</a:t>
            </a:r>
          </a:p>
          <a:p>
            <a:r>
              <a:rPr lang="en-US" dirty="0"/>
              <a:t>There is nothing wrong with recognizing that.</a:t>
            </a:r>
          </a:p>
          <a:p>
            <a:r>
              <a:rPr lang="en-US" dirty="0"/>
              <a:t>Professional teams celebrate meaningful milestones.</a:t>
            </a:r>
          </a:p>
          <a:p>
            <a:r>
              <a:rPr lang="en-US" dirty="0"/>
              <a:t>The important thing is that celebration comes </a:t>
            </a:r>
            <a:r>
              <a:rPr lang="en-US" b="1" dirty="0"/>
              <a:t>after responsible preparation</a:t>
            </a:r>
            <a:r>
              <a:rPr lang="en-US" dirty="0"/>
              <a:t>.</a:t>
            </a:r>
          </a:p>
          <a:p>
            <a:r>
              <a:rPr lang="en-US" dirty="0"/>
              <a:t>We don't celebrate because we got lucky.</a:t>
            </a:r>
          </a:p>
          <a:p>
            <a:r>
              <a:rPr lang="en-US" dirty="0"/>
              <a:t>We celebrate because we did the work.”</a:t>
            </a:r>
          </a:p>
          <a:p>
            <a:br>
              <a:rPr lang="en-US" dirty="0"/>
            </a:br>
            <a:endParaRPr lang="en-US" dirty="0"/>
          </a:p>
          <a:p>
            <a:r>
              <a:rPr lang="en-US" b="1" dirty="0"/>
              <a:t>Today We Release. Tomorrow We Grow.</a:t>
            </a:r>
          </a:p>
          <a:p>
            <a:r>
              <a:rPr lang="en-US" dirty="0"/>
              <a:t>“The statement at the bottom is the heart of this artifact:</a:t>
            </a:r>
          </a:p>
          <a:p>
            <a:r>
              <a:rPr lang="en-US" b="1" dirty="0"/>
              <a:t>Today we release. Tomorrow we grow.</a:t>
            </a:r>
            <a:endParaRPr lang="en-US" dirty="0"/>
          </a:p>
          <a:p>
            <a:r>
              <a:rPr lang="en-US" dirty="0"/>
              <a:t>That's the mindset.</a:t>
            </a:r>
          </a:p>
          <a:p>
            <a:r>
              <a:rPr lang="en-US" dirty="0"/>
              <a:t>Version 1.0 is a milestone.</a:t>
            </a:r>
          </a:p>
          <a:p>
            <a:r>
              <a:rPr lang="en-US" dirty="0"/>
              <a:t>It isn't the destination.</a:t>
            </a:r>
          </a:p>
          <a:p>
            <a:r>
              <a:rPr lang="en-US" dirty="0"/>
              <a:t>The product will evolve.</a:t>
            </a:r>
          </a:p>
          <a:p>
            <a:r>
              <a:rPr lang="en-US" dirty="0"/>
              <a:t>The users will teach us.</a:t>
            </a:r>
          </a:p>
          <a:p>
            <a:r>
              <a:rPr lang="en-US" dirty="0"/>
              <a:t>The team will learn.</a:t>
            </a:r>
          </a:p>
          <a:p>
            <a:r>
              <a:rPr lang="en-US" dirty="0"/>
              <a:t>The technology will change.</a:t>
            </a:r>
          </a:p>
          <a:p>
            <a:r>
              <a:rPr lang="en-US" dirty="0"/>
              <a:t>And Atlas can become better.”</a:t>
            </a:r>
          </a:p>
          <a:p>
            <a:br>
              <a:rPr lang="en-US" dirty="0"/>
            </a:br>
            <a:endParaRPr lang="en-US" dirty="0"/>
          </a:p>
          <a:p>
            <a:r>
              <a:rPr lang="en-US" b="1" dirty="0"/>
              <a:t>The Bigger Engineering Lesson</a:t>
            </a:r>
          </a:p>
          <a:p>
            <a:r>
              <a:rPr lang="en-US" dirty="0"/>
              <a:t>“Think about how different this is from the beginning of the course.</a:t>
            </a:r>
          </a:p>
          <a:p>
            <a:r>
              <a:rPr lang="en-US" dirty="0"/>
              <a:t>At the beginning, Atlas was an idea.</a:t>
            </a:r>
          </a:p>
          <a:p>
            <a:r>
              <a:rPr lang="en-US" dirty="0"/>
              <a:t>There was no application.</a:t>
            </a:r>
          </a:p>
          <a:p>
            <a:r>
              <a:rPr lang="en-US" dirty="0"/>
              <a:t>No database.</a:t>
            </a:r>
          </a:p>
          <a:p>
            <a:r>
              <a:rPr lang="en-US" dirty="0"/>
              <a:t>No authentication.</a:t>
            </a:r>
          </a:p>
          <a:p>
            <a:r>
              <a:rPr lang="en-US" dirty="0"/>
              <a:t>No cloud deployment.</a:t>
            </a:r>
          </a:p>
          <a:p>
            <a:r>
              <a:rPr lang="en-US" dirty="0"/>
              <a:t>No production environment.</a:t>
            </a:r>
          </a:p>
          <a:p>
            <a:r>
              <a:rPr lang="en-US" dirty="0"/>
              <a:t>No user documentation.</a:t>
            </a:r>
          </a:p>
          <a:p>
            <a:r>
              <a:rPr lang="en-US" dirty="0"/>
              <a:t>No release.</a:t>
            </a:r>
          </a:p>
          <a:p>
            <a:r>
              <a:rPr lang="en-US" dirty="0"/>
              <a:t>Now we have all of those things.</a:t>
            </a:r>
          </a:p>
          <a:p>
            <a:r>
              <a:rPr lang="en-US" dirty="0"/>
              <a:t>We've taken an idea and moved it through an engineering process until we can responsibly deliver it.”</a:t>
            </a:r>
          </a:p>
          <a:p>
            <a:br>
              <a:rPr lang="en-US" dirty="0"/>
            </a:br>
            <a:endParaRPr lang="en-US" dirty="0"/>
          </a:p>
          <a:p>
            <a:r>
              <a:rPr lang="en-US" b="1" dirty="0"/>
              <a:t>The Release Moment</a:t>
            </a:r>
          </a:p>
          <a:p>
            <a:r>
              <a:rPr lang="en-US" dirty="0"/>
              <a:t>“So when we say:</a:t>
            </a:r>
          </a:p>
          <a:p>
            <a:r>
              <a:rPr lang="en-US" b="1" dirty="0"/>
              <a:t>Atlas </a:t>
            </a:r>
            <a:r>
              <a:rPr lang="en-US" b="1" dirty="0" err="1"/>
              <a:t>TaskFlow</a:t>
            </a:r>
            <a:r>
              <a:rPr lang="en-US" b="1" dirty="0"/>
              <a:t> Version 1.0 is officially released.</a:t>
            </a:r>
            <a:endParaRPr lang="en-US" dirty="0"/>
          </a:p>
          <a:p>
            <a:r>
              <a:rPr lang="en-US" dirty="0"/>
              <a:t>that statement represents a lot more than pushing a button.</a:t>
            </a:r>
          </a:p>
          <a:p>
            <a:r>
              <a:rPr lang="en-US" dirty="0"/>
              <a:t>It represents:</a:t>
            </a:r>
          </a:p>
          <a:p>
            <a:r>
              <a:rPr lang="en-US" b="1" dirty="0"/>
              <a:t>planning,</a:t>
            </a:r>
            <a:endParaRPr lang="en-US" dirty="0"/>
          </a:p>
          <a:p>
            <a:r>
              <a:rPr lang="en-US" b="1" dirty="0"/>
              <a:t>design,</a:t>
            </a:r>
            <a:endParaRPr lang="en-US" dirty="0"/>
          </a:p>
          <a:p>
            <a:r>
              <a:rPr lang="en-US" b="1" dirty="0"/>
              <a:t>engineering,</a:t>
            </a:r>
            <a:endParaRPr lang="en-US" dirty="0"/>
          </a:p>
          <a:p>
            <a:r>
              <a:rPr lang="en-US" b="1" dirty="0"/>
              <a:t>testing,</a:t>
            </a:r>
            <a:endParaRPr lang="en-US" dirty="0"/>
          </a:p>
          <a:p>
            <a:r>
              <a:rPr lang="en-US" b="1" dirty="0"/>
              <a:t>security,</a:t>
            </a:r>
            <a:endParaRPr lang="en-US" dirty="0"/>
          </a:p>
          <a:p>
            <a:r>
              <a:rPr lang="en-US" b="1" dirty="0"/>
              <a:t>deployment,</a:t>
            </a:r>
            <a:endParaRPr lang="en-US" dirty="0"/>
          </a:p>
          <a:p>
            <a:r>
              <a:rPr lang="en-US" b="1" dirty="0"/>
              <a:t>documentation,</a:t>
            </a:r>
            <a:endParaRPr lang="en-US" dirty="0"/>
          </a:p>
          <a:p>
            <a:r>
              <a:rPr lang="en-US" b="1" dirty="0"/>
              <a:t>communication,</a:t>
            </a:r>
            <a:endParaRPr lang="en-US" dirty="0"/>
          </a:p>
          <a:p>
            <a:r>
              <a:rPr lang="en-US" b="1" dirty="0"/>
              <a:t>evaluation,</a:t>
            </a:r>
            <a:endParaRPr lang="en-US" dirty="0"/>
          </a:p>
          <a:p>
            <a:r>
              <a:rPr lang="en-US" dirty="0"/>
              <a:t>and </a:t>
            </a:r>
            <a:r>
              <a:rPr lang="en-US" b="1" dirty="0"/>
              <a:t>teamwork.</a:t>
            </a:r>
            <a:r>
              <a:rPr lang="en-US" dirty="0"/>
              <a:t>”</a:t>
            </a:r>
          </a:p>
          <a:p>
            <a:br>
              <a:rPr lang="en-US" dirty="0"/>
            </a:br>
            <a:endParaRPr lang="en-US" dirty="0"/>
          </a:p>
          <a:p>
            <a:r>
              <a:rPr lang="en-US" b="1" dirty="0"/>
              <a:t>Closing</a:t>
            </a:r>
          </a:p>
          <a:p>
            <a:r>
              <a:rPr lang="en-US" dirty="0"/>
              <a:t>“This is the moment.</a:t>
            </a:r>
          </a:p>
          <a:p>
            <a:r>
              <a:rPr lang="en-US" dirty="0"/>
              <a:t>The checklist is complete.</a:t>
            </a:r>
          </a:p>
          <a:p>
            <a:r>
              <a:rPr lang="en-US" dirty="0"/>
              <a:t>The quality gates have been met.</a:t>
            </a:r>
          </a:p>
          <a:p>
            <a:r>
              <a:rPr lang="en-US" dirty="0"/>
              <a:t>The team has signed off.</a:t>
            </a:r>
          </a:p>
          <a:p>
            <a:r>
              <a:rPr lang="en-US" dirty="0"/>
              <a:t>The deployment is verified.</a:t>
            </a:r>
          </a:p>
          <a:p>
            <a:r>
              <a:rPr lang="en-US" dirty="0"/>
              <a:t>The users are ready.</a:t>
            </a:r>
          </a:p>
          <a:p>
            <a:r>
              <a:rPr lang="en-US" dirty="0"/>
              <a:t>So we make the decision:</a:t>
            </a:r>
          </a:p>
          <a:p>
            <a:r>
              <a:rPr lang="en-US" b="1" dirty="0"/>
              <a:t>GO FOR LAUNCH.</a:t>
            </a:r>
          </a:p>
          <a:p>
            <a:r>
              <a:rPr lang="en-US" dirty="0"/>
              <a:t>Atlas </a:t>
            </a:r>
            <a:r>
              <a:rPr lang="en-US" dirty="0" err="1"/>
              <a:t>TaskFlow</a:t>
            </a:r>
            <a:r>
              <a:rPr lang="en-US" dirty="0"/>
              <a:t> Version 1.0 is officially released.</a:t>
            </a:r>
          </a:p>
          <a:p>
            <a:r>
              <a:rPr lang="en-US" dirty="0"/>
              <a:t>But remember:</a:t>
            </a:r>
          </a:p>
          <a:p>
            <a:r>
              <a:rPr lang="en-US" b="1" dirty="0"/>
              <a:t>Today we release. Tomorrow we grow.</a:t>
            </a:r>
            <a:endParaRPr lang="en-US" dirty="0"/>
          </a:p>
          <a:p>
            <a:r>
              <a:rPr lang="en-US" dirty="0"/>
              <a:t>The work doesn't disappear after launch.</a:t>
            </a:r>
          </a:p>
          <a:p>
            <a:r>
              <a:rPr lang="en-US" dirty="0"/>
              <a:t>It becomes a new cycle:</a:t>
            </a:r>
          </a:p>
          <a:p>
            <a:r>
              <a:rPr lang="en-US" b="1" dirty="0"/>
              <a:t>Release → User Success → Continuous Improvement → Greater Impact.</a:t>
            </a:r>
            <a:endParaRPr lang="en-US" dirty="0"/>
          </a:p>
          <a:p>
            <a:r>
              <a:rPr lang="en-US" dirty="0"/>
              <a:t>That's how products grow.</a:t>
            </a:r>
          </a:p>
          <a:p>
            <a:r>
              <a:rPr lang="en-US" dirty="0"/>
              <a:t>That's how teams grow.</a:t>
            </a:r>
          </a:p>
          <a:p>
            <a:r>
              <a:rPr lang="en-US" dirty="0"/>
              <a:t>And that's how engineers grow.</a:t>
            </a:r>
          </a:p>
          <a:p>
            <a:r>
              <a:rPr lang="en-US" b="1" dirty="0"/>
              <a:t>Congratulations. Atlas </a:t>
            </a:r>
            <a:r>
              <a:rPr lang="en-US" b="1" dirty="0" err="1"/>
              <a:t>TaskFlow</a:t>
            </a:r>
            <a:r>
              <a:rPr lang="en-US" b="1" dirty="0"/>
              <a:t> Version 1.0 is live.</a:t>
            </a:r>
            <a:r>
              <a:rPr lang="en-US" dirty="0"/>
              <a:t>”</a:t>
            </a:r>
          </a:p>
          <a:p>
            <a:r>
              <a:rPr lang="en-US" b="1" dirty="0"/>
              <a:t>Transition to Final Artifact</a:t>
            </a:r>
          </a:p>
          <a:p>
            <a:r>
              <a:rPr lang="en-US" dirty="0"/>
              <a:t>“We've officially released Atlas.</a:t>
            </a:r>
          </a:p>
          <a:p>
            <a:r>
              <a:rPr lang="en-US" dirty="0"/>
              <a:t>There is only one artifact left in the core Atlas journey.</a:t>
            </a:r>
          </a:p>
          <a:p>
            <a:r>
              <a:rPr lang="en-US" dirty="0"/>
              <a:t>And this final artifact isn't about another feature.</a:t>
            </a:r>
          </a:p>
          <a:p>
            <a:r>
              <a:rPr lang="en-US" dirty="0"/>
              <a:t>It's about recognizing what we accomplished, capturing what we learned, and closing the loop on the journey.</a:t>
            </a:r>
          </a:p>
          <a:p>
            <a:r>
              <a:rPr lang="en-US" b="1" dirty="0"/>
              <a:t>Let's finish Atlas.</a:t>
            </a:r>
            <a:r>
              <a:rPr lang="en-US" dirty="0"/>
              <a:t>”</a:t>
            </a:r>
          </a:p>
          <a:p>
            <a:endParaRPr lang="en-US" dirty="0"/>
          </a:p>
        </p:txBody>
      </p:sp>
      <p:sp>
        <p:nvSpPr>
          <p:cNvPr id="4" name="Slide Number Placeholder 3"/>
          <p:cNvSpPr>
            <a:spLocks noGrp="1"/>
          </p:cNvSpPr>
          <p:nvPr>
            <p:ph type="sldNum" sz="quarter" idx="5"/>
          </p:nvPr>
        </p:nvSpPr>
        <p:spPr/>
        <p:txBody>
          <a:bodyPr/>
          <a:lstStyle/>
          <a:p>
            <a:fld id="{5FDF263D-5665-4A7C-828E-8E913E9FBDB3}" type="slidenum">
              <a:rPr lang="en-US" smtClean="0"/>
              <a:t>11</a:t>
            </a:fld>
            <a:endParaRPr lang="en-US"/>
          </a:p>
        </p:txBody>
      </p:sp>
    </p:spTree>
    <p:extLst>
      <p:ext uri="{BB962C8B-B14F-4D97-AF65-F5344CB8AC3E}">
        <p14:creationId xmlns:p14="http://schemas.microsoft.com/office/powerpoint/2010/main" val="6189990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 — The Atlas Journey Complete</a:t>
            </a:r>
          </a:p>
          <a:p>
            <a:r>
              <a:rPr lang="en-US" b="1" dirty="0"/>
              <a:t>Opening</a:t>
            </a:r>
          </a:p>
          <a:p>
            <a:r>
              <a:rPr lang="en-US" dirty="0"/>
              <a:t>“Take a moment and look at this.</a:t>
            </a:r>
          </a:p>
          <a:p>
            <a:r>
              <a:rPr lang="en-US" dirty="0"/>
              <a:t>This is Atlas </a:t>
            </a:r>
            <a:r>
              <a:rPr lang="en-US" dirty="0" err="1"/>
              <a:t>TaskFlow</a:t>
            </a:r>
            <a:r>
              <a:rPr lang="en-US" dirty="0"/>
              <a:t>.</a:t>
            </a:r>
          </a:p>
          <a:p>
            <a:r>
              <a:rPr lang="en-US" dirty="0"/>
              <a:t>Not the idea we started with.</a:t>
            </a:r>
          </a:p>
          <a:p>
            <a:r>
              <a:rPr lang="en-US" dirty="0"/>
              <a:t>Not the wireframes.</a:t>
            </a:r>
          </a:p>
          <a:p>
            <a:r>
              <a:rPr lang="en-US" dirty="0"/>
              <a:t>Not the first prototype.</a:t>
            </a:r>
          </a:p>
          <a:p>
            <a:r>
              <a:rPr lang="en-US" dirty="0"/>
              <a:t>Not the first deployment.</a:t>
            </a:r>
          </a:p>
          <a:p>
            <a:r>
              <a:rPr lang="en-US" dirty="0"/>
              <a:t>This is the product we built.</a:t>
            </a:r>
          </a:p>
          <a:p>
            <a:r>
              <a:rPr lang="en-US" dirty="0"/>
              <a:t>And today, we're looking at the entire journey.</a:t>
            </a:r>
          </a:p>
          <a:p>
            <a:r>
              <a:rPr lang="en-US" dirty="0"/>
              <a:t>This is our final artifact:</a:t>
            </a:r>
          </a:p>
          <a:p>
            <a:r>
              <a:rPr lang="en-US" b="1" dirty="0"/>
              <a:t>The Atlas Journey Complete.”</a:t>
            </a:r>
          </a:p>
          <a:p>
            <a:br>
              <a:rPr lang="en-US" dirty="0"/>
            </a:br>
            <a:endParaRPr lang="en-US" dirty="0"/>
          </a:p>
          <a:p>
            <a:r>
              <a:rPr lang="en-US" b="1" dirty="0"/>
              <a:t>We Started With a Problem</a:t>
            </a:r>
          </a:p>
          <a:p>
            <a:r>
              <a:rPr lang="en-US" dirty="0"/>
              <a:t>“Think all the way back to Sprint 1.</a:t>
            </a:r>
          </a:p>
          <a:p>
            <a:r>
              <a:rPr lang="en-US" dirty="0"/>
              <a:t>Atlas didn't start with a database.</a:t>
            </a:r>
          </a:p>
          <a:p>
            <a:r>
              <a:rPr lang="en-US" dirty="0"/>
              <a:t>It didn't start with ASP.NET.</a:t>
            </a:r>
          </a:p>
          <a:p>
            <a:r>
              <a:rPr lang="en-US" dirty="0"/>
              <a:t>It didn't start with Azure.</a:t>
            </a:r>
          </a:p>
          <a:p>
            <a:r>
              <a:rPr lang="en-US" dirty="0"/>
              <a:t>It started with a problem.</a:t>
            </a:r>
          </a:p>
          <a:p>
            <a:r>
              <a:rPr lang="en-US" dirty="0"/>
              <a:t>We asked:</a:t>
            </a:r>
          </a:p>
          <a:p>
            <a:r>
              <a:rPr lang="en-US" b="1" dirty="0"/>
              <a:t>What problem are we trying to solve?</a:t>
            </a:r>
            <a:endParaRPr lang="en-US" dirty="0"/>
          </a:p>
          <a:p>
            <a:r>
              <a:rPr lang="en-US" dirty="0"/>
              <a:t>We identified users.</a:t>
            </a:r>
          </a:p>
          <a:p>
            <a:r>
              <a:rPr lang="en-US" dirty="0"/>
              <a:t>We thought about their needs.</a:t>
            </a:r>
          </a:p>
          <a:p>
            <a:r>
              <a:rPr lang="en-US" dirty="0"/>
              <a:t>We created a vision.</a:t>
            </a:r>
          </a:p>
          <a:p>
            <a:r>
              <a:rPr lang="en-US" dirty="0"/>
              <a:t>And we started thinking like engineers.”</a:t>
            </a:r>
          </a:p>
          <a:p>
            <a:br>
              <a:rPr lang="en-US" dirty="0"/>
            </a:br>
            <a:endParaRPr lang="en-US" dirty="0"/>
          </a:p>
          <a:p>
            <a:r>
              <a:rPr lang="en-US" b="1" dirty="0"/>
              <a:t>Sprint 1 — PLAN IT</a:t>
            </a:r>
          </a:p>
          <a:p>
            <a:r>
              <a:rPr lang="en-US" dirty="0"/>
              <a:t>“First, we learned to </a:t>
            </a:r>
            <a:r>
              <a:rPr lang="en-US" b="1" dirty="0"/>
              <a:t>Plan It</a:t>
            </a:r>
            <a:r>
              <a:rPr lang="en-US" dirty="0"/>
              <a:t>.</a:t>
            </a:r>
          </a:p>
          <a:p>
            <a:r>
              <a:rPr lang="en-US" dirty="0"/>
              <a:t>We learned that software engineering doesn't begin with opening Visual Studio.</a:t>
            </a:r>
          </a:p>
          <a:p>
            <a:r>
              <a:rPr lang="en-US" dirty="0"/>
              <a:t>It begins with understanding.</a:t>
            </a:r>
          </a:p>
          <a:p>
            <a:r>
              <a:rPr lang="en-US" dirty="0"/>
              <a:t>Understanding the problem.</a:t>
            </a:r>
          </a:p>
          <a:p>
            <a:r>
              <a:rPr lang="en-US" dirty="0"/>
              <a:t>Understanding the users.</a:t>
            </a:r>
          </a:p>
          <a:p>
            <a:r>
              <a:rPr lang="en-US" dirty="0"/>
              <a:t>Understanding the goals.</a:t>
            </a:r>
          </a:p>
          <a:p>
            <a:r>
              <a:rPr lang="en-US" dirty="0"/>
              <a:t>Understanding what success looks like.</a:t>
            </a:r>
          </a:p>
          <a:p>
            <a:r>
              <a:rPr lang="en-US" dirty="0"/>
              <a:t>That became the foundation for everything that followed.”</a:t>
            </a:r>
          </a:p>
          <a:p>
            <a:br>
              <a:rPr lang="en-US" dirty="0"/>
            </a:br>
            <a:endParaRPr lang="en-US" dirty="0"/>
          </a:p>
          <a:p>
            <a:r>
              <a:rPr lang="en-US" b="1" dirty="0"/>
              <a:t>Sprint 2 — UNDERSTAND IT</a:t>
            </a:r>
          </a:p>
          <a:p>
            <a:r>
              <a:rPr lang="en-US" dirty="0"/>
              <a:t>“Then we moved into </a:t>
            </a:r>
            <a:r>
              <a:rPr lang="en-US" b="1" dirty="0"/>
              <a:t>Understand It</a:t>
            </a:r>
            <a:r>
              <a:rPr lang="en-US" dirty="0"/>
              <a:t>.</a:t>
            </a:r>
          </a:p>
          <a:p>
            <a:r>
              <a:rPr lang="en-US" dirty="0"/>
              <a:t>We learned about SaaS.</a:t>
            </a:r>
          </a:p>
          <a:p>
            <a:r>
              <a:rPr lang="en-US" dirty="0"/>
              <a:t>We learned about cloud applications.</a:t>
            </a:r>
          </a:p>
          <a:p>
            <a:r>
              <a:rPr lang="en-US" dirty="0"/>
              <a:t>We thought about customers, users, services, and value.</a:t>
            </a:r>
          </a:p>
          <a:p>
            <a:r>
              <a:rPr lang="en-US" dirty="0"/>
              <a:t>This changed the question from:</a:t>
            </a:r>
          </a:p>
          <a:p>
            <a:r>
              <a:rPr lang="en-US" dirty="0"/>
              <a:t>‘What application can we build?’</a:t>
            </a:r>
          </a:p>
          <a:p>
            <a:r>
              <a:rPr lang="en-US" dirty="0"/>
              <a:t>to:</a:t>
            </a:r>
          </a:p>
          <a:p>
            <a:r>
              <a:rPr lang="en-US" b="1" dirty="0"/>
              <a:t>‘What service are we creating for someone?’</a:t>
            </a:r>
            <a:endParaRPr lang="en-US" dirty="0"/>
          </a:p>
          <a:p>
            <a:r>
              <a:rPr lang="en-US" dirty="0"/>
              <a:t>That distinction matters.”</a:t>
            </a:r>
          </a:p>
          <a:p>
            <a:br>
              <a:rPr lang="en-US" dirty="0"/>
            </a:br>
            <a:endParaRPr lang="en-US" dirty="0"/>
          </a:p>
          <a:p>
            <a:r>
              <a:rPr lang="en-US" b="1" dirty="0"/>
              <a:t>Sprint 3 — DESIGN IT</a:t>
            </a:r>
          </a:p>
          <a:p>
            <a:r>
              <a:rPr lang="en-US" dirty="0"/>
              <a:t>“Then we designed Atlas.</a:t>
            </a:r>
          </a:p>
          <a:p>
            <a:r>
              <a:rPr lang="en-US" dirty="0"/>
              <a:t>Requirements.</a:t>
            </a:r>
          </a:p>
          <a:p>
            <a:r>
              <a:rPr lang="en-US" dirty="0"/>
              <a:t>Personas.</a:t>
            </a:r>
          </a:p>
          <a:p>
            <a:r>
              <a:rPr lang="en-US" dirty="0"/>
              <a:t>User stories.</a:t>
            </a:r>
          </a:p>
          <a:p>
            <a:r>
              <a:rPr lang="en-US" dirty="0"/>
              <a:t>User journeys.</a:t>
            </a:r>
          </a:p>
          <a:p>
            <a:r>
              <a:rPr lang="en-US" dirty="0"/>
              <a:t>Task flows.</a:t>
            </a:r>
          </a:p>
          <a:p>
            <a:r>
              <a:rPr lang="en-US" dirty="0"/>
              <a:t>Wireframes.</a:t>
            </a:r>
          </a:p>
          <a:p>
            <a:r>
              <a:rPr lang="en-US" dirty="0"/>
              <a:t>Information architecture.</a:t>
            </a:r>
          </a:p>
          <a:p>
            <a:r>
              <a:rPr lang="en-US" dirty="0"/>
              <a:t>Architecture decisions.</a:t>
            </a:r>
          </a:p>
          <a:p>
            <a:r>
              <a:rPr lang="en-US" dirty="0"/>
              <a:t>We created the blueprint.</a:t>
            </a:r>
          </a:p>
          <a:p>
            <a:r>
              <a:rPr lang="en-US" dirty="0"/>
              <a:t>And we learned one of the most valuable engineering lessons:</a:t>
            </a:r>
          </a:p>
          <a:p>
            <a:r>
              <a:rPr lang="en-US" b="1" dirty="0"/>
              <a:t>Good development begins with good decisions about what to build.</a:t>
            </a:r>
            <a:r>
              <a:rPr lang="en-US" dirty="0"/>
              <a:t>”</a:t>
            </a:r>
          </a:p>
          <a:p>
            <a:br>
              <a:rPr lang="en-US" dirty="0"/>
            </a:br>
            <a:endParaRPr lang="en-US" dirty="0"/>
          </a:p>
          <a:p>
            <a:r>
              <a:rPr lang="en-US" b="1" dirty="0"/>
              <a:t>Sprint 4 — BUILD &amp; DEPLOY IT</a:t>
            </a:r>
          </a:p>
          <a:p>
            <a:r>
              <a:rPr lang="en-US" dirty="0"/>
              <a:t>“Then came the exciting part.</a:t>
            </a:r>
          </a:p>
          <a:p>
            <a:r>
              <a:rPr lang="en-US" dirty="0"/>
              <a:t>We built.</a:t>
            </a:r>
          </a:p>
          <a:p>
            <a:r>
              <a:rPr lang="en-US" dirty="0"/>
              <a:t>ASP.NET Core.</a:t>
            </a:r>
          </a:p>
          <a:p>
            <a:r>
              <a:rPr lang="en-US" dirty="0"/>
              <a:t>Razor.</a:t>
            </a:r>
          </a:p>
          <a:p>
            <a:r>
              <a:rPr lang="en-US" dirty="0"/>
              <a:t>MVC concepts.</a:t>
            </a:r>
          </a:p>
          <a:p>
            <a:r>
              <a:rPr lang="en-US" dirty="0"/>
              <a:t>Bootstrap.</a:t>
            </a:r>
          </a:p>
          <a:p>
            <a:r>
              <a:rPr lang="en-US" dirty="0"/>
              <a:t>GitHub.</a:t>
            </a:r>
          </a:p>
          <a:p>
            <a:r>
              <a:rPr lang="en-US" dirty="0"/>
              <a:t>Azure.</a:t>
            </a:r>
          </a:p>
          <a:p>
            <a:r>
              <a:rPr lang="en-US" dirty="0"/>
              <a:t>We turned designs into working software.</a:t>
            </a:r>
          </a:p>
          <a:p>
            <a:r>
              <a:rPr lang="en-US" dirty="0"/>
              <a:t>And eventually, Atlas became a cloud-hosted application.</a:t>
            </a:r>
          </a:p>
          <a:p>
            <a:r>
              <a:rPr lang="en-US" dirty="0"/>
              <a:t>This was the point where the idea became something we could actually use.”</a:t>
            </a:r>
          </a:p>
          <a:p>
            <a:br>
              <a:rPr lang="en-US" dirty="0"/>
            </a:br>
            <a:endParaRPr lang="en-US" dirty="0"/>
          </a:p>
          <a:p>
            <a:r>
              <a:rPr lang="en-US" b="1" dirty="0"/>
              <a:t>Sprint 5 — REMEMBER IT</a:t>
            </a:r>
          </a:p>
          <a:p>
            <a:r>
              <a:rPr lang="en-US" dirty="0"/>
              <a:t>“But Atlas needed memory.</a:t>
            </a:r>
          </a:p>
          <a:p>
            <a:r>
              <a:rPr lang="en-US" dirty="0"/>
              <a:t>So we gave it persistence.</a:t>
            </a:r>
          </a:p>
          <a:p>
            <a:r>
              <a:rPr lang="en-US" dirty="0"/>
              <a:t>We introduced:</a:t>
            </a:r>
          </a:p>
          <a:p>
            <a:r>
              <a:rPr lang="en-US" dirty="0"/>
              <a:t>Databases.</a:t>
            </a:r>
          </a:p>
          <a:p>
            <a:r>
              <a:rPr lang="en-US" dirty="0"/>
              <a:t>Models.</a:t>
            </a:r>
          </a:p>
          <a:p>
            <a:r>
              <a:rPr lang="en-US" dirty="0"/>
              <a:t>Entity Framework Core.</a:t>
            </a:r>
          </a:p>
          <a:p>
            <a:r>
              <a:rPr lang="en-US" dirty="0" err="1"/>
              <a:t>DbContext</a:t>
            </a:r>
            <a:r>
              <a:rPr lang="en-US" dirty="0"/>
              <a:t>.</a:t>
            </a:r>
          </a:p>
          <a:p>
            <a:r>
              <a:rPr lang="en-US" dirty="0"/>
              <a:t>CRUD.</a:t>
            </a:r>
          </a:p>
          <a:p>
            <a:r>
              <a:rPr lang="en-US" dirty="0"/>
              <a:t>Validation.</a:t>
            </a:r>
          </a:p>
          <a:p>
            <a:r>
              <a:rPr lang="en-US" dirty="0"/>
              <a:t>Error handling.</a:t>
            </a:r>
          </a:p>
          <a:p>
            <a:r>
              <a:rPr lang="en-US" dirty="0"/>
              <a:t>Now Atlas could remember information.</a:t>
            </a:r>
          </a:p>
          <a:p>
            <a:r>
              <a:rPr lang="en-US" dirty="0"/>
              <a:t>We moved from:</a:t>
            </a:r>
          </a:p>
          <a:p>
            <a:r>
              <a:rPr lang="en-US" dirty="0"/>
              <a:t>‘The application works.’</a:t>
            </a:r>
          </a:p>
          <a:p>
            <a:r>
              <a:rPr lang="en-US" dirty="0"/>
              <a:t>to:</a:t>
            </a:r>
          </a:p>
          <a:p>
            <a:r>
              <a:rPr lang="en-US" b="1" dirty="0"/>
              <a:t>‘The application can store and retrieve meaningful information.’</a:t>
            </a:r>
            <a:r>
              <a:rPr lang="en-US" dirty="0"/>
              <a:t>”</a:t>
            </a:r>
          </a:p>
          <a:p>
            <a:br>
              <a:rPr lang="en-US" dirty="0"/>
            </a:br>
            <a:endParaRPr lang="en-US" dirty="0"/>
          </a:p>
          <a:p>
            <a:r>
              <a:rPr lang="en-US" b="1" dirty="0"/>
              <a:t>Sprint 6 — PROTECT IT</a:t>
            </a:r>
          </a:p>
          <a:p>
            <a:r>
              <a:rPr lang="en-US" dirty="0"/>
              <a:t>“Then we asked a harder question:</a:t>
            </a:r>
          </a:p>
          <a:p>
            <a:r>
              <a:rPr lang="en-US" b="1" dirty="0"/>
              <a:t>Can we trust it?</a:t>
            </a:r>
            <a:endParaRPr lang="en-US" dirty="0"/>
          </a:p>
          <a:p>
            <a:r>
              <a:rPr lang="en-US" dirty="0"/>
              <a:t>We introduced authentication.</a:t>
            </a:r>
          </a:p>
          <a:p>
            <a:r>
              <a:rPr lang="en-US" dirty="0"/>
              <a:t>Authorization.</a:t>
            </a:r>
          </a:p>
          <a:p>
            <a:r>
              <a:rPr lang="en-US" dirty="0"/>
              <a:t>Roles.</a:t>
            </a:r>
          </a:p>
          <a:p>
            <a:r>
              <a:rPr lang="en-US" dirty="0"/>
              <a:t>Permissions.</a:t>
            </a:r>
          </a:p>
          <a:p>
            <a:r>
              <a:rPr lang="en-US" dirty="0"/>
              <a:t>Security practices.</a:t>
            </a:r>
          </a:p>
          <a:p>
            <a:r>
              <a:rPr lang="en-US" dirty="0"/>
              <a:t>We learned that once an application holds information that users depend on, we have a responsibility to protect it.</a:t>
            </a:r>
          </a:p>
          <a:p>
            <a:r>
              <a:rPr lang="en-US" dirty="0"/>
              <a:t>So Atlas didn't just remember.</a:t>
            </a:r>
          </a:p>
          <a:p>
            <a:r>
              <a:rPr lang="en-US" dirty="0"/>
              <a:t>It learned to protect.”</a:t>
            </a:r>
          </a:p>
          <a:p>
            <a:br>
              <a:rPr lang="en-US" dirty="0"/>
            </a:br>
            <a:endParaRPr lang="en-US" dirty="0"/>
          </a:p>
          <a:p>
            <a:r>
              <a:rPr lang="en-US" b="1" dirty="0"/>
              <a:t>Sprint 7 — PREPARE IT</a:t>
            </a:r>
          </a:p>
          <a:p>
            <a:r>
              <a:rPr lang="en-US" dirty="0"/>
              <a:t>“Then we entered </a:t>
            </a:r>
            <a:r>
              <a:rPr lang="en-US" b="1" dirty="0"/>
              <a:t>Prepare It</a:t>
            </a:r>
            <a:r>
              <a:rPr lang="en-US" dirty="0"/>
              <a:t>.</a:t>
            </a:r>
          </a:p>
          <a:p>
            <a:r>
              <a:rPr lang="en-US" dirty="0"/>
              <a:t>This was the transition from:</a:t>
            </a:r>
          </a:p>
          <a:p>
            <a:r>
              <a:rPr lang="en-US" b="1" dirty="0"/>
              <a:t>working software</a:t>
            </a:r>
            <a:endParaRPr lang="en-US" dirty="0"/>
          </a:p>
          <a:p>
            <a:r>
              <a:rPr lang="en-US" dirty="0"/>
              <a:t>to:</a:t>
            </a:r>
          </a:p>
          <a:p>
            <a:r>
              <a:rPr lang="en-US" b="1" dirty="0"/>
              <a:t>dependable software.</a:t>
            </a:r>
            <a:endParaRPr lang="en-US" dirty="0"/>
          </a:p>
          <a:p>
            <a:r>
              <a:rPr lang="en-US" dirty="0"/>
              <a:t>We worked through reliability.</a:t>
            </a:r>
          </a:p>
          <a:p>
            <a:r>
              <a:rPr lang="en-US" dirty="0"/>
              <a:t>Observability.</a:t>
            </a:r>
          </a:p>
          <a:p>
            <a:r>
              <a:rPr lang="en-US" dirty="0"/>
              <a:t>Performance.</a:t>
            </a:r>
          </a:p>
          <a:p>
            <a:r>
              <a:rPr lang="en-US" dirty="0"/>
              <a:t>Security.</a:t>
            </a:r>
          </a:p>
          <a:p>
            <a:r>
              <a:rPr lang="en-US" dirty="0"/>
              <a:t>Usability.</a:t>
            </a:r>
          </a:p>
          <a:p>
            <a:r>
              <a:rPr lang="en-US" dirty="0"/>
              <a:t>Configuration.</a:t>
            </a:r>
          </a:p>
          <a:p>
            <a:r>
              <a:rPr lang="en-US" dirty="0"/>
              <a:t>Testing.</a:t>
            </a:r>
          </a:p>
          <a:p>
            <a:r>
              <a:rPr lang="en-US" dirty="0"/>
              <a:t>Documentation.</a:t>
            </a:r>
          </a:p>
          <a:p>
            <a:r>
              <a:rPr lang="en-US" dirty="0"/>
              <a:t>Production readiness.</a:t>
            </a:r>
          </a:p>
          <a:p>
            <a:r>
              <a:rPr lang="en-US" dirty="0"/>
              <a:t>We asked:</a:t>
            </a:r>
          </a:p>
          <a:p>
            <a:r>
              <a:rPr lang="en-US" b="1" dirty="0"/>
              <a:t>Is Atlas ready for real users?</a:t>
            </a:r>
            <a:endParaRPr lang="en-US" dirty="0"/>
          </a:p>
          <a:p>
            <a:r>
              <a:rPr lang="en-US" dirty="0"/>
              <a:t>And we prepared it to answer yes.”</a:t>
            </a:r>
          </a:p>
          <a:p>
            <a:br>
              <a:rPr lang="en-US" dirty="0"/>
            </a:br>
            <a:endParaRPr lang="en-US" dirty="0"/>
          </a:p>
          <a:p>
            <a:r>
              <a:rPr lang="en-US" b="1" dirty="0"/>
              <a:t>Sprint 8 — RELEASE IT</a:t>
            </a:r>
          </a:p>
          <a:p>
            <a:r>
              <a:rPr lang="en-US" dirty="0"/>
              <a:t>“And finally:</a:t>
            </a:r>
          </a:p>
          <a:p>
            <a:r>
              <a:rPr lang="en-US" b="1" dirty="0"/>
              <a:t>Release It.</a:t>
            </a:r>
            <a:endParaRPr lang="en-US" dirty="0"/>
          </a:p>
          <a:p>
            <a:r>
              <a:rPr lang="en-US" dirty="0"/>
              <a:t>We tested.</a:t>
            </a:r>
          </a:p>
          <a:p>
            <a:r>
              <a:rPr lang="en-US" dirty="0"/>
              <a:t>We fixed.</a:t>
            </a:r>
          </a:p>
          <a:p>
            <a:r>
              <a:rPr lang="en-US" dirty="0"/>
              <a:t>We polished.</a:t>
            </a:r>
          </a:p>
          <a:p>
            <a:r>
              <a:rPr lang="en-US" dirty="0"/>
              <a:t>We deployed.</a:t>
            </a:r>
          </a:p>
          <a:p>
            <a:r>
              <a:rPr lang="en-US" dirty="0"/>
              <a:t>We documented.</a:t>
            </a:r>
          </a:p>
          <a:p>
            <a:r>
              <a:rPr lang="en-US" dirty="0"/>
              <a:t>We demonstrated.</a:t>
            </a:r>
          </a:p>
          <a:p>
            <a:r>
              <a:rPr lang="en-US" dirty="0"/>
              <a:t>We evaluated.</a:t>
            </a:r>
          </a:p>
          <a:p>
            <a:r>
              <a:rPr lang="en-US" dirty="0"/>
              <a:t>We reflected.</a:t>
            </a:r>
          </a:p>
          <a:p>
            <a:r>
              <a:rPr lang="en-US" dirty="0"/>
              <a:t>And then we released.</a:t>
            </a:r>
          </a:p>
          <a:p>
            <a:r>
              <a:rPr lang="en-US" dirty="0"/>
              <a:t>Atlas </a:t>
            </a:r>
            <a:r>
              <a:rPr lang="en-US" dirty="0" err="1"/>
              <a:t>TaskFlow</a:t>
            </a:r>
            <a:r>
              <a:rPr lang="en-US" dirty="0"/>
              <a:t> became:</a:t>
            </a:r>
          </a:p>
          <a:p>
            <a:r>
              <a:rPr lang="en-US" b="1" dirty="0"/>
              <a:t>Version 1.0.”</a:t>
            </a:r>
          </a:p>
          <a:p>
            <a:br>
              <a:rPr lang="en-US" dirty="0"/>
            </a:br>
            <a:endParaRPr lang="en-US" dirty="0"/>
          </a:p>
          <a:p>
            <a:r>
              <a:rPr lang="en-US" b="1" dirty="0"/>
              <a:t>Look at What We Accomplished</a:t>
            </a:r>
          </a:p>
          <a:p>
            <a:r>
              <a:rPr lang="en-US" dirty="0"/>
              <a:t>“Now look at the accomplishment list.</a:t>
            </a:r>
          </a:p>
          <a:p>
            <a:r>
              <a:rPr lang="en-US" dirty="0"/>
              <a:t>We defined a real problem and real user needs.</a:t>
            </a:r>
          </a:p>
          <a:p>
            <a:r>
              <a:rPr lang="en-US" dirty="0"/>
              <a:t>We designed a purposeful solution.</a:t>
            </a:r>
          </a:p>
          <a:p>
            <a:r>
              <a:rPr lang="en-US" dirty="0"/>
              <a:t>We built a scalable and maintainable SaaS application.</a:t>
            </a:r>
          </a:p>
          <a:p>
            <a:r>
              <a:rPr lang="en-US" dirty="0"/>
              <a:t>We implemented persistence and data integrity.</a:t>
            </a:r>
          </a:p>
          <a:p>
            <a:r>
              <a:rPr lang="en-US" dirty="0"/>
              <a:t>We secured users, roles, and sensitive data.</a:t>
            </a:r>
          </a:p>
          <a:p>
            <a:r>
              <a:rPr lang="en-US" dirty="0"/>
              <a:t>We prepared for reliability, performance, and scale.</a:t>
            </a:r>
          </a:p>
          <a:p>
            <a:r>
              <a:rPr lang="en-US" dirty="0"/>
              <a:t>We tested thoroughly.</a:t>
            </a:r>
          </a:p>
          <a:p>
            <a:r>
              <a:rPr lang="en-US" dirty="0"/>
              <a:t>We fixed what mattered.</a:t>
            </a:r>
          </a:p>
          <a:p>
            <a:r>
              <a:rPr lang="en-US" dirty="0"/>
              <a:t>We deployed to the cloud.</a:t>
            </a:r>
          </a:p>
          <a:p>
            <a:r>
              <a:rPr lang="en-US" dirty="0"/>
              <a:t>We documented the product.</a:t>
            </a:r>
          </a:p>
          <a:p>
            <a:r>
              <a:rPr lang="en-US" dirty="0"/>
              <a:t>We demonstrated it.</a:t>
            </a:r>
          </a:p>
          <a:p>
            <a:r>
              <a:rPr lang="en-US" dirty="0"/>
              <a:t>We evaluated it.</a:t>
            </a:r>
          </a:p>
          <a:p>
            <a:r>
              <a:rPr lang="en-US" dirty="0"/>
              <a:t>And finally:</a:t>
            </a:r>
          </a:p>
          <a:p>
            <a:r>
              <a:rPr lang="en-US" b="1" dirty="0"/>
              <a:t>We released Atlas </a:t>
            </a:r>
            <a:r>
              <a:rPr lang="en-US" b="1" dirty="0" err="1"/>
              <a:t>TaskFlow</a:t>
            </a:r>
            <a:r>
              <a:rPr lang="en-US" b="1" dirty="0"/>
              <a:t> Version 1.0.</a:t>
            </a:r>
            <a:r>
              <a:rPr lang="en-US" dirty="0"/>
              <a:t>”</a:t>
            </a:r>
          </a:p>
          <a:p>
            <a:br>
              <a:rPr lang="en-US" dirty="0"/>
            </a:br>
            <a:endParaRPr lang="en-US" dirty="0"/>
          </a:p>
          <a:p>
            <a:r>
              <a:rPr lang="en-US" b="1" dirty="0"/>
              <a:t>What Did We Actually Learn?</a:t>
            </a:r>
          </a:p>
          <a:p>
            <a:r>
              <a:rPr lang="en-US" dirty="0"/>
              <a:t>“Now here's the part I care about most.</a:t>
            </a:r>
          </a:p>
          <a:p>
            <a:r>
              <a:rPr lang="en-US" dirty="0"/>
              <a:t>What did we learn?</a:t>
            </a:r>
          </a:p>
          <a:p>
            <a:r>
              <a:rPr lang="en-US" dirty="0"/>
              <a:t>Not just:</a:t>
            </a:r>
          </a:p>
          <a:p>
            <a:r>
              <a:rPr lang="en-US" dirty="0"/>
              <a:t>‘How to use ASP.NET.’</a:t>
            </a:r>
          </a:p>
          <a:p>
            <a:r>
              <a:rPr lang="en-US" dirty="0"/>
              <a:t>Not just:</a:t>
            </a:r>
          </a:p>
          <a:p>
            <a:r>
              <a:rPr lang="en-US" dirty="0"/>
              <a:t>‘How to connect a database.’</a:t>
            </a:r>
          </a:p>
          <a:p>
            <a:r>
              <a:rPr lang="en-US" dirty="0"/>
              <a:t>Not just:</a:t>
            </a:r>
          </a:p>
          <a:p>
            <a:r>
              <a:rPr lang="en-US" dirty="0"/>
              <a:t>‘How to deploy to Azure.’</a:t>
            </a:r>
          </a:p>
          <a:p>
            <a:r>
              <a:rPr lang="en-US" dirty="0"/>
              <a:t>Those are useful skills.</a:t>
            </a:r>
          </a:p>
          <a:p>
            <a:r>
              <a:rPr lang="en-US" dirty="0"/>
              <a:t>But underneath those technologies, we learned something much bigger.</a:t>
            </a:r>
          </a:p>
          <a:p>
            <a:r>
              <a:rPr lang="en-US" dirty="0"/>
              <a:t>We learned how to think like product owners.</a:t>
            </a:r>
          </a:p>
          <a:p>
            <a:r>
              <a:rPr lang="en-US" dirty="0"/>
              <a:t>We learned how to engineer for real users.</a:t>
            </a:r>
          </a:p>
          <a:p>
            <a:r>
              <a:rPr lang="en-US" dirty="0"/>
              <a:t>We learned how to build secure and reliable systems.</a:t>
            </a:r>
          </a:p>
          <a:p>
            <a:r>
              <a:rPr lang="en-US" dirty="0"/>
              <a:t>We learned how to collaborate.</a:t>
            </a:r>
          </a:p>
          <a:p>
            <a:r>
              <a:rPr lang="en-US" dirty="0"/>
              <a:t>We learned how to solve problems.</a:t>
            </a:r>
          </a:p>
          <a:p>
            <a:r>
              <a:rPr lang="en-US" dirty="0"/>
              <a:t>We learned how to measure impact.</a:t>
            </a:r>
          </a:p>
          <a:p>
            <a:r>
              <a:rPr lang="en-US" dirty="0"/>
              <a:t>And we learned something that is easy to underestimate:</a:t>
            </a:r>
          </a:p>
          <a:p>
            <a:r>
              <a:rPr lang="en-US" b="1" dirty="0"/>
              <a:t>Learning never really ends.</a:t>
            </a:r>
            <a:r>
              <a:rPr lang="en-US" dirty="0"/>
              <a:t>”</a:t>
            </a:r>
          </a:p>
          <a:p>
            <a:br>
              <a:rPr lang="en-US" dirty="0"/>
            </a:br>
            <a:endParaRPr lang="en-US" dirty="0"/>
          </a:p>
          <a:p>
            <a:r>
              <a:rPr lang="en-US" b="1" dirty="0"/>
              <a:t>The Team Made This Happen</a:t>
            </a:r>
          </a:p>
          <a:p>
            <a:r>
              <a:rPr lang="en-US" dirty="0"/>
              <a:t>“Look at the team highlights.</a:t>
            </a:r>
          </a:p>
          <a:p>
            <a:r>
              <a:rPr lang="en-US" dirty="0"/>
              <a:t>Every role mattered.</a:t>
            </a:r>
          </a:p>
          <a:p>
            <a:r>
              <a:rPr lang="en-US" dirty="0"/>
              <a:t>Every contribution mattered.</a:t>
            </a:r>
          </a:p>
          <a:p>
            <a:r>
              <a:rPr lang="en-US" dirty="0"/>
              <a:t>Every challenge taught us something.</a:t>
            </a:r>
          </a:p>
          <a:p>
            <a:r>
              <a:rPr lang="en-US" dirty="0"/>
              <a:t>A successful software product isn't created by one person doing everything.</a:t>
            </a:r>
          </a:p>
          <a:p>
            <a:r>
              <a:rPr lang="en-US" dirty="0"/>
              <a:t>It's created through collaboration.</a:t>
            </a:r>
          </a:p>
          <a:p>
            <a:r>
              <a:rPr lang="en-US" dirty="0"/>
              <a:t>Communication.</a:t>
            </a:r>
          </a:p>
          <a:p>
            <a:r>
              <a:rPr lang="en-US" dirty="0"/>
              <a:t>Accountability.</a:t>
            </a:r>
          </a:p>
          <a:p>
            <a:r>
              <a:rPr lang="en-US" dirty="0"/>
              <a:t>Problem solving.</a:t>
            </a:r>
          </a:p>
          <a:p>
            <a:r>
              <a:rPr lang="en-US" dirty="0"/>
              <a:t>Creativity.</a:t>
            </a:r>
          </a:p>
          <a:p>
            <a:r>
              <a:rPr lang="en-US" dirty="0"/>
              <a:t>Adaptability.</a:t>
            </a:r>
          </a:p>
          <a:p>
            <a:r>
              <a:rPr lang="en-US" dirty="0"/>
              <a:t>Resilience.</a:t>
            </a:r>
          </a:p>
          <a:p>
            <a:r>
              <a:rPr lang="en-US" dirty="0"/>
              <a:t>And support for one another.</a:t>
            </a:r>
          </a:p>
          <a:p>
            <a:r>
              <a:rPr lang="en-US" dirty="0"/>
              <a:t>That's what real engineering teams do.”</a:t>
            </a:r>
          </a:p>
          <a:p>
            <a:br>
              <a:rPr lang="en-US" dirty="0"/>
            </a:br>
            <a:endParaRPr lang="en-US" dirty="0"/>
          </a:p>
          <a:p>
            <a:r>
              <a:rPr lang="en-US" b="1" dirty="0"/>
              <a:t>The Metrics</a:t>
            </a:r>
          </a:p>
          <a:p>
            <a:r>
              <a:rPr lang="en-US" dirty="0"/>
              <a:t>“Now look at the launch metrics.</a:t>
            </a:r>
          </a:p>
          <a:p>
            <a:r>
              <a:rPr lang="en-US" dirty="0"/>
              <a:t>These numbers represent the kinds of outcomes we care about:</a:t>
            </a:r>
          </a:p>
          <a:p>
            <a:r>
              <a:rPr lang="en-US" dirty="0"/>
              <a:t>Active users.</a:t>
            </a:r>
          </a:p>
          <a:p>
            <a:r>
              <a:rPr lang="en-US" dirty="0"/>
              <a:t>Task completion.</a:t>
            </a:r>
          </a:p>
          <a:p>
            <a:r>
              <a:rPr lang="en-US" dirty="0"/>
              <a:t>Page performance.</a:t>
            </a:r>
          </a:p>
          <a:p>
            <a:r>
              <a:rPr lang="en-US" dirty="0"/>
              <a:t>System uptime.</a:t>
            </a:r>
          </a:p>
          <a:p>
            <a:r>
              <a:rPr lang="en-US" dirty="0"/>
              <a:t>User satisfaction.</a:t>
            </a:r>
          </a:p>
          <a:p>
            <a:r>
              <a:rPr lang="en-US" dirty="0"/>
              <a:t>Critical issues.</a:t>
            </a:r>
          </a:p>
          <a:p>
            <a:r>
              <a:rPr lang="en-US" dirty="0"/>
              <a:t>But there's an important footnote here:</a:t>
            </a:r>
          </a:p>
          <a:p>
            <a:r>
              <a:rPr lang="en-US" b="1" dirty="0"/>
              <a:t>Metrics are based on the initial release period and early user feedback.</a:t>
            </a:r>
            <a:endParaRPr lang="en-US" dirty="0"/>
          </a:p>
          <a:p>
            <a:r>
              <a:rPr lang="en-US" dirty="0"/>
              <a:t>That's important.</a:t>
            </a:r>
          </a:p>
          <a:p>
            <a:r>
              <a:rPr lang="en-US" dirty="0"/>
              <a:t>We don't pretend that early measurements tell us everything.</a:t>
            </a:r>
          </a:p>
          <a:p>
            <a:r>
              <a:rPr lang="en-US" dirty="0"/>
              <a:t>They're a baseline.</a:t>
            </a:r>
          </a:p>
          <a:p>
            <a:r>
              <a:rPr lang="en-US" dirty="0"/>
              <a:t>As more people use Atlas, we'll learn more.</a:t>
            </a:r>
          </a:p>
          <a:p>
            <a:r>
              <a:rPr lang="en-US" dirty="0"/>
              <a:t>We'll measure again.</a:t>
            </a:r>
          </a:p>
          <a:p>
            <a:r>
              <a:rPr lang="en-US" dirty="0"/>
              <a:t>And we'll improve.”</a:t>
            </a:r>
          </a:p>
          <a:p>
            <a:br>
              <a:rPr lang="en-US" dirty="0"/>
            </a:br>
            <a:endParaRPr lang="en-US" dirty="0"/>
          </a:p>
          <a:p>
            <a:r>
              <a:rPr lang="en-US" b="1" dirty="0"/>
              <a:t>Impact Is the Point</a:t>
            </a:r>
          </a:p>
          <a:p>
            <a:r>
              <a:rPr lang="en-US" dirty="0"/>
              <a:t>“This brings us back to the reason Atlas exists.</a:t>
            </a:r>
          </a:p>
          <a:p>
            <a:r>
              <a:rPr lang="en-US" dirty="0"/>
              <a:t>What lasting impact are we trying to create?</a:t>
            </a:r>
          </a:p>
          <a:p>
            <a:r>
              <a:rPr lang="en-US" dirty="0"/>
              <a:t>More organized teams.</a:t>
            </a:r>
          </a:p>
          <a:p>
            <a:r>
              <a:rPr lang="en-US" dirty="0"/>
              <a:t>Better visibility.</a:t>
            </a:r>
          </a:p>
          <a:p>
            <a:r>
              <a:rPr lang="en-US" dirty="0"/>
              <a:t>More effective use of time.</a:t>
            </a:r>
          </a:p>
          <a:p>
            <a:r>
              <a:rPr lang="en-US" dirty="0"/>
              <a:t>Better decisions through useful information.</a:t>
            </a:r>
          </a:p>
          <a:p>
            <a:r>
              <a:rPr lang="en-US" dirty="0"/>
              <a:t>Users who can focus on what matters.</a:t>
            </a:r>
          </a:p>
          <a:p>
            <a:r>
              <a:rPr lang="en-US" dirty="0"/>
              <a:t>That's the difference between:</a:t>
            </a:r>
          </a:p>
          <a:p>
            <a:r>
              <a:rPr lang="en-US" b="1" dirty="0"/>
              <a:t>building software</a:t>
            </a:r>
            <a:endParaRPr lang="en-US" dirty="0"/>
          </a:p>
          <a:p>
            <a:r>
              <a:rPr lang="en-US" dirty="0"/>
              <a:t>and</a:t>
            </a:r>
          </a:p>
          <a:p>
            <a:r>
              <a:rPr lang="en-US" b="1" dirty="0"/>
              <a:t>creating value with software.</a:t>
            </a:r>
            <a:r>
              <a:rPr lang="en-US" dirty="0"/>
              <a:t>”</a:t>
            </a:r>
          </a:p>
          <a:p>
            <a:br>
              <a:rPr lang="en-US" dirty="0"/>
            </a:br>
            <a:endParaRPr lang="en-US" dirty="0"/>
          </a:p>
          <a:p>
            <a:r>
              <a:rPr lang="en-US" b="1" dirty="0"/>
              <a:t>What's Next?</a:t>
            </a:r>
          </a:p>
          <a:p>
            <a:r>
              <a:rPr lang="en-US" dirty="0"/>
              <a:t>“Now here's something I want everyone to understand.</a:t>
            </a:r>
          </a:p>
          <a:p>
            <a:r>
              <a:rPr lang="en-US" dirty="0"/>
              <a:t>Finishing Version 1.0 does not mean we should immediately start adding every feature we can imagine.</a:t>
            </a:r>
          </a:p>
          <a:p>
            <a:r>
              <a:rPr lang="en-US" dirty="0"/>
              <a:t>We have to be disciplined.</a:t>
            </a:r>
          </a:p>
          <a:p>
            <a:r>
              <a:rPr lang="en-US" dirty="0"/>
              <a:t>We listen to users.</a:t>
            </a:r>
          </a:p>
          <a:p>
            <a:r>
              <a:rPr lang="en-US" dirty="0"/>
              <a:t>We examine the evidence.</a:t>
            </a:r>
          </a:p>
          <a:p>
            <a:r>
              <a:rPr lang="en-US" dirty="0"/>
              <a:t>We prioritize.</a:t>
            </a:r>
          </a:p>
          <a:p>
            <a:r>
              <a:rPr lang="en-US" dirty="0"/>
              <a:t>Then we build.</a:t>
            </a:r>
          </a:p>
          <a:p>
            <a:r>
              <a:rPr lang="en-US" dirty="0"/>
              <a:t>Maybe the next version includes:</a:t>
            </a:r>
          </a:p>
          <a:p>
            <a:r>
              <a:rPr lang="en-US" dirty="0"/>
              <a:t>better priorities and reminders,</a:t>
            </a:r>
          </a:p>
          <a:p>
            <a:r>
              <a:rPr lang="en-US" dirty="0"/>
              <a:t>file attachments,</a:t>
            </a:r>
          </a:p>
          <a:p>
            <a:r>
              <a:rPr lang="en-US" dirty="0"/>
              <a:t>comments,</a:t>
            </a:r>
          </a:p>
          <a:p>
            <a:r>
              <a:rPr lang="en-US" dirty="0"/>
              <a:t>better reporting,</a:t>
            </a:r>
          </a:p>
          <a:p>
            <a:r>
              <a:rPr lang="en-US" dirty="0"/>
              <a:t>more analytics,</a:t>
            </a:r>
          </a:p>
          <a:p>
            <a:r>
              <a:rPr lang="en-US" dirty="0"/>
              <a:t>improved mobile experiences,</a:t>
            </a:r>
          </a:p>
          <a:p>
            <a:r>
              <a:rPr lang="en-US" dirty="0"/>
              <a:t>better team management,</a:t>
            </a:r>
          </a:p>
          <a:p>
            <a:r>
              <a:rPr lang="en-US" dirty="0"/>
              <a:t>or new integrations.</a:t>
            </a:r>
          </a:p>
          <a:p>
            <a:r>
              <a:rPr lang="en-US" dirty="0"/>
              <a:t>But those decisions should come from </a:t>
            </a:r>
            <a:r>
              <a:rPr lang="en-US" b="1" dirty="0"/>
              <a:t>evidence and user needs</a:t>
            </a:r>
            <a:r>
              <a:rPr lang="en-US" dirty="0"/>
              <a:t>, not simply from a list of cool ideas.”</a:t>
            </a:r>
          </a:p>
          <a:p>
            <a:br>
              <a:rPr lang="en-US" dirty="0"/>
            </a:br>
            <a:endParaRPr lang="en-US" dirty="0"/>
          </a:p>
          <a:p>
            <a:r>
              <a:rPr lang="en-US" b="1" dirty="0"/>
              <a:t>The Continuous Improvement Cycle</a:t>
            </a:r>
          </a:p>
          <a:p>
            <a:r>
              <a:rPr lang="en-US" dirty="0"/>
              <a:t>“That's why this cycle is so important:</a:t>
            </a:r>
          </a:p>
          <a:p>
            <a:r>
              <a:rPr lang="en-US" b="1" dirty="0"/>
              <a:t>Listen.</a:t>
            </a:r>
            <a:endParaRPr lang="en-US" dirty="0"/>
          </a:p>
          <a:p>
            <a:r>
              <a:rPr lang="en-US" dirty="0"/>
              <a:t>↓</a:t>
            </a:r>
          </a:p>
          <a:p>
            <a:r>
              <a:rPr lang="en-US" b="1" dirty="0"/>
              <a:t>Learn.</a:t>
            </a:r>
            <a:endParaRPr lang="en-US" dirty="0"/>
          </a:p>
          <a:p>
            <a:r>
              <a:rPr lang="en-US" dirty="0"/>
              <a:t>↓</a:t>
            </a:r>
          </a:p>
          <a:p>
            <a:r>
              <a:rPr lang="en-US" b="1" dirty="0"/>
              <a:t>Plan.</a:t>
            </a:r>
            <a:endParaRPr lang="en-US" dirty="0"/>
          </a:p>
          <a:p>
            <a:r>
              <a:rPr lang="en-US" dirty="0"/>
              <a:t>↓</a:t>
            </a:r>
          </a:p>
          <a:p>
            <a:r>
              <a:rPr lang="en-US" b="1" dirty="0"/>
              <a:t>Build.</a:t>
            </a:r>
            <a:endParaRPr lang="en-US" dirty="0"/>
          </a:p>
          <a:p>
            <a:r>
              <a:rPr lang="en-US" dirty="0"/>
              <a:t>↓</a:t>
            </a:r>
          </a:p>
          <a:p>
            <a:r>
              <a:rPr lang="en-US" b="1" dirty="0"/>
              <a:t>Release.</a:t>
            </a:r>
            <a:endParaRPr lang="en-US" dirty="0"/>
          </a:p>
          <a:p>
            <a:r>
              <a:rPr lang="en-US" dirty="0"/>
              <a:t>↓</a:t>
            </a:r>
          </a:p>
          <a:p>
            <a:r>
              <a:rPr lang="en-US" b="1" dirty="0"/>
              <a:t>Measure.</a:t>
            </a:r>
            <a:endParaRPr lang="en-US" dirty="0"/>
          </a:p>
          <a:p>
            <a:r>
              <a:rPr lang="en-US" dirty="0"/>
              <a:t>↓</a:t>
            </a:r>
          </a:p>
          <a:p>
            <a:r>
              <a:rPr lang="en-US" b="1" dirty="0"/>
              <a:t>Improve.</a:t>
            </a:r>
            <a:endParaRPr lang="en-US" dirty="0"/>
          </a:p>
          <a:p>
            <a:r>
              <a:rPr lang="en-US" dirty="0"/>
              <a:t>And then we do it again.</a:t>
            </a:r>
          </a:p>
          <a:p>
            <a:r>
              <a:rPr lang="en-US" dirty="0"/>
              <a:t>That's modern software development.</a:t>
            </a:r>
          </a:p>
          <a:p>
            <a:r>
              <a:rPr lang="en-US" dirty="0"/>
              <a:t>It's not:</a:t>
            </a:r>
          </a:p>
          <a:p>
            <a:r>
              <a:rPr lang="en-US" dirty="0"/>
              <a:t>Build once. Submit. Forget.</a:t>
            </a:r>
          </a:p>
          <a:p>
            <a:r>
              <a:rPr lang="en-US" dirty="0"/>
              <a:t>It's:</a:t>
            </a:r>
          </a:p>
          <a:p>
            <a:r>
              <a:rPr lang="en-US" b="1" dirty="0"/>
              <a:t>Learn, adapt, improve, repeat.</a:t>
            </a:r>
            <a:r>
              <a:rPr lang="en-US" dirty="0"/>
              <a:t>”</a:t>
            </a:r>
          </a:p>
          <a:p>
            <a:br>
              <a:rPr lang="en-US" dirty="0"/>
            </a:br>
            <a:endParaRPr lang="en-US" dirty="0"/>
          </a:p>
          <a:p>
            <a:r>
              <a:rPr lang="en-US" b="1" dirty="0"/>
              <a:t>Our Message to Users</a:t>
            </a:r>
          </a:p>
          <a:p>
            <a:r>
              <a:rPr lang="en-US" dirty="0"/>
              <a:t>“Atlas exists for its users.</a:t>
            </a:r>
          </a:p>
          <a:p>
            <a:r>
              <a:rPr lang="en-US" dirty="0"/>
              <a:t>So our commitment is simple.</a:t>
            </a:r>
          </a:p>
          <a:p>
            <a:r>
              <a:rPr lang="en-US" dirty="0"/>
              <a:t>We will keep building for them.</a:t>
            </a:r>
          </a:p>
          <a:p>
            <a:r>
              <a:rPr lang="en-US" dirty="0"/>
              <a:t>We will keep listening to them.</a:t>
            </a:r>
          </a:p>
          <a:p>
            <a:r>
              <a:rPr lang="en-US" dirty="0"/>
              <a:t>We will keep improving for them.</a:t>
            </a:r>
          </a:p>
          <a:p>
            <a:r>
              <a:rPr lang="en-US" dirty="0"/>
              <a:t>We will protect their information.</a:t>
            </a:r>
          </a:p>
          <a:p>
            <a:r>
              <a:rPr lang="en-US" dirty="0"/>
              <a:t>We will work to provide reliability and transparency.</a:t>
            </a:r>
          </a:p>
          <a:p>
            <a:r>
              <a:rPr lang="en-US" dirty="0"/>
              <a:t>And we'll measure ourselves by the value we create for them.”</a:t>
            </a:r>
          </a:p>
          <a:p>
            <a:br>
              <a:rPr lang="en-US" dirty="0"/>
            </a:br>
            <a:endParaRPr lang="en-US" dirty="0"/>
          </a:p>
          <a:p>
            <a:r>
              <a:rPr lang="en-US" b="1" dirty="0"/>
              <a:t>The Quote</a:t>
            </a:r>
          </a:p>
          <a:p>
            <a:r>
              <a:rPr lang="en-US" dirty="0"/>
              <a:t>“The quote on the artifact says:</a:t>
            </a:r>
          </a:p>
          <a:p>
            <a:r>
              <a:rPr lang="en-US" b="1" dirty="0"/>
              <a:t>‘Alone we can do so little; together we can do so much.’</a:t>
            </a:r>
            <a:endParaRPr lang="en-US" dirty="0"/>
          </a:p>
          <a:p>
            <a:r>
              <a:rPr lang="en-US" dirty="0"/>
              <a:t>That's a fitting way to close Atlas.</a:t>
            </a:r>
          </a:p>
          <a:p>
            <a:r>
              <a:rPr lang="en-US" dirty="0"/>
              <a:t>Because look at what happened.</a:t>
            </a:r>
          </a:p>
          <a:p>
            <a:r>
              <a:rPr lang="en-US" dirty="0"/>
              <a:t>One person might have an idea.</a:t>
            </a:r>
          </a:p>
          <a:p>
            <a:r>
              <a:rPr lang="en-US" dirty="0"/>
              <a:t>But turning that idea into a real SaaS product requires many different kinds of work.</a:t>
            </a:r>
          </a:p>
          <a:p>
            <a:r>
              <a:rPr lang="en-US" dirty="0"/>
              <a:t>Planning.</a:t>
            </a:r>
          </a:p>
          <a:p>
            <a:r>
              <a:rPr lang="en-US" dirty="0"/>
              <a:t>Design.</a:t>
            </a:r>
          </a:p>
          <a:p>
            <a:r>
              <a:rPr lang="en-US" dirty="0"/>
              <a:t>Development.</a:t>
            </a:r>
          </a:p>
          <a:p>
            <a:r>
              <a:rPr lang="en-US" dirty="0"/>
              <a:t>Testing.</a:t>
            </a:r>
          </a:p>
          <a:p>
            <a:r>
              <a:rPr lang="en-US" dirty="0"/>
              <a:t>Security.</a:t>
            </a:r>
          </a:p>
          <a:p>
            <a:r>
              <a:rPr lang="en-US" dirty="0"/>
              <a:t>Operations.</a:t>
            </a:r>
          </a:p>
          <a:p>
            <a:r>
              <a:rPr lang="en-US" dirty="0"/>
              <a:t>Communication.</a:t>
            </a:r>
          </a:p>
          <a:p>
            <a:r>
              <a:rPr lang="en-US" dirty="0"/>
              <a:t>Evaluation.</a:t>
            </a:r>
          </a:p>
          <a:p>
            <a:r>
              <a:rPr lang="en-US" dirty="0"/>
              <a:t>And teamwork.</a:t>
            </a:r>
          </a:p>
          <a:p>
            <a:r>
              <a:rPr lang="en-US" dirty="0"/>
              <a:t>Together, those pieces became Atlas.”</a:t>
            </a:r>
          </a:p>
          <a:p>
            <a:br>
              <a:rPr lang="en-US" dirty="0"/>
            </a:br>
            <a:endParaRPr lang="en-US" dirty="0"/>
          </a:p>
          <a:p>
            <a:r>
              <a:rPr lang="en-US" b="1" dirty="0"/>
              <a:t>Version 1.0 Is a Beginning</a:t>
            </a:r>
          </a:p>
          <a:p>
            <a:r>
              <a:rPr lang="en-US" dirty="0"/>
              <a:t>“I want to make one final distinction.</a:t>
            </a:r>
          </a:p>
          <a:p>
            <a:r>
              <a:rPr lang="en-US" b="1" dirty="0"/>
              <a:t>Version 1.0 is not the end of Atlas.</a:t>
            </a:r>
            <a:endParaRPr lang="en-US" dirty="0"/>
          </a:p>
          <a:p>
            <a:r>
              <a:rPr lang="en-US" dirty="0"/>
              <a:t>It's the beginning of the product's next chapter.</a:t>
            </a:r>
          </a:p>
          <a:p>
            <a:r>
              <a:rPr lang="en-US" dirty="0"/>
              <a:t>Before Version 1.0, we were making assumptions.</a:t>
            </a:r>
          </a:p>
          <a:p>
            <a:r>
              <a:rPr lang="en-US" dirty="0"/>
              <a:t>After Version 1.0, we have reality.</a:t>
            </a:r>
          </a:p>
          <a:p>
            <a:r>
              <a:rPr lang="en-US" dirty="0"/>
              <a:t>We have users.</a:t>
            </a:r>
          </a:p>
          <a:p>
            <a:r>
              <a:rPr lang="en-US" dirty="0"/>
              <a:t>We have feedback.</a:t>
            </a:r>
          </a:p>
          <a:p>
            <a:r>
              <a:rPr lang="en-US" dirty="0"/>
              <a:t>We have data.</a:t>
            </a:r>
          </a:p>
          <a:p>
            <a:r>
              <a:rPr lang="en-US" dirty="0"/>
              <a:t>We have evidence.</a:t>
            </a:r>
          </a:p>
          <a:p>
            <a:r>
              <a:rPr lang="en-US" dirty="0"/>
              <a:t>And that gives us something incredibly valuable:</a:t>
            </a:r>
          </a:p>
          <a:p>
            <a:r>
              <a:rPr lang="en-US" b="1" dirty="0"/>
              <a:t>the ability to make better decisions.</a:t>
            </a:r>
            <a:r>
              <a:rPr lang="en-US" dirty="0"/>
              <a:t>”</a:t>
            </a:r>
          </a:p>
          <a:p>
            <a:br>
              <a:rPr lang="en-US" dirty="0"/>
            </a:br>
            <a:endParaRPr lang="en-US" dirty="0"/>
          </a:p>
          <a:p>
            <a:r>
              <a:rPr lang="en-US" b="1" dirty="0"/>
              <a:t>The Atlas Commitment</a:t>
            </a:r>
          </a:p>
          <a:p>
            <a:r>
              <a:rPr lang="en-US" dirty="0"/>
              <a:t>“The commitment at the bottom is really the commitment of an engineering team:</a:t>
            </a:r>
          </a:p>
          <a:p>
            <a:r>
              <a:rPr lang="en-US" dirty="0"/>
              <a:t>Security and privacy.</a:t>
            </a:r>
          </a:p>
          <a:p>
            <a:r>
              <a:rPr lang="en-US" dirty="0"/>
              <a:t>Reliability and performance.</a:t>
            </a:r>
          </a:p>
          <a:p>
            <a:r>
              <a:rPr lang="en-US" dirty="0"/>
              <a:t>Transparency and communication.</a:t>
            </a:r>
          </a:p>
          <a:p>
            <a:r>
              <a:rPr lang="en-US" dirty="0"/>
              <a:t>User success.</a:t>
            </a:r>
          </a:p>
          <a:p>
            <a:r>
              <a:rPr lang="en-US" dirty="0"/>
              <a:t>Continuous improvement.</a:t>
            </a:r>
          </a:p>
          <a:p>
            <a:r>
              <a:rPr lang="en-US" dirty="0"/>
              <a:t>Those aren't just features.</a:t>
            </a:r>
          </a:p>
          <a:p>
            <a:r>
              <a:rPr lang="en-US" dirty="0"/>
              <a:t>They're responsibilities.”</a:t>
            </a:r>
          </a:p>
          <a:p>
            <a:br>
              <a:rPr lang="en-US" dirty="0"/>
            </a:br>
            <a:endParaRPr lang="en-US" dirty="0"/>
          </a:p>
          <a:p>
            <a:r>
              <a:rPr lang="en-US" b="1" dirty="0"/>
              <a:t>Look How Far We Came</a:t>
            </a:r>
          </a:p>
          <a:p>
            <a:r>
              <a:rPr lang="en-US" dirty="0"/>
              <a:t>“So let's go back to the beginning one more time.</a:t>
            </a:r>
          </a:p>
          <a:p>
            <a:r>
              <a:rPr lang="en-US" dirty="0"/>
              <a:t>At the start:</a:t>
            </a:r>
          </a:p>
          <a:p>
            <a:r>
              <a:rPr lang="en-US" b="1" dirty="0"/>
              <a:t>Atlas was an idea.</a:t>
            </a:r>
            <a:endParaRPr lang="en-US" dirty="0"/>
          </a:p>
          <a:p>
            <a:r>
              <a:rPr lang="en-US" dirty="0"/>
              <a:t>Then it became:</a:t>
            </a:r>
          </a:p>
          <a:p>
            <a:r>
              <a:rPr lang="en-US" b="1" dirty="0"/>
              <a:t>a plan.</a:t>
            </a:r>
            <a:endParaRPr lang="en-US" dirty="0"/>
          </a:p>
          <a:p>
            <a:r>
              <a:rPr lang="en-US" dirty="0"/>
              <a:t>Then:</a:t>
            </a:r>
          </a:p>
          <a:p>
            <a:r>
              <a:rPr lang="en-US" b="1" dirty="0"/>
              <a:t>a design.</a:t>
            </a:r>
            <a:endParaRPr lang="en-US" dirty="0"/>
          </a:p>
          <a:p>
            <a:r>
              <a:rPr lang="en-US" dirty="0"/>
              <a:t>Then:</a:t>
            </a:r>
          </a:p>
          <a:p>
            <a:r>
              <a:rPr lang="en-US" b="1" dirty="0"/>
              <a:t>working software.</a:t>
            </a:r>
            <a:endParaRPr lang="en-US" dirty="0"/>
          </a:p>
          <a:p>
            <a:r>
              <a:rPr lang="en-US" dirty="0"/>
              <a:t>Then:</a:t>
            </a:r>
          </a:p>
          <a:p>
            <a:r>
              <a:rPr lang="en-US" b="1" dirty="0"/>
              <a:t>a persistent application.</a:t>
            </a:r>
            <a:endParaRPr lang="en-US" dirty="0"/>
          </a:p>
          <a:p>
            <a:r>
              <a:rPr lang="en-US" dirty="0"/>
              <a:t>Then:</a:t>
            </a:r>
          </a:p>
          <a:p>
            <a:r>
              <a:rPr lang="en-US" b="1" dirty="0"/>
              <a:t>a protected application.</a:t>
            </a:r>
            <a:endParaRPr lang="en-US" dirty="0"/>
          </a:p>
          <a:p>
            <a:r>
              <a:rPr lang="en-US" dirty="0"/>
              <a:t>Then:</a:t>
            </a:r>
          </a:p>
          <a:p>
            <a:r>
              <a:rPr lang="en-US" b="1" dirty="0"/>
              <a:t>a production-ready application.</a:t>
            </a:r>
            <a:endParaRPr lang="en-US" dirty="0"/>
          </a:p>
          <a:p>
            <a:r>
              <a:rPr lang="en-US" dirty="0"/>
              <a:t>And finally:</a:t>
            </a:r>
          </a:p>
          <a:p>
            <a:r>
              <a:rPr lang="en-US" b="1" dirty="0"/>
              <a:t>a released product.”</a:t>
            </a:r>
          </a:p>
          <a:p>
            <a:br>
              <a:rPr lang="en-US" dirty="0"/>
            </a:br>
            <a:endParaRPr lang="en-US" dirty="0"/>
          </a:p>
          <a:p>
            <a:r>
              <a:rPr lang="en-US" b="1" dirty="0"/>
              <a:t>The Full Atlas Story</a:t>
            </a:r>
          </a:p>
          <a:p>
            <a:r>
              <a:rPr lang="en-US" dirty="0"/>
              <a:t>“If you remember nothing else from this entire course, remember this progression:</a:t>
            </a:r>
          </a:p>
          <a:p>
            <a:r>
              <a:rPr lang="en-US" b="1" dirty="0"/>
              <a:t>Plan.</a:t>
            </a:r>
            <a:endParaRPr lang="en-US" dirty="0"/>
          </a:p>
          <a:p>
            <a:r>
              <a:rPr lang="en-US" b="1" dirty="0"/>
              <a:t>Understand.</a:t>
            </a:r>
            <a:endParaRPr lang="en-US" dirty="0"/>
          </a:p>
          <a:p>
            <a:r>
              <a:rPr lang="en-US" b="1" dirty="0"/>
              <a:t>Design.</a:t>
            </a:r>
            <a:endParaRPr lang="en-US" dirty="0"/>
          </a:p>
          <a:p>
            <a:r>
              <a:rPr lang="en-US" b="1" dirty="0"/>
              <a:t>Build.</a:t>
            </a:r>
            <a:endParaRPr lang="en-US" dirty="0"/>
          </a:p>
          <a:p>
            <a:r>
              <a:rPr lang="en-US" b="1" dirty="0"/>
              <a:t>Remember.</a:t>
            </a:r>
            <a:endParaRPr lang="en-US" dirty="0"/>
          </a:p>
          <a:p>
            <a:r>
              <a:rPr lang="en-US" b="1" dirty="0"/>
              <a:t>Protect.</a:t>
            </a:r>
            <a:endParaRPr lang="en-US" dirty="0"/>
          </a:p>
          <a:p>
            <a:r>
              <a:rPr lang="en-US" b="1" dirty="0"/>
              <a:t>Prepare.</a:t>
            </a:r>
            <a:endParaRPr lang="en-US" dirty="0"/>
          </a:p>
          <a:p>
            <a:r>
              <a:rPr lang="en-US" b="1" dirty="0"/>
              <a:t>Release.</a:t>
            </a:r>
            <a:endParaRPr lang="en-US" dirty="0"/>
          </a:p>
          <a:p>
            <a:r>
              <a:rPr lang="en-US" dirty="0"/>
              <a:t>That is the Atlas story.</a:t>
            </a:r>
          </a:p>
          <a:p>
            <a:r>
              <a:rPr lang="en-US" dirty="0"/>
              <a:t>And more importantly, that's a simplified version of the engineering journey you'll encounter again and again.”</a:t>
            </a:r>
          </a:p>
          <a:p>
            <a:br>
              <a:rPr lang="en-US" dirty="0"/>
            </a:br>
            <a:endParaRPr lang="en-US" dirty="0"/>
          </a:p>
          <a:p>
            <a:r>
              <a:rPr lang="en-US" b="1" dirty="0"/>
              <a:t>What Comes With You</a:t>
            </a:r>
          </a:p>
          <a:p>
            <a:r>
              <a:rPr lang="en-US" dirty="0"/>
              <a:t>“The technologies will change.</a:t>
            </a:r>
          </a:p>
          <a:p>
            <a:r>
              <a:rPr lang="en-US" dirty="0"/>
              <a:t>ASP.NET will evolve.</a:t>
            </a:r>
          </a:p>
          <a:p>
            <a:r>
              <a:rPr lang="en-US" dirty="0"/>
              <a:t>Cloud platforms will evolve.</a:t>
            </a:r>
          </a:p>
          <a:p>
            <a:r>
              <a:rPr lang="en-US" dirty="0"/>
              <a:t>Frameworks will change.</a:t>
            </a:r>
          </a:p>
          <a:p>
            <a:r>
              <a:rPr lang="en-US" dirty="0"/>
              <a:t>AI will change how we build software.</a:t>
            </a:r>
          </a:p>
          <a:p>
            <a:r>
              <a:rPr lang="en-US" dirty="0"/>
              <a:t>The tools five years from now may look completely different.</a:t>
            </a:r>
          </a:p>
          <a:p>
            <a:r>
              <a:rPr lang="en-US" dirty="0"/>
              <a:t>But the fundamental skills we've practiced remain valuable.</a:t>
            </a:r>
          </a:p>
          <a:p>
            <a:r>
              <a:rPr lang="en-US" dirty="0"/>
              <a:t>Understanding problems.</a:t>
            </a:r>
          </a:p>
          <a:p>
            <a:r>
              <a:rPr lang="en-US" dirty="0"/>
              <a:t>Thinking about users.</a:t>
            </a:r>
          </a:p>
          <a:p>
            <a:r>
              <a:rPr lang="en-US" dirty="0"/>
              <a:t>Designing solutions.</a:t>
            </a:r>
          </a:p>
          <a:p>
            <a:r>
              <a:rPr lang="en-US" dirty="0"/>
              <a:t>Building carefully.</a:t>
            </a:r>
          </a:p>
          <a:p>
            <a:r>
              <a:rPr lang="en-US" dirty="0"/>
              <a:t>Testing.</a:t>
            </a:r>
          </a:p>
          <a:p>
            <a:r>
              <a:rPr lang="en-US" dirty="0"/>
              <a:t>Protecting information.</a:t>
            </a:r>
          </a:p>
          <a:p>
            <a:r>
              <a:rPr lang="en-US" dirty="0"/>
              <a:t>Communicating.</a:t>
            </a:r>
          </a:p>
          <a:p>
            <a:r>
              <a:rPr lang="en-US" dirty="0"/>
              <a:t>Evaluating.</a:t>
            </a:r>
          </a:p>
          <a:p>
            <a:r>
              <a:rPr lang="en-US" dirty="0"/>
              <a:t>Learning.</a:t>
            </a:r>
          </a:p>
          <a:p>
            <a:r>
              <a:rPr lang="en-US" dirty="0"/>
              <a:t>Improving.</a:t>
            </a:r>
          </a:p>
          <a:p>
            <a:r>
              <a:rPr lang="en-US" dirty="0"/>
              <a:t>Those skills travel with you.”</a:t>
            </a:r>
          </a:p>
          <a:p>
            <a:br>
              <a:rPr lang="en-US" dirty="0"/>
            </a:br>
            <a:endParaRPr lang="en-US" dirty="0"/>
          </a:p>
          <a:p>
            <a:r>
              <a:rPr lang="en-US" b="1" dirty="0"/>
              <a:t>We Did It</a:t>
            </a:r>
          </a:p>
          <a:p>
            <a:r>
              <a:rPr lang="en-US" dirty="0"/>
              <a:t>“So let's say it.</a:t>
            </a:r>
          </a:p>
          <a:p>
            <a:r>
              <a:rPr lang="en-US" dirty="0"/>
              <a:t>We started with an idea.</a:t>
            </a:r>
          </a:p>
          <a:p>
            <a:r>
              <a:rPr lang="en-US" dirty="0"/>
              <a:t>We built the product.</a:t>
            </a:r>
          </a:p>
          <a:p>
            <a:r>
              <a:rPr lang="en-US" dirty="0"/>
              <a:t>We tested it.</a:t>
            </a:r>
          </a:p>
          <a:p>
            <a:r>
              <a:rPr lang="en-US" dirty="0"/>
              <a:t>We fixed it.</a:t>
            </a:r>
          </a:p>
          <a:p>
            <a:r>
              <a:rPr lang="en-US" dirty="0"/>
              <a:t>We prepared it.</a:t>
            </a:r>
          </a:p>
          <a:p>
            <a:r>
              <a:rPr lang="en-US" dirty="0"/>
              <a:t>We released it.</a:t>
            </a:r>
          </a:p>
          <a:p>
            <a:r>
              <a:rPr lang="en-US" dirty="0"/>
              <a:t>And we learned from the experience.</a:t>
            </a:r>
          </a:p>
          <a:p>
            <a:r>
              <a:rPr lang="en-US" b="1" dirty="0"/>
              <a:t>Atlas </a:t>
            </a:r>
            <a:r>
              <a:rPr lang="en-US" b="1" dirty="0" err="1"/>
              <a:t>TaskFlow</a:t>
            </a:r>
            <a:r>
              <a:rPr lang="en-US" b="1" dirty="0"/>
              <a:t> Version 1.0 is live.</a:t>
            </a:r>
            <a:endParaRPr lang="en-US" dirty="0"/>
          </a:p>
          <a:p>
            <a:r>
              <a:rPr lang="en-US" dirty="0"/>
              <a:t>The journey is complete.</a:t>
            </a:r>
          </a:p>
          <a:p>
            <a:r>
              <a:rPr lang="en-US" dirty="0"/>
              <a:t>But the learning continues.”</a:t>
            </a:r>
          </a:p>
          <a:p>
            <a:br>
              <a:rPr lang="en-US" dirty="0"/>
            </a:br>
            <a:endParaRPr lang="en-US" dirty="0"/>
          </a:p>
          <a:p>
            <a:r>
              <a:rPr lang="en-US" b="1" dirty="0"/>
              <a:t>Final Closing</a:t>
            </a:r>
          </a:p>
          <a:p>
            <a:r>
              <a:rPr lang="en-US" dirty="0"/>
              <a:t>“And this is where I want to leave you.</a:t>
            </a:r>
          </a:p>
          <a:p>
            <a:r>
              <a:rPr lang="en-US" dirty="0"/>
              <a:t>Don't think of Atlas as:</a:t>
            </a:r>
          </a:p>
          <a:p>
            <a:r>
              <a:rPr lang="en-US" dirty="0"/>
              <a:t>‘That project we had to finish.’</a:t>
            </a:r>
          </a:p>
          <a:p>
            <a:r>
              <a:rPr lang="en-US" dirty="0"/>
              <a:t>Think of it as:</a:t>
            </a:r>
          </a:p>
          <a:p>
            <a:r>
              <a:rPr lang="en-US" b="1" dirty="0"/>
              <a:t>The first product you took all the way from an idea to a release.</a:t>
            </a:r>
            <a:endParaRPr lang="en-US" dirty="0"/>
          </a:p>
          <a:p>
            <a:r>
              <a:rPr lang="en-US" dirty="0"/>
              <a:t>That's a different thing.</a:t>
            </a:r>
          </a:p>
          <a:p>
            <a:r>
              <a:rPr lang="en-US" dirty="0"/>
              <a:t>You planned it.</a:t>
            </a:r>
          </a:p>
          <a:p>
            <a:r>
              <a:rPr lang="en-US" dirty="0"/>
              <a:t>You understood it.</a:t>
            </a:r>
          </a:p>
          <a:p>
            <a:r>
              <a:rPr lang="en-US" dirty="0"/>
              <a:t>You designed it.</a:t>
            </a:r>
          </a:p>
          <a:p>
            <a:r>
              <a:rPr lang="en-US" dirty="0"/>
              <a:t>You built it.</a:t>
            </a:r>
          </a:p>
          <a:p>
            <a:r>
              <a:rPr lang="en-US" dirty="0"/>
              <a:t>You gave it memory.</a:t>
            </a:r>
          </a:p>
          <a:p>
            <a:r>
              <a:rPr lang="en-US" dirty="0"/>
              <a:t>You protected it.</a:t>
            </a:r>
          </a:p>
          <a:p>
            <a:r>
              <a:rPr lang="en-US" dirty="0"/>
              <a:t>You prepared it.</a:t>
            </a:r>
          </a:p>
          <a:p>
            <a:r>
              <a:rPr lang="en-US" dirty="0"/>
              <a:t>You released it.</a:t>
            </a:r>
          </a:p>
          <a:p>
            <a:r>
              <a:rPr lang="en-US" dirty="0"/>
              <a:t>And now you know what that journey feels like.</a:t>
            </a:r>
          </a:p>
          <a:p>
            <a:r>
              <a:rPr lang="en-US" dirty="0"/>
              <a:t>So:</a:t>
            </a:r>
          </a:p>
          <a:p>
            <a:r>
              <a:rPr lang="en-US" b="1" dirty="0"/>
              <a:t>Celebrate what you built.</a:t>
            </a:r>
            <a:endParaRPr lang="en-US" dirty="0"/>
          </a:p>
          <a:p>
            <a:r>
              <a:rPr lang="en-US" b="1" dirty="0"/>
              <a:t>Reflect on what you learned.</a:t>
            </a:r>
            <a:endParaRPr lang="en-US" dirty="0"/>
          </a:p>
          <a:p>
            <a:r>
              <a:rPr lang="en-US" b="1" dirty="0"/>
              <a:t>Carry the lessons forward.</a:t>
            </a:r>
            <a:endParaRPr lang="en-US" dirty="0"/>
          </a:p>
          <a:p>
            <a:r>
              <a:rPr lang="en-US" b="1" dirty="0"/>
              <a:t>And keep building.</a:t>
            </a:r>
            <a:endParaRPr lang="en-US" dirty="0"/>
          </a:p>
          <a:p>
            <a:r>
              <a:rPr lang="en-US" dirty="0"/>
              <a:t>Because Version 1.0 is not the end.</a:t>
            </a:r>
          </a:p>
          <a:p>
            <a:r>
              <a:rPr lang="en-US" dirty="0"/>
              <a:t>It's proof that you can take an idea...</a:t>
            </a:r>
          </a:p>
          <a:p>
            <a:r>
              <a:rPr lang="en-US" dirty="0"/>
              <a:t>and turn it into something real.</a:t>
            </a:r>
          </a:p>
          <a:p>
            <a:r>
              <a:rPr lang="en-US" b="1" dirty="0"/>
              <a:t>Atlas </a:t>
            </a:r>
            <a:r>
              <a:rPr lang="en-US" b="1" dirty="0" err="1"/>
              <a:t>TaskFlow</a:t>
            </a:r>
            <a:r>
              <a:rPr lang="en-US" b="1" dirty="0"/>
              <a:t> — Journey Complete.</a:t>
            </a:r>
          </a:p>
          <a:p>
            <a:r>
              <a:rPr lang="en-US" b="1" dirty="0"/>
              <a:t>Building Atlas. Together.</a:t>
            </a:r>
            <a:r>
              <a:rPr lang="en-US" dirty="0"/>
              <a:t>”</a:t>
            </a:r>
          </a:p>
          <a:p>
            <a:endParaRPr lang="en-US" dirty="0"/>
          </a:p>
        </p:txBody>
      </p:sp>
      <p:sp>
        <p:nvSpPr>
          <p:cNvPr id="4" name="Slide Number Placeholder 3"/>
          <p:cNvSpPr>
            <a:spLocks noGrp="1"/>
          </p:cNvSpPr>
          <p:nvPr>
            <p:ph type="sldNum" sz="quarter" idx="5"/>
          </p:nvPr>
        </p:nvSpPr>
        <p:spPr/>
        <p:txBody>
          <a:bodyPr/>
          <a:lstStyle/>
          <a:p>
            <a:fld id="{5FDF263D-5665-4A7C-828E-8E913E9FBDB3}" type="slidenum">
              <a:rPr lang="en-US" smtClean="0"/>
              <a:t>12</a:t>
            </a:fld>
            <a:endParaRPr lang="en-US"/>
          </a:p>
        </p:txBody>
      </p:sp>
    </p:spTree>
    <p:extLst>
      <p:ext uri="{BB962C8B-B14F-4D97-AF65-F5344CB8AC3E}">
        <p14:creationId xmlns:p14="http://schemas.microsoft.com/office/powerpoint/2010/main" val="3649464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D75E9-C9CC-24F1-D4F0-E9F6C9CE40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AB46C18-79CF-2005-B231-C83117D23B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7A3D75D-2104-D47D-43BD-970E3D6343B4}"/>
              </a:ext>
            </a:extLst>
          </p:cNvPr>
          <p:cNvSpPr>
            <a:spLocks noGrp="1"/>
          </p:cNvSpPr>
          <p:nvPr>
            <p:ph type="dt" sz="half" idx="10"/>
          </p:nvPr>
        </p:nvSpPr>
        <p:spPr/>
        <p:txBody>
          <a:bodyPr/>
          <a:lstStyle/>
          <a:p>
            <a:fld id="{80EEF15B-4F81-4D23-A7C9-791E589E953D}" type="datetimeFigureOut">
              <a:rPr lang="en-US" smtClean="0"/>
              <a:t>8/13/2026</a:t>
            </a:fld>
            <a:endParaRPr lang="en-US"/>
          </a:p>
        </p:txBody>
      </p:sp>
      <p:sp>
        <p:nvSpPr>
          <p:cNvPr id="5" name="Footer Placeholder 4">
            <a:extLst>
              <a:ext uri="{FF2B5EF4-FFF2-40B4-BE49-F238E27FC236}">
                <a16:creationId xmlns:a16="http://schemas.microsoft.com/office/drawing/2014/main" id="{23273258-7627-4AFF-AAFB-00418C7D03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829680-B373-5376-F832-AB50285C6F26}"/>
              </a:ext>
            </a:extLst>
          </p:cNvPr>
          <p:cNvSpPr>
            <a:spLocks noGrp="1"/>
          </p:cNvSpPr>
          <p:nvPr>
            <p:ph type="sldNum" sz="quarter" idx="12"/>
          </p:nvPr>
        </p:nvSpPr>
        <p:spPr/>
        <p:txBody>
          <a:bodyPr/>
          <a:lstStyle/>
          <a:p>
            <a:fld id="{18E43990-1B7E-4C4A-96A9-C11731DEE968}" type="slidenum">
              <a:rPr lang="en-US" smtClean="0"/>
              <a:t>‹#›</a:t>
            </a:fld>
            <a:endParaRPr lang="en-US"/>
          </a:p>
        </p:txBody>
      </p:sp>
    </p:spTree>
    <p:extLst>
      <p:ext uri="{BB962C8B-B14F-4D97-AF65-F5344CB8AC3E}">
        <p14:creationId xmlns:p14="http://schemas.microsoft.com/office/powerpoint/2010/main" val="2561990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53BD6-AC5E-B71D-C0ED-484E02AD5D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9D9AD2-79F7-77A5-172E-ECFE15AFDC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B37BB9-5D0A-6358-6060-5CB43335C30D}"/>
              </a:ext>
            </a:extLst>
          </p:cNvPr>
          <p:cNvSpPr>
            <a:spLocks noGrp="1"/>
          </p:cNvSpPr>
          <p:nvPr>
            <p:ph type="dt" sz="half" idx="10"/>
          </p:nvPr>
        </p:nvSpPr>
        <p:spPr/>
        <p:txBody>
          <a:bodyPr/>
          <a:lstStyle/>
          <a:p>
            <a:fld id="{80EEF15B-4F81-4D23-A7C9-791E589E953D}" type="datetimeFigureOut">
              <a:rPr lang="en-US" smtClean="0"/>
              <a:t>8/13/2026</a:t>
            </a:fld>
            <a:endParaRPr lang="en-US"/>
          </a:p>
        </p:txBody>
      </p:sp>
      <p:sp>
        <p:nvSpPr>
          <p:cNvPr id="5" name="Footer Placeholder 4">
            <a:extLst>
              <a:ext uri="{FF2B5EF4-FFF2-40B4-BE49-F238E27FC236}">
                <a16:creationId xmlns:a16="http://schemas.microsoft.com/office/drawing/2014/main" id="{312BE898-FCDA-DB9E-883D-0E69ED67AB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4709EA-2B93-3357-BBDF-850E55998E60}"/>
              </a:ext>
            </a:extLst>
          </p:cNvPr>
          <p:cNvSpPr>
            <a:spLocks noGrp="1"/>
          </p:cNvSpPr>
          <p:nvPr>
            <p:ph type="sldNum" sz="quarter" idx="12"/>
          </p:nvPr>
        </p:nvSpPr>
        <p:spPr/>
        <p:txBody>
          <a:bodyPr/>
          <a:lstStyle/>
          <a:p>
            <a:fld id="{18E43990-1B7E-4C4A-96A9-C11731DEE968}" type="slidenum">
              <a:rPr lang="en-US" smtClean="0"/>
              <a:t>‹#›</a:t>
            </a:fld>
            <a:endParaRPr lang="en-US"/>
          </a:p>
        </p:txBody>
      </p:sp>
    </p:spTree>
    <p:extLst>
      <p:ext uri="{BB962C8B-B14F-4D97-AF65-F5344CB8AC3E}">
        <p14:creationId xmlns:p14="http://schemas.microsoft.com/office/powerpoint/2010/main" val="818159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149BE-BB08-6C6E-B3DB-1316CC7BFB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4B94FB-5F75-CC69-3072-22C38244ED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0039AB-68D2-A8E1-1D77-A2D54C8539F4}"/>
              </a:ext>
            </a:extLst>
          </p:cNvPr>
          <p:cNvSpPr>
            <a:spLocks noGrp="1"/>
          </p:cNvSpPr>
          <p:nvPr>
            <p:ph type="dt" sz="half" idx="10"/>
          </p:nvPr>
        </p:nvSpPr>
        <p:spPr/>
        <p:txBody>
          <a:bodyPr/>
          <a:lstStyle/>
          <a:p>
            <a:fld id="{80EEF15B-4F81-4D23-A7C9-791E589E953D}" type="datetimeFigureOut">
              <a:rPr lang="en-US" smtClean="0"/>
              <a:t>8/13/2026</a:t>
            </a:fld>
            <a:endParaRPr lang="en-US"/>
          </a:p>
        </p:txBody>
      </p:sp>
      <p:sp>
        <p:nvSpPr>
          <p:cNvPr id="5" name="Footer Placeholder 4">
            <a:extLst>
              <a:ext uri="{FF2B5EF4-FFF2-40B4-BE49-F238E27FC236}">
                <a16:creationId xmlns:a16="http://schemas.microsoft.com/office/drawing/2014/main" id="{BFF8FB41-5AB8-8C76-BFEC-7F28324612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094AF0-B2FB-9E00-6F62-9202FD81F0F7}"/>
              </a:ext>
            </a:extLst>
          </p:cNvPr>
          <p:cNvSpPr>
            <a:spLocks noGrp="1"/>
          </p:cNvSpPr>
          <p:nvPr>
            <p:ph type="sldNum" sz="quarter" idx="12"/>
          </p:nvPr>
        </p:nvSpPr>
        <p:spPr/>
        <p:txBody>
          <a:bodyPr/>
          <a:lstStyle/>
          <a:p>
            <a:fld id="{18E43990-1B7E-4C4A-96A9-C11731DEE968}" type="slidenum">
              <a:rPr lang="en-US" smtClean="0"/>
              <a:t>‹#›</a:t>
            </a:fld>
            <a:endParaRPr lang="en-US"/>
          </a:p>
        </p:txBody>
      </p:sp>
    </p:spTree>
    <p:extLst>
      <p:ext uri="{BB962C8B-B14F-4D97-AF65-F5344CB8AC3E}">
        <p14:creationId xmlns:p14="http://schemas.microsoft.com/office/powerpoint/2010/main" val="2271737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6FA21-FF8C-90C6-3110-04372D53A7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877040-FB53-649A-4AF0-475912A9A2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48CD3F-381B-3B61-A328-A26CB27C2B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CD7FDED-3FE3-A3D1-7DB9-B3B69BB21BF8}"/>
              </a:ext>
            </a:extLst>
          </p:cNvPr>
          <p:cNvSpPr>
            <a:spLocks noGrp="1"/>
          </p:cNvSpPr>
          <p:nvPr>
            <p:ph type="dt" sz="half" idx="10"/>
          </p:nvPr>
        </p:nvSpPr>
        <p:spPr/>
        <p:txBody>
          <a:bodyPr/>
          <a:lstStyle/>
          <a:p>
            <a:fld id="{80EEF15B-4F81-4D23-A7C9-791E589E953D}" type="datetimeFigureOut">
              <a:rPr lang="en-US" smtClean="0"/>
              <a:t>8/13/2026</a:t>
            </a:fld>
            <a:endParaRPr lang="en-US"/>
          </a:p>
        </p:txBody>
      </p:sp>
      <p:sp>
        <p:nvSpPr>
          <p:cNvPr id="6" name="Footer Placeholder 5">
            <a:extLst>
              <a:ext uri="{FF2B5EF4-FFF2-40B4-BE49-F238E27FC236}">
                <a16:creationId xmlns:a16="http://schemas.microsoft.com/office/drawing/2014/main" id="{78645B9E-14D2-FD22-2191-19E4FE2585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F492CF-5532-B25A-85D0-8FB966E975D6}"/>
              </a:ext>
            </a:extLst>
          </p:cNvPr>
          <p:cNvSpPr>
            <a:spLocks noGrp="1"/>
          </p:cNvSpPr>
          <p:nvPr>
            <p:ph type="sldNum" sz="quarter" idx="12"/>
          </p:nvPr>
        </p:nvSpPr>
        <p:spPr/>
        <p:txBody>
          <a:bodyPr/>
          <a:lstStyle/>
          <a:p>
            <a:fld id="{18E43990-1B7E-4C4A-96A9-C11731DEE968}" type="slidenum">
              <a:rPr lang="en-US" smtClean="0"/>
              <a:t>‹#›</a:t>
            </a:fld>
            <a:endParaRPr lang="en-US"/>
          </a:p>
        </p:txBody>
      </p:sp>
    </p:spTree>
    <p:extLst>
      <p:ext uri="{BB962C8B-B14F-4D97-AF65-F5344CB8AC3E}">
        <p14:creationId xmlns:p14="http://schemas.microsoft.com/office/powerpoint/2010/main" val="1207838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B2DAF-7A10-EE67-8F89-78050655219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672957B-40ED-DC2C-E5E5-767DF08A35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43E7BB-1CD4-55A1-E415-B7965319EF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F79620-AB99-9AF8-E9C1-5E00A1BBF3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0AF303-ABFE-6320-8840-417128C515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958548-4FDC-3129-AC2A-205D7ED56214}"/>
              </a:ext>
            </a:extLst>
          </p:cNvPr>
          <p:cNvSpPr>
            <a:spLocks noGrp="1"/>
          </p:cNvSpPr>
          <p:nvPr>
            <p:ph type="dt" sz="half" idx="10"/>
          </p:nvPr>
        </p:nvSpPr>
        <p:spPr/>
        <p:txBody>
          <a:bodyPr/>
          <a:lstStyle/>
          <a:p>
            <a:fld id="{80EEF15B-4F81-4D23-A7C9-791E589E953D}" type="datetimeFigureOut">
              <a:rPr lang="en-US" smtClean="0"/>
              <a:t>8/13/2026</a:t>
            </a:fld>
            <a:endParaRPr lang="en-US"/>
          </a:p>
        </p:txBody>
      </p:sp>
      <p:sp>
        <p:nvSpPr>
          <p:cNvPr id="8" name="Footer Placeholder 7">
            <a:extLst>
              <a:ext uri="{FF2B5EF4-FFF2-40B4-BE49-F238E27FC236}">
                <a16:creationId xmlns:a16="http://schemas.microsoft.com/office/drawing/2014/main" id="{4C707457-5366-52CA-3C2D-BBAEF5997B6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E791F90-9374-B4A4-651D-31D9BDA125AF}"/>
              </a:ext>
            </a:extLst>
          </p:cNvPr>
          <p:cNvSpPr>
            <a:spLocks noGrp="1"/>
          </p:cNvSpPr>
          <p:nvPr>
            <p:ph type="sldNum" sz="quarter" idx="12"/>
          </p:nvPr>
        </p:nvSpPr>
        <p:spPr/>
        <p:txBody>
          <a:bodyPr/>
          <a:lstStyle/>
          <a:p>
            <a:fld id="{18E43990-1B7E-4C4A-96A9-C11731DEE968}" type="slidenum">
              <a:rPr lang="en-US" smtClean="0"/>
              <a:t>‹#›</a:t>
            </a:fld>
            <a:endParaRPr lang="en-US"/>
          </a:p>
        </p:txBody>
      </p:sp>
    </p:spTree>
    <p:extLst>
      <p:ext uri="{BB962C8B-B14F-4D97-AF65-F5344CB8AC3E}">
        <p14:creationId xmlns:p14="http://schemas.microsoft.com/office/powerpoint/2010/main" val="4029224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1CF43-86C5-D89D-0F6B-45B729A6D9A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221DAB-FB2B-7FC6-4B85-FBCA22A60A76}"/>
              </a:ext>
            </a:extLst>
          </p:cNvPr>
          <p:cNvSpPr>
            <a:spLocks noGrp="1"/>
          </p:cNvSpPr>
          <p:nvPr>
            <p:ph type="dt" sz="half" idx="10"/>
          </p:nvPr>
        </p:nvSpPr>
        <p:spPr/>
        <p:txBody>
          <a:bodyPr/>
          <a:lstStyle/>
          <a:p>
            <a:fld id="{80EEF15B-4F81-4D23-A7C9-791E589E953D}" type="datetimeFigureOut">
              <a:rPr lang="en-US" smtClean="0"/>
              <a:t>8/13/2026</a:t>
            </a:fld>
            <a:endParaRPr lang="en-US"/>
          </a:p>
        </p:txBody>
      </p:sp>
      <p:sp>
        <p:nvSpPr>
          <p:cNvPr id="4" name="Footer Placeholder 3">
            <a:extLst>
              <a:ext uri="{FF2B5EF4-FFF2-40B4-BE49-F238E27FC236}">
                <a16:creationId xmlns:a16="http://schemas.microsoft.com/office/drawing/2014/main" id="{FF599AD9-CB92-DEC0-4394-95ED4B6928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A7C0C97-D85F-BB26-3E77-27FCB8804460}"/>
              </a:ext>
            </a:extLst>
          </p:cNvPr>
          <p:cNvSpPr>
            <a:spLocks noGrp="1"/>
          </p:cNvSpPr>
          <p:nvPr>
            <p:ph type="sldNum" sz="quarter" idx="12"/>
          </p:nvPr>
        </p:nvSpPr>
        <p:spPr/>
        <p:txBody>
          <a:bodyPr/>
          <a:lstStyle/>
          <a:p>
            <a:fld id="{18E43990-1B7E-4C4A-96A9-C11731DEE968}" type="slidenum">
              <a:rPr lang="en-US" smtClean="0"/>
              <a:t>‹#›</a:t>
            </a:fld>
            <a:endParaRPr lang="en-US"/>
          </a:p>
        </p:txBody>
      </p:sp>
    </p:spTree>
    <p:extLst>
      <p:ext uri="{BB962C8B-B14F-4D97-AF65-F5344CB8AC3E}">
        <p14:creationId xmlns:p14="http://schemas.microsoft.com/office/powerpoint/2010/main" val="3613581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669E18-A217-754B-FFA2-F0C8B3D651B3}"/>
              </a:ext>
            </a:extLst>
          </p:cNvPr>
          <p:cNvSpPr>
            <a:spLocks noGrp="1"/>
          </p:cNvSpPr>
          <p:nvPr>
            <p:ph type="dt" sz="half" idx="10"/>
          </p:nvPr>
        </p:nvSpPr>
        <p:spPr/>
        <p:txBody>
          <a:bodyPr/>
          <a:lstStyle/>
          <a:p>
            <a:fld id="{80EEF15B-4F81-4D23-A7C9-791E589E953D}" type="datetimeFigureOut">
              <a:rPr lang="en-US" smtClean="0"/>
              <a:t>8/13/2026</a:t>
            </a:fld>
            <a:endParaRPr lang="en-US"/>
          </a:p>
        </p:txBody>
      </p:sp>
      <p:sp>
        <p:nvSpPr>
          <p:cNvPr id="3" name="Footer Placeholder 2">
            <a:extLst>
              <a:ext uri="{FF2B5EF4-FFF2-40B4-BE49-F238E27FC236}">
                <a16:creationId xmlns:a16="http://schemas.microsoft.com/office/drawing/2014/main" id="{5D372116-259E-1E07-2F31-BC2B15D7CE8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A18B08-AE18-2719-26E6-AEF7A45C1BB2}"/>
              </a:ext>
            </a:extLst>
          </p:cNvPr>
          <p:cNvSpPr>
            <a:spLocks noGrp="1"/>
          </p:cNvSpPr>
          <p:nvPr>
            <p:ph type="sldNum" sz="quarter" idx="12"/>
          </p:nvPr>
        </p:nvSpPr>
        <p:spPr/>
        <p:txBody>
          <a:bodyPr/>
          <a:lstStyle/>
          <a:p>
            <a:fld id="{18E43990-1B7E-4C4A-96A9-C11731DEE968}" type="slidenum">
              <a:rPr lang="en-US" smtClean="0"/>
              <a:t>‹#›</a:t>
            </a:fld>
            <a:endParaRPr lang="en-US"/>
          </a:p>
        </p:txBody>
      </p:sp>
    </p:spTree>
    <p:extLst>
      <p:ext uri="{BB962C8B-B14F-4D97-AF65-F5344CB8AC3E}">
        <p14:creationId xmlns:p14="http://schemas.microsoft.com/office/powerpoint/2010/main" val="2447425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E7B8E-C920-80BF-4D51-670B595A58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8BC72E-B3C6-C5B8-4E42-C25D6657F3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AF4211-CDCC-08E4-EAC5-E10253563F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6C3EEC-4EC1-3D6F-6E94-C08ECB06D95C}"/>
              </a:ext>
            </a:extLst>
          </p:cNvPr>
          <p:cNvSpPr>
            <a:spLocks noGrp="1"/>
          </p:cNvSpPr>
          <p:nvPr>
            <p:ph type="dt" sz="half" idx="10"/>
          </p:nvPr>
        </p:nvSpPr>
        <p:spPr/>
        <p:txBody>
          <a:bodyPr/>
          <a:lstStyle/>
          <a:p>
            <a:fld id="{80EEF15B-4F81-4D23-A7C9-791E589E953D}" type="datetimeFigureOut">
              <a:rPr lang="en-US" smtClean="0"/>
              <a:t>8/13/2026</a:t>
            </a:fld>
            <a:endParaRPr lang="en-US"/>
          </a:p>
        </p:txBody>
      </p:sp>
      <p:sp>
        <p:nvSpPr>
          <p:cNvPr id="6" name="Footer Placeholder 5">
            <a:extLst>
              <a:ext uri="{FF2B5EF4-FFF2-40B4-BE49-F238E27FC236}">
                <a16:creationId xmlns:a16="http://schemas.microsoft.com/office/drawing/2014/main" id="{41816CB0-CEFF-2D20-C1D7-E524863945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56F852-4D54-9826-E0BB-AE2FFECBF459}"/>
              </a:ext>
            </a:extLst>
          </p:cNvPr>
          <p:cNvSpPr>
            <a:spLocks noGrp="1"/>
          </p:cNvSpPr>
          <p:nvPr>
            <p:ph type="sldNum" sz="quarter" idx="12"/>
          </p:nvPr>
        </p:nvSpPr>
        <p:spPr/>
        <p:txBody>
          <a:bodyPr/>
          <a:lstStyle/>
          <a:p>
            <a:fld id="{18E43990-1B7E-4C4A-96A9-C11731DEE968}" type="slidenum">
              <a:rPr lang="en-US" smtClean="0"/>
              <a:t>‹#›</a:t>
            </a:fld>
            <a:endParaRPr lang="en-US"/>
          </a:p>
        </p:txBody>
      </p:sp>
    </p:spTree>
    <p:extLst>
      <p:ext uri="{BB962C8B-B14F-4D97-AF65-F5344CB8AC3E}">
        <p14:creationId xmlns:p14="http://schemas.microsoft.com/office/powerpoint/2010/main" val="3227981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6F4E0-89B5-0013-6613-C01669F5DD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4B39C55-9915-08D9-160A-E261106B4D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0E9A52-52F2-4929-2F14-D593BC178A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557547-3308-F688-A031-E0150AC28CF3}"/>
              </a:ext>
            </a:extLst>
          </p:cNvPr>
          <p:cNvSpPr>
            <a:spLocks noGrp="1"/>
          </p:cNvSpPr>
          <p:nvPr>
            <p:ph type="dt" sz="half" idx="10"/>
          </p:nvPr>
        </p:nvSpPr>
        <p:spPr/>
        <p:txBody>
          <a:bodyPr/>
          <a:lstStyle/>
          <a:p>
            <a:fld id="{80EEF15B-4F81-4D23-A7C9-791E589E953D}" type="datetimeFigureOut">
              <a:rPr lang="en-US" smtClean="0"/>
              <a:t>8/13/2026</a:t>
            </a:fld>
            <a:endParaRPr lang="en-US"/>
          </a:p>
        </p:txBody>
      </p:sp>
      <p:sp>
        <p:nvSpPr>
          <p:cNvPr id="6" name="Footer Placeholder 5">
            <a:extLst>
              <a:ext uri="{FF2B5EF4-FFF2-40B4-BE49-F238E27FC236}">
                <a16:creationId xmlns:a16="http://schemas.microsoft.com/office/drawing/2014/main" id="{B5289DCB-7871-E9BD-DF47-56DC1393E0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91CA5F-E67D-A200-E908-38B9C70E321E}"/>
              </a:ext>
            </a:extLst>
          </p:cNvPr>
          <p:cNvSpPr>
            <a:spLocks noGrp="1"/>
          </p:cNvSpPr>
          <p:nvPr>
            <p:ph type="sldNum" sz="quarter" idx="12"/>
          </p:nvPr>
        </p:nvSpPr>
        <p:spPr/>
        <p:txBody>
          <a:bodyPr/>
          <a:lstStyle/>
          <a:p>
            <a:fld id="{18E43990-1B7E-4C4A-96A9-C11731DEE968}" type="slidenum">
              <a:rPr lang="en-US" smtClean="0"/>
              <a:t>‹#›</a:t>
            </a:fld>
            <a:endParaRPr lang="en-US"/>
          </a:p>
        </p:txBody>
      </p:sp>
    </p:spTree>
    <p:extLst>
      <p:ext uri="{BB962C8B-B14F-4D97-AF65-F5344CB8AC3E}">
        <p14:creationId xmlns:p14="http://schemas.microsoft.com/office/powerpoint/2010/main" val="2439464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6649F-D641-4E9D-FF4A-874EFC312B2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27BB9E-9A23-D4CC-C380-EFE55AD48A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62DFFD-C6EC-FD3A-1B89-848DD9392B56}"/>
              </a:ext>
            </a:extLst>
          </p:cNvPr>
          <p:cNvSpPr>
            <a:spLocks noGrp="1"/>
          </p:cNvSpPr>
          <p:nvPr>
            <p:ph type="dt" sz="half" idx="10"/>
          </p:nvPr>
        </p:nvSpPr>
        <p:spPr/>
        <p:txBody>
          <a:bodyPr/>
          <a:lstStyle/>
          <a:p>
            <a:fld id="{80EEF15B-4F81-4D23-A7C9-791E589E953D}" type="datetimeFigureOut">
              <a:rPr lang="en-US" smtClean="0"/>
              <a:t>8/13/2026</a:t>
            </a:fld>
            <a:endParaRPr lang="en-US"/>
          </a:p>
        </p:txBody>
      </p:sp>
      <p:sp>
        <p:nvSpPr>
          <p:cNvPr id="5" name="Footer Placeholder 4">
            <a:extLst>
              <a:ext uri="{FF2B5EF4-FFF2-40B4-BE49-F238E27FC236}">
                <a16:creationId xmlns:a16="http://schemas.microsoft.com/office/drawing/2014/main" id="{36050FE7-5EA3-7219-C688-7445E36620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C892E5-F455-7B7D-A4FF-2A57AEE2BA14}"/>
              </a:ext>
            </a:extLst>
          </p:cNvPr>
          <p:cNvSpPr>
            <a:spLocks noGrp="1"/>
          </p:cNvSpPr>
          <p:nvPr>
            <p:ph type="sldNum" sz="quarter" idx="12"/>
          </p:nvPr>
        </p:nvSpPr>
        <p:spPr/>
        <p:txBody>
          <a:bodyPr/>
          <a:lstStyle/>
          <a:p>
            <a:fld id="{18E43990-1B7E-4C4A-96A9-C11731DEE968}" type="slidenum">
              <a:rPr lang="en-US" smtClean="0"/>
              <a:t>‹#›</a:t>
            </a:fld>
            <a:endParaRPr lang="en-US"/>
          </a:p>
        </p:txBody>
      </p:sp>
    </p:spTree>
    <p:extLst>
      <p:ext uri="{BB962C8B-B14F-4D97-AF65-F5344CB8AC3E}">
        <p14:creationId xmlns:p14="http://schemas.microsoft.com/office/powerpoint/2010/main" val="1846259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3DC040-1979-B27B-FA8C-587A28A48B7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11BA7A-5EE2-D883-5C60-90F81DC06D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9AC37C-6B02-4E80-B172-27829D9EB34E}"/>
              </a:ext>
            </a:extLst>
          </p:cNvPr>
          <p:cNvSpPr>
            <a:spLocks noGrp="1"/>
          </p:cNvSpPr>
          <p:nvPr>
            <p:ph type="dt" sz="half" idx="10"/>
          </p:nvPr>
        </p:nvSpPr>
        <p:spPr/>
        <p:txBody>
          <a:bodyPr/>
          <a:lstStyle/>
          <a:p>
            <a:fld id="{80EEF15B-4F81-4D23-A7C9-791E589E953D}" type="datetimeFigureOut">
              <a:rPr lang="en-US" smtClean="0"/>
              <a:t>8/13/2026</a:t>
            </a:fld>
            <a:endParaRPr lang="en-US"/>
          </a:p>
        </p:txBody>
      </p:sp>
      <p:sp>
        <p:nvSpPr>
          <p:cNvPr id="5" name="Footer Placeholder 4">
            <a:extLst>
              <a:ext uri="{FF2B5EF4-FFF2-40B4-BE49-F238E27FC236}">
                <a16:creationId xmlns:a16="http://schemas.microsoft.com/office/drawing/2014/main" id="{3B9C65B3-B2D3-DA35-AF09-FF07839410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7AFEC8-F9E4-8B99-3360-01535B15F55A}"/>
              </a:ext>
            </a:extLst>
          </p:cNvPr>
          <p:cNvSpPr>
            <a:spLocks noGrp="1"/>
          </p:cNvSpPr>
          <p:nvPr>
            <p:ph type="sldNum" sz="quarter" idx="12"/>
          </p:nvPr>
        </p:nvSpPr>
        <p:spPr/>
        <p:txBody>
          <a:bodyPr/>
          <a:lstStyle/>
          <a:p>
            <a:fld id="{18E43990-1B7E-4C4A-96A9-C11731DEE968}" type="slidenum">
              <a:rPr lang="en-US" smtClean="0"/>
              <a:t>‹#›</a:t>
            </a:fld>
            <a:endParaRPr lang="en-US"/>
          </a:p>
        </p:txBody>
      </p:sp>
    </p:spTree>
    <p:extLst>
      <p:ext uri="{BB962C8B-B14F-4D97-AF65-F5344CB8AC3E}">
        <p14:creationId xmlns:p14="http://schemas.microsoft.com/office/powerpoint/2010/main" val="4252855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4BD9D2-7B25-B876-7622-2CB076BCB7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1335BF-E6CC-4B70-30EC-7664EC68FF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5A368C-423B-530C-870B-43DE290ED0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0EEF15B-4F81-4D23-A7C9-791E589E953D}" type="datetimeFigureOut">
              <a:rPr lang="en-US" smtClean="0"/>
              <a:t>8/13/2026</a:t>
            </a:fld>
            <a:endParaRPr lang="en-US"/>
          </a:p>
        </p:txBody>
      </p:sp>
      <p:sp>
        <p:nvSpPr>
          <p:cNvPr id="5" name="Footer Placeholder 4">
            <a:extLst>
              <a:ext uri="{FF2B5EF4-FFF2-40B4-BE49-F238E27FC236}">
                <a16:creationId xmlns:a16="http://schemas.microsoft.com/office/drawing/2014/main" id="{9157D1DE-C79F-AA31-E778-A3955C57A5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747F136-6943-1AC5-0019-3EFAF86FA4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E43990-1B7E-4C4A-96A9-C11731DEE968}" type="slidenum">
              <a:rPr lang="en-US" smtClean="0"/>
              <a:t>‹#›</a:t>
            </a:fld>
            <a:endParaRPr lang="en-US"/>
          </a:p>
        </p:txBody>
      </p:sp>
    </p:spTree>
    <p:extLst>
      <p:ext uri="{BB962C8B-B14F-4D97-AF65-F5344CB8AC3E}">
        <p14:creationId xmlns:p14="http://schemas.microsoft.com/office/powerpoint/2010/main" val="34204942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2B658-0765-3D21-9DBF-E88B4E74C18E}"/>
              </a:ext>
            </a:extLst>
          </p:cNvPr>
          <p:cNvSpPr>
            <a:spLocks noGrp="1"/>
          </p:cNvSpPr>
          <p:nvPr>
            <p:ph type="ctrTitle"/>
          </p:nvPr>
        </p:nvSpPr>
        <p:spPr/>
        <p:txBody>
          <a:bodyPr/>
          <a:lstStyle/>
          <a:p>
            <a:r>
              <a:rPr lang="en-US" dirty="0"/>
              <a:t>8-01</a:t>
            </a:r>
          </a:p>
        </p:txBody>
      </p:sp>
      <p:sp>
        <p:nvSpPr>
          <p:cNvPr id="3" name="Subtitle 2">
            <a:extLst>
              <a:ext uri="{FF2B5EF4-FFF2-40B4-BE49-F238E27FC236}">
                <a16:creationId xmlns:a16="http://schemas.microsoft.com/office/drawing/2014/main" id="{D9BAF9CE-68A5-364D-2057-272BBADF24D2}"/>
              </a:ext>
            </a:extLst>
          </p:cNvPr>
          <p:cNvSpPr>
            <a:spLocks noGrp="1"/>
          </p:cNvSpPr>
          <p:nvPr>
            <p:ph type="subTitle" idx="1"/>
          </p:nvPr>
        </p:nvSpPr>
        <p:spPr/>
        <p:txBody>
          <a:bodyPr/>
          <a:lstStyle/>
          <a:p>
            <a:endParaRPr lang="en-US"/>
          </a:p>
        </p:txBody>
      </p:sp>
      <p:pic>
        <p:nvPicPr>
          <p:cNvPr id="5" name="Picture 4" descr="Infographic titled &quot;Release It&quot; from Atlas Taskflow, illustrating the release process in project management with key focus areas such as communication, support, security, and roadmap planning, highlighted in colorful icons. Central rocket launch graphic symbolizes successful release, supported by sections on real users, business value, team enablement, and future readiness, culminating in outcomes like user impact, value delivery, trust building, and continuous evolution.&#10;&#10;">
            <a:extLst>
              <a:ext uri="{FF2B5EF4-FFF2-40B4-BE49-F238E27FC236}">
                <a16:creationId xmlns:a16="http://schemas.microsoft.com/office/drawing/2014/main" id="{2BE212D6-352C-3BFB-A09F-064868E798A8}"/>
              </a:ext>
            </a:extLst>
          </p:cNvPr>
          <p:cNvPicPr>
            <a:picLocks noChangeAspect="1"/>
          </p:cNvPicPr>
          <p:nvPr/>
        </p:nvPicPr>
        <p:blipFill>
          <a:blip r:embed="rId3"/>
          <a:stretch>
            <a:fillRect/>
          </a:stretch>
        </p:blipFill>
        <p:spPr>
          <a:xfrm>
            <a:off x="3239" y="0"/>
            <a:ext cx="12185522" cy="6858000"/>
          </a:xfrm>
          <a:prstGeom prst="rect">
            <a:avLst/>
          </a:prstGeom>
        </p:spPr>
      </p:pic>
      <p:pic>
        <p:nvPicPr>
          <p:cNvPr id="7" name="Picture 6" descr="Infographic titled &quot;Release It&quot; from Atlas Taskflow, illustrating the release process in project management with key focus areas such as communication, support, security, and roadmap planning, highlighted in colorful icons. Central rocket launch graphic symbolizes successful release, supported by sections on real users, business value, team enablement, and future readiness, culminating in outcomes like user impact, value delivery, trust building, and continuous evolution.&#10;&#10;">
            <a:extLst>
              <a:ext uri="{FF2B5EF4-FFF2-40B4-BE49-F238E27FC236}">
                <a16:creationId xmlns:a16="http://schemas.microsoft.com/office/drawing/2014/main" id="{F1D6B365-6CAC-3C90-DA84-ABE91B451423}"/>
              </a:ext>
            </a:extLst>
          </p:cNvPr>
          <p:cNvPicPr>
            <a:picLocks noChangeAspect="1"/>
          </p:cNvPicPr>
          <p:nvPr/>
        </p:nvPicPr>
        <p:blipFill>
          <a:blip r:embed="rId4"/>
          <a:stretch>
            <a:fillRect/>
          </a:stretch>
        </p:blipFill>
        <p:spPr>
          <a:xfrm>
            <a:off x="3239" y="0"/>
            <a:ext cx="12185522" cy="6858000"/>
          </a:xfrm>
          <a:prstGeom prst="rect">
            <a:avLst/>
          </a:prstGeom>
        </p:spPr>
      </p:pic>
    </p:spTree>
    <p:extLst>
      <p:ext uri="{BB962C8B-B14F-4D97-AF65-F5344CB8AC3E}">
        <p14:creationId xmlns:p14="http://schemas.microsoft.com/office/powerpoint/2010/main" val="2981140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6F0C3-37B0-F9DB-942D-DC53A753C4AB}"/>
              </a:ext>
            </a:extLst>
          </p:cNvPr>
          <p:cNvSpPr>
            <a:spLocks noGrp="1"/>
          </p:cNvSpPr>
          <p:nvPr>
            <p:ph type="title"/>
          </p:nvPr>
        </p:nvSpPr>
        <p:spPr/>
        <p:txBody>
          <a:bodyPr/>
          <a:lstStyle/>
          <a:p>
            <a:r>
              <a:rPr lang="en-US" dirty="0"/>
              <a:t>8-02</a:t>
            </a:r>
          </a:p>
        </p:txBody>
      </p:sp>
      <p:sp>
        <p:nvSpPr>
          <p:cNvPr id="3" name="Content Placeholder 2">
            <a:extLst>
              <a:ext uri="{FF2B5EF4-FFF2-40B4-BE49-F238E27FC236}">
                <a16:creationId xmlns:a16="http://schemas.microsoft.com/office/drawing/2014/main" id="{8BA95B5A-AE04-6F6F-EC9E-3510E1880DFB}"/>
              </a:ext>
            </a:extLst>
          </p:cNvPr>
          <p:cNvSpPr>
            <a:spLocks noGrp="1"/>
          </p:cNvSpPr>
          <p:nvPr>
            <p:ph idx="1"/>
          </p:nvPr>
        </p:nvSpPr>
        <p:spPr/>
        <p:txBody>
          <a:bodyPr/>
          <a:lstStyle/>
          <a:p>
            <a:endParaRPr lang="en-US"/>
          </a:p>
        </p:txBody>
      </p:sp>
      <p:pic>
        <p:nvPicPr>
          <p:cNvPr id="5" name="Picture 4" descr="Infographic detailing final testing phase in software development, focusing on ensuring product quality before release. It includes types of testing (functional, browser/device, security, performance, data/integrity, regression), common mistakes, testing checklist, timing for tests, and outcomes, using color-coded sections, icons, and a rocket launch visual to symbolize release readiness.&#10;&#10;">
            <a:extLst>
              <a:ext uri="{FF2B5EF4-FFF2-40B4-BE49-F238E27FC236}">
                <a16:creationId xmlns:a16="http://schemas.microsoft.com/office/drawing/2014/main" id="{A7A64BF0-D122-C140-00DD-76AF17B8BB59}"/>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547840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7A381-F0E5-AB02-9DC7-804342043E69}"/>
              </a:ext>
            </a:extLst>
          </p:cNvPr>
          <p:cNvSpPr>
            <a:spLocks noGrp="1"/>
          </p:cNvSpPr>
          <p:nvPr>
            <p:ph type="title"/>
          </p:nvPr>
        </p:nvSpPr>
        <p:spPr/>
        <p:txBody>
          <a:bodyPr/>
          <a:lstStyle/>
          <a:p>
            <a:r>
              <a:rPr lang="en-US" dirty="0"/>
              <a:t>8-03</a:t>
            </a:r>
          </a:p>
        </p:txBody>
      </p:sp>
      <p:sp>
        <p:nvSpPr>
          <p:cNvPr id="3" name="Content Placeholder 2">
            <a:extLst>
              <a:ext uri="{FF2B5EF4-FFF2-40B4-BE49-F238E27FC236}">
                <a16:creationId xmlns:a16="http://schemas.microsoft.com/office/drawing/2014/main" id="{5C0A6A31-A2F5-4E0C-EBA1-36EE2ED45BA9}"/>
              </a:ext>
            </a:extLst>
          </p:cNvPr>
          <p:cNvSpPr>
            <a:spLocks noGrp="1"/>
          </p:cNvSpPr>
          <p:nvPr>
            <p:ph idx="1"/>
          </p:nvPr>
        </p:nvSpPr>
        <p:spPr/>
        <p:txBody>
          <a:bodyPr/>
          <a:lstStyle/>
          <a:p>
            <a:endParaRPr lang="en-US"/>
          </a:p>
        </p:txBody>
      </p:sp>
      <p:pic>
        <p:nvPicPr>
          <p:cNvPr id="5" name="Picture 4" descr="Infographic outlining a bug-fixing process for software development, emphasizing prioritization and quality improvement. It features a color-coded bug priority framework, a six-step fix process with icons, a checklist for fixing tasks, and motivational messages about improving software reliability and user experience.&#10;&#10;">
            <a:extLst>
              <a:ext uri="{FF2B5EF4-FFF2-40B4-BE49-F238E27FC236}">
                <a16:creationId xmlns:a16="http://schemas.microsoft.com/office/drawing/2014/main" id="{9C56918D-A30C-3ABB-4195-941A5EE611E5}"/>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293529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C3073-5E1F-E7C8-2486-BC307EC5AB7A}"/>
              </a:ext>
            </a:extLst>
          </p:cNvPr>
          <p:cNvSpPr>
            <a:spLocks noGrp="1"/>
          </p:cNvSpPr>
          <p:nvPr>
            <p:ph type="title"/>
          </p:nvPr>
        </p:nvSpPr>
        <p:spPr/>
        <p:txBody>
          <a:bodyPr/>
          <a:lstStyle/>
          <a:p>
            <a:r>
              <a:rPr lang="en-US" dirty="0"/>
              <a:t>8-04</a:t>
            </a:r>
          </a:p>
        </p:txBody>
      </p:sp>
      <p:sp>
        <p:nvSpPr>
          <p:cNvPr id="3" name="Content Placeholder 2">
            <a:extLst>
              <a:ext uri="{FF2B5EF4-FFF2-40B4-BE49-F238E27FC236}">
                <a16:creationId xmlns:a16="http://schemas.microsoft.com/office/drawing/2014/main" id="{F0C65F01-4361-9305-2468-10A19F55744E}"/>
              </a:ext>
            </a:extLst>
          </p:cNvPr>
          <p:cNvSpPr>
            <a:spLocks noGrp="1"/>
          </p:cNvSpPr>
          <p:nvPr>
            <p:ph idx="1"/>
          </p:nvPr>
        </p:nvSpPr>
        <p:spPr/>
        <p:txBody>
          <a:bodyPr/>
          <a:lstStyle/>
          <a:p>
            <a:endParaRPr lang="en-US"/>
          </a:p>
        </p:txBody>
      </p:sp>
      <p:pic>
        <p:nvPicPr>
          <p:cNvPr id="5" name="Picture 4" descr="A detailed infographic titled &quot;Product Polish&quot; from Atlas Taskflow outlines principles, common bugs, processes, and a polish checklist aimed at refining software products for consistency, usability, and quality. It features color-coded sections with icons, a dashboard screenshot, and a rocket launch graphic symbolizing product release, highlighting key polish principles, bug categories, and essential tasks for final product refinement.&#10;&#10;">
            <a:extLst>
              <a:ext uri="{FF2B5EF4-FFF2-40B4-BE49-F238E27FC236}">
                <a16:creationId xmlns:a16="http://schemas.microsoft.com/office/drawing/2014/main" id="{56F1F1FD-FD68-5B4A-B66C-1962B6B25E8F}"/>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2967098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AFF77-FD42-9ACB-C38B-374D9084FB3D}"/>
              </a:ext>
            </a:extLst>
          </p:cNvPr>
          <p:cNvSpPr>
            <a:spLocks noGrp="1"/>
          </p:cNvSpPr>
          <p:nvPr>
            <p:ph type="title"/>
          </p:nvPr>
        </p:nvSpPr>
        <p:spPr/>
        <p:txBody>
          <a:bodyPr/>
          <a:lstStyle/>
          <a:p>
            <a:r>
              <a:rPr lang="en-US" dirty="0"/>
              <a:t>8-05</a:t>
            </a:r>
          </a:p>
        </p:txBody>
      </p:sp>
      <p:sp>
        <p:nvSpPr>
          <p:cNvPr id="3" name="Content Placeholder 2">
            <a:extLst>
              <a:ext uri="{FF2B5EF4-FFF2-40B4-BE49-F238E27FC236}">
                <a16:creationId xmlns:a16="http://schemas.microsoft.com/office/drawing/2014/main" id="{E8F1E617-719F-0EF4-973E-439C254418EB}"/>
              </a:ext>
            </a:extLst>
          </p:cNvPr>
          <p:cNvSpPr>
            <a:spLocks noGrp="1"/>
          </p:cNvSpPr>
          <p:nvPr>
            <p:ph idx="1"/>
          </p:nvPr>
        </p:nvSpPr>
        <p:spPr/>
        <p:txBody>
          <a:bodyPr/>
          <a:lstStyle/>
          <a:p>
            <a:endParaRPr lang="en-US"/>
          </a:p>
        </p:txBody>
      </p:sp>
      <p:pic>
        <p:nvPicPr>
          <p:cNvPr id="5" name="Picture 4" descr="Infographic titled &quot;Deploy with Confidence&quot; from Atlas Taskflow outlines a structured software deployment process emphasizing reliability and verification across development, staging, and production environments. It features color-coded sections with icons, a CI/CD pipeline diagram, deployment checklist, rollback plan, and key milestones like build verification, smoke tests, and monitoring to ensure safe, repeatable releases.&#10;">
            <a:extLst>
              <a:ext uri="{FF2B5EF4-FFF2-40B4-BE49-F238E27FC236}">
                <a16:creationId xmlns:a16="http://schemas.microsoft.com/office/drawing/2014/main" id="{C3E36986-6787-D679-1A10-81276D3C55E8}"/>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439009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F51D5-AF9E-DE8A-768A-5220DA778855}"/>
              </a:ext>
            </a:extLst>
          </p:cNvPr>
          <p:cNvSpPr>
            <a:spLocks noGrp="1"/>
          </p:cNvSpPr>
          <p:nvPr>
            <p:ph type="title"/>
          </p:nvPr>
        </p:nvSpPr>
        <p:spPr/>
        <p:txBody>
          <a:bodyPr/>
          <a:lstStyle/>
          <a:p>
            <a:r>
              <a:rPr lang="en-US" dirty="0"/>
              <a:t>8-06</a:t>
            </a:r>
          </a:p>
        </p:txBody>
      </p:sp>
      <p:sp>
        <p:nvSpPr>
          <p:cNvPr id="3" name="Content Placeholder 2">
            <a:extLst>
              <a:ext uri="{FF2B5EF4-FFF2-40B4-BE49-F238E27FC236}">
                <a16:creationId xmlns:a16="http://schemas.microsoft.com/office/drawing/2014/main" id="{9014C085-870E-D7C4-6ACC-C7FE040C5E00}"/>
              </a:ext>
            </a:extLst>
          </p:cNvPr>
          <p:cNvSpPr>
            <a:spLocks noGrp="1"/>
          </p:cNvSpPr>
          <p:nvPr>
            <p:ph idx="1"/>
          </p:nvPr>
        </p:nvSpPr>
        <p:spPr/>
        <p:txBody>
          <a:bodyPr/>
          <a:lstStyle/>
          <a:p>
            <a:endParaRPr lang="en-US"/>
          </a:p>
        </p:txBody>
      </p:sp>
      <p:pic>
        <p:nvPicPr>
          <p:cNvPr id="7" name="Picture 6" descr="Infographic titled &quot;Document It Right&quot; from Atlas Sprint 8 outlines best practices for creating and storing documentation to improve user experience and future development. It features color-coded sections with icons and text detailing types of documentation, storage methods, common mistakes, a documentation checklist, and best practices, emphasizing clarity, accessibility, and regular updates.&#10;&#10;">
            <a:extLst>
              <a:ext uri="{FF2B5EF4-FFF2-40B4-BE49-F238E27FC236}">
                <a16:creationId xmlns:a16="http://schemas.microsoft.com/office/drawing/2014/main" id="{DF16A218-09D2-C74E-6C13-82C57A6161FD}"/>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644653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061B8-602B-5894-7C95-66E1ADE310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E58692-5BB7-2777-CE76-A7814BA1E9EC}"/>
              </a:ext>
            </a:extLst>
          </p:cNvPr>
          <p:cNvSpPr>
            <a:spLocks noGrp="1"/>
          </p:cNvSpPr>
          <p:nvPr>
            <p:ph type="title"/>
          </p:nvPr>
        </p:nvSpPr>
        <p:spPr/>
        <p:txBody>
          <a:bodyPr/>
          <a:lstStyle/>
          <a:p>
            <a:r>
              <a:rPr lang="en-US" dirty="0"/>
              <a:t>8-07</a:t>
            </a:r>
          </a:p>
        </p:txBody>
      </p:sp>
      <p:sp>
        <p:nvSpPr>
          <p:cNvPr id="3" name="Content Placeholder 2">
            <a:extLst>
              <a:ext uri="{FF2B5EF4-FFF2-40B4-BE49-F238E27FC236}">
                <a16:creationId xmlns:a16="http://schemas.microsoft.com/office/drawing/2014/main" id="{2BF29C5A-F11D-825F-0B8F-80B625C539B6}"/>
              </a:ext>
            </a:extLst>
          </p:cNvPr>
          <p:cNvSpPr>
            <a:spLocks noGrp="1"/>
          </p:cNvSpPr>
          <p:nvPr>
            <p:ph idx="1"/>
          </p:nvPr>
        </p:nvSpPr>
        <p:spPr/>
        <p:txBody>
          <a:bodyPr/>
          <a:lstStyle/>
          <a:p>
            <a:endParaRPr lang="en-US"/>
          </a:p>
        </p:txBody>
      </p:sp>
      <p:pic>
        <p:nvPicPr>
          <p:cNvPr id="5" name="Picture 4" descr="A detailed infographic outlines Sprint 8: Release It from Atlas, focusing on demonstrating product value through effective presentations. It includes sections on building connected presentations with color-coded steps, demo tips, handling Q&amp;A confidently, presentation journey stages, common mistakes, and key messaging, all supported by icons, a checklist, and a dark-themed visual of a presenter.&#10;">
            <a:extLst>
              <a:ext uri="{FF2B5EF4-FFF2-40B4-BE49-F238E27FC236}">
                <a16:creationId xmlns:a16="http://schemas.microsoft.com/office/drawing/2014/main" id="{9B8B2345-4018-DD79-5A1B-DFB2A71366EA}"/>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2025497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7DF11-6D4B-71D5-5E24-E549C8C2A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CE3C77-01CE-88A0-6E7B-488C726913FA}"/>
              </a:ext>
            </a:extLst>
          </p:cNvPr>
          <p:cNvSpPr>
            <a:spLocks noGrp="1"/>
          </p:cNvSpPr>
          <p:nvPr>
            <p:ph type="title"/>
          </p:nvPr>
        </p:nvSpPr>
        <p:spPr/>
        <p:txBody>
          <a:bodyPr/>
          <a:lstStyle/>
          <a:p>
            <a:r>
              <a:rPr lang="en-US" dirty="0"/>
              <a:t>8-08</a:t>
            </a:r>
          </a:p>
        </p:txBody>
      </p:sp>
      <p:sp>
        <p:nvSpPr>
          <p:cNvPr id="3" name="Content Placeholder 2">
            <a:extLst>
              <a:ext uri="{FF2B5EF4-FFF2-40B4-BE49-F238E27FC236}">
                <a16:creationId xmlns:a16="http://schemas.microsoft.com/office/drawing/2014/main" id="{D21A0F6C-B04B-F835-3D5B-2B2F54C6A23C}"/>
              </a:ext>
            </a:extLst>
          </p:cNvPr>
          <p:cNvSpPr>
            <a:spLocks noGrp="1"/>
          </p:cNvSpPr>
          <p:nvPr>
            <p:ph idx="1"/>
          </p:nvPr>
        </p:nvSpPr>
        <p:spPr>
          <a:xfrm>
            <a:off x="679174" y="1690688"/>
            <a:ext cx="10515600" cy="4351338"/>
          </a:xfrm>
        </p:spPr>
        <p:txBody>
          <a:bodyPr/>
          <a:lstStyle/>
          <a:p>
            <a:endParaRPr lang="en-US"/>
          </a:p>
        </p:txBody>
      </p:sp>
      <p:pic>
        <p:nvPicPr>
          <p:cNvPr id="5" name="Picture 4" descr="Infographic outlining a product evaluation process with sections on evaluation methods, common pitfalls, key metrics, and user testing techniques, using colorful icons and labeled boxes for clarity. Highlights include a checklist for product evaluation, a purpose statement emphasizing learning and improvement, and a step-by-step guide to ensure honest, continuous feedback.&#10;&#10;">
            <a:extLst>
              <a:ext uri="{FF2B5EF4-FFF2-40B4-BE49-F238E27FC236}">
                <a16:creationId xmlns:a16="http://schemas.microsoft.com/office/drawing/2014/main" id="{41DE0BE9-B2E1-029B-5077-C8D7D630AB93}"/>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712466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13EBC-1899-5F34-0EA2-BC2750D7A4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95C8D-EC2F-0778-44B2-2298DF44018C}"/>
              </a:ext>
            </a:extLst>
          </p:cNvPr>
          <p:cNvSpPr>
            <a:spLocks noGrp="1"/>
          </p:cNvSpPr>
          <p:nvPr>
            <p:ph type="title"/>
          </p:nvPr>
        </p:nvSpPr>
        <p:spPr/>
        <p:txBody>
          <a:bodyPr/>
          <a:lstStyle/>
          <a:p>
            <a:r>
              <a:rPr lang="en-US" dirty="0"/>
              <a:t>8-09</a:t>
            </a:r>
          </a:p>
        </p:txBody>
      </p:sp>
      <p:sp>
        <p:nvSpPr>
          <p:cNvPr id="3" name="Content Placeholder 2">
            <a:extLst>
              <a:ext uri="{FF2B5EF4-FFF2-40B4-BE49-F238E27FC236}">
                <a16:creationId xmlns:a16="http://schemas.microsoft.com/office/drawing/2014/main" id="{C4FD7F8E-F1FD-69BD-A49F-A6B42C6E2D54}"/>
              </a:ext>
            </a:extLst>
          </p:cNvPr>
          <p:cNvSpPr>
            <a:spLocks noGrp="1"/>
          </p:cNvSpPr>
          <p:nvPr>
            <p:ph idx="1"/>
          </p:nvPr>
        </p:nvSpPr>
        <p:spPr/>
        <p:txBody>
          <a:bodyPr/>
          <a:lstStyle/>
          <a:p>
            <a:endParaRPr lang="en-US"/>
          </a:p>
        </p:txBody>
      </p:sp>
      <p:pic>
        <p:nvPicPr>
          <p:cNvPr id="5" name="Picture 4" descr="Screenshot of a project retrospective dashboard for Sprint 8 in Atlas Taskflow, summarizing lessons learned, team journey, and improvement guidelines. The dashboard features color-coded sections with icons, text blocks, and checklists highlighting key reflections, retrospective guidelines, action items, common pitfalls, and team commitments to enhance collaboration and delivery.&#10;&#10;">
            <a:extLst>
              <a:ext uri="{FF2B5EF4-FFF2-40B4-BE49-F238E27FC236}">
                <a16:creationId xmlns:a16="http://schemas.microsoft.com/office/drawing/2014/main" id="{DC63EA53-CF98-700D-015B-79BBF1FB8FD6}"/>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634361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8D5E7-8D3A-D301-69C4-22427DB5755A}"/>
              </a:ext>
            </a:extLst>
          </p:cNvPr>
          <p:cNvSpPr>
            <a:spLocks noGrp="1"/>
          </p:cNvSpPr>
          <p:nvPr>
            <p:ph type="title"/>
          </p:nvPr>
        </p:nvSpPr>
        <p:spPr/>
        <p:txBody>
          <a:bodyPr/>
          <a:lstStyle/>
          <a:p>
            <a:r>
              <a:rPr lang="en-US" dirty="0"/>
              <a:t>8-10</a:t>
            </a:r>
          </a:p>
        </p:txBody>
      </p:sp>
      <p:sp>
        <p:nvSpPr>
          <p:cNvPr id="3" name="Content Placeholder 2">
            <a:extLst>
              <a:ext uri="{FF2B5EF4-FFF2-40B4-BE49-F238E27FC236}">
                <a16:creationId xmlns:a16="http://schemas.microsoft.com/office/drawing/2014/main" id="{873698E3-F749-0090-23FF-4C75B74F9FDC}"/>
              </a:ext>
            </a:extLst>
          </p:cNvPr>
          <p:cNvSpPr>
            <a:spLocks noGrp="1"/>
          </p:cNvSpPr>
          <p:nvPr>
            <p:ph idx="1"/>
          </p:nvPr>
        </p:nvSpPr>
        <p:spPr/>
        <p:txBody>
          <a:bodyPr/>
          <a:lstStyle/>
          <a:p>
            <a:endParaRPr lang="en-US"/>
          </a:p>
        </p:txBody>
      </p:sp>
      <p:pic>
        <p:nvPicPr>
          <p:cNvPr id="5" name="Picture 4" descr="Dashboard-style project summary highlighting Atlas TaskFlow Version 1.0 release with key achievements, benefits, and measurable impact metrics such as 94% online sales increase and 99.8% uptime. Features a sprint timeline with icons, purpose goals, technology stack, and continuous delivery cycle, using dark background with purple and white text and colorful icons.&#10;">
            <a:extLst>
              <a:ext uri="{FF2B5EF4-FFF2-40B4-BE49-F238E27FC236}">
                <a16:creationId xmlns:a16="http://schemas.microsoft.com/office/drawing/2014/main" id="{61EDD0F2-8AA0-63CA-E7EA-1802FE15BE8F}"/>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3678318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6347F-D712-413F-D40E-C1D8F4E2F9B8}"/>
              </a:ext>
            </a:extLst>
          </p:cNvPr>
          <p:cNvSpPr>
            <a:spLocks noGrp="1"/>
          </p:cNvSpPr>
          <p:nvPr>
            <p:ph type="title"/>
          </p:nvPr>
        </p:nvSpPr>
        <p:spPr/>
        <p:txBody>
          <a:bodyPr/>
          <a:lstStyle/>
          <a:p>
            <a:r>
              <a:rPr lang="en-US" dirty="0"/>
              <a:t>8-11</a:t>
            </a:r>
          </a:p>
        </p:txBody>
      </p:sp>
      <p:sp>
        <p:nvSpPr>
          <p:cNvPr id="3" name="Content Placeholder 2">
            <a:extLst>
              <a:ext uri="{FF2B5EF4-FFF2-40B4-BE49-F238E27FC236}">
                <a16:creationId xmlns:a16="http://schemas.microsoft.com/office/drawing/2014/main" id="{315A3825-668A-D773-6B71-A64070F1DE58}"/>
              </a:ext>
            </a:extLst>
          </p:cNvPr>
          <p:cNvSpPr>
            <a:spLocks noGrp="1"/>
          </p:cNvSpPr>
          <p:nvPr>
            <p:ph idx="1"/>
          </p:nvPr>
        </p:nvSpPr>
        <p:spPr/>
        <p:txBody>
          <a:bodyPr/>
          <a:lstStyle/>
          <a:p>
            <a:endParaRPr lang="en-US"/>
          </a:p>
        </p:txBody>
      </p:sp>
      <p:pic>
        <p:nvPicPr>
          <p:cNvPr id="5" name="Picture 4" descr="A colorful infographic outlines the official release of Atlas Taskflow Version 1.0, highlighting key milestones such as testing, validation, and deployment completed by May 20, 2026. It features sections on quality goals met, team roles, impact delivered, and a release checklist, with icons and color-coded labels emphasizing continuous improvement and user success.&#10;">
            <a:extLst>
              <a:ext uri="{FF2B5EF4-FFF2-40B4-BE49-F238E27FC236}">
                <a16:creationId xmlns:a16="http://schemas.microsoft.com/office/drawing/2014/main" id="{00E288AD-6978-CE28-0FDD-C627C033AB3A}"/>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3805868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8962C-AEA3-3352-F61B-EC391DC572E5}"/>
              </a:ext>
            </a:extLst>
          </p:cNvPr>
          <p:cNvSpPr>
            <a:spLocks noGrp="1"/>
          </p:cNvSpPr>
          <p:nvPr>
            <p:ph type="title"/>
          </p:nvPr>
        </p:nvSpPr>
        <p:spPr/>
        <p:txBody>
          <a:bodyPr/>
          <a:lstStyle/>
          <a:p>
            <a:r>
              <a:rPr lang="en-US" dirty="0"/>
              <a:t>8-12</a:t>
            </a:r>
            <a:br>
              <a:rPr lang="en-US" dirty="0"/>
            </a:br>
            <a:endParaRPr lang="en-US" dirty="0"/>
          </a:p>
        </p:txBody>
      </p:sp>
      <p:sp>
        <p:nvSpPr>
          <p:cNvPr id="3" name="Content Placeholder 2">
            <a:extLst>
              <a:ext uri="{FF2B5EF4-FFF2-40B4-BE49-F238E27FC236}">
                <a16:creationId xmlns:a16="http://schemas.microsoft.com/office/drawing/2014/main" id="{A893F40E-023C-C2A4-AB52-E721F9A70891}"/>
              </a:ext>
            </a:extLst>
          </p:cNvPr>
          <p:cNvSpPr>
            <a:spLocks noGrp="1"/>
          </p:cNvSpPr>
          <p:nvPr>
            <p:ph idx="1"/>
          </p:nvPr>
        </p:nvSpPr>
        <p:spPr/>
        <p:txBody>
          <a:bodyPr/>
          <a:lstStyle/>
          <a:p>
            <a:endParaRPr lang="en-US"/>
          </a:p>
        </p:txBody>
      </p:sp>
      <p:pic>
        <p:nvPicPr>
          <p:cNvPr id="5" name="Picture 4" descr="Infographic summarizing the completion of Atlas Taskflow Version 1.0, highlighting key milestones such as planning, design, build, testing, and release phases with associated icons and progress indicators. It features metrics like 120+ users, 96% satisfaction, 1.2s latency, and 99.9% uptime, along with sections on accomplishments, lessons learned, team highlights, user feedback, and future improvement goals, all presented with colorful icons, bold headings, and a space-themed design.&#10;">
            <a:extLst>
              <a:ext uri="{FF2B5EF4-FFF2-40B4-BE49-F238E27FC236}">
                <a16:creationId xmlns:a16="http://schemas.microsoft.com/office/drawing/2014/main" id="{B4380B8C-602C-7FB9-0057-8231D9A3B646}"/>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8366754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1037</TotalTime>
  <Words>21418</Words>
  <Application>Microsoft Office PowerPoint</Application>
  <PresentationFormat>Widescreen</PresentationFormat>
  <Paragraphs>3386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8-01</vt:lpstr>
      <vt:lpstr>8-02</vt:lpstr>
      <vt:lpstr>8-03</vt:lpstr>
      <vt:lpstr>8-04</vt:lpstr>
      <vt:lpstr>8-05</vt:lpstr>
      <vt:lpstr>8-06</vt:lpstr>
      <vt:lpstr>8-07</vt:lpstr>
      <vt:lpstr>8-08</vt:lpstr>
      <vt:lpstr>8-09</vt:lpstr>
      <vt:lpstr>8-10</vt:lpstr>
      <vt:lpstr>8-11</vt:lpstr>
      <vt:lpstr>8-12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CT Thompson</dc:creator>
  <cp:lastModifiedBy>CT THOMPSON</cp:lastModifiedBy>
  <cp:revision>4</cp:revision>
  <dcterms:created xsi:type="dcterms:W3CDTF">2026-08-11T19:35:11Z</dcterms:created>
  <dcterms:modified xsi:type="dcterms:W3CDTF">2026-08-13T17:59:55Z</dcterms:modified>
</cp:coreProperties>
</file>