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67" autoAdjust="0"/>
    <p:restoredTop sz="86441" autoAdjust="0"/>
  </p:normalViewPr>
  <p:slideViewPr>
    <p:cSldViewPr snapToGrid="0">
      <p:cViewPr varScale="1">
        <p:scale>
          <a:sx n="78" d="100"/>
          <a:sy n="78" d="100"/>
        </p:scale>
        <p:origin x="120" y="480"/>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BF6C6F-EB79-454F-A749-7C283CAA31FA}" type="datetimeFigureOut">
              <a:rPr lang="en-US" smtClean="0"/>
              <a:t>8/13/2026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2CFA81F-48ED-4EC0-89DB-73FF3AF92981}" type="slidenum">
              <a:rPr lang="en-US" smtClean="0"/>
              <a:t>‹#›</a:t>
            </a:fld>
            <a:endParaRPr lang="en-US"/>
          </a:p>
        </p:txBody>
      </p:sp>
    </p:spTree>
    <p:extLst>
      <p:ext uri="{BB962C8B-B14F-4D97-AF65-F5344CB8AC3E}">
        <p14:creationId xmlns:p14="http://schemas.microsoft.com/office/powerpoint/2010/main" val="31850078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endParaRPr lang="en-US" dirty="0"/>
          </a:p>
          <a:p>
            <a:r>
              <a:rPr lang="en-US" dirty="0"/>
              <a:t>SPRINT 3 ENGINEERING BRIEF</a:t>
            </a:r>
          </a:p>
          <a:p>
            <a:endParaRPr lang="en-US" dirty="0"/>
          </a:p>
          <a:p>
            <a:r>
              <a:rPr lang="en-US" dirty="0"/>
              <a:t>CLOUD APPLICATION DESIGN</a:t>
            </a:r>
          </a:p>
          <a:p>
            <a:endParaRPr lang="en-US" dirty="0"/>
          </a:p>
          <a:p>
            <a:r>
              <a:rPr lang="en-US" dirty="0"/>
              <a:t>CLIENT PROJECT:</a:t>
            </a:r>
          </a:p>
          <a:p>
            <a:r>
              <a:rPr lang="en-US" dirty="0"/>
              <a:t>ATLAS TASKFLOW</a:t>
            </a:r>
          </a:p>
          <a:p>
            <a:endParaRPr lang="en-US" dirty="0"/>
          </a:p>
          <a:p>
            <a:r>
              <a:rPr lang="en-US" dirty="0"/>
              <a:t>============================================================</a:t>
            </a:r>
          </a:p>
          <a:p>
            <a:endParaRPr lang="en-US" dirty="0"/>
          </a:p>
          <a:p>
            <a:r>
              <a:rPr lang="en-US" dirty="0"/>
              <a:t>SLIDE PURPOSE</a:t>
            </a:r>
          </a:p>
          <a:p>
            <a:endParaRPr lang="en-US" dirty="0"/>
          </a:p>
          <a:p>
            <a:r>
              <a:rPr lang="en-US" dirty="0"/>
              <a:t>Welcome students to Sprint 3 and introduce their first complete software</a:t>
            </a:r>
          </a:p>
          <a:p>
            <a:r>
              <a:rPr lang="en-US" dirty="0"/>
              <a:t>design project.</a:t>
            </a:r>
          </a:p>
          <a:p>
            <a:endParaRPr lang="en-US" dirty="0"/>
          </a:p>
          <a:p>
            <a:r>
              <a:rPr lang="en-US" dirty="0"/>
              <a:t>Students are no longer learning isolated concepts.</a:t>
            </a:r>
          </a:p>
          <a:p>
            <a:endParaRPr lang="en-US" dirty="0"/>
          </a:p>
          <a:p>
            <a:r>
              <a:rPr lang="en-US" dirty="0"/>
              <a:t>Throughout Sprint 3 they will serve as the Product Team at Atlas</a:t>
            </a:r>
          </a:p>
          <a:p>
            <a:r>
              <a:rPr lang="en-US" dirty="0"/>
              <a:t>Software Solutions and design Atlas </a:t>
            </a:r>
            <a:r>
              <a:rPr lang="en-US" dirty="0" err="1"/>
              <a:t>TaskFlow</a:t>
            </a:r>
            <a:r>
              <a:rPr lang="en-US" dirty="0"/>
              <a:t>, a cloud-based Software as</a:t>
            </a:r>
          </a:p>
          <a:p>
            <a:r>
              <a:rPr lang="en-US" dirty="0"/>
              <a:t>a Service application.</a:t>
            </a:r>
          </a:p>
          <a:p>
            <a:endParaRPr lang="en-US" dirty="0"/>
          </a:p>
          <a:p>
            <a:r>
              <a:rPr lang="en-US" dirty="0"/>
              <a:t>Every lesson this sprint contributes directly to this product.</a:t>
            </a:r>
          </a:p>
          <a:p>
            <a:endParaRPr lang="en-US" dirty="0"/>
          </a:p>
          <a:p>
            <a:r>
              <a:rPr lang="en-US" dirty="0"/>
              <a:t>By the end of Sprint 3 students will have a complete design blueprint</a:t>
            </a:r>
          </a:p>
          <a:p>
            <a:r>
              <a:rPr lang="en-US" dirty="0"/>
              <a:t>ready for development in Sprint 4.</a:t>
            </a:r>
          </a:p>
          <a:p>
            <a:endParaRPr lang="en-US" dirty="0"/>
          </a:p>
          <a:p>
            <a:r>
              <a:rPr lang="en-US" dirty="0"/>
              <a:t>------------------------------------------------------------</a:t>
            </a:r>
          </a:p>
          <a:p>
            <a:endParaRPr lang="en-US" dirty="0"/>
          </a:p>
          <a:p>
            <a:r>
              <a:rPr lang="en-US" dirty="0"/>
              <a:t>OPENING</a:t>
            </a:r>
          </a:p>
          <a:p>
            <a:endParaRPr lang="en-US" dirty="0"/>
          </a:p>
          <a:p>
            <a:r>
              <a:rPr lang="en-US" dirty="0"/>
              <a:t>"Welcome back, engineers."</a:t>
            </a:r>
          </a:p>
          <a:p>
            <a:endParaRPr lang="en-US" dirty="0"/>
          </a:p>
          <a:p>
            <a:r>
              <a:rPr lang="en-US" dirty="0"/>
              <a:t>"We've reached an exciting point in the semester."</a:t>
            </a:r>
          </a:p>
          <a:p>
            <a:endParaRPr lang="en-US" dirty="0"/>
          </a:p>
          <a:p>
            <a:r>
              <a:rPr lang="en-US" dirty="0"/>
              <a:t>"In Sprint 1, you learned how software engineers work."</a:t>
            </a:r>
          </a:p>
          <a:p>
            <a:endParaRPr lang="en-US" dirty="0"/>
          </a:p>
          <a:p>
            <a:r>
              <a:rPr lang="en-US" dirty="0"/>
              <a:t>"In Sprint 2, you learned how modern SaaS applications are built."</a:t>
            </a:r>
          </a:p>
          <a:p>
            <a:endParaRPr lang="en-US" dirty="0"/>
          </a:p>
          <a:p>
            <a:r>
              <a:rPr lang="en-US" dirty="0"/>
              <a:t>"This sprint..."</a:t>
            </a:r>
          </a:p>
          <a:p>
            <a:endParaRPr lang="en-US" dirty="0"/>
          </a:p>
          <a:p>
            <a:r>
              <a:rPr lang="en-US" dirty="0"/>
              <a:t>"You're becoming the engineering team."</a:t>
            </a:r>
          </a:p>
          <a:p>
            <a:endParaRPr lang="en-US" dirty="0"/>
          </a:p>
          <a:p>
            <a:r>
              <a:rPr lang="en-US" dirty="0"/>
              <a:t>Pause.</a:t>
            </a:r>
          </a:p>
          <a:p>
            <a:endParaRPr lang="en-US" dirty="0"/>
          </a:p>
          <a:p>
            <a:r>
              <a:rPr lang="en-US" dirty="0"/>
              <a:t>"Today you receive your first client project."</a:t>
            </a:r>
          </a:p>
          <a:p>
            <a:endParaRPr lang="en-US" dirty="0"/>
          </a:p>
          <a:p>
            <a:r>
              <a:rPr lang="en-US" dirty="0"/>
              <a:t>------------------------------------------------------------</a:t>
            </a:r>
          </a:p>
          <a:p>
            <a:endParaRPr lang="en-US" dirty="0"/>
          </a:p>
          <a:p>
            <a:r>
              <a:rPr lang="en-US" dirty="0"/>
              <a:t>CLIENT BRIEF</a:t>
            </a:r>
          </a:p>
          <a:p>
            <a:endParaRPr lang="en-US" dirty="0"/>
          </a:p>
          <a:p>
            <a:r>
              <a:rPr lang="en-US" dirty="0"/>
              <a:t>Read the Client Request.</a:t>
            </a:r>
          </a:p>
          <a:p>
            <a:endParaRPr lang="en-US" dirty="0"/>
          </a:p>
          <a:p>
            <a:r>
              <a:rPr lang="en-US" dirty="0"/>
              <a:t>"Atlas Software Solutions has been contracted to design a new cloud-based</a:t>
            </a:r>
          </a:p>
          <a:p>
            <a:r>
              <a:rPr lang="en-US" dirty="0"/>
              <a:t>task management platform."</a:t>
            </a:r>
          </a:p>
          <a:p>
            <a:endParaRPr lang="en-US" dirty="0"/>
          </a:p>
          <a:p>
            <a:r>
              <a:rPr lang="en-US" dirty="0"/>
              <a:t>"The product is called Atlas </a:t>
            </a:r>
            <a:r>
              <a:rPr lang="en-US" dirty="0" err="1"/>
              <a:t>TaskFlow</a:t>
            </a:r>
            <a:r>
              <a:rPr lang="en-US" dirty="0"/>
              <a:t>."</a:t>
            </a:r>
          </a:p>
          <a:p>
            <a:endParaRPr lang="en-US" dirty="0"/>
          </a:p>
          <a:p>
            <a:r>
              <a:rPr lang="en-US" dirty="0"/>
              <a:t>"Our responsibility is to understand the client's needs and produce a</a:t>
            </a:r>
          </a:p>
          <a:p>
            <a:r>
              <a:rPr lang="en-US" dirty="0"/>
              <a:t>complete software design before development begins."</a:t>
            </a:r>
          </a:p>
          <a:p>
            <a:endParaRPr lang="en-US" dirty="0"/>
          </a:p>
          <a:p>
            <a:r>
              <a:rPr lang="en-US" dirty="0"/>
              <a:t>Explain:</a:t>
            </a:r>
          </a:p>
          <a:p>
            <a:endParaRPr lang="en-US" dirty="0"/>
          </a:p>
          <a:p>
            <a:r>
              <a:rPr lang="en-US" dirty="0"/>
              <a:t>"Professional software teams never begin with code."</a:t>
            </a:r>
          </a:p>
          <a:p>
            <a:endParaRPr lang="en-US" dirty="0"/>
          </a:p>
          <a:p>
            <a:r>
              <a:rPr lang="en-US" dirty="0"/>
              <a:t>"They begin by understanding the problem."</a:t>
            </a:r>
          </a:p>
          <a:p>
            <a:endParaRPr lang="en-US" dirty="0"/>
          </a:p>
          <a:p>
            <a:r>
              <a:rPr lang="en-US" dirty="0"/>
              <a:t>------------------------------------------------------------</a:t>
            </a:r>
          </a:p>
          <a:p>
            <a:endParaRPr lang="en-US" dirty="0"/>
          </a:p>
          <a:p>
            <a:r>
              <a:rPr lang="en-US" dirty="0"/>
              <a:t>INTRODUCING ATLAS TASKFLOW</a:t>
            </a:r>
          </a:p>
          <a:p>
            <a:endParaRPr lang="en-US" dirty="0"/>
          </a:p>
          <a:p>
            <a:r>
              <a:rPr lang="en-US" dirty="0"/>
              <a:t>Point to the dashboard.</a:t>
            </a:r>
          </a:p>
          <a:p>
            <a:endParaRPr lang="en-US" dirty="0"/>
          </a:p>
          <a:p>
            <a:r>
              <a:rPr lang="en-US" dirty="0"/>
              <a:t>"This is Atlas </a:t>
            </a:r>
            <a:r>
              <a:rPr lang="en-US" dirty="0" err="1"/>
              <a:t>TaskFlow</a:t>
            </a:r>
            <a:r>
              <a:rPr lang="en-US" dirty="0"/>
              <a:t>."</a:t>
            </a:r>
          </a:p>
          <a:p>
            <a:endParaRPr lang="en-US" dirty="0"/>
          </a:p>
          <a:p>
            <a:r>
              <a:rPr lang="en-US" dirty="0"/>
              <a:t>"A modern SaaS application for organizing work."</a:t>
            </a:r>
          </a:p>
          <a:p>
            <a:endParaRPr lang="en-US" dirty="0"/>
          </a:p>
          <a:p>
            <a:r>
              <a:rPr lang="en-US" dirty="0"/>
              <a:t>"It allows users to create tasks..."</a:t>
            </a:r>
          </a:p>
          <a:p>
            <a:endParaRPr lang="en-US" dirty="0"/>
          </a:p>
          <a:p>
            <a:r>
              <a:rPr lang="en-US" dirty="0"/>
              <a:t>"Track progress..."</a:t>
            </a:r>
          </a:p>
          <a:p>
            <a:endParaRPr lang="en-US" dirty="0"/>
          </a:p>
          <a:p>
            <a:r>
              <a:rPr lang="en-US" dirty="0"/>
              <a:t>"Collaborate with teams..."</a:t>
            </a:r>
          </a:p>
          <a:p>
            <a:endParaRPr lang="en-US" dirty="0"/>
          </a:p>
          <a:p>
            <a:r>
              <a:rPr lang="en-US" dirty="0"/>
              <a:t>"And stay organized."</a:t>
            </a:r>
          </a:p>
          <a:p>
            <a:endParaRPr lang="en-US" dirty="0"/>
          </a:p>
          <a:p>
            <a:r>
              <a:rPr lang="en-US" dirty="0"/>
              <a:t>Explain:</a:t>
            </a:r>
          </a:p>
          <a:p>
            <a:endParaRPr lang="en-US" dirty="0"/>
          </a:p>
          <a:p>
            <a:r>
              <a:rPr lang="en-US" dirty="0"/>
              <a:t>"Everything we design this sprint will belong to this application."</a:t>
            </a:r>
          </a:p>
          <a:p>
            <a:endParaRPr lang="en-US" dirty="0"/>
          </a:p>
          <a:p>
            <a:r>
              <a:rPr lang="en-US" dirty="0"/>
              <a:t>------------------------------------------------------------</a:t>
            </a:r>
          </a:p>
          <a:p>
            <a:endParaRPr lang="en-US" dirty="0"/>
          </a:p>
          <a:p>
            <a:r>
              <a:rPr lang="en-US" dirty="0"/>
              <a:t>SPRINT MISSION</a:t>
            </a:r>
          </a:p>
          <a:p>
            <a:endParaRPr lang="en-US" dirty="0"/>
          </a:p>
          <a:p>
            <a:r>
              <a:rPr lang="en-US" dirty="0"/>
              <a:t>Review the mission.</a:t>
            </a:r>
          </a:p>
          <a:p>
            <a:endParaRPr lang="en-US" dirty="0"/>
          </a:p>
          <a:p>
            <a:r>
              <a:rPr lang="en-US" dirty="0"/>
              <a:t>Understand the problem.</a:t>
            </a:r>
          </a:p>
          <a:p>
            <a:endParaRPr lang="en-US" dirty="0"/>
          </a:p>
          <a:p>
            <a:r>
              <a:rPr lang="en-US" dirty="0"/>
              <a:t>Gather requirements.</a:t>
            </a:r>
          </a:p>
          <a:p>
            <a:endParaRPr lang="en-US" dirty="0"/>
          </a:p>
          <a:p>
            <a:r>
              <a:rPr lang="en-US" dirty="0"/>
              <a:t>Understand users.</a:t>
            </a:r>
          </a:p>
          <a:p>
            <a:endParaRPr lang="en-US" dirty="0"/>
          </a:p>
          <a:p>
            <a:r>
              <a:rPr lang="en-US" dirty="0"/>
              <a:t>Design the experience.</a:t>
            </a:r>
          </a:p>
          <a:p>
            <a:endParaRPr lang="en-US" dirty="0"/>
          </a:p>
          <a:p>
            <a:r>
              <a:rPr lang="en-US" dirty="0"/>
              <a:t>Create a blueprint.</a:t>
            </a:r>
          </a:p>
          <a:p>
            <a:endParaRPr lang="en-US" dirty="0"/>
          </a:p>
          <a:p>
            <a:r>
              <a:rPr lang="en-US" dirty="0"/>
              <a:t>Explain:</a:t>
            </a:r>
          </a:p>
          <a:p>
            <a:endParaRPr lang="en-US" dirty="0"/>
          </a:p>
          <a:p>
            <a:r>
              <a:rPr lang="en-US" dirty="0"/>
              <a:t>"This sprint isn't about programming."</a:t>
            </a:r>
          </a:p>
          <a:p>
            <a:endParaRPr lang="en-US" dirty="0"/>
          </a:p>
          <a:p>
            <a:r>
              <a:rPr lang="en-US" dirty="0"/>
              <a:t>"It's about thinking."</a:t>
            </a:r>
          </a:p>
          <a:p>
            <a:endParaRPr lang="en-US" dirty="0"/>
          </a:p>
          <a:p>
            <a:r>
              <a:rPr lang="en-US" dirty="0"/>
              <a:t>------------------------------------------------------------</a:t>
            </a:r>
          </a:p>
          <a:p>
            <a:endParaRPr lang="en-US" dirty="0"/>
          </a:p>
          <a:p>
            <a:r>
              <a:rPr lang="en-US" dirty="0"/>
              <a:t>ENGINEERING MINDSET</a:t>
            </a:r>
          </a:p>
          <a:p>
            <a:endParaRPr lang="en-US" dirty="0"/>
          </a:p>
          <a:p>
            <a:r>
              <a:rPr lang="en-US" dirty="0"/>
              <a:t>Read the statement.</a:t>
            </a:r>
          </a:p>
          <a:p>
            <a:endParaRPr lang="en-US" dirty="0"/>
          </a:p>
          <a:p>
            <a:r>
              <a:rPr lang="en-US" dirty="0"/>
              <a:t>"Great software isn't built by accident."</a:t>
            </a:r>
          </a:p>
          <a:p>
            <a:endParaRPr lang="en-US" dirty="0"/>
          </a:p>
          <a:p>
            <a:r>
              <a:rPr lang="en-US" dirty="0"/>
              <a:t>"It is designed with purpose..."</a:t>
            </a:r>
          </a:p>
          <a:p>
            <a:endParaRPr lang="en-US" dirty="0"/>
          </a:p>
          <a:p>
            <a:r>
              <a:rPr lang="en-US" dirty="0"/>
              <a:t>"Empathy..."</a:t>
            </a:r>
          </a:p>
          <a:p>
            <a:endParaRPr lang="en-US" dirty="0"/>
          </a:p>
          <a:p>
            <a:r>
              <a:rPr lang="en-US" dirty="0"/>
              <a:t>"And strategy."</a:t>
            </a:r>
          </a:p>
          <a:p>
            <a:endParaRPr lang="en-US" dirty="0"/>
          </a:p>
          <a:p>
            <a:r>
              <a:rPr lang="en-US" dirty="0"/>
              <a:t>Discuss each.</a:t>
            </a:r>
          </a:p>
          <a:p>
            <a:endParaRPr lang="en-US" dirty="0"/>
          </a:p>
          <a:p>
            <a:r>
              <a:rPr lang="en-US" dirty="0"/>
              <a:t>Purpose</a:t>
            </a:r>
          </a:p>
          <a:p>
            <a:endParaRPr lang="en-US" dirty="0"/>
          </a:p>
          <a:p>
            <a:r>
              <a:rPr lang="en-US" dirty="0"/>
              <a:t>Know why the application exists.</a:t>
            </a:r>
          </a:p>
          <a:p>
            <a:endParaRPr lang="en-US" dirty="0"/>
          </a:p>
          <a:p>
            <a:r>
              <a:rPr lang="en-US" dirty="0"/>
              <a:t>Empathy</a:t>
            </a:r>
          </a:p>
          <a:p>
            <a:endParaRPr lang="en-US" dirty="0"/>
          </a:p>
          <a:p>
            <a:r>
              <a:rPr lang="en-US" dirty="0"/>
              <a:t>Understand the people who will use it.</a:t>
            </a:r>
          </a:p>
          <a:p>
            <a:endParaRPr lang="en-US" dirty="0"/>
          </a:p>
          <a:p>
            <a:r>
              <a:rPr lang="en-US" dirty="0"/>
              <a:t>Strategy</a:t>
            </a:r>
          </a:p>
          <a:p>
            <a:endParaRPr lang="en-US" dirty="0"/>
          </a:p>
          <a:p>
            <a:r>
              <a:rPr lang="en-US" dirty="0"/>
              <a:t>Plan before writing code.</a:t>
            </a:r>
          </a:p>
          <a:p>
            <a:endParaRPr lang="en-US" dirty="0"/>
          </a:p>
          <a:p>
            <a:r>
              <a:rPr lang="en-US" dirty="0"/>
              <a:t>------------------------------------------------------------</a:t>
            </a:r>
          </a:p>
          <a:p>
            <a:endParaRPr lang="en-US" dirty="0"/>
          </a:p>
          <a:p>
            <a:r>
              <a:rPr lang="en-US" dirty="0"/>
              <a:t>ENGINEERING FOCUS</a:t>
            </a:r>
          </a:p>
          <a:p>
            <a:endParaRPr lang="en-US" dirty="0"/>
          </a:p>
          <a:p>
            <a:r>
              <a:rPr lang="en-US" dirty="0"/>
              <a:t>Walk through each focus area.</a:t>
            </a:r>
          </a:p>
          <a:p>
            <a:endParaRPr lang="en-US" dirty="0"/>
          </a:p>
          <a:p>
            <a:r>
              <a:rPr lang="en-US" dirty="0"/>
              <a:t>Understand the problem.</a:t>
            </a:r>
          </a:p>
          <a:p>
            <a:endParaRPr lang="en-US" dirty="0"/>
          </a:p>
          <a:p>
            <a:r>
              <a:rPr lang="en-US" dirty="0"/>
              <a:t>Know your users.</a:t>
            </a:r>
          </a:p>
          <a:p>
            <a:endParaRPr lang="en-US" dirty="0"/>
          </a:p>
          <a:p>
            <a:r>
              <a:rPr lang="en-US" dirty="0"/>
              <a:t>Design the right solution.</a:t>
            </a:r>
          </a:p>
          <a:p>
            <a:endParaRPr lang="en-US" dirty="0"/>
          </a:p>
          <a:p>
            <a:r>
              <a:rPr lang="en-US" dirty="0"/>
              <a:t>Plan before you build.</a:t>
            </a:r>
          </a:p>
          <a:p>
            <a:endParaRPr lang="en-US" dirty="0"/>
          </a:p>
          <a:p>
            <a:r>
              <a:rPr lang="en-US" dirty="0"/>
              <a:t>Iterate based on feedback.</a:t>
            </a:r>
          </a:p>
          <a:p>
            <a:endParaRPr lang="en-US" dirty="0"/>
          </a:p>
          <a:p>
            <a:r>
              <a:rPr lang="en-US" dirty="0"/>
              <a:t>Ask students:</a:t>
            </a:r>
          </a:p>
          <a:p>
            <a:endParaRPr lang="en-US" dirty="0"/>
          </a:p>
          <a:p>
            <a:r>
              <a:rPr lang="en-US" dirty="0"/>
              <a:t>"Notice what isn't listed."</a:t>
            </a:r>
          </a:p>
          <a:p>
            <a:endParaRPr lang="en-US" dirty="0"/>
          </a:p>
          <a:p>
            <a:r>
              <a:rPr lang="en-US" dirty="0"/>
              <a:t>Programming languages.</a:t>
            </a:r>
          </a:p>
          <a:p>
            <a:endParaRPr lang="en-US" dirty="0"/>
          </a:p>
          <a:p>
            <a:r>
              <a:rPr lang="en-US" dirty="0"/>
              <a:t>Databases.</a:t>
            </a:r>
          </a:p>
          <a:p>
            <a:endParaRPr lang="en-US" dirty="0"/>
          </a:p>
          <a:p>
            <a:r>
              <a:rPr lang="en-US" dirty="0"/>
              <a:t>Frameworks.</a:t>
            </a:r>
          </a:p>
          <a:p>
            <a:endParaRPr lang="en-US" dirty="0"/>
          </a:p>
          <a:p>
            <a:r>
              <a:rPr lang="en-US" dirty="0"/>
              <a:t>Explain:</a:t>
            </a:r>
          </a:p>
          <a:p>
            <a:endParaRPr lang="en-US" dirty="0"/>
          </a:p>
          <a:p>
            <a:r>
              <a:rPr lang="en-US" dirty="0"/>
              <a:t>"Those come later."</a:t>
            </a:r>
          </a:p>
          <a:p>
            <a:endParaRPr lang="en-US" dirty="0"/>
          </a:p>
          <a:p>
            <a:r>
              <a:rPr lang="en-US" dirty="0"/>
              <a:t>------------------------------------------------------------</a:t>
            </a:r>
          </a:p>
          <a:p>
            <a:endParaRPr lang="en-US" dirty="0"/>
          </a:p>
          <a:p>
            <a:r>
              <a:rPr lang="en-US" dirty="0"/>
              <a:t>SPRINT ROADMAP</a:t>
            </a:r>
          </a:p>
          <a:p>
            <a:endParaRPr lang="en-US" dirty="0"/>
          </a:p>
          <a:p>
            <a:r>
              <a:rPr lang="en-US" dirty="0"/>
              <a:t>Point to the engineering journey.</a:t>
            </a:r>
          </a:p>
          <a:p>
            <a:endParaRPr lang="en-US" dirty="0"/>
          </a:p>
          <a:p>
            <a:r>
              <a:rPr lang="en-US" dirty="0"/>
              <a:t>Requirements Engineering</a:t>
            </a:r>
          </a:p>
          <a:p>
            <a:endParaRPr lang="en-US" dirty="0"/>
          </a:p>
          <a:p>
            <a:r>
              <a:rPr lang="en-US" dirty="0"/>
              <a:t>↓</a:t>
            </a:r>
          </a:p>
          <a:p>
            <a:endParaRPr lang="en-US" dirty="0"/>
          </a:p>
          <a:p>
            <a:r>
              <a:rPr lang="en-US" dirty="0"/>
              <a:t>User Stories</a:t>
            </a:r>
          </a:p>
          <a:p>
            <a:endParaRPr lang="en-US" dirty="0"/>
          </a:p>
          <a:p>
            <a:r>
              <a:rPr lang="en-US" dirty="0"/>
              <a:t>↓</a:t>
            </a:r>
          </a:p>
          <a:p>
            <a:endParaRPr lang="en-US" dirty="0"/>
          </a:p>
          <a:p>
            <a:r>
              <a:rPr lang="en-US" dirty="0"/>
              <a:t>Personas</a:t>
            </a:r>
          </a:p>
          <a:p>
            <a:endParaRPr lang="en-US" dirty="0"/>
          </a:p>
          <a:p>
            <a:r>
              <a:rPr lang="en-US" dirty="0"/>
              <a:t>↓</a:t>
            </a:r>
          </a:p>
          <a:p>
            <a:endParaRPr lang="en-US" dirty="0"/>
          </a:p>
          <a:p>
            <a:r>
              <a:rPr lang="en-US" dirty="0"/>
              <a:t>Wireframes</a:t>
            </a:r>
          </a:p>
          <a:p>
            <a:endParaRPr lang="en-US" dirty="0"/>
          </a:p>
          <a:p>
            <a:r>
              <a:rPr lang="en-US" dirty="0"/>
              <a:t>↓</a:t>
            </a:r>
          </a:p>
          <a:p>
            <a:endParaRPr lang="en-US" dirty="0"/>
          </a:p>
          <a:p>
            <a:r>
              <a:rPr lang="en-US" dirty="0"/>
              <a:t>Information Architecture</a:t>
            </a:r>
          </a:p>
          <a:p>
            <a:endParaRPr lang="en-US" dirty="0"/>
          </a:p>
          <a:p>
            <a:r>
              <a:rPr lang="en-US" dirty="0"/>
              <a:t>↓</a:t>
            </a:r>
          </a:p>
          <a:p>
            <a:endParaRPr lang="en-US" dirty="0"/>
          </a:p>
          <a:p>
            <a:r>
              <a:rPr lang="en-US" dirty="0"/>
              <a:t>Product Backlog</a:t>
            </a:r>
          </a:p>
          <a:p>
            <a:endParaRPr lang="en-US" dirty="0"/>
          </a:p>
          <a:p>
            <a:r>
              <a:rPr lang="en-US" dirty="0"/>
              <a:t>↓</a:t>
            </a:r>
          </a:p>
          <a:p>
            <a:endParaRPr lang="en-US" dirty="0"/>
          </a:p>
          <a:p>
            <a:r>
              <a:rPr lang="en-US" dirty="0"/>
              <a:t>MVP Definition</a:t>
            </a:r>
          </a:p>
          <a:p>
            <a:endParaRPr lang="en-US" dirty="0"/>
          </a:p>
          <a:p>
            <a:r>
              <a:rPr lang="en-US" dirty="0"/>
              <a:t>↓</a:t>
            </a:r>
          </a:p>
          <a:p>
            <a:endParaRPr lang="en-US" dirty="0"/>
          </a:p>
          <a:p>
            <a:r>
              <a:rPr lang="en-US" dirty="0"/>
              <a:t>ENG-002</a:t>
            </a:r>
          </a:p>
          <a:p>
            <a:endParaRPr lang="en-US" dirty="0"/>
          </a:p>
          <a:p>
            <a:r>
              <a:rPr lang="en-US" dirty="0"/>
              <a:t>Explain:</a:t>
            </a:r>
          </a:p>
          <a:p>
            <a:endParaRPr lang="en-US" dirty="0"/>
          </a:p>
          <a:p>
            <a:r>
              <a:rPr lang="en-US" dirty="0"/>
              <a:t>"Each lesson builds another piece of Atlas </a:t>
            </a:r>
            <a:r>
              <a:rPr lang="en-US" dirty="0" err="1"/>
              <a:t>TaskFlow</a:t>
            </a:r>
            <a:r>
              <a:rPr lang="en-US" dirty="0"/>
              <a:t>."</a:t>
            </a:r>
          </a:p>
          <a:p>
            <a:endParaRPr lang="en-US" dirty="0"/>
          </a:p>
          <a:p>
            <a:r>
              <a:rPr lang="en-US" dirty="0"/>
              <a:t>"By the end of the sprint..."</a:t>
            </a:r>
          </a:p>
          <a:p>
            <a:endParaRPr lang="en-US" dirty="0"/>
          </a:p>
          <a:p>
            <a:r>
              <a:rPr lang="en-US" dirty="0"/>
              <a:t>"We'll have a complete design package."</a:t>
            </a:r>
          </a:p>
          <a:p>
            <a:endParaRPr lang="en-US" dirty="0"/>
          </a:p>
          <a:p>
            <a:r>
              <a:rPr lang="en-US" dirty="0"/>
              <a:t>------------------------------------------------------------</a:t>
            </a:r>
          </a:p>
          <a:p>
            <a:endParaRPr lang="en-US" dirty="0"/>
          </a:p>
          <a:p>
            <a:r>
              <a:rPr lang="en-US" dirty="0"/>
              <a:t>KEY DELIVERABLES</a:t>
            </a:r>
          </a:p>
          <a:p>
            <a:endParaRPr lang="en-US" dirty="0"/>
          </a:p>
          <a:p>
            <a:r>
              <a:rPr lang="en-US" dirty="0"/>
              <a:t>Review each item.</a:t>
            </a:r>
          </a:p>
          <a:p>
            <a:endParaRPr lang="en-US" dirty="0"/>
          </a:p>
          <a:p>
            <a:r>
              <a:rPr lang="en-US" dirty="0"/>
              <a:t>Requirements</a:t>
            </a:r>
          </a:p>
          <a:p>
            <a:endParaRPr lang="en-US" dirty="0"/>
          </a:p>
          <a:p>
            <a:r>
              <a:rPr lang="en-US" dirty="0"/>
              <a:t>User Stories</a:t>
            </a:r>
          </a:p>
          <a:p>
            <a:endParaRPr lang="en-US" dirty="0"/>
          </a:p>
          <a:p>
            <a:r>
              <a:rPr lang="en-US" dirty="0"/>
              <a:t>Personas</a:t>
            </a:r>
          </a:p>
          <a:p>
            <a:endParaRPr lang="en-US" dirty="0"/>
          </a:p>
          <a:p>
            <a:r>
              <a:rPr lang="en-US" dirty="0"/>
              <a:t>User Journeys</a:t>
            </a:r>
          </a:p>
          <a:p>
            <a:endParaRPr lang="en-US" dirty="0"/>
          </a:p>
          <a:p>
            <a:r>
              <a:rPr lang="en-US" dirty="0"/>
              <a:t>Wireframes</a:t>
            </a:r>
          </a:p>
          <a:p>
            <a:endParaRPr lang="en-US" dirty="0"/>
          </a:p>
          <a:p>
            <a:r>
              <a:rPr lang="en-US" dirty="0"/>
              <a:t>Architecture</a:t>
            </a:r>
          </a:p>
          <a:p>
            <a:endParaRPr lang="en-US" dirty="0"/>
          </a:p>
          <a:p>
            <a:r>
              <a:rPr lang="en-US" dirty="0"/>
              <a:t>Backlog</a:t>
            </a:r>
          </a:p>
          <a:p>
            <a:endParaRPr lang="en-US" dirty="0"/>
          </a:p>
          <a:p>
            <a:r>
              <a:rPr lang="en-US" dirty="0"/>
              <a:t>Engineering Ticket</a:t>
            </a:r>
          </a:p>
          <a:p>
            <a:endParaRPr lang="en-US" dirty="0"/>
          </a:p>
          <a:p>
            <a:r>
              <a:rPr lang="en-US" dirty="0"/>
              <a:t>Explain:</a:t>
            </a:r>
          </a:p>
          <a:p>
            <a:endParaRPr lang="en-US" dirty="0"/>
          </a:p>
          <a:p>
            <a:r>
              <a:rPr lang="en-US" dirty="0"/>
              <a:t>"These are exactly the artifacts professional software teams create</a:t>
            </a:r>
          </a:p>
          <a:p>
            <a:r>
              <a:rPr lang="en-US" dirty="0"/>
              <a:t>before development begins."</a:t>
            </a:r>
          </a:p>
          <a:p>
            <a:endParaRPr lang="en-US" dirty="0"/>
          </a:p>
          <a:p>
            <a:r>
              <a:rPr lang="en-US" dirty="0"/>
              <a:t>------------------------------------------------------------</a:t>
            </a:r>
          </a:p>
          <a:p>
            <a:endParaRPr lang="en-US" dirty="0"/>
          </a:p>
          <a:p>
            <a:r>
              <a:rPr lang="en-US" dirty="0"/>
              <a:t>SUCCESS CRITERIA</a:t>
            </a:r>
          </a:p>
          <a:p>
            <a:endParaRPr lang="en-US" dirty="0"/>
          </a:p>
          <a:p>
            <a:r>
              <a:rPr lang="en-US" dirty="0"/>
              <a:t>Read each item.</a:t>
            </a:r>
          </a:p>
          <a:p>
            <a:endParaRPr lang="en-US" dirty="0"/>
          </a:p>
          <a:p>
            <a:r>
              <a:rPr lang="en-US" dirty="0"/>
              <a:t>Requirements are clear.</a:t>
            </a:r>
          </a:p>
          <a:p>
            <a:endParaRPr lang="en-US" dirty="0"/>
          </a:p>
          <a:p>
            <a:r>
              <a:rPr lang="en-US" dirty="0"/>
              <a:t>User stories are complete.</a:t>
            </a:r>
          </a:p>
          <a:p>
            <a:endParaRPr lang="en-US" dirty="0"/>
          </a:p>
          <a:p>
            <a:r>
              <a:rPr lang="en-US" dirty="0"/>
              <a:t>Wireframes are usable.</a:t>
            </a:r>
          </a:p>
          <a:p>
            <a:endParaRPr lang="en-US" dirty="0"/>
          </a:p>
          <a:p>
            <a:r>
              <a:rPr lang="en-US" dirty="0"/>
              <a:t>Architecture is logical.</a:t>
            </a:r>
          </a:p>
          <a:p>
            <a:endParaRPr lang="en-US" dirty="0"/>
          </a:p>
          <a:p>
            <a:r>
              <a:rPr lang="en-US" dirty="0"/>
              <a:t>MVP is realistic.</a:t>
            </a:r>
          </a:p>
          <a:p>
            <a:endParaRPr lang="en-US" dirty="0"/>
          </a:p>
          <a:p>
            <a:r>
              <a:rPr lang="en-US" dirty="0"/>
              <a:t>Explain:</a:t>
            </a:r>
          </a:p>
          <a:p>
            <a:endParaRPr lang="en-US" dirty="0"/>
          </a:p>
          <a:p>
            <a:r>
              <a:rPr lang="en-US" dirty="0"/>
              <a:t>"A successful sprint isn't measured by lines of code."</a:t>
            </a:r>
          </a:p>
          <a:p>
            <a:endParaRPr lang="en-US" dirty="0"/>
          </a:p>
          <a:p>
            <a:r>
              <a:rPr lang="en-US" dirty="0"/>
              <a:t>"It's measured by clarity."</a:t>
            </a:r>
          </a:p>
          <a:p>
            <a:endParaRPr lang="en-US" dirty="0"/>
          </a:p>
          <a:p>
            <a:r>
              <a:rPr lang="en-US" dirty="0"/>
              <a:t>------------------------------------------------------------</a:t>
            </a:r>
          </a:p>
          <a:p>
            <a:endParaRPr lang="en-US" dirty="0"/>
          </a:p>
          <a:p>
            <a:r>
              <a:rPr lang="en-US" dirty="0"/>
              <a:t>YOUR ROLE</a:t>
            </a:r>
          </a:p>
          <a:p>
            <a:endParaRPr lang="en-US" dirty="0"/>
          </a:p>
          <a:p>
            <a:r>
              <a:rPr lang="en-US" dirty="0"/>
              <a:t>"You are not acting as students."</a:t>
            </a:r>
          </a:p>
          <a:p>
            <a:endParaRPr lang="en-US" dirty="0"/>
          </a:p>
          <a:p>
            <a:r>
              <a:rPr lang="en-US" dirty="0"/>
              <a:t>"You are Product Team members at Atlas Software Solutions."</a:t>
            </a:r>
          </a:p>
          <a:p>
            <a:endParaRPr lang="en-US" dirty="0"/>
          </a:p>
          <a:p>
            <a:r>
              <a:rPr lang="en-US" dirty="0"/>
              <a:t>"Your responsibility is to deliver a professional design package to your</a:t>
            </a:r>
          </a:p>
          <a:p>
            <a:r>
              <a:rPr lang="en-US" dirty="0"/>
              <a:t>client."</a:t>
            </a:r>
          </a:p>
          <a:p>
            <a:endParaRPr lang="en-US" dirty="0"/>
          </a:p>
          <a:p>
            <a:r>
              <a:rPr lang="en-US" dirty="0"/>
              <a:t>Explain that every engineering decision should support the client and</a:t>
            </a:r>
          </a:p>
          <a:p>
            <a:r>
              <a:rPr lang="en-US" dirty="0"/>
              <a:t>future users.</a:t>
            </a:r>
          </a:p>
          <a:p>
            <a:endParaRPr lang="en-US" dirty="0"/>
          </a:p>
          <a:p>
            <a:r>
              <a:rPr lang="en-US" dirty="0"/>
              <a:t>------------------------------------------------------------</a:t>
            </a:r>
          </a:p>
          <a:p>
            <a:endParaRPr lang="en-US" dirty="0"/>
          </a:p>
          <a:p>
            <a:r>
              <a:rPr lang="en-US" dirty="0"/>
              <a:t>ATLAS ARCHITECTURE SPOTLIGHT</a:t>
            </a:r>
          </a:p>
          <a:p>
            <a:endParaRPr lang="en-US" dirty="0"/>
          </a:p>
          <a:p>
            <a:r>
              <a:rPr lang="en-US" dirty="0"/>
              <a:t>Introduce the new recurring activity.</a:t>
            </a:r>
          </a:p>
          <a:p>
            <a:endParaRPr lang="en-US" dirty="0"/>
          </a:p>
          <a:p>
            <a:r>
              <a:rPr lang="en-US" dirty="0"/>
              <a:t>"This sprint we're starting something new."</a:t>
            </a:r>
          </a:p>
          <a:p>
            <a:endParaRPr lang="en-US" dirty="0"/>
          </a:p>
          <a:p>
            <a:r>
              <a:rPr lang="en-US" dirty="0"/>
              <a:t>"Every week we'll analyze a real software application."</a:t>
            </a:r>
          </a:p>
          <a:p>
            <a:endParaRPr lang="en-US" dirty="0"/>
          </a:p>
          <a:p>
            <a:r>
              <a:rPr lang="en-US" dirty="0"/>
              <a:t>"Our first spotlight is Canvas."</a:t>
            </a:r>
          </a:p>
          <a:p>
            <a:endParaRPr lang="en-US" dirty="0"/>
          </a:p>
          <a:p>
            <a:r>
              <a:rPr lang="en-US" dirty="0"/>
              <a:t>Ask:</a:t>
            </a:r>
          </a:p>
          <a:p>
            <a:endParaRPr lang="en-US" dirty="0"/>
          </a:p>
          <a:p>
            <a:r>
              <a:rPr lang="en-US" dirty="0"/>
              <a:t>"What makes Canvas easy to use?"</a:t>
            </a:r>
          </a:p>
          <a:p>
            <a:endParaRPr lang="en-US" dirty="0"/>
          </a:p>
          <a:p>
            <a:r>
              <a:rPr lang="en-US" dirty="0"/>
              <a:t>"What features does it provide?"</a:t>
            </a:r>
          </a:p>
          <a:p>
            <a:endParaRPr lang="en-US" dirty="0"/>
          </a:p>
          <a:p>
            <a:r>
              <a:rPr lang="en-US" dirty="0"/>
              <a:t>"What requirements had to exist before developers wrote code?"</a:t>
            </a:r>
          </a:p>
          <a:p>
            <a:endParaRPr lang="en-US" dirty="0"/>
          </a:p>
          <a:p>
            <a:r>
              <a:rPr lang="en-US" dirty="0"/>
              <a:t>Allow students to begin thinking like software architects.</a:t>
            </a:r>
          </a:p>
          <a:p>
            <a:endParaRPr lang="en-US" dirty="0"/>
          </a:p>
          <a:p>
            <a:r>
              <a:rPr lang="en-US" dirty="0"/>
              <a:t>------------------------------------------------------------</a:t>
            </a:r>
          </a:p>
          <a:p>
            <a:endParaRPr lang="en-US" dirty="0"/>
          </a:p>
          <a:p>
            <a:r>
              <a:rPr lang="en-US" dirty="0"/>
              <a:t>ENGINEERING LESSON</a:t>
            </a:r>
          </a:p>
          <a:p>
            <a:endParaRPr lang="en-US" dirty="0"/>
          </a:p>
          <a:p>
            <a:r>
              <a:rPr lang="en-US" dirty="0"/>
              <a:t>Read the Engineering Lesson.</a:t>
            </a:r>
          </a:p>
          <a:p>
            <a:endParaRPr lang="en-US" dirty="0"/>
          </a:p>
          <a:p>
            <a:r>
              <a:rPr lang="en-US" dirty="0"/>
              <a:t>"The best code in the world cannot save a poorly designed solution."</a:t>
            </a:r>
          </a:p>
          <a:p>
            <a:endParaRPr lang="en-US" dirty="0"/>
          </a:p>
          <a:p>
            <a:r>
              <a:rPr lang="en-US" dirty="0"/>
              <a:t>Pause.</a:t>
            </a:r>
          </a:p>
          <a:p>
            <a:endParaRPr lang="en-US" dirty="0"/>
          </a:p>
          <a:p>
            <a:r>
              <a:rPr lang="en-US" dirty="0"/>
              <a:t>Continue.</a:t>
            </a:r>
          </a:p>
          <a:p>
            <a:endParaRPr lang="en-US" dirty="0"/>
          </a:p>
          <a:p>
            <a:r>
              <a:rPr lang="en-US" dirty="0"/>
              <a:t>"Design decisions influence everything that follows."</a:t>
            </a:r>
          </a:p>
          <a:p>
            <a:endParaRPr lang="en-US" dirty="0"/>
          </a:p>
          <a:p>
            <a:r>
              <a:rPr lang="en-US" dirty="0"/>
              <a:t>"Good software begins long before anyone opens Visual Studio."</a:t>
            </a:r>
          </a:p>
          <a:p>
            <a:endParaRPr lang="en-US" dirty="0"/>
          </a:p>
          <a:p>
            <a:r>
              <a:rPr lang="en-US" dirty="0"/>
              <a:t>------------------------------------------------------------</a:t>
            </a:r>
          </a:p>
          <a:p>
            <a:endParaRPr lang="en-US" dirty="0"/>
          </a:p>
          <a:p>
            <a:r>
              <a:rPr lang="en-US" dirty="0"/>
              <a:t>ENGINEERING STORY</a:t>
            </a:r>
          </a:p>
          <a:p>
            <a:endParaRPr lang="en-US" dirty="0"/>
          </a:p>
          <a:p>
            <a:r>
              <a:rPr lang="en-US" dirty="0"/>
              <a:t>Share the story of the SCC Food Pantry project.</a:t>
            </a:r>
          </a:p>
          <a:p>
            <a:endParaRPr lang="en-US" dirty="0"/>
          </a:p>
          <a:p>
            <a:r>
              <a:rPr lang="en-US" dirty="0"/>
              <a:t>Focus on discovery.</a:t>
            </a:r>
          </a:p>
          <a:p>
            <a:endParaRPr lang="en-US" dirty="0"/>
          </a:p>
          <a:p>
            <a:r>
              <a:rPr lang="en-US" dirty="0"/>
              <a:t>Discuss meeting stakeholders.</a:t>
            </a:r>
          </a:p>
          <a:p>
            <a:endParaRPr lang="en-US" dirty="0"/>
          </a:p>
          <a:p>
            <a:r>
              <a:rPr lang="en-US" dirty="0"/>
              <a:t>Changing requirements.</a:t>
            </a:r>
          </a:p>
          <a:p>
            <a:endParaRPr lang="en-US" dirty="0"/>
          </a:p>
          <a:p>
            <a:r>
              <a:rPr lang="en-US" dirty="0"/>
              <a:t>Learning from conversations.</a:t>
            </a:r>
          </a:p>
          <a:p>
            <a:endParaRPr lang="en-US" dirty="0"/>
          </a:p>
          <a:p>
            <a:r>
              <a:rPr lang="en-US" dirty="0"/>
              <a:t>Explain:</a:t>
            </a:r>
          </a:p>
          <a:p>
            <a:endParaRPr lang="en-US" dirty="0"/>
          </a:p>
          <a:p>
            <a:r>
              <a:rPr lang="en-US" dirty="0"/>
              <a:t>"We thought we knew the problem."</a:t>
            </a:r>
          </a:p>
          <a:p>
            <a:endParaRPr lang="en-US" dirty="0"/>
          </a:p>
          <a:p>
            <a:r>
              <a:rPr lang="en-US" dirty="0"/>
              <a:t>"But every meeting taught us something new."</a:t>
            </a:r>
          </a:p>
          <a:p>
            <a:endParaRPr lang="en-US" dirty="0"/>
          </a:p>
          <a:p>
            <a:r>
              <a:rPr lang="en-US" dirty="0"/>
              <a:t>"That's software engineering."</a:t>
            </a:r>
          </a:p>
          <a:p>
            <a:endParaRPr lang="en-US" dirty="0"/>
          </a:p>
          <a:p>
            <a:r>
              <a:rPr lang="en-US" dirty="0"/>
              <a:t>------------------------------------------------------------</a:t>
            </a:r>
          </a:p>
          <a:p>
            <a:endParaRPr lang="en-US" dirty="0"/>
          </a:p>
          <a:p>
            <a:r>
              <a:rPr lang="en-US" dirty="0"/>
              <a:t>ATLAS DESIGN CHALLENGE</a:t>
            </a:r>
          </a:p>
          <a:p>
            <a:endParaRPr lang="en-US" dirty="0"/>
          </a:p>
          <a:p>
            <a:r>
              <a:rPr lang="en-US" dirty="0"/>
              <a:t>Explain the new challenge format.</a:t>
            </a:r>
          </a:p>
          <a:p>
            <a:endParaRPr lang="en-US" dirty="0"/>
          </a:p>
          <a:p>
            <a:r>
              <a:rPr lang="en-US" dirty="0"/>
              <a:t>"At the end of every lesson this sprint..."</a:t>
            </a:r>
          </a:p>
          <a:p>
            <a:endParaRPr lang="en-US" dirty="0"/>
          </a:p>
          <a:p>
            <a:r>
              <a:rPr lang="en-US" dirty="0"/>
              <a:t>"You'll complete a five-minute engineering challenge."</a:t>
            </a:r>
          </a:p>
          <a:p>
            <a:endParaRPr lang="en-US" dirty="0"/>
          </a:p>
          <a:p>
            <a:r>
              <a:rPr lang="en-US" dirty="0"/>
              <a:t>"The goal isn't a grade."</a:t>
            </a:r>
          </a:p>
          <a:p>
            <a:endParaRPr lang="en-US" dirty="0"/>
          </a:p>
          <a:p>
            <a:r>
              <a:rPr lang="en-US" dirty="0"/>
              <a:t>"The goal is practice."</a:t>
            </a:r>
          </a:p>
          <a:p>
            <a:endParaRPr lang="en-US" dirty="0"/>
          </a:p>
          <a:p>
            <a:r>
              <a:rPr lang="en-US" dirty="0"/>
              <a:t>Tell students:</a:t>
            </a:r>
          </a:p>
          <a:p>
            <a:endParaRPr lang="en-US" dirty="0"/>
          </a:p>
          <a:p>
            <a:r>
              <a:rPr lang="en-US" dirty="0"/>
              <a:t>"Great engineers improve through repetition."</a:t>
            </a:r>
          </a:p>
          <a:p>
            <a:endParaRPr lang="en-US" dirty="0"/>
          </a:p>
          <a:p>
            <a:r>
              <a:rPr lang="en-US" dirty="0"/>
              <a:t>------------------------------------------------------------</a:t>
            </a:r>
          </a:p>
          <a:p>
            <a:endParaRPr lang="en-US" dirty="0"/>
          </a:p>
          <a:p>
            <a:r>
              <a:rPr lang="en-US" dirty="0"/>
              <a:t>CLASS DISCUSSION</a:t>
            </a:r>
          </a:p>
          <a:p>
            <a:endParaRPr lang="en-US" dirty="0"/>
          </a:p>
          <a:p>
            <a:r>
              <a:rPr lang="en-US" dirty="0"/>
              <a:t>Ask:</a:t>
            </a:r>
          </a:p>
          <a:p>
            <a:endParaRPr lang="en-US" dirty="0"/>
          </a:p>
          <a:p>
            <a:r>
              <a:rPr lang="en-US" dirty="0"/>
              <a:t>"What features should Atlas </a:t>
            </a:r>
            <a:r>
              <a:rPr lang="en-US" dirty="0" err="1"/>
              <a:t>TaskFlow</a:t>
            </a:r>
            <a:r>
              <a:rPr lang="en-US" dirty="0"/>
              <a:t> include?"</a:t>
            </a:r>
          </a:p>
          <a:p>
            <a:endParaRPr lang="en-US" dirty="0"/>
          </a:p>
          <a:p>
            <a:r>
              <a:rPr lang="en-US" dirty="0"/>
              <a:t>Write student ideas on the board.</a:t>
            </a:r>
          </a:p>
          <a:p>
            <a:endParaRPr lang="en-US" dirty="0"/>
          </a:p>
          <a:p>
            <a:r>
              <a:rPr lang="en-US" dirty="0"/>
              <a:t>Examples:</a:t>
            </a:r>
          </a:p>
          <a:p>
            <a:endParaRPr lang="en-US" dirty="0"/>
          </a:p>
          <a:p>
            <a:r>
              <a:rPr lang="en-US" dirty="0"/>
              <a:t>Task Management</a:t>
            </a:r>
          </a:p>
          <a:p>
            <a:endParaRPr lang="en-US" dirty="0"/>
          </a:p>
          <a:p>
            <a:r>
              <a:rPr lang="en-US" dirty="0"/>
              <a:t>Projects</a:t>
            </a:r>
          </a:p>
          <a:p>
            <a:endParaRPr lang="en-US" dirty="0"/>
          </a:p>
          <a:p>
            <a:r>
              <a:rPr lang="en-US" dirty="0"/>
              <a:t>Teams</a:t>
            </a:r>
          </a:p>
          <a:p>
            <a:endParaRPr lang="en-US" dirty="0"/>
          </a:p>
          <a:p>
            <a:r>
              <a:rPr lang="en-US" dirty="0"/>
              <a:t>Calendar</a:t>
            </a:r>
          </a:p>
          <a:p>
            <a:endParaRPr lang="en-US" dirty="0"/>
          </a:p>
          <a:p>
            <a:r>
              <a:rPr lang="en-US" dirty="0"/>
              <a:t>Notifications</a:t>
            </a:r>
          </a:p>
          <a:p>
            <a:endParaRPr lang="en-US" dirty="0"/>
          </a:p>
          <a:p>
            <a:r>
              <a:rPr lang="en-US" dirty="0"/>
              <a:t>Search</a:t>
            </a:r>
          </a:p>
          <a:p>
            <a:endParaRPr lang="en-US" dirty="0"/>
          </a:p>
          <a:p>
            <a:r>
              <a:rPr lang="en-US" dirty="0"/>
              <a:t>Reports</a:t>
            </a:r>
          </a:p>
          <a:p>
            <a:endParaRPr lang="en-US" dirty="0"/>
          </a:p>
          <a:p>
            <a:r>
              <a:rPr lang="en-US" dirty="0"/>
              <a:t>Dark Mode</a:t>
            </a:r>
          </a:p>
          <a:p>
            <a:endParaRPr lang="en-US" dirty="0"/>
          </a:p>
          <a:p>
            <a:r>
              <a:rPr lang="en-US" dirty="0"/>
              <a:t>Attachments</a:t>
            </a:r>
          </a:p>
          <a:p>
            <a:endParaRPr lang="en-US" dirty="0"/>
          </a:p>
          <a:p>
            <a:r>
              <a:rPr lang="en-US" dirty="0"/>
              <a:t>Explain:</a:t>
            </a:r>
          </a:p>
          <a:p>
            <a:endParaRPr lang="en-US" dirty="0"/>
          </a:p>
          <a:p>
            <a:r>
              <a:rPr lang="en-US" dirty="0"/>
              <a:t>"Congratulations."</a:t>
            </a:r>
          </a:p>
          <a:p>
            <a:endParaRPr lang="en-US" dirty="0"/>
          </a:p>
          <a:p>
            <a:r>
              <a:rPr lang="en-US" dirty="0"/>
              <a:t>"You've already started gathering requirements."</a:t>
            </a:r>
          </a:p>
          <a:p>
            <a:endParaRPr lang="en-US" dirty="0"/>
          </a:p>
          <a:p>
            <a:r>
              <a:rPr lang="en-US" dirty="0"/>
              <a:t>------------------------------------------------------------</a:t>
            </a:r>
          </a:p>
          <a:p>
            <a:endParaRPr lang="en-US" dirty="0"/>
          </a:p>
          <a:p>
            <a:r>
              <a:rPr lang="en-US" dirty="0"/>
              <a:t>TRANSITION</a:t>
            </a:r>
          </a:p>
          <a:p>
            <a:endParaRPr lang="en-US" dirty="0"/>
          </a:p>
          <a:p>
            <a:r>
              <a:rPr lang="en-US" dirty="0"/>
              <a:t>"Every successful software project begins with one question."</a:t>
            </a:r>
          </a:p>
          <a:p>
            <a:endParaRPr lang="en-US" dirty="0"/>
          </a:p>
          <a:p>
            <a:r>
              <a:rPr lang="en-US" dirty="0"/>
              <a:t>"What problem are we solving?"</a:t>
            </a:r>
          </a:p>
          <a:p>
            <a:endParaRPr lang="en-US" dirty="0"/>
          </a:p>
          <a:p>
            <a:r>
              <a:rPr lang="en-US" dirty="0"/>
              <a:t>"Our next lesson teaches the first skill every software engineer needs."</a:t>
            </a:r>
          </a:p>
          <a:p>
            <a:endParaRPr lang="en-US" dirty="0"/>
          </a:p>
          <a:p>
            <a:r>
              <a:rPr lang="en-US" dirty="0"/>
              <a:t>"Requirements Engineering."</a:t>
            </a:r>
          </a:p>
          <a:p>
            <a:endParaRPr lang="en-US" dirty="0"/>
          </a:p>
          <a:p>
            <a:r>
              <a:rPr lang="en-US" dirty="0"/>
              <a:t>------------------------------------------------------------</a:t>
            </a:r>
          </a:p>
          <a:p>
            <a:endParaRPr lang="en-US" dirty="0"/>
          </a:p>
          <a:p>
            <a:r>
              <a:rPr lang="en-US" dirty="0"/>
              <a:t>ESTIMATED TIME</a:t>
            </a:r>
          </a:p>
          <a:p>
            <a:endParaRPr lang="en-US" dirty="0"/>
          </a:p>
          <a:p>
            <a:r>
              <a:rPr lang="en-US" dirty="0"/>
              <a:t>Welcome.......................5 minutes</a:t>
            </a:r>
          </a:p>
          <a:p>
            <a:endParaRPr lang="en-US" dirty="0"/>
          </a:p>
          <a:p>
            <a:r>
              <a:rPr lang="en-US" dirty="0"/>
              <a:t>Client Brief..................8 minutes</a:t>
            </a:r>
          </a:p>
          <a:p>
            <a:endParaRPr lang="en-US" dirty="0"/>
          </a:p>
          <a:p>
            <a:r>
              <a:rPr lang="en-US" dirty="0"/>
              <a:t>Project Overview..............8 minutes</a:t>
            </a:r>
          </a:p>
          <a:p>
            <a:endParaRPr lang="en-US" dirty="0"/>
          </a:p>
          <a:p>
            <a:r>
              <a:rPr lang="en-US" dirty="0"/>
              <a:t>Sprint Roadmap................8 minutes</a:t>
            </a:r>
          </a:p>
          <a:p>
            <a:endParaRPr lang="en-US" dirty="0"/>
          </a:p>
          <a:p>
            <a:r>
              <a:rPr lang="en-US" dirty="0"/>
              <a:t>Architecture Spotlight........7 minutes</a:t>
            </a:r>
          </a:p>
          <a:p>
            <a:endParaRPr lang="en-US" dirty="0"/>
          </a:p>
          <a:p>
            <a:r>
              <a:rPr lang="en-US" dirty="0"/>
              <a:t>Discussion...................10 minutes</a:t>
            </a:r>
          </a:p>
          <a:p>
            <a:endParaRPr lang="en-US" dirty="0"/>
          </a:p>
          <a:p>
            <a:r>
              <a:rPr lang="en-US" dirty="0"/>
              <a:t>Transition....................4 minutes</a:t>
            </a:r>
          </a:p>
          <a:p>
            <a:endParaRPr lang="en-US" dirty="0"/>
          </a:p>
          <a:p>
            <a:r>
              <a:rPr lang="en-US" dirty="0"/>
              <a:t>Total........................50 minutes</a:t>
            </a:r>
          </a:p>
          <a:p>
            <a:endParaRPr lang="en-US" dirty="0"/>
          </a:p>
          <a:p>
            <a:r>
              <a:rPr lang="en-US" dirty="0"/>
              <a:t>------------------------------------------------------------</a:t>
            </a:r>
          </a:p>
          <a:p>
            <a:endParaRPr lang="en-US" dirty="0"/>
          </a:p>
          <a:p>
            <a:r>
              <a:rPr lang="en-US" dirty="0"/>
              <a:t>INSTRUCTOR NOTES</a:t>
            </a:r>
          </a:p>
          <a:p>
            <a:endParaRPr lang="en-US" dirty="0"/>
          </a:p>
          <a:p>
            <a:r>
              <a:rPr lang="en-US" dirty="0"/>
              <a:t>Keep the excitement high.</a:t>
            </a:r>
          </a:p>
          <a:p>
            <a:endParaRPr lang="en-US" dirty="0"/>
          </a:p>
          <a:p>
            <a:r>
              <a:rPr lang="en-US" dirty="0"/>
              <a:t>Students should leave class believing they have joined a real software</a:t>
            </a:r>
          </a:p>
          <a:p>
            <a:r>
              <a:rPr lang="en-US" dirty="0"/>
              <a:t>engineering team.</a:t>
            </a:r>
          </a:p>
          <a:p>
            <a:endParaRPr lang="en-US" dirty="0"/>
          </a:p>
          <a:p>
            <a:r>
              <a:rPr lang="en-US" dirty="0"/>
              <a:t>Refer to Atlas </a:t>
            </a:r>
            <a:r>
              <a:rPr lang="en-US" dirty="0" err="1"/>
              <a:t>TaskFlow</a:t>
            </a:r>
            <a:r>
              <a:rPr lang="en-US" dirty="0"/>
              <a:t> throughout the sprint.</a:t>
            </a:r>
          </a:p>
          <a:p>
            <a:endParaRPr lang="en-US" dirty="0"/>
          </a:p>
          <a:p>
            <a:r>
              <a:rPr lang="en-US" dirty="0"/>
              <a:t>Never call it "the example."</a:t>
            </a:r>
          </a:p>
          <a:p>
            <a:endParaRPr lang="en-US" dirty="0"/>
          </a:p>
          <a:p>
            <a:r>
              <a:rPr lang="en-US" dirty="0"/>
              <a:t>Call it "our product."</a:t>
            </a:r>
          </a:p>
          <a:p>
            <a:endParaRPr lang="en-US" dirty="0"/>
          </a:p>
          <a:p>
            <a:r>
              <a:rPr lang="en-US" dirty="0"/>
              <a:t>Every lesson should add another piece to the design.</a:t>
            </a:r>
          </a:p>
          <a:p>
            <a:endParaRPr lang="en-US" dirty="0"/>
          </a:p>
          <a:p>
            <a:r>
              <a:rPr lang="en-US" dirty="0"/>
              <a:t>Close with:</a:t>
            </a:r>
          </a:p>
          <a:p>
            <a:endParaRPr lang="en-US" dirty="0"/>
          </a:p>
          <a:p>
            <a:r>
              <a:rPr lang="en-US" dirty="0"/>
              <a:t>"By the end of Sprint 3..."</a:t>
            </a:r>
          </a:p>
          <a:p>
            <a:endParaRPr lang="en-US" dirty="0"/>
          </a:p>
          <a:p>
            <a:r>
              <a:rPr lang="en-US" dirty="0"/>
              <a:t>"You won't just understand software design."</a:t>
            </a:r>
          </a:p>
          <a:p>
            <a:endParaRPr lang="en-US" dirty="0"/>
          </a:p>
          <a:p>
            <a:r>
              <a:rPr lang="en-US" dirty="0"/>
              <a:t>"You'll have designed an application that we're going to build together."</a:t>
            </a:r>
          </a:p>
          <a:p>
            <a:endParaRPr lang="en-US" dirty="0"/>
          </a:p>
          <a:p>
            <a:r>
              <a:rPr lang="en-US" dirty="0"/>
              <a:t>Pause.</a:t>
            </a:r>
          </a:p>
          <a:p>
            <a:endParaRPr lang="en-US" dirty="0"/>
          </a:p>
          <a:p>
            <a:r>
              <a:rPr lang="en-US" dirty="0"/>
              <a:t>Smile.</a:t>
            </a:r>
          </a:p>
          <a:p>
            <a:endParaRPr lang="en-US" dirty="0"/>
          </a:p>
          <a:p>
            <a:r>
              <a:rPr lang="en-US" dirty="0"/>
              <a:t>"And that's exactly how professional software engineering begins."</a:t>
            </a:r>
          </a:p>
          <a:p>
            <a:endParaRPr lang="en-US" dirty="0"/>
          </a:p>
          <a:p>
            <a:r>
              <a:rPr lang="en-US" dirty="0"/>
              <a:t>============================================================</a:t>
            </a:r>
          </a:p>
        </p:txBody>
      </p:sp>
      <p:sp>
        <p:nvSpPr>
          <p:cNvPr id="4" name="Slide Number Placeholder 3"/>
          <p:cNvSpPr>
            <a:spLocks noGrp="1"/>
          </p:cNvSpPr>
          <p:nvPr>
            <p:ph type="sldNum" sz="quarter" idx="5"/>
          </p:nvPr>
        </p:nvSpPr>
        <p:spPr/>
        <p:txBody>
          <a:bodyPr/>
          <a:lstStyle/>
          <a:p>
            <a:fld id="{12CFA81F-48ED-4EC0-89DB-73FF3AF92981}" type="slidenum">
              <a:rPr lang="en-US" smtClean="0"/>
              <a:t>1</a:t>
            </a:fld>
            <a:endParaRPr lang="en-US"/>
          </a:p>
        </p:txBody>
      </p:sp>
    </p:spTree>
    <p:extLst>
      <p:ext uri="{BB962C8B-B14F-4D97-AF65-F5344CB8AC3E}">
        <p14:creationId xmlns:p14="http://schemas.microsoft.com/office/powerpoint/2010/main" val="21989707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endParaRPr lang="en-US" dirty="0"/>
          </a:p>
          <a:p>
            <a:r>
              <a:rPr lang="en-US" dirty="0"/>
              <a:t>SPRINT 3</a:t>
            </a:r>
          </a:p>
          <a:p>
            <a:endParaRPr lang="en-US" dirty="0"/>
          </a:p>
          <a:p>
            <a:r>
              <a:rPr lang="en-US" dirty="0"/>
              <a:t>ARTIFACT XXXIV</a:t>
            </a:r>
          </a:p>
          <a:p>
            <a:endParaRPr lang="en-US" dirty="0"/>
          </a:p>
          <a:p>
            <a:r>
              <a:rPr lang="en-US" dirty="0"/>
              <a:t>REQUIREMENTS ENGINEERING</a:t>
            </a:r>
          </a:p>
          <a:p>
            <a:endParaRPr lang="en-US" dirty="0"/>
          </a:p>
          <a:p>
            <a:r>
              <a:rPr lang="en-US" dirty="0"/>
              <a:t>============================================================</a:t>
            </a:r>
          </a:p>
          <a:p>
            <a:endParaRPr lang="en-US" dirty="0"/>
          </a:p>
          <a:p>
            <a:r>
              <a:rPr lang="en-US" dirty="0"/>
              <a:t>SLIDE PURPOSE</a:t>
            </a:r>
          </a:p>
          <a:p>
            <a:endParaRPr lang="en-US" dirty="0"/>
          </a:p>
          <a:p>
            <a:r>
              <a:rPr lang="en-US" dirty="0"/>
              <a:t>Introduce students to one of the most important concepts in software</a:t>
            </a:r>
          </a:p>
          <a:p>
            <a:r>
              <a:rPr lang="en-US" dirty="0"/>
              <a:t>engineering: understanding the problem before designing the solution.</a:t>
            </a:r>
          </a:p>
          <a:p>
            <a:endParaRPr lang="en-US" dirty="0"/>
          </a:p>
          <a:p>
            <a:r>
              <a:rPr lang="en-US" dirty="0"/>
              <a:t>Students should realize that successful software projects begin with</a:t>
            </a:r>
          </a:p>
          <a:p>
            <a:r>
              <a:rPr lang="en-US" dirty="0"/>
              <a:t>clear requirements—not programming.</a:t>
            </a:r>
          </a:p>
          <a:p>
            <a:endParaRPr lang="en-US" dirty="0"/>
          </a:p>
          <a:p>
            <a:r>
              <a:rPr lang="en-US" dirty="0"/>
              <a:t>Everything they create for Atlas </a:t>
            </a:r>
            <a:r>
              <a:rPr lang="en-US" dirty="0" err="1"/>
              <a:t>TaskFlow</a:t>
            </a:r>
            <a:r>
              <a:rPr lang="en-US" dirty="0"/>
              <a:t> this sprint will begin with</a:t>
            </a:r>
          </a:p>
          <a:p>
            <a:r>
              <a:rPr lang="en-US" dirty="0"/>
              <a:t>requirements engineering.</a:t>
            </a:r>
          </a:p>
          <a:p>
            <a:endParaRPr lang="en-US" dirty="0"/>
          </a:p>
          <a:p>
            <a:r>
              <a:rPr lang="en-US" dirty="0"/>
              <a:t>------------------------------------------------------------</a:t>
            </a:r>
          </a:p>
          <a:p>
            <a:endParaRPr lang="en-US" dirty="0"/>
          </a:p>
          <a:p>
            <a:r>
              <a:rPr lang="en-US" dirty="0"/>
              <a:t>OPENING</a:t>
            </a:r>
          </a:p>
          <a:p>
            <a:endParaRPr lang="en-US" dirty="0"/>
          </a:p>
          <a:p>
            <a:r>
              <a:rPr lang="en-US" dirty="0"/>
              <a:t>"Today we're beginning the first real engineering activity of our</a:t>
            </a:r>
          </a:p>
          <a:p>
            <a:r>
              <a:rPr lang="en-US" dirty="0"/>
              <a:t>client project."</a:t>
            </a:r>
          </a:p>
          <a:p>
            <a:endParaRPr lang="en-US" dirty="0"/>
          </a:p>
          <a:p>
            <a:r>
              <a:rPr lang="en-US" dirty="0"/>
              <a:t>"Before software engineers write code..."</a:t>
            </a:r>
          </a:p>
          <a:p>
            <a:endParaRPr lang="en-US" dirty="0"/>
          </a:p>
          <a:p>
            <a:r>
              <a:rPr lang="en-US" dirty="0"/>
              <a:t>"They ask questions."</a:t>
            </a:r>
          </a:p>
          <a:p>
            <a:endParaRPr lang="en-US" dirty="0"/>
          </a:p>
          <a:p>
            <a:r>
              <a:rPr lang="en-US" dirty="0"/>
              <a:t>"They listen."</a:t>
            </a:r>
          </a:p>
          <a:p>
            <a:endParaRPr lang="en-US" dirty="0"/>
          </a:p>
          <a:p>
            <a:r>
              <a:rPr lang="en-US" dirty="0"/>
              <a:t>"They observe."</a:t>
            </a:r>
          </a:p>
          <a:p>
            <a:endParaRPr lang="en-US" dirty="0"/>
          </a:p>
          <a:p>
            <a:r>
              <a:rPr lang="en-US" dirty="0"/>
              <a:t>"They learn."</a:t>
            </a:r>
          </a:p>
          <a:p>
            <a:endParaRPr lang="en-US" dirty="0"/>
          </a:p>
          <a:p>
            <a:r>
              <a:rPr lang="en-US" dirty="0"/>
              <a:t>"Today we're going to discover what our client actually needs."</a:t>
            </a:r>
          </a:p>
          <a:p>
            <a:endParaRPr lang="en-US" dirty="0"/>
          </a:p>
          <a:p>
            <a:r>
              <a:rPr lang="en-US" dirty="0"/>
              <a:t>Pause.</a:t>
            </a:r>
          </a:p>
          <a:p>
            <a:endParaRPr lang="en-US" dirty="0"/>
          </a:p>
          <a:p>
            <a:r>
              <a:rPr lang="en-US" dirty="0"/>
              <a:t>"Welcome to Requirements Engineering."</a:t>
            </a:r>
          </a:p>
          <a:p>
            <a:endParaRPr lang="en-US" dirty="0"/>
          </a:p>
          <a:p>
            <a:r>
              <a:rPr lang="en-US" dirty="0"/>
              <a:t>------------------------------------------------------------</a:t>
            </a:r>
          </a:p>
          <a:p>
            <a:endParaRPr lang="en-US" dirty="0"/>
          </a:p>
          <a:p>
            <a:r>
              <a:rPr lang="en-US" dirty="0"/>
              <a:t>CONNECT TO TASKFLOW</a:t>
            </a:r>
          </a:p>
          <a:p>
            <a:endParaRPr lang="en-US" dirty="0"/>
          </a:p>
          <a:p>
            <a:r>
              <a:rPr lang="en-US" dirty="0"/>
              <a:t>Point to Atlas </a:t>
            </a:r>
            <a:r>
              <a:rPr lang="en-US" dirty="0" err="1"/>
              <a:t>TaskFlow</a:t>
            </a:r>
            <a:r>
              <a:rPr lang="en-US" dirty="0"/>
              <a:t>.</a:t>
            </a:r>
          </a:p>
          <a:p>
            <a:endParaRPr lang="en-US" dirty="0"/>
          </a:p>
          <a:p>
            <a:r>
              <a:rPr lang="en-US" dirty="0"/>
              <a:t>"Remember..."</a:t>
            </a:r>
          </a:p>
          <a:p>
            <a:endParaRPr lang="en-US" dirty="0"/>
          </a:p>
          <a:p>
            <a:r>
              <a:rPr lang="en-US" dirty="0"/>
              <a:t>"We've been hired to design Atlas </a:t>
            </a:r>
            <a:r>
              <a:rPr lang="en-US" dirty="0" err="1"/>
              <a:t>TaskFlow</a:t>
            </a:r>
            <a:r>
              <a:rPr lang="en-US" dirty="0"/>
              <a:t>."</a:t>
            </a:r>
          </a:p>
          <a:p>
            <a:endParaRPr lang="en-US" dirty="0"/>
          </a:p>
          <a:p>
            <a:r>
              <a:rPr lang="en-US" dirty="0"/>
              <a:t>"Our client didn't ask us to write code."</a:t>
            </a:r>
          </a:p>
          <a:p>
            <a:endParaRPr lang="en-US" dirty="0"/>
          </a:p>
          <a:p>
            <a:r>
              <a:rPr lang="en-US" dirty="0"/>
              <a:t>"They asked us to solve a problem."</a:t>
            </a:r>
          </a:p>
          <a:p>
            <a:endParaRPr lang="en-US" dirty="0"/>
          </a:p>
          <a:p>
            <a:r>
              <a:rPr lang="en-US" dirty="0"/>
              <a:t>Explain:</a:t>
            </a:r>
          </a:p>
          <a:p>
            <a:endParaRPr lang="en-US" dirty="0"/>
          </a:p>
          <a:p>
            <a:r>
              <a:rPr lang="en-US" dirty="0"/>
              <a:t>"If we misunderstand the problem..."</a:t>
            </a:r>
          </a:p>
          <a:p>
            <a:endParaRPr lang="en-US" dirty="0"/>
          </a:p>
          <a:p>
            <a:r>
              <a:rPr lang="en-US" dirty="0"/>
              <a:t>"It doesn't matter how good our code is."</a:t>
            </a:r>
          </a:p>
          <a:p>
            <a:endParaRPr lang="en-US" dirty="0"/>
          </a:p>
          <a:p>
            <a:r>
              <a:rPr lang="en-US" dirty="0"/>
              <a:t>"We'll build the wrong product."</a:t>
            </a:r>
          </a:p>
          <a:p>
            <a:endParaRPr lang="en-US" dirty="0"/>
          </a:p>
          <a:p>
            <a:r>
              <a:rPr lang="en-US" dirty="0"/>
              <a:t>------------------------------------------------------------</a:t>
            </a:r>
          </a:p>
          <a:p>
            <a:endParaRPr lang="en-US" dirty="0"/>
          </a:p>
          <a:p>
            <a:r>
              <a:rPr lang="en-US" dirty="0"/>
              <a:t>WHAT ARE REQUIREMENTS?</a:t>
            </a:r>
          </a:p>
          <a:p>
            <a:endParaRPr lang="en-US" dirty="0"/>
          </a:p>
          <a:p>
            <a:r>
              <a:rPr lang="en-US" dirty="0"/>
              <a:t>Read the definition.</a:t>
            </a:r>
          </a:p>
          <a:p>
            <a:endParaRPr lang="en-US" dirty="0"/>
          </a:p>
          <a:p>
            <a:r>
              <a:rPr lang="en-US" dirty="0"/>
              <a:t>"Requirements describe what software must do and how well it must do</a:t>
            </a:r>
          </a:p>
          <a:p>
            <a:r>
              <a:rPr lang="en-US" dirty="0"/>
              <a:t>it."</a:t>
            </a:r>
          </a:p>
          <a:p>
            <a:endParaRPr lang="en-US" dirty="0"/>
          </a:p>
          <a:p>
            <a:r>
              <a:rPr lang="en-US" dirty="0"/>
              <a:t>Walk through the engineering process.</a:t>
            </a:r>
          </a:p>
          <a:p>
            <a:endParaRPr lang="en-US" dirty="0"/>
          </a:p>
          <a:p>
            <a:r>
              <a:rPr lang="en-US" dirty="0"/>
              <a:t>Problem</a:t>
            </a:r>
          </a:p>
          <a:p>
            <a:endParaRPr lang="en-US" dirty="0"/>
          </a:p>
          <a:p>
            <a:r>
              <a:rPr lang="en-US" dirty="0"/>
              <a:t>↓</a:t>
            </a:r>
          </a:p>
          <a:p>
            <a:endParaRPr lang="en-US" dirty="0"/>
          </a:p>
          <a:p>
            <a:r>
              <a:rPr lang="en-US" dirty="0"/>
              <a:t>Requirements</a:t>
            </a:r>
          </a:p>
          <a:p>
            <a:endParaRPr lang="en-US" dirty="0"/>
          </a:p>
          <a:p>
            <a:r>
              <a:rPr lang="en-US" dirty="0"/>
              <a:t>↓</a:t>
            </a:r>
          </a:p>
          <a:p>
            <a:endParaRPr lang="en-US" dirty="0"/>
          </a:p>
          <a:p>
            <a:r>
              <a:rPr lang="en-US" dirty="0"/>
              <a:t>Design</a:t>
            </a:r>
          </a:p>
          <a:p>
            <a:endParaRPr lang="en-US" dirty="0"/>
          </a:p>
          <a:p>
            <a:r>
              <a:rPr lang="en-US" dirty="0"/>
              <a:t>↓</a:t>
            </a:r>
          </a:p>
          <a:p>
            <a:endParaRPr lang="en-US" dirty="0"/>
          </a:p>
          <a:p>
            <a:r>
              <a:rPr lang="en-US" dirty="0"/>
              <a:t>Development</a:t>
            </a:r>
          </a:p>
          <a:p>
            <a:endParaRPr lang="en-US" dirty="0"/>
          </a:p>
          <a:p>
            <a:r>
              <a:rPr lang="en-US" dirty="0"/>
              <a:t>↓</a:t>
            </a:r>
          </a:p>
          <a:p>
            <a:endParaRPr lang="en-US" dirty="0"/>
          </a:p>
          <a:p>
            <a:r>
              <a:rPr lang="en-US" dirty="0"/>
              <a:t>Testing</a:t>
            </a:r>
          </a:p>
          <a:p>
            <a:endParaRPr lang="en-US" dirty="0"/>
          </a:p>
          <a:p>
            <a:r>
              <a:rPr lang="en-US" dirty="0"/>
              <a:t>↓</a:t>
            </a:r>
          </a:p>
          <a:p>
            <a:endParaRPr lang="en-US" dirty="0"/>
          </a:p>
          <a:p>
            <a:r>
              <a:rPr lang="en-US" dirty="0"/>
              <a:t>Deployment</a:t>
            </a:r>
          </a:p>
          <a:p>
            <a:endParaRPr lang="en-US" dirty="0"/>
          </a:p>
          <a:p>
            <a:r>
              <a:rPr lang="en-US" dirty="0"/>
              <a:t>Explain:</a:t>
            </a:r>
          </a:p>
          <a:p>
            <a:endParaRPr lang="en-US" dirty="0"/>
          </a:p>
          <a:p>
            <a:r>
              <a:rPr lang="en-US" dirty="0"/>
              <a:t>"Notice where requirements occur."</a:t>
            </a:r>
          </a:p>
          <a:p>
            <a:endParaRPr lang="en-US" dirty="0"/>
          </a:p>
          <a:p>
            <a:r>
              <a:rPr lang="en-US" dirty="0"/>
              <a:t>"They happen before design."</a:t>
            </a:r>
          </a:p>
          <a:p>
            <a:endParaRPr lang="en-US" dirty="0"/>
          </a:p>
          <a:p>
            <a:r>
              <a:rPr lang="en-US" dirty="0"/>
              <a:t>"Everything depends on getting this step right."</a:t>
            </a:r>
          </a:p>
          <a:p>
            <a:endParaRPr lang="en-US" dirty="0"/>
          </a:p>
          <a:p>
            <a:r>
              <a:rPr lang="en-US" dirty="0"/>
              <a:t>------------------------------------------------------------</a:t>
            </a:r>
          </a:p>
          <a:p>
            <a:endParaRPr lang="en-US" dirty="0"/>
          </a:p>
          <a:p>
            <a:r>
              <a:rPr lang="en-US" dirty="0"/>
              <a:t>FUNCTIONAL REQUIREMENTS</a:t>
            </a:r>
          </a:p>
          <a:p>
            <a:endParaRPr lang="en-US" dirty="0"/>
          </a:p>
          <a:p>
            <a:r>
              <a:rPr lang="en-US" dirty="0"/>
              <a:t>Read several examples.</a:t>
            </a:r>
          </a:p>
          <a:p>
            <a:endParaRPr lang="en-US" dirty="0"/>
          </a:p>
          <a:p>
            <a:r>
              <a:rPr lang="en-US" dirty="0"/>
              <a:t>Login</a:t>
            </a:r>
          </a:p>
          <a:p>
            <a:endParaRPr lang="en-US" dirty="0"/>
          </a:p>
          <a:p>
            <a:r>
              <a:rPr lang="en-US" dirty="0"/>
              <a:t>Register</a:t>
            </a:r>
          </a:p>
          <a:p>
            <a:endParaRPr lang="en-US" dirty="0"/>
          </a:p>
          <a:p>
            <a:r>
              <a:rPr lang="en-US" dirty="0"/>
              <a:t>Create Task</a:t>
            </a:r>
          </a:p>
          <a:p>
            <a:endParaRPr lang="en-US" dirty="0"/>
          </a:p>
          <a:p>
            <a:r>
              <a:rPr lang="en-US" dirty="0"/>
              <a:t>Assign Task</a:t>
            </a:r>
          </a:p>
          <a:p>
            <a:endParaRPr lang="en-US" dirty="0"/>
          </a:p>
          <a:p>
            <a:r>
              <a:rPr lang="en-US" dirty="0"/>
              <a:t>Upload Attachment</a:t>
            </a:r>
          </a:p>
          <a:p>
            <a:endParaRPr lang="en-US" dirty="0"/>
          </a:p>
          <a:p>
            <a:r>
              <a:rPr lang="en-US" dirty="0"/>
              <a:t>Search Tasks</a:t>
            </a:r>
          </a:p>
          <a:p>
            <a:endParaRPr lang="en-US" dirty="0"/>
          </a:p>
          <a:p>
            <a:r>
              <a:rPr lang="en-US" dirty="0"/>
              <a:t>Generate Reports</a:t>
            </a:r>
          </a:p>
          <a:p>
            <a:endParaRPr lang="en-US" dirty="0"/>
          </a:p>
          <a:p>
            <a:r>
              <a:rPr lang="en-US" dirty="0"/>
              <a:t>Reset Password</a:t>
            </a:r>
          </a:p>
          <a:p>
            <a:endParaRPr lang="en-US" dirty="0"/>
          </a:p>
          <a:p>
            <a:r>
              <a:rPr lang="en-US" dirty="0"/>
              <a:t>Explain:</a:t>
            </a:r>
          </a:p>
          <a:p>
            <a:endParaRPr lang="en-US" dirty="0"/>
          </a:p>
          <a:p>
            <a:r>
              <a:rPr lang="en-US" dirty="0"/>
              <a:t>"Functional requirements describe behavior."</a:t>
            </a:r>
          </a:p>
          <a:p>
            <a:endParaRPr lang="en-US" dirty="0"/>
          </a:p>
          <a:p>
            <a:r>
              <a:rPr lang="en-US" dirty="0"/>
              <a:t>"They answer one question..."</a:t>
            </a:r>
          </a:p>
          <a:p>
            <a:endParaRPr lang="en-US" dirty="0"/>
          </a:p>
          <a:p>
            <a:r>
              <a:rPr lang="en-US" dirty="0"/>
              <a:t>"What should the software do?"</a:t>
            </a:r>
          </a:p>
          <a:p>
            <a:endParaRPr lang="en-US" dirty="0"/>
          </a:p>
          <a:p>
            <a:r>
              <a:rPr lang="en-US" dirty="0"/>
              <a:t>Point back to Atlas </a:t>
            </a:r>
            <a:r>
              <a:rPr lang="en-US" dirty="0" err="1"/>
              <a:t>TaskFlow</a:t>
            </a:r>
            <a:r>
              <a:rPr lang="en-US" dirty="0"/>
              <a:t>.</a:t>
            </a:r>
          </a:p>
          <a:p>
            <a:endParaRPr lang="en-US" dirty="0"/>
          </a:p>
          <a:p>
            <a:r>
              <a:rPr lang="en-US" dirty="0"/>
              <a:t>Ask students:</a:t>
            </a:r>
          </a:p>
          <a:p>
            <a:endParaRPr lang="en-US" dirty="0"/>
          </a:p>
          <a:p>
            <a:r>
              <a:rPr lang="en-US" dirty="0"/>
              <a:t>"What other features should our application include?"</a:t>
            </a:r>
          </a:p>
          <a:p>
            <a:endParaRPr lang="en-US" dirty="0"/>
          </a:p>
          <a:p>
            <a:r>
              <a:rPr lang="en-US" dirty="0"/>
              <a:t>Write answers on the board.</a:t>
            </a:r>
          </a:p>
          <a:p>
            <a:endParaRPr lang="en-US" dirty="0"/>
          </a:p>
          <a:p>
            <a:r>
              <a:rPr lang="en-US" dirty="0"/>
              <a:t>------------------------------------------------------------</a:t>
            </a:r>
          </a:p>
          <a:p>
            <a:endParaRPr lang="en-US" dirty="0"/>
          </a:p>
          <a:p>
            <a:r>
              <a:rPr lang="en-US" dirty="0"/>
              <a:t>NON-FUNCTIONAL REQUIREMENTS</a:t>
            </a:r>
          </a:p>
          <a:p>
            <a:endParaRPr lang="en-US" dirty="0"/>
          </a:p>
          <a:p>
            <a:r>
              <a:rPr lang="en-US" dirty="0"/>
              <a:t>Now shift to quality.</a:t>
            </a:r>
          </a:p>
          <a:p>
            <a:endParaRPr lang="en-US" dirty="0"/>
          </a:p>
          <a:p>
            <a:r>
              <a:rPr lang="en-US" dirty="0"/>
              <a:t>Secure</a:t>
            </a:r>
          </a:p>
          <a:p>
            <a:endParaRPr lang="en-US" dirty="0"/>
          </a:p>
          <a:p>
            <a:r>
              <a:rPr lang="en-US" dirty="0"/>
              <a:t>Fast</a:t>
            </a:r>
          </a:p>
          <a:p>
            <a:endParaRPr lang="en-US" dirty="0"/>
          </a:p>
          <a:p>
            <a:r>
              <a:rPr lang="en-US" dirty="0"/>
              <a:t>Reliable</a:t>
            </a:r>
          </a:p>
          <a:p>
            <a:endParaRPr lang="en-US" dirty="0"/>
          </a:p>
          <a:p>
            <a:r>
              <a:rPr lang="en-US" dirty="0"/>
              <a:t>Accessible</a:t>
            </a:r>
          </a:p>
          <a:p>
            <a:endParaRPr lang="en-US" dirty="0"/>
          </a:p>
          <a:p>
            <a:r>
              <a:rPr lang="en-US" dirty="0"/>
              <a:t>Easy to Use</a:t>
            </a:r>
          </a:p>
          <a:p>
            <a:endParaRPr lang="en-US" dirty="0"/>
          </a:p>
          <a:p>
            <a:r>
              <a:rPr lang="en-US" dirty="0"/>
              <a:t>Scalable</a:t>
            </a:r>
          </a:p>
          <a:p>
            <a:endParaRPr lang="en-US" dirty="0"/>
          </a:p>
          <a:p>
            <a:r>
              <a:rPr lang="en-US" dirty="0"/>
              <a:t>Available 24/7</a:t>
            </a:r>
          </a:p>
          <a:p>
            <a:endParaRPr lang="en-US" dirty="0"/>
          </a:p>
          <a:p>
            <a:r>
              <a:rPr lang="en-US" dirty="0"/>
              <a:t>Explain:</a:t>
            </a:r>
          </a:p>
          <a:p>
            <a:endParaRPr lang="en-US" dirty="0"/>
          </a:p>
          <a:p>
            <a:r>
              <a:rPr lang="en-US" dirty="0"/>
              <a:t>"These don't describe features."</a:t>
            </a:r>
          </a:p>
          <a:p>
            <a:endParaRPr lang="en-US" dirty="0"/>
          </a:p>
          <a:p>
            <a:r>
              <a:rPr lang="en-US" dirty="0"/>
              <a:t>"They describe quality."</a:t>
            </a:r>
          </a:p>
          <a:p>
            <a:endParaRPr lang="en-US" dirty="0"/>
          </a:p>
          <a:p>
            <a:r>
              <a:rPr lang="en-US" dirty="0"/>
              <a:t>Ask:</a:t>
            </a:r>
          </a:p>
          <a:p>
            <a:endParaRPr lang="en-US" dirty="0"/>
          </a:p>
          <a:p>
            <a:r>
              <a:rPr lang="en-US" dirty="0"/>
              <a:t>"Would you rather use a feature-rich application that crashes every</a:t>
            </a:r>
          </a:p>
          <a:p>
            <a:r>
              <a:rPr lang="en-US" dirty="0"/>
              <a:t>hour..."</a:t>
            </a:r>
          </a:p>
          <a:p>
            <a:endParaRPr lang="en-US" dirty="0"/>
          </a:p>
          <a:p>
            <a:r>
              <a:rPr lang="en-US" dirty="0"/>
              <a:t>"Or a simple application that always works?"</a:t>
            </a:r>
          </a:p>
          <a:p>
            <a:endParaRPr lang="en-US" dirty="0"/>
          </a:p>
          <a:p>
            <a:r>
              <a:rPr lang="en-US" dirty="0"/>
              <a:t>Students immediately understand the importance.</a:t>
            </a:r>
          </a:p>
          <a:p>
            <a:endParaRPr lang="en-US" dirty="0"/>
          </a:p>
          <a:p>
            <a:r>
              <a:rPr lang="en-US" dirty="0"/>
              <a:t>------------------------------------------------------------</a:t>
            </a:r>
          </a:p>
          <a:p>
            <a:endParaRPr lang="en-US" dirty="0"/>
          </a:p>
          <a:p>
            <a:r>
              <a:rPr lang="en-US" dirty="0"/>
              <a:t>STAKEHOLDERS</a:t>
            </a:r>
          </a:p>
          <a:p>
            <a:endParaRPr lang="en-US" dirty="0"/>
          </a:p>
          <a:p>
            <a:r>
              <a:rPr lang="en-US" dirty="0"/>
              <a:t>Review each stakeholder.</a:t>
            </a:r>
          </a:p>
          <a:p>
            <a:endParaRPr lang="en-US" dirty="0"/>
          </a:p>
          <a:p>
            <a:r>
              <a:rPr lang="en-US" dirty="0"/>
              <a:t>Users</a:t>
            </a:r>
          </a:p>
          <a:p>
            <a:endParaRPr lang="en-US" dirty="0"/>
          </a:p>
          <a:p>
            <a:r>
              <a:rPr lang="en-US" dirty="0"/>
              <a:t>Business Owners</a:t>
            </a:r>
          </a:p>
          <a:p>
            <a:endParaRPr lang="en-US" dirty="0"/>
          </a:p>
          <a:p>
            <a:r>
              <a:rPr lang="en-US" dirty="0"/>
              <a:t>Developers</a:t>
            </a:r>
          </a:p>
          <a:p>
            <a:endParaRPr lang="en-US" dirty="0"/>
          </a:p>
          <a:p>
            <a:r>
              <a:rPr lang="en-US" dirty="0"/>
              <a:t>QA</a:t>
            </a:r>
          </a:p>
          <a:p>
            <a:endParaRPr lang="en-US" dirty="0"/>
          </a:p>
          <a:p>
            <a:r>
              <a:rPr lang="en-US" dirty="0"/>
              <a:t>Operations</a:t>
            </a:r>
          </a:p>
          <a:p>
            <a:endParaRPr lang="en-US" dirty="0"/>
          </a:p>
          <a:p>
            <a:r>
              <a:rPr lang="en-US" dirty="0"/>
              <a:t>Managers</a:t>
            </a:r>
          </a:p>
          <a:p>
            <a:endParaRPr lang="en-US" dirty="0"/>
          </a:p>
          <a:p>
            <a:r>
              <a:rPr lang="en-US" dirty="0"/>
              <a:t>Support</a:t>
            </a:r>
          </a:p>
          <a:p>
            <a:endParaRPr lang="en-US" dirty="0"/>
          </a:p>
          <a:p>
            <a:r>
              <a:rPr lang="en-US" dirty="0"/>
              <a:t>Explain:</a:t>
            </a:r>
          </a:p>
          <a:p>
            <a:endParaRPr lang="en-US" dirty="0"/>
          </a:p>
          <a:p>
            <a:r>
              <a:rPr lang="en-US" dirty="0"/>
              <a:t>"Every stakeholder sees the project differently."</a:t>
            </a:r>
          </a:p>
          <a:p>
            <a:endParaRPr lang="en-US" dirty="0"/>
          </a:p>
          <a:p>
            <a:r>
              <a:rPr lang="en-US" dirty="0"/>
              <a:t>"Our job is to balance those perspectives."</a:t>
            </a:r>
          </a:p>
          <a:p>
            <a:endParaRPr lang="en-US" dirty="0"/>
          </a:p>
          <a:p>
            <a:r>
              <a:rPr lang="en-US" dirty="0"/>
              <a:t>------------------------------------------------------------</a:t>
            </a:r>
          </a:p>
          <a:p>
            <a:endParaRPr lang="en-US" dirty="0"/>
          </a:p>
          <a:p>
            <a:r>
              <a:rPr lang="en-US" dirty="0"/>
              <a:t>REQUIREMENT GATHERING</a:t>
            </a:r>
          </a:p>
          <a:p>
            <a:endParaRPr lang="en-US" dirty="0"/>
          </a:p>
          <a:p>
            <a:r>
              <a:rPr lang="en-US" dirty="0"/>
              <a:t>Review each technique.</a:t>
            </a:r>
          </a:p>
          <a:p>
            <a:endParaRPr lang="en-US" dirty="0"/>
          </a:p>
          <a:p>
            <a:r>
              <a:rPr lang="en-US" dirty="0"/>
              <a:t>Interviews</a:t>
            </a:r>
          </a:p>
          <a:p>
            <a:endParaRPr lang="en-US" dirty="0"/>
          </a:p>
          <a:p>
            <a:r>
              <a:rPr lang="en-US" dirty="0"/>
              <a:t>Observation</a:t>
            </a:r>
          </a:p>
          <a:p>
            <a:endParaRPr lang="en-US" dirty="0"/>
          </a:p>
          <a:p>
            <a:r>
              <a:rPr lang="en-US" dirty="0"/>
              <a:t>Surveys</a:t>
            </a:r>
          </a:p>
          <a:p>
            <a:endParaRPr lang="en-US" dirty="0"/>
          </a:p>
          <a:p>
            <a:r>
              <a:rPr lang="en-US" dirty="0"/>
              <a:t>Workshops</a:t>
            </a:r>
          </a:p>
          <a:p>
            <a:endParaRPr lang="en-US" dirty="0"/>
          </a:p>
          <a:p>
            <a:r>
              <a:rPr lang="en-US" dirty="0"/>
              <a:t>Prototypes</a:t>
            </a:r>
          </a:p>
          <a:p>
            <a:endParaRPr lang="en-US" dirty="0"/>
          </a:p>
          <a:p>
            <a:r>
              <a:rPr lang="en-US" dirty="0"/>
              <a:t>Existing Systems</a:t>
            </a:r>
          </a:p>
          <a:p>
            <a:endParaRPr lang="en-US" dirty="0"/>
          </a:p>
          <a:p>
            <a:r>
              <a:rPr lang="en-US" dirty="0"/>
              <a:t>Brainstorming</a:t>
            </a:r>
          </a:p>
          <a:p>
            <a:endParaRPr lang="en-US" dirty="0"/>
          </a:p>
          <a:p>
            <a:r>
              <a:rPr lang="en-US" dirty="0"/>
              <a:t>Explain:</a:t>
            </a:r>
          </a:p>
          <a:p>
            <a:endParaRPr lang="en-US" dirty="0"/>
          </a:p>
          <a:p>
            <a:r>
              <a:rPr lang="en-US" dirty="0"/>
              <a:t>"There is no single correct way."</a:t>
            </a:r>
          </a:p>
          <a:p>
            <a:endParaRPr lang="en-US" dirty="0"/>
          </a:p>
          <a:p>
            <a:r>
              <a:rPr lang="en-US" dirty="0"/>
              <a:t>"Professional engineers combine multiple techniques."</a:t>
            </a:r>
          </a:p>
          <a:p>
            <a:endParaRPr lang="en-US" dirty="0"/>
          </a:p>
          <a:p>
            <a:r>
              <a:rPr lang="en-US" dirty="0"/>
              <a:t>------------------------------------------------------------</a:t>
            </a:r>
          </a:p>
          <a:p>
            <a:endParaRPr lang="en-US" dirty="0"/>
          </a:p>
          <a:p>
            <a:r>
              <a:rPr lang="en-US" dirty="0"/>
              <a:t>ENGINEERING INSIGHT</a:t>
            </a:r>
          </a:p>
          <a:p>
            <a:endParaRPr lang="en-US" dirty="0"/>
          </a:p>
          <a:p>
            <a:r>
              <a:rPr lang="en-US" dirty="0"/>
              <a:t>Read the statement.</a:t>
            </a:r>
          </a:p>
          <a:p>
            <a:endParaRPr lang="en-US" dirty="0"/>
          </a:p>
          <a:p>
            <a:r>
              <a:rPr lang="en-US" dirty="0"/>
              <a:t>"Poor requirements create expensive software problems."</a:t>
            </a:r>
          </a:p>
          <a:p>
            <a:endParaRPr lang="en-US" dirty="0"/>
          </a:p>
          <a:p>
            <a:r>
              <a:rPr lang="en-US" dirty="0"/>
              <a:t>Pause.</a:t>
            </a:r>
          </a:p>
          <a:p>
            <a:endParaRPr lang="en-US" dirty="0"/>
          </a:p>
          <a:p>
            <a:r>
              <a:rPr lang="en-US" dirty="0"/>
              <a:t>Explain.</a:t>
            </a:r>
          </a:p>
          <a:p>
            <a:endParaRPr lang="en-US" dirty="0"/>
          </a:p>
          <a:p>
            <a:r>
              <a:rPr lang="en-US" dirty="0"/>
              <a:t>"Changing one requirement after deployment can cost hundreds—or even</a:t>
            </a:r>
          </a:p>
          <a:p>
            <a:r>
              <a:rPr lang="en-US" dirty="0"/>
              <a:t>thousands—of times more than changing it during planning."</a:t>
            </a:r>
          </a:p>
          <a:p>
            <a:endParaRPr lang="en-US" dirty="0"/>
          </a:p>
          <a:p>
            <a:r>
              <a:rPr lang="en-US" dirty="0"/>
              <a:t>That's why Requirements Engineering exists.</a:t>
            </a:r>
          </a:p>
          <a:p>
            <a:endParaRPr lang="en-US" dirty="0"/>
          </a:p>
          <a:p>
            <a:r>
              <a:rPr lang="en-US" dirty="0"/>
              <a:t>------------------------------------------------------------</a:t>
            </a:r>
          </a:p>
          <a:p>
            <a:endParaRPr lang="en-US" dirty="0"/>
          </a:p>
          <a:p>
            <a:r>
              <a:rPr lang="en-US" dirty="0"/>
              <a:t>ATLAS ARCHITECTURE SPOTLIGHT</a:t>
            </a:r>
          </a:p>
          <a:p>
            <a:endParaRPr lang="en-US" dirty="0"/>
          </a:p>
          <a:p>
            <a:r>
              <a:rPr lang="en-US" dirty="0"/>
              <a:t>Canvas LMS</a:t>
            </a:r>
          </a:p>
          <a:p>
            <a:endParaRPr lang="en-US" dirty="0"/>
          </a:p>
          <a:p>
            <a:r>
              <a:rPr lang="en-US" dirty="0"/>
              <a:t>Ask students:</a:t>
            </a:r>
          </a:p>
          <a:p>
            <a:endParaRPr lang="en-US" dirty="0"/>
          </a:p>
          <a:p>
            <a:r>
              <a:rPr lang="en-US" dirty="0"/>
              <a:t>"What functional requirements does Canvas satisfy?"</a:t>
            </a:r>
          </a:p>
          <a:p>
            <a:endParaRPr lang="en-US" dirty="0"/>
          </a:p>
          <a:p>
            <a:r>
              <a:rPr lang="en-US" dirty="0"/>
              <a:t>Collect answers.</a:t>
            </a:r>
          </a:p>
          <a:p>
            <a:endParaRPr lang="en-US" dirty="0"/>
          </a:p>
          <a:p>
            <a:r>
              <a:rPr lang="en-US" dirty="0"/>
              <a:t>Then ask:</a:t>
            </a:r>
          </a:p>
          <a:p>
            <a:endParaRPr lang="en-US" dirty="0"/>
          </a:p>
          <a:p>
            <a:r>
              <a:rPr lang="en-US" dirty="0"/>
              <a:t>"What non-functional requirements must Canvas satisfy?"</a:t>
            </a:r>
          </a:p>
          <a:p>
            <a:endParaRPr lang="en-US" dirty="0"/>
          </a:p>
          <a:p>
            <a:r>
              <a:rPr lang="en-US" dirty="0"/>
              <a:t>Guide discussion toward:</a:t>
            </a:r>
          </a:p>
          <a:p>
            <a:endParaRPr lang="en-US" dirty="0"/>
          </a:p>
          <a:p>
            <a:r>
              <a:rPr lang="en-US" dirty="0"/>
              <a:t>Security</a:t>
            </a:r>
          </a:p>
          <a:p>
            <a:endParaRPr lang="en-US" dirty="0"/>
          </a:p>
          <a:p>
            <a:r>
              <a:rPr lang="en-US" dirty="0"/>
              <a:t>Availability</a:t>
            </a:r>
          </a:p>
          <a:p>
            <a:endParaRPr lang="en-US" dirty="0"/>
          </a:p>
          <a:p>
            <a:r>
              <a:rPr lang="en-US" dirty="0"/>
              <a:t>Accessibility</a:t>
            </a:r>
          </a:p>
          <a:p>
            <a:endParaRPr lang="en-US" dirty="0"/>
          </a:p>
          <a:p>
            <a:r>
              <a:rPr lang="en-US" dirty="0"/>
              <a:t>Performance</a:t>
            </a:r>
          </a:p>
          <a:p>
            <a:endParaRPr lang="en-US" dirty="0"/>
          </a:p>
          <a:p>
            <a:r>
              <a:rPr lang="en-US" dirty="0"/>
              <a:t>Scalability</a:t>
            </a:r>
          </a:p>
          <a:p>
            <a:endParaRPr lang="en-US" dirty="0"/>
          </a:p>
          <a:p>
            <a:r>
              <a:rPr lang="en-US" dirty="0"/>
              <a:t>Explain:</a:t>
            </a:r>
          </a:p>
          <a:p>
            <a:endParaRPr lang="en-US" dirty="0"/>
          </a:p>
          <a:p>
            <a:r>
              <a:rPr lang="en-US" dirty="0"/>
              <a:t>"We're beginning to think like software architects."</a:t>
            </a:r>
          </a:p>
          <a:p>
            <a:endParaRPr lang="en-US" dirty="0"/>
          </a:p>
          <a:p>
            <a:r>
              <a:rPr lang="en-US" dirty="0"/>
              <a:t>------------------------------------------------------------</a:t>
            </a:r>
          </a:p>
          <a:p>
            <a:endParaRPr lang="en-US" dirty="0"/>
          </a:p>
          <a:p>
            <a:r>
              <a:rPr lang="en-US" dirty="0"/>
              <a:t>ENGINEERING STORY</a:t>
            </a:r>
          </a:p>
          <a:p>
            <a:endParaRPr lang="en-US" dirty="0"/>
          </a:p>
          <a:p>
            <a:r>
              <a:rPr lang="en-US" dirty="0"/>
              <a:t>Tell the SCC Food Pantry story.</a:t>
            </a:r>
          </a:p>
          <a:p>
            <a:endParaRPr lang="en-US" dirty="0"/>
          </a:p>
          <a:p>
            <a:r>
              <a:rPr lang="en-US" dirty="0"/>
              <a:t>Focus on the meetings.</a:t>
            </a:r>
          </a:p>
          <a:p>
            <a:endParaRPr lang="en-US" dirty="0"/>
          </a:p>
          <a:p>
            <a:r>
              <a:rPr lang="en-US" dirty="0"/>
              <a:t>The questions.</a:t>
            </a:r>
          </a:p>
          <a:p>
            <a:endParaRPr lang="en-US" dirty="0"/>
          </a:p>
          <a:p>
            <a:r>
              <a:rPr lang="en-US" dirty="0"/>
              <a:t>The changing requirements.</a:t>
            </a:r>
          </a:p>
          <a:p>
            <a:endParaRPr lang="en-US" dirty="0"/>
          </a:p>
          <a:p>
            <a:r>
              <a:rPr lang="en-US" dirty="0"/>
              <a:t>Explain:</a:t>
            </a:r>
          </a:p>
          <a:p>
            <a:endParaRPr lang="en-US" dirty="0"/>
          </a:p>
          <a:p>
            <a:r>
              <a:rPr lang="en-US" dirty="0"/>
              <a:t>"We discovered the real problem by listening."</a:t>
            </a:r>
          </a:p>
          <a:p>
            <a:endParaRPr lang="en-US" dirty="0"/>
          </a:p>
          <a:p>
            <a:r>
              <a:rPr lang="en-US" dirty="0"/>
              <a:t>"Every meeting improved the design."</a:t>
            </a:r>
          </a:p>
          <a:p>
            <a:endParaRPr lang="en-US" dirty="0"/>
          </a:p>
          <a:p>
            <a:r>
              <a:rPr lang="en-US" dirty="0"/>
              <a:t>That's exactly what Requirements Engineering is.</a:t>
            </a:r>
          </a:p>
          <a:p>
            <a:endParaRPr lang="en-US" dirty="0"/>
          </a:p>
          <a:p>
            <a:r>
              <a:rPr lang="en-US" dirty="0"/>
              <a:t>------------------------------------------------------------</a:t>
            </a:r>
          </a:p>
          <a:p>
            <a:endParaRPr lang="en-US" dirty="0"/>
          </a:p>
          <a:p>
            <a:r>
              <a:rPr lang="en-US" dirty="0"/>
              <a:t>ATLAS DESIGN CHALLENGE</a:t>
            </a:r>
          </a:p>
          <a:p>
            <a:endParaRPr lang="en-US" dirty="0"/>
          </a:p>
          <a:p>
            <a:r>
              <a:rPr lang="en-US" dirty="0"/>
              <a:t>Introduce Challenge #1.</a:t>
            </a:r>
          </a:p>
          <a:p>
            <a:endParaRPr lang="en-US" dirty="0"/>
          </a:p>
          <a:p>
            <a:r>
              <a:rPr lang="en-US" dirty="0"/>
              <a:t>Choose an everyday object.</a:t>
            </a:r>
          </a:p>
          <a:p>
            <a:endParaRPr lang="en-US" dirty="0"/>
          </a:p>
          <a:p>
            <a:r>
              <a:rPr lang="en-US" dirty="0"/>
              <a:t>Examples:</a:t>
            </a:r>
          </a:p>
          <a:p>
            <a:endParaRPr lang="en-US" dirty="0"/>
          </a:p>
          <a:p>
            <a:r>
              <a:rPr lang="en-US" dirty="0"/>
              <a:t>Coffee Mug</a:t>
            </a:r>
          </a:p>
          <a:p>
            <a:endParaRPr lang="en-US" dirty="0"/>
          </a:p>
          <a:p>
            <a:r>
              <a:rPr lang="en-US" dirty="0"/>
              <a:t>Backpack</a:t>
            </a:r>
          </a:p>
          <a:p>
            <a:endParaRPr lang="en-US" dirty="0"/>
          </a:p>
          <a:p>
            <a:r>
              <a:rPr lang="en-US" dirty="0"/>
              <a:t>Laptop</a:t>
            </a:r>
          </a:p>
          <a:p>
            <a:endParaRPr lang="en-US" dirty="0"/>
          </a:p>
          <a:p>
            <a:r>
              <a:rPr lang="en-US" dirty="0"/>
              <a:t>Phone</a:t>
            </a:r>
          </a:p>
          <a:p>
            <a:endParaRPr lang="en-US" dirty="0"/>
          </a:p>
          <a:p>
            <a:r>
              <a:rPr lang="en-US" dirty="0"/>
              <a:t>Bicycle</a:t>
            </a:r>
          </a:p>
          <a:p>
            <a:endParaRPr lang="en-US" dirty="0"/>
          </a:p>
          <a:p>
            <a:r>
              <a:rPr lang="en-US" dirty="0"/>
              <a:t>Headphones</a:t>
            </a:r>
          </a:p>
          <a:p>
            <a:endParaRPr lang="en-US" dirty="0"/>
          </a:p>
          <a:p>
            <a:r>
              <a:rPr lang="en-US" dirty="0"/>
              <a:t>Write:</a:t>
            </a:r>
          </a:p>
          <a:p>
            <a:endParaRPr lang="en-US" dirty="0"/>
          </a:p>
          <a:p>
            <a:r>
              <a:rPr lang="en-US" dirty="0"/>
              <a:t>Five Functional Requirements</a:t>
            </a:r>
          </a:p>
          <a:p>
            <a:endParaRPr lang="en-US" dirty="0"/>
          </a:p>
          <a:p>
            <a:r>
              <a:rPr lang="en-US" dirty="0"/>
              <a:t>Five Non-Functional Requirements</a:t>
            </a:r>
          </a:p>
          <a:p>
            <a:endParaRPr lang="en-US" dirty="0"/>
          </a:p>
          <a:p>
            <a:r>
              <a:rPr lang="en-US" dirty="0"/>
              <a:t>Give students five minutes.</a:t>
            </a:r>
          </a:p>
          <a:p>
            <a:endParaRPr lang="en-US" dirty="0"/>
          </a:p>
          <a:p>
            <a:r>
              <a:rPr lang="en-US" dirty="0"/>
              <a:t>Then discuss.</a:t>
            </a:r>
          </a:p>
          <a:p>
            <a:endParaRPr lang="en-US" dirty="0"/>
          </a:p>
          <a:p>
            <a:r>
              <a:rPr lang="en-US" dirty="0"/>
              <a:t>------------------------------------------------------------</a:t>
            </a:r>
          </a:p>
          <a:p>
            <a:endParaRPr lang="en-US" dirty="0"/>
          </a:p>
          <a:p>
            <a:r>
              <a:rPr lang="en-US" dirty="0"/>
              <a:t>CLASS DISCUSSION</a:t>
            </a:r>
          </a:p>
          <a:p>
            <a:endParaRPr lang="en-US" dirty="0"/>
          </a:p>
          <a:p>
            <a:r>
              <a:rPr lang="en-US" dirty="0"/>
              <a:t>Now return to Atlas </a:t>
            </a:r>
            <a:r>
              <a:rPr lang="en-US" dirty="0" err="1"/>
              <a:t>TaskFlow</a:t>
            </a:r>
            <a:r>
              <a:rPr lang="en-US" dirty="0"/>
              <a:t>.</a:t>
            </a:r>
          </a:p>
          <a:p>
            <a:endParaRPr lang="en-US" dirty="0"/>
          </a:p>
          <a:p>
            <a:r>
              <a:rPr lang="en-US" dirty="0"/>
              <a:t>Ask:</a:t>
            </a:r>
          </a:p>
          <a:p>
            <a:endParaRPr lang="en-US" dirty="0"/>
          </a:p>
          <a:p>
            <a:r>
              <a:rPr lang="en-US" dirty="0"/>
              <a:t>"If you were the client..."</a:t>
            </a:r>
          </a:p>
          <a:p>
            <a:endParaRPr lang="en-US" dirty="0"/>
          </a:p>
          <a:p>
            <a:r>
              <a:rPr lang="en-US" dirty="0"/>
              <a:t>"What would you absolutely expect our application to do?"</a:t>
            </a:r>
          </a:p>
          <a:p>
            <a:endParaRPr lang="en-US" dirty="0"/>
          </a:p>
          <a:p>
            <a:r>
              <a:rPr lang="en-US" dirty="0"/>
              <a:t>Record responses.</a:t>
            </a:r>
          </a:p>
          <a:p>
            <a:endParaRPr lang="en-US" dirty="0"/>
          </a:p>
          <a:p>
            <a:r>
              <a:rPr lang="en-US" dirty="0"/>
              <a:t>Tell students:</a:t>
            </a:r>
          </a:p>
          <a:p>
            <a:endParaRPr lang="en-US" dirty="0"/>
          </a:p>
          <a:p>
            <a:r>
              <a:rPr lang="en-US" dirty="0"/>
              <a:t>"Congratulations."</a:t>
            </a:r>
          </a:p>
          <a:p>
            <a:endParaRPr lang="en-US" dirty="0"/>
          </a:p>
          <a:p>
            <a:r>
              <a:rPr lang="en-US" dirty="0"/>
              <a:t>"You've just begun writing software requirements."</a:t>
            </a:r>
          </a:p>
          <a:p>
            <a:endParaRPr lang="en-US" dirty="0"/>
          </a:p>
          <a:p>
            <a:r>
              <a:rPr lang="en-US" dirty="0"/>
              <a:t>------------------------------------------------------------</a:t>
            </a:r>
          </a:p>
          <a:p>
            <a:endParaRPr lang="en-US" dirty="0"/>
          </a:p>
          <a:p>
            <a:r>
              <a:rPr lang="en-US" dirty="0"/>
              <a:t>ENGINEERING LESSON</a:t>
            </a:r>
          </a:p>
          <a:p>
            <a:endParaRPr lang="en-US" dirty="0"/>
          </a:p>
          <a:p>
            <a:r>
              <a:rPr lang="en-US" dirty="0"/>
              <a:t>Read the quote.</a:t>
            </a:r>
          </a:p>
          <a:p>
            <a:endParaRPr lang="en-US" dirty="0"/>
          </a:p>
          <a:p>
            <a:r>
              <a:rPr lang="en-US" dirty="0"/>
              <a:t>"The most expensive bug is building exactly what nobody needed."</a:t>
            </a:r>
          </a:p>
          <a:p>
            <a:endParaRPr lang="en-US" dirty="0"/>
          </a:p>
          <a:p>
            <a:r>
              <a:rPr lang="en-US" dirty="0"/>
              <a:t>Pause.</a:t>
            </a:r>
          </a:p>
          <a:p>
            <a:endParaRPr lang="en-US" dirty="0"/>
          </a:p>
          <a:p>
            <a:r>
              <a:rPr lang="en-US" dirty="0"/>
              <a:t>Explain.</a:t>
            </a:r>
          </a:p>
          <a:p>
            <a:endParaRPr lang="en-US" dirty="0"/>
          </a:p>
          <a:p>
            <a:r>
              <a:rPr lang="en-US" dirty="0"/>
              <a:t>"Software engineering isn't just about writing software."</a:t>
            </a:r>
          </a:p>
          <a:p>
            <a:endParaRPr lang="en-US" dirty="0"/>
          </a:p>
          <a:p>
            <a:r>
              <a:rPr lang="en-US" dirty="0"/>
              <a:t>"It's about solving the correct problem."</a:t>
            </a:r>
          </a:p>
          <a:p>
            <a:endParaRPr lang="en-US" dirty="0"/>
          </a:p>
          <a:p>
            <a:r>
              <a:rPr lang="en-US" dirty="0"/>
              <a:t>------------------------------------------------------------</a:t>
            </a:r>
          </a:p>
          <a:p>
            <a:endParaRPr lang="en-US" dirty="0"/>
          </a:p>
          <a:p>
            <a:r>
              <a:rPr lang="en-US" dirty="0"/>
              <a:t>TRANSITION</a:t>
            </a:r>
          </a:p>
          <a:p>
            <a:endParaRPr lang="en-US" dirty="0"/>
          </a:p>
          <a:p>
            <a:r>
              <a:rPr lang="en-US" dirty="0"/>
              <a:t>"Now we know how to discover requirements."</a:t>
            </a:r>
          </a:p>
          <a:p>
            <a:endParaRPr lang="en-US" dirty="0"/>
          </a:p>
          <a:p>
            <a:r>
              <a:rPr lang="en-US" dirty="0"/>
              <a:t>"But software teams don't keep these ideas in long documents."</a:t>
            </a:r>
          </a:p>
          <a:p>
            <a:endParaRPr lang="en-US" dirty="0"/>
          </a:p>
          <a:p>
            <a:r>
              <a:rPr lang="en-US" dirty="0"/>
              <a:t>"They organize them into something much simpler."</a:t>
            </a:r>
          </a:p>
          <a:p>
            <a:endParaRPr lang="en-US" dirty="0"/>
          </a:p>
          <a:p>
            <a:r>
              <a:rPr lang="en-US" dirty="0"/>
              <a:t>"Our next lesson..."</a:t>
            </a:r>
          </a:p>
          <a:p>
            <a:endParaRPr lang="en-US" dirty="0"/>
          </a:p>
          <a:p>
            <a:r>
              <a:rPr lang="en-US" dirty="0"/>
              <a:t>"User Stories."</a:t>
            </a:r>
          </a:p>
          <a:p>
            <a:endParaRPr lang="en-US" dirty="0"/>
          </a:p>
          <a:p>
            <a:r>
              <a:rPr lang="en-US" dirty="0"/>
              <a:t>------------------------------------------------------------</a:t>
            </a:r>
          </a:p>
          <a:p>
            <a:endParaRPr lang="en-US" dirty="0"/>
          </a:p>
          <a:p>
            <a:r>
              <a:rPr lang="en-US" dirty="0"/>
              <a:t>ESTIMATED TIME</a:t>
            </a:r>
          </a:p>
          <a:p>
            <a:endParaRPr lang="en-US" dirty="0"/>
          </a:p>
          <a:p>
            <a:r>
              <a:rPr lang="en-US" dirty="0"/>
              <a:t>Introduction...................5 minutes</a:t>
            </a:r>
          </a:p>
          <a:p>
            <a:endParaRPr lang="en-US" dirty="0"/>
          </a:p>
          <a:p>
            <a:r>
              <a:rPr lang="en-US" dirty="0"/>
              <a:t>Requirements...................10 minutes</a:t>
            </a:r>
          </a:p>
          <a:p>
            <a:endParaRPr lang="en-US" dirty="0"/>
          </a:p>
          <a:p>
            <a:r>
              <a:rPr lang="en-US" dirty="0"/>
              <a:t>Functional vs Non-functional...12 minutes</a:t>
            </a:r>
          </a:p>
          <a:p>
            <a:endParaRPr lang="en-US" dirty="0"/>
          </a:p>
          <a:p>
            <a:r>
              <a:rPr lang="en-US" dirty="0"/>
              <a:t>Stakeholders...................5 minutes</a:t>
            </a:r>
          </a:p>
          <a:p>
            <a:endParaRPr lang="en-US" dirty="0"/>
          </a:p>
          <a:p>
            <a:r>
              <a:rPr lang="en-US" dirty="0"/>
              <a:t>Architecture Spotlight.........8 minutes</a:t>
            </a:r>
          </a:p>
          <a:p>
            <a:endParaRPr lang="en-US" dirty="0"/>
          </a:p>
          <a:p>
            <a:r>
              <a:rPr lang="en-US" dirty="0"/>
              <a:t>Design Challenge...............7 minutes</a:t>
            </a:r>
          </a:p>
          <a:p>
            <a:endParaRPr lang="en-US" dirty="0"/>
          </a:p>
          <a:p>
            <a:r>
              <a:rPr lang="en-US" dirty="0"/>
              <a:t>Discussion.....................8 minutes</a:t>
            </a:r>
          </a:p>
          <a:p>
            <a:endParaRPr lang="en-US" dirty="0"/>
          </a:p>
          <a:p>
            <a:r>
              <a:rPr lang="en-US" dirty="0"/>
              <a:t>Transition.....................3 minutes</a:t>
            </a:r>
          </a:p>
          <a:p>
            <a:endParaRPr lang="en-US" dirty="0"/>
          </a:p>
          <a:p>
            <a:r>
              <a:rPr lang="en-US" dirty="0"/>
              <a:t>Total..........................58 minutes</a:t>
            </a:r>
          </a:p>
          <a:p>
            <a:endParaRPr lang="en-US" dirty="0"/>
          </a:p>
          <a:p>
            <a:r>
              <a:rPr lang="en-US" dirty="0"/>
              <a:t>------------------------------------------------------------</a:t>
            </a:r>
          </a:p>
          <a:p>
            <a:endParaRPr lang="en-US" dirty="0"/>
          </a:p>
          <a:p>
            <a:r>
              <a:rPr lang="en-US" dirty="0"/>
              <a:t>INSTRUCTOR NOTES</a:t>
            </a:r>
          </a:p>
          <a:p>
            <a:endParaRPr lang="en-US" dirty="0"/>
          </a:p>
          <a:p>
            <a:r>
              <a:rPr lang="en-US" dirty="0"/>
              <a:t>Keep the lecture conversational.</a:t>
            </a:r>
          </a:p>
          <a:p>
            <a:endParaRPr lang="en-US" dirty="0"/>
          </a:p>
          <a:p>
            <a:r>
              <a:rPr lang="en-US" dirty="0"/>
              <a:t>Frequently connect every concept back to Atlas </a:t>
            </a:r>
            <a:r>
              <a:rPr lang="en-US" dirty="0" err="1"/>
              <a:t>TaskFlow</a:t>
            </a:r>
            <a:r>
              <a:rPr lang="en-US" dirty="0"/>
              <a:t>.</a:t>
            </a:r>
          </a:p>
          <a:p>
            <a:endParaRPr lang="en-US" dirty="0"/>
          </a:p>
          <a:p>
            <a:r>
              <a:rPr lang="en-US" dirty="0"/>
              <a:t>When students suggest features...</a:t>
            </a:r>
          </a:p>
          <a:p>
            <a:endParaRPr lang="en-US" dirty="0"/>
          </a:p>
          <a:p>
            <a:r>
              <a:rPr lang="en-US" dirty="0"/>
              <a:t>Treat them as if they are participating in a real requirements meeting.</a:t>
            </a:r>
          </a:p>
          <a:p>
            <a:endParaRPr lang="en-US" dirty="0"/>
          </a:p>
          <a:p>
            <a:r>
              <a:rPr lang="en-US" dirty="0"/>
              <a:t>Write ideas on the board.</a:t>
            </a:r>
          </a:p>
          <a:p>
            <a:endParaRPr lang="en-US" dirty="0"/>
          </a:p>
          <a:p>
            <a:r>
              <a:rPr lang="en-US" dirty="0"/>
              <a:t>Challenge assumptions.</a:t>
            </a:r>
          </a:p>
          <a:p>
            <a:endParaRPr lang="en-US" dirty="0"/>
          </a:p>
          <a:p>
            <a:r>
              <a:rPr lang="en-US" dirty="0"/>
              <a:t>Ask follow-up questions.</a:t>
            </a:r>
          </a:p>
          <a:p>
            <a:endParaRPr lang="en-US" dirty="0"/>
          </a:p>
          <a:p>
            <a:r>
              <a:rPr lang="en-US" dirty="0"/>
              <a:t>This should feel like the first client workshop.</a:t>
            </a:r>
          </a:p>
          <a:p>
            <a:endParaRPr lang="en-US" dirty="0"/>
          </a:p>
          <a:p>
            <a:r>
              <a:rPr lang="en-US" dirty="0"/>
              <a:t>Close with:</a:t>
            </a:r>
          </a:p>
          <a:p>
            <a:endParaRPr lang="en-US" dirty="0"/>
          </a:p>
          <a:p>
            <a:r>
              <a:rPr lang="en-US" dirty="0"/>
              <a:t>"Every successful software application begins with understanding</a:t>
            </a:r>
          </a:p>
          <a:p>
            <a:r>
              <a:rPr lang="en-US" dirty="0"/>
              <a:t>people."</a:t>
            </a:r>
          </a:p>
          <a:p>
            <a:endParaRPr lang="en-US" dirty="0"/>
          </a:p>
          <a:p>
            <a:r>
              <a:rPr lang="en-US" dirty="0"/>
              <a:t>"Today..."</a:t>
            </a:r>
          </a:p>
          <a:p>
            <a:endParaRPr lang="en-US" dirty="0"/>
          </a:p>
          <a:p>
            <a:r>
              <a:rPr lang="en-US" dirty="0"/>
              <a:t>"We took the first step toward building Atlas </a:t>
            </a:r>
            <a:r>
              <a:rPr lang="en-US" dirty="0" err="1"/>
              <a:t>TaskFlow</a:t>
            </a:r>
            <a:r>
              <a:rPr lang="en-US" dirty="0"/>
              <a:t>."</a:t>
            </a:r>
          </a:p>
          <a:p>
            <a:endParaRPr lang="en-US" dirty="0"/>
          </a:p>
          <a:p>
            <a:r>
              <a:rPr lang="en-US"/>
              <a:t>============================================================</a:t>
            </a:r>
          </a:p>
        </p:txBody>
      </p:sp>
      <p:sp>
        <p:nvSpPr>
          <p:cNvPr id="4" name="Slide Number Placeholder 3"/>
          <p:cNvSpPr>
            <a:spLocks noGrp="1"/>
          </p:cNvSpPr>
          <p:nvPr>
            <p:ph type="sldNum" sz="quarter" idx="5"/>
          </p:nvPr>
        </p:nvSpPr>
        <p:spPr/>
        <p:txBody>
          <a:bodyPr/>
          <a:lstStyle/>
          <a:p>
            <a:fld id="{12CFA81F-48ED-4EC0-89DB-73FF3AF92981}" type="slidenum">
              <a:rPr lang="en-US" smtClean="0"/>
              <a:t>2</a:t>
            </a:fld>
            <a:endParaRPr lang="en-US"/>
          </a:p>
        </p:txBody>
      </p:sp>
    </p:spTree>
    <p:extLst>
      <p:ext uri="{BB962C8B-B14F-4D97-AF65-F5344CB8AC3E}">
        <p14:creationId xmlns:p14="http://schemas.microsoft.com/office/powerpoint/2010/main" val="20043302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endParaRPr lang="en-US" dirty="0"/>
          </a:p>
          <a:p>
            <a:r>
              <a:rPr lang="en-US" dirty="0"/>
              <a:t>SPRINT 3</a:t>
            </a:r>
          </a:p>
          <a:p>
            <a:endParaRPr lang="en-US" dirty="0"/>
          </a:p>
          <a:p>
            <a:r>
              <a:rPr lang="en-US" dirty="0"/>
              <a:t>ARTIFACT XXXV</a:t>
            </a:r>
          </a:p>
          <a:p>
            <a:endParaRPr lang="en-US" dirty="0"/>
          </a:p>
          <a:p>
            <a:r>
              <a:rPr lang="en-US" dirty="0"/>
              <a:t>USER STORIES</a:t>
            </a:r>
          </a:p>
          <a:p>
            <a:endParaRPr lang="en-US" dirty="0"/>
          </a:p>
          <a:p>
            <a:r>
              <a:rPr lang="en-US" dirty="0"/>
              <a:t>============================================================</a:t>
            </a:r>
          </a:p>
          <a:p>
            <a:endParaRPr lang="en-US" dirty="0"/>
          </a:p>
          <a:p>
            <a:r>
              <a:rPr lang="en-US" dirty="0"/>
              <a:t>SLIDE PURPOSE</a:t>
            </a:r>
          </a:p>
          <a:p>
            <a:endParaRPr lang="en-US" dirty="0"/>
          </a:p>
          <a:p>
            <a:r>
              <a:rPr lang="en-US" dirty="0"/>
              <a:t>Introduce students to Agile User Stories and demonstrate how software</a:t>
            </a:r>
          </a:p>
          <a:p>
            <a:r>
              <a:rPr lang="en-US" dirty="0"/>
              <a:t>requirements are transformed into user-centered development tasks.</a:t>
            </a:r>
          </a:p>
          <a:p>
            <a:endParaRPr lang="en-US" dirty="0"/>
          </a:p>
          <a:p>
            <a:r>
              <a:rPr lang="en-US" dirty="0"/>
              <a:t>Students should understand that software is not built around features;</a:t>
            </a:r>
          </a:p>
          <a:p>
            <a:r>
              <a:rPr lang="en-US" dirty="0"/>
              <a:t>it is built around solving problems for real people.</a:t>
            </a:r>
          </a:p>
          <a:p>
            <a:endParaRPr lang="en-US" dirty="0"/>
          </a:p>
          <a:p>
            <a:r>
              <a:rPr lang="en-US" dirty="0"/>
              <a:t>Every User Story they create today will become part of the Atlas</a:t>
            </a:r>
          </a:p>
          <a:p>
            <a:r>
              <a:rPr lang="en-US" dirty="0" err="1"/>
              <a:t>TaskFlow</a:t>
            </a:r>
            <a:r>
              <a:rPr lang="en-US" dirty="0"/>
              <a:t> Product Backlog later in Sprint 3.</a:t>
            </a:r>
          </a:p>
          <a:p>
            <a:endParaRPr lang="en-US" dirty="0"/>
          </a:p>
          <a:p>
            <a:r>
              <a:rPr lang="en-US" dirty="0"/>
              <a:t>------------------------------------------------------------</a:t>
            </a:r>
          </a:p>
          <a:p>
            <a:endParaRPr lang="en-US" dirty="0"/>
          </a:p>
          <a:p>
            <a:r>
              <a:rPr lang="en-US" dirty="0"/>
              <a:t>OPENING</a:t>
            </a:r>
          </a:p>
          <a:p>
            <a:endParaRPr lang="en-US" dirty="0"/>
          </a:p>
          <a:p>
            <a:r>
              <a:rPr lang="en-US" dirty="0"/>
              <a:t>"Last class we gathered requirements."</a:t>
            </a:r>
          </a:p>
          <a:p>
            <a:endParaRPr lang="en-US" dirty="0"/>
          </a:p>
          <a:p>
            <a:r>
              <a:rPr lang="en-US" dirty="0"/>
              <a:t>"We asked what the software should do."</a:t>
            </a:r>
          </a:p>
          <a:p>
            <a:endParaRPr lang="en-US" dirty="0"/>
          </a:p>
          <a:p>
            <a:r>
              <a:rPr lang="en-US" dirty="0"/>
              <a:t>"But professional Agile teams rarely work from long requirement</a:t>
            </a:r>
          </a:p>
          <a:p>
            <a:r>
              <a:rPr lang="en-US" dirty="0"/>
              <a:t>documents."</a:t>
            </a:r>
          </a:p>
          <a:p>
            <a:endParaRPr lang="en-US" dirty="0"/>
          </a:p>
          <a:p>
            <a:r>
              <a:rPr lang="en-US" dirty="0"/>
              <a:t>"They organize work into something much simpler."</a:t>
            </a:r>
          </a:p>
          <a:p>
            <a:endParaRPr lang="en-US" dirty="0"/>
          </a:p>
          <a:p>
            <a:r>
              <a:rPr lang="en-US" dirty="0"/>
              <a:t>"They use User Stories."</a:t>
            </a:r>
          </a:p>
          <a:p>
            <a:endParaRPr lang="en-US" dirty="0"/>
          </a:p>
          <a:p>
            <a:r>
              <a:rPr lang="en-US" dirty="0"/>
              <a:t>Pause.</a:t>
            </a:r>
          </a:p>
          <a:p>
            <a:endParaRPr lang="en-US" dirty="0"/>
          </a:p>
          <a:p>
            <a:r>
              <a:rPr lang="en-US" dirty="0"/>
              <a:t>"Today we'll learn how to think from the user's perspective."</a:t>
            </a:r>
          </a:p>
          <a:p>
            <a:endParaRPr lang="en-US" dirty="0"/>
          </a:p>
          <a:p>
            <a:r>
              <a:rPr lang="en-US" dirty="0"/>
              <a:t>------------------------------------------------------------</a:t>
            </a:r>
          </a:p>
          <a:p>
            <a:endParaRPr lang="en-US" dirty="0"/>
          </a:p>
          <a:p>
            <a:r>
              <a:rPr lang="en-US" dirty="0"/>
              <a:t>CONNECT TO TASKFLOW</a:t>
            </a:r>
          </a:p>
          <a:p>
            <a:endParaRPr lang="en-US" dirty="0"/>
          </a:p>
          <a:p>
            <a:r>
              <a:rPr lang="en-US" dirty="0"/>
              <a:t>Point to Atlas </a:t>
            </a:r>
            <a:r>
              <a:rPr lang="en-US" dirty="0" err="1"/>
              <a:t>TaskFlow</a:t>
            </a:r>
            <a:r>
              <a:rPr lang="en-US" dirty="0"/>
              <a:t>.</a:t>
            </a:r>
          </a:p>
          <a:p>
            <a:endParaRPr lang="en-US" dirty="0"/>
          </a:p>
          <a:p>
            <a:r>
              <a:rPr lang="en-US" dirty="0"/>
              <a:t>"Remember our client?"</a:t>
            </a:r>
          </a:p>
          <a:p>
            <a:endParaRPr lang="en-US" dirty="0"/>
          </a:p>
          <a:p>
            <a:r>
              <a:rPr lang="en-US" dirty="0"/>
              <a:t>"They don't want a list of technical features."</a:t>
            </a:r>
          </a:p>
          <a:p>
            <a:endParaRPr lang="en-US" dirty="0"/>
          </a:p>
          <a:p>
            <a:r>
              <a:rPr lang="en-US" dirty="0"/>
              <a:t>"They want software that helps people manage their work."</a:t>
            </a:r>
          </a:p>
          <a:p>
            <a:endParaRPr lang="en-US" dirty="0"/>
          </a:p>
          <a:p>
            <a:r>
              <a:rPr lang="en-US" dirty="0"/>
              <a:t>"Every feature we build must provide value to someone."</a:t>
            </a:r>
          </a:p>
          <a:p>
            <a:endParaRPr lang="en-US" dirty="0"/>
          </a:p>
          <a:p>
            <a:r>
              <a:rPr lang="en-US" dirty="0"/>
              <a:t>Ask students:</a:t>
            </a:r>
          </a:p>
          <a:p>
            <a:endParaRPr lang="en-US" dirty="0"/>
          </a:p>
          <a:p>
            <a:r>
              <a:rPr lang="en-US" dirty="0"/>
              <a:t>"Who will use Atlas </a:t>
            </a:r>
            <a:r>
              <a:rPr lang="en-US" dirty="0" err="1"/>
              <a:t>TaskFlow</a:t>
            </a:r>
            <a:r>
              <a:rPr lang="en-US" dirty="0"/>
              <a:t>?"</a:t>
            </a:r>
          </a:p>
          <a:p>
            <a:endParaRPr lang="en-US" dirty="0"/>
          </a:p>
          <a:p>
            <a:r>
              <a:rPr lang="en-US" dirty="0"/>
              <a:t>Record answers:</a:t>
            </a:r>
          </a:p>
          <a:p>
            <a:endParaRPr lang="en-US" dirty="0"/>
          </a:p>
          <a:p>
            <a:r>
              <a:rPr lang="en-US" dirty="0"/>
              <a:t>Students</a:t>
            </a:r>
          </a:p>
          <a:p>
            <a:endParaRPr lang="en-US" dirty="0"/>
          </a:p>
          <a:p>
            <a:r>
              <a:rPr lang="en-US" dirty="0"/>
              <a:t>Project Managers</a:t>
            </a:r>
          </a:p>
          <a:p>
            <a:endParaRPr lang="en-US" dirty="0"/>
          </a:p>
          <a:p>
            <a:r>
              <a:rPr lang="en-US" dirty="0"/>
              <a:t>Team Members</a:t>
            </a:r>
          </a:p>
          <a:p>
            <a:endParaRPr lang="en-US" dirty="0"/>
          </a:p>
          <a:p>
            <a:r>
              <a:rPr lang="en-US" dirty="0"/>
              <a:t>Administrators</a:t>
            </a:r>
          </a:p>
          <a:p>
            <a:endParaRPr lang="en-US" dirty="0"/>
          </a:p>
          <a:p>
            <a:r>
              <a:rPr lang="en-US" dirty="0"/>
              <a:t>Business Owners</a:t>
            </a:r>
          </a:p>
          <a:p>
            <a:endParaRPr lang="en-US" dirty="0"/>
          </a:p>
          <a:p>
            <a:r>
              <a:rPr lang="en-US" dirty="0"/>
              <a:t>Explain:</a:t>
            </a:r>
          </a:p>
          <a:p>
            <a:endParaRPr lang="en-US" dirty="0"/>
          </a:p>
          <a:p>
            <a:r>
              <a:rPr lang="en-US" dirty="0"/>
              <a:t>"Each of these users has different needs."</a:t>
            </a:r>
          </a:p>
          <a:p>
            <a:endParaRPr lang="en-US" dirty="0"/>
          </a:p>
          <a:p>
            <a:r>
              <a:rPr lang="en-US" dirty="0"/>
              <a:t>------------------------------------------------------------</a:t>
            </a:r>
          </a:p>
          <a:p>
            <a:endParaRPr lang="en-US" dirty="0"/>
          </a:p>
          <a:p>
            <a:r>
              <a:rPr lang="en-US" dirty="0"/>
              <a:t>WHAT IS A USER STORY?</a:t>
            </a:r>
          </a:p>
          <a:p>
            <a:endParaRPr lang="en-US" dirty="0"/>
          </a:p>
          <a:p>
            <a:r>
              <a:rPr lang="en-US" dirty="0"/>
              <a:t>Read the definition.</a:t>
            </a:r>
          </a:p>
          <a:p>
            <a:endParaRPr lang="en-US" dirty="0"/>
          </a:p>
          <a:p>
            <a:r>
              <a:rPr lang="en-US" dirty="0"/>
              <a:t>"A User Story is a short description of a feature from the user's</a:t>
            </a:r>
          </a:p>
          <a:p>
            <a:r>
              <a:rPr lang="en-US" dirty="0"/>
              <a:t>perspective."</a:t>
            </a:r>
          </a:p>
          <a:p>
            <a:endParaRPr lang="en-US" dirty="0"/>
          </a:p>
          <a:p>
            <a:r>
              <a:rPr lang="en-US" dirty="0"/>
              <a:t>Explain:</a:t>
            </a:r>
          </a:p>
          <a:p>
            <a:endParaRPr lang="en-US" dirty="0"/>
          </a:p>
          <a:p>
            <a:r>
              <a:rPr lang="en-US" dirty="0"/>
              <a:t>"It isn't a technical specification."</a:t>
            </a:r>
          </a:p>
          <a:p>
            <a:endParaRPr lang="en-US" dirty="0"/>
          </a:p>
          <a:p>
            <a:r>
              <a:rPr lang="en-US" dirty="0"/>
              <a:t>"It starts a conversation."</a:t>
            </a:r>
          </a:p>
          <a:p>
            <a:endParaRPr lang="en-US" dirty="0"/>
          </a:p>
          <a:p>
            <a:r>
              <a:rPr lang="en-US" dirty="0"/>
              <a:t>"It reminds us who we're building for."</a:t>
            </a:r>
          </a:p>
          <a:p>
            <a:endParaRPr lang="en-US" dirty="0"/>
          </a:p>
          <a:p>
            <a:r>
              <a:rPr lang="en-US" dirty="0"/>
              <a:t>------------------------------------------------------------</a:t>
            </a:r>
          </a:p>
          <a:p>
            <a:endParaRPr lang="en-US" dirty="0"/>
          </a:p>
          <a:p>
            <a:r>
              <a:rPr lang="en-US" dirty="0"/>
              <a:t>THE USER STORY TEMPLATE</a:t>
            </a:r>
          </a:p>
          <a:p>
            <a:endParaRPr lang="en-US" dirty="0"/>
          </a:p>
          <a:p>
            <a:r>
              <a:rPr lang="en-US" dirty="0"/>
              <a:t>Walk through each section.</a:t>
            </a:r>
          </a:p>
          <a:p>
            <a:endParaRPr lang="en-US" dirty="0"/>
          </a:p>
          <a:p>
            <a:r>
              <a:rPr lang="en-US" dirty="0"/>
              <a:t>As a...</a:t>
            </a:r>
          </a:p>
          <a:p>
            <a:endParaRPr lang="en-US" dirty="0"/>
          </a:p>
          <a:p>
            <a:r>
              <a:rPr lang="en-US" dirty="0"/>
              <a:t>Who is the user?</a:t>
            </a:r>
          </a:p>
          <a:p>
            <a:endParaRPr lang="en-US" dirty="0"/>
          </a:p>
          <a:p>
            <a:r>
              <a:rPr lang="en-US" dirty="0"/>
              <a:t>I want...</a:t>
            </a:r>
          </a:p>
          <a:p>
            <a:endParaRPr lang="en-US" dirty="0"/>
          </a:p>
          <a:p>
            <a:r>
              <a:rPr lang="en-US" dirty="0"/>
              <a:t>What do they want to accomplish?</a:t>
            </a:r>
          </a:p>
          <a:p>
            <a:endParaRPr lang="en-US" dirty="0"/>
          </a:p>
          <a:p>
            <a:r>
              <a:rPr lang="en-US" dirty="0"/>
              <a:t>So that...</a:t>
            </a:r>
          </a:p>
          <a:p>
            <a:endParaRPr lang="en-US" dirty="0"/>
          </a:p>
          <a:p>
            <a:r>
              <a:rPr lang="en-US" dirty="0"/>
              <a:t>Why does it matter?</a:t>
            </a:r>
          </a:p>
          <a:p>
            <a:endParaRPr lang="en-US" dirty="0"/>
          </a:p>
          <a:p>
            <a:r>
              <a:rPr lang="en-US" dirty="0"/>
              <a:t>Write the template on the board.</a:t>
            </a:r>
          </a:p>
          <a:p>
            <a:endParaRPr lang="en-US" dirty="0"/>
          </a:p>
          <a:p>
            <a:r>
              <a:rPr lang="en-US" dirty="0"/>
              <a:t>As a __________</a:t>
            </a:r>
          </a:p>
          <a:p>
            <a:endParaRPr lang="en-US" dirty="0"/>
          </a:p>
          <a:p>
            <a:r>
              <a:rPr lang="en-US" dirty="0"/>
              <a:t>I want __________</a:t>
            </a:r>
          </a:p>
          <a:p>
            <a:endParaRPr lang="en-US" dirty="0"/>
          </a:p>
          <a:p>
            <a:r>
              <a:rPr lang="en-US" dirty="0"/>
              <a:t>So that __________</a:t>
            </a:r>
          </a:p>
          <a:p>
            <a:endParaRPr lang="en-US" dirty="0"/>
          </a:p>
          <a:p>
            <a:r>
              <a:rPr lang="en-US" dirty="0"/>
              <a:t>Tell students:</a:t>
            </a:r>
          </a:p>
          <a:p>
            <a:endParaRPr lang="en-US" dirty="0"/>
          </a:p>
          <a:p>
            <a:r>
              <a:rPr lang="en-US" dirty="0"/>
              <a:t>"If you remember one thing from today's lecture..."</a:t>
            </a:r>
          </a:p>
          <a:p>
            <a:endParaRPr lang="en-US" dirty="0"/>
          </a:p>
          <a:p>
            <a:r>
              <a:rPr lang="en-US" dirty="0"/>
              <a:t>"Remember this format."</a:t>
            </a:r>
          </a:p>
          <a:p>
            <a:endParaRPr lang="en-US" dirty="0"/>
          </a:p>
          <a:p>
            <a:r>
              <a:rPr lang="en-US" dirty="0"/>
              <a:t>------------------------------------------------------------</a:t>
            </a:r>
          </a:p>
          <a:p>
            <a:endParaRPr lang="en-US" dirty="0"/>
          </a:p>
          <a:p>
            <a:r>
              <a:rPr lang="en-US" dirty="0"/>
              <a:t>TASKFLOW EXAMPLES</a:t>
            </a:r>
          </a:p>
          <a:p>
            <a:endParaRPr lang="en-US" dirty="0"/>
          </a:p>
          <a:p>
            <a:r>
              <a:rPr lang="en-US" dirty="0"/>
              <a:t>Review each example.</a:t>
            </a:r>
          </a:p>
          <a:p>
            <a:endParaRPr lang="en-US" dirty="0"/>
          </a:p>
          <a:p>
            <a:r>
              <a:rPr lang="en-US" dirty="0"/>
              <a:t>"As a user..."</a:t>
            </a:r>
          </a:p>
          <a:p>
            <a:endParaRPr lang="en-US" dirty="0"/>
          </a:p>
          <a:p>
            <a:r>
              <a:rPr lang="en-US" dirty="0"/>
              <a:t>"I want to register for an account..."</a:t>
            </a:r>
          </a:p>
          <a:p>
            <a:endParaRPr lang="en-US" dirty="0"/>
          </a:p>
          <a:p>
            <a:r>
              <a:rPr lang="en-US" dirty="0"/>
              <a:t>"So that I can use Atlas </a:t>
            </a:r>
            <a:r>
              <a:rPr lang="en-US" dirty="0" err="1"/>
              <a:t>TaskFlow</a:t>
            </a:r>
            <a:r>
              <a:rPr lang="en-US" dirty="0"/>
              <a:t>."</a:t>
            </a:r>
          </a:p>
          <a:p>
            <a:endParaRPr lang="en-US" dirty="0"/>
          </a:p>
          <a:p>
            <a:r>
              <a:rPr lang="en-US" dirty="0"/>
              <a:t>Ask students:</a:t>
            </a:r>
          </a:p>
          <a:p>
            <a:endParaRPr lang="en-US" dirty="0"/>
          </a:p>
          <a:p>
            <a:r>
              <a:rPr lang="en-US" dirty="0"/>
              <a:t>"What value does this provide?"</a:t>
            </a:r>
          </a:p>
          <a:p>
            <a:endParaRPr lang="en-US" dirty="0"/>
          </a:p>
          <a:p>
            <a:r>
              <a:rPr lang="en-US" dirty="0"/>
              <a:t>Continue through several examples.</a:t>
            </a:r>
          </a:p>
          <a:p>
            <a:endParaRPr lang="en-US" dirty="0"/>
          </a:p>
          <a:p>
            <a:r>
              <a:rPr lang="en-US" dirty="0"/>
              <a:t>Creating Tasks</a:t>
            </a:r>
          </a:p>
          <a:p>
            <a:endParaRPr lang="en-US" dirty="0"/>
          </a:p>
          <a:p>
            <a:r>
              <a:rPr lang="en-US" dirty="0"/>
              <a:t>Assigning Tasks</a:t>
            </a:r>
          </a:p>
          <a:p>
            <a:endParaRPr lang="en-US" dirty="0"/>
          </a:p>
          <a:p>
            <a:r>
              <a:rPr lang="en-US" dirty="0"/>
              <a:t>Uploading Attachments</a:t>
            </a:r>
          </a:p>
          <a:p>
            <a:endParaRPr lang="en-US" dirty="0"/>
          </a:p>
          <a:p>
            <a:r>
              <a:rPr lang="en-US" dirty="0"/>
              <a:t>Searching Tasks</a:t>
            </a:r>
          </a:p>
          <a:p>
            <a:endParaRPr lang="en-US" dirty="0"/>
          </a:p>
          <a:p>
            <a:r>
              <a:rPr lang="en-US" dirty="0"/>
              <a:t>Viewing Reports</a:t>
            </a:r>
          </a:p>
          <a:p>
            <a:endParaRPr lang="en-US" dirty="0"/>
          </a:p>
          <a:p>
            <a:r>
              <a:rPr lang="en-US" dirty="0"/>
              <a:t>Explain:</a:t>
            </a:r>
          </a:p>
          <a:p>
            <a:endParaRPr lang="en-US" dirty="0"/>
          </a:p>
          <a:p>
            <a:r>
              <a:rPr lang="en-US" dirty="0"/>
              <a:t>"Notice that every story focuses on solving a user problem."</a:t>
            </a:r>
          </a:p>
          <a:p>
            <a:endParaRPr lang="en-US" dirty="0"/>
          </a:p>
          <a:p>
            <a:r>
              <a:rPr lang="en-US" dirty="0"/>
              <a:t>------------------------------------------------------------</a:t>
            </a:r>
          </a:p>
          <a:p>
            <a:endParaRPr lang="en-US" dirty="0"/>
          </a:p>
          <a:p>
            <a:r>
              <a:rPr lang="en-US" dirty="0"/>
              <a:t>ENGINEERING INSIGHT</a:t>
            </a:r>
          </a:p>
          <a:p>
            <a:endParaRPr lang="en-US" dirty="0"/>
          </a:p>
          <a:p>
            <a:r>
              <a:rPr lang="en-US" dirty="0"/>
              <a:t>Read the Engineering Insight.</a:t>
            </a:r>
          </a:p>
          <a:p>
            <a:endParaRPr lang="en-US" dirty="0"/>
          </a:p>
          <a:p>
            <a:r>
              <a:rPr lang="en-US" dirty="0"/>
              <a:t>"User Stories turn requirements into conversations."</a:t>
            </a:r>
          </a:p>
          <a:p>
            <a:endParaRPr lang="en-US" dirty="0"/>
          </a:p>
          <a:p>
            <a:r>
              <a:rPr lang="en-US" dirty="0"/>
              <a:t>Explain:</a:t>
            </a:r>
          </a:p>
          <a:p>
            <a:endParaRPr lang="en-US" dirty="0"/>
          </a:p>
          <a:p>
            <a:r>
              <a:rPr lang="en-US" dirty="0"/>
              <a:t>"Requirements often tell us WHAT to build."</a:t>
            </a:r>
          </a:p>
          <a:p>
            <a:endParaRPr lang="en-US" dirty="0"/>
          </a:p>
          <a:p>
            <a:r>
              <a:rPr lang="en-US" dirty="0"/>
              <a:t>"User Stories remind us WHY we're building it."</a:t>
            </a:r>
          </a:p>
          <a:p>
            <a:endParaRPr lang="en-US" dirty="0"/>
          </a:p>
          <a:p>
            <a:r>
              <a:rPr lang="en-US" dirty="0"/>
              <a:t>------------------------------------------------------------</a:t>
            </a:r>
          </a:p>
          <a:p>
            <a:endParaRPr lang="en-US" dirty="0"/>
          </a:p>
          <a:p>
            <a:r>
              <a:rPr lang="en-US" dirty="0"/>
              <a:t>THE INVEST MODEL</a:t>
            </a:r>
          </a:p>
          <a:p>
            <a:endParaRPr lang="en-US" dirty="0"/>
          </a:p>
          <a:p>
            <a:r>
              <a:rPr lang="en-US" dirty="0"/>
              <a:t>Introduce the acronym.</a:t>
            </a:r>
          </a:p>
          <a:p>
            <a:endParaRPr lang="en-US" dirty="0"/>
          </a:p>
          <a:p>
            <a:r>
              <a:rPr lang="en-US" dirty="0"/>
              <a:t>Independent</a:t>
            </a:r>
          </a:p>
          <a:p>
            <a:endParaRPr lang="en-US" dirty="0"/>
          </a:p>
          <a:p>
            <a:r>
              <a:rPr lang="en-US" dirty="0"/>
              <a:t>Negotiable</a:t>
            </a:r>
          </a:p>
          <a:p>
            <a:endParaRPr lang="en-US" dirty="0"/>
          </a:p>
          <a:p>
            <a:r>
              <a:rPr lang="en-US" dirty="0"/>
              <a:t>Valuable</a:t>
            </a:r>
          </a:p>
          <a:p>
            <a:endParaRPr lang="en-US" dirty="0"/>
          </a:p>
          <a:p>
            <a:r>
              <a:rPr lang="en-US" dirty="0"/>
              <a:t>Estimable</a:t>
            </a:r>
          </a:p>
          <a:p>
            <a:endParaRPr lang="en-US" dirty="0"/>
          </a:p>
          <a:p>
            <a:r>
              <a:rPr lang="en-US" dirty="0"/>
              <a:t>Small</a:t>
            </a:r>
          </a:p>
          <a:p>
            <a:endParaRPr lang="en-US" dirty="0"/>
          </a:p>
          <a:p>
            <a:r>
              <a:rPr lang="en-US" dirty="0"/>
              <a:t>Testable</a:t>
            </a:r>
          </a:p>
          <a:p>
            <a:endParaRPr lang="en-US" dirty="0"/>
          </a:p>
          <a:p>
            <a:r>
              <a:rPr lang="en-US" dirty="0"/>
              <a:t>Discuss each briefly.</a:t>
            </a:r>
          </a:p>
          <a:p>
            <a:endParaRPr lang="en-US" dirty="0"/>
          </a:p>
          <a:p>
            <a:r>
              <a:rPr lang="en-US" dirty="0"/>
              <a:t>Independent</a:t>
            </a:r>
          </a:p>
          <a:p>
            <a:endParaRPr lang="en-US" dirty="0"/>
          </a:p>
          <a:p>
            <a:r>
              <a:rPr lang="en-US" dirty="0"/>
              <a:t>Can be developed separately.</a:t>
            </a:r>
          </a:p>
          <a:p>
            <a:endParaRPr lang="en-US" dirty="0"/>
          </a:p>
          <a:p>
            <a:r>
              <a:rPr lang="en-US" dirty="0"/>
              <a:t>Negotiable</a:t>
            </a:r>
          </a:p>
          <a:p>
            <a:endParaRPr lang="en-US" dirty="0"/>
          </a:p>
          <a:p>
            <a:r>
              <a:rPr lang="en-US" dirty="0"/>
              <a:t>Encourages discussion.</a:t>
            </a:r>
          </a:p>
          <a:p>
            <a:endParaRPr lang="en-US" dirty="0"/>
          </a:p>
          <a:p>
            <a:r>
              <a:rPr lang="en-US" dirty="0"/>
              <a:t>Valuable</a:t>
            </a:r>
          </a:p>
          <a:p>
            <a:endParaRPr lang="en-US" dirty="0"/>
          </a:p>
          <a:p>
            <a:r>
              <a:rPr lang="en-US" dirty="0"/>
              <a:t>Provides value to the user.</a:t>
            </a:r>
          </a:p>
          <a:p>
            <a:endParaRPr lang="en-US" dirty="0"/>
          </a:p>
          <a:p>
            <a:r>
              <a:rPr lang="en-US" dirty="0"/>
              <a:t>Estimable</a:t>
            </a:r>
          </a:p>
          <a:p>
            <a:endParaRPr lang="en-US" dirty="0"/>
          </a:p>
          <a:p>
            <a:r>
              <a:rPr lang="en-US" dirty="0"/>
              <a:t>Can be planned.</a:t>
            </a:r>
          </a:p>
          <a:p>
            <a:endParaRPr lang="en-US" dirty="0"/>
          </a:p>
          <a:p>
            <a:r>
              <a:rPr lang="en-US" dirty="0"/>
              <a:t>Small</a:t>
            </a:r>
          </a:p>
          <a:p>
            <a:endParaRPr lang="en-US" dirty="0"/>
          </a:p>
          <a:p>
            <a:r>
              <a:rPr lang="en-US" dirty="0"/>
              <a:t>Fits within a sprint.</a:t>
            </a:r>
          </a:p>
          <a:p>
            <a:endParaRPr lang="en-US" dirty="0"/>
          </a:p>
          <a:p>
            <a:r>
              <a:rPr lang="en-US" dirty="0"/>
              <a:t>Testable</a:t>
            </a:r>
          </a:p>
          <a:p>
            <a:endParaRPr lang="en-US" dirty="0"/>
          </a:p>
          <a:p>
            <a:r>
              <a:rPr lang="en-US" dirty="0"/>
              <a:t>Has clear acceptance criteria.</a:t>
            </a:r>
          </a:p>
          <a:p>
            <a:endParaRPr lang="en-US" dirty="0"/>
          </a:p>
          <a:p>
            <a:r>
              <a:rPr lang="en-US" dirty="0"/>
              <a:t>Explain:</a:t>
            </a:r>
          </a:p>
          <a:p>
            <a:endParaRPr lang="en-US" dirty="0"/>
          </a:p>
          <a:p>
            <a:r>
              <a:rPr lang="en-US" dirty="0"/>
              <a:t>"This checklist helps Product Owners determine whether a User Story is</a:t>
            </a:r>
          </a:p>
          <a:p>
            <a:r>
              <a:rPr lang="en-US" dirty="0"/>
              <a:t>ready for development."</a:t>
            </a:r>
          </a:p>
          <a:p>
            <a:endParaRPr lang="en-US" dirty="0"/>
          </a:p>
          <a:p>
            <a:r>
              <a:rPr lang="en-US" dirty="0"/>
              <a:t>------------------------------------------------------------</a:t>
            </a:r>
          </a:p>
          <a:p>
            <a:endParaRPr lang="en-US" dirty="0"/>
          </a:p>
          <a:p>
            <a:r>
              <a:rPr lang="en-US" dirty="0"/>
              <a:t>FROM REQUIREMENTS TO STORIES</a:t>
            </a:r>
          </a:p>
          <a:p>
            <a:endParaRPr lang="en-US" dirty="0"/>
          </a:p>
          <a:p>
            <a:r>
              <a:rPr lang="en-US" dirty="0"/>
              <a:t>Walk through the process.</a:t>
            </a:r>
          </a:p>
          <a:p>
            <a:endParaRPr lang="en-US" dirty="0"/>
          </a:p>
          <a:p>
            <a:r>
              <a:rPr lang="en-US" dirty="0"/>
              <a:t>Requirements</a:t>
            </a:r>
          </a:p>
          <a:p>
            <a:endParaRPr lang="en-US" dirty="0"/>
          </a:p>
          <a:p>
            <a:r>
              <a:rPr lang="en-US" dirty="0"/>
              <a:t>↓</a:t>
            </a:r>
          </a:p>
          <a:p>
            <a:endParaRPr lang="en-US" dirty="0"/>
          </a:p>
          <a:p>
            <a:r>
              <a:rPr lang="en-US" dirty="0"/>
              <a:t>User Stories</a:t>
            </a:r>
          </a:p>
          <a:p>
            <a:endParaRPr lang="en-US" dirty="0"/>
          </a:p>
          <a:p>
            <a:r>
              <a:rPr lang="en-US" dirty="0"/>
              <a:t>↓</a:t>
            </a:r>
          </a:p>
          <a:p>
            <a:endParaRPr lang="en-US" dirty="0"/>
          </a:p>
          <a:p>
            <a:r>
              <a:rPr lang="en-US" dirty="0"/>
              <a:t>Tasks</a:t>
            </a:r>
          </a:p>
          <a:p>
            <a:endParaRPr lang="en-US" dirty="0"/>
          </a:p>
          <a:p>
            <a:r>
              <a:rPr lang="en-US" dirty="0"/>
              <a:t>↓</a:t>
            </a:r>
          </a:p>
          <a:p>
            <a:endParaRPr lang="en-US" dirty="0"/>
          </a:p>
          <a:p>
            <a:r>
              <a:rPr lang="en-US" dirty="0"/>
              <a:t>Deliver Value</a:t>
            </a:r>
          </a:p>
          <a:p>
            <a:endParaRPr lang="en-US" dirty="0"/>
          </a:p>
          <a:p>
            <a:r>
              <a:rPr lang="en-US" dirty="0"/>
              <a:t>Explain:</a:t>
            </a:r>
          </a:p>
          <a:p>
            <a:endParaRPr lang="en-US" dirty="0"/>
          </a:p>
          <a:p>
            <a:r>
              <a:rPr lang="en-US" dirty="0"/>
              <a:t>"This is how Agile teams organize work."</a:t>
            </a:r>
          </a:p>
          <a:p>
            <a:endParaRPr lang="en-US" dirty="0"/>
          </a:p>
          <a:p>
            <a:r>
              <a:rPr lang="en-US" dirty="0"/>
              <a:t>"We're taking big ideas..."</a:t>
            </a:r>
          </a:p>
          <a:p>
            <a:endParaRPr lang="en-US" dirty="0"/>
          </a:p>
          <a:p>
            <a:r>
              <a:rPr lang="en-US" dirty="0"/>
              <a:t>"And breaking them into manageable pieces."</a:t>
            </a:r>
          </a:p>
          <a:p>
            <a:endParaRPr lang="en-US" dirty="0"/>
          </a:p>
          <a:p>
            <a:r>
              <a:rPr lang="en-US" dirty="0"/>
              <a:t>------------------------------------------------------------</a:t>
            </a:r>
          </a:p>
          <a:p>
            <a:endParaRPr lang="en-US" dirty="0"/>
          </a:p>
          <a:p>
            <a:r>
              <a:rPr lang="en-US" dirty="0"/>
              <a:t>ATLAS ARCHITECTURE SPOTLIGHT</a:t>
            </a:r>
          </a:p>
          <a:p>
            <a:endParaRPr lang="en-US" dirty="0"/>
          </a:p>
          <a:p>
            <a:r>
              <a:rPr lang="en-US" dirty="0"/>
              <a:t>Today's Spotlight:</a:t>
            </a:r>
          </a:p>
          <a:p>
            <a:endParaRPr lang="en-US" dirty="0"/>
          </a:p>
          <a:p>
            <a:r>
              <a:rPr lang="en-US" dirty="0"/>
              <a:t>Canvas LMS</a:t>
            </a:r>
          </a:p>
          <a:p>
            <a:endParaRPr lang="en-US" dirty="0"/>
          </a:p>
          <a:p>
            <a:r>
              <a:rPr lang="en-US" dirty="0"/>
              <a:t>Ask students:</a:t>
            </a:r>
          </a:p>
          <a:p>
            <a:endParaRPr lang="en-US" dirty="0"/>
          </a:p>
          <a:p>
            <a:r>
              <a:rPr lang="en-US" dirty="0"/>
              <a:t>"What User Stories exist in Canvas?"</a:t>
            </a:r>
          </a:p>
          <a:p>
            <a:endParaRPr lang="en-US" dirty="0"/>
          </a:p>
          <a:p>
            <a:r>
              <a:rPr lang="en-US" dirty="0"/>
              <a:t>Examples:</a:t>
            </a:r>
          </a:p>
          <a:p>
            <a:endParaRPr lang="en-US" dirty="0"/>
          </a:p>
          <a:p>
            <a:r>
              <a:rPr lang="en-US" dirty="0"/>
              <a:t>As a student...</a:t>
            </a:r>
          </a:p>
          <a:p>
            <a:endParaRPr lang="en-US" dirty="0"/>
          </a:p>
          <a:p>
            <a:r>
              <a:rPr lang="en-US" dirty="0"/>
              <a:t>I want to submit assignments...</a:t>
            </a:r>
          </a:p>
          <a:p>
            <a:endParaRPr lang="en-US" dirty="0"/>
          </a:p>
          <a:p>
            <a:r>
              <a:rPr lang="en-US" dirty="0"/>
              <a:t>So that my instructor can grade my work.</a:t>
            </a:r>
          </a:p>
          <a:p>
            <a:endParaRPr lang="en-US" dirty="0"/>
          </a:p>
          <a:p>
            <a:r>
              <a:rPr lang="en-US" dirty="0"/>
              <a:t>As an instructor...</a:t>
            </a:r>
          </a:p>
          <a:p>
            <a:endParaRPr lang="en-US" dirty="0"/>
          </a:p>
          <a:p>
            <a:r>
              <a:rPr lang="en-US" dirty="0"/>
              <a:t>I want to post announcements...</a:t>
            </a:r>
          </a:p>
          <a:p>
            <a:endParaRPr lang="en-US" dirty="0"/>
          </a:p>
          <a:p>
            <a:r>
              <a:rPr lang="en-US" dirty="0"/>
              <a:t>So that students stay informed.</a:t>
            </a:r>
          </a:p>
          <a:p>
            <a:endParaRPr lang="en-US" dirty="0"/>
          </a:p>
          <a:p>
            <a:r>
              <a:rPr lang="en-US" dirty="0"/>
              <a:t>As a student...</a:t>
            </a:r>
          </a:p>
          <a:p>
            <a:endParaRPr lang="en-US" dirty="0"/>
          </a:p>
          <a:p>
            <a:r>
              <a:rPr lang="en-US" dirty="0"/>
              <a:t>I want to view my grades...</a:t>
            </a:r>
          </a:p>
          <a:p>
            <a:endParaRPr lang="en-US" dirty="0"/>
          </a:p>
          <a:p>
            <a:r>
              <a:rPr lang="en-US" dirty="0"/>
              <a:t>So that I know how I'm performing.</a:t>
            </a:r>
          </a:p>
          <a:p>
            <a:endParaRPr lang="en-US" dirty="0"/>
          </a:p>
          <a:p>
            <a:r>
              <a:rPr lang="en-US" dirty="0"/>
              <a:t>Explain:</a:t>
            </a:r>
          </a:p>
          <a:p>
            <a:endParaRPr lang="en-US" dirty="0"/>
          </a:p>
          <a:p>
            <a:r>
              <a:rPr lang="en-US" dirty="0"/>
              <a:t>"Applications are collections of User Stories."</a:t>
            </a:r>
          </a:p>
          <a:p>
            <a:endParaRPr lang="en-US" dirty="0"/>
          </a:p>
          <a:p>
            <a:r>
              <a:rPr lang="en-US" dirty="0"/>
              <a:t>------------------------------------------------------------</a:t>
            </a:r>
          </a:p>
          <a:p>
            <a:endParaRPr lang="en-US" dirty="0"/>
          </a:p>
          <a:p>
            <a:r>
              <a:rPr lang="en-US" dirty="0"/>
              <a:t>ENGINEERING STORY</a:t>
            </a:r>
          </a:p>
          <a:p>
            <a:endParaRPr lang="en-US" dirty="0"/>
          </a:p>
          <a:p>
            <a:r>
              <a:rPr lang="en-US" dirty="0"/>
              <a:t>Share the Food Pantry project.</a:t>
            </a:r>
          </a:p>
          <a:p>
            <a:endParaRPr lang="en-US" dirty="0"/>
          </a:p>
          <a:p>
            <a:r>
              <a:rPr lang="en-US" dirty="0"/>
              <a:t>Explain that stakeholders rarely described technical features.</a:t>
            </a:r>
          </a:p>
          <a:p>
            <a:endParaRPr lang="en-US" dirty="0"/>
          </a:p>
          <a:p>
            <a:r>
              <a:rPr lang="en-US" dirty="0"/>
              <a:t>Instead they said things like:</a:t>
            </a:r>
          </a:p>
          <a:p>
            <a:endParaRPr lang="en-US" dirty="0"/>
          </a:p>
          <a:p>
            <a:r>
              <a:rPr lang="en-US" dirty="0"/>
              <a:t>"We need volunteers to know what's running low."</a:t>
            </a:r>
          </a:p>
          <a:p>
            <a:endParaRPr lang="en-US" dirty="0"/>
          </a:p>
          <a:p>
            <a:r>
              <a:rPr lang="en-US" dirty="0"/>
              <a:t>"We need to track donations."</a:t>
            </a:r>
          </a:p>
          <a:p>
            <a:endParaRPr lang="en-US" dirty="0"/>
          </a:p>
          <a:p>
            <a:r>
              <a:rPr lang="en-US" dirty="0"/>
              <a:t>"We need reports."</a:t>
            </a:r>
          </a:p>
          <a:p>
            <a:endParaRPr lang="en-US" dirty="0"/>
          </a:p>
          <a:p>
            <a:r>
              <a:rPr lang="en-US" dirty="0"/>
              <a:t>Those conversations naturally became User Stories.</a:t>
            </a:r>
          </a:p>
          <a:p>
            <a:endParaRPr lang="en-US" dirty="0"/>
          </a:p>
          <a:p>
            <a:r>
              <a:rPr lang="en-US" dirty="0"/>
              <a:t>------------------------------------------------------------</a:t>
            </a:r>
          </a:p>
          <a:p>
            <a:endParaRPr lang="en-US" dirty="0"/>
          </a:p>
          <a:p>
            <a:r>
              <a:rPr lang="en-US" dirty="0"/>
              <a:t>ATLAS DESIGN CHALLENGE #2</a:t>
            </a:r>
          </a:p>
          <a:p>
            <a:endParaRPr lang="en-US" dirty="0"/>
          </a:p>
          <a:p>
            <a:r>
              <a:rPr lang="en-US" dirty="0"/>
              <a:t>Challenge students:</a:t>
            </a:r>
          </a:p>
          <a:p>
            <a:endParaRPr lang="en-US" dirty="0"/>
          </a:p>
          <a:p>
            <a:r>
              <a:rPr lang="en-US" dirty="0"/>
              <a:t>Choose an application you use every day.</a:t>
            </a:r>
          </a:p>
          <a:p>
            <a:endParaRPr lang="en-US" dirty="0"/>
          </a:p>
          <a:p>
            <a:r>
              <a:rPr lang="en-US" dirty="0"/>
              <a:t>Examples:</a:t>
            </a:r>
          </a:p>
          <a:p>
            <a:endParaRPr lang="en-US" dirty="0"/>
          </a:p>
          <a:p>
            <a:r>
              <a:rPr lang="en-US" dirty="0"/>
              <a:t>Spotify</a:t>
            </a:r>
          </a:p>
          <a:p>
            <a:endParaRPr lang="en-US" dirty="0"/>
          </a:p>
          <a:p>
            <a:r>
              <a:rPr lang="en-US" dirty="0"/>
              <a:t>Netflix</a:t>
            </a:r>
          </a:p>
          <a:p>
            <a:endParaRPr lang="en-US" dirty="0"/>
          </a:p>
          <a:p>
            <a:r>
              <a:rPr lang="en-US" dirty="0"/>
              <a:t>Discord</a:t>
            </a:r>
          </a:p>
          <a:p>
            <a:endParaRPr lang="en-US" dirty="0"/>
          </a:p>
          <a:p>
            <a:r>
              <a:rPr lang="en-US" dirty="0"/>
              <a:t>Amazon</a:t>
            </a:r>
          </a:p>
          <a:p>
            <a:endParaRPr lang="en-US" dirty="0"/>
          </a:p>
          <a:p>
            <a:r>
              <a:rPr lang="en-US" dirty="0"/>
              <a:t>Canvas</a:t>
            </a:r>
          </a:p>
          <a:p>
            <a:endParaRPr lang="en-US" dirty="0"/>
          </a:p>
          <a:p>
            <a:r>
              <a:rPr lang="en-US" dirty="0"/>
              <a:t>Microsoft Teams</a:t>
            </a:r>
          </a:p>
          <a:p>
            <a:endParaRPr lang="en-US" dirty="0"/>
          </a:p>
          <a:p>
            <a:r>
              <a:rPr lang="en-US" dirty="0"/>
              <a:t>Write three User Stories.</a:t>
            </a:r>
          </a:p>
          <a:p>
            <a:endParaRPr lang="en-US" dirty="0"/>
          </a:p>
          <a:p>
            <a:r>
              <a:rPr lang="en-US" dirty="0"/>
              <a:t>Time:</a:t>
            </a:r>
          </a:p>
          <a:p>
            <a:endParaRPr lang="en-US" dirty="0"/>
          </a:p>
          <a:p>
            <a:r>
              <a:rPr lang="en-US" dirty="0"/>
              <a:t>5 minutes.</a:t>
            </a:r>
          </a:p>
          <a:p>
            <a:endParaRPr lang="en-US" dirty="0"/>
          </a:p>
          <a:p>
            <a:r>
              <a:rPr lang="en-US" dirty="0"/>
              <a:t>Have students share one story with the class.</a:t>
            </a:r>
          </a:p>
          <a:p>
            <a:endParaRPr lang="en-US" dirty="0"/>
          </a:p>
          <a:p>
            <a:r>
              <a:rPr lang="en-US" dirty="0"/>
              <a:t>------------------------------------------------------------</a:t>
            </a:r>
          </a:p>
          <a:p>
            <a:endParaRPr lang="en-US" dirty="0"/>
          </a:p>
          <a:p>
            <a:r>
              <a:rPr lang="en-US" dirty="0"/>
              <a:t>CLASS DISCUSSION</a:t>
            </a:r>
          </a:p>
          <a:p>
            <a:endParaRPr lang="en-US" dirty="0"/>
          </a:p>
          <a:p>
            <a:r>
              <a:rPr lang="en-US" dirty="0"/>
              <a:t>Now return to Atlas </a:t>
            </a:r>
            <a:r>
              <a:rPr lang="en-US" dirty="0" err="1"/>
              <a:t>TaskFlow</a:t>
            </a:r>
            <a:r>
              <a:rPr lang="en-US" dirty="0"/>
              <a:t>.</a:t>
            </a:r>
          </a:p>
          <a:p>
            <a:endParaRPr lang="en-US" dirty="0"/>
          </a:p>
          <a:p>
            <a:r>
              <a:rPr lang="en-US" dirty="0"/>
              <a:t>Ask:</a:t>
            </a:r>
          </a:p>
          <a:p>
            <a:endParaRPr lang="en-US" dirty="0"/>
          </a:p>
          <a:p>
            <a:r>
              <a:rPr lang="en-US" dirty="0"/>
              <a:t>"What User Story should we build first?"</a:t>
            </a:r>
          </a:p>
          <a:p>
            <a:endParaRPr lang="en-US" dirty="0"/>
          </a:p>
          <a:p>
            <a:r>
              <a:rPr lang="en-US" dirty="0"/>
              <a:t>Collect responses.</a:t>
            </a:r>
          </a:p>
          <a:p>
            <a:endParaRPr lang="en-US" dirty="0"/>
          </a:p>
          <a:p>
            <a:r>
              <a:rPr lang="en-US" dirty="0"/>
              <a:t>Discuss:</a:t>
            </a:r>
          </a:p>
          <a:p>
            <a:endParaRPr lang="en-US" dirty="0"/>
          </a:p>
          <a:p>
            <a:r>
              <a:rPr lang="en-US" dirty="0"/>
              <a:t>Which stories deliver the most value?</a:t>
            </a:r>
          </a:p>
          <a:p>
            <a:endParaRPr lang="en-US" dirty="0"/>
          </a:p>
          <a:p>
            <a:r>
              <a:rPr lang="en-US" dirty="0"/>
              <a:t>Which are required before anything else works?</a:t>
            </a:r>
          </a:p>
          <a:p>
            <a:endParaRPr lang="en-US" dirty="0"/>
          </a:p>
          <a:p>
            <a:r>
              <a:rPr lang="en-US" dirty="0"/>
              <a:t>Introduce the concept of prioritization.</a:t>
            </a:r>
          </a:p>
          <a:p>
            <a:endParaRPr lang="en-US" dirty="0"/>
          </a:p>
          <a:p>
            <a:r>
              <a:rPr lang="en-US" dirty="0"/>
              <a:t>Explain:</a:t>
            </a:r>
          </a:p>
          <a:p>
            <a:endParaRPr lang="en-US" dirty="0"/>
          </a:p>
          <a:p>
            <a:r>
              <a:rPr lang="en-US" dirty="0"/>
              <a:t>"This is exactly what Product Owners do."</a:t>
            </a:r>
          </a:p>
          <a:p>
            <a:endParaRPr lang="en-US" dirty="0"/>
          </a:p>
          <a:p>
            <a:r>
              <a:rPr lang="en-US" dirty="0"/>
              <a:t>------------------------------------------------------------</a:t>
            </a:r>
          </a:p>
          <a:p>
            <a:endParaRPr lang="en-US" dirty="0"/>
          </a:p>
          <a:p>
            <a:r>
              <a:rPr lang="en-US" dirty="0"/>
              <a:t>ENGINEERING LESSON</a:t>
            </a:r>
          </a:p>
          <a:p>
            <a:endParaRPr lang="en-US" dirty="0"/>
          </a:p>
          <a:p>
            <a:r>
              <a:rPr lang="en-US" dirty="0"/>
              <a:t>Read the quote.</a:t>
            </a:r>
          </a:p>
          <a:p>
            <a:endParaRPr lang="en-US" dirty="0"/>
          </a:p>
          <a:p>
            <a:r>
              <a:rPr lang="en-US" dirty="0"/>
              <a:t>"The best solutions start with understanding real user needs—not assumed</a:t>
            </a:r>
          </a:p>
          <a:p>
            <a:r>
              <a:rPr lang="en-US" dirty="0"/>
              <a:t>requirements."</a:t>
            </a:r>
          </a:p>
          <a:p>
            <a:endParaRPr lang="en-US" dirty="0"/>
          </a:p>
          <a:p>
            <a:r>
              <a:rPr lang="en-US" dirty="0"/>
              <a:t>Pause.</a:t>
            </a:r>
          </a:p>
          <a:p>
            <a:endParaRPr lang="en-US" dirty="0"/>
          </a:p>
          <a:p>
            <a:r>
              <a:rPr lang="en-US" dirty="0"/>
              <a:t>Explain:</a:t>
            </a:r>
          </a:p>
          <a:p>
            <a:endParaRPr lang="en-US" dirty="0"/>
          </a:p>
          <a:p>
            <a:r>
              <a:rPr lang="en-US" dirty="0"/>
              <a:t>"Technology changes."</a:t>
            </a:r>
          </a:p>
          <a:p>
            <a:endParaRPr lang="en-US" dirty="0"/>
          </a:p>
          <a:p>
            <a:r>
              <a:rPr lang="en-US" dirty="0"/>
              <a:t>"Programming languages change."</a:t>
            </a:r>
          </a:p>
          <a:p>
            <a:endParaRPr lang="en-US" dirty="0"/>
          </a:p>
          <a:p>
            <a:r>
              <a:rPr lang="en-US" dirty="0"/>
              <a:t>"But understanding people will always be one of the most valuable skills</a:t>
            </a:r>
          </a:p>
          <a:p>
            <a:r>
              <a:rPr lang="en-US" dirty="0"/>
              <a:t>a software engineer can have."</a:t>
            </a:r>
          </a:p>
          <a:p>
            <a:endParaRPr lang="en-US" dirty="0"/>
          </a:p>
          <a:p>
            <a:r>
              <a:rPr lang="en-US" dirty="0"/>
              <a:t>------------------------------------------------------------</a:t>
            </a:r>
          </a:p>
          <a:p>
            <a:endParaRPr lang="en-US" dirty="0"/>
          </a:p>
          <a:p>
            <a:r>
              <a:rPr lang="en-US" dirty="0"/>
              <a:t>TRANSITION</a:t>
            </a:r>
          </a:p>
          <a:p>
            <a:endParaRPr lang="en-US" dirty="0"/>
          </a:p>
          <a:p>
            <a:r>
              <a:rPr lang="en-US" dirty="0"/>
              <a:t>"We now know how to describe features from the user's perspective."</a:t>
            </a:r>
          </a:p>
          <a:p>
            <a:endParaRPr lang="en-US" dirty="0"/>
          </a:p>
          <a:p>
            <a:r>
              <a:rPr lang="en-US" dirty="0"/>
              <a:t>"But how do we better understand the people we're designing for?"</a:t>
            </a:r>
          </a:p>
          <a:p>
            <a:endParaRPr lang="en-US" dirty="0"/>
          </a:p>
          <a:p>
            <a:r>
              <a:rPr lang="en-US" dirty="0"/>
              <a:t>"Our next lesson introduces Personas and User Journeys."</a:t>
            </a:r>
          </a:p>
          <a:p>
            <a:endParaRPr lang="en-US" dirty="0"/>
          </a:p>
          <a:p>
            <a:r>
              <a:rPr lang="en-US" dirty="0"/>
              <a:t>"We're going to step into the user's shoes."</a:t>
            </a:r>
          </a:p>
          <a:p>
            <a:endParaRPr lang="en-US" dirty="0"/>
          </a:p>
          <a:p>
            <a:r>
              <a:rPr lang="en-US" dirty="0"/>
              <a:t>------------------------------------------------------------</a:t>
            </a:r>
          </a:p>
          <a:p>
            <a:endParaRPr lang="en-US" dirty="0"/>
          </a:p>
          <a:p>
            <a:r>
              <a:rPr lang="en-US" dirty="0"/>
              <a:t>ESTIMATED TIME</a:t>
            </a:r>
          </a:p>
          <a:p>
            <a:endParaRPr lang="en-US" dirty="0"/>
          </a:p>
          <a:p>
            <a:r>
              <a:rPr lang="en-US" dirty="0"/>
              <a:t>Review Previous Lesson...........5 minutes</a:t>
            </a:r>
          </a:p>
          <a:p>
            <a:endParaRPr lang="en-US" dirty="0"/>
          </a:p>
          <a:p>
            <a:r>
              <a:rPr lang="en-US" dirty="0"/>
              <a:t>User Story Concept..............10 minutes</a:t>
            </a:r>
          </a:p>
          <a:p>
            <a:endParaRPr lang="en-US" dirty="0"/>
          </a:p>
          <a:p>
            <a:r>
              <a:rPr lang="en-US" dirty="0" err="1"/>
              <a:t>TaskFlow</a:t>
            </a:r>
            <a:r>
              <a:rPr lang="en-US" dirty="0"/>
              <a:t> Examples...............10 minutes</a:t>
            </a:r>
          </a:p>
          <a:p>
            <a:endParaRPr lang="en-US" dirty="0"/>
          </a:p>
          <a:p>
            <a:r>
              <a:rPr lang="en-US" dirty="0"/>
              <a:t>INVEST Model.....................8 minutes</a:t>
            </a:r>
          </a:p>
          <a:p>
            <a:endParaRPr lang="en-US" dirty="0"/>
          </a:p>
          <a:p>
            <a:r>
              <a:rPr lang="en-US" dirty="0"/>
              <a:t>Architecture Spotlight...........7 minutes</a:t>
            </a:r>
          </a:p>
          <a:p>
            <a:endParaRPr lang="en-US" dirty="0"/>
          </a:p>
          <a:p>
            <a:r>
              <a:rPr lang="en-US" dirty="0"/>
              <a:t>Design Challenge.................8 minutes</a:t>
            </a:r>
          </a:p>
          <a:p>
            <a:endParaRPr lang="en-US" dirty="0"/>
          </a:p>
          <a:p>
            <a:r>
              <a:rPr lang="en-US" dirty="0"/>
              <a:t>Class Discussion.................7 minutes</a:t>
            </a:r>
          </a:p>
          <a:p>
            <a:endParaRPr lang="en-US" dirty="0"/>
          </a:p>
          <a:p>
            <a:r>
              <a:rPr lang="en-US" dirty="0"/>
              <a:t>Transition.......................3 minutes</a:t>
            </a:r>
          </a:p>
          <a:p>
            <a:endParaRPr lang="en-US" dirty="0"/>
          </a:p>
          <a:p>
            <a:r>
              <a:rPr lang="en-US" dirty="0"/>
              <a:t>Total...........................58 minutes</a:t>
            </a:r>
          </a:p>
          <a:p>
            <a:endParaRPr lang="en-US" dirty="0"/>
          </a:p>
          <a:p>
            <a:r>
              <a:rPr lang="en-US" dirty="0"/>
              <a:t>------------------------------------------------------------</a:t>
            </a:r>
          </a:p>
          <a:p>
            <a:endParaRPr lang="en-US" dirty="0"/>
          </a:p>
          <a:p>
            <a:r>
              <a:rPr lang="en-US" dirty="0"/>
              <a:t>INSTRUCTOR NOTES</a:t>
            </a:r>
          </a:p>
          <a:p>
            <a:endParaRPr lang="en-US" dirty="0"/>
          </a:p>
          <a:p>
            <a:r>
              <a:rPr lang="en-US" dirty="0"/>
              <a:t>Keep Atlas </a:t>
            </a:r>
            <a:r>
              <a:rPr lang="en-US" dirty="0" err="1"/>
              <a:t>TaskFlow</a:t>
            </a:r>
            <a:r>
              <a:rPr lang="en-US" dirty="0"/>
              <a:t> at the center of the lesson.</a:t>
            </a:r>
          </a:p>
          <a:p>
            <a:endParaRPr lang="en-US" dirty="0"/>
          </a:p>
          <a:p>
            <a:r>
              <a:rPr lang="en-US" dirty="0"/>
              <a:t>When students create User Stories, encourage them to think about</a:t>
            </a:r>
          </a:p>
          <a:p>
            <a:r>
              <a:rPr lang="en-US" dirty="0"/>
              <a:t>different types of users rather than just themselves.</a:t>
            </a:r>
          </a:p>
          <a:p>
            <a:endParaRPr lang="en-US" dirty="0"/>
          </a:p>
          <a:p>
            <a:r>
              <a:rPr lang="en-US" dirty="0"/>
              <a:t>Challenge them to ask:</a:t>
            </a:r>
          </a:p>
          <a:p>
            <a:endParaRPr lang="en-US" dirty="0"/>
          </a:p>
          <a:p>
            <a:r>
              <a:rPr lang="en-US" dirty="0"/>
              <a:t>Who benefits?</a:t>
            </a:r>
          </a:p>
          <a:p>
            <a:endParaRPr lang="en-US" dirty="0"/>
          </a:p>
          <a:p>
            <a:r>
              <a:rPr lang="en-US" dirty="0"/>
              <a:t>Why is this feature valuable?</a:t>
            </a:r>
          </a:p>
          <a:p>
            <a:endParaRPr lang="en-US" dirty="0"/>
          </a:p>
          <a:p>
            <a:r>
              <a:rPr lang="en-US" dirty="0"/>
              <a:t>Could we build this independently?</a:t>
            </a:r>
          </a:p>
          <a:p>
            <a:endParaRPr lang="en-US" dirty="0"/>
          </a:p>
          <a:p>
            <a:r>
              <a:rPr lang="en-US" dirty="0"/>
              <a:t>Throughout the discussion, reinforce that User Stories are not simply a</a:t>
            </a:r>
          </a:p>
          <a:p>
            <a:r>
              <a:rPr lang="en-US" dirty="0"/>
              <a:t>writing exercise.</a:t>
            </a:r>
          </a:p>
          <a:p>
            <a:endParaRPr lang="en-US" dirty="0"/>
          </a:p>
          <a:p>
            <a:r>
              <a:rPr lang="en-US" dirty="0"/>
              <a:t>They are communication tools that connect users, developers, designers,</a:t>
            </a:r>
          </a:p>
          <a:p>
            <a:r>
              <a:rPr lang="en-US" dirty="0"/>
              <a:t>and stakeholders around a shared understanding of value.</a:t>
            </a:r>
          </a:p>
          <a:p>
            <a:endParaRPr lang="en-US" dirty="0"/>
          </a:p>
          <a:p>
            <a:r>
              <a:rPr lang="en-US" dirty="0"/>
              <a:t>Close with:</a:t>
            </a:r>
          </a:p>
          <a:p>
            <a:endParaRPr lang="en-US" dirty="0"/>
          </a:p>
          <a:p>
            <a:r>
              <a:rPr lang="en-US" dirty="0"/>
              <a:t>"Requirements tell us what to build."</a:t>
            </a:r>
          </a:p>
          <a:p>
            <a:endParaRPr lang="en-US" dirty="0"/>
          </a:p>
          <a:p>
            <a:r>
              <a:rPr lang="en-US" dirty="0"/>
              <a:t>"User Stories remind us who we're building it for."</a:t>
            </a:r>
          </a:p>
          <a:p>
            <a:endParaRPr lang="en-US" dirty="0"/>
          </a:p>
          <a:p>
            <a:r>
              <a:rPr lang="en-US" dirty="0"/>
              <a:t>"And great software never loses sight of the user."</a:t>
            </a:r>
          </a:p>
          <a:p>
            <a:endParaRPr lang="en-US" dirty="0"/>
          </a:p>
          <a:p>
            <a:r>
              <a:rPr lang="en-US" dirty="0"/>
              <a:t>============================================================</a:t>
            </a:r>
          </a:p>
        </p:txBody>
      </p:sp>
      <p:sp>
        <p:nvSpPr>
          <p:cNvPr id="4" name="Slide Number Placeholder 3"/>
          <p:cNvSpPr>
            <a:spLocks noGrp="1"/>
          </p:cNvSpPr>
          <p:nvPr>
            <p:ph type="sldNum" sz="quarter" idx="5"/>
          </p:nvPr>
        </p:nvSpPr>
        <p:spPr/>
        <p:txBody>
          <a:bodyPr/>
          <a:lstStyle/>
          <a:p>
            <a:fld id="{12CFA81F-48ED-4EC0-89DB-73FF3AF92981}" type="slidenum">
              <a:rPr lang="en-US" smtClean="0"/>
              <a:t>3</a:t>
            </a:fld>
            <a:endParaRPr lang="en-US"/>
          </a:p>
        </p:txBody>
      </p:sp>
    </p:spTree>
    <p:extLst>
      <p:ext uri="{BB962C8B-B14F-4D97-AF65-F5344CB8AC3E}">
        <p14:creationId xmlns:p14="http://schemas.microsoft.com/office/powerpoint/2010/main" val="14554755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endParaRPr lang="en-US" dirty="0"/>
          </a:p>
          <a:p>
            <a:r>
              <a:rPr lang="en-US" dirty="0"/>
              <a:t>SPRINT 3</a:t>
            </a:r>
          </a:p>
          <a:p>
            <a:endParaRPr lang="en-US" dirty="0"/>
          </a:p>
          <a:p>
            <a:r>
              <a:rPr lang="en-US" dirty="0"/>
              <a:t>ARTIFACT XXXVI</a:t>
            </a:r>
          </a:p>
          <a:p>
            <a:endParaRPr lang="en-US" dirty="0"/>
          </a:p>
          <a:p>
            <a:r>
              <a:rPr lang="en-US" dirty="0"/>
              <a:t>PERSONAS &amp; USER JOURNEYS</a:t>
            </a:r>
          </a:p>
          <a:p>
            <a:endParaRPr lang="en-US" dirty="0"/>
          </a:p>
          <a:p>
            <a:r>
              <a:rPr lang="en-US" dirty="0"/>
              <a:t>============================================================</a:t>
            </a:r>
          </a:p>
          <a:p>
            <a:endParaRPr lang="en-US" dirty="0"/>
          </a:p>
          <a:p>
            <a:r>
              <a:rPr lang="en-US" dirty="0"/>
              <a:t>SLIDE PURPOSE</a:t>
            </a:r>
          </a:p>
          <a:p>
            <a:endParaRPr lang="en-US" dirty="0"/>
          </a:p>
          <a:p>
            <a:r>
              <a:rPr lang="en-US" dirty="0"/>
              <a:t>Introduce students to Personas and User Journeys as essential tools for</a:t>
            </a:r>
          </a:p>
          <a:p>
            <a:r>
              <a:rPr lang="en-US" dirty="0"/>
              <a:t>understanding users before designing software.</a:t>
            </a:r>
          </a:p>
          <a:p>
            <a:endParaRPr lang="en-US" dirty="0"/>
          </a:p>
          <a:p>
            <a:r>
              <a:rPr lang="en-US" dirty="0"/>
              <a:t>Students should understand that successful software isn't designed for</a:t>
            </a:r>
          </a:p>
          <a:p>
            <a:r>
              <a:rPr lang="en-US" dirty="0"/>
              <a:t>"everyone."</a:t>
            </a:r>
          </a:p>
          <a:p>
            <a:endParaRPr lang="en-US" dirty="0"/>
          </a:p>
          <a:p>
            <a:r>
              <a:rPr lang="en-US" dirty="0"/>
              <a:t>It is designed for specific people with specific goals, frustrations,</a:t>
            </a:r>
          </a:p>
          <a:p>
            <a:r>
              <a:rPr lang="en-US" dirty="0"/>
              <a:t>and needs.</a:t>
            </a:r>
          </a:p>
          <a:p>
            <a:endParaRPr lang="en-US" dirty="0"/>
          </a:p>
          <a:p>
            <a:r>
              <a:rPr lang="en-US" dirty="0"/>
              <a:t>Today we begin designing Atlas </a:t>
            </a:r>
            <a:r>
              <a:rPr lang="en-US" dirty="0" err="1"/>
              <a:t>TaskFlow</a:t>
            </a:r>
            <a:r>
              <a:rPr lang="en-US" dirty="0"/>
              <a:t> through the eyes of our users.</a:t>
            </a:r>
          </a:p>
          <a:p>
            <a:endParaRPr lang="en-US" dirty="0"/>
          </a:p>
          <a:p>
            <a:r>
              <a:rPr lang="en-US" dirty="0"/>
              <a:t>------------------------------------------------------------</a:t>
            </a:r>
          </a:p>
          <a:p>
            <a:endParaRPr lang="en-US" dirty="0"/>
          </a:p>
          <a:p>
            <a:r>
              <a:rPr lang="en-US" dirty="0"/>
              <a:t>OPENING</a:t>
            </a:r>
          </a:p>
          <a:p>
            <a:endParaRPr lang="en-US" dirty="0"/>
          </a:p>
          <a:p>
            <a:r>
              <a:rPr lang="en-US" dirty="0"/>
              <a:t>"Today we're taking another step in our client project."</a:t>
            </a:r>
          </a:p>
          <a:p>
            <a:endParaRPr lang="en-US" dirty="0"/>
          </a:p>
          <a:p>
            <a:r>
              <a:rPr lang="en-US" dirty="0"/>
              <a:t>"So far we've discovered requirements."</a:t>
            </a:r>
          </a:p>
          <a:p>
            <a:endParaRPr lang="en-US" dirty="0"/>
          </a:p>
          <a:p>
            <a:r>
              <a:rPr lang="en-US" dirty="0"/>
              <a:t>"We've written User Stories."</a:t>
            </a:r>
          </a:p>
          <a:p>
            <a:endParaRPr lang="en-US" dirty="0"/>
          </a:p>
          <a:p>
            <a:r>
              <a:rPr lang="en-US" dirty="0"/>
              <a:t>"But today we're going to ask a different question."</a:t>
            </a:r>
          </a:p>
          <a:p>
            <a:endParaRPr lang="en-US" dirty="0"/>
          </a:p>
          <a:p>
            <a:r>
              <a:rPr lang="en-US" dirty="0"/>
              <a:t>"Who are we actually building this application for?"</a:t>
            </a:r>
          </a:p>
          <a:p>
            <a:endParaRPr lang="en-US" dirty="0"/>
          </a:p>
          <a:p>
            <a:r>
              <a:rPr lang="en-US" dirty="0"/>
              <a:t>Pause.</a:t>
            </a:r>
          </a:p>
          <a:p>
            <a:endParaRPr lang="en-US" dirty="0"/>
          </a:p>
          <a:p>
            <a:r>
              <a:rPr lang="en-US" dirty="0"/>
              <a:t>"Because if we don't understand our users..."</a:t>
            </a:r>
          </a:p>
          <a:p>
            <a:endParaRPr lang="en-US" dirty="0"/>
          </a:p>
          <a:p>
            <a:r>
              <a:rPr lang="en-US" dirty="0"/>
              <a:t>"We'll never design the right experience."</a:t>
            </a:r>
          </a:p>
          <a:p>
            <a:endParaRPr lang="en-US" dirty="0"/>
          </a:p>
          <a:p>
            <a:r>
              <a:rPr lang="en-US" dirty="0"/>
              <a:t>------------------------------------------------------------</a:t>
            </a:r>
          </a:p>
          <a:p>
            <a:endParaRPr lang="en-US" dirty="0"/>
          </a:p>
          <a:p>
            <a:r>
              <a:rPr lang="en-US" dirty="0"/>
              <a:t>CONNECT TO TASKFLOW</a:t>
            </a:r>
          </a:p>
          <a:p>
            <a:endParaRPr lang="en-US" dirty="0"/>
          </a:p>
          <a:p>
            <a:r>
              <a:rPr lang="en-US" dirty="0"/>
              <a:t>Point to the Atlas </a:t>
            </a:r>
            <a:r>
              <a:rPr lang="en-US" dirty="0" err="1"/>
              <a:t>TaskFlow</a:t>
            </a:r>
            <a:r>
              <a:rPr lang="en-US" dirty="0"/>
              <a:t> section.</a:t>
            </a:r>
          </a:p>
          <a:p>
            <a:endParaRPr lang="en-US" dirty="0"/>
          </a:p>
          <a:p>
            <a:r>
              <a:rPr lang="en-US" dirty="0"/>
              <a:t>"Our client wants a task management platform."</a:t>
            </a:r>
          </a:p>
          <a:p>
            <a:endParaRPr lang="en-US" dirty="0"/>
          </a:p>
          <a:p>
            <a:r>
              <a:rPr lang="en-US" dirty="0"/>
              <a:t>"But who uses it?"</a:t>
            </a:r>
          </a:p>
          <a:p>
            <a:endParaRPr lang="en-US" dirty="0"/>
          </a:p>
          <a:p>
            <a:r>
              <a:rPr lang="en-US" dirty="0"/>
              <a:t>Students.</a:t>
            </a:r>
          </a:p>
          <a:p>
            <a:endParaRPr lang="en-US" dirty="0"/>
          </a:p>
          <a:p>
            <a:r>
              <a:rPr lang="en-US" dirty="0"/>
              <a:t>Project Managers.</a:t>
            </a:r>
          </a:p>
          <a:p>
            <a:endParaRPr lang="en-US" dirty="0"/>
          </a:p>
          <a:p>
            <a:r>
              <a:rPr lang="en-US" dirty="0"/>
              <a:t>Team Members.</a:t>
            </a:r>
          </a:p>
          <a:p>
            <a:endParaRPr lang="en-US" dirty="0"/>
          </a:p>
          <a:p>
            <a:r>
              <a:rPr lang="en-US" dirty="0"/>
              <a:t>Administrators.</a:t>
            </a:r>
          </a:p>
          <a:p>
            <a:endParaRPr lang="en-US" dirty="0"/>
          </a:p>
          <a:p>
            <a:r>
              <a:rPr lang="en-US" dirty="0"/>
              <a:t>Business Owners.</a:t>
            </a:r>
          </a:p>
          <a:p>
            <a:endParaRPr lang="en-US" dirty="0"/>
          </a:p>
          <a:p>
            <a:r>
              <a:rPr lang="en-US" dirty="0"/>
              <a:t>Explain:</a:t>
            </a:r>
          </a:p>
          <a:p>
            <a:endParaRPr lang="en-US" dirty="0"/>
          </a:p>
          <a:p>
            <a:r>
              <a:rPr lang="en-US" dirty="0"/>
              <a:t>"Although they're using the same application..."</a:t>
            </a:r>
          </a:p>
          <a:p>
            <a:endParaRPr lang="en-US" dirty="0"/>
          </a:p>
          <a:p>
            <a:r>
              <a:rPr lang="en-US" dirty="0"/>
              <a:t>"They're using it for completely different reasons."</a:t>
            </a:r>
          </a:p>
          <a:p>
            <a:endParaRPr lang="en-US" dirty="0"/>
          </a:p>
          <a:p>
            <a:r>
              <a:rPr lang="en-US" dirty="0"/>
              <a:t>"That's why we create Personas."</a:t>
            </a:r>
          </a:p>
          <a:p>
            <a:endParaRPr lang="en-US" dirty="0"/>
          </a:p>
          <a:p>
            <a:r>
              <a:rPr lang="en-US" dirty="0"/>
              <a:t>------------------------------------------------------------</a:t>
            </a:r>
          </a:p>
          <a:p>
            <a:endParaRPr lang="en-US" dirty="0"/>
          </a:p>
          <a:p>
            <a:r>
              <a:rPr lang="en-US" dirty="0"/>
              <a:t>WHAT IS A PERSONA?</a:t>
            </a:r>
          </a:p>
          <a:p>
            <a:endParaRPr lang="en-US" dirty="0"/>
          </a:p>
          <a:p>
            <a:r>
              <a:rPr lang="en-US" dirty="0"/>
              <a:t>Explain:</a:t>
            </a:r>
          </a:p>
          <a:p>
            <a:endParaRPr lang="en-US" dirty="0"/>
          </a:p>
          <a:p>
            <a:r>
              <a:rPr lang="en-US" dirty="0"/>
              <a:t>"A Persona is a fictional representation of a real type of user."</a:t>
            </a:r>
          </a:p>
          <a:p>
            <a:endParaRPr lang="en-US" dirty="0"/>
          </a:p>
          <a:p>
            <a:r>
              <a:rPr lang="en-US" dirty="0"/>
              <a:t>"It helps us understand goals..."</a:t>
            </a:r>
          </a:p>
          <a:p>
            <a:endParaRPr lang="en-US" dirty="0"/>
          </a:p>
          <a:p>
            <a:r>
              <a:rPr lang="en-US" dirty="0"/>
              <a:t>"Frustrations..."</a:t>
            </a:r>
          </a:p>
          <a:p>
            <a:endParaRPr lang="en-US" dirty="0"/>
          </a:p>
          <a:p>
            <a:r>
              <a:rPr lang="en-US" dirty="0"/>
              <a:t>"Motivations..."</a:t>
            </a:r>
          </a:p>
          <a:p>
            <a:endParaRPr lang="en-US" dirty="0"/>
          </a:p>
          <a:p>
            <a:r>
              <a:rPr lang="en-US" dirty="0"/>
              <a:t>"And expectations."</a:t>
            </a:r>
          </a:p>
          <a:p>
            <a:endParaRPr lang="en-US" dirty="0"/>
          </a:p>
          <a:p>
            <a:r>
              <a:rPr lang="en-US" dirty="0"/>
              <a:t>Emphasize:</a:t>
            </a:r>
          </a:p>
          <a:p>
            <a:endParaRPr lang="en-US" dirty="0"/>
          </a:p>
          <a:p>
            <a:r>
              <a:rPr lang="en-US" dirty="0"/>
              <a:t>"We're not inventing imaginary people."</a:t>
            </a:r>
          </a:p>
          <a:p>
            <a:endParaRPr lang="en-US" dirty="0"/>
          </a:p>
          <a:p>
            <a:r>
              <a:rPr lang="en-US" dirty="0"/>
              <a:t>"We're summarizing patterns we've learned from real users."</a:t>
            </a:r>
          </a:p>
          <a:p>
            <a:endParaRPr lang="en-US" dirty="0"/>
          </a:p>
          <a:p>
            <a:r>
              <a:rPr lang="en-US" dirty="0"/>
              <a:t>------------------------------------------------------------</a:t>
            </a:r>
          </a:p>
          <a:p>
            <a:endParaRPr lang="en-US" dirty="0"/>
          </a:p>
          <a:p>
            <a:r>
              <a:rPr lang="en-US" dirty="0"/>
              <a:t>ATLAS TASKFLOW PERSONAS</a:t>
            </a:r>
          </a:p>
          <a:p>
            <a:endParaRPr lang="en-US" dirty="0"/>
          </a:p>
          <a:p>
            <a:r>
              <a:rPr lang="en-US" dirty="0"/>
              <a:t>Walk through each persona.</a:t>
            </a:r>
          </a:p>
          <a:p>
            <a:endParaRPr lang="en-US" dirty="0"/>
          </a:p>
          <a:p>
            <a:r>
              <a:rPr lang="en-US" dirty="0"/>
              <a:t>------------------------------------------------------------</a:t>
            </a:r>
          </a:p>
          <a:p>
            <a:endParaRPr lang="en-US" dirty="0"/>
          </a:p>
          <a:p>
            <a:r>
              <a:rPr lang="en-US" dirty="0"/>
              <a:t>OLIVIA</a:t>
            </a:r>
          </a:p>
          <a:p>
            <a:endParaRPr lang="en-US" dirty="0"/>
          </a:p>
          <a:p>
            <a:r>
              <a:rPr lang="en-US" dirty="0"/>
              <a:t>Student</a:t>
            </a:r>
          </a:p>
          <a:p>
            <a:endParaRPr lang="en-US" dirty="0"/>
          </a:p>
          <a:p>
            <a:r>
              <a:rPr lang="en-US" dirty="0"/>
              <a:t>Goals</a:t>
            </a:r>
          </a:p>
          <a:p>
            <a:endParaRPr lang="en-US" dirty="0"/>
          </a:p>
          <a:p>
            <a:r>
              <a:rPr lang="en-US" dirty="0"/>
              <a:t>Stay organized</a:t>
            </a:r>
          </a:p>
          <a:p>
            <a:endParaRPr lang="en-US" dirty="0"/>
          </a:p>
          <a:p>
            <a:r>
              <a:rPr lang="en-US" dirty="0"/>
              <a:t>Track assignments</a:t>
            </a:r>
          </a:p>
          <a:p>
            <a:endParaRPr lang="en-US" dirty="0"/>
          </a:p>
          <a:p>
            <a:r>
              <a:rPr lang="en-US" dirty="0"/>
              <a:t>Meet deadlines</a:t>
            </a:r>
          </a:p>
          <a:p>
            <a:endParaRPr lang="en-US" dirty="0"/>
          </a:p>
          <a:p>
            <a:r>
              <a:rPr lang="en-US" dirty="0"/>
              <a:t>Frustrations</a:t>
            </a:r>
          </a:p>
          <a:p>
            <a:endParaRPr lang="en-US" dirty="0"/>
          </a:p>
          <a:p>
            <a:r>
              <a:rPr lang="en-US" dirty="0"/>
              <a:t>Too many due dates</a:t>
            </a:r>
          </a:p>
          <a:p>
            <a:endParaRPr lang="en-US" dirty="0"/>
          </a:p>
          <a:p>
            <a:r>
              <a:rPr lang="en-US" dirty="0"/>
              <a:t>Disorganized information</a:t>
            </a:r>
          </a:p>
          <a:p>
            <a:endParaRPr lang="en-US" dirty="0"/>
          </a:p>
          <a:p>
            <a:r>
              <a:rPr lang="en-US" dirty="0"/>
              <a:t>Stress</a:t>
            </a:r>
          </a:p>
          <a:p>
            <a:endParaRPr lang="en-US" dirty="0"/>
          </a:p>
          <a:p>
            <a:r>
              <a:rPr lang="en-US" dirty="0"/>
              <a:t>Ask students:</a:t>
            </a:r>
          </a:p>
          <a:p>
            <a:endParaRPr lang="en-US" dirty="0"/>
          </a:p>
          <a:p>
            <a:r>
              <a:rPr lang="en-US" dirty="0"/>
              <a:t>"How could </a:t>
            </a:r>
            <a:r>
              <a:rPr lang="en-US" dirty="0" err="1"/>
              <a:t>TaskFlow</a:t>
            </a:r>
            <a:r>
              <a:rPr lang="en-US" dirty="0"/>
              <a:t> help Olivia?"</a:t>
            </a:r>
          </a:p>
          <a:p>
            <a:endParaRPr lang="en-US" dirty="0"/>
          </a:p>
          <a:p>
            <a:r>
              <a:rPr lang="en-US" dirty="0"/>
              <a:t>------------------------------------------------------------</a:t>
            </a:r>
          </a:p>
          <a:p>
            <a:endParaRPr lang="en-US" dirty="0"/>
          </a:p>
          <a:p>
            <a:r>
              <a:rPr lang="en-US" dirty="0"/>
              <a:t>ETHAN</a:t>
            </a:r>
          </a:p>
          <a:p>
            <a:endParaRPr lang="en-US" dirty="0"/>
          </a:p>
          <a:p>
            <a:r>
              <a:rPr lang="en-US" dirty="0"/>
              <a:t>Team Member</a:t>
            </a:r>
          </a:p>
          <a:p>
            <a:endParaRPr lang="en-US" dirty="0"/>
          </a:p>
          <a:p>
            <a:r>
              <a:rPr lang="en-US" dirty="0"/>
              <a:t>Goals</a:t>
            </a:r>
          </a:p>
          <a:p>
            <a:endParaRPr lang="en-US" dirty="0"/>
          </a:p>
          <a:p>
            <a:r>
              <a:rPr lang="en-US" dirty="0"/>
              <a:t>Know assigned work</a:t>
            </a:r>
          </a:p>
          <a:p>
            <a:endParaRPr lang="en-US" dirty="0"/>
          </a:p>
          <a:p>
            <a:r>
              <a:rPr lang="en-US" dirty="0"/>
              <a:t>Collaborate</a:t>
            </a:r>
          </a:p>
          <a:p>
            <a:endParaRPr lang="en-US" dirty="0"/>
          </a:p>
          <a:p>
            <a:r>
              <a:rPr lang="en-US" dirty="0"/>
              <a:t>Share updates</a:t>
            </a:r>
          </a:p>
          <a:p>
            <a:endParaRPr lang="en-US" dirty="0"/>
          </a:p>
          <a:p>
            <a:r>
              <a:rPr lang="en-US" dirty="0"/>
              <a:t>Frustrations</a:t>
            </a:r>
          </a:p>
          <a:p>
            <a:endParaRPr lang="en-US" dirty="0"/>
          </a:p>
          <a:p>
            <a:r>
              <a:rPr lang="en-US" dirty="0"/>
              <a:t>Unclear priorities</a:t>
            </a:r>
          </a:p>
          <a:p>
            <a:endParaRPr lang="en-US" dirty="0"/>
          </a:p>
          <a:p>
            <a:r>
              <a:rPr lang="en-US" dirty="0"/>
              <a:t>Finding files</a:t>
            </a:r>
          </a:p>
          <a:p>
            <a:endParaRPr lang="en-US" dirty="0"/>
          </a:p>
          <a:p>
            <a:r>
              <a:rPr lang="en-US" dirty="0"/>
              <a:t>Communication</a:t>
            </a:r>
          </a:p>
          <a:p>
            <a:endParaRPr lang="en-US" dirty="0"/>
          </a:p>
          <a:p>
            <a:r>
              <a:rPr lang="en-US" dirty="0"/>
              <a:t>Discuss.</a:t>
            </a:r>
          </a:p>
          <a:p>
            <a:endParaRPr lang="en-US" dirty="0"/>
          </a:p>
          <a:p>
            <a:r>
              <a:rPr lang="en-US" dirty="0"/>
              <a:t>------------------------------------------------------------</a:t>
            </a:r>
          </a:p>
          <a:p>
            <a:endParaRPr lang="en-US" dirty="0"/>
          </a:p>
          <a:p>
            <a:r>
              <a:rPr lang="en-US" dirty="0"/>
              <a:t>MAYA</a:t>
            </a:r>
          </a:p>
          <a:p>
            <a:endParaRPr lang="en-US" dirty="0"/>
          </a:p>
          <a:p>
            <a:r>
              <a:rPr lang="en-US" dirty="0"/>
              <a:t>Project Manager</a:t>
            </a:r>
          </a:p>
          <a:p>
            <a:endParaRPr lang="en-US" dirty="0"/>
          </a:p>
          <a:p>
            <a:r>
              <a:rPr lang="en-US" dirty="0"/>
              <a:t>Goals</a:t>
            </a:r>
          </a:p>
          <a:p>
            <a:endParaRPr lang="en-US" dirty="0"/>
          </a:p>
          <a:p>
            <a:r>
              <a:rPr lang="en-US" dirty="0"/>
              <a:t>Monitor progress</a:t>
            </a:r>
          </a:p>
          <a:p>
            <a:endParaRPr lang="en-US" dirty="0"/>
          </a:p>
          <a:p>
            <a:r>
              <a:rPr lang="en-US" dirty="0"/>
              <a:t>Assign work</a:t>
            </a:r>
          </a:p>
          <a:p>
            <a:endParaRPr lang="en-US" dirty="0"/>
          </a:p>
          <a:p>
            <a:r>
              <a:rPr lang="en-US" dirty="0"/>
              <a:t>Keep projects on schedule</a:t>
            </a:r>
          </a:p>
          <a:p>
            <a:endParaRPr lang="en-US" dirty="0"/>
          </a:p>
          <a:p>
            <a:r>
              <a:rPr lang="en-US" dirty="0"/>
              <a:t>Frustrations</a:t>
            </a:r>
          </a:p>
          <a:p>
            <a:endParaRPr lang="en-US" dirty="0"/>
          </a:p>
          <a:p>
            <a:r>
              <a:rPr lang="en-US" dirty="0"/>
              <a:t>Lack of visibility</a:t>
            </a:r>
          </a:p>
          <a:p>
            <a:endParaRPr lang="en-US" dirty="0"/>
          </a:p>
          <a:p>
            <a:r>
              <a:rPr lang="en-US" dirty="0"/>
              <a:t>Missed deadlines</a:t>
            </a:r>
          </a:p>
          <a:p>
            <a:endParaRPr lang="en-US" dirty="0"/>
          </a:p>
          <a:p>
            <a:r>
              <a:rPr lang="en-US" dirty="0"/>
              <a:t>Status uncertainty</a:t>
            </a:r>
          </a:p>
          <a:p>
            <a:endParaRPr lang="en-US" dirty="0"/>
          </a:p>
          <a:p>
            <a:r>
              <a:rPr lang="en-US" dirty="0"/>
              <a:t>------------------------------------------------------------</a:t>
            </a:r>
          </a:p>
          <a:p>
            <a:endParaRPr lang="en-US" dirty="0"/>
          </a:p>
          <a:p>
            <a:r>
              <a:rPr lang="en-US" dirty="0"/>
              <a:t>DANIEL</a:t>
            </a:r>
          </a:p>
          <a:p>
            <a:endParaRPr lang="en-US" dirty="0"/>
          </a:p>
          <a:p>
            <a:r>
              <a:rPr lang="en-US" dirty="0"/>
              <a:t>Administrator</a:t>
            </a:r>
          </a:p>
          <a:p>
            <a:endParaRPr lang="en-US" dirty="0"/>
          </a:p>
          <a:p>
            <a:r>
              <a:rPr lang="en-US" dirty="0"/>
              <a:t>Goals</a:t>
            </a:r>
          </a:p>
          <a:p>
            <a:endParaRPr lang="en-US" dirty="0"/>
          </a:p>
          <a:p>
            <a:r>
              <a:rPr lang="en-US" dirty="0"/>
              <a:t>Manage users</a:t>
            </a:r>
          </a:p>
          <a:p>
            <a:endParaRPr lang="en-US" dirty="0"/>
          </a:p>
          <a:p>
            <a:r>
              <a:rPr lang="en-US" dirty="0"/>
              <a:t>Maintain security</a:t>
            </a:r>
          </a:p>
          <a:p>
            <a:endParaRPr lang="en-US" dirty="0"/>
          </a:p>
          <a:p>
            <a:r>
              <a:rPr lang="en-US" dirty="0"/>
              <a:t>Configure settings</a:t>
            </a:r>
          </a:p>
          <a:p>
            <a:endParaRPr lang="en-US" dirty="0"/>
          </a:p>
          <a:p>
            <a:r>
              <a:rPr lang="en-US" dirty="0"/>
              <a:t>Frustrations</a:t>
            </a:r>
          </a:p>
          <a:p>
            <a:endParaRPr lang="en-US" dirty="0"/>
          </a:p>
          <a:p>
            <a:r>
              <a:rPr lang="en-US" dirty="0"/>
              <a:t>Permissions</a:t>
            </a:r>
          </a:p>
          <a:p>
            <a:endParaRPr lang="en-US" dirty="0"/>
          </a:p>
          <a:p>
            <a:r>
              <a:rPr lang="en-US" dirty="0"/>
              <a:t>Security risks</a:t>
            </a:r>
          </a:p>
          <a:p>
            <a:endParaRPr lang="en-US" dirty="0"/>
          </a:p>
          <a:p>
            <a:r>
              <a:rPr lang="en-US" dirty="0"/>
              <a:t>Complex administration</a:t>
            </a:r>
          </a:p>
          <a:p>
            <a:endParaRPr lang="en-US" dirty="0"/>
          </a:p>
          <a:p>
            <a:r>
              <a:rPr lang="en-US" dirty="0"/>
              <a:t>Explain:</a:t>
            </a:r>
          </a:p>
          <a:p>
            <a:endParaRPr lang="en-US" dirty="0"/>
          </a:p>
          <a:p>
            <a:r>
              <a:rPr lang="en-US" dirty="0"/>
              <a:t>"Notice something."</a:t>
            </a:r>
          </a:p>
          <a:p>
            <a:endParaRPr lang="en-US" dirty="0"/>
          </a:p>
          <a:p>
            <a:r>
              <a:rPr lang="en-US" dirty="0"/>
              <a:t>"Every user wants something different."</a:t>
            </a:r>
          </a:p>
          <a:p>
            <a:endParaRPr lang="en-US" dirty="0"/>
          </a:p>
          <a:p>
            <a:r>
              <a:rPr lang="en-US" dirty="0"/>
              <a:t>"One interface must satisfy them all."</a:t>
            </a:r>
          </a:p>
          <a:p>
            <a:endParaRPr lang="en-US" dirty="0"/>
          </a:p>
          <a:p>
            <a:r>
              <a:rPr lang="en-US" dirty="0"/>
              <a:t>------------------------------------------------------------</a:t>
            </a:r>
          </a:p>
          <a:p>
            <a:endParaRPr lang="en-US" dirty="0"/>
          </a:p>
          <a:p>
            <a:r>
              <a:rPr lang="en-US" dirty="0"/>
              <a:t>ENGINEERING INSIGHT</a:t>
            </a:r>
          </a:p>
          <a:p>
            <a:endParaRPr lang="en-US" dirty="0"/>
          </a:p>
          <a:p>
            <a:r>
              <a:rPr lang="en-US" dirty="0"/>
              <a:t>Read the statement.</a:t>
            </a:r>
          </a:p>
          <a:p>
            <a:endParaRPr lang="en-US" dirty="0"/>
          </a:p>
          <a:p>
            <a:r>
              <a:rPr lang="en-US" dirty="0"/>
              <a:t>"Great software is built from empathy."</a:t>
            </a:r>
          </a:p>
          <a:p>
            <a:endParaRPr lang="en-US" dirty="0"/>
          </a:p>
          <a:p>
            <a:r>
              <a:rPr lang="en-US" dirty="0"/>
              <a:t>Pause.</a:t>
            </a:r>
          </a:p>
          <a:p>
            <a:endParaRPr lang="en-US" dirty="0"/>
          </a:p>
          <a:p>
            <a:r>
              <a:rPr lang="en-US" dirty="0"/>
              <a:t>Explain.</a:t>
            </a:r>
          </a:p>
          <a:p>
            <a:endParaRPr lang="en-US" dirty="0"/>
          </a:p>
          <a:p>
            <a:r>
              <a:rPr lang="en-US" dirty="0"/>
              <a:t>"Empathy isn't just a personal skill."</a:t>
            </a:r>
          </a:p>
          <a:p>
            <a:endParaRPr lang="en-US" dirty="0"/>
          </a:p>
          <a:p>
            <a:r>
              <a:rPr lang="en-US" dirty="0"/>
              <a:t>"It's an engineering skill."</a:t>
            </a:r>
          </a:p>
          <a:p>
            <a:endParaRPr lang="en-US" dirty="0"/>
          </a:p>
          <a:p>
            <a:r>
              <a:rPr lang="en-US" dirty="0"/>
              <a:t>"When we understand people..."</a:t>
            </a:r>
          </a:p>
          <a:p>
            <a:endParaRPr lang="en-US" dirty="0"/>
          </a:p>
          <a:p>
            <a:r>
              <a:rPr lang="en-US" dirty="0"/>
              <a:t>"We design better software."</a:t>
            </a:r>
          </a:p>
          <a:p>
            <a:endParaRPr lang="en-US" dirty="0"/>
          </a:p>
          <a:p>
            <a:r>
              <a:rPr lang="en-US" dirty="0"/>
              <a:t>------------------------------------------------------------</a:t>
            </a:r>
          </a:p>
          <a:p>
            <a:endParaRPr lang="en-US" dirty="0"/>
          </a:p>
          <a:p>
            <a:r>
              <a:rPr lang="en-US" dirty="0"/>
              <a:t>USER JOURNEYS</a:t>
            </a:r>
          </a:p>
          <a:p>
            <a:endParaRPr lang="en-US" dirty="0"/>
          </a:p>
          <a:p>
            <a:r>
              <a:rPr lang="en-US" dirty="0"/>
              <a:t>Point to the journey map.</a:t>
            </a:r>
          </a:p>
          <a:p>
            <a:endParaRPr lang="en-US" dirty="0"/>
          </a:p>
          <a:p>
            <a:r>
              <a:rPr lang="en-US" dirty="0"/>
              <a:t>"A User Journey describes the experience someone has while completing a</a:t>
            </a:r>
          </a:p>
          <a:p>
            <a:r>
              <a:rPr lang="en-US" dirty="0"/>
              <a:t>goal."</a:t>
            </a:r>
          </a:p>
          <a:p>
            <a:endParaRPr lang="en-US" dirty="0"/>
          </a:p>
          <a:p>
            <a:r>
              <a:rPr lang="en-US" dirty="0"/>
              <a:t>Walk through Olivia's journey.</a:t>
            </a:r>
          </a:p>
          <a:p>
            <a:endParaRPr lang="en-US" dirty="0"/>
          </a:p>
          <a:p>
            <a:r>
              <a:rPr lang="en-US" dirty="0"/>
              <a:t>Login</a:t>
            </a:r>
          </a:p>
          <a:p>
            <a:endParaRPr lang="en-US" dirty="0"/>
          </a:p>
          <a:p>
            <a:r>
              <a:rPr lang="en-US" dirty="0"/>
              <a:t>↓</a:t>
            </a:r>
          </a:p>
          <a:p>
            <a:endParaRPr lang="en-US" dirty="0"/>
          </a:p>
          <a:p>
            <a:r>
              <a:rPr lang="en-US" dirty="0"/>
              <a:t>View Tasks</a:t>
            </a:r>
          </a:p>
          <a:p>
            <a:endParaRPr lang="en-US" dirty="0"/>
          </a:p>
          <a:p>
            <a:r>
              <a:rPr lang="en-US" dirty="0"/>
              <a:t>↓</a:t>
            </a:r>
          </a:p>
          <a:p>
            <a:endParaRPr lang="en-US" dirty="0"/>
          </a:p>
          <a:p>
            <a:r>
              <a:rPr lang="en-US" dirty="0"/>
              <a:t>Open Assignment</a:t>
            </a:r>
          </a:p>
          <a:p>
            <a:endParaRPr lang="en-US" dirty="0"/>
          </a:p>
          <a:p>
            <a:r>
              <a:rPr lang="en-US" dirty="0"/>
              <a:t>↓</a:t>
            </a:r>
          </a:p>
          <a:p>
            <a:endParaRPr lang="en-US" dirty="0"/>
          </a:p>
          <a:p>
            <a:r>
              <a:rPr lang="en-US" dirty="0"/>
              <a:t>Upload Work</a:t>
            </a:r>
          </a:p>
          <a:p>
            <a:endParaRPr lang="en-US" dirty="0"/>
          </a:p>
          <a:p>
            <a:r>
              <a:rPr lang="en-US" dirty="0"/>
              <a:t>↓</a:t>
            </a:r>
          </a:p>
          <a:p>
            <a:endParaRPr lang="en-US" dirty="0"/>
          </a:p>
          <a:p>
            <a:r>
              <a:rPr lang="en-US" dirty="0"/>
              <a:t>Submit</a:t>
            </a:r>
          </a:p>
          <a:p>
            <a:endParaRPr lang="en-US" dirty="0"/>
          </a:p>
          <a:p>
            <a:r>
              <a:rPr lang="en-US" dirty="0"/>
              <a:t>↓</a:t>
            </a:r>
          </a:p>
          <a:p>
            <a:endParaRPr lang="en-US" dirty="0"/>
          </a:p>
          <a:p>
            <a:r>
              <a:rPr lang="en-US" dirty="0"/>
              <a:t>Track Progress</a:t>
            </a:r>
          </a:p>
          <a:p>
            <a:endParaRPr lang="en-US" dirty="0"/>
          </a:p>
          <a:p>
            <a:r>
              <a:rPr lang="en-US" dirty="0"/>
              <a:t>Explain:</a:t>
            </a:r>
          </a:p>
          <a:p>
            <a:endParaRPr lang="en-US" dirty="0"/>
          </a:p>
          <a:p>
            <a:r>
              <a:rPr lang="en-US" dirty="0"/>
              <a:t>"This isn't about screens."</a:t>
            </a:r>
          </a:p>
          <a:p>
            <a:endParaRPr lang="en-US" dirty="0"/>
          </a:p>
          <a:p>
            <a:r>
              <a:rPr lang="en-US" dirty="0"/>
              <a:t>"It's about experiences."</a:t>
            </a:r>
          </a:p>
          <a:p>
            <a:endParaRPr lang="en-US" dirty="0"/>
          </a:p>
          <a:p>
            <a:r>
              <a:rPr lang="en-US" dirty="0"/>
              <a:t>------------------------------------------------------------</a:t>
            </a:r>
          </a:p>
          <a:p>
            <a:endParaRPr lang="en-US" dirty="0"/>
          </a:p>
          <a:p>
            <a:r>
              <a:rPr lang="en-US" dirty="0"/>
              <a:t>ACTIONS</a:t>
            </a:r>
          </a:p>
          <a:p>
            <a:endParaRPr lang="en-US" dirty="0"/>
          </a:p>
          <a:p>
            <a:r>
              <a:rPr lang="en-US" dirty="0"/>
              <a:t>Explain.</a:t>
            </a:r>
          </a:p>
          <a:p>
            <a:endParaRPr lang="en-US" dirty="0"/>
          </a:p>
          <a:p>
            <a:r>
              <a:rPr lang="en-US" dirty="0"/>
              <a:t>"What is the user doing?"</a:t>
            </a:r>
          </a:p>
          <a:p>
            <a:endParaRPr lang="en-US" dirty="0"/>
          </a:p>
          <a:p>
            <a:r>
              <a:rPr lang="en-US" dirty="0"/>
              <a:t>------------------------------------------------------------</a:t>
            </a:r>
          </a:p>
          <a:p>
            <a:endParaRPr lang="en-US" dirty="0"/>
          </a:p>
          <a:p>
            <a:r>
              <a:rPr lang="en-US" dirty="0"/>
              <a:t>THOUGHTS</a:t>
            </a:r>
          </a:p>
          <a:p>
            <a:endParaRPr lang="en-US" dirty="0"/>
          </a:p>
          <a:p>
            <a:r>
              <a:rPr lang="en-US" dirty="0"/>
              <a:t>"What is the user thinking?"</a:t>
            </a:r>
          </a:p>
          <a:p>
            <a:endParaRPr lang="en-US" dirty="0"/>
          </a:p>
          <a:p>
            <a:r>
              <a:rPr lang="en-US" dirty="0"/>
              <a:t>------------------------------------------------------------</a:t>
            </a:r>
          </a:p>
          <a:p>
            <a:endParaRPr lang="en-US" dirty="0"/>
          </a:p>
          <a:p>
            <a:r>
              <a:rPr lang="en-US" dirty="0"/>
              <a:t>FEELINGS</a:t>
            </a:r>
          </a:p>
          <a:p>
            <a:endParaRPr lang="en-US" dirty="0"/>
          </a:p>
          <a:p>
            <a:r>
              <a:rPr lang="en-US" dirty="0"/>
              <a:t>"How do they feel?"</a:t>
            </a:r>
          </a:p>
          <a:p>
            <a:endParaRPr lang="en-US" dirty="0"/>
          </a:p>
          <a:p>
            <a:r>
              <a:rPr lang="en-US" dirty="0"/>
              <a:t>Confident?</a:t>
            </a:r>
          </a:p>
          <a:p>
            <a:endParaRPr lang="en-US" dirty="0"/>
          </a:p>
          <a:p>
            <a:r>
              <a:rPr lang="en-US" dirty="0"/>
              <a:t>Confused?</a:t>
            </a:r>
          </a:p>
          <a:p>
            <a:endParaRPr lang="en-US" dirty="0"/>
          </a:p>
          <a:p>
            <a:r>
              <a:rPr lang="en-US" dirty="0"/>
              <a:t>Frustrated?</a:t>
            </a:r>
          </a:p>
          <a:p>
            <a:endParaRPr lang="en-US" dirty="0"/>
          </a:p>
          <a:p>
            <a:r>
              <a:rPr lang="en-US" dirty="0"/>
              <a:t>Relieved?</a:t>
            </a:r>
          </a:p>
          <a:p>
            <a:endParaRPr lang="en-US" dirty="0"/>
          </a:p>
          <a:p>
            <a:r>
              <a:rPr lang="en-US" dirty="0"/>
              <a:t>------------------------------------------------------------</a:t>
            </a:r>
          </a:p>
          <a:p>
            <a:endParaRPr lang="en-US" dirty="0"/>
          </a:p>
          <a:p>
            <a:r>
              <a:rPr lang="en-US" dirty="0"/>
              <a:t>OPPORTUNITIES</a:t>
            </a:r>
          </a:p>
          <a:p>
            <a:endParaRPr lang="en-US" dirty="0"/>
          </a:p>
          <a:p>
            <a:r>
              <a:rPr lang="en-US" dirty="0"/>
              <a:t>"How can we improve their experience?"</a:t>
            </a:r>
          </a:p>
          <a:p>
            <a:endParaRPr lang="en-US" dirty="0"/>
          </a:p>
          <a:p>
            <a:r>
              <a:rPr lang="en-US" dirty="0"/>
              <a:t>This is where great UX happens.</a:t>
            </a:r>
          </a:p>
          <a:p>
            <a:endParaRPr lang="en-US" dirty="0"/>
          </a:p>
          <a:p>
            <a:r>
              <a:rPr lang="en-US" dirty="0"/>
              <a:t>------------------------------------------------------------</a:t>
            </a:r>
          </a:p>
          <a:p>
            <a:endParaRPr lang="en-US" dirty="0"/>
          </a:p>
          <a:p>
            <a:r>
              <a:rPr lang="en-US" dirty="0"/>
              <a:t>ATLAS ARCHITECTURE SPOTLIGHT</a:t>
            </a:r>
          </a:p>
          <a:p>
            <a:endParaRPr lang="en-US" dirty="0"/>
          </a:p>
          <a:p>
            <a:r>
              <a:rPr lang="en-US" dirty="0"/>
              <a:t>Today's Spotlight:</a:t>
            </a:r>
          </a:p>
          <a:p>
            <a:endParaRPr lang="en-US" dirty="0"/>
          </a:p>
          <a:p>
            <a:r>
              <a:rPr lang="en-US" dirty="0"/>
              <a:t>Microsoft Planner</a:t>
            </a:r>
          </a:p>
          <a:p>
            <a:endParaRPr lang="en-US" dirty="0"/>
          </a:p>
          <a:p>
            <a:r>
              <a:rPr lang="en-US" dirty="0"/>
              <a:t>Ask students:</a:t>
            </a:r>
          </a:p>
          <a:p>
            <a:endParaRPr lang="en-US" dirty="0"/>
          </a:p>
          <a:p>
            <a:r>
              <a:rPr lang="en-US" dirty="0"/>
              <a:t>"What different users exist?"</a:t>
            </a:r>
          </a:p>
          <a:p>
            <a:endParaRPr lang="en-US" dirty="0"/>
          </a:p>
          <a:p>
            <a:r>
              <a:rPr lang="en-US" dirty="0"/>
              <a:t>Managers</a:t>
            </a:r>
          </a:p>
          <a:p>
            <a:endParaRPr lang="en-US" dirty="0"/>
          </a:p>
          <a:p>
            <a:r>
              <a:rPr lang="en-US" dirty="0"/>
              <a:t>Employees</a:t>
            </a:r>
          </a:p>
          <a:p>
            <a:endParaRPr lang="en-US" dirty="0"/>
          </a:p>
          <a:p>
            <a:r>
              <a:rPr lang="en-US" dirty="0"/>
              <a:t>Executives</a:t>
            </a:r>
          </a:p>
          <a:p>
            <a:endParaRPr lang="en-US" dirty="0"/>
          </a:p>
          <a:p>
            <a:r>
              <a:rPr lang="en-US" dirty="0"/>
              <a:t>Administrators</a:t>
            </a:r>
          </a:p>
          <a:p>
            <a:endParaRPr lang="en-US" dirty="0"/>
          </a:p>
          <a:p>
            <a:r>
              <a:rPr lang="en-US" dirty="0"/>
              <a:t>Then ask:</a:t>
            </a:r>
          </a:p>
          <a:p>
            <a:endParaRPr lang="en-US" dirty="0"/>
          </a:p>
          <a:p>
            <a:r>
              <a:rPr lang="en-US" dirty="0"/>
              <a:t>"How does Planner change depending on who's using it?"</a:t>
            </a:r>
          </a:p>
          <a:p>
            <a:endParaRPr lang="en-US" dirty="0"/>
          </a:p>
          <a:p>
            <a:r>
              <a:rPr lang="en-US" dirty="0"/>
              <a:t>Guide students toward role-based design.</a:t>
            </a:r>
          </a:p>
          <a:p>
            <a:endParaRPr lang="en-US" dirty="0"/>
          </a:p>
          <a:p>
            <a:r>
              <a:rPr lang="en-US" dirty="0"/>
              <a:t>------------------------------------------------------------</a:t>
            </a:r>
          </a:p>
          <a:p>
            <a:endParaRPr lang="en-US" dirty="0"/>
          </a:p>
          <a:p>
            <a:r>
              <a:rPr lang="en-US" dirty="0"/>
              <a:t>ENGINEERING STORY</a:t>
            </a:r>
          </a:p>
          <a:p>
            <a:endParaRPr lang="en-US" dirty="0"/>
          </a:p>
          <a:p>
            <a:r>
              <a:rPr lang="en-US" dirty="0"/>
              <a:t>Share the Food Pantry project.</a:t>
            </a:r>
          </a:p>
          <a:p>
            <a:endParaRPr lang="en-US" dirty="0"/>
          </a:p>
          <a:p>
            <a:r>
              <a:rPr lang="en-US" dirty="0"/>
              <a:t>Discuss how different users had different needs.</a:t>
            </a:r>
          </a:p>
          <a:p>
            <a:endParaRPr lang="en-US" dirty="0"/>
          </a:p>
          <a:p>
            <a:r>
              <a:rPr lang="en-US" dirty="0"/>
              <a:t>Volunteers</a:t>
            </a:r>
          </a:p>
          <a:p>
            <a:endParaRPr lang="en-US" dirty="0"/>
          </a:p>
          <a:p>
            <a:r>
              <a:rPr lang="en-US" dirty="0"/>
              <a:t>Pantry Staff</a:t>
            </a:r>
          </a:p>
          <a:p>
            <a:endParaRPr lang="en-US" dirty="0"/>
          </a:p>
          <a:p>
            <a:r>
              <a:rPr lang="en-US" dirty="0"/>
              <a:t>Administrators</a:t>
            </a:r>
          </a:p>
          <a:p>
            <a:endParaRPr lang="en-US" dirty="0"/>
          </a:p>
          <a:p>
            <a:r>
              <a:rPr lang="en-US" dirty="0"/>
              <a:t>Students</a:t>
            </a:r>
          </a:p>
          <a:p>
            <a:endParaRPr lang="en-US" dirty="0"/>
          </a:p>
          <a:p>
            <a:r>
              <a:rPr lang="en-US" dirty="0"/>
              <a:t>Explain:</a:t>
            </a:r>
          </a:p>
          <a:p>
            <a:endParaRPr lang="en-US" dirty="0"/>
          </a:p>
          <a:p>
            <a:r>
              <a:rPr lang="en-US" dirty="0"/>
              <a:t>"We couldn't design one screen for everyone."</a:t>
            </a:r>
          </a:p>
          <a:p>
            <a:endParaRPr lang="en-US" dirty="0"/>
          </a:p>
          <a:p>
            <a:r>
              <a:rPr lang="en-US" dirty="0"/>
              <a:t>"We had to understand each person's workflow."</a:t>
            </a:r>
          </a:p>
          <a:p>
            <a:endParaRPr lang="en-US" dirty="0"/>
          </a:p>
          <a:p>
            <a:r>
              <a:rPr lang="en-US" dirty="0"/>
              <a:t>------------------------------------------------------------</a:t>
            </a:r>
          </a:p>
          <a:p>
            <a:endParaRPr lang="en-US" dirty="0"/>
          </a:p>
          <a:p>
            <a:r>
              <a:rPr lang="en-US" dirty="0"/>
              <a:t>ATLAS DESIGN CHALLENGE #3</a:t>
            </a:r>
          </a:p>
          <a:p>
            <a:endParaRPr lang="en-US" dirty="0"/>
          </a:p>
          <a:p>
            <a:r>
              <a:rPr lang="en-US" dirty="0"/>
              <a:t>Challenge:</a:t>
            </a:r>
          </a:p>
          <a:p>
            <a:endParaRPr lang="en-US" dirty="0"/>
          </a:p>
          <a:p>
            <a:r>
              <a:rPr lang="en-US" dirty="0"/>
              <a:t>Choose one Atlas </a:t>
            </a:r>
            <a:r>
              <a:rPr lang="en-US" dirty="0" err="1"/>
              <a:t>TaskFlow</a:t>
            </a:r>
            <a:r>
              <a:rPr lang="en-US" dirty="0"/>
              <a:t> persona.</a:t>
            </a:r>
          </a:p>
          <a:p>
            <a:endParaRPr lang="en-US" dirty="0"/>
          </a:p>
          <a:p>
            <a:r>
              <a:rPr lang="en-US" dirty="0"/>
              <a:t>Map their journey for:</a:t>
            </a:r>
          </a:p>
          <a:p>
            <a:endParaRPr lang="en-US" dirty="0"/>
          </a:p>
          <a:p>
            <a:r>
              <a:rPr lang="en-US" dirty="0"/>
              <a:t>"Create a New Task."</a:t>
            </a:r>
          </a:p>
          <a:p>
            <a:endParaRPr lang="en-US" dirty="0"/>
          </a:p>
          <a:p>
            <a:r>
              <a:rPr lang="en-US" dirty="0"/>
              <a:t>Include:</a:t>
            </a:r>
          </a:p>
          <a:p>
            <a:endParaRPr lang="en-US" dirty="0"/>
          </a:p>
          <a:p>
            <a:r>
              <a:rPr lang="en-US" dirty="0"/>
              <a:t>Actions</a:t>
            </a:r>
          </a:p>
          <a:p>
            <a:endParaRPr lang="en-US" dirty="0"/>
          </a:p>
          <a:p>
            <a:r>
              <a:rPr lang="en-US" dirty="0"/>
              <a:t>Thoughts</a:t>
            </a:r>
          </a:p>
          <a:p>
            <a:endParaRPr lang="en-US" dirty="0"/>
          </a:p>
          <a:p>
            <a:r>
              <a:rPr lang="en-US" dirty="0"/>
              <a:t>Feelings</a:t>
            </a:r>
          </a:p>
          <a:p>
            <a:endParaRPr lang="en-US" dirty="0"/>
          </a:p>
          <a:p>
            <a:r>
              <a:rPr lang="en-US" dirty="0"/>
              <a:t>Opportunities</a:t>
            </a:r>
          </a:p>
          <a:p>
            <a:endParaRPr lang="en-US" dirty="0"/>
          </a:p>
          <a:p>
            <a:r>
              <a:rPr lang="en-US" dirty="0"/>
              <a:t>Time:</a:t>
            </a:r>
          </a:p>
          <a:p>
            <a:endParaRPr lang="en-US" dirty="0"/>
          </a:p>
          <a:p>
            <a:r>
              <a:rPr lang="en-US" dirty="0"/>
              <a:t>10 minutes</a:t>
            </a:r>
          </a:p>
          <a:p>
            <a:endParaRPr lang="en-US" dirty="0"/>
          </a:p>
          <a:p>
            <a:r>
              <a:rPr lang="en-US" dirty="0"/>
              <a:t>Have students compare journeys.</a:t>
            </a:r>
          </a:p>
          <a:p>
            <a:endParaRPr lang="en-US" dirty="0"/>
          </a:p>
          <a:p>
            <a:r>
              <a:rPr lang="en-US" dirty="0"/>
              <a:t>------------------------------------------------------------</a:t>
            </a:r>
          </a:p>
          <a:p>
            <a:endParaRPr lang="en-US" dirty="0"/>
          </a:p>
          <a:p>
            <a:r>
              <a:rPr lang="en-US" dirty="0"/>
              <a:t>CLASS DISCUSSION</a:t>
            </a:r>
          </a:p>
          <a:p>
            <a:endParaRPr lang="en-US" dirty="0"/>
          </a:p>
          <a:p>
            <a:r>
              <a:rPr lang="en-US" dirty="0"/>
              <a:t>Ask:</a:t>
            </a:r>
          </a:p>
          <a:p>
            <a:endParaRPr lang="en-US" dirty="0"/>
          </a:p>
          <a:p>
            <a:r>
              <a:rPr lang="en-US" dirty="0"/>
              <a:t>"Which persona do you relate to most?"</a:t>
            </a:r>
          </a:p>
          <a:p>
            <a:endParaRPr lang="en-US" dirty="0"/>
          </a:p>
          <a:p>
            <a:r>
              <a:rPr lang="en-US" dirty="0"/>
              <a:t>"What frustrations would you solve first?"</a:t>
            </a:r>
          </a:p>
          <a:p>
            <a:endParaRPr lang="en-US" dirty="0"/>
          </a:p>
          <a:p>
            <a:r>
              <a:rPr lang="en-US" dirty="0"/>
              <a:t>"What feature would make the biggest difference?"</a:t>
            </a:r>
          </a:p>
          <a:p>
            <a:endParaRPr lang="en-US" dirty="0"/>
          </a:p>
          <a:p>
            <a:r>
              <a:rPr lang="en-US" dirty="0"/>
              <a:t>Explain:</a:t>
            </a:r>
          </a:p>
          <a:p>
            <a:endParaRPr lang="en-US" dirty="0"/>
          </a:p>
          <a:p>
            <a:r>
              <a:rPr lang="en-US" dirty="0"/>
              <a:t>"These answers influence design decisions."</a:t>
            </a:r>
          </a:p>
          <a:p>
            <a:endParaRPr lang="en-US" dirty="0"/>
          </a:p>
          <a:p>
            <a:r>
              <a:rPr lang="en-US" dirty="0"/>
              <a:t>------------------------------------------------------------</a:t>
            </a:r>
          </a:p>
          <a:p>
            <a:endParaRPr lang="en-US" dirty="0"/>
          </a:p>
          <a:p>
            <a:r>
              <a:rPr lang="en-US" dirty="0"/>
              <a:t>ENGINEERING LESSON</a:t>
            </a:r>
          </a:p>
          <a:p>
            <a:endParaRPr lang="en-US" dirty="0"/>
          </a:p>
          <a:p>
            <a:r>
              <a:rPr lang="en-US" dirty="0"/>
              <a:t>Read the quote.</a:t>
            </a:r>
          </a:p>
          <a:p>
            <a:endParaRPr lang="en-US" dirty="0"/>
          </a:p>
          <a:p>
            <a:r>
              <a:rPr lang="en-US" dirty="0"/>
              <a:t>"Design is not just what it looks like and feels like."</a:t>
            </a:r>
          </a:p>
          <a:p>
            <a:endParaRPr lang="en-US" dirty="0"/>
          </a:p>
          <a:p>
            <a:r>
              <a:rPr lang="en-US" dirty="0"/>
              <a:t>"Design is how it works."</a:t>
            </a:r>
          </a:p>
          <a:p>
            <a:endParaRPr lang="en-US" dirty="0"/>
          </a:p>
          <a:p>
            <a:r>
              <a:rPr lang="en-US" dirty="0"/>
              <a:t>Pause.</a:t>
            </a:r>
          </a:p>
          <a:p>
            <a:endParaRPr lang="en-US" dirty="0"/>
          </a:p>
          <a:p>
            <a:r>
              <a:rPr lang="en-US" dirty="0"/>
              <a:t>Explain.</a:t>
            </a:r>
          </a:p>
          <a:p>
            <a:endParaRPr lang="en-US" dirty="0"/>
          </a:p>
          <a:p>
            <a:r>
              <a:rPr lang="en-US" dirty="0"/>
              <a:t>"Beautiful software isn't enough."</a:t>
            </a:r>
          </a:p>
          <a:p>
            <a:endParaRPr lang="en-US" dirty="0"/>
          </a:p>
          <a:p>
            <a:r>
              <a:rPr lang="en-US" dirty="0"/>
              <a:t>"It must also help people accomplish their goals."</a:t>
            </a:r>
          </a:p>
          <a:p>
            <a:endParaRPr lang="en-US" dirty="0"/>
          </a:p>
          <a:p>
            <a:r>
              <a:rPr lang="en-US" dirty="0"/>
              <a:t>------------------------------------------------------------</a:t>
            </a:r>
          </a:p>
          <a:p>
            <a:endParaRPr lang="en-US" dirty="0"/>
          </a:p>
          <a:p>
            <a:r>
              <a:rPr lang="en-US" dirty="0"/>
              <a:t>TRANSITION</a:t>
            </a:r>
          </a:p>
          <a:p>
            <a:endParaRPr lang="en-US" dirty="0"/>
          </a:p>
          <a:p>
            <a:r>
              <a:rPr lang="en-US" dirty="0"/>
              <a:t>"We now understand who we're designing for."</a:t>
            </a:r>
          </a:p>
          <a:p>
            <a:endParaRPr lang="en-US" dirty="0"/>
          </a:p>
          <a:p>
            <a:r>
              <a:rPr lang="en-US" dirty="0"/>
              <a:t>"And we understand the journey they'll take."</a:t>
            </a:r>
          </a:p>
          <a:p>
            <a:endParaRPr lang="en-US" dirty="0"/>
          </a:p>
          <a:p>
            <a:r>
              <a:rPr lang="en-US" dirty="0"/>
              <a:t>"So how do software designers begin creating the interface?"</a:t>
            </a:r>
          </a:p>
          <a:p>
            <a:endParaRPr lang="en-US" dirty="0"/>
          </a:p>
          <a:p>
            <a:r>
              <a:rPr lang="en-US" dirty="0"/>
              <a:t>"Our next lesson..."</a:t>
            </a:r>
          </a:p>
          <a:p>
            <a:endParaRPr lang="en-US" dirty="0"/>
          </a:p>
          <a:p>
            <a:r>
              <a:rPr lang="en-US" dirty="0"/>
              <a:t>"Wireframes &amp; UX Design."</a:t>
            </a:r>
          </a:p>
          <a:p>
            <a:endParaRPr lang="en-US" dirty="0"/>
          </a:p>
          <a:p>
            <a:r>
              <a:rPr lang="en-US" dirty="0"/>
              <a:t>------------------------------------------------------------</a:t>
            </a:r>
          </a:p>
          <a:p>
            <a:endParaRPr lang="en-US" dirty="0"/>
          </a:p>
          <a:p>
            <a:r>
              <a:rPr lang="en-US" dirty="0"/>
              <a:t>ESTIMATED TIME</a:t>
            </a:r>
          </a:p>
          <a:p>
            <a:endParaRPr lang="en-US" dirty="0"/>
          </a:p>
          <a:p>
            <a:r>
              <a:rPr lang="en-US" dirty="0"/>
              <a:t>Review Previous Lesson............5 minutes</a:t>
            </a:r>
          </a:p>
          <a:p>
            <a:endParaRPr lang="en-US" dirty="0"/>
          </a:p>
          <a:p>
            <a:r>
              <a:rPr lang="en-US" dirty="0"/>
              <a:t>Personas........................10 minutes</a:t>
            </a:r>
          </a:p>
          <a:p>
            <a:endParaRPr lang="en-US" dirty="0"/>
          </a:p>
          <a:p>
            <a:r>
              <a:rPr lang="en-US" dirty="0"/>
              <a:t>Journey Mapping.................12 minutes</a:t>
            </a:r>
          </a:p>
          <a:p>
            <a:endParaRPr lang="en-US" dirty="0"/>
          </a:p>
          <a:p>
            <a:r>
              <a:rPr lang="en-US" dirty="0"/>
              <a:t>Architecture Spotlight...........7 minutes</a:t>
            </a:r>
          </a:p>
          <a:p>
            <a:endParaRPr lang="en-US" dirty="0"/>
          </a:p>
          <a:p>
            <a:r>
              <a:rPr lang="en-US" dirty="0"/>
              <a:t>Design Challenge................10 minutes</a:t>
            </a:r>
          </a:p>
          <a:p>
            <a:endParaRPr lang="en-US" dirty="0"/>
          </a:p>
          <a:p>
            <a:r>
              <a:rPr lang="en-US" dirty="0"/>
              <a:t>Discussion.......................8 minutes</a:t>
            </a:r>
          </a:p>
          <a:p>
            <a:endParaRPr lang="en-US" dirty="0"/>
          </a:p>
          <a:p>
            <a:r>
              <a:rPr lang="en-US" dirty="0"/>
              <a:t>Transition.......................3 minutes</a:t>
            </a:r>
          </a:p>
          <a:p>
            <a:endParaRPr lang="en-US" dirty="0"/>
          </a:p>
          <a:p>
            <a:r>
              <a:rPr lang="en-US" dirty="0"/>
              <a:t>Total...........................55 minutes</a:t>
            </a:r>
          </a:p>
          <a:p>
            <a:endParaRPr lang="en-US" dirty="0"/>
          </a:p>
          <a:p>
            <a:r>
              <a:rPr lang="en-US" dirty="0"/>
              <a:t>------------------------------------------------------------</a:t>
            </a:r>
          </a:p>
          <a:p>
            <a:endParaRPr lang="en-US" dirty="0"/>
          </a:p>
          <a:p>
            <a:r>
              <a:rPr lang="en-US" dirty="0"/>
              <a:t>INSTRUCTOR NOTES</a:t>
            </a:r>
          </a:p>
          <a:p>
            <a:endParaRPr lang="en-US" dirty="0"/>
          </a:p>
          <a:p>
            <a:r>
              <a:rPr lang="en-US" dirty="0"/>
              <a:t>Keep the discussion centered on empathy.</a:t>
            </a:r>
          </a:p>
          <a:p>
            <a:endParaRPr lang="en-US" dirty="0"/>
          </a:p>
          <a:p>
            <a:r>
              <a:rPr lang="en-US" dirty="0"/>
              <a:t>Ask students to think beyond themselves.</a:t>
            </a:r>
          </a:p>
          <a:p>
            <a:endParaRPr lang="en-US" dirty="0"/>
          </a:p>
          <a:p>
            <a:r>
              <a:rPr lang="en-US" dirty="0"/>
              <a:t>Remind them that good engineers don't design software for "users."</a:t>
            </a:r>
          </a:p>
          <a:p>
            <a:endParaRPr lang="en-US" dirty="0"/>
          </a:p>
          <a:p>
            <a:r>
              <a:rPr lang="en-US" dirty="0"/>
              <a:t>They design software for real people with real goals and real</a:t>
            </a:r>
          </a:p>
          <a:p>
            <a:r>
              <a:rPr lang="en-US" dirty="0"/>
              <a:t>frustrations.</a:t>
            </a:r>
          </a:p>
          <a:p>
            <a:endParaRPr lang="en-US" dirty="0"/>
          </a:p>
          <a:p>
            <a:r>
              <a:rPr lang="en-US" dirty="0"/>
              <a:t>When discussing Atlas </a:t>
            </a:r>
            <a:r>
              <a:rPr lang="en-US" dirty="0" err="1"/>
              <a:t>TaskFlow</a:t>
            </a:r>
            <a:r>
              <a:rPr lang="en-US" dirty="0"/>
              <a:t>, continually ask:</a:t>
            </a:r>
          </a:p>
          <a:p>
            <a:endParaRPr lang="en-US" dirty="0"/>
          </a:p>
          <a:p>
            <a:r>
              <a:rPr lang="en-US" dirty="0"/>
              <a:t>"What would Olivia expect?"</a:t>
            </a:r>
          </a:p>
          <a:p>
            <a:endParaRPr lang="en-US" dirty="0"/>
          </a:p>
          <a:p>
            <a:r>
              <a:rPr lang="en-US" dirty="0"/>
              <a:t>"What would Maya need?"</a:t>
            </a:r>
          </a:p>
          <a:p>
            <a:endParaRPr lang="en-US" dirty="0"/>
          </a:p>
          <a:p>
            <a:r>
              <a:rPr lang="en-US" dirty="0"/>
              <a:t>"What would Daniel worry about?"</a:t>
            </a:r>
          </a:p>
          <a:p>
            <a:endParaRPr lang="en-US" dirty="0"/>
          </a:p>
          <a:p>
            <a:r>
              <a:rPr lang="en-US" dirty="0"/>
              <a:t>This reinforces user-centered design.</a:t>
            </a:r>
          </a:p>
          <a:p>
            <a:endParaRPr lang="en-US" dirty="0"/>
          </a:p>
          <a:p>
            <a:r>
              <a:rPr lang="en-US" dirty="0"/>
              <a:t>Close with:</a:t>
            </a:r>
          </a:p>
          <a:p>
            <a:endParaRPr lang="en-US" dirty="0"/>
          </a:p>
          <a:p>
            <a:r>
              <a:rPr lang="en-US" dirty="0"/>
              <a:t>"Requirements tell us what to build."</a:t>
            </a:r>
          </a:p>
          <a:p>
            <a:endParaRPr lang="en-US" dirty="0"/>
          </a:p>
          <a:p>
            <a:r>
              <a:rPr lang="en-US" dirty="0"/>
              <a:t>"User Stories tell us why it matters."</a:t>
            </a:r>
          </a:p>
          <a:p>
            <a:endParaRPr lang="en-US" dirty="0"/>
          </a:p>
          <a:p>
            <a:r>
              <a:rPr lang="en-US" dirty="0"/>
              <a:t>"Personas tell us who we're building for."</a:t>
            </a:r>
          </a:p>
          <a:p>
            <a:endParaRPr lang="en-US" dirty="0"/>
          </a:p>
          <a:p>
            <a:r>
              <a:rPr lang="en-US" dirty="0"/>
              <a:t>"And User Journeys show us how they experience our software."</a:t>
            </a:r>
          </a:p>
          <a:p>
            <a:endParaRPr lang="en-US" dirty="0"/>
          </a:p>
          <a:p>
            <a:r>
              <a:rPr lang="en-US" dirty="0"/>
              <a:t>"Tomorrow..."</a:t>
            </a:r>
          </a:p>
          <a:p>
            <a:endParaRPr lang="en-US" dirty="0"/>
          </a:p>
          <a:p>
            <a:r>
              <a:rPr lang="en-US" dirty="0"/>
              <a:t>"We'll begin turning those ideas into actual interface designs."</a:t>
            </a:r>
          </a:p>
          <a:p>
            <a:endParaRPr lang="en-US" dirty="0"/>
          </a:p>
          <a:p>
            <a:r>
              <a:rPr lang="en-US" dirty="0"/>
              <a:t>============================================================</a:t>
            </a:r>
          </a:p>
        </p:txBody>
      </p:sp>
      <p:sp>
        <p:nvSpPr>
          <p:cNvPr id="4" name="Slide Number Placeholder 3"/>
          <p:cNvSpPr>
            <a:spLocks noGrp="1"/>
          </p:cNvSpPr>
          <p:nvPr>
            <p:ph type="sldNum" sz="quarter" idx="5"/>
          </p:nvPr>
        </p:nvSpPr>
        <p:spPr/>
        <p:txBody>
          <a:bodyPr/>
          <a:lstStyle/>
          <a:p>
            <a:fld id="{12CFA81F-48ED-4EC0-89DB-73FF3AF92981}" type="slidenum">
              <a:rPr lang="en-US" smtClean="0"/>
              <a:t>4</a:t>
            </a:fld>
            <a:endParaRPr lang="en-US"/>
          </a:p>
        </p:txBody>
      </p:sp>
    </p:spTree>
    <p:extLst>
      <p:ext uri="{BB962C8B-B14F-4D97-AF65-F5344CB8AC3E}">
        <p14:creationId xmlns:p14="http://schemas.microsoft.com/office/powerpoint/2010/main" val="13765143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endParaRPr lang="en-US" dirty="0"/>
          </a:p>
          <a:p>
            <a:r>
              <a:rPr lang="en-US" dirty="0"/>
              <a:t>SPRINT 3</a:t>
            </a:r>
          </a:p>
          <a:p>
            <a:endParaRPr lang="en-US" dirty="0"/>
          </a:p>
          <a:p>
            <a:r>
              <a:rPr lang="en-US" dirty="0"/>
              <a:t>ARTIFACT XXXVII</a:t>
            </a:r>
          </a:p>
          <a:p>
            <a:endParaRPr lang="en-US" dirty="0"/>
          </a:p>
          <a:p>
            <a:r>
              <a:rPr lang="en-US" dirty="0"/>
              <a:t>WIREFRAMES &amp; UX DESIGN</a:t>
            </a:r>
          </a:p>
          <a:p>
            <a:endParaRPr lang="en-US" dirty="0"/>
          </a:p>
          <a:p>
            <a:r>
              <a:rPr lang="en-US" dirty="0"/>
              <a:t>============================================================</a:t>
            </a:r>
          </a:p>
          <a:p>
            <a:endParaRPr lang="en-US" dirty="0"/>
          </a:p>
          <a:p>
            <a:r>
              <a:rPr lang="en-US" dirty="0"/>
              <a:t>SLIDE PURPOSE</a:t>
            </a:r>
          </a:p>
          <a:p>
            <a:endParaRPr lang="en-US" dirty="0"/>
          </a:p>
          <a:p>
            <a:r>
              <a:rPr lang="en-US" dirty="0"/>
              <a:t>Introduce students to wireframing and User Experience (UX) Design.</a:t>
            </a:r>
          </a:p>
          <a:p>
            <a:endParaRPr lang="en-US" dirty="0"/>
          </a:p>
          <a:p>
            <a:r>
              <a:rPr lang="en-US" dirty="0"/>
              <a:t>Students should understand that wireframes are not artwork.</a:t>
            </a:r>
          </a:p>
          <a:p>
            <a:endParaRPr lang="en-US" dirty="0"/>
          </a:p>
          <a:p>
            <a:r>
              <a:rPr lang="en-US" dirty="0"/>
              <a:t>They are engineering blueprints that communicate layout,</a:t>
            </a:r>
          </a:p>
          <a:p>
            <a:r>
              <a:rPr lang="en-US" dirty="0"/>
              <a:t>functionality, workflow, and user interactions before development</a:t>
            </a:r>
          </a:p>
          <a:p>
            <a:r>
              <a:rPr lang="en-US" dirty="0"/>
              <a:t>begins.</a:t>
            </a:r>
          </a:p>
          <a:p>
            <a:endParaRPr lang="en-US" dirty="0"/>
          </a:p>
          <a:p>
            <a:r>
              <a:rPr lang="en-US" dirty="0"/>
              <a:t>Today Atlas </a:t>
            </a:r>
            <a:r>
              <a:rPr lang="en-US" dirty="0" err="1"/>
              <a:t>TaskFlow</a:t>
            </a:r>
            <a:r>
              <a:rPr lang="en-US" dirty="0"/>
              <a:t> begins taking visual form.</a:t>
            </a:r>
          </a:p>
          <a:p>
            <a:endParaRPr lang="en-US" dirty="0"/>
          </a:p>
          <a:p>
            <a:r>
              <a:rPr lang="en-US" dirty="0"/>
              <a:t>------------------------------------------------------------</a:t>
            </a:r>
          </a:p>
          <a:p>
            <a:endParaRPr lang="en-US" dirty="0"/>
          </a:p>
          <a:p>
            <a:r>
              <a:rPr lang="en-US" dirty="0"/>
              <a:t>OPENING</a:t>
            </a:r>
          </a:p>
          <a:p>
            <a:endParaRPr lang="en-US" dirty="0"/>
          </a:p>
          <a:p>
            <a:r>
              <a:rPr lang="en-US" dirty="0"/>
              <a:t>"Welcome back, engineers."</a:t>
            </a:r>
          </a:p>
          <a:p>
            <a:endParaRPr lang="en-US" dirty="0"/>
          </a:p>
          <a:p>
            <a:r>
              <a:rPr lang="en-US" dirty="0"/>
              <a:t>"Over the past several classes we've answered three important</a:t>
            </a:r>
          </a:p>
          <a:p>
            <a:r>
              <a:rPr lang="en-US" dirty="0"/>
              <a:t>questions."</a:t>
            </a:r>
          </a:p>
          <a:p>
            <a:endParaRPr lang="en-US" dirty="0"/>
          </a:p>
          <a:p>
            <a:r>
              <a:rPr lang="en-US" dirty="0"/>
              <a:t>"What are we building?"</a:t>
            </a:r>
          </a:p>
          <a:p>
            <a:endParaRPr lang="en-US" dirty="0"/>
          </a:p>
          <a:p>
            <a:r>
              <a:rPr lang="en-US" dirty="0"/>
              <a:t>"Who are we building it for?"</a:t>
            </a:r>
          </a:p>
          <a:p>
            <a:endParaRPr lang="en-US" dirty="0"/>
          </a:p>
          <a:p>
            <a:r>
              <a:rPr lang="en-US" dirty="0"/>
              <a:t>"And why does it matter?"</a:t>
            </a:r>
          </a:p>
          <a:p>
            <a:endParaRPr lang="en-US" dirty="0"/>
          </a:p>
          <a:p>
            <a:r>
              <a:rPr lang="en-US" dirty="0"/>
              <a:t>Pause.</a:t>
            </a:r>
          </a:p>
          <a:p>
            <a:endParaRPr lang="en-US" dirty="0"/>
          </a:p>
          <a:p>
            <a:r>
              <a:rPr lang="en-US" dirty="0"/>
              <a:t>"Today we answer a new question."</a:t>
            </a:r>
          </a:p>
          <a:p>
            <a:endParaRPr lang="en-US" dirty="0"/>
          </a:p>
          <a:p>
            <a:r>
              <a:rPr lang="en-US" dirty="0"/>
              <a:t>"What will it actually look like?"</a:t>
            </a:r>
          </a:p>
          <a:p>
            <a:endParaRPr lang="en-US" dirty="0"/>
          </a:p>
          <a:p>
            <a:r>
              <a:rPr lang="en-US" dirty="0"/>
              <a:t>------------------------------------------------------------</a:t>
            </a:r>
          </a:p>
          <a:p>
            <a:endParaRPr lang="en-US" dirty="0"/>
          </a:p>
          <a:p>
            <a:r>
              <a:rPr lang="en-US" dirty="0"/>
              <a:t>CONNECT TO TASKFLOW</a:t>
            </a:r>
          </a:p>
          <a:p>
            <a:endParaRPr lang="en-US" dirty="0"/>
          </a:p>
          <a:p>
            <a:r>
              <a:rPr lang="en-US" dirty="0"/>
              <a:t>Point to the Atlas </a:t>
            </a:r>
            <a:r>
              <a:rPr lang="en-US" dirty="0" err="1"/>
              <a:t>TaskFlow</a:t>
            </a:r>
            <a:r>
              <a:rPr lang="en-US" dirty="0"/>
              <a:t> wireframes.</a:t>
            </a:r>
          </a:p>
          <a:p>
            <a:endParaRPr lang="en-US" dirty="0"/>
          </a:p>
          <a:p>
            <a:r>
              <a:rPr lang="en-US" dirty="0"/>
              <a:t>"Everything we've created so far has been preparation."</a:t>
            </a:r>
          </a:p>
          <a:p>
            <a:endParaRPr lang="en-US" dirty="0"/>
          </a:p>
          <a:p>
            <a:r>
              <a:rPr lang="en-US" dirty="0"/>
              <a:t>Requirements.</a:t>
            </a:r>
          </a:p>
          <a:p>
            <a:endParaRPr lang="en-US" dirty="0"/>
          </a:p>
          <a:p>
            <a:r>
              <a:rPr lang="en-US" dirty="0"/>
              <a:t>User Stories.</a:t>
            </a:r>
          </a:p>
          <a:p>
            <a:endParaRPr lang="en-US" dirty="0"/>
          </a:p>
          <a:p>
            <a:r>
              <a:rPr lang="en-US" dirty="0"/>
              <a:t>Personas.</a:t>
            </a:r>
          </a:p>
          <a:p>
            <a:endParaRPr lang="en-US" dirty="0"/>
          </a:p>
          <a:p>
            <a:r>
              <a:rPr lang="en-US" dirty="0"/>
              <a:t>User Journeys.</a:t>
            </a:r>
          </a:p>
          <a:p>
            <a:endParaRPr lang="en-US" dirty="0"/>
          </a:p>
          <a:p>
            <a:r>
              <a:rPr lang="en-US" dirty="0"/>
              <a:t>"Today..."</a:t>
            </a:r>
          </a:p>
          <a:p>
            <a:endParaRPr lang="en-US" dirty="0"/>
          </a:p>
          <a:p>
            <a:r>
              <a:rPr lang="en-US" dirty="0"/>
              <a:t>"We transform those ideas into interface designs."</a:t>
            </a:r>
          </a:p>
          <a:p>
            <a:endParaRPr lang="en-US" dirty="0"/>
          </a:p>
          <a:p>
            <a:r>
              <a:rPr lang="en-US" dirty="0"/>
              <a:t>Explain:</a:t>
            </a:r>
          </a:p>
          <a:p>
            <a:endParaRPr lang="en-US" dirty="0"/>
          </a:p>
          <a:p>
            <a:r>
              <a:rPr lang="en-US" dirty="0"/>
              <a:t>"Professional software teams almost never jump directly into coding."</a:t>
            </a:r>
          </a:p>
          <a:p>
            <a:endParaRPr lang="en-US" dirty="0"/>
          </a:p>
          <a:p>
            <a:r>
              <a:rPr lang="en-US" dirty="0"/>
              <a:t>"They sketch."</a:t>
            </a:r>
          </a:p>
          <a:p>
            <a:endParaRPr lang="en-US" dirty="0"/>
          </a:p>
          <a:p>
            <a:r>
              <a:rPr lang="en-US" dirty="0"/>
              <a:t>"They prototype."</a:t>
            </a:r>
          </a:p>
          <a:p>
            <a:endParaRPr lang="en-US" dirty="0"/>
          </a:p>
          <a:p>
            <a:r>
              <a:rPr lang="en-US" dirty="0"/>
              <a:t>"They test."</a:t>
            </a:r>
          </a:p>
          <a:p>
            <a:endParaRPr lang="en-US" dirty="0"/>
          </a:p>
          <a:p>
            <a:r>
              <a:rPr lang="en-US" dirty="0"/>
              <a:t>------------------------------------------------------------</a:t>
            </a:r>
          </a:p>
          <a:p>
            <a:endParaRPr lang="en-US" dirty="0"/>
          </a:p>
          <a:p>
            <a:r>
              <a:rPr lang="en-US" dirty="0"/>
              <a:t>WHY WIREFRAMES?</a:t>
            </a:r>
          </a:p>
          <a:p>
            <a:endParaRPr lang="en-US" dirty="0"/>
          </a:p>
          <a:p>
            <a:r>
              <a:rPr lang="en-US" dirty="0"/>
              <a:t>Read the panel.</a:t>
            </a:r>
          </a:p>
          <a:p>
            <a:endParaRPr lang="en-US" dirty="0"/>
          </a:p>
          <a:p>
            <a:r>
              <a:rPr lang="en-US" dirty="0"/>
              <a:t>Explain:</a:t>
            </a:r>
          </a:p>
          <a:p>
            <a:endParaRPr lang="en-US" dirty="0"/>
          </a:p>
          <a:p>
            <a:r>
              <a:rPr lang="en-US" dirty="0"/>
              <a:t>"Wireframes are blueprints."</a:t>
            </a:r>
          </a:p>
          <a:p>
            <a:endParaRPr lang="en-US" dirty="0"/>
          </a:p>
          <a:p>
            <a:r>
              <a:rPr lang="en-US" dirty="0"/>
              <a:t>"They focus on layout."</a:t>
            </a:r>
          </a:p>
          <a:p>
            <a:endParaRPr lang="en-US" dirty="0"/>
          </a:p>
          <a:p>
            <a:r>
              <a:rPr lang="en-US" dirty="0"/>
              <a:t>"Navigation."</a:t>
            </a:r>
          </a:p>
          <a:p>
            <a:endParaRPr lang="en-US" dirty="0"/>
          </a:p>
          <a:p>
            <a:r>
              <a:rPr lang="en-US" dirty="0"/>
              <a:t>"Content."</a:t>
            </a:r>
          </a:p>
          <a:p>
            <a:endParaRPr lang="en-US" dirty="0"/>
          </a:p>
          <a:p>
            <a:r>
              <a:rPr lang="en-US" dirty="0"/>
              <a:t>"Workflow."</a:t>
            </a:r>
          </a:p>
          <a:p>
            <a:endParaRPr lang="en-US" dirty="0"/>
          </a:p>
          <a:p>
            <a:r>
              <a:rPr lang="en-US" dirty="0"/>
              <a:t>"They intentionally ignore colors and graphics."</a:t>
            </a:r>
          </a:p>
          <a:p>
            <a:endParaRPr lang="en-US" dirty="0"/>
          </a:p>
          <a:p>
            <a:r>
              <a:rPr lang="en-US" dirty="0"/>
              <a:t>Explain why.</a:t>
            </a:r>
          </a:p>
          <a:p>
            <a:endParaRPr lang="en-US" dirty="0"/>
          </a:p>
          <a:p>
            <a:r>
              <a:rPr lang="en-US" dirty="0"/>
              <a:t>"If users can't understand the application as a wireframe..."</a:t>
            </a:r>
          </a:p>
          <a:p>
            <a:endParaRPr lang="en-US" dirty="0"/>
          </a:p>
          <a:p>
            <a:r>
              <a:rPr lang="en-US" dirty="0"/>
              <a:t>"Adding colors won't fix it."</a:t>
            </a:r>
          </a:p>
          <a:p>
            <a:endParaRPr lang="en-US" dirty="0"/>
          </a:p>
          <a:p>
            <a:r>
              <a:rPr lang="en-US" dirty="0"/>
              <a:t>------------------------------------------------------------</a:t>
            </a:r>
          </a:p>
          <a:p>
            <a:endParaRPr lang="en-US" dirty="0"/>
          </a:p>
          <a:p>
            <a:r>
              <a:rPr lang="en-US" dirty="0"/>
              <a:t>WIREFRAME PRINCIPLES</a:t>
            </a:r>
          </a:p>
          <a:p>
            <a:endParaRPr lang="en-US" dirty="0"/>
          </a:p>
          <a:p>
            <a:r>
              <a:rPr lang="en-US" dirty="0"/>
              <a:t>Review each principle.</a:t>
            </a:r>
          </a:p>
          <a:p>
            <a:endParaRPr lang="en-US" dirty="0"/>
          </a:p>
          <a:p>
            <a:r>
              <a:rPr lang="en-US" dirty="0"/>
              <a:t>Clarity</a:t>
            </a:r>
          </a:p>
          <a:p>
            <a:endParaRPr lang="en-US" dirty="0"/>
          </a:p>
          <a:p>
            <a:r>
              <a:rPr lang="en-US" dirty="0"/>
              <a:t>Can users understand the screen quickly?</a:t>
            </a:r>
          </a:p>
          <a:p>
            <a:endParaRPr lang="en-US" dirty="0"/>
          </a:p>
          <a:p>
            <a:r>
              <a:rPr lang="en-US" dirty="0"/>
              <a:t>Simplicity</a:t>
            </a:r>
          </a:p>
          <a:p>
            <a:endParaRPr lang="en-US" dirty="0"/>
          </a:p>
          <a:p>
            <a:r>
              <a:rPr lang="en-US" dirty="0"/>
              <a:t>Remove unnecessary elements.</a:t>
            </a:r>
          </a:p>
          <a:p>
            <a:endParaRPr lang="en-US" dirty="0"/>
          </a:p>
          <a:p>
            <a:r>
              <a:rPr lang="en-US" dirty="0"/>
              <a:t>Hierarchy</a:t>
            </a:r>
          </a:p>
          <a:p>
            <a:endParaRPr lang="en-US" dirty="0"/>
          </a:p>
          <a:p>
            <a:r>
              <a:rPr lang="en-US" dirty="0"/>
              <a:t>Guide attention to what matters most.</a:t>
            </a:r>
          </a:p>
          <a:p>
            <a:endParaRPr lang="en-US" dirty="0"/>
          </a:p>
          <a:p>
            <a:r>
              <a:rPr lang="en-US" dirty="0"/>
              <a:t>Consistency</a:t>
            </a:r>
          </a:p>
          <a:p>
            <a:endParaRPr lang="en-US" dirty="0"/>
          </a:p>
          <a:p>
            <a:r>
              <a:rPr lang="en-US" dirty="0"/>
              <a:t>Similar screens should behave similarly.</a:t>
            </a:r>
          </a:p>
          <a:p>
            <a:endParaRPr lang="en-US" dirty="0"/>
          </a:p>
          <a:p>
            <a:r>
              <a:rPr lang="en-US" dirty="0"/>
              <a:t>Functionality</a:t>
            </a:r>
          </a:p>
          <a:p>
            <a:endParaRPr lang="en-US" dirty="0"/>
          </a:p>
          <a:p>
            <a:r>
              <a:rPr lang="en-US" dirty="0"/>
              <a:t>Every element should serve a purpose.</a:t>
            </a:r>
          </a:p>
          <a:p>
            <a:endParaRPr lang="en-US" dirty="0"/>
          </a:p>
          <a:p>
            <a:r>
              <a:rPr lang="en-US" dirty="0"/>
              <a:t>Ask:</a:t>
            </a:r>
          </a:p>
          <a:p>
            <a:endParaRPr lang="en-US" dirty="0"/>
          </a:p>
          <a:p>
            <a:r>
              <a:rPr lang="en-US" dirty="0"/>
              <a:t>"Which principle do you think is most important?"</a:t>
            </a:r>
          </a:p>
          <a:p>
            <a:endParaRPr lang="en-US" dirty="0"/>
          </a:p>
          <a:p>
            <a:r>
              <a:rPr lang="en-US" dirty="0"/>
              <a:t>------------------------------------------------------------</a:t>
            </a:r>
          </a:p>
          <a:p>
            <a:endParaRPr lang="en-US" dirty="0"/>
          </a:p>
          <a:p>
            <a:r>
              <a:rPr lang="en-US" dirty="0"/>
              <a:t>LOW-FIDELITY VS HIGH-FIDELITY</a:t>
            </a:r>
          </a:p>
          <a:p>
            <a:endParaRPr lang="en-US" dirty="0"/>
          </a:p>
          <a:p>
            <a:r>
              <a:rPr lang="en-US" dirty="0"/>
              <a:t>Point to the comparison.</a:t>
            </a:r>
          </a:p>
          <a:p>
            <a:endParaRPr lang="en-US" dirty="0"/>
          </a:p>
          <a:p>
            <a:r>
              <a:rPr lang="en-US" dirty="0"/>
              <a:t>Low-Fidelity</a:t>
            </a:r>
          </a:p>
          <a:p>
            <a:endParaRPr lang="en-US" dirty="0"/>
          </a:p>
          <a:p>
            <a:r>
              <a:rPr lang="en-US" dirty="0"/>
              <a:t>Fast.</a:t>
            </a:r>
          </a:p>
          <a:p>
            <a:endParaRPr lang="en-US" dirty="0"/>
          </a:p>
          <a:p>
            <a:r>
              <a:rPr lang="en-US" dirty="0"/>
              <a:t>Simple.</a:t>
            </a:r>
          </a:p>
          <a:p>
            <a:endParaRPr lang="en-US" dirty="0"/>
          </a:p>
          <a:p>
            <a:r>
              <a:rPr lang="en-US" dirty="0"/>
              <a:t>Great for brainstorming.</a:t>
            </a:r>
          </a:p>
          <a:p>
            <a:endParaRPr lang="en-US" dirty="0"/>
          </a:p>
          <a:p>
            <a:r>
              <a:rPr lang="en-US" dirty="0"/>
              <a:t>Easy to change.</a:t>
            </a:r>
          </a:p>
          <a:p>
            <a:endParaRPr lang="en-US" dirty="0"/>
          </a:p>
          <a:p>
            <a:r>
              <a:rPr lang="en-US" dirty="0"/>
              <a:t>High-Fidelity</a:t>
            </a:r>
          </a:p>
          <a:p>
            <a:endParaRPr lang="en-US" dirty="0"/>
          </a:p>
          <a:p>
            <a:r>
              <a:rPr lang="en-US" dirty="0"/>
              <a:t>Detailed.</a:t>
            </a:r>
          </a:p>
          <a:p>
            <a:endParaRPr lang="en-US" dirty="0"/>
          </a:p>
          <a:p>
            <a:r>
              <a:rPr lang="en-US" dirty="0"/>
              <a:t>Interactive.</a:t>
            </a:r>
          </a:p>
          <a:p>
            <a:endParaRPr lang="en-US" dirty="0"/>
          </a:p>
          <a:p>
            <a:r>
              <a:rPr lang="en-US" dirty="0"/>
              <a:t>Closer to the final application.</a:t>
            </a:r>
          </a:p>
          <a:p>
            <a:endParaRPr lang="en-US" dirty="0"/>
          </a:p>
          <a:p>
            <a:r>
              <a:rPr lang="en-US" dirty="0"/>
              <a:t>Used for usability testing.</a:t>
            </a:r>
          </a:p>
          <a:p>
            <a:endParaRPr lang="en-US" dirty="0"/>
          </a:p>
          <a:p>
            <a:r>
              <a:rPr lang="en-US" dirty="0"/>
              <a:t>Explain:</a:t>
            </a:r>
          </a:p>
          <a:p>
            <a:endParaRPr lang="en-US" dirty="0"/>
          </a:p>
          <a:p>
            <a:r>
              <a:rPr lang="en-US" dirty="0"/>
              <a:t>"Professional teams usually create many low-fidelity wireframes before</a:t>
            </a:r>
          </a:p>
          <a:p>
            <a:r>
              <a:rPr lang="en-US" dirty="0"/>
              <a:t>building polished prototypes."</a:t>
            </a:r>
          </a:p>
          <a:p>
            <a:endParaRPr lang="en-US" dirty="0"/>
          </a:p>
          <a:p>
            <a:r>
              <a:rPr lang="en-US" dirty="0"/>
              <a:t>------------------------------------------------------------</a:t>
            </a:r>
          </a:p>
          <a:p>
            <a:endParaRPr lang="en-US" dirty="0"/>
          </a:p>
          <a:p>
            <a:r>
              <a:rPr lang="en-US" dirty="0"/>
              <a:t>ATLAS TASKFLOW WIREFRAMES</a:t>
            </a:r>
          </a:p>
          <a:p>
            <a:endParaRPr lang="en-US" dirty="0"/>
          </a:p>
          <a:p>
            <a:r>
              <a:rPr lang="en-US" dirty="0"/>
              <a:t>Walk through each screen.</a:t>
            </a:r>
          </a:p>
          <a:p>
            <a:endParaRPr lang="en-US" dirty="0"/>
          </a:p>
          <a:p>
            <a:r>
              <a:rPr lang="en-US" dirty="0"/>
              <a:t>Dashboard</a:t>
            </a:r>
          </a:p>
          <a:p>
            <a:endParaRPr lang="en-US" dirty="0"/>
          </a:p>
          <a:p>
            <a:r>
              <a:rPr lang="en-US" dirty="0"/>
              <a:t>"What information should users see immediately?"</a:t>
            </a:r>
          </a:p>
          <a:p>
            <a:endParaRPr lang="en-US" dirty="0"/>
          </a:p>
          <a:p>
            <a:r>
              <a:rPr lang="en-US" dirty="0"/>
              <a:t>Task List</a:t>
            </a:r>
          </a:p>
          <a:p>
            <a:endParaRPr lang="en-US" dirty="0"/>
          </a:p>
          <a:p>
            <a:r>
              <a:rPr lang="en-US" dirty="0"/>
              <a:t>"How can users quickly find their work?"</a:t>
            </a:r>
          </a:p>
          <a:p>
            <a:endParaRPr lang="en-US" dirty="0"/>
          </a:p>
          <a:p>
            <a:r>
              <a:rPr lang="en-US" dirty="0"/>
              <a:t>Create Task</a:t>
            </a:r>
          </a:p>
          <a:p>
            <a:endParaRPr lang="en-US" dirty="0"/>
          </a:p>
          <a:p>
            <a:r>
              <a:rPr lang="en-US" dirty="0"/>
              <a:t>"What information is required?"</a:t>
            </a:r>
          </a:p>
          <a:p>
            <a:endParaRPr lang="en-US" dirty="0"/>
          </a:p>
          <a:p>
            <a:r>
              <a:rPr lang="en-US" dirty="0"/>
              <a:t>Task Detail</a:t>
            </a:r>
          </a:p>
          <a:p>
            <a:endParaRPr lang="en-US" dirty="0"/>
          </a:p>
          <a:p>
            <a:r>
              <a:rPr lang="en-US" dirty="0"/>
              <a:t>"What additional context belongs here?"</a:t>
            </a:r>
          </a:p>
          <a:p>
            <a:endParaRPr lang="en-US" dirty="0"/>
          </a:p>
          <a:p>
            <a:r>
              <a:rPr lang="en-US" dirty="0"/>
              <a:t>Team View</a:t>
            </a:r>
          </a:p>
          <a:p>
            <a:endParaRPr lang="en-US" dirty="0"/>
          </a:p>
          <a:p>
            <a:r>
              <a:rPr lang="en-US" dirty="0"/>
              <a:t>"How should collaboration be presented?"</a:t>
            </a:r>
          </a:p>
          <a:p>
            <a:endParaRPr lang="en-US" dirty="0"/>
          </a:p>
          <a:p>
            <a:r>
              <a:rPr lang="en-US" dirty="0"/>
              <a:t>Explain:</a:t>
            </a:r>
          </a:p>
          <a:p>
            <a:endParaRPr lang="en-US" dirty="0"/>
          </a:p>
          <a:p>
            <a:r>
              <a:rPr lang="en-US" dirty="0"/>
              <a:t>"Every screen supports one or more User Stories from our previous</a:t>
            </a:r>
          </a:p>
          <a:p>
            <a:r>
              <a:rPr lang="en-US" dirty="0"/>
              <a:t>lesson."</a:t>
            </a:r>
          </a:p>
          <a:p>
            <a:endParaRPr lang="en-US" dirty="0"/>
          </a:p>
          <a:p>
            <a:r>
              <a:rPr lang="en-US" dirty="0"/>
              <a:t>------------------------------------------------------------</a:t>
            </a:r>
          </a:p>
          <a:p>
            <a:endParaRPr lang="en-US" dirty="0"/>
          </a:p>
          <a:p>
            <a:r>
              <a:rPr lang="en-US" dirty="0"/>
              <a:t>DESIGN FOR ALL PERSONAS</a:t>
            </a:r>
          </a:p>
          <a:p>
            <a:endParaRPr lang="en-US" dirty="0"/>
          </a:p>
          <a:p>
            <a:r>
              <a:rPr lang="en-US" dirty="0"/>
              <a:t>Point to the personas.</a:t>
            </a:r>
          </a:p>
          <a:p>
            <a:endParaRPr lang="en-US" dirty="0"/>
          </a:p>
          <a:p>
            <a:r>
              <a:rPr lang="en-US" dirty="0"/>
              <a:t>Olivia</a:t>
            </a:r>
          </a:p>
          <a:p>
            <a:endParaRPr lang="en-US" dirty="0"/>
          </a:p>
          <a:p>
            <a:r>
              <a:rPr lang="en-US" dirty="0"/>
              <a:t>Student</a:t>
            </a:r>
          </a:p>
          <a:p>
            <a:endParaRPr lang="en-US" dirty="0"/>
          </a:p>
          <a:p>
            <a:r>
              <a:rPr lang="en-US" dirty="0"/>
              <a:t>Ethan</a:t>
            </a:r>
          </a:p>
          <a:p>
            <a:endParaRPr lang="en-US" dirty="0"/>
          </a:p>
          <a:p>
            <a:r>
              <a:rPr lang="en-US" dirty="0"/>
              <a:t>Team Member</a:t>
            </a:r>
          </a:p>
          <a:p>
            <a:endParaRPr lang="en-US" dirty="0"/>
          </a:p>
          <a:p>
            <a:r>
              <a:rPr lang="en-US" dirty="0"/>
              <a:t>Maya</a:t>
            </a:r>
          </a:p>
          <a:p>
            <a:endParaRPr lang="en-US" dirty="0"/>
          </a:p>
          <a:p>
            <a:r>
              <a:rPr lang="en-US" dirty="0"/>
              <a:t>Project Manager</a:t>
            </a:r>
          </a:p>
          <a:p>
            <a:endParaRPr lang="en-US" dirty="0"/>
          </a:p>
          <a:p>
            <a:r>
              <a:rPr lang="en-US" dirty="0"/>
              <a:t>Daniel</a:t>
            </a:r>
          </a:p>
          <a:p>
            <a:endParaRPr lang="en-US" dirty="0"/>
          </a:p>
          <a:p>
            <a:r>
              <a:rPr lang="en-US" dirty="0"/>
              <a:t>Administrator</a:t>
            </a:r>
          </a:p>
          <a:p>
            <a:endParaRPr lang="en-US" dirty="0"/>
          </a:p>
          <a:p>
            <a:r>
              <a:rPr lang="en-US" dirty="0"/>
              <a:t>Explain:</a:t>
            </a:r>
          </a:p>
          <a:p>
            <a:endParaRPr lang="en-US" dirty="0"/>
          </a:p>
          <a:p>
            <a:r>
              <a:rPr lang="en-US" dirty="0"/>
              <a:t>"The interface isn't identical for everyone."</a:t>
            </a:r>
          </a:p>
          <a:p>
            <a:endParaRPr lang="en-US" dirty="0"/>
          </a:p>
          <a:p>
            <a:r>
              <a:rPr lang="en-US" dirty="0"/>
              <a:t>"Each role needs different information."</a:t>
            </a:r>
          </a:p>
          <a:p>
            <a:endParaRPr lang="en-US" dirty="0"/>
          </a:p>
          <a:p>
            <a:r>
              <a:rPr lang="en-US" dirty="0"/>
              <a:t>Ask students:</a:t>
            </a:r>
          </a:p>
          <a:p>
            <a:endParaRPr lang="en-US" dirty="0"/>
          </a:p>
          <a:p>
            <a:r>
              <a:rPr lang="en-US" dirty="0"/>
              <a:t>"Should Olivia see administrator settings?"</a:t>
            </a:r>
          </a:p>
          <a:p>
            <a:endParaRPr lang="en-US" dirty="0"/>
          </a:p>
          <a:p>
            <a:r>
              <a:rPr lang="en-US" dirty="0"/>
              <a:t>Discuss role-based design.</a:t>
            </a:r>
          </a:p>
          <a:p>
            <a:endParaRPr lang="en-US" dirty="0"/>
          </a:p>
          <a:p>
            <a:r>
              <a:rPr lang="en-US" dirty="0"/>
              <a:t>------------------------------------------------------------</a:t>
            </a:r>
          </a:p>
          <a:p>
            <a:endParaRPr lang="en-US" dirty="0"/>
          </a:p>
          <a:p>
            <a:r>
              <a:rPr lang="en-US" dirty="0"/>
              <a:t>ENGINEERING INSIGHT</a:t>
            </a:r>
          </a:p>
          <a:p>
            <a:endParaRPr lang="en-US" dirty="0"/>
          </a:p>
          <a:p>
            <a:r>
              <a:rPr lang="en-US" dirty="0"/>
              <a:t>Read the statement.</a:t>
            </a:r>
          </a:p>
          <a:p>
            <a:endParaRPr lang="en-US" dirty="0"/>
          </a:p>
          <a:p>
            <a:r>
              <a:rPr lang="en-US" dirty="0"/>
              <a:t>"Good wireframes make design decisions visible before code decisions</a:t>
            </a:r>
          </a:p>
          <a:p>
            <a:r>
              <a:rPr lang="en-US" dirty="0"/>
              <a:t>become expensive."</a:t>
            </a:r>
          </a:p>
          <a:p>
            <a:endParaRPr lang="en-US" dirty="0"/>
          </a:p>
          <a:p>
            <a:r>
              <a:rPr lang="en-US" dirty="0"/>
              <a:t>Explain.</a:t>
            </a:r>
          </a:p>
          <a:p>
            <a:endParaRPr lang="en-US" dirty="0"/>
          </a:p>
          <a:p>
            <a:r>
              <a:rPr lang="en-US" dirty="0"/>
              <a:t>"It's much cheaper to move a button on paper..."</a:t>
            </a:r>
          </a:p>
          <a:p>
            <a:endParaRPr lang="en-US" dirty="0"/>
          </a:p>
          <a:p>
            <a:r>
              <a:rPr lang="en-US" dirty="0"/>
              <a:t>"Than after deployment."</a:t>
            </a:r>
          </a:p>
          <a:p>
            <a:endParaRPr lang="en-US" dirty="0"/>
          </a:p>
          <a:p>
            <a:r>
              <a:rPr lang="en-US" dirty="0"/>
              <a:t>------------------------------------------------------------</a:t>
            </a:r>
          </a:p>
          <a:p>
            <a:endParaRPr lang="en-US" dirty="0"/>
          </a:p>
          <a:p>
            <a:r>
              <a:rPr lang="en-US" dirty="0"/>
              <a:t>ATLAS ARCHITECTURE SPOTLIGHT</a:t>
            </a:r>
          </a:p>
          <a:p>
            <a:endParaRPr lang="en-US" dirty="0"/>
          </a:p>
          <a:p>
            <a:r>
              <a:rPr lang="en-US" dirty="0"/>
              <a:t>Today's Spotlight:</a:t>
            </a:r>
          </a:p>
          <a:p>
            <a:endParaRPr lang="en-US" dirty="0"/>
          </a:p>
          <a:p>
            <a:r>
              <a:rPr lang="en-US" dirty="0"/>
              <a:t>Figma</a:t>
            </a:r>
          </a:p>
          <a:p>
            <a:endParaRPr lang="en-US" dirty="0"/>
          </a:p>
          <a:p>
            <a:r>
              <a:rPr lang="en-US" dirty="0"/>
              <a:t>Explain:</a:t>
            </a:r>
          </a:p>
          <a:p>
            <a:endParaRPr lang="en-US" dirty="0"/>
          </a:p>
          <a:p>
            <a:r>
              <a:rPr lang="en-US" dirty="0"/>
              <a:t>"Figma is one of the most widely used design tools in the software</a:t>
            </a:r>
          </a:p>
          <a:p>
            <a:r>
              <a:rPr lang="en-US" dirty="0"/>
              <a:t>industry."</a:t>
            </a:r>
          </a:p>
          <a:p>
            <a:endParaRPr lang="en-US" dirty="0"/>
          </a:p>
          <a:p>
            <a:r>
              <a:rPr lang="en-US" dirty="0"/>
              <a:t>Show examples if available.</a:t>
            </a:r>
          </a:p>
          <a:p>
            <a:endParaRPr lang="en-US" dirty="0"/>
          </a:p>
          <a:p>
            <a:r>
              <a:rPr lang="en-US" dirty="0"/>
              <a:t>Discuss collaboration.</a:t>
            </a:r>
          </a:p>
          <a:p>
            <a:endParaRPr lang="en-US" dirty="0"/>
          </a:p>
          <a:p>
            <a:r>
              <a:rPr lang="en-US" dirty="0"/>
              <a:t>Version history.</a:t>
            </a:r>
          </a:p>
          <a:p>
            <a:endParaRPr lang="en-US" dirty="0"/>
          </a:p>
          <a:p>
            <a:r>
              <a:rPr lang="en-US" dirty="0"/>
              <a:t>Comments.</a:t>
            </a:r>
          </a:p>
          <a:p>
            <a:endParaRPr lang="en-US" dirty="0"/>
          </a:p>
          <a:p>
            <a:r>
              <a:rPr lang="en-US" dirty="0"/>
              <a:t>Real-time teamwork.</a:t>
            </a:r>
          </a:p>
          <a:p>
            <a:endParaRPr lang="en-US" dirty="0"/>
          </a:p>
          <a:p>
            <a:r>
              <a:rPr lang="en-US" dirty="0"/>
              <a:t>Explain:</a:t>
            </a:r>
          </a:p>
          <a:p>
            <a:endParaRPr lang="en-US" dirty="0"/>
          </a:p>
          <a:p>
            <a:r>
              <a:rPr lang="en-US" dirty="0"/>
              <a:t>"This is where many professional applications begin."</a:t>
            </a:r>
          </a:p>
          <a:p>
            <a:endParaRPr lang="en-US" dirty="0"/>
          </a:p>
          <a:p>
            <a:r>
              <a:rPr lang="en-US" dirty="0"/>
              <a:t>------------------------------------------------------------</a:t>
            </a:r>
          </a:p>
          <a:p>
            <a:endParaRPr lang="en-US" dirty="0"/>
          </a:p>
          <a:p>
            <a:r>
              <a:rPr lang="en-US" dirty="0"/>
              <a:t>ENGINEERING STORY</a:t>
            </a:r>
          </a:p>
          <a:p>
            <a:endParaRPr lang="en-US" dirty="0"/>
          </a:p>
          <a:p>
            <a:r>
              <a:rPr lang="en-US" dirty="0"/>
              <a:t>Share the Food Pantry project.</a:t>
            </a:r>
          </a:p>
          <a:p>
            <a:endParaRPr lang="en-US" dirty="0"/>
          </a:p>
          <a:p>
            <a:r>
              <a:rPr lang="en-US" dirty="0"/>
              <a:t>Describe sketching interfaces before development.</a:t>
            </a:r>
          </a:p>
          <a:p>
            <a:endParaRPr lang="en-US" dirty="0"/>
          </a:p>
          <a:p>
            <a:r>
              <a:rPr lang="en-US" dirty="0"/>
              <a:t>Discuss how conversations around wireframes uncovered missing</a:t>
            </a:r>
          </a:p>
          <a:p>
            <a:r>
              <a:rPr lang="en-US" dirty="0"/>
              <a:t>requirements.</a:t>
            </a:r>
          </a:p>
          <a:p>
            <a:endParaRPr lang="en-US" dirty="0"/>
          </a:p>
          <a:p>
            <a:r>
              <a:rPr lang="en-US" dirty="0"/>
              <a:t>Explain:</a:t>
            </a:r>
          </a:p>
          <a:p>
            <a:endParaRPr lang="en-US" dirty="0"/>
          </a:p>
          <a:p>
            <a:r>
              <a:rPr lang="en-US" dirty="0"/>
              <a:t>"One simple sketch saved hours of coding."</a:t>
            </a:r>
          </a:p>
          <a:p>
            <a:endParaRPr lang="en-US" dirty="0"/>
          </a:p>
          <a:p>
            <a:r>
              <a:rPr lang="en-US" dirty="0"/>
              <a:t>------------------------------------------------------------</a:t>
            </a:r>
          </a:p>
          <a:p>
            <a:endParaRPr lang="en-US" dirty="0"/>
          </a:p>
          <a:p>
            <a:r>
              <a:rPr lang="en-US" dirty="0"/>
              <a:t>ATLAS DESIGN CHALLENGE #4</a:t>
            </a:r>
          </a:p>
          <a:p>
            <a:endParaRPr lang="en-US" dirty="0"/>
          </a:p>
          <a:p>
            <a:r>
              <a:rPr lang="en-US" dirty="0"/>
              <a:t>Challenge:</a:t>
            </a:r>
          </a:p>
          <a:p>
            <a:endParaRPr lang="en-US" dirty="0"/>
          </a:p>
          <a:p>
            <a:r>
              <a:rPr lang="en-US" dirty="0"/>
              <a:t>Choose one Atlas </a:t>
            </a:r>
            <a:r>
              <a:rPr lang="en-US" dirty="0" err="1"/>
              <a:t>TaskFlow</a:t>
            </a:r>
            <a:r>
              <a:rPr lang="en-US" dirty="0"/>
              <a:t> screen.</a:t>
            </a:r>
          </a:p>
          <a:p>
            <a:endParaRPr lang="en-US" dirty="0"/>
          </a:p>
          <a:p>
            <a:r>
              <a:rPr lang="en-US" dirty="0"/>
              <a:t>Examples:</a:t>
            </a:r>
          </a:p>
          <a:p>
            <a:endParaRPr lang="en-US" dirty="0"/>
          </a:p>
          <a:p>
            <a:r>
              <a:rPr lang="en-US" dirty="0"/>
              <a:t>Dashboard</a:t>
            </a:r>
          </a:p>
          <a:p>
            <a:endParaRPr lang="en-US" dirty="0"/>
          </a:p>
          <a:p>
            <a:r>
              <a:rPr lang="en-US" dirty="0"/>
              <a:t>Task List</a:t>
            </a:r>
          </a:p>
          <a:p>
            <a:endParaRPr lang="en-US" dirty="0"/>
          </a:p>
          <a:p>
            <a:r>
              <a:rPr lang="en-US" dirty="0"/>
              <a:t>Create Task</a:t>
            </a:r>
          </a:p>
          <a:p>
            <a:endParaRPr lang="en-US" dirty="0"/>
          </a:p>
          <a:p>
            <a:r>
              <a:rPr lang="en-US" dirty="0"/>
              <a:t>Team View</a:t>
            </a:r>
          </a:p>
          <a:p>
            <a:endParaRPr lang="en-US" dirty="0"/>
          </a:p>
          <a:p>
            <a:r>
              <a:rPr lang="en-US" dirty="0"/>
              <a:t>Draw a low-fidelity wireframe.</a:t>
            </a:r>
          </a:p>
          <a:p>
            <a:endParaRPr lang="en-US" dirty="0"/>
          </a:p>
          <a:p>
            <a:r>
              <a:rPr lang="en-US" dirty="0"/>
              <a:t>Do not use colors.</a:t>
            </a:r>
          </a:p>
          <a:p>
            <a:endParaRPr lang="en-US" dirty="0"/>
          </a:p>
          <a:p>
            <a:r>
              <a:rPr lang="en-US" dirty="0"/>
              <a:t>Focus on:</a:t>
            </a:r>
          </a:p>
          <a:p>
            <a:endParaRPr lang="en-US" dirty="0"/>
          </a:p>
          <a:p>
            <a:r>
              <a:rPr lang="en-US" dirty="0"/>
              <a:t>Layout</a:t>
            </a:r>
          </a:p>
          <a:p>
            <a:endParaRPr lang="en-US" dirty="0"/>
          </a:p>
          <a:p>
            <a:r>
              <a:rPr lang="en-US" dirty="0"/>
              <a:t>Navigation</a:t>
            </a:r>
          </a:p>
          <a:p>
            <a:endParaRPr lang="en-US" dirty="0"/>
          </a:p>
          <a:p>
            <a:r>
              <a:rPr lang="en-US" dirty="0"/>
              <a:t>Functionality</a:t>
            </a:r>
          </a:p>
          <a:p>
            <a:endParaRPr lang="en-US" dirty="0"/>
          </a:p>
          <a:p>
            <a:r>
              <a:rPr lang="en-US" dirty="0"/>
              <a:t>Time:</a:t>
            </a:r>
          </a:p>
          <a:p>
            <a:endParaRPr lang="en-US" dirty="0"/>
          </a:p>
          <a:p>
            <a:r>
              <a:rPr lang="en-US" dirty="0"/>
              <a:t>15 minutes.</a:t>
            </a:r>
          </a:p>
          <a:p>
            <a:endParaRPr lang="en-US" dirty="0"/>
          </a:p>
          <a:p>
            <a:r>
              <a:rPr lang="en-US" dirty="0"/>
              <a:t>Have students present their sketches.</a:t>
            </a:r>
          </a:p>
          <a:p>
            <a:endParaRPr lang="en-US" dirty="0"/>
          </a:p>
          <a:p>
            <a:r>
              <a:rPr lang="en-US" dirty="0"/>
              <a:t>------------------------------------------------------------</a:t>
            </a:r>
          </a:p>
          <a:p>
            <a:endParaRPr lang="en-US" dirty="0"/>
          </a:p>
          <a:p>
            <a:r>
              <a:rPr lang="en-US" dirty="0"/>
              <a:t>CLASS DISCUSSION</a:t>
            </a:r>
          </a:p>
          <a:p>
            <a:endParaRPr lang="en-US" dirty="0"/>
          </a:p>
          <a:p>
            <a:r>
              <a:rPr lang="en-US" dirty="0"/>
              <a:t>Ask:</a:t>
            </a:r>
          </a:p>
          <a:p>
            <a:endParaRPr lang="en-US" dirty="0"/>
          </a:p>
          <a:p>
            <a:r>
              <a:rPr lang="en-US" dirty="0"/>
              <a:t>"Which screen is the most important?"</a:t>
            </a:r>
          </a:p>
          <a:p>
            <a:endParaRPr lang="en-US" dirty="0"/>
          </a:p>
          <a:p>
            <a:r>
              <a:rPr lang="en-US" dirty="0"/>
              <a:t>"What information should appear first?"</a:t>
            </a:r>
          </a:p>
          <a:p>
            <a:endParaRPr lang="en-US" dirty="0"/>
          </a:p>
          <a:p>
            <a:r>
              <a:rPr lang="en-US" dirty="0"/>
              <a:t>"What could be removed?"</a:t>
            </a:r>
          </a:p>
          <a:p>
            <a:endParaRPr lang="en-US" dirty="0"/>
          </a:p>
          <a:p>
            <a:r>
              <a:rPr lang="en-US" dirty="0"/>
              <a:t>"How can we reduce user confusion?"</a:t>
            </a:r>
          </a:p>
          <a:p>
            <a:endParaRPr lang="en-US" dirty="0"/>
          </a:p>
          <a:p>
            <a:r>
              <a:rPr lang="en-US" dirty="0"/>
              <a:t>Guide students toward minimalist design.</a:t>
            </a:r>
          </a:p>
          <a:p>
            <a:endParaRPr lang="en-US" dirty="0"/>
          </a:p>
          <a:p>
            <a:r>
              <a:rPr lang="en-US" dirty="0"/>
              <a:t>------------------------------------------------------------</a:t>
            </a:r>
          </a:p>
          <a:p>
            <a:endParaRPr lang="en-US" dirty="0"/>
          </a:p>
          <a:p>
            <a:r>
              <a:rPr lang="en-US" dirty="0"/>
              <a:t>ENGINEERING LESSON</a:t>
            </a:r>
          </a:p>
          <a:p>
            <a:endParaRPr lang="en-US" dirty="0"/>
          </a:p>
          <a:p>
            <a:r>
              <a:rPr lang="en-US" dirty="0"/>
              <a:t>Read the quote.</a:t>
            </a:r>
          </a:p>
          <a:p>
            <a:endParaRPr lang="en-US" dirty="0"/>
          </a:p>
          <a:p>
            <a:r>
              <a:rPr lang="en-US" dirty="0"/>
              <a:t>"Simplicity is the ultimate sophistication."</a:t>
            </a:r>
          </a:p>
          <a:p>
            <a:endParaRPr lang="en-US" dirty="0"/>
          </a:p>
          <a:p>
            <a:r>
              <a:rPr lang="en-US" dirty="0"/>
              <a:t>Pause.</a:t>
            </a:r>
          </a:p>
          <a:p>
            <a:endParaRPr lang="en-US" dirty="0"/>
          </a:p>
          <a:p>
            <a:r>
              <a:rPr lang="en-US" dirty="0"/>
              <a:t>Explain.</a:t>
            </a:r>
          </a:p>
          <a:p>
            <a:endParaRPr lang="en-US" dirty="0"/>
          </a:p>
          <a:p>
            <a:r>
              <a:rPr lang="en-US" dirty="0"/>
              <a:t>"Great software often removes features instead of adding them."</a:t>
            </a:r>
          </a:p>
          <a:p>
            <a:endParaRPr lang="en-US" dirty="0"/>
          </a:p>
          <a:p>
            <a:r>
              <a:rPr lang="en-US" dirty="0"/>
              <a:t>"The best interface is the one users don't have to think about."</a:t>
            </a:r>
          </a:p>
          <a:p>
            <a:endParaRPr lang="en-US" dirty="0"/>
          </a:p>
          <a:p>
            <a:r>
              <a:rPr lang="en-US" dirty="0"/>
              <a:t>------------------------------------------------------------</a:t>
            </a:r>
          </a:p>
          <a:p>
            <a:endParaRPr lang="en-US" dirty="0"/>
          </a:p>
          <a:p>
            <a:r>
              <a:rPr lang="en-US" dirty="0"/>
              <a:t>TRANSITION</a:t>
            </a:r>
          </a:p>
          <a:p>
            <a:endParaRPr lang="en-US" dirty="0"/>
          </a:p>
          <a:p>
            <a:r>
              <a:rPr lang="en-US" dirty="0"/>
              <a:t>"We now know what Atlas </a:t>
            </a:r>
            <a:r>
              <a:rPr lang="en-US" dirty="0" err="1"/>
              <a:t>TaskFlow</a:t>
            </a:r>
            <a:r>
              <a:rPr lang="en-US" dirty="0"/>
              <a:t> looks like."</a:t>
            </a:r>
          </a:p>
          <a:p>
            <a:endParaRPr lang="en-US" dirty="0"/>
          </a:p>
          <a:p>
            <a:r>
              <a:rPr lang="en-US" dirty="0"/>
              <a:t>"But how do all these screens fit together?"</a:t>
            </a:r>
          </a:p>
          <a:p>
            <a:endParaRPr lang="en-US" dirty="0"/>
          </a:p>
          <a:p>
            <a:r>
              <a:rPr lang="en-US" dirty="0"/>
              <a:t>"How should information be organized?"</a:t>
            </a:r>
          </a:p>
          <a:p>
            <a:endParaRPr lang="en-US" dirty="0"/>
          </a:p>
          <a:p>
            <a:r>
              <a:rPr lang="en-US" dirty="0"/>
              <a:t>"Our next lesson..."</a:t>
            </a:r>
          </a:p>
          <a:p>
            <a:endParaRPr lang="en-US" dirty="0"/>
          </a:p>
          <a:p>
            <a:r>
              <a:rPr lang="en-US" dirty="0"/>
              <a:t>"Information Architecture."</a:t>
            </a:r>
          </a:p>
          <a:p>
            <a:endParaRPr lang="en-US" dirty="0"/>
          </a:p>
          <a:p>
            <a:r>
              <a:rPr lang="en-US" dirty="0"/>
              <a:t>------------------------------------------------------------</a:t>
            </a:r>
          </a:p>
          <a:p>
            <a:endParaRPr lang="en-US" dirty="0"/>
          </a:p>
          <a:p>
            <a:r>
              <a:rPr lang="en-US" dirty="0"/>
              <a:t>ESTIMATED TIME</a:t>
            </a:r>
          </a:p>
          <a:p>
            <a:endParaRPr lang="en-US" dirty="0"/>
          </a:p>
          <a:p>
            <a:r>
              <a:rPr lang="en-US" dirty="0"/>
              <a:t>Review.............................5 minutes</a:t>
            </a:r>
          </a:p>
          <a:p>
            <a:endParaRPr lang="en-US" dirty="0"/>
          </a:p>
          <a:p>
            <a:r>
              <a:rPr lang="en-US" dirty="0"/>
              <a:t>Wireframe Concepts.................10 minutes</a:t>
            </a:r>
          </a:p>
          <a:p>
            <a:endParaRPr lang="en-US" dirty="0"/>
          </a:p>
          <a:p>
            <a:r>
              <a:rPr lang="en-US" dirty="0"/>
              <a:t>Principles.........................8 minutes</a:t>
            </a:r>
          </a:p>
          <a:p>
            <a:endParaRPr lang="en-US" dirty="0"/>
          </a:p>
          <a:p>
            <a:r>
              <a:rPr lang="en-US" dirty="0" err="1"/>
              <a:t>TaskFlow</a:t>
            </a:r>
            <a:r>
              <a:rPr lang="en-US" dirty="0"/>
              <a:t> Walkthrough...............12 minutes</a:t>
            </a:r>
          </a:p>
          <a:p>
            <a:endParaRPr lang="en-US" dirty="0"/>
          </a:p>
          <a:p>
            <a:r>
              <a:rPr lang="en-US" dirty="0"/>
              <a:t>Architecture Spotlight............7 minutes</a:t>
            </a:r>
          </a:p>
          <a:p>
            <a:endParaRPr lang="en-US" dirty="0"/>
          </a:p>
          <a:p>
            <a:r>
              <a:rPr lang="en-US" dirty="0"/>
              <a:t>Design Challenge..................12 minutes</a:t>
            </a:r>
          </a:p>
          <a:p>
            <a:endParaRPr lang="en-US" dirty="0"/>
          </a:p>
          <a:p>
            <a:r>
              <a:rPr lang="en-US" dirty="0"/>
              <a:t>Discussion.........................6 minutes</a:t>
            </a:r>
          </a:p>
          <a:p>
            <a:endParaRPr lang="en-US" dirty="0"/>
          </a:p>
          <a:p>
            <a:r>
              <a:rPr lang="en-US" dirty="0"/>
              <a:t>Transition.........................3 minutes</a:t>
            </a:r>
          </a:p>
          <a:p>
            <a:endParaRPr lang="en-US" dirty="0"/>
          </a:p>
          <a:p>
            <a:r>
              <a:rPr lang="en-US" dirty="0"/>
              <a:t>Total.............................63 minutes</a:t>
            </a:r>
          </a:p>
          <a:p>
            <a:endParaRPr lang="en-US" dirty="0"/>
          </a:p>
          <a:p>
            <a:r>
              <a:rPr lang="en-US" dirty="0"/>
              <a:t>------------------------------------------------------------</a:t>
            </a:r>
          </a:p>
          <a:p>
            <a:endParaRPr lang="en-US" dirty="0"/>
          </a:p>
          <a:p>
            <a:r>
              <a:rPr lang="en-US" dirty="0"/>
              <a:t>INSTRUCTOR NOTES</a:t>
            </a:r>
          </a:p>
          <a:p>
            <a:endParaRPr lang="en-US" dirty="0"/>
          </a:p>
          <a:p>
            <a:r>
              <a:rPr lang="en-US" dirty="0"/>
              <a:t>Keep reminding students that wireframes are communication tools.</a:t>
            </a:r>
          </a:p>
          <a:p>
            <a:endParaRPr lang="en-US" dirty="0"/>
          </a:p>
          <a:p>
            <a:r>
              <a:rPr lang="en-US" dirty="0"/>
              <a:t>Encourage them to draw quickly and iterate often.</a:t>
            </a:r>
          </a:p>
          <a:p>
            <a:endParaRPr lang="en-US" dirty="0"/>
          </a:p>
          <a:p>
            <a:r>
              <a:rPr lang="en-US" dirty="0"/>
              <a:t>Do not allow students to become focused on artistic ability.</a:t>
            </a:r>
          </a:p>
          <a:p>
            <a:endParaRPr lang="en-US" dirty="0"/>
          </a:p>
          <a:p>
            <a:r>
              <a:rPr lang="en-US" dirty="0"/>
              <a:t>Instead ask:</a:t>
            </a:r>
          </a:p>
          <a:p>
            <a:endParaRPr lang="en-US" dirty="0"/>
          </a:p>
          <a:p>
            <a:r>
              <a:rPr lang="en-US" dirty="0"/>
              <a:t>Can users complete their task?</a:t>
            </a:r>
          </a:p>
          <a:p>
            <a:endParaRPr lang="en-US" dirty="0"/>
          </a:p>
          <a:p>
            <a:r>
              <a:rPr lang="en-US" dirty="0"/>
              <a:t>Can they find important information?</a:t>
            </a:r>
          </a:p>
          <a:p>
            <a:endParaRPr lang="en-US" dirty="0"/>
          </a:p>
          <a:p>
            <a:r>
              <a:rPr lang="en-US" dirty="0"/>
              <a:t>Does the workflow make sense?</a:t>
            </a:r>
          </a:p>
          <a:p>
            <a:endParaRPr lang="en-US" dirty="0"/>
          </a:p>
          <a:p>
            <a:r>
              <a:rPr lang="en-US" dirty="0"/>
              <a:t>Throughout the lesson, continually connect every screen back to:</a:t>
            </a:r>
          </a:p>
          <a:p>
            <a:endParaRPr lang="en-US" dirty="0"/>
          </a:p>
          <a:p>
            <a:r>
              <a:rPr lang="en-US" dirty="0"/>
              <a:t>Requirements</a:t>
            </a:r>
          </a:p>
          <a:p>
            <a:endParaRPr lang="en-US" dirty="0"/>
          </a:p>
          <a:p>
            <a:r>
              <a:rPr lang="en-US" dirty="0"/>
              <a:t>User Stories</a:t>
            </a:r>
          </a:p>
          <a:p>
            <a:endParaRPr lang="en-US" dirty="0"/>
          </a:p>
          <a:p>
            <a:r>
              <a:rPr lang="en-US" dirty="0"/>
              <a:t>Personas</a:t>
            </a:r>
          </a:p>
          <a:p>
            <a:endParaRPr lang="en-US" dirty="0"/>
          </a:p>
          <a:p>
            <a:r>
              <a:rPr lang="en-US" dirty="0"/>
              <a:t>User Journeys</a:t>
            </a:r>
          </a:p>
          <a:p>
            <a:endParaRPr lang="en-US" dirty="0"/>
          </a:p>
          <a:p>
            <a:r>
              <a:rPr lang="en-US" dirty="0"/>
              <a:t>Show students that none of today's work exists in isolation.</a:t>
            </a:r>
          </a:p>
          <a:p>
            <a:endParaRPr lang="en-US" dirty="0"/>
          </a:p>
          <a:p>
            <a:r>
              <a:rPr lang="en-US" dirty="0"/>
              <a:t>Every design decision should be supported by previous engineering</a:t>
            </a:r>
          </a:p>
          <a:p>
            <a:r>
              <a:rPr lang="en-US" dirty="0"/>
              <a:t>artifacts.</a:t>
            </a:r>
          </a:p>
          <a:p>
            <a:endParaRPr lang="en-US" dirty="0"/>
          </a:p>
          <a:p>
            <a:r>
              <a:rPr lang="en-US" dirty="0"/>
              <a:t>Close with:</a:t>
            </a:r>
          </a:p>
          <a:p>
            <a:endParaRPr lang="en-US" dirty="0"/>
          </a:p>
          <a:p>
            <a:r>
              <a:rPr lang="en-US" dirty="0"/>
              <a:t>"Today we gave Atlas </a:t>
            </a:r>
            <a:r>
              <a:rPr lang="en-US" dirty="0" err="1"/>
              <a:t>TaskFlow</a:t>
            </a:r>
            <a:r>
              <a:rPr lang="en-US" dirty="0"/>
              <a:t> a face."</a:t>
            </a:r>
          </a:p>
          <a:p>
            <a:endParaRPr lang="en-US" dirty="0"/>
          </a:p>
          <a:p>
            <a:r>
              <a:rPr lang="en-US" dirty="0"/>
              <a:t>"Next class..."</a:t>
            </a:r>
          </a:p>
          <a:p>
            <a:endParaRPr lang="en-US" dirty="0"/>
          </a:p>
          <a:p>
            <a:r>
              <a:rPr lang="en-US" dirty="0"/>
              <a:t>"We'll organize its brain."</a:t>
            </a:r>
          </a:p>
          <a:p>
            <a:endParaRPr lang="en-US" dirty="0"/>
          </a:p>
          <a:p>
            <a:r>
              <a:rPr lang="en-US" dirty="0"/>
              <a:t>"Welcome to Information Architecture."</a:t>
            </a:r>
          </a:p>
          <a:p>
            <a:endParaRPr lang="en-US" dirty="0"/>
          </a:p>
          <a:p>
            <a:r>
              <a:rPr lang="en-US" dirty="0"/>
              <a:t>============================================================</a:t>
            </a:r>
          </a:p>
        </p:txBody>
      </p:sp>
      <p:sp>
        <p:nvSpPr>
          <p:cNvPr id="4" name="Slide Number Placeholder 3"/>
          <p:cNvSpPr>
            <a:spLocks noGrp="1"/>
          </p:cNvSpPr>
          <p:nvPr>
            <p:ph type="sldNum" sz="quarter" idx="5"/>
          </p:nvPr>
        </p:nvSpPr>
        <p:spPr/>
        <p:txBody>
          <a:bodyPr/>
          <a:lstStyle/>
          <a:p>
            <a:fld id="{12CFA81F-48ED-4EC0-89DB-73FF3AF92981}" type="slidenum">
              <a:rPr lang="en-US" smtClean="0"/>
              <a:t>5</a:t>
            </a:fld>
            <a:endParaRPr lang="en-US"/>
          </a:p>
        </p:txBody>
      </p:sp>
    </p:spTree>
    <p:extLst>
      <p:ext uri="{BB962C8B-B14F-4D97-AF65-F5344CB8AC3E}">
        <p14:creationId xmlns:p14="http://schemas.microsoft.com/office/powerpoint/2010/main" val="7948434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endParaRPr lang="en-US" dirty="0"/>
          </a:p>
          <a:p>
            <a:r>
              <a:rPr lang="en-US" dirty="0"/>
              <a:t>SPRINT 3</a:t>
            </a:r>
          </a:p>
          <a:p>
            <a:endParaRPr lang="en-US" dirty="0"/>
          </a:p>
          <a:p>
            <a:r>
              <a:rPr lang="en-US" dirty="0"/>
              <a:t>ARTIFACT XXXVIII</a:t>
            </a:r>
          </a:p>
          <a:p>
            <a:endParaRPr lang="en-US" dirty="0"/>
          </a:p>
          <a:p>
            <a:r>
              <a:rPr lang="en-US" dirty="0"/>
              <a:t>INFORMATION ARCHITECTURE</a:t>
            </a:r>
          </a:p>
          <a:p>
            <a:endParaRPr lang="en-US" dirty="0"/>
          </a:p>
          <a:p>
            <a:r>
              <a:rPr lang="en-US" dirty="0"/>
              <a:t>============================================================</a:t>
            </a:r>
          </a:p>
          <a:p>
            <a:endParaRPr lang="en-US" dirty="0"/>
          </a:p>
          <a:p>
            <a:r>
              <a:rPr lang="en-US" dirty="0"/>
              <a:t>SLIDE PURPOSE</a:t>
            </a:r>
          </a:p>
          <a:p>
            <a:endParaRPr lang="en-US" dirty="0"/>
          </a:p>
          <a:p>
            <a:r>
              <a:rPr lang="en-US" dirty="0"/>
              <a:t>Introduce students to Information Architecture (IA) and explain how</a:t>
            </a:r>
          </a:p>
          <a:p>
            <a:r>
              <a:rPr lang="en-US" dirty="0"/>
              <a:t>software engineers organize content, navigation, and application</a:t>
            </a:r>
          </a:p>
          <a:p>
            <a:r>
              <a:rPr lang="en-US" dirty="0"/>
              <a:t>structure before development begins.</a:t>
            </a:r>
          </a:p>
          <a:p>
            <a:endParaRPr lang="en-US" dirty="0"/>
          </a:p>
          <a:p>
            <a:r>
              <a:rPr lang="en-US" dirty="0"/>
              <a:t>Students should understand that Information Architecture is not about</a:t>
            </a:r>
          </a:p>
          <a:p>
            <a:r>
              <a:rPr lang="en-US" dirty="0"/>
              <a:t>how software looks.</a:t>
            </a:r>
          </a:p>
          <a:p>
            <a:endParaRPr lang="en-US" dirty="0"/>
          </a:p>
          <a:p>
            <a:r>
              <a:rPr lang="en-US" dirty="0"/>
              <a:t>It is about how information is organized so users can accomplish their</a:t>
            </a:r>
          </a:p>
          <a:p>
            <a:r>
              <a:rPr lang="en-US" dirty="0"/>
              <a:t>goals efficiently.</a:t>
            </a:r>
          </a:p>
          <a:p>
            <a:endParaRPr lang="en-US" dirty="0"/>
          </a:p>
          <a:p>
            <a:r>
              <a:rPr lang="en-US" dirty="0"/>
              <a:t>Today we organize Atlas </a:t>
            </a:r>
            <a:r>
              <a:rPr lang="en-US" dirty="0" err="1"/>
              <a:t>TaskFlow</a:t>
            </a:r>
            <a:r>
              <a:rPr lang="en-US" dirty="0"/>
              <a:t> into a complete application structure.</a:t>
            </a:r>
          </a:p>
          <a:p>
            <a:endParaRPr lang="en-US" dirty="0"/>
          </a:p>
          <a:p>
            <a:r>
              <a:rPr lang="en-US" dirty="0"/>
              <a:t>------------------------------------------------------------</a:t>
            </a:r>
          </a:p>
          <a:p>
            <a:endParaRPr lang="en-US" dirty="0"/>
          </a:p>
          <a:p>
            <a:r>
              <a:rPr lang="en-US" dirty="0"/>
              <a:t>OPENING</a:t>
            </a:r>
          </a:p>
          <a:p>
            <a:endParaRPr lang="en-US" dirty="0"/>
          </a:p>
          <a:p>
            <a:r>
              <a:rPr lang="en-US" dirty="0"/>
              <a:t>"Today we move beyond individual screens."</a:t>
            </a:r>
          </a:p>
          <a:p>
            <a:endParaRPr lang="en-US" dirty="0"/>
          </a:p>
          <a:p>
            <a:r>
              <a:rPr lang="en-US" dirty="0"/>
              <a:t>"So far we've designed interfaces."</a:t>
            </a:r>
          </a:p>
          <a:p>
            <a:endParaRPr lang="en-US" dirty="0"/>
          </a:p>
          <a:p>
            <a:r>
              <a:rPr lang="en-US" dirty="0"/>
              <a:t>"But now we have a new challenge."</a:t>
            </a:r>
          </a:p>
          <a:p>
            <a:endParaRPr lang="en-US" dirty="0"/>
          </a:p>
          <a:p>
            <a:r>
              <a:rPr lang="en-US" dirty="0"/>
              <a:t>"How do all of these screens connect?"</a:t>
            </a:r>
          </a:p>
          <a:p>
            <a:endParaRPr lang="en-US" dirty="0"/>
          </a:p>
          <a:p>
            <a:r>
              <a:rPr lang="en-US" dirty="0"/>
              <a:t>Pause.</a:t>
            </a:r>
          </a:p>
          <a:p>
            <a:endParaRPr lang="en-US" dirty="0"/>
          </a:p>
          <a:p>
            <a:r>
              <a:rPr lang="en-US" dirty="0"/>
              <a:t>"A great application isn't just made of good screens."</a:t>
            </a:r>
          </a:p>
          <a:p>
            <a:endParaRPr lang="en-US" dirty="0"/>
          </a:p>
          <a:p>
            <a:r>
              <a:rPr lang="en-US" dirty="0"/>
              <a:t>"It's made of a logical structure."</a:t>
            </a:r>
          </a:p>
          <a:p>
            <a:endParaRPr lang="en-US" dirty="0"/>
          </a:p>
          <a:p>
            <a:r>
              <a:rPr lang="en-US" dirty="0"/>
              <a:t>"Today we become software architects."</a:t>
            </a:r>
          </a:p>
          <a:p>
            <a:endParaRPr lang="en-US" dirty="0"/>
          </a:p>
          <a:p>
            <a:r>
              <a:rPr lang="en-US" dirty="0"/>
              <a:t>------------------------------------------------------------</a:t>
            </a:r>
          </a:p>
          <a:p>
            <a:endParaRPr lang="en-US" dirty="0"/>
          </a:p>
          <a:p>
            <a:r>
              <a:rPr lang="en-US" dirty="0"/>
              <a:t>CONNECT TO TASKFLOW</a:t>
            </a:r>
          </a:p>
          <a:p>
            <a:endParaRPr lang="en-US" dirty="0"/>
          </a:p>
          <a:p>
            <a:r>
              <a:rPr lang="en-US" dirty="0"/>
              <a:t>Point to the Atlas </a:t>
            </a:r>
            <a:r>
              <a:rPr lang="en-US" dirty="0" err="1"/>
              <a:t>TaskFlow</a:t>
            </a:r>
            <a:r>
              <a:rPr lang="en-US" dirty="0"/>
              <a:t> sitemap.</a:t>
            </a:r>
          </a:p>
          <a:p>
            <a:endParaRPr lang="en-US" dirty="0"/>
          </a:p>
          <a:p>
            <a:r>
              <a:rPr lang="en-US" dirty="0"/>
              <a:t>"Over the past several lessons we've created a collection of</a:t>
            </a:r>
          </a:p>
          <a:p>
            <a:r>
              <a:rPr lang="en-US" dirty="0"/>
              <a:t>wireframes."</a:t>
            </a:r>
          </a:p>
          <a:p>
            <a:endParaRPr lang="en-US" dirty="0"/>
          </a:p>
          <a:p>
            <a:r>
              <a:rPr lang="en-US" dirty="0"/>
              <a:t>"Now we need to organize them."</a:t>
            </a:r>
          </a:p>
          <a:p>
            <a:endParaRPr lang="en-US" dirty="0"/>
          </a:p>
          <a:p>
            <a:r>
              <a:rPr lang="en-US" dirty="0"/>
              <a:t>Ask students:</a:t>
            </a:r>
          </a:p>
          <a:p>
            <a:endParaRPr lang="en-US" dirty="0"/>
          </a:p>
          <a:p>
            <a:r>
              <a:rPr lang="en-US" dirty="0"/>
              <a:t>"What should users see first?"</a:t>
            </a:r>
          </a:p>
          <a:p>
            <a:endParaRPr lang="en-US" dirty="0"/>
          </a:p>
          <a:p>
            <a:r>
              <a:rPr lang="en-US" dirty="0"/>
              <a:t>"What belongs together?"</a:t>
            </a:r>
          </a:p>
          <a:p>
            <a:endParaRPr lang="en-US" dirty="0"/>
          </a:p>
          <a:p>
            <a:r>
              <a:rPr lang="en-US" dirty="0"/>
              <a:t>"What should always be accessible?"</a:t>
            </a:r>
          </a:p>
          <a:p>
            <a:endParaRPr lang="en-US" dirty="0"/>
          </a:p>
          <a:p>
            <a:r>
              <a:rPr lang="en-US" dirty="0"/>
              <a:t>Explain:</a:t>
            </a:r>
          </a:p>
          <a:p>
            <a:endParaRPr lang="en-US" dirty="0"/>
          </a:p>
          <a:p>
            <a:r>
              <a:rPr lang="en-US" dirty="0"/>
              <a:t>"This is Information Architecture."</a:t>
            </a:r>
          </a:p>
          <a:p>
            <a:endParaRPr lang="en-US" dirty="0"/>
          </a:p>
          <a:p>
            <a:r>
              <a:rPr lang="en-US" dirty="0"/>
              <a:t>------------------------------------------------------------</a:t>
            </a:r>
          </a:p>
          <a:p>
            <a:endParaRPr lang="en-US" dirty="0"/>
          </a:p>
          <a:p>
            <a:r>
              <a:rPr lang="en-US" dirty="0"/>
              <a:t>WHAT IS INFORMATION ARCHITECTURE?</a:t>
            </a:r>
          </a:p>
          <a:p>
            <a:endParaRPr lang="en-US" dirty="0"/>
          </a:p>
          <a:p>
            <a:r>
              <a:rPr lang="en-US" dirty="0"/>
              <a:t>Read the definition.</a:t>
            </a:r>
          </a:p>
          <a:p>
            <a:endParaRPr lang="en-US" dirty="0"/>
          </a:p>
          <a:p>
            <a:r>
              <a:rPr lang="en-US" dirty="0"/>
              <a:t>"Information Architecture is the organization and structure of content</a:t>
            </a:r>
          </a:p>
          <a:p>
            <a:r>
              <a:rPr lang="en-US" dirty="0"/>
              <a:t>within an application."</a:t>
            </a:r>
          </a:p>
          <a:p>
            <a:endParaRPr lang="en-US" dirty="0"/>
          </a:p>
          <a:p>
            <a:r>
              <a:rPr lang="en-US" dirty="0"/>
              <a:t>Explain:</a:t>
            </a:r>
          </a:p>
          <a:p>
            <a:endParaRPr lang="en-US" dirty="0"/>
          </a:p>
          <a:p>
            <a:r>
              <a:rPr lang="en-US" dirty="0"/>
              <a:t>"It answers questions like..."</a:t>
            </a:r>
          </a:p>
          <a:p>
            <a:endParaRPr lang="en-US" dirty="0"/>
          </a:p>
          <a:p>
            <a:r>
              <a:rPr lang="en-US" dirty="0"/>
              <a:t>Where should users begin?</a:t>
            </a:r>
          </a:p>
          <a:p>
            <a:endParaRPr lang="en-US" dirty="0"/>
          </a:p>
          <a:p>
            <a:r>
              <a:rPr lang="en-US" dirty="0"/>
              <a:t>How many clicks should it take?</a:t>
            </a:r>
          </a:p>
          <a:p>
            <a:endParaRPr lang="en-US" dirty="0"/>
          </a:p>
          <a:p>
            <a:r>
              <a:rPr lang="en-US" dirty="0"/>
              <a:t>Which information belongs together?</a:t>
            </a:r>
          </a:p>
          <a:p>
            <a:endParaRPr lang="en-US" dirty="0"/>
          </a:p>
          <a:p>
            <a:r>
              <a:rPr lang="en-US" dirty="0"/>
              <a:t>What navigation makes the most sense?</a:t>
            </a:r>
          </a:p>
          <a:p>
            <a:endParaRPr lang="en-US" dirty="0"/>
          </a:p>
          <a:p>
            <a:r>
              <a:rPr lang="en-US" dirty="0"/>
              <a:t>------------------------------------------------------------</a:t>
            </a:r>
          </a:p>
          <a:p>
            <a:endParaRPr lang="en-US" dirty="0"/>
          </a:p>
          <a:p>
            <a:r>
              <a:rPr lang="en-US" dirty="0"/>
              <a:t>THE TASKFLOW SITE MAP</a:t>
            </a:r>
          </a:p>
          <a:p>
            <a:endParaRPr lang="en-US" dirty="0"/>
          </a:p>
          <a:p>
            <a:r>
              <a:rPr lang="en-US" dirty="0"/>
              <a:t>Walk through the sitemap.</a:t>
            </a:r>
          </a:p>
          <a:p>
            <a:endParaRPr lang="en-US" dirty="0"/>
          </a:p>
          <a:p>
            <a:r>
              <a:rPr lang="en-US" dirty="0"/>
              <a:t>Dashboard</a:t>
            </a:r>
          </a:p>
          <a:p>
            <a:endParaRPr lang="en-US" dirty="0"/>
          </a:p>
          <a:p>
            <a:r>
              <a:rPr lang="en-US" dirty="0"/>
              <a:t>Tasks</a:t>
            </a:r>
          </a:p>
          <a:p>
            <a:endParaRPr lang="en-US" dirty="0"/>
          </a:p>
          <a:p>
            <a:r>
              <a:rPr lang="en-US" dirty="0"/>
              <a:t>Projects</a:t>
            </a:r>
          </a:p>
          <a:p>
            <a:endParaRPr lang="en-US" dirty="0"/>
          </a:p>
          <a:p>
            <a:r>
              <a:rPr lang="en-US" dirty="0"/>
              <a:t>Team</a:t>
            </a:r>
          </a:p>
          <a:p>
            <a:endParaRPr lang="en-US" dirty="0"/>
          </a:p>
          <a:p>
            <a:r>
              <a:rPr lang="en-US" dirty="0"/>
              <a:t>Reports</a:t>
            </a:r>
          </a:p>
          <a:p>
            <a:endParaRPr lang="en-US" dirty="0"/>
          </a:p>
          <a:p>
            <a:r>
              <a:rPr lang="en-US" dirty="0"/>
              <a:t>Settings</a:t>
            </a:r>
          </a:p>
          <a:p>
            <a:endParaRPr lang="en-US" dirty="0"/>
          </a:p>
          <a:p>
            <a:r>
              <a:rPr lang="en-US" dirty="0"/>
              <a:t>Explain:</a:t>
            </a:r>
          </a:p>
          <a:p>
            <a:endParaRPr lang="en-US" dirty="0"/>
          </a:p>
          <a:p>
            <a:r>
              <a:rPr lang="en-US" dirty="0"/>
              <a:t>"Think of this as the blueprint for our application's navigation."</a:t>
            </a:r>
          </a:p>
          <a:p>
            <a:endParaRPr lang="en-US" dirty="0"/>
          </a:p>
          <a:p>
            <a:r>
              <a:rPr lang="en-US" dirty="0"/>
              <a:t>Each section should feel natural to users.</a:t>
            </a:r>
          </a:p>
          <a:p>
            <a:endParaRPr lang="en-US" dirty="0"/>
          </a:p>
          <a:p>
            <a:r>
              <a:rPr lang="en-US" dirty="0"/>
              <a:t>Discuss why each category exists.</a:t>
            </a:r>
          </a:p>
          <a:p>
            <a:endParaRPr lang="en-US" dirty="0"/>
          </a:p>
          <a:p>
            <a:r>
              <a:rPr lang="en-US" dirty="0"/>
              <a:t>------------------------------------------------------------</a:t>
            </a:r>
          </a:p>
          <a:p>
            <a:endParaRPr lang="en-US" dirty="0"/>
          </a:p>
          <a:p>
            <a:r>
              <a:rPr lang="en-US" dirty="0"/>
              <a:t>BREAK DOWN THE SECTIONS</a:t>
            </a:r>
          </a:p>
          <a:p>
            <a:endParaRPr lang="en-US" dirty="0"/>
          </a:p>
          <a:p>
            <a:r>
              <a:rPr lang="en-US" dirty="0"/>
              <a:t>Dashboard</a:t>
            </a:r>
          </a:p>
          <a:p>
            <a:endParaRPr lang="en-US" dirty="0"/>
          </a:p>
          <a:p>
            <a:r>
              <a:rPr lang="en-US" dirty="0"/>
              <a:t>Overview</a:t>
            </a:r>
          </a:p>
          <a:p>
            <a:endParaRPr lang="en-US" dirty="0"/>
          </a:p>
          <a:p>
            <a:r>
              <a:rPr lang="en-US" dirty="0"/>
              <a:t>Recent Activity</a:t>
            </a:r>
          </a:p>
          <a:p>
            <a:endParaRPr lang="en-US" dirty="0"/>
          </a:p>
          <a:p>
            <a:r>
              <a:rPr lang="en-US" dirty="0"/>
              <a:t>Calendar</a:t>
            </a:r>
          </a:p>
          <a:p>
            <a:endParaRPr lang="en-US" dirty="0"/>
          </a:p>
          <a:p>
            <a:r>
              <a:rPr lang="en-US" dirty="0"/>
              <a:t>Notifications</a:t>
            </a:r>
          </a:p>
          <a:p>
            <a:endParaRPr lang="en-US" dirty="0"/>
          </a:p>
          <a:p>
            <a:r>
              <a:rPr lang="en-US" dirty="0"/>
              <a:t>Explain:</a:t>
            </a:r>
          </a:p>
          <a:p>
            <a:endParaRPr lang="en-US" dirty="0"/>
          </a:p>
          <a:p>
            <a:r>
              <a:rPr lang="en-US" dirty="0"/>
              <a:t>"The dashboard answers one question..."</a:t>
            </a:r>
          </a:p>
          <a:p>
            <a:endParaRPr lang="en-US" dirty="0"/>
          </a:p>
          <a:p>
            <a:r>
              <a:rPr lang="en-US" dirty="0"/>
              <a:t>"What should users know immediately?"</a:t>
            </a:r>
          </a:p>
          <a:p>
            <a:endParaRPr lang="en-US" dirty="0"/>
          </a:p>
          <a:p>
            <a:r>
              <a:rPr lang="en-US" dirty="0"/>
              <a:t>------------------------------------------------------------</a:t>
            </a:r>
          </a:p>
          <a:p>
            <a:endParaRPr lang="en-US" dirty="0"/>
          </a:p>
          <a:p>
            <a:r>
              <a:rPr lang="en-US" dirty="0"/>
              <a:t>Tasks</a:t>
            </a:r>
          </a:p>
          <a:p>
            <a:endParaRPr lang="en-US" dirty="0"/>
          </a:p>
          <a:p>
            <a:r>
              <a:rPr lang="en-US" dirty="0"/>
              <a:t>Task List</a:t>
            </a:r>
          </a:p>
          <a:p>
            <a:endParaRPr lang="en-US" dirty="0"/>
          </a:p>
          <a:p>
            <a:r>
              <a:rPr lang="en-US" dirty="0"/>
              <a:t>Create Task</a:t>
            </a:r>
          </a:p>
          <a:p>
            <a:endParaRPr lang="en-US" dirty="0"/>
          </a:p>
          <a:p>
            <a:r>
              <a:rPr lang="en-US" dirty="0"/>
              <a:t>Task Details</a:t>
            </a:r>
          </a:p>
          <a:p>
            <a:endParaRPr lang="en-US" dirty="0"/>
          </a:p>
          <a:p>
            <a:r>
              <a:rPr lang="en-US" dirty="0"/>
              <a:t>Due Dates</a:t>
            </a:r>
          </a:p>
          <a:p>
            <a:endParaRPr lang="en-US" dirty="0"/>
          </a:p>
          <a:p>
            <a:r>
              <a:rPr lang="en-US" dirty="0"/>
              <a:t>Attachments</a:t>
            </a:r>
          </a:p>
          <a:p>
            <a:endParaRPr lang="en-US" dirty="0"/>
          </a:p>
          <a:p>
            <a:r>
              <a:rPr lang="en-US" dirty="0"/>
              <a:t>Explain:</a:t>
            </a:r>
          </a:p>
          <a:p>
            <a:endParaRPr lang="en-US" dirty="0"/>
          </a:p>
          <a:p>
            <a:r>
              <a:rPr lang="en-US" dirty="0"/>
              <a:t>"Everything related to completing work lives together."</a:t>
            </a:r>
          </a:p>
          <a:p>
            <a:endParaRPr lang="en-US" dirty="0"/>
          </a:p>
          <a:p>
            <a:r>
              <a:rPr lang="en-US" dirty="0"/>
              <a:t>------------------------------------------------------------</a:t>
            </a:r>
          </a:p>
          <a:p>
            <a:endParaRPr lang="en-US" dirty="0"/>
          </a:p>
          <a:p>
            <a:r>
              <a:rPr lang="en-US" dirty="0"/>
              <a:t>Projects</a:t>
            </a:r>
          </a:p>
          <a:p>
            <a:endParaRPr lang="en-US" dirty="0"/>
          </a:p>
          <a:p>
            <a:r>
              <a:rPr lang="en-US" dirty="0"/>
              <a:t>Project List</a:t>
            </a:r>
          </a:p>
          <a:p>
            <a:endParaRPr lang="en-US" dirty="0"/>
          </a:p>
          <a:p>
            <a:r>
              <a:rPr lang="en-US" dirty="0"/>
              <a:t>Milestones</a:t>
            </a:r>
          </a:p>
          <a:p>
            <a:endParaRPr lang="en-US" dirty="0"/>
          </a:p>
          <a:p>
            <a:r>
              <a:rPr lang="en-US" dirty="0"/>
              <a:t>Project Files</a:t>
            </a:r>
          </a:p>
          <a:p>
            <a:endParaRPr lang="en-US" dirty="0"/>
          </a:p>
          <a:p>
            <a:r>
              <a:rPr lang="en-US" dirty="0"/>
              <a:t>Discuss organization by project.</a:t>
            </a:r>
          </a:p>
          <a:p>
            <a:endParaRPr lang="en-US" dirty="0"/>
          </a:p>
          <a:p>
            <a:r>
              <a:rPr lang="en-US" dirty="0"/>
              <a:t>------------------------------------------------------------</a:t>
            </a:r>
          </a:p>
          <a:p>
            <a:endParaRPr lang="en-US" dirty="0"/>
          </a:p>
          <a:p>
            <a:r>
              <a:rPr lang="en-US" dirty="0"/>
              <a:t>Team</a:t>
            </a:r>
          </a:p>
          <a:p>
            <a:endParaRPr lang="en-US" dirty="0"/>
          </a:p>
          <a:p>
            <a:r>
              <a:rPr lang="en-US" dirty="0"/>
              <a:t>Members</a:t>
            </a:r>
          </a:p>
          <a:p>
            <a:endParaRPr lang="en-US" dirty="0"/>
          </a:p>
          <a:p>
            <a:r>
              <a:rPr lang="en-US" dirty="0"/>
              <a:t>Assignments</a:t>
            </a:r>
          </a:p>
          <a:p>
            <a:endParaRPr lang="en-US" dirty="0"/>
          </a:p>
          <a:p>
            <a:r>
              <a:rPr lang="en-US" dirty="0"/>
              <a:t>Roles</a:t>
            </a:r>
          </a:p>
          <a:p>
            <a:endParaRPr lang="en-US" dirty="0"/>
          </a:p>
          <a:p>
            <a:r>
              <a:rPr lang="en-US" dirty="0"/>
              <a:t>Activity</a:t>
            </a:r>
          </a:p>
          <a:p>
            <a:endParaRPr lang="en-US" dirty="0"/>
          </a:p>
          <a:p>
            <a:r>
              <a:rPr lang="en-US" dirty="0"/>
              <a:t>Explain role-based collaboration.</a:t>
            </a:r>
          </a:p>
          <a:p>
            <a:endParaRPr lang="en-US" dirty="0"/>
          </a:p>
          <a:p>
            <a:r>
              <a:rPr lang="en-US" dirty="0"/>
              <a:t>------------------------------------------------------------</a:t>
            </a:r>
          </a:p>
          <a:p>
            <a:endParaRPr lang="en-US" dirty="0"/>
          </a:p>
          <a:p>
            <a:r>
              <a:rPr lang="en-US" dirty="0"/>
              <a:t>Reports</a:t>
            </a:r>
          </a:p>
          <a:p>
            <a:endParaRPr lang="en-US" dirty="0"/>
          </a:p>
          <a:p>
            <a:r>
              <a:rPr lang="en-US" dirty="0"/>
              <a:t>Progress</a:t>
            </a:r>
          </a:p>
          <a:p>
            <a:endParaRPr lang="en-US" dirty="0"/>
          </a:p>
          <a:p>
            <a:r>
              <a:rPr lang="en-US" dirty="0"/>
              <a:t>Summary</a:t>
            </a:r>
          </a:p>
          <a:p>
            <a:endParaRPr lang="en-US" dirty="0"/>
          </a:p>
          <a:p>
            <a:r>
              <a:rPr lang="en-US" dirty="0"/>
              <a:t>Export</a:t>
            </a:r>
          </a:p>
          <a:p>
            <a:endParaRPr lang="en-US" dirty="0"/>
          </a:p>
          <a:p>
            <a:r>
              <a:rPr lang="en-US" dirty="0"/>
              <a:t>Explain:</a:t>
            </a:r>
          </a:p>
          <a:p>
            <a:endParaRPr lang="en-US" dirty="0"/>
          </a:p>
          <a:p>
            <a:r>
              <a:rPr lang="en-US" dirty="0"/>
              <a:t>"Reports answer management questions."</a:t>
            </a:r>
          </a:p>
          <a:p>
            <a:endParaRPr lang="en-US" dirty="0"/>
          </a:p>
          <a:p>
            <a:r>
              <a:rPr lang="en-US" dirty="0"/>
              <a:t>------------------------------------------------------------</a:t>
            </a:r>
          </a:p>
          <a:p>
            <a:endParaRPr lang="en-US" dirty="0"/>
          </a:p>
          <a:p>
            <a:r>
              <a:rPr lang="en-US" dirty="0"/>
              <a:t>Settings</a:t>
            </a:r>
          </a:p>
          <a:p>
            <a:endParaRPr lang="en-US" dirty="0"/>
          </a:p>
          <a:p>
            <a:r>
              <a:rPr lang="en-US" dirty="0"/>
              <a:t>Profile</a:t>
            </a:r>
          </a:p>
          <a:p>
            <a:endParaRPr lang="en-US" dirty="0"/>
          </a:p>
          <a:p>
            <a:r>
              <a:rPr lang="en-US" dirty="0"/>
              <a:t>Preferences</a:t>
            </a:r>
          </a:p>
          <a:p>
            <a:endParaRPr lang="en-US" dirty="0"/>
          </a:p>
          <a:p>
            <a:r>
              <a:rPr lang="en-US" dirty="0"/>
              <a:t>Security</a:t>
            </a:r>
          </a:p>
          <a:p>
            <a:endParaRPr lang="en-US" dirty="0"/>
          </a:p>
          <a:p>
            <a:r>
              <a:rPr lang="en-US" dirty="0"/>
              <a:t>Integrations</a:t>
            </a:r>
          </a:p>
          <a:p>
            <a:endParaRPr lang="en-US" dirty="0"/>
          </a:p>
          <a:p>
            <a:r>
              <a:rPr lang="en-US" dirty="0"/>
              <a:t>Administration</a:t>
            </a:r>
          </a:p>
          <a:p>
            <a:endParaRPr lang="en-US" dirty="0"/>
          </a:p>
          <a:p>
            <a:r>
              <a:rPr lang="en-US" dirty="0"/>
              <a:t>Discuss why settings belong together rather than being scattered</a:t>
            </a:r>
          </a:p>
          <a:p>
            <a:r>
              <a:rPr lang="en-US" dirty="0"/>
              <a:t>throughout the application.</a:t>
            </a:r>
          </a:p>
          <a:p>
            <a:endParaRPr lang="en-US" dirty="0"/>
          </a:p>
          <a:p>
            <a:r>
              <a:rPr lang="en-US" dirty="0"/>
              <a:t>------------------------------------------------------------</a:t>
            </a:r>
          </a:p>
          <a:p>
            <a:endParaRPr lang="en-US" dirty="0"/>
          </a:p>
          <a:p>
            <a:r>
              <a:rPr lang="en-US" dirty="0"/>
              <a:t>INFORMATION ARCHITECTURE PRINCIPLES</a:t>
            </a:r>
          </a:p>
          <a:p>
            <a:endParaRPr lang="en-US" dirty="0"/>
          </a:p>
          <a:p>
            <a:r>
              <a:rPr lang="en-US" dirty="0"/>
              <a:t>Review each principle.</a:t>
            </a:r>
          </a:p>
          <a:p>
            <a:endParaRPr lang="en-US" dirty="0"/>
          </a:p>
          <a:p>
            <a:r>
              <a:rPr lang="en-US" dirty="0"/>
              <a:t>Findable</a:t>
            </a:r>
          </a:p>
          <a:p>
            <a:endParaRPr lang="en-US" dirty="0"/>
          </a:p>
          <a:p>
            <a:r>
              <a:rPr lang="en-US" dirty="0"/>
              <a:t>Users should locate information quickly.</a:t>
            </a:r>
          </a:p>
          <a:p>
            <a:endParaRPr lang="en-US" dirty="0"/>
          </a:p>
          <a:p>
            <a:r>
              <a:rPr lang="en-US" dirty="0"/>
              <a:t>Logical</a:t>
            </a:r>
          </a:p>
          <a:p>
            <a:endParaRPr lang="en-US" dirty="0"/>
          </a:p>
          <a:p>
            <a:r>
              <a:rPr lang="en-US" dirty="0"/>
              <a:t>Related content belongs together.</a:t>
            </a:r>
          </a:p>
          <a:p>
            <a:endParaRPr lang="en-US" dirty="0"/>
          </a:p>
          <a:p>
            <a:r>
              <a:rPr lang="en-US" dirty="0"/>
              <a:t>Consistent</a:t>
            </a:r>
          </a:p>
          <a:p>
            <a:endParaRPr lang="en-US" dirty="0"/>
          </a:p>
          <a:p>
            <a:r>
              <a:rPr lang="en-US" dirty="0"/>
              <a:t>Navigation should remain predictable.</a:t>
            </a:r>
          </a:p>
          <a:p>
            <a:endParaRPr lang="en-US" dirty="0"/>
          </a:p>
          <a:p>
            <a:r>
              <a:rPr lang="en-US" dirty="0"/>
              <a:t>Scalable</a:t>
            </a:r>
          </a:p>
          <a:p>
            <a:endParaRPr lang="en-US" dirty="0"/>
          </a:p>
          <a:p>
            <a:r>
              <a:rPr lang="en-US" dirty="0"/>
              <a:t>The structure should support future growth.</a:t>
            </a:r>
          </a:p>
          <a:p>
            <a:endParaRPr lang="en-US" dirty="0"/>
          </a:p>
          <a:p>
            <a:r>
              <a:rPr lang="en-US" dirty="0"/>
              <a:t>User-Centered</a:t>
            </a:r>
          </a:p>
          <a:p>
            <a:endParaRPr lang="en-US" dirty="0"/>
          </a:p>
          <a:p>
            <a:r>
              <a:rPr lang="en-US" dirty="0"/>
              <a:t>Organization should match how users think.</a:t>
            </a:r>
          </a:p>
          <a:p>
            <a:endParaRPr lang="en-US" dirty="0"/>
          </a:p>
          <a:p>
            <a:r>
              <a:rPr lang="en-US" dirty="0"/>
              <a:t>Ask:</a:t>
            </a:r>
          </a:p>
          <a:p>
            <a:endParaRPr lang="en-US" dirty="0"/>
          </a:p>
          <a:p>
            <a:r>
              <a:rPr lang="en-US" dirty="0"/>
              <a:t>"Which principle is most important?"</a:t>
            </a:r>
          </a:p>
          <a:p>
            <a:endParaRPr lang="en-US" dirty="0"/>
          </a:p>
          <a:p>
            <a:r>
              <a:rPr lang="en-US" dirty="0"/>
              <a:t>Guide discussion.</a:t>
            </a:r>
          </a:p>
          <a:p>
            <a:endParaRPr lang="en-US" dirty="0"/>
          </a:p>
          <a:p>
            <a:r>
              <a:rPr lang="en-US" dirty="0"/>
              <a:t>------------------------------------------------------------</a:t>
            </a:r>
          </a:p>
          <a:p>
            <a:endParaRPr lang="en-US" dirty="0"/>
          </a:p>
          <a:p>
            <a:r>
              <a:rPr lang="en-US" dirty="0"/>
              <a:t>NAVIGATION PATTERNS</a:t>
            </a:r>
          </a:p>
          <a:p>
            <a:endParaRPr lang="en-US" dirty="0"/>
          </a:p>
          <a:p>
            <a:r>
              <a:rPr lang="en-US" dirty="0"/>
              <a:t>Explain each.</a:t>
            </a:r>
          </a:p>
          <a:p>
            <a:endParaRPr lang="en-US" dirty="0"/>
          </a:p>
          <a:p>
            <a:r>
              <a:rPr lang="en-US" dirty="0"/>
              <a:t>Global Navigation</a:t>
            </a:r>
          </a:p>
          <a:p>
            <a:endParaRPr lang="en-US" dirty="0"/>
          </a:p>
          <a:p>
            <a:r>
              <a:rPr lang="en-US" dirty="0"/>
              <a:t>Always available.</a:t>
            </a:r>
          </a:p>
          <a:p>
            <a:endParaRPr lang="en-US" dirty="0"/>
          </a:p>
          <a:p>
            <a:r>
              <a:rPr lang="en-US" dirty="0"/>
              <a:t>Contextual Navigation</a:t>
            </a:r>
          </a:p>
          <a:p>
            <a:endParaRPr lang="en-US" dirty="0"/>
          </a:p>
          <a:p>
            <a:r>
              <a:rPr lang="en-US" dirty="0"/>
              <a:t>Changes depending on where the user is.</a:t>
            </a:r>
          </a:p>
          <a:p>
            <a:endParaRPr lang="en-US" dirty="0"/>
          </a:p>
          <a:p>
            <a:r>
              <a:rPr lang="en-US" dirty="0"/>
              <a:t>Utility Navigation</a:t>
            </a:r>
          </a:p>
          <a:p>
            <a:endParaRPr lang="en-US" dirty="0"/>
          </a:p>
          <a:p>
            <a:r>
              <a:rPr lang="en-US" dirty="0"/>
              <a:t>Settings</a:t>
            </a:r>
          </a:p>
          <a:p>
            <a:endParaRPr lang="en-US" dirty="0"/>
          </a:p>
          <a:p>
            <a:r>
              <a:rPr lang="en-US" dirty="0"/>
              <a:t>Search</a:t>
            </a:r>
          </a:p>
          <a:p>
            <a:endParaRPr lang="en-US" dirty="0"/>
          </a:p>
          <a:p>
            <a:r>
              <a:rPr lang="en-US" dirty="0"/>
              <a:t>Help</a:t>
            </a:r>
          </a:p>
          <a:p>
            <a:endParaRPr lang="en-US" dirty="0"/>
          </a:p>
          <a:p>
            <a:r>
              <a:rPr lang="en-US" dirty="0"/>
              <a:t>Notifications</a:t>
            </a:r>
          </a:p>
          <a:p>
            <a:endParaRPr lang="en-US" dirty="0"/>
          </a:p>
          <a:p>
            <a:r>
              <a:rPr lang="en-US" dirty="0"/>
              <a:t>Explain:</a:t>
            </a:r>
          </a:p>
          <a:p>
            <a:endParaRPr lang="en-US" dirty="0"/>
          </a:p>
          <a:p>
            <a:r>
              <a:rPr lang="en-US" dirty="0"/>
              <a:t>"Professional applications often combine all three."</a:t>
            </a:r>
          </a:p>
          <a:p>
            <a:endParaRPr lang="en-US" dirty="0"/>
          </a:p>
          <a:p>
            <a:r>
              <a:rPr lang="en-US" dirty="0"/>
              <a:t>------------------------------------------------------------</a:t>
            </a:r>
          </a:p>
          <a:p>
            <a:endParaRPr lang="en-US" dirty="0"/>
          </a:p>
          <a:p>
            <a:r>
              <a:rPr lang="en-US" dirty="0"/>
              <a:t>ENGINEERING INSIGHT</a:t>
            </a:r>
          </a:p>
          <a:p>
            <a:endParaRPr lang="en-US" dirty="0"/>
          </a:p>
          <a:p>
            <a:r>
              <a:rPr lang="en-US" dirty="0"/>
              <a:t>Read the statement.</a:t>
            </a:r>
          </a:p>
          <a:p>
            <a:endParaRPr lang="en-US" dirty="0"/>
          </a:p>
          <a:p>
            <a:r>
              <a:rPr lang="en-US" dirty="0"/>
              <a:t>"Great Information Architecture is invisible."</a:t>
            </a:r>
          </a:p>
          <a:p>
            <a:endParaRPr lang="en-US" dirty="0"/>
          </a:p>
          <a:p>
            <a:r>
              <a:rPr lang="en-US" dirty="0"/>
              <a:t>Pause.</a:t>
            </a:r>
          </a:p>
          <a:p>
            <a:endParaRPr lang="en-US" dirty="0"/>
          </a:p>
          <a:p>
            <a:r>
              <a:rPr lang="en-US" dirty="0"/>
              <a:t>Explain.</a:t>
            </a:r>
          </a:p>
          <a:p>
            <a:endParaRPr lang="en-US" dirty="0"/>
          </a:p>
          <a:p>
            <a:r>
              <a:rPr lang="en-US" dirty="0"/>
              <a:t>"If users stop to ask..."</a:t>
            </a:r>
          </a:p>
          <a:p>
            <a:endParaRPr lang="en-US" dirty="0"/>
          </a:p>
          <a:p>
            <a:r>
              <a:rPr lang="en-US" dirty="0"/>
              <a:t>'Where do I click next?'</a:t>
            </a:r>
          </a:p>
          <a:p>
            <a:endParaRPr lang="en-US" dirty="0"/>
          </a:p>
          <a:p>
            <a:r>
              <a:rPr lang="en-US" dirty="0"/>
              <a:t>"Our architecture has failed."</a:t>
            </a:r>
          </a:p>
          <a:p>
            <a:endParaRPr lang="en-US" dirty="0"/>
          </a:p>
          <a:p>
            <a:r>
              <a:rPr lang="en-US" dirty="0"/>
              <a:t>------------------------------------------------------------</a:t>
            </a:r>
          </a:p>
          <a:p>
            <a:endParaRPr lang="en-US" dirty="0"/>
          </a:p>
          <a:p>
            <a:r>
              <a:rPr lang="en-US" dirty="0"/>
              <a:t>ATLAS ARCHITECTURE SPOTLIGHT</a:t>
            </a:r>
          </a:p>
          <a:p>
            <a:endParaRPr lang="en-US" dirty="0"/>
          </a:p>
          <a:p>
            <a:r>
              <a:rPr lang="en-US" dirty="0"/>
              <a:t>Today's Spotlight:</a:t>
            </a:r>
          </a:p>
          <a:p>
            <a:endParaRPr lang="en-US" dirty="0"/>
          </a:p>
          <a:p>
            <a:r>
              <a:rPr lang="en-US" dirty="0"/>
              <a:t>Microsoft SharePoint</a:t>
            </a:r>
          </a:p>
          <a:p>
            <a:endParaRPr lang="en-US" dirty="0"/>
          </a:p>
          <a:p>
            <a:r>
              <a:rPr lang="en-US" dirty="0"/>
              <a:t>Explain:</a:t>
            </a:r>
          </a:p>
          <a:p>
            <a:endParaRPr lang="en-US" dirty="0"/>
          </a:p>
          <a:p>
            <a:r>
              <a:rPr lang="en-US" dirty="0"/>
              <a:t>"SharePoint manages enormous amounts of information."</a:t>
            </a:r>
          </a:p>
          <a:p>
            <a:endParaRPr lang="en-US" dirty="0"/>
          </a:p>
          <a:p>
            <a:r>
              <a:rPr lang="en-US" dirty="0"/>
              <a:t>Discuss:</a:t>
            </a:r>
          </a:p>
          <a:p>
            <a:endParaRPr lang="en-US" dirty="0"/>
          </a:p>
          <a:p>
            <a:r>
              <a:rPr lang="en-US" dirty="0"/>
              <a:t>Document libraries</a:t>
            </a:r>
          </a:p>
          <a:p>
            <a:endParaRPr lang="en-US" dirty="0"/>
          </a:p>
          <a:p>
            <a:r>
              <a:rPr lang="en-US" dirty="0"/>
              <a:t>Permissions</a:t>
            </a:r>
          </a:p>
          <a:p>
            <a:endParaRPr lang="en-US" dirty="0"/>
          </a:p>
          <a:p>
            <a:r>
              <a:rPr lang="en-US" dirty="0"/>
              <a:t>Departments</a:t>
            </a:r>
          </a:p>
          <a:p>
            <a:endParaRPr lang="en-US" dirty="0"/>
          </a:p>
          <a:p>
            <a:r>
              <a:rPr lang="en-US" dirty="0"/>
              <a:t>Search</a:t>
            </a:r>
          </a:p>
          <a:p>
            <a:endParaRPr lang="en-US" dirty="0"/>
          </a:p>
          <a:p>
            <a:r>
              <a:rPr lang="en-US" dirty="0"/>
              <a:t>Metadata</a:t>
            </a:r>
          </a:p>
          <a:p>
            <a:endParaRPr lang="en-US" dirty="0"/>
          </a:p>
          <a:p>
            <a:r>
              <a:rPr lang="en-US" dirty="0"/>
              <a:t>Explain:</a:t>
            </a:r>
          </a:p>
          <a:p>
            <a:endParaRPr lang="en-US" dirty="0"/>
          </a:p>
          <a:p>
            <a:r>
              <a:rPr lang="en-US" dirty="0"/>
              <a:t>"Without Information Architecture..."</a:t>
            </a:r>
          </a:p>
          <a:p>
            <a:endParaRPr lang="en-US" dirty="0"/>
          </a:p>
          <a:p>
            <a:r>
              <a:rPr lang="en-US" dirty="0"/>
              <a:t>"SharePoint would become impossible to navigate."</a:t>
            </a:r>
          </a:p>
          <a:p>
            <a:endParaRPr lang="en-US" dirty="0"/>
          </a:p>
          <a:p>
            <a:r>
              <a:rPr lang="en-US" dirty="0"/>
              <a:t>------------------------------------------------------------</a:t>
            </a:r>
          </a:p>
          <a:p>
            <a:endParaRPr lang="en-US" dirty="0"/>
          </a:p>
          <a:p>
            <a:r>
              <a:rPr lang="en-US" dirty="0"/>
              <a:t>ENGINEERING STORY</a:t>
            </a:r>
          </a:p>
          <a:p>
            <a:endParaRPr lang="en-US" dirty="0"/>
          </a:p>
          <a:p>
            <a:r>
              <a:rPr lang="en-US" dirty="0"/>
              <a:t>Share the Food Pantry project.</a:t>
            </a:r>
          </a:p>
          <a:p>
            <a:endParaRPr lang="en-US" dirty="0"/>
          </a:p>
          <a:p>
            <a:r>
              <a:rPr lang="en-US" dirty="0"/>
              <a:t>Explain how early navigation ideas changed after stakeholder feedback.</a:t>
            </a:r>
          </a:p>
          <a:p>
            <a:endParaRPr lang="en-US" dirty="0"/>
          </a:p>
          <a:p>
            <a:r>
              <a:rPr lang="en-US" dirty="0"/>
              <a:t>Perhaps reports belonged in the dashboard instead of hidden in</a:t>
            </a:r>
          </a:p>
          <a:p>
            <a:r>
              <a:rPr lang="en-US" dirty="0"/>
              <a:t>settings.</a:t>
            </a:r>
          </a:p>
          <a:p>
            <a:endParaRPr lang="en-US" dirty="0"/>
          </a:p>
          <a:p>
            <a:r>
              <a:rPr lang="en-US" dirty="0"/>
              <a:t>Discuss how reorganizing information made the application easier to</a:t>
            </a:r>
          </a:p>
          <a:p>
            <a:r>
              <a:rPr lang="en-US" dirty="0"/>
              <a:t>use.</a:t>
            </a:r>
          </a:p>
          <a:p>
            <a:endParaRPr lang="en-US" dirty="0"/>
          </a:p>
          <a:p>
            <a:r>
              <a:rPr lang="en-US" dirty="0"/>
              <a:t>------------------------------------------------------------</a:t>
            </a:r>
          </a:p>
          <a:p>
            <a:endParaRPr lang="en-US" dirty="0"/>
          </a:p>
          <a:p>
            <a:r>
              <a:rPr lang="en-US" dirty="0"/>
              <a:t>ATLAS DESIGN CHALLENGE #5</a:t>
            </a:r>
          </a:p>
          <a:p>
            <a:endParaRPr lang="en-US" dirty="0"/>
          </a:p>
          <a:p>
            <a:r>
              <a:rPr lang="en-US" dirty="0"/>
              <a:t>Challenge:</a:t>
            </a:r>
          </a:p>
          <a:p>
            <a:endParaRPr lang="en-US" dirty="0"/>
          </a:p>
          <a:p>
            <a:r>
              <a:rPr lang="en-US" dirty="0"/>
              <a:t>Using Atlas </a:t>
            </a:r>
            <a:r>
              <a:rPr lang="en-US" dirty="0" err="1"/>
              <a:t>TaskFlow</a:t>
            </a:r>
            <a:r>
              <a:rPr lang="en-US" dirty="0"/>
              <a:t>...</a:t>
            </a:r>
          </a:p>
          <a:p>
            <a:endParaRPr lang="en-US" dirty="0"/>
          </a:p>
          <a:p>
            <a:r>
              <a:rPr lang="en-US" dirty="0"/>
              <a:t>Design a navigation model.</a:t>
            </a:r>
          </a:p>
          <a:p>
            <a:endParaRPr lang="en-US" dirty="0"/>
          </a:p>
          <a:p>
            <a:r>
              <a:rPr lang="en-US" dirty="0"/>
              <a:t>Include:</a:t>
            </a:r>
          </a:p>
          <a:p>
            <a:endParaRPr lang="en-US" dirty="0"/>
          </a:p>
          <a:p>
            <a:r>
              <a:rPr lang="en-US" dirty="0"/>
              <a:t>Main Navigation</a:t>
            </a:r>
          </a:p>
          <a:p>
            <a:endParaRPr lang="en-US" dirty="0"/>
          </a:p>
          <a:p>
            <a:r>
              <a:rPr lang="en-US" dirty="0"/>
              <a:t>Secondary Navigation</a:t>
            </a:r>
          </a:p>
          <a:p>
            <a:endParaRPr lang="en-US" dirty="0"/>
          </a:p>
          <a:p>
            <a:r>
              <a:rPr lang="en-US" dirty="0"/>
              <a:t>Settings</a:t>
            </a:r>
          </a:p>
          <a:p>
            <a:endParaRPr lang="en-US" dirty="0"/>
          </a:p>
          <a:p>
            <a:r>
              <a:rPr lang="en-US" dirty="0"/>
              <a:t>Search</a:t>
            </a:r>
          </a:p>
          <a:p>
            <a:endParaRPr lang="en-US" dirty="0"/>
          </a:p>
          <a:p>
            <a:r>
              <a:rPr lang="en-US" dirty="0"/>
              <a:t>Notifications</a:t>
            </a:r>
          </a:p>
          <a:p>
            <a:endParaRPr lang="en-US" dirty="0"/>
          </a:p>
          <a:p>
            <a:r>
              <a:rPr lang="en-US" dirty="0"/>
              <a:t>Draw a sitemap.</a:t>
            </a:r>
          </a:p>
          <a:p>
            <a:endParaRPr lang="en-US" dirty="0"/>
          </a:p>
          <a:p>
            <a:r>
              <a:rPr lang="en-US" dirty="0"/>
              <a:t>Time:</a:t>
            </a:r>
          </a:p>
          <a:p>
            <a:endParaRPr lang="en-US" dirty="0"/>
          </a:p>
          <a:p>
            <a:r>
              <a:rPr lang="en-US" dirty="0"/>
              <a:t>15 minutes.</a:t>
            </a:r>
          </a:p>
          <a:p>
            <a:endParaRPr lang="en-US" dirty="0"/>
          </a:p>
          <a:p>
            <a:r>
              <a:rPr lang="en-US" dirty="0"/>
              <a:t>Share with another group.</a:t>
            </a:r>
          </a:p>
          <a:p>
            <a:endParaRPr lang="en-US" dirty="0"/>
          </a:p>
          <a:p>
            <a:r>
              <a:rPr lang="en-US" dirty="0"/>
              <a:t>Discuss differences.</a:t>
            </a:r>
          </a:p>
          <a:p>
            <a:endParaRPr lang="en-US" dirty="0"/>
          </a:p>
          <a:p>
            <a:r>
              <a:rPr lang="en-US" dirty="0"/>
              <a:t>------------------------------------------------------------</a:t>
            </a:r>
          </a:p>
          <a:p>
            <a:endParaRPr lang="en-US" dirty="0"/>
          </a:p>
          <a:p>
            <a:r>
              <a:rPr lang="en-US" dirty="0"/>
              <a:t>CLASS DISCUSSION</a:t>
            </a:r>
          </a:p>
          <a:p>
            <a:endParaRPr lang="en-US" dirty="0"/>
          </a:p>
          <a:p>
            <a:r>
              <a:rPr lang="en-US" dirty="0"/>
              <a:t>Ask:</a:t>
            </a:r>
          </a:p>
          <a:p>
            <a:endParaRPr lang="en-US" dirty="0"/>
          </a:p>
          <a:p>
            <a:r>
              <a:rPr lang="en-US" dirty="0"/>
              <a:t>"What information should users access every day?"</a:t>
            </a:r>
          </a:p>
          <a:p>
            <a:endParaRPr lang="en-US" dirty="0"/>
          </a:p>
          <a:p>
            <a:r>
              <a:rPr lang="en-US" dirty="0"/>
              <a:t>"What features should always be visible?"</a:t>
            </a:r>
          </a:p>
          <a:p>
            <a:endParaRPr lang="en-US" dirty="0"/>
          </a:p>
          <a:p>
            <a:r>
              <a:rPr lang="en-US" dirty="0"/>
              <a:t>"What belongs inside Settings?"</a:t>
            </a:r>
          </a:p>
          <a:p>
            <a:endParaRPr lang="en-US" dirty="0"/>
          </a:p>
          <a:p>
            <a:r>
              <a:rPr lang="en-US" dirty="0"/>
              <a:t>"How many clicks should it take to create a task?"</a:t>
            </a:r>
          </a:p>
          <a:p>
            <a:endParaRPr lang="en-US" dirty="0"/>
          </a:p>
          <a:p>
            <a:r>
              <a:rPr lang="en-US" dirty="0"/>
              <a:t>Encourage students to justify every design decision.</a:t>
            </a:r>
          </a:p>
          <a:p>
            <a:endParaRPr lang="en-US" dirty="0"/>
          </a:p>
          <a:p>
            <a:r>
              <a:rPr lang="en-US" dirty="0"/>
              <a:t>------------------------------------------------------------</a:t>
            </a:r>
          </a:p>
          <a:p>
            <a:endParaRPr lang="en-US" dirty="0"/>
          </a:p>
          <a:p>
            <a:r>
              <a:rPr lang="en-US" dirty="0"/>
              <a:t>ENGINEERING LESSON</a:t>
            </a:r>
          </a:p>
          <a:p>
            <a:endParaRPr lang="en-US" dirty="0"/>
          </a:p>
          <a:p>
            <a:r>
              <a:rPr lang="en-US" dirty="0"/>
              <a:t>Read the quote.</a:t>
            </a:r>
          </a:p>
          <a:p>
            <a:endParaRPr lang="en-US" dirty="0"/>
          </a:p>
          <a:p>
            <a:r>
              <a:rPr lang="en-US" dirty="0"/>
              <a:t>"The right structure turns complexity into clarity."</a:t>
            </a:r>
          </a:p>
          <a:p>
            <a:endParaRPr lang="en-US" dirty="0"/>
          </a:p>
          <a:p>
            <a:r>
              <a:rPr lang="en-US" dirty="0"/>
              <a:t>Pause.</a:t>
            </a:r>
          </a:p>
          <a:p>
            <a:endParaRPr lang="en-US" dirty="0"/>
          </a:p>
          <a:p>
            <a:r>
              <a:rPr lang="en-US" dirty="0"/>
              <a:t>Explain.</a:t>
            </a:r>
          </a:p>
          <a:p>
            <a:endParaRPr lang="en-US" dirty="0"/>
          </a:p>
          <a:p>
            <a:r>
              <a:rPr lang="en-US" dirty="0"/>
              <a:t>"Good architecture reduces confusion."</a:t>
            </a:r>
          </a:p>
          <a:p>
            <a:endParaRPr lang="en-US" dirty="0"/>
          </a:p>
          <a:p>
            <a:r>
              <a:rPr lang="en-US" dirty="0"/>
              <a:t>"It helps users focus on their work instead of learning the</a:t>
            </a:r>
          </a:p>
          <a:p>
            <a:r>
              <a:rPr lang="en-US" dirty="0"/>
              <a:t>application."</a:t>
            </a:r>
          </a:p>
          <a:p>
            <a:endParaRPr lang="en-US" dirty="0"/>
          </a:p>
          <a:p>
            <a:r>
              <a:rPr lang="en-US" dirty="0"/>
              <a:t>------------------------------------------------------------</a:t>
            </a:r>
          </a:p>
          <a:p>
            <a:endParaRPr lang="en-US" dirty="0"/>
          </a:p>
          <a:p>
            <a:r>
              <a:rPr lang="en-US" dirty="0"/>
              <a:t>TRANSITION</a:t>
            </a:r>
          </a:p>
          <a:p>
            <a:endParaRPr lang="en-US" dirty="0"/>
          </a:p>
          <a:p>
            <a:r>
              <a:rPr lang="en-US" dirty="0"/>
              <a:t>"We now know how Atlas </a:t>
            </a:r>
            <a:r>
              <a:rPr lang="en-US" dirty="0" err="1"/>
              <a:t>TaskFlow</a:t>
            </a:r>
            <a:r>
              <a:rPr lang="en-US" dirty="0"/>
              <a:t> is organized."</a:t>
            </a:r>
          </a:p>
          <a:p>
            <a:endParaRPr lang="en-US" dirty="0"/>
          </a:p>
          <a:p>
            <a:r>
              <a:rPr lang="en-US" dirty="0"/>
              <a:t>"But software teams still have more ideas than time."</a:t>
            </a:r>
          </a:p>
          <a:p>
            <a:endParaRPr lang="en-US" dirty="0"/>
          </a:p>
          <a:p>
            <a:r>
              <a:rPr lang="en-US" dirty="0"/>
              <a:t>"So how do we decide what to build first?"</a:t>
            </a:r>
          </a:p>
          <a:p>
            <a:endParaRPr lang="en-US" dirty="0"/>
          </a:p>
          <a:p>
            <a:r>
              <a:rPr lang="en-US" dirty="0"/>
              <a:t>"Our next lesson..."</a:t>
            </a:r>
          </a:p>
          <a:p>
            <a:endParaRPr lang="en-US" dirty="0"/>
          </a:p>
          <a:p>
            <a:r>
              <a:rPr lang="en-US" dirty="0"/>
              <a:t>"Product Backlogs and MVP Planning."</a:t>
            </a:r>
          </a:p>
          <a:p>
            <a:endParaRPr lang="en-US" dirty="0"/>
          </a:p>
          <a:p>
            <a:r>
              <a:rPr lang="en-US" dirty="0"/>
              <a:t>------------------------------------------------------------</a:t>
            </a:r>
          </a:p>
          <a:p>
            <a:endParaRPr lang="en-US" dirty="0"/>
          </a:p>
          <a:p>
            <a:r>
              <a:rPr lang="en-US" dirty="0"/>
              <a:t>ESTIMATED TIME</a:t>
            </a:r>
          </a:p>
          <a:p>
            <a:endParaRPr lang="en-US" dirty="0"/>
          </a:p>
          <a:p>
            <a:r>
              <a:rPr lang="en-US" dirty="0"/>
              <a:t>Review Previous Lesson.............5 minutes</a:t>
            </a:r>
          </a:p>
          <a:p>
            <a:endParaRPr lang="en-US" dirty="0"/>
          </a:p>
          <a:p>
            <a:r>
              <a:rPr lang="en-US" dirty="0"/>
              <a:t>Information Architecture..........12 minutes</a:t>
            </a:r>
          </a:p>
          <a:p>
            <a:endParaRPr lang="en-US" dirty="0"/>
          </a:p>
          <a:p>
            <a:r>
              <a:rPr lang="en-US" dirty="0" err="1"/>
              <a:t>TaskFlow</a:t>
            </a:r>
            <a:r>
              <a:rPr lang="en-US" dirty="0"/>
              <a:t> Sitemap..................12 minutes</a:t>
            </a:r>
          </a:p>
          <a:p>
            <a:endParaRPr lang="en-US" dirty="0"/>
          </a:p>
          <a:p>
            <a:r>
              <a:rPr lang="en-US" dirty="0"/>
              <a:t>Navigation Models..................8 minutes</a:t>
            </a:r>
          </a:p>
          <a:p>
            <a:endParaRPr lang="en-US" dirty="0"/>
          </a:p>
          <a:p>
            <a:r>
              <a:rPr lang="en-US" dirty="0"/>
              <a:t>Architecture Spotlight.............7 minutes</a:t>
            </a:r>
          </a:p>
          <a:p>
            <a:endParaRPr lang="en-US" dirty="0"/>
          </a:p>
          <a:p>
            <a:r>
              <a:rPr lang="en-US" dirty="0"/>
              <a:t>Design Challenge..................10 minutes</a:t>
            </a:r>
          </a:p>
          <a:p>
            <a:endParaRPr lang="en-US" dirty="0"/>
          </a:p>
          <a:p>
            <a:r>
              <a:rPr lang="en-US" dirty="0"/>
              <a:t>Discussion.........................8 minutes</a:t>
            </a:r>
          </a:p>
          <a:p>
            <a:endParaRPr lang="en-US" dirty="0"/>
          </a:p>
          <a:p>
            <a:r>
              <a:rPr lang="en-US" dirty="0"/>
              <a:t>Transition.........................3 minutes</a:t>
            </a:r>
          </a:p>
          <a:p>
            <a:endParaRPr lang="en-US" dirty="0"/>
          </a:p>
          <a:p>
            <a:r>
              <a:rPr lang="en-US" dirty="0"/>
              <a:t>Total.............................65 minutes</a:t>
            </a:r>
          </a:p>
          <a:p>
            <a:endParaRPr lang="en-US" dirty="0"/>
          </a:p>
          <a:p>
            <a:r>
              <a:rPr lang="en-US" dirty="0"/>
              <a:t>------------------------------------------------------------</a:t>
            </a:r>
          </a:p>
          <a:p>
            <a:endParaRPr lang="en-US" dirty="0"/>
          </a:p>
          <a:p>
            <a:r>
              <a:rPr lang="en-US" dirty="0"/>
              <a:t>INSTRUCTOR NOTES</a:t>
            </a:r>
          </a:p>
          <a:p>
            <a:endParaRPr lang="en-US" dirty="0"/>
          </a:p>
          <a:p>
            <a:r>
              <a:rPr lang="en-US" dirty="0"/>
              <a:t>Keep bringing the conversation back to the user.</a:t>
            </a:r>
          </a:p>
          <a:p>
            <a:endParaRPr lang="en-US" dirty="0"/>
          </a:p>
          <a:p>
            <a:r>
              <a:rPr lang="en-US" dirty="0"/>
              <a:t>Whenever students suggest moving features, ask:</a:t>
            </a:r>
          </a:p>
          <a:p>
            <a:endParaRPr lang="en-US" dirty="0"/>
          </a:p>
          <a:p>
            <a:r>
              <a:rPr lang="en-US" dirty="0"/>
              <a:t>"Would Olivia expect to find it there?"</a:t>
            </a:r>
          </a:p>
          <a:p>
            <a:endParaRPr lang="en-US" dirty="0"/>
          </a:p>
          <a:p>
            <a:r>
              <a:rPr lang="en-US" dirty="0"/>
              <a:t>"Would Maya look there first?"</a:t>
            </a:r>
          </a:p>
          <a:p>
            <a:endParaRPr lang="en-US" dirty="0"/>
          </a:p>
          <a:p>
            <a:r>
              <a:rPr lang="en-US" dirty="0"/>
              <a:t>"Would Daniel need this every day?"</a:t>
            </a:r>
          </a:p>
          <a:p>
            <a:endParaRPr lang="en-US" dirty="0"/>
          </a:p>
          <a:p>
            <a:r>
              <a:rPr lang="en-US" dirty="0"/>
              <a:t>Help students understand that Information Architecture is based on</a:t>
            </a:r>
          </a:p>
          <a:p>
            <a:r>
              <a:rPr lang="en-US" dirty="0"/>
              <a:t>mental models—not developer convenience.</a:t>
            </a:r>
          </a:p>
          <a:p>
            <a:endParaRPr lang="en-US" dirty="0"/>
          </a:p>
          <a:p>
            <a:r>
              <a:rPr lang="en-US" dirty="0"/>
              <a:t>Use Atlas </a:t>
            </a:r>
            <a:r>
              <a:rPr lang="en-US" dirty="0" err="1"/>
              <a:t>TaskFlow</a:t>
            </a:r>
            <a:r>
              <a:rPr lang="en-US" dirty="0"/>
              <a:t> as a living product.</a:t>
            </a:r>
          </a:p>
          <a:p>
            <a:endParaRPr lang="en-US" dirty="0"/>
          </a:p>
          <a:p>
            <a:r>
              <a:rPr lang="en-US" dirty="0"/>
              <a:t>Every decision should connect back to:</a:t>
            </a:r>
          </a:p>
          <a:p>
            <a:endParaRPr lang="en-US" dirty="0"/>
          </a:p>
          <a:p>
            <a:r>
              <a:rPr lang="en-US" dirty="0"/>
              <a:t>Requirements</a:t>
            </a:r>
          </a:p>
          <a:p>
            <a:endParaRPr lang="en-US" dirty="0"/>
          </a:p>
          <a:p>
            <a:r>
              <a:rPr lang="en-US" dirty="0"/>
              <a:t>User Stories</a:t>
            </a:r>
          </a:p>
          <a:p>
            <a:endParaRPr lang="en-US" dirty="0"/>
          </a:p>
          <a:p>
            <a:r>
              <a:rPr lang="en-US" dirty="0"/>
              <a:t>Personas</a:t>
            </a:r>
          </a:p>
          <a:p>
            <a:endParaRPr lang="en-US" dirty="0"/>
          </a:p>
          <a:p>
            <a:r>
              <a:rPr lang="en-US" dirty="0"/>
              <a:t>User Journeys</a:t>
            </a:r>
          </a:p>
          <a:p>
            <a:endParaRPr lang="en-US" dirty="0"/>
          </a:p>
          <a:p>
            <a:r>
              <a:rPr lang="en-US" dirty="0"/>
              <a:t>Wireframes</a:t>
            </a:r>
          </a:p>
          <a:p>
            <a:endParaRPr lang="en-US" dirty="0"/>
          </a:p>
          <a:p>
            <a:r>
              <a:rPr lang="en-US" dirty="0"/>
              <a:t>Show students that architecture is the layer that connects all of those</a:t>
            </a:r>
          </a:p>
          <a:p>
            <a:r>
              <a:rPr lang="en-US" dirty="0"/>
              <a:t>artifacts into one coherent application.</a:t>
            </a:r>
          </a:p>
          <a:p>
            <a:endParaRPr lang="en-US" dirty="0"/>
          </a:p>
          <a:p>
            <a:r>
              <a:rPr lang="en-US" dirty="0"/>
              <a:t>Close with:</a:t>
            </a:r>
          </a:p>
          <a:p>
            <a:endParaRPr lang="en-US" dirty="0"/>
          </a:p>
          <a:p>
            <a:r>
              <a:rPr lang="en-US" dirty="0"/>
              <a:t>"We've designed the experience."</a:t>
            </a:r>
          </a:p>
          <a:p>
            <a:endParaRPr lang="en-US" dirty="0"/>
          </a:p>
          <a:p>
            <a:r>
              <a:rPr lang="en-US" dirty="0"/>
              <a:t>"We've organized the application."</a:t>
            </a:r>
          </a:p>
          <a:p>
            <a:endParaRPr lang="en-US" dirty="0"/>
          </a:p>
          <a:p>
            <a:r>
              <a:rPr lang="en-US" dirty="0"/>
              <a:t>"Next class..."</a:t>
            </a:r>
          </a:p>
          <a:p>
            <a:endParaRPr lang="en-US" dirty="0"/>
          </a:p>
          <a:p>
            <a:r>
              <a:rPr lang="en-US" dirty="0"/>
              <a:t>"We'll become Product Owners."</a:t>
            </a:r>
          </a:p>
          <a:p>
            <a:endParaRPr lang="en-US" dirty="0"/>
          </a:p>
          <a:p>
            <a:r>
              <a:rPr lang="en-US" dirty="0"/>
              <a:t>"We'll decide what gets built first."</a:t>
            </a:r>
          </a:p>
          <a:p>
            <a:endParaRPr lang="en-US" dirty="0"/>
          </a:p>
          <a:p>
            <a:r>
              <a:rPr lang="en-US" dirty="0"/>
              <a:t>============================================================</a:t>
            </a:r>
          </a:p>
        </p:txBody>
      </p:sp>
      <p:sp>
        <p:nvSpPr>
          <p:cNvPr id="4" name="Slide Number Placeholder 3"/>
          <p:cNvSpPr>
            <a:spLocks noGrp="1"/>
          </p:cNvSpPr>
          <p:nvPr>
            <p:ph type="sldNum" sz="quarter" idx="5"/>
          </p:nvPr>
        </p:nvSpPr>
        <p:spPr/>
        <p:txBody>
          <a:bodyPr/>
          <a:lstStyle/>
          <a:p>
            <a:fld id="{12CFA81F-48ED-4EC0-89DB-73FF3AF92981}" type="slidenum">
              <a:rPr lang="en-US" smtClean="0"/>
              <a:t>6</a:t>
            </a:fld>
            <a:endParaRPr lang="en-US"/>
          </a:p>
        </p:txBody>
      </p:sp>
    </p:spTree>
    <p:extLst>
      <p:ext uri="{BB962C8B-B14F-4D97-AF65-F5344CB8AC3E}">
        <p14:creationId xmlns:p14="http://schemas.microsoft.com/office/powerpoint/2010/main" val="12621252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endParaRPr lang="en-US" dirty="0"/>
          </a:p>
          <a:p>
            <a:r>
              <a:rPr lang="en-US" dirty="0"/>
              <a:t>SPRINT 3</a:t>
            </a:r>
          </a:p>
          <a:p>
            <a:endParaRPr lang="en-US" dirty="0"/>
          </a:p>
          <a:p>
            <a:r>
              <a:rPr lang="en-US" dirty="0"/>
              <a:t>ARTIFACT XXXIX</a:t>
            </a:r>
          </a:p>
          <a:p>
            <a:endParaRPr lang="en-US" dirty="0"/>
          </a:p>
          <a:p>
            <a:r>
              <a:rPr lang="en-US" dirty="0"/>
              <a:t>PRODUCT BACKLOG &amp; MVP PLANNING</a:t>
            </a:r>
          </a:p>
          <a:p>
            <a:endParaRPr lang="en-US" dirty="0"/>
          </a:p>
          <a:p>
            <a:r>
              <a:rPr lang="en-US" dirty="0"/>
              <a:t>============================================================</a:t>
            </a:r>
          </a:p>
          <a:p>
            <a:endParaRPr lang="en-US" dirty="0"/>
          </a:p>
          <a:p>
            <a:r>
              <a:rPr lang="en-US" dirty="0"/>
              <a:t>SLIDE PURPOSE</a:t>
            </a:r>
          </a:p>
          <a:p>
            <a:endParaRPr lang="en-US" dirty="0"/>
          </a:p>
          <a:p>
            <a:r>
              <a:rPr lang="en-US" dirty="0"/>
              <a:t>Introduce students to Product Backlogs and Minimum Viable Product (MVP)</a:t>
            </a:r>
          </a:p>
          <a:p>
            <a:r>
              <a:rPr lang="en-US" dirty="0"/>
              <a:t>planning.</a:t>
            </a:r>
          </a:p>
          <a:p>
            <a:endParaRPr lang="en-US" dirty="0"/>
          </a:p>
          <a:p>
            <a:r>
              <a:rPr lang="en-US" dirty="0"/>
              <a:t>Students should understand that software teams almost always have more</a:t>
            </a:r>
          </a:p>
          <a:p>
            <a:r>
              <a:rPr lang="en-US" dirty="0"/>
              <a:t>ideas than time and resources.</a:t>
            </a:r>
          </a:p>
          <a:p>
            <a:endParaRPr lang="en-US" dirty="0"/>
          </a:p>
          <a:p>
            <a:r>
              <a:rPr lang="en-US" dirty="0"/>
              <a:t>The Product Backlog helps teams organize, prioritize, and deliver the</a:t>
            </a:r>
          </a:p>
          <a:p>
            <a:r>
              <a:rPr lang="en-US" dirty="0"/>
              <a:t>highest-value work first.</a:t>
            </a:r>
          </a:p>
          <a:p>
            <a:endParaRPr lang="en-US" dirty="0"/>
          </a:p>
          <a:p>
            <a:r>
              <a:rPr lang="en-US" dirty="0"/>
              <a:t>Today we transform the Atlas </a:t>
            </a:r>
            <a:r>
              <a:rPr lang="en-US" dirty="0" err="1"/>
              <a:t>TaskFlow</a:t>
            </a:r>
            <a:r>
              <a:rPr lang="en-US" dirty="0"/>
              <a:t> design package into a development</a:t>
            </a:r>
          </a:p>
          <a:p>
            <a:r>
              <a:rPr lang="en-US" dirty="0"/>
              <a:t>plan.</a:t>
            </a:r>
          </a:p>
          <a:p>
            <a:endParaRPr lang="en-US" dirty="0"/>
          </a:p>
          <a:p>
            <a:r>
              <a:rPr lang="en-US" dirty="0"/>
              <a:t>------------------------------------------------------------</a:t>
            </a:r>
          </a:p>
          <a:p>
            <a:endParaRPr lang="en-US" dirty="0"/>
          </a:p>
          <a:p>
            <a:r>
              <a:rPr lang="en-US" dirty="0"/>
              <a:t>OPENING</a:t>
            </a:r>
          </a:p>
          <a:p>
            <a:endParaRPr lang="en-US" dirty="0"/>
          </a:p>
          <a:p>
            <a:r>
              <a:rPr lang="en-US" dirty="0"/>
              <a:t>"Today is an exciting milestone."</a:t>
            </a:r>
          </a:p>
          <a:p>
            <a:endParaRPr lang="en-US" dirty="0"/>
          </a:p>
          <a:p>
            <a:r>
              <a:rPr lang="en-US" dirty="0"/>
              <a:t>"Over the past several weeks we've designed Atlas </a:t>
            </a:r>
            <a:r>
              <a:rPr lang="en-US" dirty="0" err="1"/>
              <a:t>TaskFlow</a:t>
            </a:r>
            <a:r>
              <a:rPr lang="en-US" dirty="0"/>
              <a:t>."</a:t>
            </a:r>
          </a:p>
          <a:p>
            <a:endParaRPr lang="en-US" dirty="0"/>
          </a:p>
          <a:p>
            <a:r>
              <a:rPr lang="en-US" dirty="0"/>
              <a:t>"We gathered requirements."</a:t>
            </a:r>
          </a:p>
          <a:p>
            <a:endParaRPr lang="en-US" dirty="0"/>
          </a:p>
          <a:p>
            <a:r>
              <a:rPr lang="en-US" dirty="0"/>
              <a:t>"We wrote User Stories."</a:t>
            </a:r>
          </a:p>
          <a:p>
            <a:endParaRPr lang="en-US" dirty="0"/>
          </a:p>
          <a:p>
            <a:r>
              <a:rPr lang="en-US" dirty="0"/>
              <a:t>"We identified Personas."</a:t>
            </a:r>
          </a:p>
          <a:p>
            <a:endParaRPr lang="en-US" dirty="0"/>
          </a:p>
          <a:p>
            <a:r>
              <a:rPr lang="en-US" dirty="0"/>
              <a:t>"We mapped User Journeys."</a:t>
            </a:r>
          </a:p>
          <a:p>
            <a:endParaRPr lang="en-US" dirty="0"/>
          </a:p>
          <a:p>
            <a:r>
              <a:rPr lang="en-US" dirty="0"/>
              <a:t>"We designed Wireframes."</a:t>
            </a:r>
          </a:p>
          <a:p>
            <a:endParaRPr lang="en-US" dirty="0"/>
          </a:p>
          <a:p>
            <a:r>
              <a:rPr lang="en-US" dirty="0"/>
              <a:t>"We organized our Information Architecture."</a:t>
            </a:r>
          </a:p>
          <a:p>
            <a:endParaRPr lang="en-US" dirty="0"/>
          </a:p>
          <a:p>
            <a:r>
              <a:rPr lang="en-US" dirty="0"/>
              <a:t>Pause.</a:t>
            </a:r>
          </a:p>
          <a:p>
            <a:endParaRPr lang="en-US" dirty="0"/>
          </a:p>
          <a:p>
            <a:r>
              <a:rPr lang="en-US" dirty="0"/>
              <a:t>"But here's the reality."</a:t>
            </a:r>
          </a:p>
          <a:p>
            <a:endParaRPr lang="en-US" dirty="0"/>
          </a:p>
          <a:p>
            <a:r>
              <a:rPr lang="en-US" dirty="0"/>
              <a:t>"We can't build everything at once."</a:t>
            </a:r>
          </a:p>
          <a:p>
            <a:endParaRPr lang="en-US" dirty="0"/>
          </a:p>
          <a:p>
            <a:r>
              <a:rPr lang="en-US" dirty="0"/>
              <a:t>"So today we answer one final question."</a:t>
            </a:r>
          </a:p>
          <a:p>
            <a:endParaRPr lang="en-US" dirty="0"/>
          </a:p>
          <a:p>
            <a:r>
              <a:rPr lang="en-US" dirty="0"/>
              <a:t>"What should we build first?"</a:t>
            </a:r>
          </a:p>
          <a:p>
            <a:endParaRPr lang="en-US" dirty="0"/>
          </a:p>
          <a:p>
            <a:r>
              <a:rPr lang="en-US" dirty="0"/>
              <a:t>------------------------------------------------------------</a:t>
            </a:r>
          </a:p>
          <a:p>
            <a:endParaRPr lang="en-US" dirty="0"/>
          </a:p>
          <a:p>
            <a:r>
              <a:rPr lang="en-US" dirty="0"/>
              <a:t>CONNECT TO TASKFLOW</a:t>
            </a:r>
          </a:p>
          <a:p>
            <a:endParaRPr lang="en-US" dirty="0"/>
          </a:p>
          <a:p>
            <a:r>
              <a:rPr lang="en-US" dirty="0"/>
              <a:t>Point to the Atlas </a:t>
            </a:r>
            <a:r>
              <a:rPr lang="en-US" dirty="0" err="1"/>
              <a:t>TaskFlow</a:t>
            </a:r>
            <a:r>
              <a:rPr lang="en-US" dirty="0"/>
              <a:t> Product Backlog.</a:t>
            </a:r>
          </a:p>
          <a:p>
            <a:endParaRPr lang="en-US" dirty="0"/>
          </a:p>
          <a:p>
            <a:r>
              <a:rPr lang="en-US" dirty="0"/>
              <a:t>"This isn't just a list."</a:t>
            </a:r>
          </a:p>
          <a:p>
            <a:endParaRPr lang="en-US" dirty="0"/>
          </a:p>
          <a:p>
            <a:r>
              <a:rPr lang="en-US" dirty="0"/>
              <a:t>"This is our roadmap."</a:t>
            </a:r>
          </a:p>
          <a:p>
            <a:endParaRPr lang="en-US" dirty="0"/>
          </a:p>
          <a:p>
            <a:r>
              <a:rPr lang="en-US" dirty="0"/>
              <a:t>"Every User Story we've written now becomes a potential development</a:t>
            </a:r>
          </a:p>
          <a:p>
            <a:r>
              <a:rPr lang="en-US" dirty="0"/>
              <a:t>task."</a:t>
            </a:r>
          </a:p>
          <a:p>
            <a:endParaRPr lang="en-US" dirty="0"/>
          </a:p>
          <a:p>
            <a:r>
              <a:rPr lang="en-US" dirty="0"/>
              <a:t>Explain:</a:t>
            </a:r>
          </a:p>
          <a:p>
            <a:endParaRPr lang="en-US" dirty="0"/>
          </a:p>
          <a:p>
            <a:r>
              <a:rPr lang="en-US" dirty="0"/>
              <a:t>"A Product Backlog is a living document."</a:t>
            </a:r>
          </a:p>
          <a:p>
            <a:endParaRPr lang="en-US" dirty="0"/>
          </a:p>
          <a:p>
            <a:r>
              <a:rPr lang="en-US" dirty="0"/>
              <a:t>"It changes as we learn."</a:t>
            </a:r>
          </a:p>
          <a:p>
            <a:endParaRPr lang="en-US" dirty="0"/>
          </a:p>
          <a:p>
            <a:r>
              <a:rPr lang="en-US" dirty="0"/>
              <a:t>"It changes as users give feedback."</a:t>
            </a:r>
          </a:p>
          <a:p>
            <a:endParaRPr lang="en-US" dirty="0"/>
          </a:p>
          <a:p>
            <a:r>
              <a:rPr lang="en-US" dirty="0"/>
              <a:t>"It changes as priorities change."</a:t>
            </a:r>
          </a:p>
          <a:p>
            <a:endParaRPr lang="en-US" dirty="0"/>
          </a:p>
          <a:p>
            <a:r>
              <a:rPr lang="en-US" dirty="0"/>
              <a:t>------------------------------------------------------------</a:t>
            </a:r>
          </a:p>
          <a:p>
            <a:endParaRPr lang="en-US" dirty="0"/>
          </a:p>
          <a:p>
            <a:r>
              <a:rPr lang="en-US" dirty="0"/>
              <a:t>WHAT IS A PRODUCT BACKLOG?</a:t>
            </a:r>
          </a:p>
          <a:p>
            <a:endParaRPr lang="en-US" dirty="0"/>
          </a:p>
          <a:p>
            <a:r>
              <a:rPr lang="en-US" dirty="0"/>
              <a:t>Read the definition.</a:t>
            </a:r>
          </a:p>
          <a:p>
            <a:endParaRPr lang="en-US" dirty="0"/>
          </a:p>
          <a:p>
            <a:r>
              <a:rPr lang="en-US" dirty="0"/>
              <a:t>"A Product Backlog is a prioritized list of work that delivers value to</a:t>
            </a:r>
          </a:p>
          <a:p>
            <a:r>
              <a:rPr lang="en-US" dirty="0"/>
              <a:t>users."</a:t>
            </a:r>
          </a:p>
          <a:p>
            <a:endParaRPr lang="en-US" dirty="0"/>
          </a:p>
          <a:p>
            <a:r>
              <a:rPr lang="en-US" dirty="0"/>
              <a:t>Explain:</a:t>
            </a:r>
          </a:p>
          <a:p>
            <a:endParaRPr lang="en-US" dirty="0"/>
          </a:p>
          <a:p>
            <a:r>
              <a:rPr lang="en-US" dirty="0"/>
              <a:t>"Notice the word prioritized."</a:t>
            </a:r>
          </a:p>
          <a:p>
            <a:endParaRPr lang="en-US" dirty="0"/>
          </a:p>
          <a:p>
            <a:r>
              <a:rPr lang="en-US" dirty="0"/>
              <a:t>"Everything is important."</a:t>
            </a:r>
          </a:p>
          <a:p>
            <a:endParaRPr lang="en-US" dirty="0"/>
          </a:p>
          <a:p>
            <a:r>
              <a:rPr lang="en-US" dirty="0"/>
              <a:t>"But not everything is equally important."</a:t>
            </a:r>
          </a:p>
          <a:p>
            <a:endParaRPr lang="en-US" dirty="0"/>
          </a:p>
          <a:p>
            <a:r>
              <a:rPr lang="en-US" dirty="0"/>
              <a:t>------------------------------------------------------------</a:t>
            </a:r>
          </a:p>
          <a:p>
            <a:endParaRPr lang="en-US" dirty="0"/>
          </a:p>
          <a:p>
            <a:r>
              <a:rPr lang="en-US" dirty="0"/>
              <a:t>REVIEW THE BACKLOG</a:t>
            </a:r>
          </a:p>
          <a:p>
            <a:endParaRPr lang="en-US" dirty="0"/>
          </a:p>
          <a:p>
            <a:r>
              <a:rPr lang="en-US" dirty="0"/>
              <a:t>Walk through several User Stories.</a:t>
            </a:r>
          </a:p>
          <a:p>
            <a:endParaRPr lang="en-US" dirty="0"/>
          </a:p>
          <a:p>
            <a:r>
              <a:rPr lang="en-US" dirty="0"/>
              <a:t>US-001</a:t>
            </a:r>
          </a:p>
          <a:p>
            <a:endParaRPr lang="en-US" dirty="0"/>
          </a:p>
          <a:p>
            <a:r>
              <a:rPr lang="en-US" dirty="0"/>
              <a:t>User Registration &amp; Login</a:t>
            </a:r>
          </a:p>
          <a:p>
            <a:endParaRPr lang="en-US" dirty="0"/>
          </a:p>
          <a:p>
            <a:r>
              <a:rPr lang="en-US" dirty="0"/>
              <a:t>Ask:</a:t>
            </a:r>
          </a:p>
          <a:p>
            <a:endParaRPr lang="en-US" dirty="0"/>
          </a:p>
          <a:p>
            <a:r>
              <a:rPr lang="en-US" dirty="0"/>
              <a:t>"Can users access the application without this?"</a:t>
            </a:r>
          </a:p>
          <a:p>
            <a:endParaRPr lang="en-US" dirty="0"/>
          </a:p>
          <a:p>
            <a:r>
              <a:rPr lang="en-US" dirty="0"/>
              <a:t>Students answer:</a:t>
            </a:r>
          </a:p>
          <a:p>
            <a:endParaRPr lang="en-US" dirty="0"/>
          </a:p>
          <a:p>
            <a:r>
              <a:rPr lang="en-US" dirty="0"/>
              <a:t>"No."</a:t>
            </a:r>
          </a:p>
          <a:p>
            <a:endParaRPr lang="en-US" dirty="0"/>
          </a:p>
          <a:p>
            <a:r>
              <a:rPr lang="en-US" dirty="0"/>
              <a:t>Explain why it's a Priority 1 feature.</a:t>
            </a:r>
          </a:p>
          <a:p>
            <a:endParaRPr lang="en-US" dirty="0"/>
          </a:p>
          <a:p>
            <a:r>
              <a:rPr lang="en-US" dirty="0"/>
              <a:t>------------------------------------------------------------</a:t>
            </a:r>
          </a:p>
          <a:p>
            <a:endParaRPr lang="en-US" dirty="0"/>
          </a:p>
          <a:p>
            <a:r>
              <a:rPr lang="en-US" dirty="0"/>
              <a:t>US-002</a:t>
            </a:r>
          </a:p>
          <a:p>
            <a:endParaRPr lang="en-US" dirty="0"/>
          </a:p>
          <a:p>
            <a:r>
              <a:rPr lang="en-US" dirty="0"/>
              <a:t>Create a New Task</a:t>
            </a:r>
          </a:p>
          <a:p>
            <a:endParaRPr lang="en-US" dirty="0"/>
          </a:p>
          <a:p>
            <a:r>
              <a:rPr lang="en-US" dirty="0"/>
              <a:t>Ask:</a:t>
            </a:r>
          </a:p>
          <a:p>
            <a:endParaRPr lang="en-US" dirty="0"/>
          </a:p>
          <a:p>
            <a:r>
              <a:rPr lang="en-US" dirty="0"/>
              <a:t>"Would Atlas </a:t>
            </a:r>
            <a:r>
              <a:rPr lang="en-US" dirty="0" err="1"/>
              <a:t>TaskFlow</a:t>
            </a:r>
            <a:r>
              <a:rPr lang="en-US" dirty="0"/>
              <a:t> still be useful without creating tasks?"</a:t>
            </a:r>
          </a:p>
          <a:p>
            <a:endParaRPr lang="en-US" dirty="0"/>
          </a:p>
          <a:p>
            <a:r>
              <a:rPr lang="en-US" dirty="0"/>
              <a:t>Discuss.</a:t>
            </a:r>
          </a:p>
          <a:p>
            <a:endParaRPr lang="en-US" dirty="0"/>
          </a:p>
          <a:p>
            <a:r>
              <a:rPr lang="en-US" dirty="0"/>
              <a:t>------------------------------------------------------------</a:t>
            </a:r>
          </a:p>
          <a:p>
            <a:endParaRPr lang="en-US" dirty="0"/>
          </a:p>
          <a:p>
            <a:r>
              <a:rPr lang="en-US" dirty="0"/>
              <a:t>US-003</a:t>
            </a:r>
          </a:p>
          <a:p>
            <a:endParaRPr lang="en-US" dirty="0"/>
          </a:p>
          <a:p>
            <a:r>
              <a:rPr lang="en-US" dirty="0"/>
              <a:t>View My Tasks</a:t>
            </a:r>
          </a:p>
          <a:p>
            <a:endParaRPr lang="en-US" dirty="0"/>
          </a:p>
          <a:p>
            <a:r>
              <a:rPr lang="en-US" dirty="0"/>
              <a:t>Explain why viewing tasks belongs in the first release.</a:t>
            </a:r>
          </a:p>
          <a:p>
            <a:endParaRPr lang="en-US" dirty="0"/>
          </a:p>
          <a:p>
            <a:r>
              <a:rPr lang="en-US" dirty="0"/>
              <a:t>------------------------------------------------------------</a:t>
            </a:r>
          </a:p>
          <a:p>
            <a:endParaRPr lang="en-US" dirty="0"/>
          </a:p>
          <a:p>
            <a:r>
              <a:rPr lang="en-US" dirty="0"/>
              <a:t>US-004</a:t>
            </a:r>
          </a:p>
          <a:p>
            <a:endParaRPr lang="en-US" dirty="0"/>
          </a:p>
          <a:p>
            <a:r>
              <a:rPr lang="en-US" dirty="0"/>
              <a:t>Assign Tasks</a:t>
            </a:r>
          </a:p>
          <a:p>
            <a:endParaRPr lang="en-US" dirty="0"/>
          </a:p>
          <a:p>
            <a:r>
              <a:rPr lang="en-US" dirty="0"/>
              <a:t>Discuss collaboration.</a:t>
            </a:r>
          </a:p>
          <a:p>
            <a:endParaRPr lang="en-US" dirty="0"/>
          </a:p>
          <a:p>
            <a:r>
              <a:rPr lang="en-US" dirty="0"/>
              <a:t>------------------------------------------------------------</a:t>
            </a:r>
          </a:p>
          <a:p>
            <a:endParaRPr lang="en-US" dirty="0"/>
          </a:p>
          <a:p>
            <a:r>
              <a:rPr lang="en-US" dirty="0"/>
              <a:t>Continue highlighting several additional stories.</a:t>
            </a:r>
          </a:p>
          <a:p>
            <a:endParaRPr lang="en-US" dirty="0"/>
          </a:p>
          <a:p>
            <a:r>
              <a:rPr lang="en-US" dirty="0"/>
              <a:t>Discuss:</a:t>
            </a:r>
          </a:p>
          <a:p>
            <a:endParaRPr lang="en-US" dirty="0"/>
          </a:p>
          <a:p>
            <a:r>
              <a:rPr lang="en-US" dirty="0"/>
              <a:t>Business Value</a:t>
            </a:r>
          </a:p>
          <a:p>
            <a:endParaRPr lang="en-US" dirty="0"/>
          </a:p>
          <a:p>
            <a:r>
              <a:rPr lang="en-US" dirty="0"/>
              <a:t>Estimated Effort</a:t>
            </a:r>
          </a:p>
          <a:p>
            <a:endParaRPr lang="en-US" dirty="0"/>
          </a:p>
          <a:p>
            <a:r>
              <a:rPr lang="en-US" dirty="0"/>
              <a:t>Dependencies</a:t>
            </a:r>
          </a:p>
          <a:p>
            <a:endParaRPr lang="en-US" dirty="0"/>
          </a:p>
          <a:p>
            <a:r>
              <a:rPr lang="en-US" dirty="0"/>
              <a:t>Priority</a:t>
            </a:r>
          </a:p>
          <a:p>
            <a:endParaRPr lang="en-US" dirty="0"/>
          </a:p>
          <a:p>
            <a:r>
              <a:rPr lang="en-US" dirty="0"/>
              <a:t>Explain how Product Owners balance these factors.</a:t>
            </a:r>
          </a:p>
          <a:p>
            <a:endParaRPr lang="en-US" dirty="0"/>
          </a:p>
          <a:p>
            <a:r>
              <a:rPr lang="en-US" dirty="0"/>
              <a:t>------------------------------------------------------------</a:t>
            </a:r>
          </a:p>
          <a:p>
            <a:endParaRPr lang="en-US" dirty="0"/>
          </a:p>
          <a:p>
            <a:r>
              <a:rPr lang="en-US" dirty="0"/>
              <a:t>ENGINEERING INSIGHT</a:t>
            </a:r>
          </a:p>
          <a:p>
            <a:endParaRPr lang="en-US" dirty="0"/>
          </a:p>
          <a:p>
            <a:r>
              <a:rPr lang="en-US" dirty="0"/>
              <a:t>Read the statement.</a:t>
            </a:r>
          </a:p>
          <a:p>
            <a:endParaRPr lang="en-US" dirty="0"/>
          </a:p>
          <a:p>
            <a:r>
              <a:rPr lang="en-US" dirty="0"/>
              <a:t>"The best teams don't build what's easiest."</a:t>
            </a:r>
          </a:p>
          <a:p>
            <a:endParaRPr lang="en-US" dirty="0"/>
          </a:p>
          <a:p>
            <a:r>
              <a:rPr lang="en-US" dirty="0"/>
              <a:t>"They build what creates the most value."</a:t>
            </a:r>
          </a:p>
          <a:p>
            <a:endParaRPr lang="en-US" dirty="0"/>
          </a:p>
          <a:p>
            <a:r>
              <a:rPr lang="en-US" dirty="0"/>
              <a:t>Pause.</a:t>
            </a:r>
          </a:p>
          <a:p>
            <a:endParaRPr lang="en-US" dirty="0"/>
          </a:p>
          <a:p>
            <a:r>
              <a:rPr lang="en-US" dirty="0"/>
              <a:t>Explain:</a:t>
            </a:r>
          </a:p>
          <a:p>
            <a:endParaRPr lang="en-US" dirty="0"/>
          </a:p>
          <a:p>
            <a:r>
              <a:rPr lang="en-US" dirty="0"/>
              <a:t>"Engineers don't measure success by the number of features."</a:t>
            </a:r>
          </a:p>
          <a:p>
            <a:endParaRPr lang="en-US" dirty="0"/>
          </a:p>
          <a:p>
            <a:r>
              <a:rPr lang="en-US" dirty="0"/>
              <a:t>"They measure success by solving the right problems."</a:t>
            </a:r>
          </a:p>
          <a:p>
            <a:endParaRPr lang="en-US" dirty="0"/>
          </a:p>
          <a:p>
            <a:r>
              <a:rPr lang="en-US" dirty="0"/>
              <a:t>------------------------------------------------------------</a:t>
            </a:r>
          </a:p>
          <a:p>
            <a:endParaRPr lang="en-US" dirty="0"/>
          </a:p>
          <a:p>
            <a:r>
              <a:rPr lang="en-US" dirty="0"/>
              <a:t>WHAT IS AN MVP?</a:t>
            </a:r>
          </a:p>
          <a:p>
            <a:endParaRPr lang="en-US" dirty="0"/>
          </a:p>
          <a:p>
            <a:r>
              <a:rPr lang="en-US" dirty="0"/>
              <a:t>Introduce the concept.</a:t>
            </a:r>
          </a:p>
          <a:p>
            <a:endParaRPr lang="en-US" dirty="0"/>
          </a:p>
          <a:p>
            <a:r>
              <a:rPr lang="en-US" dirty="0"/>
              <a:t>"MVP stands for Minimum Viable Product."</a:t>
            </a:r>
          </a:p>
          <a:p>
            <a:endParaRPr lang="en-US" dirty="0"/>
          </a:p>
          <a:p>
            <a:r>
              <a:rPr lang="en-US" dirty="0"/>
              <a:t>Explain:</a:t>
            </a:r>
          </a:p>
          <a:p>
            <a:endParaRPr lang="en-US" dirty="0"/>
          </a:p>
          <a:p>
            <a:r>
              <a:rPr lang="en-US" dirty="0"/>
              <a:t>"It is NOT the smallest application."</a:t>
            </a:r>
          </a:p>
          <a:p>
            <a:endParaRPr lang="en-US" dirty="0"/>
          </a:p>
          <a:p>
            <a:r>
              <a:rPr lang="en-US" dirty="0"/>
              <a:t>"It is the smallest application that still delivers meaningful value."</a:t>
            </a:r>
          </a:p>
          <a:p>
            <a:endParaRPr lang="en-US" dirty="0"/>
          </a:p>
          <a:p>
            <a:r>
              <a:rPr lang="en-US" dirty="0"/>
              <a:t>Emphasize:</a:t>
            </a:r>
          </a:p>
          <a:p>
            <a:endParaRPr lang="en-US" dirty="0"/>
          </a:p>
          <a:p>
            <a:r>
              <a:rPr lang="en-US" dirty="0"/>
              <a:t>"Minimum."</a:t>
            </a:r>
          </a:p>
          <a:p>
            <a:endParaRPr lang="en-US" dirty="0"/>
          </a:p>
          <a:p>
            <a:r>
              <a:rPr lang="en-US" dirty="0"/>
              <a:t>"Viable."</a:t>
            </a:r>
          </a:p>
          <a:p>
            <a:endParaRPr lang="en-US" dirty="0"/>
          </a:p>
          <a:p>
            <a:r>
              <a:rPr lang="en-US" dirty="0"/>
              <a:t>"Product."</a:t>
            </a:r>
          </a:p>
          <a:p>
            <a:endParaRPr lang="en-US" dirty="0"/>
          </a:p>
          <a:p>
            <a:r>
              <a:rPr lang="en-US" dirty="0"/>
              <a:t>All three words matter.</a:t>
            </a:r>
          </a:p>
          <a:p>
            <a:endParaRPr lang="en-US" dirty="0"/>
          </a:p>
          <a:p>
            <a:r>
              <a:rPr lang="en-US" dirty="0"/>
              <a:t>------------------------------------------------------------</a:t>
            </a:r>
          </a:p>
          <a:p>
            <a:endParaRPr lang="en-US" dirty="0"/>
          </a:p>
          <a:p>
            <a:r>
              <a:rPr lang="en-US" dirty="0"/>
              <a:t>THE TASKFLOW MVP</a:t>
            </a:r>
          </a:p>
          <a:p>
            <a:endParaRPr lang="en-US" dirty="0"/>
          </a:p>
          <a:p>
            <a:r>
              <a:rPr lang="en-US" dirty="0"/>
              <a:t>Walk through the selected features.</a:t>
            </a:r>
          </a:p>
          <a:p>
            <a:endParaRPr lang="en-US" dirty="0"/>
          </a:p>
          <a:p>
            <a:r>
              <a:rPr lang="en-US" dirty="0"/>
              <a:t>User Registration</a:t>
            </a:r>
          </a:p>
          <a:p>
            <a:endParaRPr lang="en-US" dirty="0"/>
          </a:p>
          <a:p>
            <a:r>
              <a:rPr lang="en-US" dirty="0"/>
              <a:t>Login</a:t>
            </a:r>
          </a:p>
          <a:p>
            <a:endParaRPr lang="en-US" dirty="0"/>
          </a:p>
          <a:p>
            <a:r>
              <a:rPr lang="en-US" dirty="0"/>
              <a:t>Create Task</a:t>
            </a:r>
          </a:p>
          <a:p>
            <a:endParaRPr lang="en-US" dirty="0"/>
          </a:p>
          <a:p>
            <a:r>
              <a:rPr lang="en-US" dirty="0"/>
              <a:t>View Tasks</a:t>
            </a:r>
          </a:p>
          <a:p>
            <a:endParaRPr lang="en-US" dirty="0"/>
          </a:p>
          <a:p>
            <a:r>
              <a:rPr lang="en-US" dirty="0"/>
              <a:t>Assign Tasks</a:t>
            </a:r>
          </a:p>
          <a:p>
            <a:endParaRPr lang="en-US" dirty="0"/>
          </a:p>
          <a:p>
            <a:r>
              <a:rPr lang="en-US" dirty="0"/>
              <a:t>Task Details</a:t>
            </a:r>
          </a:p>
          <a:p>
            <a:endParaRPr lang="en-US" dirty="0"/>
          </a:p>
          <a:p>
            <a:r>
              <a:rPr lang="en-US" dirty="0"/>
              <a:t>Dashboard</a:t>
            </a:r>
          </a:p>
          <a:p>
            <a:endParaRPr lang="en-US" dirty="0"/>
          </a:p>
          <a:p>
            <a:r>
              <a:rPr lang="en-US" dirty="0"/>
              <a:t>User Roles</a:t>
            </a:r>
          </a:p>
          <a:p>
            <a:endParaRPr lang="en-US" dirty="0"/>
          </a:p>
          <a:p>
            <a:r>
              <a:rPr lang="en-US" dirty="0"/>
              <a:t>Explain:</a:t>
            </a:r>
          </a:p>
          <a:p>
            <a:endParaRPr lang="en-US" dirty="0"/>
          </a:p>
          <a:p>
            <a:r>
              <a:rPr lang="en-US" dirty="0"/>
              <a:t>"If we stopped after building these features..."</a:t>
            </a:r>
          </a:p>
          <a:p>
            <a:endParaRPr lang="en-US" dirty="0"/>
          </a:p>
          <a:p>
            <a:r>
              <a:rPr lang="en-US" dirty="0"/>
              <a:t>"Would users still receive value?"</a:t>
            </a:r>
          </a:p>
          <a:p>
            <a:endParaRPr lang="en-US" dirty="0"/>
          </a:p>
          <a:p>
            <a:r>
              <a:rPr lang="en-US" dirty="0"/>
              <a:t>Discuss.</a:t>
            </a:r>
          </a:p>
          <a:p>
            <a:endParaRPr lang="en-US" dirty="0"/>
          </a:p>
          <a:p>
            <a:r>
              <a:rPr lang="en-US" dirty="0"/>
              <a:t>------------------------------------------------------------</a:t>
            </a:r>
          </a:p>
          <a:p>
            <a:endParaRPr lang="en-US" dirty="0"/>
          </a:p>
          <a:p>
            <a:r>
              <a:rPr lang="en-US" dirty="0"/>
              <a:t>NOT INCLUDED IN VERSION 1</a:t>
            </a:r>
          </a:p>
          <a:p>
            <a:endParaRPr lang="en-US" dirty="0"/>
          </a:p>
          <a:p>
            <a:r>
              <a:rPr lang="en-US" dirty="0"/>
              <a:t>Point to the future features.</a:t>
            </a:r>
          </a:p>
          <a:p>
            <a:endParaRPr lang="en-US" dirty="0"/>
          </a:p>
          <a:p>
            <a:r>
              <a:rPr lang="en-US" dirty="0"/>
              <a:t>Reports</a:t>
            </a:r>
          </a:p>
          <a:p>
            <a:endParaRPr lang="en-US" dirty="0"/>
          </a:p>
          <a:p>
            <a:r>
              <a:rPr lang="en-US" dirty="0"/>
              <a:t>Exports</a:t>
            </a:r>
          </a:p>
          <a:p>
            <a:endParaRPr lang="en-US" dirty="0"/>
          </a:p>
          <a:p>
            <a:r>
              <a:rPr lang="en-US" dirty="0"/>
              <a:t>Advanced Team Views</a:t>
            </a:r>
          </a:p>
          <a:p>
            <a:endParaRPr lang="en-US" dirty="0"/>
          </a:p>
          <a:p>
            <a:r>
              <a:rPr lang="en-US" dirty="0"/>
              <a:t>Reminders</a:t>
            </a:r>
          </a:p>
          <a:p>
            <a:endParaRPr lang="en-US" dirty="0"/>
          </a:p>
          <a:p>
            <a:r>
              <a:rPr lang="en-US" dirty="0"/>
              <a:t>Advanced Settings</a:t>
            </a:r>
          </a:p>
          <a:p>
            <a:endParaRPr lang="en-US" dirty="0"/>
          </a:p>
          <a:p>
            <a:r>
              <a:rPr lang="en-US" dirty="0"/>
              <a:t>Explain:</a:t>
            </a:r>
          </a:p>
          <a:p>
            <a:endParaRPr lang="en-US" dirty="0"/>
          </a:p>
          <a:p>
            <a:r>
              <a:rPr lang="en-US" dirty="0"/>
              <a:t>"These aren't bad ideas."</a:t>
            </a:r>
          </a:p>
          <a:p>
            <a:endParaRPr lang="en-US" dirty="0"/>
          </a:p>
          <a:p>
            <a:r>
              <a:rPr lang="en-US" dirty="0"/>
              <a:t>"They're simply not the first priorities."</a:t>
            </a:r>
          </a:p>
          <a:p>
            <a:endParaRPr lang="en-US" dirty="0"/>
          </a:p>
          <a:p>
            <a:r>
              <a:rPr lang="en-US" dirty="0"/>
              <a:t>Relate this to the backlog mindset:</a:t>
            </a:r>
          </a:p>
          <a:p>
            <a:endParaRPr lang="en-US" dirty="0"/>
          </a:p>
          <a:p>
            <a:r>
              <a:rPr lang="en-US" dirty="0"/>
              <a:t>"Not now" is different from "Never."</a:t>
            </a:r>
          </a:p>
          <a:p>
            <a:endParaRPr lang="en-US" dirty="0"/>
          </a:p>
          <a:p>
            <a:r>
              <a:rPr lang="en-US" dirty="0"/>
              <a:t>------------------------------------------------------------</a:t>
            </a:r>
          </a:p>
          <a:p>
            <a:endParaRPr lang="en-US" dirty="0"/>
          </a:p>
          <a:p>
            <a:r>
              <a:rPr lang="en-US" dirty="0"/>
              <a:t>MVP GOALS</a:t>
            </a:r>
          </a:p>
          <a:p>
            <a:endParaRPr lang="en-US" dirty="0"/>
          </a:p>
          <a:p>
            <a:r>
              <a:rPr lang="en-US" dirty="0"/>
              <a:t>Review each objective.</a:t>
            </a:r>
          </a:p>
          <a:p>
            <a:endParaRPr lang="en-US" dirty="0"/>
          </a:p>
          <a:p>
            <a:r>
              <a:rPr lang="en-US" dirty="0"/>
              <a:t>Deliver core functionality.</a:t>
            </a:r>
          </a:p>
          <a:p>
            <a:endParaRPr lang="en-US" dirty="0"/>
          </a:p>
          <a:p>
            <a:r>
              <a:rPr lang="en-US" dirty="0"/>
              <a:t>Validate assumptions.</a:t>
            </a:r>
          </a:p>
          <a:p>
            <a:endParaRPr lang="en-US" dirty="0"/>
          </a:p>
          <a:p>
            <a:r>
              <a:rPr lang="en-US" dirty="0"/>
              <a:t>Gather user feedback.</a:t>
            </a:r>
          </a:p>
          <a:p>
            <a:endParaRPr lang="en-US" dirty="0"/>
          </a:p>
          <a:p>
            <a:r>
              <a:rPr lang="en-US" dirty="0"/>
              <a:t>Build momentum.</a:t>
            </a:r>
          </a:p>
          <a:p>
            <a:endParaRPr lang="en-US" dirty="0"/>
          </a:p>
          <a:p>
            <a:r>
              <a:rPr lang="en-US" dirty="0"/>
              <a:t>Explain:</a:t>
            </a:r>
          </a:p>
          <a:p>
            <a:endParaRPr lang="en-US" dirty="0"/>
          </a:p>
          <a:p>
            <a:r>
              <a:rPr lang="en-US" dirty="0"/>
              <a:t>"The MVP isn't the end."</a:t>
            </a:r>
          </a:p>
          <a:p>
            <a:endParaRPr lang="en-US" dirty="0"/>
          </a:p>
          <a:p>
            <a:r>
              <a:rPr lang="en-US" dirty="0"/>
              <a:t>"It's the beginning."</a:t>
            </a:r>
          </a:p>
          <a:p>
            <a:endParaRPr lang="en-US" dirty="0"/>
          </a:p>
          <a:p>
            <a:r>
              <a:rPr lang="en-US" dirty="0"/>
              <a:t>------------------------------------------------------------</a:t>
            </a:r>
          </a:p>
          <a:p>
            <a:endParaRPr lang="en-US" dirty="0"/>
          </a:p>
          <a:p>
            <a:r>
              <a:rPr lang="en-US" dirty="0"/>
              <a:t>ATLAS ARCHITECTURE SPOTLIGHT</a:t>
            </a:r>
          </a:p>
          <a:p>
            <a:endParaRPr lang="en-US" dirty="0"/>
          </a:p>
          <a:p>
            <a:r>
              <a:rPr lang="en-US" dirty="0"/>
              <a:t>Today's Spotlight:</a:t>
            </a:r>
          </a:p>
          <a:p>
            <a:endParaRPr lang="en-US" dirty="0"/>
          </a:p>
          <a:p>
            <a:r>
              <a:rPr lang="en-US" dirty="0"/>
              <a:t>Azure Boards</a:t>
            </a:r>
          </a:p>
          <a:p>
            <a:endParaRPr lang="en-US" dirty="0"/>
          </a:p>
          <a:p>
            <a:r>
              <a:rPr lang="en-US" dirty="0"/>
              <a:t>Explain:</a:t>
            </a:r>
          </a:p>
          <a:p>
            <a:endParaRPr lang="en-US" dirty="0"/>
          </a:p>
          <a:p>
            <a:r>
              <a:rPr lang="en-US" dirty="0"/>
              <a:t>"Azure Boards is used by software teams to manage Product Backlogs,</a:t>
            </a:r>
          </a:p>
          <a:p>
            <a:r>
              <a:rPr lang="en-US" dirty="0"/>
              <a:t>Sprints, and work items."</a:t>
            </a:r>
          </a:p>
          <a:p>
            <a:endParaRPr lang="en-US" dirty="0"/>
          </a:p>
          <a:p>
            <a:r>
              <a:rPr lang="en-US" dirty="0"/>
              <a:t>Discuss:</a:t>
            </a:r>
          </a:p>
          <a:p>
            <a:endParaRPr lang="en-US" dirty="0"/>
          </a:p>
          <a:p>
            <a:r>
              <a:rPr lang="en-US" dirty="0"/>
              <a:t>Backlogs</a:t>
            </a:r>
          </a:p>
          <a:p>
            <a:endParaRPr lang="en-US" dirty="0"/>
          </a:p>
          <a:p>
            <a:r>
              <a:rPr lang="en-US" dirty="0"/>
              <a:t>Epics</a:t>
            </a:r>
          </a:p>
          <a:p>
            <a:endParaRPr lang="en-US" dirty="0"/>
          </a:p>
          <a:p>
            <a:r>
              <a:rPr lang="en-US" dirty="0"/>
              <a:t>Features</a:t>
            </a:r>
          </a:p>
          <a:p>
            <a:endParaRPr lang="en-US" dirty="0"/>
          </a:p>
          <a:p>
            <a:r>
              <a:rPr lang="en-US" dirty="0"/>
              <a:t>User Stories</a:t>
            </a:r>
          </a:p>
          <a:p>
            <a:endParaRPr lang="en-US" dirty="0"/>
          </a:p>
          <a:p>
            <a:r>
              <a:rPr lang="en-US" dirty="0"/>
              <a:t>Tasks</a:t>
            </a:r>
          </a:p>
          <a:p>
            <a:endParaRPr lang="en-US" dirty="0"/>
          </a:p>
          <a:p>
            <a:r>
              <a:rPr lang="en-US" dirty="0"/>
              <a:t>Sprint Boards</a:t>
            </a:r>
          </a:p>
          <a:p>
            <a:endParaRPr lang="en-US" dirty="0"/>
          </a:p>
          <a:p>
            <a:r>
              <a:rPr lang="en-US" dirty="0"/>
              <a:t>Explain how today's lesson connects directly to Agile development tools.</a:t>
            </a:r>
          </a:p>
          <a:p>
            <a:endParaRPr lang="en-US" dirty="0"/>
          </a:p>
          <a:p>
            <a:r>
              <a:rPr lang="en-US" dirty="0"/>
              <a:t>------------------------------------------------------------</a:t>
            </a:r>
          </a:p>
          <a:p>
            <a:endParaRPr lang="en-US" dirty="0"/>
          </a:p>
          <a:p>
            <a:r>
              <a:rPr lang="en-US" dirty="0"/>
              <a:t>ENGINEERING STORY</a:t>
            </a:r>
          </a:p>
          <a:p>
            <a:endParaRPr lang="en-US" dirty="0"/>
          </a:p>
          <a:p>
            <a:r>
              <a:rPr lang="en-US" dirty="0"/>
              <a:t>Share the Food Pantry project.</a:t>
            </a:r>
          </a:p>
          <a:p>
            <a:endParaRPr lang="en-US" dirty="0"/>
          </a:p>
          <a:p>
            <a:r>
              <a:rPr lang="en-US" dirty="0"/>
              <a:t>Explain that the original vision included dozens of ideas.</a:t>
            </a:r>
          </a:p>
          <a:p>
            <a:endParaRPr lang="en-US" dirty="0"/>
          </a:p>
          <a:p>
            <a:r>
              <a:rPr lang="en-US" dirty="0"/>
              <a:t>But time and resources required prioritization.</a:t>
            </a:r>
          </a:p>
          <a:p>
            <a:endParaRPr lang="en-US" dirty="0"/>
          </a:p>
          <a:p>
            <a:r>
              <a:rPr lang="en-US" dirty="0"/>
              <a:t>Discuss how focusing on inventory management first delivered value</a:t>
            </a:r>
          </a:p>
          <a:p>
            <a:r>
              <a:rPr lang="en-US" dirty="0"/>
              <a:t>quickly and allowed additional ideas to be considered later.</a:t>
            </a:r>
          </a:p>
          <a:p>
            <a:endParaRPr lang="en-US" dirty="0"/>
          </a:p>
          <a:p>
            <a:r>
              <a:rPr lang="en-US" dirty="0"/>
              <a:t>------------------------------------------------------------</a:t>
            </a:r>
          </a:p>
          <a:p>
            <a:endParaRPr lang="en-US" dirty="0"/>
          </a:p>
          <a:p>
            <a:r>
              <a:rPr lang="en-US" dirty="0"/>
              <a:t>ATLAS DESIGN CHALLENGE #6</a:t>
            </a:r>
          </a:p>
          <a:p>
            <a:endParaRPr lang="en-US" dirty="0"/>
          </a:p>
          <a:p>
            <a:r>
              <a:rPr lang="en-US" dirty="0"/>
              <a:t>Challenge:</a:t>
            </a:r>
          </a:p>
          <a:p>
            <a:endParaRPr lang="en-US" dirty="0"/>
          </a:p>
          <a:p>
            <a:r>
              <a:rPr lang="en-US" dirty="0"/>
              <a:t>Review the Atlas </a:t>
            </a:r>
            <a:r>
              <a:rPr lang="en-US" dirty="0" err="1"/>
              <a:t>TaskFlow</a:t>
            </a:r>
            <a:r>
              <a:rPr lang="en-US" dirty="0"/>
              <a:t> backlog.</a:t>
            </a:r>
          </a:p>
          <a:p>
            <a:endParaRPr lang="en-US" dirty="0"/>
          </a:p>
          <a:p>
            <a:r>
              <a:rPr lang="en-US" dirty="0"/>
              <a:t>Choose:</a:t>
            </a:r>
          </a:p>
          <a:p>
            <a:endParaRPr lang="en-US" dirty="0"/>
          </a:p>
          <a:p>
            <a:r>
              <a:rPr lang="en-US" dirty="0"/>
              <a:t>Five features for Version 1.</a:t>
            </a:r>
          </a:p>
          <a:p>
            <a:endParaRPr lang="en-US" dirty="0"/>
          </a:p>
          <a:p>
            <a:r>
              <a:rPr lang="en-US" dirty="0"/>
              <a:t>Defend your choices.</a:t>
            </a:r>
          </a:p>
          <a:p>
            <a:endParaRPr lang="en-US" dirty="0"/>
          </a:p>
          <a:p>
            <a:r>
              <a:rPr lang="en-US" dirty="0"/>
              <a:t>Explain:</a:t>
            </a:r>
          </a:p>
          <a:p>
            <a:endParaRPr lang="en-US" dirty="0"/>
          </a:p>
          <a:p>
            <a:r>
              <a:rPr lang="en-US" dirty="0"/>
              <a:t>Business Value</a:t>
            </a:r>
          </a:p>
          <a:p>
            <a:endParaRPr lang="en-US" dirty="0"/>
          </a:p>
          <a:p>
            <a:r>
              <a:rPr lang="en-US" dirty="0"/>
              <a:t>User Impact</a:t>
            </a:r>
          </a:p>
          <a:p>
            <a:endParaRPr lang="en-US" dirty="0"/>
          </a:p>
          <a:p>
            <a:r>
              <a:rPr lang="en-US" dirty="0"/>
              <a:t>Dependencies</a:t>
            </a:r>
          </a:p>
          <a:p>
            <a:endParaRPr lang="en-US" dirty="0"/>
          </a:p>
          <a:p>
            <a:r>
              <a:rPr lang="en-US" dirty="0"/>
              <a:t>Development Effort</a:t>
            </a:r>
          </a:p>
          <a:p>
            <a:endParaRPr lang="en-US" dirty="0"/>
          </a:p>
          <a:p>
            <a:r>
              <a:rPr lang="en-US" dirty="0"/>
              <a:t>Time:</a:t>
            </a:r>
          </a:p>
          <a:p>
            <a:endParaRPr lang="en-US" dirty="0"/>
          </a:p>
          <a:p>
            <a:r>
              <a:rPr lang="en-US" dirty="0"/>
              <a:t>15 minutes.</a:t>
            </a:r>
          </a:p>
          <a:p>
            <a:endParaRPr lang="en-US" dirty="0"/>
          </a:p>
          <a:p>
            <a:r>
              <a:rPr lang="en-US" dirty="0"/>
              <a:t>Groups present their MVP.</a:t>
            </a:r>
          </a:p>
          <a:p>
            <a:endParaRPr lang="en-US" dirty="0"/>
          </a:p>
          <a:p>
            <a:r>
              <a:rPr lang="en-US" dirty="0"/>
              <a:t>Discuss differences.</a:t>
            </a:r>
          </a:p>
          <a:p>
            <a:endParaRPr lang="en-US" dirty="0"/>
          </a:p>
          <a:p>
            <a:r>
              <a:rPr lang="en-US" dirty="0"/>
              <a:t>------------------------------------------------------------</a:t>
            </a:r>
          </a:p>
          <a:p>
            <a:endParaRPr lang="en-US" dirty="0"/>
          </a:p>
          <a:p>
            <a:r>
              <a:rPr lang="en-US" dirty="0"/>
              <a:t>CLASS DISCUSSION</a:t>
            </a:r>
          </a:p>
          <a:p>
            <a:endParaRPr lang="en-US" dirty="0"/>
          </a:p>
          <a:p>
            <a:r>
              <a:rPr lang="en-US" dirty="0"/>
              <a:t>Ask:</a:t>
            </a:r>
          </a:p>
          <a:p>
            <a:endParaRPr lang="en-US" dirty="0"/>
          </a:p>
          <a:p>
            <a:r>
              <a:rPr lang="en-US" dirty="0"/>
              <a:t>"What feature would you remove from Version 1?"</a:t>
            </a:r>
          </a:p>
          <a:p>
            <a:endParaRPr lang="en-US" dirty="0"/>
          </a:p>
          <a:p>
            <a:r>
              <a:rPr lang="en-US" dirty="0"/>
              <a:t>"What feature would absolutely stay?"</a:t>
            </a:r>
          </a:p>
          <a:p>
            <a:endParaRPr lang="en-US" dirty="0"/>
          </a:p>
          <a:p>
            <a:r>
              <a:rPr lang="en-US" dirty="0"/>
              <a:t>"Would your priorities change if our client changed?"</a:t>
            </a:r>
          </a:p>
          <a:p>
            <a:endParaRPr lang="en-US" dirty="0"/>
          </a:p>
          <a:p>
            <a:r>
              <a:rPr lang="en-US" dirty="0"/>
              <a:t>Guide students toward understanding that prioritization is based on</a:t>
            </a:r>
          </a:p>
          <a:p>
            <a:r>
              <a:rPr lang="en-US" dirty="0"/>
              <a:t>value—not personal preference.</a:t>
            </a:r>
          </a:p>
          <a:p>
            <a:endParaRPr lang="en-US" dirty="0"/>
          </a:p>
          <a:p>
            <a:r>
              <a:rPr lang="en-US" dirty="0"/>
              <a:t>------------------------------------------------------------</a:t>
            </a:r>
          </a:p>
          <a:p>
            <a:endParaRPr lang="en-US" dirty="0"/>
          </a:p>
          <a:p>
            <a:r>
              <a:rPr lang="en-US" dirty="0"/>
              <a:t>ENGINEERING LESSON</a:t>
            </a:r>
          </a:p>
          <a:p>
            <a:endParaRPr lang="en-US" dirty="0"/>
          </a:p>
          <a:p>
            <a:r>
              <a:rPr lang="en-US" dirty="0"/>
              <a:t>Read the quote.</a:t>
            </a:r>
          </a:p>
          <a:p>
            <a:endParaRPr lang="en-US" dirty="0"/>
          </a:p>
          <a:p>
            <a:r>
              <a:rPr lang="en-US" dirty="0"/>
              <a:t>"Focus on the highest-value next step—not the biggest feature."</a:t>
            </a:r>
          </a:p>
          <a:p>
            <a:endParaRPr lang="en-US" dirty="0"/>
          </a:p>
          <a:p>
            <a:r>
              <a:rPr lang="en-US" dirty="0"/>
              <a:t>Pause.</a:t>
            </a:r>
          </a:p>
          <a:p>
            <a:endParaRPr lang="en-US" dirty="0"/>
          </a:p>
          <a:p>
            <a:r>
              <a:rPr lang="en-US" dirty="0"/>
              <a:t>Explain.</a:t>
            </a:r>
          </a:p>
          <a:p>
            <a:endParaRPr lang="en-US" dirty="0"/>
          </a:p>
          <a:p>
            <a:r>
              <a:rPr lang="en-US" dirty="0"/>
              <a:t>"Successful software grows through iterations."</a:t>
            </a:r>
          </a:p>
          <a:p>
            <a:endParaRPr lang="en-US" dirty="0"/>
          </a:p>
          <a:p>
            <a:r>
              <a:rPr lang="en-US" dirty="0"/>
              <a:t>"It doesn't begin as a finished product."</a:t>
            </a:r>
          </a:p>
          <a:p>
            <a:endParaRPr lang="en-US" dirty="0"/>
          </a:p>
          <a:p>
            <a:r>
              <a:rPr lang="en-US" dirty="0"/>
              <a:t>------------------------------------------------------------</a:t>
            </a:r>
          </a:p>
          <a:p>
            <a:endParaRPr lang="en-US" dirty="0"/>
          </a:p>
          <a:p>
            <a:r>
              <a:rPr lang="en-US" dirty="0"/>
              <a:t>LOOKING AHEAD</a:t>
            </a:r>
          </a:p>
          <a:p>
            <a:endParaRPr lang="en-US" dirty="0"/>
          </a:p>
          <a:p>
            <a:r>
              <a:rPr lang="en-US" dirty="0"/>
              <a:t>Remind students:</a:t>
            </a:r>
          </a:p>
          <a:p>
            <a:endParaRPr lang="en-US" dirty="0"/>
          </a:p>
          <a:p>
            <a:r>
              <a:rPr lang="en-US" dirty="0"/>
              <a:t>"We've now completed a professional software design package."</a:t>
            </a:r>
          </a:p>
          <a:p>
            <a:endParaRPr lang="en-US" dirty="0"/>
          </a:p>
          <a:p>
            <a:r>
              <a:rPr lang="en-US" dirty="0"/>
              <a:t>Requirements.</a:t>
            </a:r>
          </a:p>
          <a:p>
            <a:endParaRPr lang="en-US" dirty="0"/>
          </a:p>
          <a:p>
            <a:r>
              <a:rPr lang="en-US" dirty="0"/>
              <a:t>User Stories.</a:t>
            </a:r>
          </a:p>
          <a:p>
            <a:endParaRPr lang="en-US" dirty="0"/>
          </a:p>
          <a:p>
            <a:r>
              <a:rPr lang="en-US" dirty="0"/>
              <a:t>Personas.</a:t>
            </a:r>
          </a:p>
          <a:p>
            <a:endParaRPr lang="en-US" dirty="0"/>
          </a:p>
          <a:p>
            <a:r>
              <a:rPr lang="en-US" dirty="0"/>
              <a:t>User Journeys.</a:t>
            </a:r>
          </a:p>
          <a:p>
            <a:endParaRPr lang="en-US" dirty="0"/>
          </a:p>
          <a:p>
            <a:r>
              <a:rPr lang="en-US" dirty="0"/>
              <a:t>Wireframes.</a:t>
            </a:r>
          </a:p>
          <a:p>
            <a:endParaRPr lang="en-US" dirty="0"/>
          </a:p>
          <a:p>
            <a:r>
              <a:rPr lang="en-US" dirty="0"/>
              <a:t>Information Architecture.</a:t>
            </a:r>
          </a:p>
          <a:p>
            <a:endParaRPr lang="en-US" dirty="0"/>
          </a:p>
          <a:p>
            <a:r>
              <a:rPr lang="en-US" dirty="0"/>
              <a:t>Product Backlog.</a:t>
            </a:r>
          </a:p>
          <a:p>
            <a:endParaRPr lang="en-US" dirty="0"/>
          </a:p>
          <a:p>
            <a:r>
              <a:rPr lang="en-US" dirty="0"/>
              <a:t>MVP.</a:t>
            </a:r>
          </a:p>
          <a:p>
            <a:endParaRPr lang="en-US" dirty="0"/>
          </a:p>
          <a:p>
            <a:r>
              <a:rPr lang="en-US" dirty="0"/>
              <a:t>Ask:</a:t>
            </a:r>
          </a:p>
          <a:p>
            <a:endParaRPr lang="en-US" dirty="0"/>
          </a:p>
          <a:p>
            <a:r>
              <a:rPr lang="en-US" dirty="0"/>
              <a:t>"What comes next?"</a:t>
            </a:r>
          </a:p>
          <a:p>
            <a:endParaRPr lang="en-US" dirty="0"/>
          </a:p>
          <a:p>
            <a:r>
              <a:rPr lang="en-US" dirty="0"/>
              <a:t>Smile.</a:t>
            </a:r>
          </a:p>
          <a:p>
            <a:endParaRPr lang="en-US" dirty="0"/>
          </a:p>
          <a:p>
            <a:r>
              <a:rPr lang="en-US" dirty="0"/>
              <a:t>"Development."</a:t>
            </a:r>
          </a:p>
          <a:p>
            <a:endParaRPr lang="en-US" dirty="0"/>
          </a:p>
          <a:p>
            <a:r>
              <a:rPr lang="en-US" dirty="0"/>
              <a:t>------------------------------------------------------------</a:t>
            </a:r>
          </a:p>
          <a:p>
            <a:endParaRPr lang="en-US" dirty="0"/>
          </a:p>
          <a:p>
            <a:r>
              <a:rPr lang="en-US" dirty="0"/>
              <a:t>TRANSITION</a:t>
            </a:r>
          </a:p>
          <a:p>
            <a:endParaRPr lang="en-US" dirty="0"/>
          </a:p>
          <a:p>
            <a:r>
              <a:rPr lang="en-US" dirty="0"/>
              <a:t>"Our next artifact is ENG-002."</a:t>
            </a:r>
          </a:p>
          <a:p>
            <a:endParaRPr lang="en-US" dirty="0"/>
          </a:p>
          <a:p>
            <a:r>
              <a:rPr lang="en-US" dirty="0"/>
              <a:t>"You'll package everything you've created into a professional design</a:t>
            </a:r>
          </a:p>
          <a:p>
            <a:r>
              <a:rPr lang="en-US" dirty="0"/>
              <a:t>specification."</a:t>
            </a:r>
          </a:p>
          <a:p>
            <a:endParaRPr lang="en-US" dirty="0"/>
          </a:p>
          <a:p>
            <a:r>
              <a:rPr lang="en-US" dirty="0"/>
              <a:t>"This is the same type of documentation a software team would deliver</a:t>
            </a:r>
          </a:p>
          <a:p>
            <a:r>
              <a:rPr lang="en-US" dirty="0"/>
              <a:t>before writing production code."</a:t>
            </a:r>
          </a:p>
          <a:p>
            <a:endParaRPr lang="en-US" dirty="0"/>
          </a:p>
          <a:p>
            <a:r>
              <a:rPr lang="en-US" dirty="0"/>
              <a:t>------------------------------------------------------------</a:t>
            </a:r>
          </a:p>
          <a:p>
            <a:endParaRPr lang="en-US" dirty="0"/>
          </a:p>
          <a:p>
            <a:r>
              <a:rPr lang="en-US" dirty="0"/>
              <a:t>ESTIMATED TIME</a:t>
            </a:r>
          </a:p>
          <a:p>
            <a:endParaRPr lang="en-US" dirty="0"/>
          </a:p>
          <a:p>
            <a:r>
              <a:rPr lang="en-US" dirty="0"/>
              <a:t>Sprint Review.....................5 minutes</a:t>
            </a:r>
          </a:p>
          <a:p>
            <a:endParaRPr lang="en-US" dirty="0"/>
          </a:p>
          <a:p>
            <a:r>
              <a:rPr lang="en-US" dirty="0"/>
              <a:t>Product Backlog.................12 minutes</a:t>
            </a:r>
          </a:p>
          <a:p>
            <a:endParaRPr lang="en-US" dirty="0"/>
          </a:p>
          <a:p>
            <a:r>
              <a:rPr lang="en-US" dirty="0"/>
              <a:t>Prioritization..................10 minutes</a:t>
            </a:r>
          </a:p>
          <a:p>
            <a:endParaRPr lang="en-US" dirty="0"/>
          </a:p>
          <a:p>
            <a:r>
              <a:rPr lang="en-US" dirty="0"/>
              <a:t>MVP Planning....................10 minutes</a:t>
            </a:r>
          </a:p>
          <a:p>
            <a:endParaRPr lang="en-US" dirty="0"/>
          </a:p>
          <a:p>
            <a:r>
              <a:rPr lang="en-US" dirty="0"/>
              <a:t>Architecture Spotlight...........7 minutes</a:t>
            </a:r>
          </a:p>
          <a:p>
            <a:endParaRPr lang="en-US" dirty="0"/>
          </a:p>
          <a:p>
            <a:r>
              <a:rPr lang="en-US" dirty="0"/>
              <a:t>Design Challenge................12 minutes</a:t>
            </a:r>
          </a:p>
          <a:p>
            <a:endParaRPr lang="en-US" dirty="0"/>
          </a:p>
          <a:p>
            <a:r>
              <a:rPr lang="en-US" dirty="0"/>
              <a:t>Discussion.......................7 minutes</a:t>
            </a:r>
          </a:p>
          <a:p>
            <a:endParaRPr lang="en-US" dirty="0"/>
          </a:p>
          <a:p>
            <a:r>
              <a:rPr lang="en-US" dirty="0"/>
              <a:t>Transition.......................2 minutes</a:t>
            </a:r>
          </a:p>
          <a:p>
            <a:endParaRPr lang="en-US" dirty="0"/>
          </a:p>
          <a:p>
            <a:r>
              <a:rPr lang="en-US" dirty="0"/>
              <a:t>Total...........................65 minutes</a:t>
            </a:r>
          </a:p>
          <a:p>
            <a:endParaRPr lang="en-US" dirty="0"/>
          </a:p>
          <a:p>
            <a:r>
              <a:rPr lang="en-US" dirty="0"/>
              <a:t>------------------------------------------------------------</a:t>
            </a:r>
          </a:p>
          <a:p>
            <a:endParaRPr lang="en-US" dirty="0"/>
          </a:p>
          <a:p>
            <a:r>
              <a:rPr lang="en-US" dirty="0"/>
              <a:t>INSTRUCTOR NOTES</a:t>
            </a:r>
          </a:p>
          <a:p>
            <a:endParaRPr lang="en-US" dirty="0"/>
          </a:p>
          <a:p>
            <a:r>
              <a:rPr lang="en-US" dirty="0"/>
              <a:t>Keep the conversation focused on value.</a:t>
            </a:r>
          </a:p>
          <a:p>
            <a:endParaRPr lang="en-US" dirty="0"/>
          </a:p>
          <a:p>
            <a:r>
              <a:rPr lang="en-US" dirty="0"/>
              <a:t>When students argue that every feature belongs in Version 1, challenge</a:t>
            </a:r>
          </a:p>
          <a:p>
            <a:r>
              <a:rPr lang="en-US" dirty="0"/>
              <a:t>them with realistic constraints.</a:t>
            </a:r>
          </a:p>
          <a:p>
            <a:endParaRPr lang="en-US" dirty="0"/>
          </a:p>
          <a:p>
            <a:r>
              <a:rPr lang="en-US" dirty="0"/>
              <a:t>Ask:</a:t>
            </a:r>
          </a:p>
          <a:p>
            <a:endParaRPr lang="en-US" dirty="0"/>
          </a:p>
          <a:p>
            <a:r>
              <a:rPr lang="en-US" dirty="0"/>
              <a:t>"What if you only had four weeks?"</a:t>
            </a:r>
          </a:p>
          <a:p>
            <a:endParaRPr lang="en-US" dirty="0"/>
          </a:p>
          <a:p>
            <a:r>
              <a:rPr lang="en-US" dirty="0"/>
              <a:t>"What if your budget was cut in half?"</a:t>
            </a:r>
          </a:p>
          <a:p>
            <a:endParaRPr lang="en-US" dirty="0"/>
          </a:p>
          <a:p>
            <a:r>
              <a:rPr lang="en-US" dirty="0"/>
              <a:t>"What if your client needed a working version next month?"</a:t>
            </a:r>
          </a:p>
          <a:p>
            <a:endParaRPr lang="en-US" dirty="0"/>
          </a:p>
          <a:p>
            <a:r>
              <a:rPr lang="en-US" dirty="0"/>
              <a:t>Help students understand that prioritization is one of the most</a:t>
            </a:r>
          </a:p>
          <a:p>
            <a:r>
              <a:rPr lang="en-US" dirty="0"/>
              <a:t>important responsibilities in software engineering.</a:t>
            </a:r>
          </a:p>
          <a:p>
            <a:endParaRPr lang="en-US" dirty="0"/>
          </a:p>
          <a:p>
            <a:r>
              <a:rPr lang="en-US" dirty="0"/>
              <a:t>Reinforce that saying "not yet" is often a better engineering decision</a:t>
            </a:r>
          </a:p>
          <a:p>
            <a:r>
              <a:rPr lang="en-US" dirty="0"/>
              <a:t>than trying to build everything at once.</a:t>
            </a:r>
          </a:p>
          <a:p>
            <a:endParaRPr lang="en-US" dirty="0"/>
          </a:p>
          <a:p>
            <a:r>
              <a:rPr lang="en-US" dirty="0"/>
              <a:t>Close with:</a:t>
            </a:r>
          </a:p>
          <a:p>
            <a:endParaRPr lang="en-US" dirty="0"/>
          </a:p>
          <a:p>
            <a:r>
              <a:rPr lang="en-US" dirty="0"/>
              <a:t>"Today we became Product Owners."</a:t>
            </a:r>
          </a:p>
          <a:p>
            <a:endParaRPr lang="en-US" dirty="0"/>
          </a:p>
          <a:p>
            <a:r>
              <a:rPr lang="en-US" dirty="0"/>
              <a:t>"We made difficult decisions."</a:t>
            </a:r>
          </a:p>
          <a:p>
            <a:endParaRPr lang="en-US" dirty="0"/>
          </a:p>
          <a:p>
            <a:r>
              <a:rPr lang="en-US" dirty="0"/>
              <a:t>"We focused on value."</a:t>
            </a:r>
          </a:p>
          <a:p>
            <a:endParaRPr lang="en-US" dirty="0"/>
          </a:p>
          <a:p>
            <a:r>
              <a:rPr lang="en-US" dirty="0"/>
              <a:t>"And because of those decisions..."</a:t>
            </a:r>
          </a:p>
          <a:p>
            <a:endParaRPr lang="en-US" dirty="0"/>
          </a:p>
          <a:p>
            <a:r>
              <a:rPr lang="en-US" dirty="0"/>
              <a:t>"Atlas </a:t>
            </a:r>
            <a:r>
              <a:rPr lang="en-US" dirty="0" err="1"/>
              <a:t>TaskFlow</a:t>
            </a:r>
            <a:r>
              <a:rPr lang="en-US" dirty="0"/>
              <a:t> is finally ready for development."</a:t>
            </a:r>
          </a:p>
          <a:p>
            <a:endParaRPr lang="en-US" dirty="0"/>
          </a:p>
          <a:p>
            <a:r>
              <a:rPr lang="en-US" dirty="0"/>
              <a:t>============================================================</a:t>
            </a:r>
          </a:p>
        </p:txBody>
      </p:sp>
      <p:sp>
        <p:nvSpPr>
          <p:cNvPr id="4" name="Slide Number Placeholder 3"/>
          <p:cNvSpPr>
            <a:spLocks noGrp="1"/>
          </p:cNvSpPr>
          <p:nvPr>
            <p:ph type="sldNum" sz="quarter" idx="5"/>
          </p:nvPr>
        </p:nvSpPr>
        <p:spPr/>
        <p:txBody>
          <a:bodyPr/>
          <a:lstStyle/>
          <a:p>
            <a:fld id="{12CFA81F-48ED-4EC0-89DB-73FF3AF92981}" type="slidenum">
              <a:rPr lang="en-US" smtClean="0"/>
              <a:t>7</a:t>
            </a:fld>
            <a:endParaRPr lang="en-US"/>
          </a:p>
        </p:txBody>
      </p:sp>
    </p:spTree>
    <p:extLst>
      <p:ext uri="{BB962C8B-B14F-4D97-AF65-F5344CB8AC3E}">
        <p14:creationId xmlns:p14="http://schemas.microsoft.com/office/powerpoint/2010/main" val="42768144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endParaRPr lang="en-US" dirty="0"/>
          </a:p>
          <a:p>
            <a:r>
              <a:rPr lang="en-US" dirty="0"/>
              <a:t>SPRINT 3</a:t>
            </a:r>
          </a:p>
          <a:p>
            <a:endParaRPr lang="en-US" dirty="0"/>
          </a:p>
          <a:p>
            <a:r>
              <a:rPr lang="en-US" dirty="0"/>
              <a:t>ARTIFACT XL</a:t>
            </a:r>
          </a:p>
          <a:p>
            <a:endParaRPr lang="en-US" dirty="0"/>
          </a:p>
          <a:p>
            <a:r>
              <a:rPr lang="en-US" dirty="0"/>
              <a:t>ENG-002 DESIGN PACKAGE</a:t>
            </a:r>
          </a:p>
          <a:p>
            <a:endParaRPr lang="en-US" dirty="0"/>
          </a:p>
          <a:p>
            <a:r>
              <a:rPr lang="en-US" dirty="0"/>
              <a:t>============================================================</a:t>
            </a:r>
          </a:p>
          <a:p>
            <a:endParaRPr lang="en-US" dirty="0"/>
          </a:p>
          <a:p>
            <a:r>
              <a:rPr lang="en-US" dirty="0"/>
              <a:t>SLIDE PURPOSE</a:t>
            </a:r>
          </a:p>
          <a:p>
            <a:endParaRPr lang="en-US" dirty="0"/>
          </a:p>
          <a:p>
            <a:r>
              <a:rPr lang="en-US" dirty="0"/>
              <a:t>Introduce ENG-002 as the formal software design package for Atlas</a:t>
            </a:r>
          </a:p>
          <a:p>
            <a:r>
              <a:rPr lang="en-US" dirty="0" err="1"/>
              <a:t>TaskFlow</a:t>
            </a:r>
            <a:r>
              <a:rPr lang="en-US" dirty="0"/>
              <a:t>.</a:t>
            </a:r>
          </a:p>
          <a:p>
            <a:endParaRPr lang="en-US" dirty="0"/>
          </a:p>
          <a:p>
            <a:r>
              <a:rPr lang="en-US" dirty="0"/>
              <a:t>Students should recognize that every artifact created throughout Sprint</a:t>
            </a:r>
          </a:p>
          <a:p>
            <a:r>
              <a:rPr lang="en-US" dirty="0"/>
              <a:t>3 contributes to a single professional engineering deliverable.</a:t>
            </a:r>
          </a:p>
          <a:p>
            <a:endParaRPr lang="en-US" dirty="0"/>
          </a:p>
          <a:p>
            <a:r>
              <a:rPr lang="en-US" dirty="0"/>
              <a:t>ENG-002 is the blueprint that the development team will use to begin</a:t>
            </a:r>
          </a:p>
          <a:p>
            <a:r>
              <a:rPr lang="en-US" dirty="0"/>
              <a:t>building Atlas </a:t>
            </a:r>
            <a:r>
              <a:rPr lang="en-US" dirty="0" err="1"/>
              <a:t>TaskFlow</a:t>
            </a:r>
            <a:r>
              <a:rPr lang="en-US" dirty="0"/>
              <a:t> in Sprint 4.</a:t>
            </a:r>
          </a:p>
          <a:p>
            <a:endParaRPr lang="en-US" dirty="0"/>
          </a:p>
          <a:p>
            <a:r>
              <a:rPr lang="en-US" dirty="0"/>
              <a:t>------------------------------------------------------------</a:t>
            </a:r>
          </a:p>
          <a:p>
            <a:endParaRPr lang="en-US" dirty="0"/>
          </a:p>
          <a:p>
            <a:r>
              <a:rPr lang="en-US" dirty="0"/>
              <a:t>OPENING</a:t>
            </a:r>
          </a:p>
          <a:p>
            <a:endParaRPr lang="en-US" dirty="0"/>
          </a:p>
          <a:p>
            <a:r>
              <a:rPr lang="en-US" dirty="0"/>
              <a:t>"Today is a major milestone."</a:t>
            </a:r>
          </a:p>
          <a:p>
            <a:endParaRPr lang="en-US" dirty="0"/>
          </a:p>
          <a:p>
            <a:r>
              <a:rPr lang="en-US" dirty="0"/>
              <a:t>"Over the last several weeks..."</a:t>
            </a:r>
          </a:p>
          <a:p>
            <a:endParaRPr lang="en-US" dirty="0"/>
          </a:p>
          <a:p>
            <a:r>
              <a:rPr lang="en-US" dirty="0"/>
              <a:t>"We've been acting as the Product Team at Atlas Software Solutions."</a:t>
            </a:r>
          </a:p>
          <a:p>
            <a:endParaRPr lang="en-US" dirty="0"/>
          </a:p>
          <a:p>
            <a:r>
              <a:rPr lang="en-US" dirty="0"/>
              <a:t>"We met with our client."</a:t>
            </a:r>
          </a:p>
          <a:p>
            <a:endParaRPr lang="en-US" dirty="0"/>
          </a:p>
          <a:p>
            <a:r>
              <a:rPr lang="en-US" dirty="0"/>
              <a:t>"We gathered requirements."</a:t>
            </a:r>
          </a:p>
          <a:p>
            <a:endParaRPr lang="en-US" dirty="0"/>
          </a:p>
          <a:p>
            <a:r>
              <a:rPr lang="en-US" dirty="0"/>
              <a:t>"We understood our users."</a:t>
            </a:r>
          </a:p>
          <a:p>
            <a:endParaRPr lang="en-US" dirty="0"/>
          </a:p>
          <a:p>
            <a:r>
              <a:rPr lang="en-US" dirty="0"/>
              <a:t>"We designed their experience."</a:t>
            </a:r>
          </a:p>
          <a:p>
            <a:endParaRPr lang="en-US" dirty="0"/>
          </a:p>
          <a:p>
            <a:r>
              <a:rPr lang="en-US" dirty="0"/>
              <a:t>"And now..."</a:t>
            </a:r>
          </a:p>
          <a:p>
            <a:endParaRPr lang="en-US" dirty="0"/>
          </a:p>
          <a:p>
            <a:r>
              <a:rPr lang="en-US" dirty="0"/>
              <a:t>"We're ready to deliver our design."</a:t>
            </a:r>
          </a:p>
          <a:p>
            <a:endParaRPr lang="en-US" dirty="0"/>
          </a:p>
          <a:p>
            <a:r>
              <a:rPr lang="en-US" dirty="0"/>
              <a:t>Pause.</a:t>
            </a:r>
          </a:p>
          <a:p>
            <a:endParaRPr lang="en-US" dirty="0"/>
          </a:p>
          <a:p>
            <a:r>
              <a:rPr lang="en-US" dirty="0"/>
              <a:t>"Welcome to ENG-002."</a:t>
            </a:r>
          </a:p>
          <a:p>
            <a:endParaRPr lang="en-US" dirty="0"/>
          </a:p>
          <a:p>
            <a:r>
              <a:rPr lang="en-US" dirty="0"/>
              <a:t>------------------------------------------------------------</a:t>
            </a:r>
          </a:p>
          <a:p>
            <a:endParaRPr lang="en-US" dirty="0"/>
          </a:p>
          <a:p>
            <a:r>
              <a:rPr lang="en-US" dirty="0"/>
              <a:t>WHAT IS ENG-002?</a:t>
            </a:r>
          </a:p>
          <a:p>
            <a:endParaRPr lang="en-US" dirty="0"/>
          </a:p>
          <a:p>
            <a:r>
              <a:rPr lang="en-US" dirty="0"/>
              <a:t>Read the definition.</a:t>
            </a:r>
          </a:p>
          <a:p>
            <a:endParaRPr lang="en-US" dirty="0"/>
          </a:p>
          <a:p>
            <a:r>
              <a:rPr lang="en-US" dirty="0"/>
              <a:t>"ENG-002 is the complete software design package for Atlas </a:t>
            </a:r>
            <a:r>
              <a:rPr lang="en-US" dirty="0" err="1"/>
              <a:t>TaskFlow</a:t>
            </a:r>
            <a:r>
              <a:rPr lang="en-US" dirty="0"/>
              <a:t>."</a:t>
            </a:r>
          </a:p>
          <a:p>
            <a:endParaRPr lang="en-US" dirty="0"/>
          </a:p>
          <a:p>
            <a:r>
              <a:rPr lang="en-US" dirty="0"/>
              <a:t>Explain:</a:t>
            </a:r>
          </a:p>
          <a:p>
            <a:endParaRPr lang="en-US" dirty="0"/>
          </a:p>
          <a:p>
            <a:r>
              <a:rPr lang="en-US" dirty="0"/>
              <a:t>"This is more than an assignment."</a:t>
            </a:r>
          </a:p>
          <a:p>
            <a:endParaRPr lang="en-US" dirty="0"/>
          </a:p>
          <a:p>
            <a:r>
              <a:rPr lang="en-US" dirty="0"/>
              <a:t>"It's a professional engineering document."</a:t>
            </a:r>
          </a:p>
          <a:p>
            <a:endParaRPr lang="en-US" dirty="0"/>
          </a:p>
          <a:p>
            <a:r>
              <a:rPr lang="en-US" dirty="0"/>
              <a:t>"If another development team received this package..."</a:t>
            </a:r>
          </a:p>
          <a:p>
            <a:endParaRPr lang="en-US" dirty="0"/>
          </a:p>
          <a:p>
            <a:r>
              <a:rPr lang="en-US" dirty="0"/>
              <a:t>"They should understand exactly what they're expected to build."</a:t>
            </a:r>
          </a:p>
          <a:p>
            <a:endParaRPr lang="en-US" dirty="0"/>
          </a:p>
          <a:p>
            <a:r>
              <a:rPr lang="en-US" dirty="0"/>
              <a:t>------------------------------------------------------------</a:t>
            </a:r>
          </a:p>
          <a:p>
            <a:endParaRPr lang="en-US" dirty="0"/>
          </a:p>
          <a:p>
            <a:r>
              <a:rPr lang="en-US" dirty="0"/>
              <a:t>THE DESIGN PACKAGE</a:t>
            </a:r>
          </a:p>
          <a:p>
            <a:endParaRPr lang="en-US" dirty="0"/>
          </a:p>
          <a:p>
            <a:r>
              <a:rPr lang="en-US" dirty="0"/>
              <a:t>Walk through each section.</a:t>
            </a:r>
          </a:p>
          <a:p>
            <a:endParaRPr lang="en-US" dirty="0"/>
          </a:p>
          <a:p>
            <a:r>
              <a:rPr lang="en-US" dirty="0"/>
              <a:t>------------------------------------------------------------</a:t>
            </a:r>
          </a:p>
          <a:p>
            <a:endParaRPr lang="en-US" dirty="0"/>
          </a:p>
          <a:p>
            <a:r>
              <a:rPr lang="en-US" dirty="0"/>
              <a:t>1. REQUIREMENTS</a:t>
            </a:r>
          </a:p>
          <a:p>
            <a:endParaRPr lang="en-US" dirty="0"/>
          </a:p>
          <a:p>
            <a:r>
              <a:rPr lang="en-US" dirty="0"/>
              <a:t>Review the purpose.</a:t>
            </a:r>
          </a:p>
          <a:p>
            <a:endParaRPr lang="en-US" dirty="0"/>
          </a:p>
          <a:p>
            <a:r>
              <a:rPr lang="en-US" dirty="0"/>
              <a:t>Functional Requirements</a:t>
            </a:r>
          </a:p>
          <a:p>
            <a:endParaRPr lang="en-US" dirty="0"/>
          </a:p>
          <a:p>
            <a:r>
              <a:rPr lang="en-US" dirty="0"/>
              <a:t>Non-Functional Requirements</a:t>
            </a:r>
          </a:p>
          <a:p>
            <a:endParaRPr lang="en-US" dirty="0"/>
          </a:p>
          <a:p>
            <a:r>
              <a:rPr lang="en-US" dirty="0"/>
              <a:t>Business Rules</a:t>
            </a:r>
          </a:p>
          <a:p>
            <a:endParaRPr lang="en-US" dirty="0"/>
          </a:p>
          <a:p>
            <a:r>
              <a:rPr lang="en-US" dirty="0"/>
              <a:t>Stakeholder Needs</a:t>
            </a:r>
          </a:p>
          <a:p>
            <a:endParaRPr lang="en-US" dirty="0"/>
          </a:p>
          <a:p>
            <a:r>
              <a:rPr lang="en-US" dirty="0"/>
              <a:t>Explain:</a:t>
            </a:r>
          </a:p>
          <a:p>
            <a:endParaRPr lang="en-US" dirty="0"/>
          </a:p>
          <a:p>
            <a:r>
              <a:rPr lang="en-US" dirty="0"/>
              <a:t>"This tells developers WHAT the software must do."</a:t>
            </a:r>
          </a:p>
          <a:p>
            <a:endParaRPr lang="en-US" dirty="0"/>
          </a:p>
          <a:p>
            <a:r>
              <a:rPr lang="en-US" dirty="0"/>
              <a:t>------------------------------------------------------------</a:t>
            </a:r>
          </a:p>
          <a:p>
            <a:endParaRPr lang="en-US" dirty="0"/>
          </a:p>
          <a:p>
            <a:r>
              <a:rPr lang="en-US" dirty="0"/>
              <a:t>2. USER STORIES</a:t>
            </a:r>
          </a:p>
          <a:p>
            <a:endParaRPr lang="en-US" dirty="0"/>
          </a:p>
          <a:p>
            <a:r>
              <a:rPr lang="en-US" dirty="0"/>
              <a:t>Discuss.</a:t>
            </a:r>
          </a:p>
          <a:p>
            <a:endParaRPr lang="en-US" dirty="0"/>
          </a:p>
          <a:p>
            <a:r>
              <a:rPr lang="en-US" dirty="0"/>
              <a:t>Every requirement becomes User Stories.</a:t>
            </a:r>
          </a:p>
          <a:p>
            <a:endParaRPr lang="en-US" dirty="0"/>
          </a:p>
          <a:p>
            <a:r>
              <a:rPr lang="en-US" dirty="0"/>
              <a:t>Each story describes:</a:t>
            </a:r>
          </a:p>
          <a:p>
            <a:endParaRPr lang="en-US" dirty="0"/>
          </a:p>
          <a:p>
            <a:r>
              <a:rPr lang="en-US" dirty="0"/>
              <a:t>Who</a:t>
            </a:r>
          </a:p>
          <a:p>
            <a:endParaRPr lang="en-US" dirty="0"/>
          </a:p>
          <a:p>
            <a:r>
              <a:rPr lang="en-US" dirty="0"/>
              <a:t>What</a:t>
            </a:r>
          </a:p>
          <a:p>
            <a:endParaRPr lang="en-US" dirty="0"/>
          </a:p>
          <a:p>
            <a:r>
              <a:rPr lang="en-US" dirty="0"/>
              <a:t>Why</a:t>
            </a:r>
          </a:p>
          <a:p>
            <a:endParaRPr lang="en-US" dirty="0"/>
          </a:p>
          <a:p>
            <a:r>
              <a:rPr lang="en-US" dirty="0"/>
              <a:t>Explain:</a:t>
            </a:r>
          </a:p>
          <a:p>
            <a:endParaRPr lang="en-US" dirty="0"/>
          </a:p>
          <a:p>
            <a:r>
              <a:rPr lang="en-US" dirty="0"/>
              <a:t>"This section keeps development focused on delivering user value."</a:t>
            </a:r>
          </a:p>
          <a:p>
            <a:endParaRPr lang="en-US" dirty="0"/>
          </a:p>
          <a:p>
            <a:r>
              <a:rPr lang="en-US" dirty="0"/>
              <a:t>------------------------------------------------------------</a:t>
            </a:r>
          </a:p>
          <a:p>
            <a:endParaRPr lang="en-US" dirty="0"/>
          </a:p>
          <a:p>
            <a:r>
              <a:rPr lang="en-US" dirty="0"/>
              <a:t>3. PERSONAS &amp; USER JOURNEYS</a:t>
            </a:r>
          </a:p>
          <a:p>
            <a:endParaRPr lang="en-US" dirty="0"/>
          </a:p>
          <a:p>
            <a:r>
              <a:rPr lang="en-US" dirty="0"/>
              <a:t>Explain:</a:t>
            </a:r>
          </a:p>
          <a:p>
            <a:endParaRPr lang="en-US" dirty="0"/>
          </a:p>
          <a:p>
            <a:r>
              <a:rPr lang="en-US" dirty="0"/>
              <a:t>"This reminds developers who they're building for."</a:t>
            </a:r>
          </a:p>
          <a:p>
            <a:endParaRPr lang="en-US" dirty="0"/>
          </a:p>
          <a:p>
            <a:r>
              <a:rPr lang="en-US" dirty="0"/>
              <a:t>Discuss Olivia.</a:t>
            </a:r>
          </a:p>
          <a:p>
            <a:endParaRPr lang="en-US" dirty="0"/>
          </a:p>
          <a:p>
            <a:r>
              <a:rPr lang="en-US" dirty="0"/>
              <a:t>Ethan.</a:t>
            </a:r>
          </a:p>
          <a:p>
            <a:endParaRPr lang="en-US" dirty="0"/>
          </a:p>
          <a:p>
            <a:r>
              <a:rPr lang="en-US" dirty="0"/>
              <a:t>Maya.</a:t>
            </a:r>
          </a:p>
          <a:p>
            <a:endParaRPr lang="en-US" dirty="0"/>
          </a:p>
          <a:p>
            <a:r>
              <a:rPr lang="en-US" dirty="0"/>
              <a:t>Daniel.</a:t>
            </a:r>
          </a:p>
          <a:p>
            <a:endParaRPr lang="en-US" dirty="0"/>
          </a:p>
          <a:p>
            <a:r>
              <a:rPr lang="en-US" dirty="0"/>
              <a:t>Walk through how Personas influence design decisions.</a:t>
            </a:r>
          </a:p>
          <a:p>
            <a:endParaRPr lang="en-US" dirty="0"/>
          </a:p>
          <a:p>
            <a:r>
              <a:rPr lang="en-US" dirty="0"/>
              <a:t>------------------------------------------------------------</a:t>
            </a:r>
          </a:p>
          <a:p>
            <a:endParaRPr lang="en-US" dirty="0"/>
          </a:p>
          <a:p>
            <a:r>
              <a:rPr lang="en-US" dirty="0"/>
              <a:t>4. WIREFRAMES &amp; UX</a:t>
            </a:r>
          </a:p>
          <a:p>
            <a:endParaRPr lang="en-US" dirty="0"/>
          </a:p>
          <a:p>
            <a:r>
              <a:rPr lang="en-US" dirty="0"/>
              <a:t>Review.</a:t>
            </a:r>
          </a:p>
          <a:p>
            <a:endParaRPr lang="en-US" dirty="0"/>
          </a:p>
          <a:p>
            <a:r>
              <a:rPr lang="en-US" dirty="0"/>
              <a:t>Dashboard</a:t>
            </a:r>
          </a:p>
          <a:p>
            <a:endParaRPr lang="en-US" dirty="0"/>
          </a:p>
          <a:p>
            <a:r>
              <a:rPr lang="en-US" dirty="0"/>
              <a:t>Task List</a:t>
            </a:r>
          </a:p>
          <a:p>
            <a:endParaRPr lang="en-US" dirty="0"/>
          </a:p>
          <a:p>
            <a:r>
              <a:rPr lang="en-US" dirty="0"/>
              <a:t>Create Task</a:t>
            </a:r>
          </a:p>
          <a:p>
            <a:endParaRPr lang="en-US" dirty="0"/>
          </a:p>
          <a:p>
            <a:r>
              <a:rPr lang="en-US" dirty="0"/>
              <a:t>Task Detail</a:t>
            </a:r>
          </a:p>
          <a:p>
            <a:endParaRPr lang="en-US" dirty="0"/>
          </a:p>
          <a:p>
            <a:r>
              <a:rPr lang="en-US" dirty="0"/>
              <a:t>Team View</a:t>
            </a:r>
          </a:p>
          <a:p>
            <a:endParaRPr lang="en-US" dirty="0"/>
          </a:p>
          <a:p>
            <a:r>
              <a:rPr lang="en-US" dirty="0"/>
              <a:t>Explain:</a:t>
            </a:r>
          </a:p>
          <a:p>
            <a:endParaRPr lang="en-US" dirty="0"/>
          </a:p>
          <a:p>
            <a:r>
              <a:rPr lang="en-US" dirty="0"/>
              <a:t>"These sketches communicate workflow before a single line of code is</a:t>
            </a:r>
          </a:p>
          <a:p>
            <a:r>
              <a:rPr lang="en-US" dirty="0"/>
              <a:t>written."</a:t>
            </a:r>
          </a:p>
          <a:p>
            <a:endParaRPr lang="en-US" dirty="0"/>
          </a:p>
          <a:p>
            <a:r>
              <a:rPr lang="en-US" dirty="0"/>
              <a:t>------------------------------------------------------------</a:t>
            </a:r>
          </a:p>
          <a:p>
            <a:endParaRPr lang="en-US" dirty="0"/>
          </a:p>
          <a:p>
            <a:r>
              <a:rPr lang="en-US" dirty="0"/>
              <a:t>5. INFORMATION ARCHITECTURE</a:t>
            </a:r>
          </a:p>
          <a:p>
            <a:endParaRPr lang="en-US" dirty="0"/>
          </a:p>
          <a:p>
            <a:r>
              <a:rPr lang="en-US" dirty="0"/>
              <a:t>Review the sitemap.</a:t>
            </a:r>
          </a:p>
          <a:p>
            <a:endParaRPr lang="en-US" dirty="0"/>
          </a:p>
          <a:p>
            <a:r>
              <a:rPr lang="en-US" dirty="0"/>
              <a:t>Navigation</a:t>
            </a:r>
          </a:p>
          <a:p>
            <a:endParaRPr lang="en-US" dirty="0"/>
          </a:p>
          <a:p>
            <a:r>
              <a:rPr lang="en-US" dirty="0"/>
              <a:t>Organization</a:t>
            </a:r>
          </a:p>
          <a:p>
            <a:endParaRPr lang="en-US" dirty="0"/>
          </a:p>
          <a:p>
            <a:r>
              <a:rPr lang="en-US" dirty="0"/>
              <a:t>Relationships</a:t>
            </a:r>
          </a:p>
          <a:p>
            <a:endParaRPr lang="en-US" dirty="0"/>
          </a:p>
          <a:p>
            <a:r>
              <a:rPr lang="en-US" dirty="0"/>
              <a:t>Discuss why structure matters.</a:t>
            </a:r>
          </a:p>
          <a:p>
            <a:endParaRPr lang="en-US" dirty="0"/>
          </a:p>
          <a:p>
            <a:r>
              <a:rPr lang="en-US" dirty="0"/>
              <a:t>------------------------------------------------------------</a:t>
            </a:r>
          </a:p>
          <a:p>
            <a:endParaRPr lang="en-US" dirty="0"/>
          </a:p>
          <a:p>
            <a:r>
              <a:rPr lang="en-US" dirty="0"/>
              <a:t>6. PRODUCT BACKLOG &amp; MVP</a:t>
            </a:r>
          </a:p>
          <a:p>
            <a:endParaRPr lang="en-US" dirty="0"/>
          </a:p>
          <a:p>
            <a:r>
              <a:rPr lang="en-US" dirty="0"/>
              <a:t>Explain.</a:t>
            </a:r>
          </a:p>
          <a:p>
            <a:endParaRPr lang="en-US" dirty="0"/>
          </a:p>
          <a:p>
            <a:r>
              <a:rPr lang="en-US" dirty="0"/>
              <a:t>"This section defines what gets built first."</a:t>
            </a:r>
          </a:p>
          <a:p>
            <a:endParaRPr lang="en-US" dirty="0"/>
          </a:p>
          <a:p>
            <a:r>
              <a:rPr lang="en-US" dirty="0"/>
              <a:t>Discuss prioritization.</a:t>
            </a:r>
          </a:p>
          <a:p>
            <a:endParaRPr lang="en-US" dirty="0"/>
          </a:p>
          <a:p>
            <a:r>
              <a:rPr lang="en-US" dirty="0"/>
              <a:t>Business Value.</a:t>
            </a:r>
          </a:p>
          <a:p>
            <a:endParaRPr lang="en-US" dirty="0"/>
          </a:p>
          <a:p>
            <a:r>
              <a:rPr lang="en-US" dirty="0"/>
              <a:t>Dependencies.</a:t>
            </a:r>
          </a:p>
          <a:p>
            <a:endParaRPr lang="en-US" dirty="0"/>
          </a:p>
          <a:p>
            <a:r>
              <a:rPr lang="en-US" dirty="0"/>
              <a:t>MVP.</a:t>
            </a:r>
          </a:p>
          <a:p>
            <a:endParaRPr lang="en-US" dirty="0"/>
          </a:p>
          <a:p>
            <a:r>
              <a:rPr lang="en-US" dirty="0"/>
              <a:t>------------------------------------------------------------</a:t>
            </a:r>
          </a:p>
          <a:p>
            <a:endParaRPr lang="en-US" dirty="0"/>
          </a:p>
          <a:p>
            <a:r>
              <a:rPr lang="en-US" dirty="0"/>
              <a:t>7. ASSUMPTIONS &amp; CONSTRAINTS</a:t>
            </a:r>
          </a:p>
          <a:p>
            <a:endParaRPr lang="en-US" dirty="0"/>
          </a:p>
          <a:p>
            <a:r>
              <a:rPr lang="en-US" dirty="0"/>
              <a:t>Explain:</a:t>
            </a:r>
          </a:p>
          <a:p>
            <a:endParaRPr lang="en-US" dirty="0"/>
          </a:p>
          <a:p>
            <a:r>
              <a:rPr lang="en-US" dirty="0"/>
              <a:t>"No project is perfect."</a:t>
            </a:r>
          </a:p>
          <a:p>
            <a:endParaRPr lang="en-US" dirty="0"/>
          </a:p>
          <a:p>
            <a:r>
              <a:rPr lang="en-US" dirty="0"/>
              <a:t>"Every engineering team makes assumptions."</a:t>
            </a:r>
          </a:p>
          <a:p>
            <a:endParaRPr lang="en-US" dirty="0"/>
          </a:p>
          <a:p>
            <a:r>
              <a:rPr lang="en-US" dirty="0"/>
              <a:t>Discuss examples.</a:t>
            </a:r>
          </a:p>
          <a:p>
            <a:endParaRPr lang="en-US" dirty="0"/>
          </a:p>
          <a:p>
            <a:r>
              <a:rPr lang="en-US" dirty="0"/>
              <a:t>Budget.</a:t>
            </a:r>
          </a:p>
          <a:p>
            <a:endParaRPr lang="en-US" dirty="0"/>
          </a:p>
          <a:p>
            <a:r>
              <a:rPr lang="en-US" dirty="0"/>
              <a:t>Timeline.</a:t>
            </a:r>
          </a:p>
          <a:p>
            <a:endParaRPr lang="en-US" dirty="0"/>
          </a:p>
          <a:p>
            <a:r>
              <a:rPr lang="en-US" dirty="0"/>
              <a:t>Technology.</a:t>
            </a:r>
          </a:p>
          <a:p>
            <a:endParaRPr lang="en-US" dirty="0"/>
          </a:p>
          <a:p>
            <a:r>
              <a:rPr lang="en-US" dirty="0"/>
              <a:t>Resources.</a:t>
            </a:r>
          </a:p>
          <a:p>
            <a:endParaRPr lang="en-US" dirty="0"/>
          </a:p>
          <a:p>
            <a:r>
              <a:rPr lang="en-US" dirty="0"/>
              <a:t>Known risks.</a:t>
            </a:r>
          </a:p>
          <a:p>
            <a:endParaRPr lang="en-US" dirty="0"/>
          </a:p>
          <a:p>
            <a:r>
              <a:rPr lang="en-US" dirty="0"/>
              <a:t>------------------------------------------------------------</a:t>
            </a:r>
          </a:p>
          <a:p>
            <a:endParaRPr lang="en-US" dirty="0"/>
          </a:p>
          <a:p>
            <a:r>
              <a:rPr lang="en-US" dirty="0"/>
              <a:t>8. GLOSSARY &amp; DEFINITIONS</a:t>
            </a:r>
          </a:p>
          <a:p>
            <a:endParaRPr lang="en-US" dirty="0"/>
          </a:p>
          <a:p>
            <a:r>
              <a:rPr lang="en-US" dirty="0"/>
              <a:t>Explain why documentation matters.</a:t>
            </a:r>
          </a:p>
          <a:p>
            <a:endParaRPr lang="en-US" dirty="0"/>
          </a:p>
          <a:p>
            <a:r>
              <a:rPr lang="en-US" dirty="0"/>
              <a:t>Developers should interpret terminology consistently.</a:t>
            </a:r>
          </a:p>
          <a:p>
            <a:endParaRPr lang="en-US" dirty="0"/>
          </a:p>
          <a:p>
            <a:r>
              <a:rPr lang="en-US" dirty="0"/>
              <a:t>Examples:</a:t>
            </a:r>
          </a:p>
          <a:p>
            <a:endParaRPr lang="en-US" dirty="0"/>
          </a:p>
          <a:p>
            <a:r>
              <a:rPr lang="en-US" dirty="0"/>
              <a:t>Task</a:t>
            </a:r>
          </a:p>
          <a:p>
            <a:endParaRPr lang="en-US" dirty="0"/>
          </a:p>
          <a:p>
            <a:r>
              <a:rPr lang="en-US" dirty="0"/>
              <a:t>Project</a:t>
            </a:r>
          </a:p>
          <a:p>
            <a:endParaRPr lang="en-US" dirty="0"/>
          </a:p>
          <a:p>
            <a:r>
              <a:rPr lang="en-US" dirty="0"/>
              <a:t>Sprint</a:t>
            </a:r>
          </a:p>
          <a:p>
            <a:endParaRPr lang="en-US" dirty="0"/>
          </a:p>
          <a:p>
            <a:r>
              <a:rPr lang="en-US" dirty="0"/>
              <a:t>Backlog</a:t>
            </a:r>
          </a:p>
          <a:p>
            <a:endParaRPr lang="en-US" dirty="0"/>
          </a:p>
          <a:p>
            <a:r>
              <a:rPr lang="en-US" dirty="0"/>
              <a:t>Priority</a:t>
            </a:r>
          </a:p>
          <a:p>
            <a:endParaRPr lang="en-US" dirty="0"/>
          </a:p>
          <a:p>
            <a:r>
              <a:rPr lang="en-US" dirty="0"/>
              <a:t>Persona</a:t>
            </a:r>
          </a:p>
          <a:p>
            <a:endParaRPr lang="en-US" dirty="0"/>
          </a:p>
          <a:p>
            <a:r>
              <a:rPr lang="en-US" dirty="0"/>
              <a:t>MVP</a:t>
            </a:r>
          </a:p>
          <a:p>
            <a:endParaRPr lang="en-US" dirty="0"/>
          </a:p>
          <a:p>
            <a:r>
              <a:rPr lang="en-US" dirty="0"/>
              <a:t>------------------------------------------------------------</a:t>
            </a:r>
          </a:p>
          <a:p>
            <a:endParaRPr lang="en-US" dirty="0"/>
          </a:p>
          <a:p>
            <a:r>
              <a:rPr lang="en-US" dirty="0"/>
              <a:t>9. REVISION HISTORY</a:t>
            </a:r>
          </a:p>
          <a:p>
            <a:endParaRPr lang="en-US" dirty="0"/>
          </a:p>
          <a:p>
            <a:r>
              <a:rPr lang="en-US" dirty="0"/>
              <a:t>Explain:</a:t>
            </a:r>
          </a:p>
          <a:p>
            <a:endParaRPr lang="en-US" dirty="0"/>
          </a:p>
          <a:p>
            <a:r>
              <a:rPr lang="en-US" dirty="0"/>
              <a:t>"Professional documentation evolves."</a:t>
            </a:r>
          </a:p>
          <a:p>
            <a:endParaRPr lang="en-US" dirty="0"/>
          </a:p>
          <a:p>
            <a:r>
              <a:rPr lang="en-US" dirty="0"/>
              <a:t>Every major change should be recorded.</a:t>
            </a:r>
          </a:p>
          <a:p>
            <a:endParaRPr lang="en-US" dirty="0"/>
          </a:p>
          <a:p>
            <a:r>
              <a:rPr lang="en-US" dirty="0"/>
              <a:t>Date.</a:t>
            </a:r>
          </a:p>
          <a:p>
            <a:endParaRPr lang="en-US" dirty="0"/>
          </a:p>
          <a:p>
            <a:r>
              <a:rPr lang="en-US" dirty="0"/>
              <a:t>Version.</a:t>
            </a:r>
          </a:p>
          <a:p>
            <a:endParaRPr lang="en-US" dirty="0"/>
          </a:p>
          <a:p>
            <a:r>
              <a:rPr lang="en-US" dirty="0"/>
              <a:t>Author.</a:t>
            </a:r>
          </a:p>
          <a:p>
            <a:endParaRPr lang="en-US" dirty="0"/>
          </a:p>
          <a:p>
            <a:r>
              <a:rPr lang="en-US" dirty="0"/>
              <a:t>Description.</a:t>
            </a:r>
          </a:p>
          <a:p>
            <a:endParaRPr lang="en-US" dirty="0"/>
          </a:p>
          <a:p>
            <a:r>
              <a:rPr lang="en-US" dirty="0"/>
              <a:t>Discuss why version control matters.</a:t>
            </a:r>
          </a:p>
          <a:p>
            <a:endParaRPr lang="en-US" dirty="0"/>
          </a:p>
          <a:p>
            <a:r>
              <a:rPr lang="en-US" dirty="0"/>
              <a:t>------------------------------------------------------------</a:t>
            </a:r>
          </a:p>
          <a:p>
            <a:endParaRPr lang="en-US" dirty="0"/>
          </a:p>
          <a:p>
            <a:r>
              <a:rPr lang="en-US" dirty="0"/>
              <a:t>DESIGN PACKAGE SUMMARY</a:t>
            </a:r>
          </a:p>
          <a:p>
            <a:endParaRPr lang="en-US" dirty="0"/>
          </a:p>
          <a:p>
            <a:r>
              <a:rPr lang="en-US" dirty="0"/>
              <a:t>Review the three goals.</a:t>
            </a:r>
          </a:p>
          <a:p>
            <a:endParaRPr lang="en-US" dirty="0"/>
          </a:p>
          <a:p>
            <a:r>
              <a:rPr lang="en-US" dirty="0"/>
              <a:t>Aligned on Goals</a:t>
            </a:r>
          </a:p>
          <a:p>
            <a:endParaRPr lang="en-US" dirty="0"/>
          </a:p>
          <a:p>
            <a:r>
              <a:rPr lang="en-US" dirty="0"/>
              <a:t>Everyone understands the problem.</a:t>
            </a:r>
          </a:p>
          <a:p>
            <a:endParaRPr lang="en-US" dirty="0"/>
          </a:p>
          <a:p>
            <a:r>
              <a:rPr lang="en-US" dirty="0"/>
              <a:t>Focused on Users</a:t>
            </a:r>
          </a:p>
          <a:p>
            <a:endParaRPr lang="en-US" dirty="0"/>
          </a:p>
          <a:p>
            <a:r>
              <a:rPr lang="en-US" dirty="0"/>
              <a:t>Every decision supports user needs.</a:t>
            </a:r>
          </a:p>
          <a:p>
            <a:endParaRPr lang="en-US" dirty="0"/>
          </a:p>
          <a:p>
            <a:r>
              <a:rPr lang="en-US" dirty="0"/>
              <a:t>Ready for Development</a:t>
            </a:r>
          </a:p>
          <a:p>
            <a:endParaRPr lang="en-US" dirty="0"/>
          </a:p>
          <a:p>
            <a:r>
              <a:rPr lang="en-US" dirty="0"/>
              <a:t>The engineering team has everything required to begin building.</a:t>
            </a:r>
          </a:p>
          <a:p>
            <a:endParaRPr lang="en-US" dirty="0"/>
          </a:p>
          <a:p>
            <a:r>
              <a:rPr lang="en-US" dirty="0"/>
              <a:t>------------------------------------------------------------</a:t>
            </a:r>
          </a:p>
          <a:p>
            <a:endParaRPr lang="en-US" dirty="0"/>
          </a:p>
          <a:p>
            <a:r>
              <a:rPr lang="en-US" dirty="0"/>
              <a:t>CLIENT APPROVAL</a:t>
            </a:r>
          </a:p>
          <a:p>
            <a:endParaRPr lang="en-US" dirty="0"/>
          </a:p>
          <a:p>
            <a:r>
              <a:rPr lang="en-US" dirty="0"/>
              <a:t>Point to the approval section.</a:t>
            </a:r>
          </a:p>
          <a:p>
            <a:endParaRPr lang="en-US" dirty="0"/>
          </a:p>
          <a:p>
            <a:r>
              <a:rPr lang="en-US" dirty="0"/>
              <a:t>Explain:</a:t>
            </a:r>
          </a:p>
          <a:p>
            <a:endParaRPr lang="en-US" dirty="0"/>
          </a:p>
          <a:p>
            <a:r>
              <a:rPr lang="en-US" dirty="0"/>
              <a:t>"This represents the client accepting our proposed design."</a:t>
            </a:r>
          </a:p>
          <a:p>
            <a:endParaRPr lang="en-US" dirty="0"/>
          </a:p>
          <a:p>
            <a:r>
              <a:rPr lang="en-US" dirty="0"/>
              <a:t>Discuss what client approval means.</a:t>
            </a:r>
          </a:p>
          <a:p>
            <a:endParaRPr lang="en-US" dirty="0"/>
          </a:p>
          <a:p>
            <a:r>
              <a:rPr lang="en-US" dirty="0"/>
              <a:t>Not perfection.</a:t>
            </a:r>
          </a:p>
          <a:p>
            <a:endParaRPr lang="en-US" dirty="0"/>
          </a:p>
          <a:p>
            <a:r>
              <a:rPr lang="en-US" dirty="0"/>
              <a:t>Agreement.</a:t>
            </a:r>
          </a:p>
          <a:p>
            <a:endParaRPr lang="en-US" dirty="0"/>
          </a:p>
          <a:p>
            <a:r>
              <a:rPr lang="en-US" dirty="0"/>
              <a:t>Shared expectations.</a:t>
            </a:r>
          </a:p>
          <a:p>
            <a:endParaRPr lang="en-US" dirty="0"/>
          </a:p>
          <a:p>
            <a:r>
              <a:rPr lang="en-US" dirty="0"/>
              <a:t>A clear path forward.</a:t>
            </a:r>
          </a:p>
          <a:p>
            <a:endParaRPr lang="en-US" dirty="0"/>
          </a:p>
          <a:p>
            <a:r>
              <a:rPr lang="en-US" dirty="0"/>
              <a:t>------------------------------------------------------------</a:t>
            </a:r>
          </a:p>
          <a:p>
            <a:endParaRPr lang="en-US" dirty="0"/>
          </a:p>
          <a:p>
            <a:r>
              <a:rPr lang="en-US" dirty="0"/>
              <a:t>ARTIFACTS AT A GLANCE</a:t>
            </a:r>
          </a:p>
          <a:p>
            <a:endParaRPr lang="en-US" dirty="0"/>
          </a:p>
          <a:p>
            <a:r>
              <a:rPr lang="en-US" dirty="0"/>
              <a:t>Review the collection.</a:t>
            </a:r>
          </a:p>
          <a:p>
            <a:endParaRPr lang="en-US" dirty="0"/>
          </a:p>
          <a:p>
            <a:r>
              <a:rPr lang="en-US" dirty="0"/>
              <a:t>Requirements</a:t>
            </a:r>
          </a:p>
          <a:p>
            <a:endParaRPr lang="en-US" dirty="0"/>
          </a:p>
          <a:p>
            <a:r>
              <a:rPr lang="en-US" dirty="0"/>
              <a:t>User Stories</a:t>
            </a:r>
          </a:p>
          <a:p>
            <a:endParaRPr lang="en-US" dirty="0"/>
          </a:p>
          <a:p>
            <a:r>
              <a:rPr lang="en-US" dirty="0"/>
              <a:t>Personas</a:t>
            </a:r>
          </a:p>
          <a:p>
            <a:endParaRPr lang="en-US" dirty="0"/>
          </a:p>
          <a:p>
            <a:r>
              <a:rPr lang="en-US" dirty="0"/>
              <a:t>Wireframes</a:t>
            </a:r>
          </a:p>
          <a:p>
            <a:endParaRPr lang="en-US" dirty="0"/>
          </a:p>
          <a:p>
            <a:r>
              <a:rPr lang="en-US" dirty="0"/>
              <a:t>Information Architecture</a:t>
            </a:r>
          </a:p>
          <a:p>
            <a:endParaRPr lang="en-US" dirty="0"/>
          </a:p>
          <a:p>
            <a:r>
              <a:rPr lang="en-US" dirty="0"/>
              <a:t>Product Backlog</a:t>
            </a:r>
          </a:p>
          <a:p>
            <a:endParaRPr lang="en-US" dirty="0"/>
          </a:p>
          <a:p>
            <a:r>
              <a:rPr lang="en-US" dirty="0"/>
              <a:t>Explain:</a:t>
            </a:r>
          </a:p>
          <a:p>
            <a:endParaRPr lang="en-US" dirty="0"/>
          </a:p>
          <a:p>
            <a:r>
              <a:rPr lang="en-US" dirty="0"/>
              <a:t>"Notice how every artifact supports the next."</a:t>
            </a:r>
          </a:p>
          <a:p>
            <a:endParaRPr lang="en-US" dirty="0"/>
          </a:p>
          <a:p>
            <a:r>
              <a:rPr lang="en-US" dirty="0"/>
              <a:t>"This is one engineering package."</a:t>
            </a:r>
          </a:p>
          <a:p>
            <a:endParaRPr lang="en-US" dirty="0"/>
          </a:p>
          <a:p>
            <a:r>
              <a:rPr lang="en-US" dirty="0"/>
              <a:t>------------------------------------------------------------</a:t>
            </a:r>
          </a:p>
          <a:p>
            <a:endParaRPr lang="en-US" dirty="0"/>
          </a:p>
          <a:p>
            <a:r>
              <a:rPr lang="en-US" dirty="0"/>
              <a:t>PACKAGE CONTENTS CHECKLIST</a:t>
            </a:r>
          </a:p>
          <a:p>
            <a:endParaRPr lang="en-US" dirty="0"/>
          </a:p>
          <a:p>
            <a:r>
              <a:rPr lang="en-US" dirty="0"/>
              <a:t>Walk through the checklist.</a:t>
            </a:r>
          </a:p>
          <a:p>
            <a:endParaRPr lang="en-US" dirty="0"/>
          </a:p>
          <a:p>
            <a:r>
              <a:rPr lang="en-US" dirty="0"/>
              <a:t>Ask students:</a:t>
            </a:r>
          </a:p>
          <a:p>
            <a:endParaRPr lang="en-US" dirty="0"/>
          </a:p>
          <a:p>
            <a:r>
              <a:rPr lang="en-US" dirty="0"/>
              <a:t>"Could another engineer understand our project using only this</a:t>
            </a:r>
          </a:p>
          <a:p>
            <a:r>
              <a:rPr lang="en-US" dirty="0"/>
              <a:t>document?"</a:t>
            </a:r>
          </a:p>
          <a:p>
            <a:endParaRPr lang="en-US" dirty="0"/>
          </a:p>
          <a:p>
            <a:r>
              <a:rPr lang="en-US" dirty="0"/>
              <a:t>If the answer is yes...</a:t>
            </a:r>
          </a:p>
          <a:p>
            <a:endParaRPr lang="en-US" dirty="0"/>
          </a:p>
          <a:p>
            <a:r>
              <a:rPr lang="en-US" dirty="0"/>
              <a:t>The package is complete.</a:t>
            </a:r>
          </a:p>
          <a:p>
            <a:endParaRPr lang="en-US" dirty="0"/>
          </a:p>
          <a:p>
            <a:r>
              <a:rPr lang="en-US" dirty="0"/>
              <a:t>------------------------------------------------------------</a:t>
            </a:r>
          </a:p>
          <a:p>
            <a:endParaRPr lang="en-US" dirty="0"/>
          </a:p>
          <a:p>
            <a:r>
              <a:rPr lang="en-US" dirty="0"/>
              <a:t>QUALITY CHECK</a:t>
            </a:r>
          </a:p>
          <a:p>
            <a:endParaRPr lang="en-US" dirty="0"/>
          </a:p>
          <a:p>
            <a:r>
              <a:rPr lang="en-US" dirty="0"/>
              <a:t>Review each item.</a:t>
            </a:r>
          </a:p>
          <a:p>
            <a:endParaRPr lang="en-US" dirty="0"/>
          </a:p>
          <a:p>
            <a:r>
              <a:rPr lang="en-US" dirty="0"/>
              <a:t>Artifacts complete.</a:t>
            </a:r>
          </a:p>
          <a:p>
            <a:endParaRPr lang="en-US" dirty="0"/>
          </a:p>
          <a:p>
            <a:r>
              <a:rPr lang="en-US" dirty="0"/>
              <a:t>Requirements traceable.</a:t>
            </a:r>
          </a:p>
          <a:p>
            <a:endParaRPr lang="en-US" dirty="0"/>
          </a:p>
          <a:p>
            <a:r>
              <a:rPr lang="en-US" dirty="0"/>
              <a:t>Dependencies identified.</a:t>
            </a:r>
          </a:p>
          <a:p>
            <a:endParaRPr lang="en-US" dirty="0"/>
          </a:p>
          <a:p>
            <a:r>
              <a:rPr lang="en-US" dirty="0"/>
              <a:t>Risks documented.</a:t>
            </a:r>
          </a:p>
          <a:p>
            <a:endParaRPr lang="en-US" dirty="0"/>
          </a:p>
          <a:p>
            <a:r>
              <a:rPr lang="en-US" dirty="0"/>
              <a:t>MVP defined.</a:t>
            </a:r>
          </a:p>
          <a:p>
            <a:endParaRPr lang="en-US" dirty="0"/>
          </a:p>
          <a:p>
            <a:r>
              <a:rPr lang="en-US" dirty="0"/>
              <a:t>Explain:</a:t>
            </a:r>
          </a:p>
          <a:p>
            <a:endParaRPr lang="en-US" dirty="0"/>
          </a:p>
          <a:p>
            <a:r>
              <a:rPr lang="en-US" dirty="0"/>
              <a:t>"Professional software teams review documentation before coding begins."</a:t>
            </a:r>
          </a:p>
          <a:p>
            <a:endParaRPr lang="en-US" dirty="0"/>
          </a:p>
          <a:p>
            <a:r>
              <a:rPr lang="en-US" dirty="0"/>
              <a:t>------------------------------------------------------------</a:t>
            </a:r>
          </a:p>
          <a:p>
            <a:endParaRPr lang="en-US" dirty="0"/>
          </a:p>
          <a:p>
            <a:r>
              <a:rPr lang="en-US" dirty="0"/>
              <a:t>ATLAS TEAM RESPONSIBILITIES</a:t>
            </a:r>
          </a:p>
          <a:p>
            <a:endParaRPr lang="en-US" dirty="0"/>
          </a:p>
          <a:p>
            <a:r>
              <a:rPr lang="en-US" dirty="0"/>
              <a:t>Discuss how different roles contributed.</a:t>
            </a:r>
          </a:p>
          <a:p>
            <a:endParaRPr lang="en-US" dirty="0"/>
          </a:p>
          <a:p>
            <a:r>
              <a:rPr lang="en-US" dirty="0"/>
              <a:t>Product Owner</a:t>
            </a:r>
          </a:p>
          <a:p>
            <a:endParaRPr lang="en-US" dirty="0"/>
          </a:p>
          <a:p>
            <a:r>
              <a:rPr lang="en-US" dirty="0"/>
              <a:t>Prioritized value.</a:t>
            </a:r>
          </a:p>
          <a:p>
            <a:endParaRPr lang="en-US" dirty="0"/>
          </a:p>
          <a:p>
            <a:r>
              <a:rPr lang="en-US" dirty="0"/>
              <a:t>UX Designer</a:t>
            </a:r>
          </a:p>
          <a:p>
            <a:endParaRPr lang="en-US" dirty="0"/>
          </a:p>
          <a:p>
            <a:r>
              <a:rPr lang="en-US" dirty="0"/>
              <a:t>Designed the experience.</a:t>
            </a:r>
          </a:p>
          <a:p>
            <a:endParaRPr lang="en-US" dirty="0"/>
          </a:p>
          <a:p>
            <a:r>
              <a:rPr lang="en-US" dirty="0"/>
              <a:t>Architect</a:t>
            </a:r>
          </a:p>
          <a:p>
            <a:endParaRPr lang="en-US" dirty="0"/>
          </a:p>
          <a:p>
            <a:r>
              <a:rPr lang="en-US" dirty="0"/>
              <a:t>Organized the system.</a:t>
            </a:r>
          </a:p>
          <a:p>
            <a:endParaRPr lang="en-US" dirty="0"/>
          </a:p>
          <a:p>
            <a:r>
              <a:rPr lang="en-US" dirty="0"/>
              <a:t>Developers</a:t>
            </a:r>
          </a:p>
          <a:p>
            <a:endParaRPr lang="en-US" dirty="0"/>
          </a:p>
          <a:p>
            <a:r>
              <a:rPr lang="en-US" dirty="0"/>
              <a:t>Prepared for implementation.</a:t>
            </a:r>
          </a:p>
          <a:p>
            <a:endParaRPr lang="en-US" dirty="0"/>
          </a:p>
          <a:p>
            <a:r>
              <a:rPr lang="en-US" dirty="0"/>
              <a:t>QA</a:t>
            </a:r>
          </a:p>
          <a:p>
            <a:endParaRPr lang="en-US" dirty="0"/>
          </a:p>
          <a:p>
            <a:r>
              <a:rPr lang="en-US" dirty="0"/>
              <a:t>Ensured completeness.</a:t>
            </a:r>
          </a:p>
          <a:p>
            <a:endParaRPr lang="en-US" dirty="0"/>
          </a:p>
          <a:p>
            <a:r>
              <a:rPr lang="en-US" dirty="0"/>
              <a:t>Explain:</a:t>
            </a:r>
          </a:p>
          <a:p>
            <a:endParaRPr lang="en-US" dirty="0"/>
          </a:p>
          <a:p>
            <a:r>
              <a:rPr lang="en-US" dirty="0"/>
              <a:t>"Software engineering is a team sport."</a:t>
            </a:r>
          </a:p>
          <a:p>
            <a:endParaRPr lang="en-US" dirty="0"/>
          </a:p>
          <a:p>
            <a:r>
              <a:rPr lang="en-US" dirty="0"/>
              <a:t>------------------------------------------------------------</a:t>
            </a:r>
          </a:p>
          <a:p>
            <a:endParaRPr lang="en-US" dirty="0"/>
          </a:p>
          <a:p>
            <a:r>
              <a:rPr lang="en-US" dirty="0"/>
              <a:t>ENGINEERING STORY</a:t>
            </a:r>
          </a:p>
          <a:p>
            <a:endParaRPr lang="en-US" dirty="0"/>
          </a:p>
          <a:p>
            <a:r>
              <a:rPr lang="en-US" dirty="0"/>
              <a:t>Share the Food Pantry project.</a:t>
            </a:r>
          </a:p>
          <a:p>
            <a:endParaRPr lang="en-US" dirty="0"/>
          </a:p>
          <a:p>
            <a:r>
              <a:rPr lang="en-US" dirty="0"/>
              <a:t>Describe how planning, documentation, and stakeholder communication</a:t>
            </a:r>
          </a:p>
          <a:p>
            <a:r>
              <a:rPr lang="en-US" dirty="0"/>
              <a:t>reduced confusion during development.</a:t>
            </a:r>
          </a:p>
          <a:p>
            <a:endParaRPr lang="en-US" dirty="0"/>
          </a:p>
          <a:p>
            <a:r>
              <a:rPr lang="en-US" dirty="0"/>
              <a:t>Explain:</a:t>
            </a:r>
          </a:p>
          <a:p>
            <a:endParaRPr lang="en-US" dirty="0"/>
          </a:p>
          <a:p>
            <a:r>
              <a:rPr lang="en-US" dirty="0"/>
              <a:t>"The stronger the design package..."</a:t>
            </a:r>
          </a:p>
          <a:p>
            <a:endParaRPr lang="en-US" dirty="0"/>
          </a:p>
          <a:p>
            <a:r>
              <a:rPr lang="en-US" dirty="0"/>
              <a:t>"The smoother development becomes."</a:t>
            </a:r>
          </a:p>
          <a:p>
            <a:endParaRPr lang="en-US" dirty="0"/>
          </a:p>
          <a:p>
            <a:r>
              <a:rPr lang="en-US" dirty="0"/>
              <a:t>------------------------------------------------------------</a:t>
            </a:r>
          </a:p>
          <a:p>
            <a:endParaRPr lang="en-US" dirty="0"/>
          </a:p>
          <a:p>
            <a:r>
              <a:rPr lang="en-US" dirty="0"/>
              <a:t>ENGINEERING LESSON</a:t>
            </a:r>
          </a:p>
          <a:p>
            <a:endParaRPr lang="en-US" dirty="0"/>
          </a:p>
          <a:p>
            <a:r>
              <a:rPr lang="en-US" dirty="0"/>
              <a:t>Read the statement.</a:t>
            </a:r>
          </a:p>
          <a:p>
            <a:endParaRPr lang="en-US" dirty="0"/>
          </a:p>
          <a:p>
            <a:r>
              <a:rPr lang="en-US" dirty="0"/>
              <a:t>"Think. Design. Deliver Value."</a:t>
            </a:r>
          </a:p>
          <a:p>
            <a:endParaRPr lang="en-US" dirty="0"/>
          </a:p>
          <a:p>
            <a:r>
              <a:rPr lang="en-US" dirty="0"/>
              <a:t>Pause.</a:t>
            </a:r>
          </a:p>
          <a:p>
            <a:endParaRPr lang="en-US" dirty="0"/>
          </a:p>
          <a:p>
            <a:r>
              <a:rPr lang="en-US" dirty="0"/>
              <a:t>Explain:</a:t>
            </a:r>
          </a:p>
          <a:p>
            <a:endParaRPr lang="en-US" dirty="0"/>
          </a:p>
          <a:p>
            <a:r>
              <a:rPr lang="en-US" dirty="0"/>
              <a:t>"Great software isn't created by rushing into code."</a:t>
            </a:r>
          </a:p>
          <a:p>
            <a:endParaRPr lang="en-US" dirty="0"/>
          </a:p>
          <a:p>
            <a:r>
              <a:rPr lang="en-US" dirty="0"/>
              <a:t>"It's created through thoughtful engineering."</a:t>
            </a:r>
          </a:p>
          <a:p>
            <a:endParaRPr lang="en-US" dirty="0"/>
          </a:p>
          <a:p>
            <a:r>
              <a:rPr lang="en-US" dirty="0"/>
              <a:t>------------------------------------------------------------</a:t>
            </a:r>
          </a:p>
          <a:p>
            <a:endParaRPr lang="en-US" dirty="0"/>
          </a:p>
          <a:p>
            <a:r>
              <a:rPr lang="en-US" dirty="0"/>
              <a:t>LOOKING AHEAD</a:t>
            </a:r>
          </a:p>
          <a:p>
            <a:endParaRPr lang="en-US" dirty="0"/>
          </a:p>
          <a:p>
            <a:r>
              <a:rPr lang="en-US" dirty="0"/>
              <a:t>Point to Sprint 4.</a:t>
            </a:r>
          </a:p>
          <a:p>
            <a:endParaRPr lang="en-US" dirty="0"/>
          </a:p>
          <a:p>
            <a:r>
              <a:rPr lang="en-US" dirty="0"/>
              <a:t>"We've completed the design."</a:t>
            </a:r>
          </a:p>
          <a:p>
            <a:endParaRPr lang="en-US" dirty="0"/>
          </a:p>
          <a:p>
            <a:r>
              <a:rPr lang="en-US" dirty="0"/>
              <a:t>"Our client approved the plan."</a:t>
            </a:r>
          </a:p>
          <a:p>
            <a:endParaRPr lang="en-US" dirty="0"/>
          </a:p>
          <a:p>
            <a:r>
              <a:rPr lang="en-US" dirty="0"/>
              <a:t>"Our engineering package is finished."</a:t>
            </a:r>
          </a:p>
          <a:p>
            <a:endParaRPr lang="en-US" dirty="0"/>
          </a:p>
          <a:p>
            <a:r>
              <a:rPr lang="en-US" dirty="0"/>
              <a:t>Pause.</a:t>
            </a:r>
          </a:p>
          <a:p>
            <a:endParaRPr lang="en-US" dirty="0"/>
          </a:p>
          <a:p>
            <a:r>
              <a:rPr lang="en-US" dirty="0"/>
              <a:t>"What happens next?"</a:t>
            </a:r>
          </a:p>
          <a:p>
            <a:endParaRPr lang="en-US" dirty="0"/>
          </a:p>
          <a:p>
            <a:r>
              <a:rPr lang="en-US" dirty="0"/>
              <a:t>Smile.</a:t>
            </a:r>
          </a:p>
          <a:p>
            <a:endParaRPr lang="en-US" dirty="0"/>
          </a:p>
          <a:p>
            <a:r>
              <a:rPr lang="en-US" dirty="0"/>
              <a:t>"We build it."</a:t>
            </a:r>
          </a:p>
          <a:p>
            <a:endParaRPr lang="en-US" dirty="0"/>
          </a:p>
          <a:p>
            <a:r>
              <a:rPr lang="en-US" dirty="0"/>
              <a:t>------------------------------------------------------------</a:t>
            </a:r>
          </a:p>
          <a:p>
            <a:endParaRPr lang="en-US" dirty="0"/>
          </a:p>
          <a:p>
            <a:r>
              <a:rPr lang="en-US" dirty="0"/>
              <a:t>CLASS DISCUSSION</a:t>
            </a:r>
          </a:p>
          <a:p>
            <a:endParaRPr lang="en-US" dirty="0"/>
          </a:p>
          <a:p>
            <a:r>
              <a:rPr lang="en-US" dirty="0"/>
              <a:t>Ask:</a:t>
            </a:r>
          </a:p>
          <a:p>
            <a:endParaRPr lang="en-US" dirty="0"/>
          </a:p>
          <a:p>
            <a:r>
              <a:rPr lang="en-US" dirty="0"/>
              <a:t>"If you joined a software company tomorrow..."</a:t>
            </a:r>
          </a:p>
          <a:p>
            <a:endParaRPr lang="en-US" dirty="0"/>
          </a:p>
          <a:p>
            <a:r>
              <a:rPr lang="en-US" dirty="0"/>
              <a:t>"Would this package help you understand the project?"</a:t>
            </a:r>
          </a:p>
          <a:p>
            <a:endParaRPr lang="en-US" dirty="0"/>
          </a:p>
          <a:p>
            <a:r>
              <a:rPr lang="en-US" dirty="0"/>
              <a:t>"What additional information would you want?"</a:t>
            </a:r>
          </a:p>
          <a:p>
            <a:endParaRPr lang="en-US" dirty="0"/>
          </a:p>
          <a:p>
            <a:r>
              <a:rPr lang="en-US" dirty="0"/>
              <a:t>Discuss how documentation supports collaboration across teams.</a:t>
            </a:r>
          </a:p>
          <a:p>
            <a:endParaRPr lang="en-US" dirty="0"/>
          </a:p>
          <a:p>
            <a:r>
              <a:rPr lang="en-US" dirty="0"/>
              <a:t>------------------------------------------------------------</a:t>
            </a:r>
          </a:p>
          <a:p>
            <a:endParaRPr lang="en-US" dirty="0"/>
          </a:p>
          <a:p>
            <a:r>
              <a:rPr lang="en-US" dirty="0"/>
              <a:t>TRANSITION</a:t>
            </a:r>
          </a:p>
          <a:p>
            <a:endParaRPr lang="en-US" dirty="0"/>
          </a:p>
          <a:p>
            <a:r>
              <a:rPr lang="en-US" dirty="0"/>
              <a:t>"Our next artifact is Sprint 3 Review &amp; Retrospective."</a:t>
            </a:r>
          </a:p>
          <a:p>
            <a:endParaRPr lang="en-US" dirty="0"/>
          </a:p>
          <a:p>
            <a:r>
              <a:rPr lang="en-US" dirty="0"/>
              <a:t>"We'll reflect on what we've accomplished..."</a:t>
            </a:r>
          </a:p>
          <a:p>
            <a:endParaRPr lang="en-US" dirty="0"/>
          </a:p>
          <a:p>
            <a:r>
              <a:rPr lang="en-US" dirty="0"/>
              <a:t>"And prepare for Sprint 4."</a:t>
            </a:r>
          </a:p>
          <a:p>
            <a:endParaRPr lang="en-US" dirty="0"/>
          </a:p>
          <a:p>
            <a:r>
              <a:rPr lang="en-US" dirty="0"/>
              <a:t>------------------------------------------------------------</a:t>
            </a:r>
          </a:p>
          <a:p>
            <a:endParaRPr lang="en-US" dirty="0"/>
          </a:p>
          <a:p>
            <a:r>
              <a:rPr lang="en-US" dirty="0"/>
              <a:t>ESTIMATED TIME</a:t>
            </a:r>
          </a:p>
          <a:p>
            <a:endParaRPr lang="en-US" dirty="0"/>
          </a:p>
          <a:p>
            <a:r>
              <a:rPr lang="en-US" dirty="0"/>
              <a:t>Sprint Recap......................5 minutes</a:t>
            </a:r>
          </a:p>
          <a:p>
            <a:endParaRPr lang="en-US" dirty="0"/>
          </a:p>
          <a:p>
            <a:r>
              <a:rPr lang="en-US" dirty="0"/>
              <a:t>ENG-002 Walkthrough..............15 minutes</a:t>
            </a:r>
          </a:p>
          <a:p>
            <a:endParaRPr lang="en-US" dirty="0"/>
          </a:p>
          <a:p>
            <a:r>
              <a:rPr lang="en-US" dirty="0"/>
              <a:t>Design Package Review............15 minutes</a:t>
            </a:r>
          </a:p>
          <a:p>
            <a:endParaRPr lang="en-US" dirty="0"/>
          </a:p>
          <a:p>
            <a:r>
              <a:rPr lang="en-US" dirty="0"/>
              <a:t>Quality Checklist................10 minutes</a:t>
            </a:r>
          </a:p>
          <a:p>
            <a:endParaRPr lang="en-US" dirty="0"/>
          </a:p>
          <a:p>
            <a:r>
              <a:rPr lang="en-US" dirty="0"/>
              <a:t>Engineering Story.................5 minutes</a:t>
            </a:r>
          </a:p>
          <a:p>
            <a:endParaRPr lang="en-US" dirty="0"/>
          </a:p>
          <a:p>
            <a:r>
              <a:rPr lang="en-US" dirty="0"/>
              <a:t>Discussion........................8 minutes</a:t>
            </a:r>
          </a:p>
          <a:p>
            <a:endParaRPr lang="en-US" dirty="0"/>
          </a:p>
          <a:p>
            <a:r>
              <a:rPr lang="en-US" dirty="0"/>
              <a:t>Sprint 4 Preview..................5 minutes</a:t>
            </a:r>
          </a:p>
          <a:p>
            <a:endParaRPr lang="en-US" dirty="0"/>
          </a:p>
          <a:p>
            <a:r>
              <a:rPr lang="en-US" dirty="0"/>
              <a:t>Total............................63 minutes</a:t>
            </a:r>
          </a:p>
          <a:p>
            <a:endParaRPr lang="en-US" dirty="0"/>
          </a:p>
          <a:p>
            <a:r>
              <a:rPr lang="en-US" dirty="0"/>
              <a:t>------------------------------------------------------------</a:t>
            </a:r>
          </a:p>
          <a:p>
            <a:endParaRPr lang="en-US" dirty="0"/>
          </a:p>
          <a:p>
            <a:r>
              <a:rPr lang="en-US" dirty="0"/>
              <a:t>INSTRUCTOR NOTES</a:t>
            </a:r>
          </a:p>
          <a:p>
            <a:endParaRPr lang="en-US" dirty="0"/>
          </a:p>
          <a:p>
            <a:r>
              <a:rPr lang="en-US" dirty="0"/>
              <a:t>This is a celebration as much as it is a lecture.</a:t>
            </a:r>
          </a:p>
          <a:p>
            <a:endParaRPr lang="en-US" dirty="0"/>
          </a:p>
          <a:p>
            <a:r>
              <a:rPr lang="en-US" dirty="0"/>
              <a:t>Students should leave class realizing that they have completed a</a:t>
            </a:r>
          </a:p>
          <a:p>
            <a:r>
              <a:rPr lang="en-US" dirty="0"/>
              <a:t>professional software design package.</a:t>
            </a:r>
          </a:p>
          <a:p>
            <a:endParaRPr lang="en-US" dirty="0"/>
          </a:p>
          <a:p>
            <a:r>
              <a:rPr lang="en-US" dirty="0"/>
              <a:t>Keep referring back to the sequence of artifacts created during Sprint</a:t>
            </a:r>
          </a:p>
          <a:p>
            <a:r>
              <a:rPr lang="en-US" dirty="0"/>
              <a:t>3 and emphasize that none of them were isolated assignments.</a:t>
            </a:r>
          </a:p>
          <a:p>
            <a:endParaRPr lang="en-US" dirty="0"/>
          </a:p>
          <a:p>
            <a:r>
              <a:rPr lang="en-US" dirty="0"/>
              <a:t>Each artifact became another section of the final deliverable.</a:t>
            </a:r>
          </a:p>
          <a:p>
            <a:endParaRPr lang="en-US" dirty="0"/>
          </a:p>
          <a:p>
            <a:r>
              <a:rPr lang="en-US" dirty="0"/>
              <a:t>End the lesson by holding up the completed ENG-002 package and saying:</a:t>
            </a:r>
          </a:p>
          <a:p>
            <a:endParaRPr lang="en-US" dirty="0"/>
          </a:p>
          <a:p>
            <a:r>
              <a:rPr lang="en-US" dirty="0"/>
              <a:t>"Three weeks ago..."</a:t>
            </a:r>
          </a:p>
          <a:p>
            <a:endParaRPr lang="en-US" dirty="0"/>
          </a:p>
          <a:p>
            <a:r>
              <a:rPr lang="en-US" dirty="0"/>
              <a:t>"This was just an idea."</a:t>
            </a:r>
          </a:p>
          <a:p>
            <a:endParaRPr lang="en-US" dirty="0"/>
          </a:p>
          <a:p>
            <a:r>
              <a:rPr lang="en-US" dirty="0"/>
              <a:t>"Today..."</a:t>
            </a:r>
          </a:p>
          <a:p>
            <a:endParaRPr lang="en-US" dirty="0"/>
          </a:p>
          <a:p>
            <a:r>
              <a:rPr lang="en-US" dirty="0"/>
              <a:t>"It is a complete engineering blueprint."</a:t>
            </a:r>
          </a:p>
          <a:p>
            <a:endParaRPr lang="en-US" dirty="0"/>
          </a:p>
          <a:p>
            <a:r>
              <a:rPr lang="en-US" dirty="0"/>
              <a:t>"And next sprint..."</a:t>
            </a:r>
          </a:p>
          <a:p>
            <a:endParaRPr lang="en-US" dirty="0"/>
          </a:p>
          <a:p>
            <a:r>
              <a:rPr lang="en-US" dirty="0"/>
              <a:t>"We're going to bring Atlas </a:t>
            </a:r>
            <a:r>
              <a:rPr lang="en-US" dirty="0" err="1"/>
              <a:t>TaskFlow</a:t>
            </a:r>
            <a:r>
              <a:rPr lang="en-US" dirty="0"/>
              <a:t> to life."</a:t>
            </a:r>
          </a:p>
          <a:p>
            <a:endParaRPr lang="en-US" dirty="0"/>
          </a:p>
          <a:p>
            <a:r>
              <a:rPr lang="en-US" dirty="0"/>
              <a:t>============================================================</a:t>
            </a:r>
          </a:p>
        </p:txBody>
      </p:sp>
      <p:sp>
        <p:nvSpPr>
          <p:cNvPr id="4" name="Slide Number Placeholder 3"/>
          <p:cNvSpPr>
            <a:spLocks noGrp="1"/>
          </p:cNvSpPr>
          <p:nvPr>
            <p:ph type="sldNum" sz="quarter" idx="5"/>
          </p:nvPr>
        </p:nvSpPr>
        <p:spPr/>
        <p:txBody>
          <a:bodyPr/>
          <a:lstStyle/>
          <a:p>
            <a:fld id="{12CFA81F-48ED-4EC0-89DB-73FF3AF92981}" type="slidenum">
              <a:rPr lang="en-US" smtClean="0"/>
              <a:t>8</a:t>
            </a:fld>
            <a:endParaRPr lang="en-US"/>
          </a:p>
        </p:txBody>
      </p:sp>
    </p:spTree>
    <p:extLst>
      <p:ext uri="{BB962C8B-B14F-4D97-AF65-F5344CB8AC3E}">
        <p14:creationId xmlns:p14="http://schemas.microsoft.com/office/powerpoint/2010/main" val="14275399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endParaRPr lang="en-US" dirty="0"/>
          </a:p>
          <a:p>
            <a:r>
              <a:rPr lang="en-US" dirty="0"/>
              <a:t>SPRINT 3</a:t>
            </a:r>
          </a:p>
          <a:p>
            <a:endParaRPr lang="en-US" dirty="0"/>
          </a:p>
          <a:p>
            <a:r>
              <a:rPr lang="en-US" dirty="0"/>
              <a:t>ARTIFACT XL</a:t>
            </a:r>
          </a:p>
          <a:p>
            <a:endParaRPr lang="en-US" dirty="0"/>
          </a:p>
          <a:p>
            <a:r>
              <a:rPr lang="en-US" dirty="0"/>
              <a:t>ENG-002 DESIGN PACKAGE</a:t>
            </a:r>
          </a:p>
          <a:p>
            <a:endParaRPr lang="en-US" dirty="0"/>
          </a:p>
          <a:p>
            <a:r>
              <a:rPr lang="en-US" dirty="0"/>
              <a:t>============================================================</a:t>
            </a:r>
          </a:p>
          <a:p>
            <a:endParaRPr lang="en-US" dirty="0"/>
          </a:p>
          <a:p>
            <a:r>
              <a:rPr lang="en-US" dirty="0"/>
              <a:t>SLIDE PURPOSE</a:t>
            </a:r>
          </a:p>
          <a:p>
            <a:endParaRPr lang="en-US" dirty="0"/>
          </a:p>
          <a:p>
            <a:r>
              <a:rPr lang="en-US" dirty="0"/>
              <a:t>Introduce ENG-002 as the formal software design package for Atlas</a:t>
            </a:r>
          </a:p>
          <a:p>
            <a:r>
              <a:rPr lang="en-US" dirty="0" err="1"/>
              <a:t>TaskFlow</a:t>
            </a:r>
            <a:r>
              <a:rPr lang="en-US" dirty="0"/>
              <a:t>.</a:t>
            </a:r>
          </a:p>
          <a:p>
            <a:endParaRPr lang="en-US" dirty="0"/>
          </a:p>
          <a:p>
            <a:r>
              <a:rPr lang="en-US" dirty="0"/>
              <a:t>Students should recognize that every artifact created throughout Sprint</a:t>
            </a:r>
          </a:p>
          <a:p>
            <a:r>
              <a:rPr lang="en-US" dirty="0"/>
              <a:t>3 contributes to a single professional engineering deliverable.</a:t>
            </a:r>
          </a:p>
          <a:p>
            <a:endParaRPr lang="en-US" dirty="0"/>
          </a:p>
          <a:p>
            <a:r>
              <a:rPr lang="en-US" dirty="0"/>
              <a:t>ENG-002 is the blueprint that the development team will use to begin</a:t>
            </a:r>
          </a:p>
          <a:p>
            <a:r>
              <a:rPr lang="en-US" dirty="0"/>
              <a:t>building Atlas </a:t>
            </a:r>
            <a:r>
              <a:rPr lang="en-US" dirty="0" err="1"/>
              <a:t>TaskFlow</a:t>
            </a:r>
            <a:r>
              <a:rPr lang="en-US" dirty="0"/>
              <a:t> in Sprint 4.</a:t>
            </a:r>
          </a:p>
          <a:p>
            <a:endParaRPr lang="en-US" dirty="0"/>
          </a:p>
          <a:p>
            <a:r>
              <a:rPr lang="en-US" dirty="0"/>
              <a:t>------------------------------------------------------------</a:t>
            </a:r>
          </a:p>
          <a:p>
            <a:endParaRPr lang="en-US" dirty="0"/>
          </a:p>
          <a:p>
            <a:r>
              <a:rPr lang="en-US" dirty="0"/>
              <a:t>OPENING</a:t>
            </a:r>
          </a:p>
          <a:p>
            <a:endParaRPr lang="en-US" dirty="0"/>
          </a:p>
          <a:p>
            <a:r>
              <a:rPr lang="en-US" dirty="0"/>
              <a:t>"Today is a major milestone."</a:t>
            </a:r>
          </a:p>
          <a:p>
            <a:endParaRPr lang="en-US" dirty="0"/>
          </a:p>
          <a:p>
            <a:r>
              <a:rPr lang="en-US" dirty="0"/>
              <a:t>"Over the last several weeks..."</a:t>
            </a:r>
          </a:p>
          <a:p>
            <a:endParaRPr lang="en-US" dirty="0"/>
          </a:p>
          <a:p>
            <a:r>
              <a:rPr lang="en-US" dirty="0"/>
              <a:t>"We've been acting as the Product Team at Atlas Software Solutions."</a:t>
            </a:r>
          </a:p>
          <a:p>
            <a:endParaRPr lang="en-US" dirty="0"/>
          </a:p>
          <a:p>
            <a:r>
              <a:rPr lang="en-US" dirty="0"/>
              <a:t>"We met with our client."</a:t>
            </a:r>
          </a:p>
          <a:p>
            <a:endParaRPr lang="en-US" dirty="0"/>
          </a:p>
          <a:p>
            <a:r>
              <a:rPr lang="en-US" dirty="0"/>
              <a:t>"We gathered requirements."</a:t>
            </a:r>
          </a:p>
          <a:p>
            <a:endParaRPr lang="en-US" dirty="0"/>
          </a:p>
          <a:p>
            <a:r>
              <a:rPr lang="en-US" dirty="0"/>
              <a:t>"We understood our users."</a:t>
            </a:r>
          </a:p>
          <a:p>
            <a:endParaRPr lang="en-US" dirty="0"/>
          </a:p>
          <a:p>
            <a:r>
              <a:rPr lang="en-US" dirty="0"/>
              <a:t>"We designed their experience."</a:t>
            </a:r>
          </a:p>
          <a:p>
            <a:endParaRPr lang="en-US" dirty="0"/>
          </a:p>
          <a:p>
            <a:r>
              <a:rPr lang="en-US" dirty="0"/>
              <a:t>"And now..."</a:t>
            </a:r>
          </a:p>
          <a:p>
            <a:endParaRPr lang="en-US" dirty="0"/>
          </a:p>
          <a:p>
            <a:r>
              <a:rPr lang="en-US" dirty="0"/>
              <a:t>"We're ready to deliver our design."</a:t>
            </a:r>
          </a:p>
          <a:p>
            <a:endParaRPr lang="en-US" dirty="0"/>
          </a:p>
          <a:p>
            <a:r>
              <a:rPr lang="en-US" dirty="0"/>
              <a:t>Pause.</a:t>
            </a:r>
          </a:p>
          <a:p>
            <a:endParaRPr lang="en-US" dirty="0"/>
          </a:p>
          <a:p>
            <a:r>
              <a:rPr lang="en-US" dirty="0"/>
              <a:t>"Welcome to ENG-002."</a:t>
            </a:r>
          </a:p>
          <a:p>
            <a:endParaRPr lang="en-US" dirty="0"/>
          </a:p>
          <a:p>
            <a:r>
              <a:rPr lang="en-US" dirty="0"/>
              <a:t>------------------------------------------------------------</a:t>
            </a:r>
          </a:p>
          <a:p>
            <a:endParaRPr lang="en-US" dirty="0"/>
          </a:p>
          <a:p>
            <a:r>
              <a:rPr lang="en-US" dirty="0"/>
              <a:t>WHAT IS ENG-002?</a:t>
            </a:r>
          </a:p>
          <a:p>
            <a:endParaRPr lang="en-US" dirty="0"/>
          </a:p>
          <a:p>
            <a:r>
              <a:rPr lang="en-US" dirty="0"/>
              <a:t>Read the definition.</a:t>
            </a:r>
          </a:p>
          <a:p>
            <a:endParaRPr lang="en-US" dirty="0"/>
          </a:p>
          <a:p>
            <a:r>
              <a:rPr lang="en-US" dirty="0"/>
              <a:t>"ENG-002 is the complete software design package for Atlas </a:t>
            </a:r>
            <a:r>
              <a:rPr lang="en-US" dirty="0" err="1"/>
              <a:t>TaskFlow</a:t>
            </a:r>
            <a:r>
              <a:rPr lang="en-US" dirty="0"/>
              <a:t>."</a:t>
            </a:r>
          </a:p>
          <a:p>
            <a:endParaRPr lang="en-US" dirty="0"/>
          </a:p>
          <a:p>
            <a:r>
              <a:rPr lang="en-US" dirty="0"/>
              <a:t>Explain:</a:t>
            </a:r>
          </a:p>
          <a:p>
            <a:endParaRPr lang="en-US" dirty="0"/>
          </a:p>
          <a:p>
            <a:r>
              <a:rPr lang="en-US" dirty="0"/>
              <a:t>"This is more than an assignment."</a:t>
            </a:r>
          </a:p>
          <a:p>
            <a:endParaRPr lang="en-US" dirty="0"/>
          </a:p>
          <a:p>
            <a:r>
              <a:rPr lang="en-US" dirty="0"/>
              <a:t>"It's a professional engineering document."</a:t>
            </a:r>
          </a:p>
          <a:p>
            <a:endParaRPr lang="en-US" dirty="0"/>
          </a:p>
          <a:p>
            <a:r>
              <a:rPr lang="en-US" dirty="0"/>
              <a:t>"If another development team received this package..."</a:t>
            </a:r>
          </a:p>
          <a:p>
            <a:endParaRPr lang="en-US" dirty="0"/>
          </a:p>
          <a:p>
            <a:r>
              <a:rPr lang="en-US" dirty="0"/>
              <a:t>"They should understand exactly what they're expected to build."</a:t>
            </a:r>
          </a:p>
          <a:p>
            <a:endParaRPr lang="en-US" dirty="0"/>
          </a:p>
          <a:p>
            <a:r>
              <a:rPr lang="en-US" dirty="0"/>
              <a:t>------------------------------------------------------------</a:t>
            </a:r>
          </a:p>
          <a:p>
            <a:endParaRPr lang="en-US" dirty="0"/>
          </a:p>
          <a:p>
            <a:r>
              <a:rPr lang="en-US" dirty="0"/>
              <a:t>THE DESIGN PACKAGE</a:t>
            </a:r>
          </a:p>
          <a:p>
            <a:endParaRPr lang="en-US" dirty="0"/>
          </a:p>
          <a:p>
            <a:r>
              <a:rPr lang="en-US" dirty="0"/>
              <a:t>Walk through each section.</a:t>
            </a:r>
          </a:p>
          <a:p>
            <a:endParaRPr lang="en-US" dirty="0"/>
          </a:p>
          <a:p>
            <a:r>
              <a:rPr lang="en-US" dirty="0"/>
              <a:t>------------------------------------------------------------</a:t>
            </a:r>
          </a:p>
          <a:p>
            <a:endParaRPr lang="en-US" dirty="0"/>
          </a:p>
          <a:p>
            <a:r>
              <a:rPr lang="en-US" dirty="0"/>
              <a:t>1. REQUIREMENTS</a:t>
            </a:r>
          </a:p>
          <a:p>
            <a:endParaRPr lang="en-US" dirty="0"/>
          </a:p>
          <a:p>
            <a:r>
              <a:rPr lang="en-US" dirty="0"/>
              <a:t>Review the purpose.</a:t>
            </a:r>
          </a:p>
          <a:p>
            <a:endParaRPr lang="en-US" dirty="0"/>
          </a:p>
          <a:p>
            <a:r>
              <a:rPr lang="en-US" dirty="0"/>
              <a:t>Functional Requirements</a:t>
            </a:r>
          </a:p>
          <a:p>
            <a:endParaRPr lang="en-US" dirty="0"/>
          </a:p>
          <a:p>
            <a:r>
              <a:rPr lang="en-US" dirty="0"/>
              <a:t>Non-Functional Requirements</a:t>
            </a:r>
          </a:p>
          <a:p>
            <a:endParaRPr lang="en-US" dirty="0"/>
          </a:p>
          <a:p>
            <a:r>
              <a:rPr lang="en-US" dirty="0"/>
              <a:t>Business Rules</a:t>
            </a:r>
          </a:p>
          <a:p>
            <a:endParaRPr lang="en-US" dirty="0"/>
          </a:p>
          <a:p>
            <a:r>
              <a:rPr lang="en-US" dirty="0"/>
              <a:t>Stakeholder Needs</a:t>
            </a:r>
          </a:p>
          <a:p>
            <a:endParaRPr lang="en-US" dirty="0"/>
          </a:p>
          <a:p>
            <a:r>
              <a:rPr lang="en-US" dirty="0"/>
              <a:t>Explain:</a:t>
            </a:r>
          </a:p>
          <a:p>
            <a:endParaRPr lang="en-US" dirty="0"/>
          </a:p>
          <a:p>
            <a:r>
              <a:rPr lang="en-US" dirty="0"/>
              <a:t>"This tells developers WHAT the software must do."</a:t>
            </a:r>
          </a:p>
          <a:p>
            <a:endParaRPr lang="en-US" dirty="0"/>
          </a:p>
          <a:p>
            <a:r>
              <a:rPr lang="en-US" dirty="0"/>
              <a:t>------------------------------------------------------------</a:t>
            </a:r>
          </a:p>
          <a:p>
            <a:endParaRPr lang="en-US" dirty="0"/>
          </a:p>
          <a:p>
            <a:r>
              <a:rPr lang="en-US" dirty="0"/>
              <a:t>2. USER STORIES</a:t>
            </a:r>
          </a:p>
          <a:p>
            <a:endParaRPr lang="en-US" dirty="0"/>
          </a:p>
          <a:p>
            <a:r>
              <a:rPr lang="en-US" dirty="0"/>
              <a:t>Discuss.</a:t>
            </a:r>
          </a:p>
          <a:p>
            <a:endParaRPr lang="en-US" dirty="0"/>
          </a:p>
          <a:p>
            <a:r>
              <a:rPr lang="en-US" dirty="0"/>
              <a:t>Every requirement becomes User Stories.</a:t>
            </a:r>
          </a:p>
          <a:p>
            <a:endParaRPr lang="en-US" dirty="0"/>
          </a:p>
          <a:p>
            <a:r>
              <a:rPr lang="en-US" dirty="0"/>
              <a:t>Each story describes:</a:t>
            </a:r>
          </a:p>
          <a:p>
            <a:endParaRPr lang="en-US" dirty="0"/>
          </a:p>
          <a:p>
            <a:r>
              <a:rPr lang="en-US" dirty="0"/>
              <a:t>Who</a:t>
            </a:r>
          </a:p>
          <a:p>
            <a:endParaRPr lang="en-US" dirty="0"/>
          </a:p>
          <a:p>
            <a:r>
              <a:rPr lang="en-US" dirty="0"/>
              <a:t>What</a:t>
            </a:r>
          </a:p>
          <a:p>
            <a:endParaRPr lang="en-US" dirty="0"/>
          </a:p>
          <a:p>
            <a:r>
              <a:rPr lang="en-US" dirty="0"/>
              <a:t>Why</a:t>
            </a:r>
          </a:p>
          <a:p>
            <a:endParaRPr lang="en-US" dirty="0"/>
          </a:p>
          <a:p>
            <a:r>
              <a:rPr lang="en-US" dirty="0"/>
              <a:t>Explain:</a:t>
            </a:r>
          </a:p>
          <a:p>
            <a:endParaRPr lang="en-US" dirty="0"/>
          </a:p>
          <a:p>
            <a:r>
              <a:rPr lang="en-US" dirty="0"/>
              <a:t>"This section keeps development focused on delivering user value."</a:t>
            </a:r>
          </a:p>
          <a:p>
            <a:endParaRPr lang="en-US" dirty="0"/>
          </a:p>
          <a:p>
            <a:r>
              <a:rPr lang="en-US" dirty="0"/>
              <a:t>------------------------------------------------------------</a:t>
            </a:r>
          </a:p>
          <a:p>
            <a:endParaRPr lang="en-US" dirty="0"/>
          </a:p>
          <a:p>
            <a:r>
              <a:rPr lang="en-US" dirty="0"/>
              <a:t>3. PERSONAS &amp; USER JOURNEYS</a:t>
            </a:r>
          </a:p>
          <a:p>
            <a:endParaRPr lang="en-US" dirty="0"/>
          </a:p>
          <a:p>
            <a:r>
              <a:rPr lang="en-US" dirty="0"/>
              <a:t>Explain:</a:t>
            </a:r>
          </a:p>
          <a:p>
            <a:endParaRPr lang="en-US" dirty="0"/>
          </a:p>
          <a:p>
            <a:r>
              <a:rPr lang="en-US" dirty="0"/>
              <a:t>"This reminds developers who they're building for."</a:t>
            </a:r>
          </a:p>
          <a:p>
            <a:endParaRPr lang="en-US" dirty="0"/>
          </a:p>
          <a:p>
            <a:r>
              <a:rPr lang="en-US" dirty="0"/>
              <a:t>Discuss Olivia.</a:t>
            </a:r>
          </a:p>
          <a:p>
            <a:endParaRPr lang="en-US" dirty="0"/>
          </a:p>
          <a:p>
            <a:r>
              <a:rPr lang="en-US" dirty="0"/>
              <a:t>Ethan.</a:t>
            </a:r>
          </a:p>
          <a:p>
            <a:endParaRPr lang="en-US" dirty="0"/>
          </a:p>
          <a:p>
            <a:r>
              <a:rPr lang="en-US" dirty="0"/>
              <a:t>Maya.</a:t>
            </a:r>
          </a:p>
          <a:p>
            <a:endParaRPr lang="en-US" dirty="0"/>
          </a:p>
          <a:p>
            <a:r>
              <a:rPr lang="en-US" dirty="0"/>
              <a:t>Daniel.</a:t>
            </a:r>
          </a:p>
          <a:p>
            <a:endParaRPr lang="en-US" dirty="0"/>
          </a:p>
          <a:p>
            <a:r>
              <a:rPr lang="en-US" dirty="0"/>
              <a:t>Walk through how Personas influence design decisions.</a:t>
            </a:r>
          </a:p>
          <a:p>
            <a:endParaRPr lang="en-US" dirty="0"/>
          </a:p>
          <a:p>
            <a:r>
              <a:rPr lang="en-US" dirty="0"/>
              <a:t>------------------------------------------------------------</a:t>
            </a:r>
          </a:p>
          <a:p>
            <a:endParaRPr lang="en-US" dirty="0"/>
          </a:p>
          <a:p>
            <a:r>
              <a:rPr lang="en-US" dirty="0"/>
              <a:t>4. WIREFRAMES &amp; UX</a:t>
            </a:r>
          </a:p>
          <a:p>
            <a:endParaRPr lang="en-US" dirty="0"/>
          </a:p>
          <a:p>
            <a:r>
              <a:rPr lang="en-US" dirty="0"/>
              <a:t>Review.</a:t>
            </a:r>
          </a:p>
          <a:p>
            <a:endParaRPr lang="en-US" dirty="0"/>
          </a:p>
          <a:p>
            <a:r>
              <a:rPr lang="en-US" dirty="0"/>
              <a:t>Dashboard</a:t>
            </a:r>
          </a:p>
          <a:p>
            <a:endParaRPr lang="en-US" dirty="0"/>
          </a:p>
          <a:p>
            <a:r>
              <a:rPr lang="en-US" dirty="0"/>
              <a:t>Task List</a:t>
            </a:r>
          </a:p>
          <a:p>
            <a:endParaRPr lang="en-US" dirty="0"/>
          </a:p>
          <a:p>
            <a:r>
              <a:rPr lang="en-US" dirty="0"/>
              <a:t>Create Task</a:t>
            </a:r>
          </a:p>
          <a:p>
            <a:endParaRPr lang="en-US" dirty="0"/>
          </a:p>
          <a:p>
            <a:r>
              <a:rPr lang="en-US" dirty="0"/>
              <a:t>Task Detail</a:t>
            </a:r>
          </a:p>
          <a:p>
            <a:endParaRPr lang="en-US" dirty="0"/>
          </a:p>
          <a:p>
            <a:r>
              <a:rPr lang="en-US" dirty="0"/>
              <a:t>Team View</a:t>
            </a:r>
          </a:p>
          <a:p>
            <a:endParaRPr lang="en-US" dirty="0"/>
          </a:p>
          <a:p>
            <a:r>
              <a:rPr lang="en-US" dirty="0"/>
              <a:t>Explain:</a:t>
            </a:r>
          </a:p>
          <a:p>
            <a:endParaRPr lang="en-US" dirty="0"/>
          </a:p>
          <a:p>
            <a:r>
              <a:rPr lang="en-US" dirty="0"/>
              <a:t>"These sketches communicate workflow before a single line of code is</a:t>
            </a:r>
          </a:p>
          <a:p>
            <a:r>
              <a:rPr lang="en-US" dirty="0"/>
              <a:t>written."</a:t>
            </a:r>
          </a:p>
          <a:p>
            <a:endParaRPr lang="en-US" dirty="0"/>
          </a:p>
          <a:p>
            <a:r>
              <a:rPr lang="en-US" dirty="0"/>
              <a:t>------------------------------------------------------------</a:t>
            </a:r>
          </a:p>
          <a:p>
            <a:endParaRPr lang="en-US" dirty="0"/>
          </a:p>
          <a:p>
            <a:r>
              <a:rPr lang="en-US" dirty="0"/>
              <a:t>5. INFORMATION ARCHITECTURE</a:t>
            </a:r>
          </a:p>
          <a:p>
            <a:endParaRPr lang="en-US" dirty="0"/>
          </a:p>
          <a:p>
            <a:r>
              <a:rPr lang="en-US" dirty="0"/>
              <a:t>Review the sitemap.</a:t>
            </a:r>
          </a:p>
          <a:p>
            <a:endParaRPr lang="en-US" dirty="0"/>
          </a:p>
          <a:p>
            <a:r>
              <a:rPr lang="en-US" dirty="0"/>
              <a:t>Navigation</a:t>
            </a:r>
          </a:p>
          <a:p>
            <a:endParaRPr lang="en-US" dirty="0"/>
          </a:p>
          <a:p>
            <a:r>
              <a:rPr lang="en-US" dirty="0"/>
              <a:t>Organization</a:t>
            </a:r>
          </a:p>
          <a:p>
            <a:endParaRPr lang="en-US" dirty="0"/>
          </a:p>
          <a:p>
            <a:r>
              <a:rPr lang="en-US" dirty="0"/>
              <a:t>Relationships</a:t>
            </a:r>
          </a:p>
          <a:p>
            <a:endParaRPr lang="en-US" dirty="0"/>
          </a:p>
          <a:p>
            <a:r>
              <a:rPr lang="en-US" dirty="0"/>
              <a:t>Discuss why structure matters.</a:t>
            </a:r>
          </a:p>
          <a:p>
            <a:endParaRPr lang="en-US" dirty="0"/>
          </a:p>
          <a:p>
            <a:r>
              <a:rPr lang="en-US" dirty="0"/>
              <a:t>------------------------------------------------------------</a:t>
            </a:r>
          </a:p>
          <a:p>
            <a:endParaRPr lang="en-US" dirty="0"/>
          </a:p>
          <a:p>
            <a:r>
              <a:rPr lang="en-US" dirty="0"/>
              <a:t>6. PRODUCT BACKLOG &amp; MVP</a:t>
            </a:r>
          </a:p>
          <a:p>
            <a:endParaRPr lang="en-US" dirty="0"/>
          </a:p>
          <a:p>
            <a:r>
              <a:rPr lang="en-US" dirty="0"/>
              <a:t>Explain.</a:t>
            </a:r>
          </a:p>
          <a:p>
            <a:endParaRPr lang="en-US" dirty="0"/>
          </a:p>
          <a:p>
            <a:r>
              <a:rPr lang="en-US" dirty="0"/>
              <a:t>"This section defines what gets built first."</a:t>
            </a:r>
          </a:p>
          <a:p>
            <a:endParaRPr lang="en-US" dirty="0"/>
          </a:p>
          <a:p>
            <a:r>
              <a:rPr lang="en-US" dirty="0"/>
              <a:t>Discuss prioritization.</a:t>
            </a:r>
          </a:p>
          <a:p>
            <a:endParaRPr lang="en-US" dirty="0"/>
          </a:p>
          <a:p>
            <a:r>
              <a:rPr lang="en-US" dirty="0"/>
              <a:t>Business Value.</a:t>
            </a:r>
          </a:p>
          <a:p>
            <a:endParaRPr lang="en-US" dirty="0"/>
          </a:p>
          <a:p>
            <a:r>
              <a:rPr lang="en-US" dirty="0"/>
              <a:t>Dependencies.</a:t>
            </a:r>
          </a:p>
          <a:p>
            <a:endParaRPr lang="en-US" dirty="0"/>
          </a:p>
          <a:p>
            <a:r>
              <a:rPr lang="en-US" dirty="0"/>
              <a:t>MVP.</a:t>
            </a:r>
          </a:p>
          <a:p>
            <a:endParaRPr lang="en-US" dirty="0"/>
          </a:p>
          <a:p>
            <a:r>
              <a:rPr lang="en-US" dirty="0"/>
              <a:t>------------------------------------------------------------</a:t>
            </a:r>
          </a:p>
          <a:p>
            <a:endParaRPr lang="en-US" dirty="0"/>
          </a:p>
          <a:p>
            <a:r>
              <a:rPr lang="en-US" dirty="0"/>
              <a:t>7. ASSUMPTIONS &amp; CONSTRAINTS</a:t>
            </a:r>
          </a:p>
          <a:p>
            <a:endParaRPr lang="en-US" dirty="0"/>
          </a:p>
          <a:p>
            <a:r>
              <a:rPr lang="en-US" dirty="0"/>
              <a:t>Explain:</a:t>
            </a:r>
          </a:p>
          <a:p>
            <a:endParaRPr lang="en-US" dirty="0"/>
          </a:p>
          <a:p>
            <a:r>
              <a:rPr lang="en-US" dirty="0"/>
              <a:t>"No project is perfect."</a:t>
            </a:r>
          </a:p>
          <a:p>
            <a:endParaRPr lang="en-US" dirty="0"/>
          </a:p>
          <a:p>
            <a:r>
              <a:rPr lang="en-US" dirty="0"/>
              <a:t>"Every engineering team makes assumptions."</a:t>
            </a:r>
          </a:p>
          <a:p>
            <a:endParaRPr lang="en-US" dirty="0"/>
          </a:p>
          <a:p>
            <a:r>
              <a:rPr lang="en-US" dirty="0"/>
              <a:t>Discuss examples.</a:t>
            </a:r>
          </a:p>
          <a:p>
            <a:endParaRPr lang="en-US" dirty="0"/>
          </a:p>
          <a:p>
            <a:r>
              <a:rPr lang="en-US" dirty="0"/>
              <a:t>Budget.</a:t>
            </a:r>
          </a:p>
          <a:p>
            <a:endParaRPr lang="en-US" dirty="0"/>
          </a:p>
          <a:p>
            <a:r>
              <a:rPr lang="en-US" dirty="0"/>
              <a:t>Timeline.</a:t>
            </a:r>
          </a:p>
          <a:p>
            <a:endParaRPr lang="en-US" dirty="0"/>
          </a:p>
          <a:p>
            <a:r>
              <a:rPr lang="en-US" dirty="0"/>
              <a:t>Technology.</a:t>
            </a:r>
          </a:p>
          <a:p>
            <a:endParaRPr lang="en-US" dirty="0"/>
          </a:p>
          <a:p>
            <a:r>
              <a:rPr lang="en-US" dirty="0"/>
              <a:t>Resources.</a:t>
            </a:r>
          </a:p>
          <a:p>
            <a:endParaRPr lang="en-US" dirty="0"/>
          </a:p>
          <a:p>
            <a:r>
              <a:rPr lang="en-US" dirty="0"/>
              <a:t>Known risks.</a:t>
            </a:r>
          </a:p>
          <a:p>
            <a:endParaRPr lang="en-US" dirty="0"/>
          </a:p>
          <a:p>
            <a:r>
              <a:rPr lang="en-US" dirty="0"/>
              <a:t>------------------------------------------------------------</a:t>
            </a:r>
          </a:p>
          <a:p>
            <a:endParaRPr lang="en-US" dirty="0"/>
          </a:p>
          <a:p>
            <a:r>
              <a:rPr lang="en-US" dirty="0"/>
              <a:t>8. GLOSSARY &amp; DEFINITIONS</a:t>
            </a:r>
          </a:p>
          <a:p>
            <a:endParaRPr lang="en-US" dirty="0"/>
          </a:p>
          <a:p>
            <a:r>
              <a:rPr lang="en-US" dirty="0"/>
              <a:t>Explain why documentation matters.</a:t>
            </a:r>
          </a:p>
          <a:p>
            <a:endParaRPr lang="en-US" dirty="0"/>
          </a:p>
          <a:p>
            <a:r>
              <a:rPr lang="en-US" dirty="0"/>
              <a:t>Developers should interpret terminology consistently.</a:t>
            </a:r>
          </a:p>
          <a:p>
            <a:endParaRPr lang="en-US" dirty="0"/>
          </a:p>
          <a:p>
            <a:r>
              <a:rPr lang="en-US" dirty="0"/>
              <a:t>Examples:</a:t>
            </a:r>
          </a:p>
          <a:p>
            <a:endParaRPr lang="en-US" dirty="0"/>
          </a:p>
          <a:p>
            <a:r>
              <a:rPr lang="en-US" dirty="0"/>
              <a:t>Task</a:t>
            </a:r>
          </a:p>
          <a:p>
            <a:endParaRPr lang="en-US" dirty="0"/>
          </a:p>
          <a:p>
            <a:r>
              <a:rPr lang="en-US" dirty="0"/>
              <a:t>Project</a:t>
            </a:r>
          </a:p>
          <a:p>
            <a:endParaRPr lang="en-US" dirty="0"/>
          </a:p>
          <a:p>
            <a:r>
              <a:rPr lang="en-US" dirty="0"/>
              <a:t>Sprint</a:t>
            </a:r>
          </a:p>
          <a:p>
            <a:endParaRPr lang="en-US" dirty="0"/>
          </a:p>
          <a:p>
            <a:r>
              <a:rPr lang="en-US" dirty="0"/>
              <a:t>Backlog</a:t>
            </a:r>
          </a:p>
          <a:p>
            <a:endParaRPr lang="en-US" dirty="0"/>
          </a:p>
          <a:p>
            <a:r>
              <a:rPr lang="en-US" dirty="0"/>
              <a:t>Priority</a:t>
            </a:r>
          </a:p>
          <a:p>
            <a:endParaRPr lang="en-US" dirty="0"/>
          </a:p>
          <a:p>
            <a:r>
              <a:rPr lang="en-US" dirty="0"/>
              <a:t>Persona</a:t>
            </a:r>
          </a:p>
          <a:p>
            <a:endParaRPr lang="en-US" dirty="0"/>
          </a:p>
          <a:p>
            <a:r>
              <a:rPr lang="en-US" dirty="0"/>
              <a:t>MVP</a:t>
            </a:r>
          </a:p>
          <a:p>
            <a:endParaRPr lang="en-US" dirty="0"/>
          </a:p>
          <a:p>
            <a:r>
              <a:rPr lang="en-US" dirty="0"/>
              <a:t>------------------------------------------------------------</a:t>
            </a:r>
          </a:p>
          <a:p>
            <a:endParaRPr lang="en-US" dirty="0"/>
          </a:p>
          <a:p>
            <a:r>
              <a:rPr lang="en-US" dirty="0"/>
              <a:t>9. REVISION HISTORY</a:t>
            </a:r>
          </a:p>
          <a:p>
            <a:endParaRPr lang="en-US" dirty="0"/>
          </a:p>
          <a:p>
            <a:r>
              <a:rPr lang="en-US" dirty="0"/>
              <a:t>Explain:</a:t>
            </a:r>
          </a:p>
          <a:p>
            <a:endParaRPr lang="en-US" dirty="0"/>
          </a:p>
          <a:p>
            <a:r>
              <a:rPr lang="en-US" dirty="0"/>
              <a:t>"Professional documentation evolves."</a:t>
            </a:r>
          </a:p>
          <a:p>
            <a:endParaRPr lang="en-US" dirty="0"/>
          </a:p>
          <a:p>
            <a:r>
              <a:rPr lang="en-US" dirty="0"/>
              <a:t>Every major change should be recorded.</a:t>
            </a:r>
          </a:p>
          <a:p>
            <a:endParaRPr lang="en-US" dirty="0"/>
          </a:p>
          <a:p>
            <a:r>
              <a:rPr lang="en-US" dirty="0"/>
              <a:t>Date.</a:t>
            </a:r>
          </a:p>
          <a:p>
            <a:endParaRPr lang="en-US" dirty="0"/>
          </a:p>
          <a:p>
            <a:r>
              <a:rPr lang="en-US" dirty="0"/>
              <a:t>Version.</a:t>
            </a:r>
          </a:p>
          <a:p>
            <a:endParaRPr lang="en-US" dirty="0"/>
          </a:p>
          <a:p>
            <a:r>
              <a:rPr lang="en-US" dirty="0"/>
              <a:t>Author.</a:t>
            </a:r>
          </a:p>
          <a:p>
            <a:endParaRPr lang="en-US" dirty="0"/>
          </a:p>
          <a:p>
            <a:r>
              <a:rPr lang="en-US" dirty="0"/>
              <a:t>Description.</a:t>
            </a:r>
          </a:p>
          <a:p>
            <a:endParaRPr lang="en-US" dirty="0"/>
          </a:p>
          <a:p>
            <a:r>
              <a:rPr lang="en-US" dirty="0"/>
              <a:t>Discuss why version control matters.</a:t>
            </a:r>
          </a:p>
          <a:p>
            <a:endParaRPr lang="en-US" dirty="0"/>
          </a:p>
          <a:p>
            <a:r>
              <a:rPr lang="en-US" dirty="0"/>
              <a:t>------------------------------------------------------------</a:t>
            </a:r>
          </a:p>
          <a:p>
            <a:endParaRPr lang="en-US" dirty="0"/>
          </a:p>
          <a:p>
            <a:r>
              <a:rPr lang="en-US" dirty="0"/>
              <a:t>DESIGN PACKAGE SUMMARY</a:t>
            </a:r>
          </a:p>
          <a:p>
            <a:endParaRPr lang="en-US" dirty="0"/>
          </a:p>
          <a:p>
            <a:r>
              <a:rPr lang="en-US" dirty="0"/>
              <a:t>Review the three goals.</a:t>
            </a:r>
          </a:p>
          <a:p>
            <a:endParaRPr lang="en-US" dirty="0"/>
          </a:p>
          <a:p>
            <a:r>
              <a:rPr lang="en-US" dirty="0"/>
              <a:t>Aligned on Goals</a:t>
            </a:r>
          </a:p>
          <a:p>
            <a:endParaRPr lang="en-US" dirty="0"/>
          </a:p>
          <a:p>
            <a:r>
              <a:rPr lang="en-US" dirty="0"/>
              <a:t>Everyone understands the problem.</a:t>
            </a:r>
          </a:p>
          <a:p>
            <a:endParaRPr lang="en-US" dirty="0"/>
          </a:p>
          <a:p>
            <a:r>
              <a:rPr lang="en-US" dirty="0"/>
              <a:t>Focused on Users</a:t>
            </a:r>
          </a:p>
          <a:p>
            <a:endParaRPr lang="en-US" dirty="0"/>
          </a:p>
          <a:p>
            <a:r>
              <a:rPr lang="en-US" dirty="0"/>
              <a:t>Every decision supports user needs.</a:t>
            </a:r>
          </a:p>
          <a:p>
            <a:endParaRPr lang="en-US" dirty="0"/>
          </a:p>
          <a:p>
            <a:r>
              <a:rPr lang="en-US" dirty="0"/>
              <a:t>Ready for Development</a:t>
            </a:r>
          </a:p>
          <a:p>
            <a:endParaRPr lang="en-US" dirty="0"/>
          </a:p>
          <a:p>
            <a:r>
              <a:rPr lang="en-US" dirty="0"/>
              <a:t>The engineering team has everything required to begin building.</a:t>
            </a:r>
          </a:p>
          <a:p>
            <a:endParaRPr lang="en-US" dirty="0"/>
          </a:p>
          <a:p>
            <a:r>
              <a:rPr lang="en-US" dirty="0"/>
              <a:t>------------------------------------------------------------</a:t>
            </a:r>
          </a:p>
          <a:p>
            <a:endParaRPr lang="en-US" dirty="0"/>
          </a:p>
          <a:p>
            <a:r>
              <a:rPr lang="en-US" dirty="0"/>
              <a:t>CLIENT APPROVAL</a:t>
            </a:r>
          </a:p>
          <a:p>
            <a:endParaRPr lang="en-US" dirty="0"/>
          </a:p>
          <a:p>
            <a:r>
              <a:rPr lang="en-US" dirty="0"/>
              <a:t>Point to the approval section.</a:t>
            </a:r>
          </a:p>
          <a:p>
            <a:endParaRPr lang="en-US" dirty="0"/>
          </a:p>
          <a:p>
            <a:r>
              <a:rPr lang="en-US" dirty="0"/>
              <a:t>Explain:</a:t>
            </a:r>
          </a:p>
          <a:p>
            <a:endParaRPr lang="en-US" dirty="0"/>
          </a:p>
          <a:p>
            <a:r>
              <a:rPr lang="en-US" dirty="0"/>
              <a:t>"This represents the client accepting our proposed design."</a:t>
            </a:r>
          </a:p>
          <a:p>
            <a:endParaRPr lang="en-US" dirty="0"/>
          </a:p>
          <a:p>
            <a:r>
              <a:rPr lang="en-US" dirty="0"/>
              <a:t>Discuss what client approval means.</a:t>
            </a:r>
          </a:p>
          <a:p>
            <a:endParaRPr lang="en-US" dirty="0"/>
          </a:p>
          <a:p>
            <a:r>
              <a:rPr lang="en-US" dirty="0"/>
              <a:t>Not perfection.</a:t>
            </a:r>
          </a:p>
          <a:p>
            <a:endParaRPr lang="en-US" dirty="0"/>
          </a:p>
          <a:p>
            <a:r>
              <a:rPr lang="en-US" dirty="0"/>
              <a:t>Agreement.</a:t>
            </a:r>
          </a:p>
          <a:p>
            <a:endParaRPr lang="en-US" dirty="0"/>
          </a:p>
          <a:p>
            <a:r>
              <a:rPr lang="en-US" dirty="0"/>
              <a:t>Shared expectations.</a:t>
            </a:r>
          </a:p>
          <a:p>
            <a:endParaRPr lang="en-US" dirty="0"/>
          </a:p>
          <a:p>
            <a:r>
              <a:rPr lang="en-US" dirty="0"/>
              <a:t>A clear path forward.</a:t>
            </a:r>
          </a:p>
          <a:p>
            <a:endParaRPr lang="en-US" dirty="0"/>
          </a:p>
          <a:p>
            <a:r>
              <a:rPr lang="en-US" dirty="0"/>
              <a:t>------------------------------------------------------------</a:t>
            </a:r>
          </a:p>
          <a:p>
            <a:endParaRPr lang="en-US" dirty="0"/>
          </a:p>
          <a:p>
            <a:r>
              <a:rPr lang="en-US" dirty="0"/>
              <a:t>ARTIFACTS AT A GLANCE</a:t>
            </a:r>
          </a:p>
          <a:p>
            <a:endParaRPr lang="en-US" dirty="0"/>
          </a:p>
          <a:p>
            <a:r>
              <a:rPr lang="en-US" dirty="0"/>
              <a:t>Review the collection.</a:t>
            </a:r>
          </a:p>
          <a:p>
            <a:endParaRPr lang="en-US" dirty="0"/>
          </a:p>
          <a:p>
            <a:r>
              <a:rPr lang="en-US" dirty="0"/>
              <a:t>Requirements</a:t>
            </a:r>
          </a:p>
          <a:p>
            <a:endParaRPr lang="en-US" dirty="0"/>
          </a:p>
          <a:p>
            <a:r>
              <a:rPr lang="en-US" dirty="0"/>
              <a:t>User Stories</a:t>
            </a:r>
          </a:p>
          <a:p>
            <a:endParaRPr lang="en-US" dirty="0"/>
          </a:p>
          <a:p>
            <a:r>
              <a:rPr lang="en-US" dirty="0"/>
              <a:t>Personas</a:t>
            </a:r>
          </a:p>
          <a:p>
            <a:endParaRPr lang="en-US" dirty="0"/>
          </a:p>
          <a:p>
            <a:r>
              <a:rPr lang="en-US" dirty="0"/>
              <a:t>Wireframes</a:t>
            </a:r>
          </a:p>
          <a:p>
            <a:endParaRPr lang="en-US" dirty="0"/>
          </a:p>
          <a:p>
            <a:r>
              <a:rPr lang="en-US" dirty="0"/>
              <a:t>Information Architecture</a:t>
            </a:r>
          </a:p>
          <a:p>
            <a:endParaRPr lang="en-US" dirty="0"/>
          </a:p>
          <a:p>
            <a:r>
              <a:rPr lang="en-US" dirty="0"/>
              <a:t>Product Backlog</a:t>
            </a:r>
          </a:p>
          <a:p>
            <a:endParaRPr lang="en-US" dirty="0"/>
          </a:p>
          <a:p>
            <a:r>
              <a:rPr lang="en-US" dirty="0"/>
              <a:t>Explain:</a:t>
            </a:r>
          </a:p>
          <a:p>
            <a:endParaRPr lang="en-US" dirty="0"/>
          </a:p>
          <a:p>
            <a:r>
              <a:rPr lang="en-US" dirty="0"/>
              <a:t>"Notice how every artifact supports the next."</a:t>
            </a:r>
          </a:p>
          <a:p>
            <a:endParaRPr lang="en-US" dirty="0"/>
          </a:p>
          <a:p>
            <a:r>
              <a:rPr lang="en-US" dirty="0"/>
              <a:t>"This is one engineering package."</a:t>
            </a:r>
          </a:p>
          <a:p>
            <a:endParaRPr lang="en-US" dirty="0"/>
          </a:p>
          <a:p>
            <a:r>
              <a:rPr lang="en-US" dirty="0"/>
              <a:t>------------------------------------------------------------</a:t>
            </a:r>
          </a:p>
          <a:p>
            <a:endParaRPr lang="en-US" dirty="0"/>
          </a:p>
          <a:p>
            <a:r>
              <a:rPr lang="en-US" dirty="0"/>
              <a:t>PACKAGE CONTENTS CHECKLIST</a:t>
            </a:r>
          </a:p>
          <a:p>
            <a:endParaRPr lang="en-US" dirty="0"/>
          </a:p>
          <a:p>
            <a:r>
              <a:rPr lang="en-US" dirty="0"/>
              <a:t>Walk through the checklist.</a:t>
            </a:r>
          </a:p>
          <a:p>
            <a:endParaRPr lang="en-US" dirty="0"/>
          </a:p>
          <a:p>
            <a:r>
              <a:rPr lang="en-US" dirty="0"/>
              <a:t>Ask students:</a:t>
            </a:r>
          </a:p>
          <a:p>
            <a:endParaRPr lang="en-US" dirty="0"/>
          </a:p>
          <a:p>
            <a:r>
              <a:rPr lang="en-US" dirty="0"/>
              <a:t>"Could another engineer understand our project using only this</a:t>
            </a:r>
          </a:p>
          <a:p>
            <a:r>
              <a:rPr lang="en-US" dirty="0"/>
              <a:t>document?"</a:t>
            </a:r>
          </a:p>
          <a:p>
            <a:endParaRPr lang="en-US" dirty="0"/>
          </a:p>
          <a:p>
            <a:r>
              <a:rPr lang="en-US" dirty="0"/>
              <a:t>If the answer is yes...</a:t>
            </a:r>
          </a:p>
          <a:p>
            <a:endParaRPr lang="en-US" dirty="0"/>
          </a:p>
          <a:p>
            <a:r>
              <a:rPr lang="en-US" dirty="0"/>
              <a:t>The package is complete.</a:t>
            </a:r>
          </a:p>
          <a:p>
            <a:endParaRPr lang="en-US" dirty="0"/>
          </a:p>
          <a:p>
            <a:r>
              <a:rPr lang="en-US" dirty="0"/>
              <a:t>------------------------------------------------------------</a:t>
            </a:r>
          </a:p>
          <a:p>
            <a:endParaRPr lang="en-US" dirty="0"/>
          </a:p>
          <a:p>
            <a:r>
              <a:rPr lang="en-US" dirty="0"/>
              <a:t>QUALITY CHECK</a:t>
            </a:r>
          </a:p>
          <a:p>
            <a:endParaRPr lang="en-US" dirty="0"/>
          </a:p>
          <a:p>
            <a:r>
              <a:rPr lang="en-US" dirty="0"/>
              <a:t>Review each item.</a:t>
            </a:r>
          </a:p>
          <a:p>
            <a:endParaRPr lang="en-US" dirty="0"/>
          </a:p>
          <a:p>
            <a:r>
              <a:rPr lang="en-US" dirty="0"/>
              <a:t>Artifacts complete.</a:t>
            </a:r>
          </a:p>
          <a:p>
            <a:endParaRPr lang="en-US" dirty="0"/>
          </a:p>
          <a:p>
            <a:r>
              <a:rPr lang="en-US" dirty="0"/>
              <a:t>Requirements traceable.</a:t>
            </a:r>
          </a:p>
          <a:p>
            <a:endParaRPr lang="en-US" dirty="0"/>
          </a:p>
          <a:p>
            <a:r>
              <a:rPr lang="en-US" dirty="0"/>
              <a:t>Dependencies identified.</a:t>
            </a:r>
          </a:p>
          <a:p>
            <a:endParaRPr lang="en-US" dirty="0"/>
          </a:p>
          <a:p>
            <a:r>
              <a:rPr lang="en-US" dirty="0"/>
              <a:t>Risks documented.</a:t>
            </a:r>
          </a:p>
          <a:p>
            <a:endParaRPr lang="en-US" dirty="0"/>
          </a:p>
          <a:p>
            <a:r>
              <a:rPr lang="en-US" dirty="0"/>
              <a:t>MVP defined.</a:t>
            </a:r>
          </a:p>
          <a:p>
            <a:endParaRPr lang="en-US" dirty="0"/>
          </a:p>
          <a:p>
            <a:r>
              <a:rPr lang="en-US" dirty="0"/>
              <a:t>Explain:</a:t>
            </a:r>
          </a:p>
          <a:p>
            <a:endParaRPr lang="en-US" dirty="0"/>
          </a:p>
          <a:p>
            <a:r>
              <a:rPr lang="en-US" dirty="0"/>
              <a:t>"Professional software teams review documentation before coding begins."</a:t>
            </a:r>
          </a:p>
          <a:p>
            <a:endParaRPr lang="en-US" dirty="0"/>
          </a:p>
          <a:p>
            <a:r>
              <a:rPr lang="en-US" dirty="0"/>
              <a:t>------------------------------------------------------------</a:t>
            </a:r>
          </a:p>
          <a:p>
            <a:endParaRPr lang="en-US" dirty="0"/>
          </a:p>
          <a:p>
            <a:r>
              <a:rPr lang="en-US" dirty="0"/>
              <a:t>ATLAS TEAM RESPONSIBILITIES</a:t>
            </a:r>
          </a:p>
          <a:p>
            <a:endParaRPr lang="en-US" dirty="0"/>
          </a:p>
          <a:p>
            <a:r>
              <a:rPr lang="en-US" dirty="0"/>
              <a:t>Discuss how different roles contributed.</a:t>
            </a:r>
          </a:p>
          <a:p>
            <a:endParaRPr lang="en-US" dirty="0"/>
          </a:p>
          <a:p>
            <a:r>
              <a:rPr lang="en-US" dirty="0"/>
              <a:t>Product Owner</a:t>
            </a:r>
          </a:p>
          <a:p>
            <a:endParaRPr lang="en-US" dirty="0"/>
          </a:p>
          <a:p>
            <a:r>
              <a:rPr lang="en-US" dirty="0"/>
              <a:t>Prioritized value.</a:t>
            </a:r>
          </a:p>
          <a:p>
            <a:endParaRPr lang="en-US" dirty="0"/>
          </a:p>
          <a:p>
            <a:r>
              <a:rPr lang="en-US" dirty="0"/>
              <a:t>UX Designer</a:t>
            </a:r>
          </a:p>
          <a:p>
            <a:endParaRPr lang="en-US" dirty="0"/>
          </a:p>
          <a:p>
            <a:r>
              <a:rPr lang="en-US" dirty="0"/>
              <a:t>Designed the experience.</a:t>
            </a:r>
          </a:p>
          <a:p>
            <a:endParaRPr lang="en-US" dirty="0"/>
          </a:p>
          <a:p>
            <a:r>
              <a:rPr lang="en-US" dirty="0"/>
              <a:t>Architect</a:t>
            </a:r>
          </a:p>
          <a:p>
            <a:endParaRPr lang="en-US" dirty="0"/>
          </a:p>
          <a:p>
            <a:r>
              <a:rPr lang="en-US" dirty="0"/>
              <a:t>Organized the system.</a:t>
            </a:r>
          </a:p>
          <a:p>
            <a:endParaRPr lang="en-US" dirty="0"/>
          </a:p>
          <a:p>
            <a:r>
              <a:rPr lang="en-US" dirty="0"/>
              <a:t>Developers</a:t>
            </a:r>
          </a:p>
          <a:p>
            <a:endParaRPr lang="en-US" dirty="0"/>
          </a:p>
          <a:p>
            <a:r>
              <a:rPr lang="en-US" dirty="0"/>
              <a:t>Prepared for implementation.</a:t>
            </a:r>
          </a:p>
          <a:p>
            <a:endParaRPr lang="en-US" dirty="0"/>
          </a:p>
          <a:p>
            <a:r>
              <a:rPr lang="en-US" dirty="0"/>
              <a:t>QA</a:t>
            </a:r>
          </a:p>
          <a:p>
            <a:endParaRPr lang="en-US" dirty="0"/>
          </a:p>
          <a:p>
            <a:r>
              <a:rPr lang="en-US" dirty="0"/>
              <a:t>Ensured completeness.</a:t>
            </a:r>
          </a:p>
          <a:p>
            <a:endParaRPr lang="en-US" dirty="0"/>
          </a:p>
          <a:p>
            <a:r>
              <a:rPr lang="en-US" dirty="0"/>
              <a:t>Explain:</a:t>
            </a:r>
          </a:p>
          <a:p>
            <a:endParaRPr lang="en-US" dirty="0"/>
          </a:p>
          <a:p>
            <a:r>
              <a:rPr lang="en-US" dirty="0"/>
              <a:t>"Software engineering is a team sport."</a:t>
            </a:r>
          </a:p>
          <a:p>
            <a:endParaRPr lang="en-US" dirty="0"/>
          </a:p>
          <a:p>
            <a:r>
              <a:rPr lang="en-US" dirty="0"/>
              <a:t>------------------------------------------------------------</a:t>
            </a:r>
          </a:p>
          <a:p>
            <a:endParaRPr lang="en-US" dirty="0"/>
          </a:p>
          <a:p>
            <a:r>
              <a:rPr lang="en-US" dirty="0"/>
              <a:t>ENGINEERING STORY</a:t>
            </a:r>
          </a:p>
          <a:p>
            <a:endParaRPr lang="en-US" dirty="0"/>
          </a:p>
          <a:p>
            <a:r>
              <a:rPr lang="en-US" dirty="0"/>
              <a:t>Share the Food Pantry project.</a:t>
            </a:r>
          </a:p>
          <a:p>
            <a:endParaRPr lang="en-US" dirty="0"/>
          </a:p>
          <a:p>
            <a:r>
              <a:rPr lang="en-US" dirty="0"/>
              <a:t>Describe how planning, documentation, and stakeholder communication</a:t>
            </a:r>
          </a:p>
          <a:p>
            <a:r>
              <a:rPr lang="en-US" dirty="0"/>
              <a:t>reduced confusion during development.</a:t>
            </a:r>
          </a:p>
          <a:p>
            <a:endParaRPr lang="en-US" dirty="0"/>
          </a:p>
          <a:p>
            <a:r>
              <a:rPr lang="en-US" dirty="0"/>
              <a:t>Explain:</a:t>
            </a:r>
          </a:p>
          <a:p>
            <a:endParaRPr lang="en-US" dirty="0"/>
          </a:p>
          <a:p>
            <a:r>
              <a:rPr lang="en-US" dirty="0"/>
              <a:t>"The stronger the design package..."</a:t>
            </a:r>
          </a:p>
          <a:p>
            <a:endParaRPr lang="en-US" dirty="0"/>
          </a:p>
          <a:p>
            <a:r>
              <a:rPr lang="en-US" dirty="0"/>
              <a:t>"The smoother development becomes."</a:t>
            </a:r>
          </a:p>
          <a:p>
            <a:endParaRPr lang="en-US" dirty="0"/>
          </a:p>
          <a:p>
            <a:r>
              <a:rPr lang="en-US" dirty="0"/>
              <a:t>------------------------------------------------------------</a:t>
            </a:r>
          </a:p>
          <a:p>
            <a:endParaRPr lang="en-US" dirty="0"/>
          </a:p>
          <a:p>
            <a:r>
              <a:rPr lang="en-US" dirty="0"/>
              <a:t>ENGINEERING LESSON</a:t>
            </a:r>
          </a:p>
          <a:p>
            <a:endParaRPr lang="en-US" dirty="0"/>
          </a:p>
          <a:p>
            <a:r>
              <a:rPr lang="en-US" dirty="0"/>
              <a:t>Read the statement.</a:t>
            </a:r>
          </a:p>
          <a:p>
            <a:endParaRPr lang="en-US" dirty="0"/>
          </a:p>
          <a:p>
            <a:r>
              <a:rPr lang="en-US" dirty="0"/>
              <a:t>"Think. Design. Deliver Value."</a:t>
            </a:r>
          </a:p>
          <a:p>
            <a:endParaRPr lang="en-US" dirty="0"/>
          </a:p>
          <a:p>
            <a:r>
              <a:rPr lang="en-US" dirty="0"/>
              <a:t>Pause.</a:t>
            </a:r>
          </a:p>
          <a:p>
            <a:endParaRPr lang="en-US" dirty="0"/>
          </a:p>
          <a:p>
            <a:r>
              <a:rPr lang="en-US" dirty="0"/>
              <a:t>Explain:</a:t>
            </a:r>
          </a:p>
          <a:p>
            <a:endParaRPr lang="en-US" dirty="0"/>
          </a:p>
          <a:p>
            <a:r>
              <a:rPr lang="en-US" dirty="0"/>
              <a:t>"Great software isn't created by rushing into code."</a:t>
            </a:r>
          </a:p>
          <a:p>
            <a:endParaRPr lang="en-US" dirty="0"/>
          </a:p>
          <a:p>
            <a:r>
              <a:rPr lang="en-US" dirty="0"/>
              <a:t>"It's created through thoughtful engineering."</a:t>
            </a:r>
          </a:p>
          <a:p>
            <a:endParaRPr lang="en-US" dirty="0"/>
          </a:p>
          <a:p>
            <a:r>
              <a:rPr lang="en-US" dirty="0"/>
              <a:t>------------------------------------------------------------</a:t>
            </a:r>
          </a:p>
          <a:p>
            <a:endParaRPr lang="en-US" dirty="0"/>
          </a:p>
          <a:p>
            <a:r>
              <a:rPr lang="en-US" dirty="0"/>
              <a:t>LOOKING AHEAD</a:t>
            </a:r>
          </a:p>
          <a:p>
            <a:endParaRPr lang="en-US" dirty="0"/>
          </a:p>
          <a:p>
            <a:r>
              <a:rPr lang="en-US" dirty="0"/>
              <a:t>Point to Sprint 4.</a:t>
            </a:r>
          </a:p>
          <a:p>
            <a:endParaRPr lang="en-US" dirty="0"/>
          </a:p>
          <a:p>
            <a:r>
              <a:rPr lang="en-US" dirty="0"/>
              <a:t>"We've completed the design."</a:t>
            </a:r>
          </a:p>
          <a:p>
            <a:endParaRPr lang="en-US" dirty="0"/>
          </a:p>
          <a:p>
            <a:r>
              <a:rPr lang="en-US" dirty="0"/>
              <a:t>"Our client approved the plan."</a:t>
            </a:r>
          </a:p>
          <a:p>
            <a:endParaRPr lang="en-US" dirty="0"/>
          </a:p>
          <a:p>
            <a:r>
              <a:rPr lang="en-US" dirty="0"/>
              <a:t>"Our engineering package is finished."</a:t>
            </a:r>
          </a:p>
          <a:p>
            <a:endParaRPr lang="en-US" dirty="0"/>
          </a:p>
          <a:p>
            <a:r>
              <a:rPr lang="en-US" dirty="0"/>
              <a:t>Pause.</a:t>
            </a:r>
          </a:p>
          <a:p>
            <a:endParaRPr lang="en-US" dirty="0"/>
          </a:p>
          <a:p>
            <a:r>
              <a:rPr lang="en-US" dirty="0"/>
              <a:t>"What happens next?"</a:t>
            </a:r>
          </a:p>
          <a:p>
            <a:endParaRPr lang="en-US" dirty="0"/>
          </a:p>
          <a:p>
            <a:r>
              <a:rPr lang="en-US" dirty="0"/>
              <a:t>Smile.</a:t>
            </a:r>
          </a:p>
          <a:p>
            <a:endParaRPr lang="en-US" dirty="0"/>
          </a:p>
          <a:p>
            <a:r>
              <a:rPr lang="en-US" dirty="0"/>
              <a:t>"We build it."</a:t>
            </a:r>
          </a:p>
          <a:p>
            <a:endParaRPr lang="en-US" dirty="0"/>
          </a:p>
          <a:p>
            <a:r>
              <a:rPr lang="en-US" dirty="0"/>
              <a:t>------------------------------------------------------------</a:t>
            </a:r>
          </a:p>
          <a:p>
            <a:endParaRPr lang="en-US" dirty="0"/>
          </a:p>
          <a:p>
            <a:r>
              <a:rPr lang="en-US" dirty="0"/>
              <a:t>CLASS DISCUSSION</a:t>
            </a:r>
          </a:p>
          <a:p>
            <a:endParaRPr lang="en-US" dirty="0"/>
          </a:p>
          <a:p>
            <a:r>
              <a:rPr lang="en-US" dirty="0"/>
              <a:t>Ask:</a:t>
            </a:r>
          </a:p>
          <a:p>
            <a:endParaRPr lang="en-US" dirty="0"/>
          </a:p>
          <a:p>
            <a:r>
              <a:rPr lang="en-US" dirty="0"/>
              <a:t>"If you joined a software company tomorrow..."</a:t>
            </a:r>
          </a:p>
          <a:p>
            <a:endParaRPr lang="en-US" dirty="0"/>
          </a:p>
          <a:p>
            <a:r>
              <a:rPr lang="en-US" dirty="0"/>
              <a:t>"Would this package help you understand the project?"</a:t>
            </a:r>
          </a:p>
          <a:p>
            <a:endParaRPr lang="en-US" dirty="0"/>
          </a:p>
          <a:p>
            <a:r>
              <a:rPr lang="en-US" dirty="0"/>
              <a:t>"What additional information would you want?"</a:t>
            </a:r>
          </a:p>
          <a:p>
            <a:endParaRPr lang="en-US" dirty="0"/>
          </a:p>
          <a:p>
            <a:r>
              <a:rPr lang="en-US" dirty="0"/>
              <a:t>Discuss how documentation supports collaboration across teams.</a:t>
            </a:r>
          </a:p>
          <a:p>
            <a:endParaRPr lang="en-US" dirty="0"/>
          </a:p>
          <a:p>
            <a:r>
              <a:rPr lang="en-US" dirty="0"/>
              <a:t>------------------------------------------------------------</a:t>
            </a:r>
          </a:p>
          <a:p>
            <a:endParaRPr lang="en-US" dirty="0"/>
          </a:p>
          <a:p>
            <a:r>
              <a:rPr lang="en-US" dirty="0"/>
              <a:t>TRANSITION</a:t>
            </a:r>
          </a:p>
          <a:p>
            <a:endParaRPr lang="en-US" dirty="0"/>
          </a:p>
          <a:p>
            <a:r>
              <a:rPr lang="en-US" dirty="0"/>
              <a:t>"Our next artifact is Sprint 3 Review &amp; Retrospective."</a:t>
            </a:r>
          </a:p>
          <a:p>
            <a:endParaRPr lang="en-US" dirty="0"/>
          </a:p>
          <a:p>
            <a:r>
              <a:rPr lang="en-US" dirty="0"/>
              <a:t>"We'll reflect on what we've accomplished..."</a:t>
            </a:r>
          </a:p>
          <a:p>
            <a:endParaRPr lang="en-US" dirty="0"/>
          </a:p>
          <a:p>
            <a:r>
              <a:rPr lang="en-US" dirty="0"/>
              <a:t>"And prepare for Sprint 4."</a:t>
            </a:r>
          </a:p>
          <a:p>
            <a:endParaRPr lang="en-US" dirty="0"/>
          </a:p>
          <a:p>
            <a:r>
              <a:rPr lang="en-US" dirty="0"/>
              <a:t>------------------------------------------------------------</a:t>
            </a:r>
          </a:p>
          <a:p>
            <a:endParaRPr lang="en-US" dirty="0"/>
          </a:p>
          <a:p>
            <a:r>
              <a:rPr lang="en-US" dirty="0"/>
              <a:t>ESTIMATED TIME</a:t>
            </a:r>
          </a:p>
          <a:p>
            <a:endParaRPr lang="en-US" dirty="0"/>
          </a:p>
          <a:p>
            <a:r>
              <a:rPr lang="en-US" dirty="0"/>
              <a:t>Sprint Recap......................5 minutes</a:t>
            </a:r>
          </a:p>
          <a:p>
            <a:endParaRPr lang="en-US" dirty="0"/>
          </a:p>
          <a:p>
            <a:r>
              <a:rPr lang="en-US" dirty="0"/>
              <a:t>ENG-002 Walkthrough..............15 minutes</a:t>
            </a:r>
          </a:p>
          <a:p>
            <a:endParaRPr lang="en-US" dirty="0"/>
          </a:p>
          <a:p>
            <a:r>
              <a:rPr lang="en-US" dirty="0"/>
              <a:t>Design Package Review............15 minutes</a:t>
            </a:r>
          </a:p>
          <a:p>
            <a:endParaRPr lang="en-US" dirty="0"/>
          </a:p>
          <a:p>
            <a:r>
              <a:rPr lang="en-US" dirty="0"/>
              <a:t>Quality Checklist................10 minutes</a:t>
            </a:r>
          </a:p>
          <a:p>
            <a:endParaRPr lang="en-US" dirty="0"/>
          </a:p>
          <a:p>
            <a:r>
              <a:rPr lang="en-US" dirty="0"/>
              <a:t>Engineering Story.................5 minutes</a:t>
            </a:r>
          </a:p>
          <a:p>
            <a:endParaRPr lang="en-US" dirty="0"/>
          </a:p>
          <a:p>
            <a:r>
              <a:rPr lang="en-US" dirty="0"/>
              <a:t>Discussion........................8 minutes</a:t>
            </a:r>
          </a:p>
          <a:p>
            <a:endParaRPr lang="en-US" dirty="0"/>
          </a:p>
          <a:p>
            <a:r>
              <a:rPr lang="en-US" dirty="0"/>
              <a:t>Sprint 4 Preview..................5 minutes</a:t>
            </a:r>
          </a:p>
          <a:p>
            <a:endParaRPr lang="en-US" dirty="0"/>
          </a:p>
          <a:p>
            <a:r>
              <a:rPr lang="en-US" dirty="0"/>
              <a:t>Total............................63 minutes</a:t>
            </a:r>
          </a:p>
          <a:p>
            <a:endParaRPr lang="en-US" dirty="0"/>
          </a:p>
          <a:p>
            <a:r>
              <a:rPr lang="en-US" dirty="0"/>
              <a:t>------------------------------------------------------------</a:t>
            </a:r>
          </a:p>
          <a:p>
            <a:endParaRPr lang="en-US" dirty="0"/>
          </a:p>
          <a:p>
            <a:r>
              <a:rPr lang="en-US" dirty="0"/>
              <a:t>INSTRUCTOR NOTES</a:t>
            </a:r>
          </a:p>
          <a:p>
            <a:endParaRPr lang="en-US" dirty="0"/>
          </a:p>
          <a:p>
            <a:r>
              <a:rPr lang="en-US" dirty="0"/>
              <a:t>This is a celebration as much as it is a lecture.</a:t>
            </a:r>
          </a:p>
          <a:p>
            <a:endParaRPr lang="en-US" dirty="0"/>
          </a:p>
          <a:p>
            <a:r>
              <a:rPr lang="en-US" dirty="0"/>
              <a:t>Students should leave class realizing that they have completed a</a:t>
            </a:r>
          </a:p>
          <a:p>
            <a:r>
              <a:rPr lang="en-US" dirty="0"/>
              <a:t>professional software design package.</a:t>
            </a:r>
          </a:p>
          <a:p>
            <a:endParaRPr lang="en-US" dirty="0"/>
          </a:p>
          <a:p>
            <a:r>
              <a:rPr lang="en-US" dirty="0"/>
              <a:t>Keep referring back to the sequence of artifacts created during Sprint</a:t>
            </a:r>
          </a:p>
          <a:p>
            <a:r>
              <a:rPr lang="en-US" dirty="0"/>
              <a:t>3 and emphasize that none of them were isolated assignments.</a:t>
            </a:r>
          </a:p>
          <a:p>
            <a:endParaRPr lang="en-US" dirty="0"/>
          </a:p>
          <a:p>
            <a:r>
              <a:rPr lang="en-US" dirty="0"/>
              <a:t>Each artifact became another section of the final deliverable.</a:t>
            </a:r>
          </a:p>
          <a:p>
            <a:endParaRPr lang="en-US" dirty="0"/>
          </a:p>
          <a:p>
            <a:r>
              <a:rPr lang="en-US" dirty="0"/>
              <a:t>End the lesson by holding up the completed ENG-002 package and saying:</a:t>
            </a:r>
          </a:p>
          <a:p>
            <a:endParaRPr lang="en-US" dirty="0"/>
          </a:p>
          <a:p>
            <a:r>
              <a:rPr lang="en-US" dirty="0"/>
              <a:t>"Three weeks ago..."</a:t>
            </a:r>
          </a:p>
          <a:p>
            <a:endParaRPr lang="en-US" dirty="0"/>
          </a:p>
          <a:p>
            <a:r>
              <a:rPr lang="en-US" dirty="0"/>
              <a:t>"This was just an idea."</a:t>
            </a:r>
          </a:p>
          <a:p>
            <a:endParaRPr lang="en-US" dirty="0"/>
          </a:p>
          <a:p>
            <a:r>
              <a:rPr lang="en-US" dirty="0"/>
              <a:t>"Today..."</a:t>
            </a:r>
          </a:p>
          <a:p>
            <a:endParaRPr lang="en-US" dirty="0"/>
          </a:p>
          <a:p>
            <a:r>
              <a:rPr lang="en-US" dirty="0"/>
              <a:t>"It is a complete engineering blueprint."</a:t>
            </a:r>
          </a:p>
          <a:p>
            <a:endParaRPr lang="en-US" dirty="0"/>
          </a:p>
          <a:p>
            <a:r>
              <a:rPr lang="en-US" dirty="0"/>
              <a:t>"And next sprint..."</a:t>
            </a:r>
          </a:p>
          <a:p>
            <a:endParaRPr lang="en-US" dirty="0"/>
          </a:p>
          <a:p>
            <a:r>
              <a:rPr lang="en-US" dirty="0"/>
              <a:t>"We're going to bring Atlas </a:t>
            </a:r>
            <a:r>
              <a:rPr lang="en-US" dirty="0" err="1"/>
              <a:t>TaskFlow</a:t>
            </a:r>
            <a:r>
              <a:rPr lang="en-US" dirty="0"/>
              <a:t> to life."</a:t>
            </a:r>
          </a:p>
          <a:p>
            <a:endParaRPr lang="en-US" dirty="0"/>
          </a:p>
          <a:p>
            <a:r>
              <a:rPr lang="en-US" dirty="0"/>
              <a:t>============================================================</a:t>
            </a:r>
          </a:p>
        </p:txBody>
      </p:sp>
      <p:sp>
        <p:nvSpPr>
          <p:cNvPr id="4" name="Slide Number Placeholder 3"/>
          <p:cNvSpPr>
            <a:spLocks noGrp="1"/>
          </p:cNvSpPr>
          <p:nvPr>
            <p:ph type="sldNum" sz="quarter" idx="5"/>
          </p:nvPr>
        </p:nvSpPr>
        <p:spPr/>
        <p:txBody>
          <a:bodyPr/>
          <a:lstStyle/>
          <a:p>
            <a:fld id="{12CFA81F-48ED-4EC0-89DB-73FF3AF92981}" type="slidenum">
              <a:rPr lang="en-US" smtClean="0"/>
              <a:t>9</a:t>
            </a:fld>
            <a:endParaRPr lang="en-US"/>
          </a:p>
        </p:txBody>
      </p:sp>
    </p:spTree>
    <p:extLst>
      <p:ext uri="{BB962C8B-B14F-4D97-AF65-F5344CB8AC3E}">
        <p14:creationId xmlns:p14="http://schemas.microsoft.com/office/powerpoint/2010/main" val="37938396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endParaRPr lang="en-US" dirty="0"/>
          </a:p>
          <a:p>
            <a:r>
              <a:rPr lang="en-US" dirty="0"/>
              <a:t>SPRINT 3</a:t>
            </a:r>
          </a:p>
          <a:p>
            <a:endParaRPr lang="en-US" dirty="0"/>
          </a:p>
          <a:p>
            <a:r>
              <a:rPr lang="en-US" dirty="0"/>
              <a:t>ARTIFACT XLI</a:t>
            </a:r>
          </a:p>
          <a:p>
            <a:endParaRPr lang="en-US" dirty="0"/>
          </a:p>
          <a:p>
            <a:r>
              <a:rPr lang="en-US" dirty="0"/>
              <a:t>SPRINT REVIEW &amp; RETROSPECTIVE</a:t>
            </a:r>
          </a:p>
          <a:p>
            <a:endParaRPr lang="en-US" dirty="0"/>
          </a:p>
          <a:p>
            <a:r>
              <a:rPr lang="en-US" dirty="0"/>
              <a:t>============================================================</a:t>
            </a:r>
          </a:p>
          <a:p>
            <a:endParaRPr lang="en-US" dirty="0"/>
          </a:p>
          <a:p>
            <a:r>
              <a:rPr lang="en-US" dirty="0"/>
              <a:t>SLIDE PURPOSE</a:t>
            </a:r>
          </a:p>
          <a:p>
            <a:endParaRPr lang="en-US" dirty="0"/>
          </a:p>
          <a:p>
            <a:r>
              <a:rPr lang="en-US" dirty="0"/>
              <a:t>Celebrate the successful completion of Sprint 3 while encouraging</a:t>
            </a:r>
          </a:p>
          <a:p>
            <a:r>
              <a:rPr lang="en-US" dirty="0"/>
              <a:t>students to reflect on their engineering journey.</a:t>
            </a:r>
          </a:p>
          <a:p>
            <a:endParaRPr lang="en-US" dirty="0"/>
          </a:p>
          <a:p>
            <a:r>
              <a:rPr lang="en-US" dirty="0"/>
              <a:t>Students should recognize that they have completed a professional</a:t>
            </a:r>
          </a:p>
          <a:p>
            <a:r>
              <a:rPr lang="en-US" dirty="0"/>
              <a:t>software design process and are now prepared to begin development.</a:t>
            </a:r>
          </a:p>
          <a:p>
            <a:endParaRPr lang="en-US" dirty="0"/>
          </a:p>
          <a:p>
            <a:r>
              <a:rPr lang="en-US" dirty="0"/>
              <a:t>This is both a celebration and a transition into Sprint 4.</a:t>
            </a:r>
          </a:p>
          <a:p>
            <a:endParaRPr lang="en-US" dirty="0"/>
          </a:p>
          <a:p>
            <a:r>
              <a:rPr lang="en-US" dirty="0"/>
              <a:t>------------------------------------------------------------</a:t>
            </a:r>
          </a:p>
          <a:p>
            <a:endParaRPr lang="en-US" dirty="0"/>
          </a:p>
          <a:p>
            <a:r>
              <a:rPr lang="en-US" dirty="0"/>
              <a:t>OPENING</a:t>
            </a:r>
          </a:p>
          <a:p>
            <a:endParaRPr lang="en-US" dirty="0"/>
          </a:p>
          <a:p>
            <a:r>
              <a:rPr lang="en-US" dirty="0"/>
              <a:t>"Engineers..."</a:t>
            </a:r>
          </a:p>
          <a:p>
            <a:endParaRPr lang="en-US" dirty="0"/>
          </a:p>
          <a:p>
            <a:r>
              <a:rPr lang="en-US" dirty="0"/>
              <a:t>"Today isn't about learning something new."</a:t>
            </a:r>
          </a:p>
          <a:p>
            <a:endParaRPr lang="en-US" dirty="0"/>
          </a:p>
          <a:p>
            <a:r>
              <a:rPr lang="en-US" dirty="0"/>
              <a:t>"It's about recognizing what we've accomplished."</a:t>
            </a:r>
          </a:p>
          <a:p>
            <a:endParaRPr lang="en-US" dirty="0"/>
          </a:p>
          <a:p>
            <a:r>
              <a:rPr lang="en-US" dirty="0"/>
              <a:t>Pause.</a:t>
            </a:r>
          </a:p>
          <a:p>
            <a:endParaRPr lang="en-US" dirty="0"/>
          </a:p>
          <a:p>
            <a:r>
              <a:rPr lang="en-US" dirty="0"/>
              <a:t>"Three weeks ago..."</a:t>
            </a:r>
          </a:p>
          <a:p>
            <a:endParaRPr lang="en-US" dirty="0"/>
          </a:p>
          <a:p>
            <a:r>
              <a:rPr lang="en-US" dirty="0"/>
              <a:t>"Atlas </a:t>
            </a:r>
            <a:r>
              <a:rPr lang="en-US" dirty="0" err="1"/>
              <a:t>TaskFlow</a:t>
            </a:r>
            <a:r>
              <a:rPr lang="en-US" dirty="0"/>
              <a:t> existed only as an idea."</a:t>
            </a:r>
          </a:p>
          <a:p>
            <a:endParaRPr lang="en-US" dirty="0"/>
          </a:p>
          <a:p>
            <a:r>
              <a:rPr lang="en-US" dirty="0"/>
              <a:t>"Today..."</a:t>
            </a:r>
          </a:p>
          <a:p>
            <a:endParaRPr lang="en-US" dirty="0"/>
          </a:p>
          <a:p>
            <a:r>
              <a:rPr lang="en-US" dirty="0"/>
              <a:t>"It exists as a complete software design package."</a:t>
            </a:r>
          </a:p>
          <a:p>
            <a:endParaRPr lang="en-US" dirty="0"/>
          </a:p>
          <a:p>
            <a:r>
              <a:rPr lang="en-US" dirty="0"/>
              <a:t>Smile.</a:t>
            </a:r>
          </a:p>
          <a:p>
            <a:endParaRPr lang="en-US" dirty="0"/>
          </a:p>
          <a:p>
            <a:r>
              <a:rPr lang="en-US" dirty="0"/>
              <a:t>"That's something worth celebrating."</a:t>
            </a:r>
          </a:p>
          <a:p>
            <a:endParaRPr lang="en-US" dirty="0"/>
          </a:p>
          <a:p>
            <a:r>
              <a:rPr lang="en-US" dirty="0"/>
              <a:t>------------------------------------------------------------</a:t>
            </a:r>
          </a:p>
          <a:p>
            <a:endParaRPr lang="en-US" dirty="0"/>
          </a:p>
          <a:p>
            <a:r>
              <a:rPr lang="en-US" dirty="0"/>
              <a:t>SPRINT REVIEW</a:t>
            </a:r>
          </a:p>
          <a:p>
            <a:endParaRPr lang="en-US" dirty="0"/>
          </a:p>
          <a:p>
            <a:r>
              <a:rPr lang="en-US" dirty="0"/>
              <a:t>Walk through the sprint timeline.</a:t>
            </a:r>
          </a:p>
          <a:p>
            <a:endParaRPr lang="en-US" dirty="0"/>
          </a:p>
          <a:p>
            <a:r>
              <a:rPr lang="en-US" dirty="0"/>
              <a:t>Engineering Brief</a:t>
            </a:r>
          </a:p>
          <a:p>
            <a:endParaRPr lang="en-US" dirty="0"/>
          </a:p>
          <a:p>
            <a:r>
              <a:rPr lang="en-US" dirty="0"/>
              <a:t>Requirements Engineering</a:t>
            </a:r>
          </a:p>
          <a:p>
            <a:endParaRPr lang="en-US" dirty="0"/>
          </a:p>
          <a:p>
            <a:r>
              <a:rPr lang="en-US" dirty="0"/>
              <a:t>User Stories</a:t>
            </a:r>
          </a:p>
          <a:p>
            <a:endParaRPr lang="en-US" dirty="0"/>
          </a:p>
          <a:p>
            <a:r>
              <a:rPr lang="en-US" dirty="0"/>
              <a:t>Personas &amp; User Journeys</a:t>
            </a:r>
          </a:p>
          <a:p>
            <a:endParaRPr lang="en-US" dirty="0"/>
          </a:p>
          <a:p>
            <a:r>
              <a:rPr lang="en-US" dirty="0"/>
              <a:t>Wireframes &amp; UX Design</a:t>
            </a:r>
          </a:p>
          <a:p>
            <a:endParaRPr lang="en-US" dirty="0"/>
          </a:p>
          <a:p>
            <a:r>
              <a:rPr lang="en-US" dirty="0"/>
              <a:t>Information Architecture</a:t>
            </a:r>
          </a:p>
          <a:p>
            <a:endParaRPr lang="en-US" dirty="0"/>
          </a:p>
          <a:p>
            <a:r>
              <a:rPr lang="en-US" dirty="0"/>
              <a:t>Product Backlog &amp; MVP Planning</a:t>
            </a:r>
          </a:p>
          <a:p>
            <a:endParaRPr lang="en-US" dirty="0"/>
          </a:p>
          <a:p>
            <a:r>
              <a:rPr lang="en-US" dirty="0"/>
              <a:t>ENG-002 Design Package</a:t>
            </a:r>
          </a:p>
          <a:p>
            <a:endParaRPr lang="en-US" dirty="0"/>
          </a:p>
          <a:p>
            <a:r>
              <a:rPr lang="en-US" dirty="0"/>
              <a:t>Sprint Review</a:t>
            </a:r>
          </a:p>
          <a:p>
            <a:endParaRPr lang="en-US" dirty="0"/>
          </a:p>
          <a:p>
            <a:r>
              <a:rPr lang="en-US" dirty="0"/>
              <a:t>Explain:</a:t>
            </a:r>
          </a:p>
          <a:p>
            <a:endParaRPr lang="en-US" dirty="0"/>
          </a:p>
          <a:p>
            <a:r>
              <a:rPr lang="en-US" dirty="0"/>
              <a:t>"Notice something."</a:t>
            </a:r>
          </a:p>
          <a:p>
            <a:endParaRPr lang="en-US" dirty="0"/>
          </a:p>
          <a:p>
            <a:r>
              <a:rPr lang="en-US" dirty="0"/>
              <a:t>"Each lesson depended on the one before it."</a:t>
            </a:r>
          </a:p>
          <a:p>
            <a:endParaRPr lang="en-US" dirty="0"/>
          </a:p>
          <a:p>
            <a:r>
              <a:rPr lang="en-US" dirty="0"/>
              <a:t>"This wasn't a collection of assignments."</a:t>
            </a:r>
          </a:p>
          <a:p>
            <a:endParaRPr lang="en-US" dirty="0"/>
          </a:p>
          <a:p>
            <a:r>
              <a:rPr lang="en-US" dirty="0"/>
              <a:t>"It was one engineering project."</a:t>
            </a:r>
          </a:p>
          <a:p>
            <a:endParaRPr lang="en-US" dirty="0"/>
          </a:p>
          <a:p>
            <a:r>
              <a:rPr lang="en-US" dirty="0"/>
              <a:t>------------------------------------------------------------</a:t>
            </a:r>
          </a:p>
          <a:p>
            <a:endParaRPr lang="en-US" dirty="0"/>
          </a:p>
          <a:p>
            <a:r>
              <a:rPr lang="en-US" dirty="0"/>
              <a:t>SPRINT AT A GLANCE</a:t>
            </a:r>
          </a:p>
          <a:p>
            <a:endParaRPr lang="en-US" dirty="0"/>
          </a:p>
          <a:p>
            <a:r>
              <a:rPr lang="en-US" dirty="0"/>
              <a:t>Review the accomplishments.</a:t>
            </a:r>
          </a:p>
          <a:p>
            <a:endParaRPr lang="en-US" dirty="0"/>
          </a:p>
          <a:p>
            <a:r>
              <a:rPr lang="en-US" dirty="0"/>
              <a:t>Nine major artifacts.</a:t>
            </a:r>
          </a:p>
          <a:p>
            <a:endParaRPr lang="en-US" dirty="0"/>
          </a:p>
          <a:p>
            <a:r>
              <a:rPr lang="en-US" dirty="0"/>
              <a:t>Four personas.</a:t>
            </a:r>
          </a:p>
          <a:p>
            <a:endParaRPr lang="en-US" dirty="0"/>
          </a:p>
          <a:p>
            <a:r>
              <a:rPr lang="en-US" dirty="0"/>
              <a:t>Thirty-plus User Stories.</a:t>
            </a:r>
          </a:p>
          <a:p>
            <a:endParaRPr lang="en-US" dirty="0"/>
          </a:p>
          <a:p>
            <a:r>
              <a:rPr lang="en-US" dirty="0"/>
              <a:t>Five wireframes.</a:t>
            </a:r>
          </a:p>
          <a:p>
            <a:endParaRPr lang="en-US" dirty="0"/>
          </a:p>
          <a:p>
            <a:r>
              <a:rPr lang="en-US" dirty="0"/>
              <a:t>One professional design package.</a:t>
            </a:r>
          </a:p>
          <a:p>
            <a:endParaRPr lang="en-US" dirty="0"/>
          </a:p>
          <a:p>
            <a:r>
              <a:rPr lang="en-US" dirty="0"/>
              <a:t>Explain:</a:t>
            </a:r>
          </a:p>
          <a:p>
            <a:endParaRPr lang="en-US" dirty="0"/>
          </a:p>
          <a:p>
            <a:r>
              <a:rPr lang="en-US" dirty="0"/>
              <a:t>"Professional software teams produce these exact kinds of artifacts."</a:t>
            </a:r>
          </a:p>
          <a:p>
            <a:endParaRPr lang="en-US" dirty="0"/>
          </a:p>
          <a:p>
            <a:r>
              <a:rPr lang="en-US" dirty="0"/>
              <a:t>"You've now done the same."</a:t>
            </a:r>
          </a:p>
          <a:p>
            <a:endParaRPr lang="en-US" dirty="0"/>
          </a:p>
          <a:p>
            <a:r>
              <a:rPr lang="en-US" dirty="0"/>
              <a:t>------------------------------------------------------------</a:t>
            </a:r>
          </a:p>
          <a:p>
            <a:endParaRPr lang="en-US" dirty="0"/>
          </a:p>
          <a:p>
            <a:r>
              <a:rPr lang="en-US" dirty="0"/>
              <a:t>WHAT WE ACCOMPLISHED</a:t>
            </a:r>
          </a:p>
          <a:p>
            <a:endParaRPr lang="en-US" dirty="0"/>
          </a:p>
          <a:p>
            <a:r>
              <a:rPr lang="en-US" dirty="0"/>
              <a:t>Walk through each artifact.</a:t>
            </a:r>
          </a:p>
          <a:p>
            <a:endParaRPr lang="en-US" dirty="0"/>
          </a:p>
          <a:p>
            <a:r>
              <a:rPr lang="en-US" dirty="0"/>
              <a:t>Engineering Brief</a:t>
            </a:r>
          </a:p>
          <a:p>
            <a:endParaRPr lang="en-US" dirty="0"/>
          </a:p>
          <a:p>
            <a:r>
              <a:rPr lang="en-US" dirty="0"/>
              <a:t>"We accepted the client project."</a:t>
            </a:r>
          </a:p>
          <a:p>
            <a:endParaRPr lang="en-US" dirty="0"/>
          </a:p>
          <a:p>
            <a:r>
              <a:rPr lang="en-US" dirty="0"/>
              <a:t>Requirements Engineering</a:t>
            </a:r>
          </a:p>
          <a:p>
            <a:endParaRPr lang="en-US" dirty="0"/>
          </a:p>
          <a:p>
            <a:r>
              <a:rPr lang="en-US" dirty="0"/>
              <a:t>"We learned the problem."</a:t>
            </a:r>
          </a:p>
          <a:p>
            <a:endParaRPr lang="en-US" dirty="0"/>
          </a:p>
          <a:p>
            <a:r>
              <a:rPr lang="en-US" dirty="0"/>
              <a:t>User Stories</a:t>
            </a:r>
          </a:p>
          <a:p>
            <a:endParaRPr lang="en-US" dirty="0"/>
          </a:p>
          <a:p>
            <a:r>
              <a:rPr lang="en-US" dirty="0"/>
              <a:t>"We translated needs into value."</a:t>
            </a:r>
          </a:p>
          <a:p>
            <a:endParaRPr lang="en-US" dirty="0"/>
          </a:p>
          <a:p>
            <a:r>
              <a:rPr lang="en-US" dirty="0"/>
              <a:t>Personas &amp; Journeys</a:t>
            </a:r>
          </a:p>
          <a:p>
            <a:endParaRPr lang="en-US" dirty="0"/>
          </a:p>
          <a:p>
            <a:r>
              <a:rPr lang="en-US" dirty="0"/>
              <a:t>"We understood our users."</a:t>
            </a:r>
          </a:p>
          <a:p>
            <a:endParaRPr lang="en-US" dirty="0"/>
          </a:p>
          <a:p>
            <a:r>
              <a:rPr lang="en-US" dirty="0"/>
              <a:t>Wireframes</a:t>
            </a:r>
          </a:p>
          <a:p>
            <a:endParaRPr lang="en-US" dirty="0"/>
          </a:p>
          <a:p>
            <a:r>
              <a:rPr lang="en-US" dirty="0"/>
              <a:t>"We designed the interface."</a:t>
            </a:r>
          </a:p>
          <a:p>
            <a:endParaRPr lang="en-US" dirty="0"/>
          </a:p>
          <a:p>
            <a:r>
              <a:rPr lang="en-US" dirty="0"/>
              <a:t>Information Architecture</a:t>
            </a:r>
          </a:p>
          <a:p>
            <a:endParaRPr lang="en-US" dirty="0"/>
          </a:p>
          <a:p>
            <a:r>
              <a:rPr lang="en-US" dirty="0"/>
              <a:t>"We organized the experience."</a:t>
            </a:r>
          </a:p>
          <a:p>
            <a:endParaRPr lang="en-US" dirty="0"/>
          </a:p>
          <a:p>
            <a:r>
              <a:rPr lang="en-US" dirty="0"/>
              <a:t>Product Backlog</a:t>
            </a:r>
          </a:p>
          <a:p>
            <a:endParaRPr lang="en-US" dirty="0"/>
          </a:p>
          <a:p>
            <a:r>
              <a:rPr lang="en-US" dirty="0"/>
              <a:t>"We prioritized value."</a:t>
            </a:r>
          </a:p>
          <a:p>
            <a:endParaRPr lang="en-US" dirty="0"/>
          </a:p>
          <a:p>
            <a:r>
              <a:rPr lang="en-US" dirty="0"/>
              <a:t>ENG-002</a:t>
            </a:r>
          </a:p>
          <a:p>
            <a:endParaRPr lang="en-US" dirty="0"/>
          </a:p>
          <a:p>
            <a:r>
              <a:rPr lang="en-US" dirty="0"/>
              <a:t>"We delivered a professional design package."</a:t>
            </a:r>
          </a:p>
          <a:p>
            <a:endParaRPr lang="en-US" dirty="0"/>
          </a:p>
          <a:p>
            <a:r>
              <a:rPr lang="en-US" dirty="0"/>
              <a:t>Pause.</a:t>
            </a:r>
          </a:p>
          <a:p>
            <a:endParaRPr lang="en-US" dirty="0"/>
          </a:p>
          <a:p>
            <a:r>
              <a:rPr lang="en-US" dirty="0"/>
              <a:t>"This is an entire software design lifecycle."</a:t>
            </a:r>
          </a:p>
          <a:p>
            <a:endParaRPr lang="en-US" dirty="0"/>
          </a:p>
          <a:p>
            <a:r>
              <a:rPr lang="en-US" dirty="0"/>
              <a:t>------------------------------------------------------------</a:t>
            </a:r>
          </a:p>
          <a:p>
            <a:endParaRPr lang="en-US" dirty="0"/>
          </a:p>
          <a:p>
            <a:r>
              <a:rPr lang="en-US" dirty="0"/>
              <a:t>ATLAS TASKFLOW DESIGN JOURNEY</a:t>
            </a:r>
          </a:p>
          <a:p>
            <a:endParaRPr lang="en-US" dirty="0"/>
          </a:p>
          <a:p>
            <a:r>
              <a:rPr lang="en-US" dirty="0"/>
              <a:t>Follow the visual journey.</a:t>
            </a:r>
          </a:p>
          <a:p>
            <a:endParaRPr lang="en-US" dirty="0"/>
          </a:p>
          <a:p>
            <a:r>
              <a:rPr lang="en-US" dirty="0"/>
              <a:t>Ideas</a:t>
            </a:r>
          </a:p>
          <a:p>
            <a:endParaRPr lang="en-US" dirty="0"/>
          </a:p>
          <a:p>
            <a:r>
              <a:rPr lang="en-US" dirty="0"/>
              <a:t>↓</a:t>
            </a:r>
          </a:p>
          <a:p>
            <a:endParaRPr lang="en-US" dirty="0"/>
          </a:p>
          <a:p>
            <a:r>
              <a:rPr lang="en-US" dirty="0"/>
              <a:t>Requirements</a:t>
            </a:r>
          </a:p>
          <a:p>
            <a:endParaRPr lang="en-US" dirty="0"/>
          </a:p>
          <a:p>
            <a:r>
              <a:rPr lang="en-US" dirty="0"/>
              <a:t>↓</a:t>
            </a:r>
          </a:p>
          <a:p>
            <a:endParaRPr lang="en-US" dirty="0"/>
          </a:p>
          <a:p>
            <a:r>
              <a:rPr lang="en-US" dirty="0"/>
              <a:t>Users</a:t>
            </a:r>
          </a:p>
          <a:p>
            <a:endParaRPr lang="en-US" dirty="0"/>
          </a:p>
          <a:p>
            <a:r>
              <a:rPr lang="en-US" dirty="0"/>
              <a:t>↓</a:t>
            </a:r>
          </a:p>
          <a:p>
            <a:endParaRPr lang="en-US" dirty="0"/>
          </a:p>
          <a:p>
            <a:r>
              <a:rPr lang="en-US" dirty="0"/>
              <a:t>Design</a:t>
            </a:r>
          </a:p>
          <a:p>
            <a:endParaRPr lang="en-US" dirty="0"/>
          </a:p>
          <a:p>
            <a:r>
              <a:rPr lang="en-US" dirty="0"/>
              <a:t>↓</a:t>
            </a:r>
          </a:p>
          <a:p>
            <a:endParaRPr lang="en-US" dirty="0"/>
          </a:p>
          <a:p>
            <a:r>
              <a:rPr lang="en-US" dirty="0"/>
              <a:t>Architecture</a:t>
            </a:r>
          </a:p>
          <a:p>
            <a:endParaRPr lang="en-US" dirty="0"/>
          </a:p>
          <a:p>
            <a:r>
              <a:rPr lang="en-US" dirty="0"/>
              <a:t>↓</a:t>
            </a:r>
          </a:p>
          <a:p>
            <a:endParaRPr lang="en-US" dirty="0"/>
          </a:p>
          <a:p>
            <a:r>
              <a:rPr lang="en-US" dirty="0"/>
              <a:t>Planning</a:t>
            </a:r>
          </a:p>
          <a:p>
            <a:endParaRPr lang="en-US" dirty="0"/>
          </a:p>
          <a:p>
            <a:r>
              <a:rPr lang="en-US" dirty="0"/>
              <a:t>↓</a:t>
            </a:r>
          </a:p>
          <a:p>
            <a:endParaRPr lang="en-US" dirty="0"/>
          </a:p>
          <a:p>
            <a:r>
              <a:rPr lang="en-US" dirty="0"/>
              <a:t>Development Ready</a:t>
            </a:r>
          </a:p>
          <a:p>
            <a:endParaRPr lang="en-US" dirty="0"/>
          </a:p>
          <a:p>
            <a:r>
              <a:rPr lang="en-US" dirty="0"/>
              <a:t>Explain:</a:t>
            </a:r>
          </a:p>
          <a:p>
            <a:endParaRPr lang="en-US" dirty="0"/>
          </a:p>
          <a:p>
            <a:r>
              <a:rPr lang="en-US" dirty="0"/>
              <a:t>"This is exactly how modern software begins."</a:t>
            </a:r>
          </a:p>
          <a:p>
            <a:endParaRPr lang="en-US" dirty="0"/>
          </a:p>
          <a:p>
            <a:r>
              <a:rPr lang="en-US" dirty="0"/>
              <a:t>------------------------------------------------------------</a:t>
            </a:r>
          </a:p>
          <a:p>
            <a:endParaRPr lang="en-US" dirty="0"/>
          </a:p>
          <a:p>
            <a:r>
              <a:rPr lang="en-US" dirty="0"/>
              <a:t>SPRINT OUTCOMES</a:t>
            </a:r>
          </a:p>
          <a:p>
            <a:endParaRPr lang="en-US" dirty="0"/>
          </a:p>
          <a:p>
            <a:r>
              <a:rPr lang="en-US" dirty="0"/>
              <a:t>Review each outcome.</a:t>
            </a:r>
          </a:p>
          <a:p>
            <a:endParaRPr lang="en-US" dirty="0"/>
          </a:p>
          <a:p>
            <a:r>
              <a:rPr lang="en-US" dirty="0"/>
              <a:t>We understand the problem.</a:t>
            </a:r>
          </a:p>
          <a:p>
            <a:endParaRPr lang="en-US" dirty="0"/>
          </a:p>
          <a:p>
            <a:r>
              <a:rPr lang="en-US" dirty="0"/>
              <a:t>We understand our users.</a:t>
            </a:r>
          </a:p>
          <a:p>
            <a:endParaRPr lang="en-US" dirty="0"/>
          </a:p>
          <a:p>
            <a:r>
              <a:rPr lang="en-US" dirty="0"/>
              <a:t>We created clear requirements.</a:t>
            </a:r>
          </a:p>
          <a:p>
            <a:endParaRPr lang="en-US" dirty="0"/>
          </a:p>
          <a:p>
            <a:r>
              <a:rPr lang="en-US" dirty="0"/>
              <a:t>We designed meaningful experiences.</a:t>
            </a:r>
          </a:p>
          <a:p>
            <a:endParaRPr lang="en-US" dirty="0"/>
          </a:p>
          <a:p>
            <a:r>
              <a:rPr lang="en-US" dirty="0"/>
              <a:t>We organized information.</a:t>
            </a:r>
          </a:p>
          <a:p>
            <a:endParaRPr lang="en-US" dirty="0"/>
          </a:p>
          <a:p>
            <a:r>
              <a:rPr lang="en-US" dirty="0"/>
              <a:t>We prioritized value.</a:t>
            </a:r>
          </a:p>
          <a:p>
            <a:endParaRPr lang="en-US" dirty="0"/>
          </a:p>
          <a:p>
            <a:r>
              <a:rPr lang="en-US" dirty="0"/>
              <a:t>We earned client approval.</a:t>
            </a:r>
          </a:p>
          <a:p>
            <a:endParaRPr lang="en-US" dirty="0"/>
          </a:p>
          <a:p>
            <a:r>
              <a:rPr lang="en-US" dirty="0"/>
              <a:t>We are ready for Sprint 4.</a:t>
            </a:r>
          </a:p>
          <a:p>
            <a:endParaRPr lang="en-US" dirty="0"/>
          </a:p>
          <a:p>
            <a:r>
              <a:rPr lang="en-US" dirty="0"/>
              <a:t>Pause.</a:t>
            </a:r>
          </a:p>
          <a:p>
            <a:endParaRPr lang="en-US" dirty="0"/>
          </a:p>
          <a:p>
            <a:r>
              <a:rPr lang="en-US" dirty="0"/>
              <a:t>"These aren't classroom objectives."</a:t>
            </a:r>
          </a:p>
          <a:p>
            <a:endParaRPr lang="en-US" dirty="0"/>
          </a:p>
          <a:p>
            <a:r>
              <a:rPr lang="en-US" dirty="0"/>
              <a:t>"These are engineering milestones."</a:t>
            </a:r>
          </a:p>
          <a:p>
            <a:endParaRPr lang="en-US" dirty="0"/>
          </a:p>
          <a:p>
            <a:r>
              <a:rPr lang="en-US" dirty="0"/>
              <a:t>------------------------------------------------------------</a:t>
            </a:r>
          </a:p>
          <a:p>
            <a:endParaRPr lang="en-US" dirty="0"/>
          </a:p>
          <a:p>
            <a:r>
              <a:rPr lang="en-US" dirty="0"/>
              <a:t>CLIENT FEEDBACK</a:t>
            </a:r>
          </a:p>
          <a:p>
            <a:endParaRPr lang="en-US" dirty="0"/>
          </a:p>
          <a:p>
            <a:r>
              <a:rPr lang="en-US" dirty="0"/>
              <a:t>Read the client response.</a:t>
            </a:r>
          </a:p>
          <a:p>
            <a:endParaRPr lang="en-US" dirty="0"/>
          </a:p>
          <a:p>
            <a:r>
              <a:rPr lang="en-US" dirty="0"/>
              <a:t>Discuss what client approval represents.</a:t>
            </a:r>
          </a:p>
          <a:p>
            <a:endParaRPr lang="en-US" dirty="0"/>
          </a:p>
          <a:p>
            <a:r>
              <a:rPr lang="en-US" dirty="0"/>
              <a:t>Not perfection.</a:t>
            </a:r>
          </a:p>
          <a:p>
            <a:endParaRPr lang="en-US" dirty="0"/>
          </a:p>
          <a:p>
            <a:r>
              <a:rPr lang="en-US" dirty="0"/>
              <a:t>Shared understanding.</a:t>
            </a:r>
          </a:p>
          <a:p>
            <a:endParaRPr lang="en-US" dirty="0"/>
          </a:p>
          <a:p>
            <a:r>
              <a:rPr lang="en-US" dirty="0"/>
              <a:t>Confidence.</a:t>
            </a:r>
          </a:p>
          <a:p>
            <a:endParaRPr lang="en-US" dirty="0"/>
          </a:p>
          <a:p>
            <a:r>
              <a:rPr lang="en-US" dirty="0"/>
              <a:t>Alignment.</a:t>
            </a:r>
          </a:p>
          <a:p>
            <a:endParaRPr lang="en-US" dirty="0"/>
          </a:p>
          <a:p>
            <a:r>
              <a:rPr lang="en-US" dirty="0"/>
              <a:t>Explain:</a:t>
            </a:r>
          </a:p>
          <a:p>
            <a:endParaRPr lang="en-US" dirty="0"/>
          </a:p>
          <a:p>
            <a:r>
              <a:rPr lang="en-US" dirty="0"/>
              <a:t>"The client trusts us enough to begin development."</a:t>
            </a:r>
          </a:p>
          <a:p>
            <a:endParaRPr lang="en-US" dirty="0"/>
          </a:p>
          <a:p>
            <a:r>
              <a:rPr lang="en-US" dirty="0"/>
              <a:t>------------------------------------------------------------</a:t>
            </a:r>
          </a:p>
          <a:p>
            <a:endParaRPr lang="en-US" dirty="0"/>
          </a:p>
          <a:p>
            <a:r>
              <a:rPr lang="en-US" dirty="0"/>
              <a:t>ENGINEERING INSIGHT</a:t>
            </a:r>
          </a:p>
          <a:p>
            <a:endParaRPr lang="en-US" dirty="0"/>
          </a:p>
          <a:p>
            <a:r>
              <a:rPr lang="en-US" dirty="0"/>
              <a:t>Read the statement.</a:t>
            </a:r>
          </a:p>
          <a:p>
            <a:endParaRPr lang="en-US" dirty="0"/>
          </a:p>
          <a:p>
            <a:r>
              <a:rPr lang="en-US" dirty="0"/>
              <a:t>"Reflection turns experience into improvement."</a:t>
            </a:r>
          </a:p>
          <a:p>
            <a:endParaRPr lang="en-US" dirty="0"/>
          </a:p>
          <a:p>
            <a:r>
              <a:rPr lang="en-US" dirty="0"/>
              <a:t>Explain.</a:t>
            </a:r>
          </a:p>
          <a:p>
            <a:endParaRPr lang="en-US" dirty="0"/>
          </a:p>
          <a:p>
            <a:r>
              <a:rPr lang="en-US" dirty="0"/>
              <a:t>"The best engineers don't simply finish projects."</a:t>
            </a:r>
          </a:p>
          <a:p>
            <a:endParaRPr lang="en-US" dirty="0"/>
          </a:p>
          <a:p>
            <a:r>
              <a:rPr lang="en-US" dirty="0"/>
              <a:t>"They ask..."</a:t>
            </a:r>
          </a:p>
          <a:p>
            <a:endParaRPr lang="en-US" dirty="0"/>
          </a:p>
          <a:p>
            <a:r>
              <a:rPr lang="en-US" dirty="0"/>
              <a:t>"What worked?"</a:t>
            </a:r>
          </a:p>
          <a:p>
            <a:endParaRPr lang="en-US" dirty="0"/>
          </a:p>
          <a:p>
            <a:r>
              <a:rPr lang="en-US" dirty="0"/>
              <a:t>"What didn't?"</a:t>
            </a:r>
          </a:p>
          <a:p>
            <a:endParaRPr lang="en-US" dirty="0"/>
          </a:p>
          <a:p>
            <a:r>
              <a:rPr lang="en-US" dirty="0"/>
              <a:t>"What can we improve?"</a:t>
            </a:r>
          </a:p>
          <a:p>
            <a:endParaRPr lang="en-US" dirty="0"/>
          </a:p>
          <a:p>
            <a:r>
              <a:rPr lang="en-US" dirty="0"/>
              <a:t>------------------------------------------------------------</a:t>
            </a:r>
          </a:p>
          <a:p>
            <a:endParaRPr lang="en-US" dirty="0"/>
          </a:p>
          <a:p>
            <a:r>
              <a:rPr lang="en-US" dirty="0"/>
              <a:t>TEAM REFLECTION</a:t>
            </a:r>
          </a:p>
          <a:p>
            <a:endParaRPr lang="en-US" dirty="0"/>
          </a:p>
          <a:p>
            <a:r>
              <a:rPr lang="en-US" dirty="0"/>
              <a:t>Review successes.</a:t>
            </a:r>
          </a:p>
          <a:p>
            <a:endParaRPr lang="en-US" dirty="0"/>
          </a:p>
          <a:p>
            <a:r>
              <a:rPr lang="en-US" dirty="0"/>
              <a:t>Communication</a:t>
            </a:r>
          </a:p>
          <a:p>
            <a:endParaRPr lang="en-US" dirty="0"/>
          </a:p>
          <a:p>
            <a:r>
              <a:rPr lang="en-US" dirty="0"/>
              <a:t>Documentation</a:t>
            </a:r>
          </a:p>
          <a:p>
            <a:endParaRPr lang="en-US" dirty="0"/>
          </a:p>
          <a:p>
            <a:r>
              <a:rPr lang="en-US" dirty="0"/>
              <a:t>Problem Solving</a:t>
            </a:r>
          </a:p>
          <a:p>
            <a:endParaRPr lang="en-US" dirty="0"/>
          </a:p>
          <a:p>
            <a:r>
              <a:rPr lang="en-US" dirty="0"/>
              <a:t>Design</a:t>
            </a:r>
          </a:p>
          <a:p>
            <a:endParaRPr lang="en-US" dirty="0"/>
          </a:p>
          <a:p>
            <a:r>
              <a:rPr lang="en-US" dirty="0"/>
              <a:t>Planning</a:t>
            </a:r>
          </a:p>
          <a:p>
            <a:endParaRPr lang="en-US" dirty="0"/>
          </a:p>
          <a:p>
            <a:r>
              <a:rPr lang="en-US" dirty="0"/>
              <a:t>Then discuss improvements.</a:t>
            </a:r>
          </a:p>
          <a:p>
            <a:endParaRPr lang="en-US" dirty="0"/>
          </a:p>
          <a:p>
            <a:r>
              <a:rPr lang="en-US" dirty="0"/>
              <a:t>Time estimation</a:t>
            </a:r>
          </a:p>
          <a:p>
            <a:endParaRPr lang="en-US" dirty="0"/>
          </a:p>
          <a:p>
            <a:r>
              <a:rPr lang="en-US" dirty="0"/>
              <a:t>Validation</a:t>
            </a:r>
          </a:p>
          <a:p>
            <a:endParaRPr lang="en-US" dirty="0"/>
          </a:p>
          <a:p>
            <a:r>
              <a:rPr lang="en-US" dirty="0"/>
              <a:t>Naming consistency</a:t>
            </a:r>
          </a:p>
          <a:p>
            <a:endParaRPr lang="en-US" dirty="0"/>
          </a:p>
          <a:p>
            <a:r>
              <a:rPr lang="en-US" dirty="0"/>
              <a:t>Iteration</a:t>
            </a:r>
          </a:p>
          <a:p>
            <a:endParaRPr lang="en-US" dirty="0"/>
          </a:p>
          <a:p>
            <a:r>
              <a:rPr lang="en-US" dirty="0"/>
              <a:t>Explain:</a:t>
            </a:r>
          </a:p>
          <a:p>
            <a:endParaRPr lang="en-US" dirty="0"/>
          </a:p>
          <a:p>
            <a:r>
              <a:rPr lang="en-US" dirty="0"/>
              <a:t>"Every sprint teaches us something."</a:t>
            </a:r>
          </a:p>
          <a:p>
            <a:endParaRPr lang="en-US" dirty="0"/>
          </a:p>
          <a:p>
            <a:r>
              <a:rPr lang="en-US" dirty="0"/>
              <a:t>------------------------------------------------------------</a:t>
            </a:r>
          </a:p>
          <a:p>
            <a:endParaRPr lang="en-US" dirty="0"/>
          </a:p>
          <a:p>
            <a:r>
              <a:rPr lang="en-US" dirty="0"/>
              <a:t>LESSONS LEARNED</a:t>
            </a:r>
          </a:p>
          <a:p>
            <a:endParaRPr lang="en-US" dirty="0"/>
          </a:p>
          <a:p>
            <a:r>
              <a:rPr lang="en-US" dirty="0"/>
              <a:t>Walk through each lesson.</a:t>
            </a:r>
          </a:p>
          <a:p>
            <a:endParaRPr lang="en-US" dirty="0"/>
          </a:p>
          <a:p>
            <a:r>
              <a:rPr lang="en-US" dirty="0"/>
              <a:t>Talk to users early.</a:t>
            </a:r>
          </a:p>
          <a:p>
            <a:endParaRPr lang="en-US" dirty="0"/>
          </a:p>
          <a:p>
            <a:r>
              <a:rPr lang="en-US" dirty="0"/>
              <a:t>Good requirements save time.</a:t>
            </a:r>
          </a:p>
          <a:p>
            <a:endParaRPr lang="en-US" dirty="0"/>
          </a:p>
          <a:p>
            <a:r>
              <a:rPr lang="en-US" dirty="0"/>
              <a:t>Simple designs solve complex problems.</a:t>
            </a:r>
          </a:p>
          <a:p>
            <a:endParaRPr lang="en-US" dirty="0"/>
          </a:p>
          <a:p>
            <a:r>
              <a:rPr lang="en-US" dirty="0"/>
              <a:t>Prioritize value.</a:t>
            </a:r>
          </a:p>
          <a:p>
            <a:endParaRPr lang="en-US" dirty="0"/>
          </a:p>
          <a:p>
            <a:r>
              <a:rPr lang="en-US" dirty="0"/>
              <a:t>Documentation is communication.</a:t>
            </a:r>
          </a:p>
          <a:p>
            <a:endParaRPr lang="en-US" dirty="0"/>
          </a:p>
          <a:p>
            <a:r>
              <a:rPr lang="en-US" dirty="0"/>
              <a:t>Ask students:</a:t>
            </a:r>
          </a:p>
          <a:p>
            <a:endParaRPr lang="en-US" dirty="0"/>
          </a:p>
          <a:p>
            <a:r>
              <a:rPr lang="en-US" dirty="0"/>
              <a:t>"Which lesson surprised you the most?"</a:t>
            </a:r>
          </a:p>
          <a:p>
            <a:endParaRPr lang="en-US" dirty="0"/>
          </a:p>
          <a:p>
            <a:r>
              <a:rPr lang="en-US" dirty="0"/>
              <a:t>------------------------------------------------------------</a:t>
            </a:r>
          </a:p>
          <a:p>
            <a:endParaRPr lang="en-US" dirty="0"/>
          </a:p>
          <a:p>
            <a:r>
              <a:rPr lang="en-US" dirty="0"/>
              <a:t>METRICS SNAPSHOT</a:t>
            </a:r>
          </a:p>
          <a:p>
            <a:endParaRPr lang="en-US" dirty="0"/>
          </a:p>
          <a:p>
            <a:r>
              <a:rPr lang="en-US" dirty="0"/>
              <a:t>Review the numbers.</a:t>
            </a:r>
          </a:p>
          <a:p>
            <a:endParaRPr lang="en-US" dirty="0"/>
          </a:p>
          <a:p>
            <a:r>
              <a:rPr lang="en-US" dirty="0"/>
              <a:t>User Stories</a:t>
            </a:r>
          </a:p>
          <a:p>
            <a:endParaRPr lang="en-US" dirty="0"/>
          </a:p>
          <a:p>
            <a:r>
              <a:rPr lang="en-US" dirty="0"/>
              <a:t>Wireframes</a:t>
            </a:r>
          </a:p>
          <a:p>
            <a:endParaRPr lang="en-US" dirty="0"/>
          </a:p>
          <a:p>
            <a:r>
              <a:rPr lang="en-US" dirty="0"/>
              <a:t>Personas</a:t>
            </a:r>
          </a:p>
          <a:p>
            <a:endParaRPr lang="en-US" dirty="0"/>
          </a:p>
          <a:p>
            <a:r>
              <a:rPr lang="en-US" dirty="0"/>
              <a:t>Requirements</a:t>
            </a:r>
          </a:p>
          <a:p>
            <a:endParaRPr lang="en-US" dirty="0"/>
          </a:p>
          <a:p>
            <a:r>
              <a:rPr lang="en-US" dirty="0"/>
              <a:t>Backlog Items</a:t>
            </a:r>
          </a:p>
          <a:p>
            <a:endParaRPr lang="en-US" dirty="0"/>
          </a:p>
          <a:p>
            <a:r>
              <a:rPr lang="en-US" dirty="0"/>
              <a:t>Explain.</a:t>
            </a:r>
          </a:p>
          <a:p>
            <a:endParaRPr lang="en-US" dirty="0"/>
          </a:p>
          <a:p>
            <a:r>
              <a:rPr lang="en-US" dirty="0"/>
              <a:t>"Engineering isn't measured only by code."</a:t>
            </a:r>
          </a:p>
          <a:p>
            <a:endParaRPr lang="en-US" dirty="0"/>
          </a:p>
          <a:p>
            <a:r>
              <a:rPr lang="en-US" dirty="0"/>
              <a:t>"It's measured by progress."</a:t>
            </a:r>
          </a:p>
          <a:p>
            <a:endParaRPr lang="en-US" dirty="0"/>
          </a:p>
          <a:p>
            <a:r>
              <a:rPr lang="en-US" dirty="0"/>
              <a:t>------------------------------------------------------------</a:t>
            </a:r>
          </a:p>
          <a:p>
            <a:endParaRPr lang="en-US" dirty="0"/>
          </a:p>
          <a:p>
            <a:r>
              <a:rPr lang="en-US" dirty="0"/>
              <a:t>RISKS &amp; MITIGATIONS</a:t>
            </a:r>
          </a:p>
          <a:p>
            <a:endParaRPr lang="en-US" dirty="0"/>
          </a:p>
          <a:p>
            <a:r>
              <a:rPr lang="en-US" dirty="0"/>
              <a:t>Discuss.</a:t>
            </a:r>
          </a:p>
          <a:p>
            <a:endParaRPr lang="en-US" dirty="0"/>
          </a:p>
          <a:p>
            <a:r>
              <a:rPr lang="en-US" dirty="0"/>
              <a:t>Changing Requirements</a:t>
            </a:r>
          </a:p>
          <a:p>
            <a:endParaRPr lang="en-US" dirty="0"/>
          </a:p>
          <a:p>
            <a:r>
              <a:rPr lang="en-US" dirty="0"/>
              <a:t>Scope Creep</a:t>
            </a:r>
          </a:p>
          <a:p>
            <a:endParaRPr lang="en-US" dirty="0"/>
          </a:p>
          <a:p>
            <a:r>
              <a:rPr lang="en-US" dirty="0"/>
              <a:t>Time Estimation</a:t>
            </a:r>
          </a:p>
          <a:p>
            <a:endParaRPr lang="en-US" dirty="0"/>
          </a:p>
          <a:p>
            <a:r>
              <a:rPr lang="en-US" dirty="0"/>
              <a:t>Limited Feedback</a:t>
            </a:r>
          </a:p>
          <a:p>
            <a:endParaRPr lang="en-US" dirty="0"/>
          </a:p>
          <a:p>
            <a:r>
              <a:rPr lang="en-US" dirty="0"/>
              <a:t>Explain how each risk was managed.</a:t>
            </a:r>
          </a:p>
          <a:p>
            <a:endParaRPr lang="en-US" dirty="0"/>
          </a:p>
          <a:p>
            <a:r>
              <a:rPr lang="en-US" dirty="0"/>
              <a:t>Connect back to Agile thinking.</a:t>
            </a:r>
          </a:p>
          <a:p>
            <a:endParaRPr lang="en-US" dirty="0"/>
          </a:p>
          <a:p>
            <a:r>
              <a:rPr lang="en-US" dirty="0"/>
              <a:t>------------------------------------------------------------</a:t>
            </a:r>
          </a:p>
          <a:p>
            <a:endParaRPr lang="en-US" dirty="0"/>
          </a:p>
          <a:p>
            <a:r>
              <a:rPr lang="en-US" dirty="0"/>
              <a:t>PREPARING FOR SPRINT 4</a:t>
            </a:r>
          </a:p>
          <a:p>
            <a:endParaRPr lang="en-US" dirty="0"/>
          </a:p>
          <a:p>
            <a:r>
              <a:rPr lang="en-US" dirty="0"/>
              <a:t>Read the roadmap.</a:t>
            </a:r>
          </a:p>
          <a:p>
            <a:endParaRPr lang="en-US" dirty="0"/>
          </a:p>
          <a:p>
            <a:r>
              <a:rPr lang="en-US" dirty="0"/>
              <a:t>Development Environment</a:t>
            </a:r>
          </a:p>
          <a:p>
            <a:endParaRPr lang="en-US" dirty="0"/>
          </a:p>
          <a:p>
            <a:r>
              <a:rPr lang="en-US" dirty="0"/>
              <a:t>Database Design</a:t>
            </a:r>
          </a:p>
          <a:p>
            <a:endParaRPr lang="en-US" dirty="0"/>
          </a:p>
          <a:p>
            <a:r>
              <a:rPr lang="en-US" dirty="0"/>
              <a:t>API Planning</a:t>
            </a:r>
          </a:p>
          <a:p>
            <a:endParaRPr lang="en-US" dirty="0"/>
          </a:p>
          <a:p>
            <a:r>
              <a:rPr lang="en-US" dirty="0"/>
              <a:t>Implementation</a:t>
            </a:r>
          </a:p>
          <a:p>
            <a:endParaRPr lang="en-US" dirty="0"/>
          </a:p>
          <a:p>
            <a:r>
              <a:rPr lang="en-US" dirty="0"/>
              <a:t>Testing</a:t>
            </a:r>
          </a:p>
          <a:p>
            <a:endParaRPr lang="en-US" dirty="0"/>
          </a:p>
          <a:p>
            <a:r>
              <a:rPr lang="en-US" dirty="0"/>
              <a:t>Working Software</a:t>
            </a:r>
          </a:p>
          <a:p>
            <a:endParaRPr lang="en-US" dirty="0"/>
          </a:p>
          <a:p>
            <a:r>
              <a:rPr lang="en-US" dirty="0"/>
              <a:t>Pause.</a:t>
            </a:r>
          </a:p>
          <a:p>
            <a:endParaRPr lang="en-US" dirty="0"/>
          </a:p>
          <a:p>
            <a:r>
              <a:rPr lang="en-US" dirty="0"/>
              <a:t>Then smile.</a:t>
            </a:r>
          </a:p>
          <a:p>
            <a:endParaRPr lang="en-US" dirty="0"/>
          </a:p>
          <a:p>
            <a:r>
              <a:rPr lang="en-US" dirty="0"/>
              <a:t>"This..."</a:t>
            </a:r>
          </a:p>
          <a:p>
            <a:endParaRPr lang="en-US" dirty="0"/>
          </a:p>
          <a:p>
            <a:r>
              <a:rPr lang="en-US" dirty="0"/>
              <a:t>"This is where coding finally begins."</a:t>
            </a:r>
          </a:p>
          <a:p>
            <a:endParaRPr lang="en-US" dirty="0"/>
          </a:p>
          <a:p>
            <a:r>
              <a:rPr lang="en-US" dirty="0"/>
              <a:t>------------------------------------------------------------</a:t>
            </a:r>
          </a:p>
          <a:p>
            <a:endParaRPr lang="en-US" dirty="0"/>
          </a:p>
          <a:p>
            <a:r>
              <a:rPr lang="en-US" dirty="0"/>
              <a:t>CLASS DISCUSSION</a:t>
            </a:r>
          </a:p>
          <a:p>
            <a:endParaRPr lang="en-US" dirty="0"/>
          </a:p>
          <a:p>
            <a:r>
              <a:rPr lang="en-US" dirty="0"/>
              <a:t>Ask:</a:t>
            </a:r>
          </a:p>
          <a:p>
            <a:endParaRPr lang="en-US" dirty="0"/>
          </a:p>
          <a:p>
            <a:r>
              <a:rPr lang="en-US" dirty="0"/>
              <a:t>"What artifact helped you understand software engineering the most?"</a:t>
            </a:r>
          </a:p>
          <a:p>
            <a:endParaRPr lang="en-US" dirty="0"/>
          </a:p>
          <a:p>
            <a:r>
              <a:rPr lang="en-US" dirty="0"/>
              <a:t>"If you could redesign one part of Atlas </a:t>
            </a:r>
            <a:r>
              <a:rPr lang="en-US" dirty="0" err="1"/>
              <a:t>TaskFlow</a:t>
            </a:r>
            <a:r>
              <a:rPr lang="en-US" dirty="0"/>
              <a:t>..."</a:t>
            </a:r>
          </a:p>
          <a:p>
            <a:endParaRPr lang="en-US" dirty="0"/>
          </a:p>
          <a:p>
            <a:r>
              <a:rPr lang="en-US" dirty="0"/>
              <a:t>"What would you change?"</a:t>
            </a:r>
          </a:p>
          <a:p>
            <a:endParaRPr lang="en-US" dirty="0"/>
          </a:p>
          <a:p>
            <a:r>
              <a:rPr lang="en-US" dirty="0"/>
              <a:t>"What was your biggest engineering lesson?"</a:t>
            </a:r>
          </a:p>
          <a:p>
            <a:endParaRPr lang="en-US" dirty="0"/>
          </a:p>
          <a:p>
            <a:r>
              <a:rPr lang="en-US" dirty="0"/>
              <a:t>Give students time to reflect.</a:t>
            </a:r>
          </a:p>
          <a:p>
            <a:endParaRPr lang="en-US" dirty="0"/>
          </a:p>
          <a:p>
            <a:r>
              <a:rPr lang="en-US" dirty="0"/>
              <a:t>------------------------------------------------------------</a:t>
            </a:r>
          </a:p>
          <a:p>
            <a:endParaRPr lang="en-US" dirty="0"/>
          </a:p>
          <a:p>
            <a:r>
              <a:rPr lang="en-US" dirty="0"/>
              <a:t>ENGINEERING LESSON</a:t>
            </a:r>
          </a:p>
          <a:p>
            <a:endParaRPr lang="en-US" dirty="0"/>
          </a:p>
          <a:p>
            <a:r>
              <a:rPr lang="en-US" dirty="0"/>
              <a:t>Read the quote.</a:t>
            </a:r>
          </a:p>
          <a:p>
            <a:endParaRPr lang="en-US" dirty="0"/>
          </a:p>
          <a:p>
            <a:r>
              <a:rPr lang="en-US" dirty="0"/>
              <a:t>"Alone we can do so little..."</a:t>
            </a:r>
          </a:p>
          <a:p>
            <a:endParaRPr lang="en-US" dirty="0"/>
          </a:p>
          <a:p>
            <a:r>
              <a:rPr lang="en-US" dirty="0"/>
              <a:t>"Together we can do so much."</a:t>
            </a:r>
          </a:p>
          <a:p>
            <a:endParaRPr lang="en-US" dirty="0"/>
          </a:p>
          <a:p>
            <a:r>
              <a:rPr lang="en-US" dirty="0"/>
              <a:t>Explain.</a:t>
            </a:r>
          </a:p>
          <a:p>
            <a:endParaRPr lang="en-US" dirty="0"/>
          </a:p>
          <a:p>
            <a:r>
              <a:rPr lang="en-US" dirty="0"/>
              <a:t>"Software engineering has never been an individual sport."</a:t>
            </a:r>
          </a:p>
          <a:p>
            <a:endParaRPr lang="en-US" dirty="0"/>
          </a:p>
          <a:p>
            <a:r>
              <a:rPr lang="en-US" dirty="0"/>
              <a:t>"The best products come from teams."</a:t>
            </a:r>
          </a:p>
          <a:p>
            <a:endParaRPr lang="en-US" dirty="0"/>
          </a:p>
          <a:p>
            <a:r>
              <a:rPr lang="en-US" dirty="0"/>
              <a:t>------------------------------------------------------------</a:t>
            </a:r>
          </a:p>
          <a:p>
            <a:endParaRPr lang="en-US" dirty="0"/>
          </a:p>
          <a:p>
            <a:r>
              <a:rPr lang="en-US" dirty="0"/>
              <a:t>THE MOMENT</a:t>
            </a:r>
          </a:p>
          <a:p>
            <a:endParaRPr lang="en-US" dirty="0"/>
          </a:p>
          <a:p>
            <a:r>
              <a:rPr lang="en-US" dirty="0"/>
              <a:t>This is where I would slow down.</a:t>
            </a:r>
          </a:p>
          <a:p>
            <a:endParaRPr lang="en-US" dirty="0"/>
          </a:p>
          <a:p>
            <a:r>
              <a:rPr lang="en-US" dirty="0"/>
              <a:t>Walk to the center of the room.</a:t>
            </a:r>
          </a:p>
          <a:p>
            <a:endParaRPr lang="en-US" dirty="0"/>
          </a:p>
          <a:p>
            <a:r>
              <a:rPr lang="en-US" dirty="0"/>
              <a:t>Pause.</a:t>
            </a:r>
          </a:p>
          <a:p>
            <a:endParaRPr lang="en-US" dirty="0"/>
          </a:p>
          <a:p>
            <a:r>
              <a:rPr lang="en-US" dirty="0"/>
              <a:t>Then say...</a:t>
            </a:r>
          </a:p>
          <a:p>
            <a:endParaRPr lang="en-US" dirty="0"/>
          </a:p>
          <a:p>
            <a:r>
              <a:rPr lang="en-US" dirty="0"/>
              <a:t>"Three weeks ago..."</a:t>
            </a:r>
          </a:p>
          <a:p>
            <a:endParaRPr lang="en-US" dirty="0"/>
          </a:p>
          <a:p>
            <a:r>
              <a:rPr lang="en-US" dirty="0"/>
              <a:t>"You were given a blank problem."</a:t>
            </a:r>
          </a:p>
          <a:p>
            <a:endParaRPr lang="en-US" dirty="0"/>
          </a:p>
          <a:p>
            <a:r>
              <a:rPr lang="en-US" dirty="0"/>
              <a:t>"You asked questions."</a:t>
            </a:r>
          </a:p>
          <a:p>
            <a:endParaRPr lang="en-US" dirty="0"/>
          </a:p>
          <a:p>
            <a:r>
              <a:rPr lang="en-US" dirty="0"/>
              <a:t>"You gathered requirements."</a:t>
            </a:r>
          </a:p>
          <a:p>
            <a:endParaRPr lang="en-US" dirty="0"/>
          </a:p>
          <a:p>
            <a:r>
              <a:rPr lang="en-US" dirty="0"/>
              <a:t>"You understood users."</a:t>
            </a:r>
          </a:p>
          <a:p>
            <a:endParaRPr lang="en-US" dirty="0"/>
          </a:p>
          <a:p>
            <a:r>
              <a:rPr lang="en-US" dirty="0"/>
              <a:t>"You designed experiences."</a:t>
            </a:r>
          </a:p>
          <a:p>
            <a:endParaRPr lang="en-US" dirty="0"/>
          </a:p>
          <a:p>
            <a:r>
              <a:rPr lang="en-US" dirty="0"/>
              <a:t>"You organized an application."</a:t>
            </a:r>
          </a:p>
          <a:p>
            <a:endParaRPr lang="en-US" dirty="0"/>
          </a:p>
          <a:p>
            <a:r>
              <a:rPr lang="en-US" dirty="0"/>
              <a:t>"You prioritized value."</a:t>
            </a:r>
          </a:p>
          <a:p>
            <a:endParaRPr lang="en-US" dirty="0"/>
          </a:p>
          <a:p>
            <a:r>
              <a:rPr lang="en-US" dirty="0"/>
              <a:t>"And today..."</a:t>
            </a:r>
          </a:p>
          <a:p>
            <a:endParaRPr lang="en-US" dirty="0"/>
          </a:p>
          <a:p>
            <a:r>
              <a:rPr lang="en-US" dirty="0"/>
              <a:t>"You delivered a professional software design package."</a:t>
            </a:r>
          </a:p>
          <a:p>
            <a:endParaRPr lang="en-US" dirty="0"/>
          </a:p>
          <a:p>
            <a:r>
              <a:rPr lang="en-US" dirty="0"/>
              <a:t>Pause.</a:t>
            </a:r>
          </a:p>
          <a:p>
            <a:endParaRPr lang="en-US" dirty="0"/>
          </a:p>
          <a:p>
            <a:r>
              <a:rPr lang="en-US" dirty="0"/>
              <a:t>Look around the room.</a:t>
            </a:r>
          </a:p>
          <a:p>
            <a:endParaRPr lang="en-US" dirty="0"/>
          </a:p>
          <a:p>
            <a:r>
              <a:rPr lang="en-US" dirty="0"/>
              <a:t>Then say...</a:t>
            </a:r>
          </a:p>
          <a:p>
            <a:endParaRPr lang="en-US" dirty="0"/>
          </a:p>
          <a:p>
            <a:r>
              <a:rPr lang="en-US" dirty="0"/>
              <a:t>"That's what software engineers do."</a:t>
            </a:r>
          </a:p>
          <a:p>
            <a:endParaRPr lang="en-US" dirty="0"/>
          </a:p>
          <a:p>
            <a:r>
              <a:rPr lang="en-US" dirty="0"/>
              <a:t>------------------------------------------------------------</a:t>
            </a:r>
          </a:p>
          <a:p>
            <a:endParaRPr lang="en-US" dirty="0"/>
          </a:p>
          <a:p>
            <a:r>
              <a:rPr lang="en-US" dirty="0"/>
              <a:t>TRANSITION TO SPRINT 4</a:t>
            </a:r>
          </a:p>
          <a:p>
            <a:endParaRPr lang="en-US" dirty="0"/>
          </a:p>
          <a:p>
            <a:r>
              <a:rPr lang="en-US" dirty="0"/>
              <a:t>"Our client approved the design."</a:t>
            </a:r>
          </a:p>
          <a:p>
            <a:endParaRPr lang="en-US" dirty="0"/>
          </a:p>
          <a:p>
            <a:r>
              <a:rPr lang="en-US" dirty="0"/>
              <a:t>"Our backlog is prioritized."</a:t>
            </a:r>
          </a:p>
          <a:p>
            <a:endParaRPr lang="en-US" dirty="0"/>
          </a:p>
          <a:p>
            <a:r>
              <a:rPr lang="en-US" dirty="0"/>
              <a:t>"Our engineering package is complete."</a:t>
            </a:r>
          </a:p>
          <a:p>
            <a:endParaRPr lang="en-US" dirty="0"/>
          </a:p>
          <a:p>
            <a:r>
              <a:rPr lang="en-US" dirty="0"/>
              <a:t>"Our architecture is ready."</a:t>
            </a:r>
          </a:p>
          <a:p>
            <a:endParaRPr lang="en-US" dirty="0"/>
          </a:p>
          <a:p>
            <a:r>
              <a:rPr lang="en-US" dirty="0"/>
              <a:t>Smile.</a:t>
            </a:r>
          </a:p>
          <a:p>
            <a:endParaRPr lang="en-US" dirty="0"/>
          </a:p>
          <a:p>
            <a:r>
              <a:rPr lang="en-US" dirty="0"/>
              <a:t>"Next sprint..."</a:t>
            </a:r>
          </a:p>
          <a:p>
            <a:endParaRPr lang="en-US" dirty="0"/>
          </a:p>
          <a:p>
            <a:r>
              <a:rPr lang="en-US" dirty="0"/>
              <a:t>"We stop imagining Atlas </a:t>
            </a:r>
            <a:r>
              <a:rPr lang="en-US" dirty="0" err="1"/>
              <a:t>TaskFlow</a:t>
            </a:r>
            <a:r>
              <a:rPr lang="en-US" dirty="0"/>
              <a:t>."</a:t>
            </a:r>
          </a:p>
          <a:p>
            <a:endParaRPr lang="en-US" dirty="0"/>
          </a:p>
          <a:p>
            <a:r>
              <a:rPr lang="en-US" dirty="0"/>
              <a:t>"We build it."</a:t>
            </a:r>
          </a:p>
          <a:p>
            <a:endParaRPr lang="en-US" dirty="0"/>
          </a:p>
          <a:p>
            <a:r>
              <a:rPr lang="en-US" dirty="0"/>
              <a:t>------------------------------------------------------------</a:t>
            </a:r>
          </a:p>
          <a:p>
            <a:endParaRPr lang="en-US" dirty="0"/>
          </a:p>
          <a:p>
            <a:r>
              <a:rPr lang="en-US" dirty="0"/>
              <a:t>ESTIMATED TIME</a:t>
            </a:r>
          </a:p>
          <a:p>
            <a:endParaRPr lang="en-US" dirty="0"/>
          </a:p>
          <a:p>
            <a:r>
              <a:rPr lang="en-US" dirty="0"/>
              <a:t>Sprint Review......................10 minutes</a:t>
            </a:r>
          </a:p>
          <a:p>
            <a:endParaRPr lang="en-US" dirty="0"/>
          </a:p>
          <a:p>
            <a:r>
              <a:rPr lang="en-US" dirty="0"/>
              <a:t>Artifact Walkthrough...............15 minutes</a:t>
            </a:r>
          </a:p>
          <a:p>
            <a:endParaRPr lang="en-US" dirty="0"/>
          </a:p>
          <a:p>
            <a:r>
              <a:rPr lang="en-US" dirty="0"/>
              <a:t>Reflection........................10 minutes</a:t>
            </a:r>
          </a:p>
          <a:p>
            <a:endParaRPr lang="en-US" dirty="0"/>
          </a:p>
          <a:p>
            <a:r>
              <a:rPr lang="en-US" dirty="0"/>
              <a:t>Discussion........................10 minutes</a:t>
            </a:r>
          </a:p>
          <a:p>
            <a:endParaRPr lang="en-US" dirty="0"/>
          </a:p>
          <a:p>
            <a:r>
              <a:rPr lang="en-US" dirty="0"/>
              <a:t>Sprint 4 Preview..................10 minutes</a:t>
            </a:r>
          </a:p>
          <a:p>
            <a:endParaRPr lang="en-US" dirty="0"/>
          </a:p>
          <a:p>
            <a:r>
              <a:rPr lang="en-US" dirty="0"/>
              <a:t>Closing............................5 minutes</a:t>
            </a:r>
          </a:p>
          <a:p>
            <a:endParaRPr lang="en-US" dirty="0"/>
          </a:p>
          <a:p>
            <a:r>
              <a:rPr lang="en-US" dirty="0"/>
              <a:t>Total.............................60 minutes</a:t>
            </a:r>
          </a:p>
          <a:p>
            <a:endParaRPr lang="en-US" dirty="0"/>
          </a:p>
          <a:p>
            <a:r>
              <a:rPr lang="en-US" dirty="0"/>
              <a:t>------------------------------------------------------------</a:t>
            </a:r>
          </a:p>
          <a:p>
            <a:endParaRPr lang="en-US" dirty="0"/>
          </a:p>
          <a:p>
            <a:r>
              <a:rPr lang="en-US" dirty="0"/>
              <a:t>INSTRUCTOR NOTES</a:t>
            </a:r>
          </a:p>
          <a:p>
            <a:endParaRPr lang="en-US" dirty="0"/>
          </a:p>
          <a:p>
            <a:r>
              <a:rPr lang="en-US" dirty="0"/>
              <a:t>Celebrate.</a:t>
            </a:r>
          </a:p>
          <a:p>
            <a:endParaRPr lang="en-US" dirty="0"/>
          </a:p>
          <a:p>
            <a:r>
              <a:rPr lang="en-US" dirty="0"/>
              <a:t>This lecture should feel different from every other lecture.</a:t>
            </a:r>
          </a:p>
          <a:p>
            <a:endParaRPr lang="en-US" dirty="0"/>
          </a:p>
          <a:p>
            <a:r>
              <a:rPr lang="en-US" dirty="0"/>
              <a:t>Do not rush.</a:t>
            </a:r>
          </a:p>
          <a:p>
            <a:endParaRPr lang="en-US" dirty="0"/>
          </a:p>
          <a:p>
            <a:r>
              <a:rPr lang="en-US" dirty="0"/>
              <a:t>Students should leave feeling proud of what they accomplished.</a:t>
            </a:r>
          </a:p>
          <a:p>
            <a:endParaRPr lang="en-US" dirty="0"/>
          </a:p>
          <a:p>
            <a:r>
              <a:rPr lang="en-US" dirty="0"/>
              <a:t>Keep reminding them that every artifact they created contributed to one</a:t>
            </a:r>
          </a:p>
          <a:p>
            <a:r>
              <a:rPr lang="en-US" dirty="0"/>
              <a:t>professional engineering package.</a:t>
            </a:r>
          </a:p>
          <a:p>
            <a:endParaRPr lang="en-US" dirty="0"/>
          </a:p>
          <a:p>
            <a:r>
              <a:rPr lang="en-US" dirty="0"/>
              <a:t>Before dismissing class...</a:t>
            </a:r>
          </a:p>
          <a:p>
            <a:endParaRPr lang="en-US" dirty="0"/>
          </a:p>
          <a:p>
            <a:r>
              <a:rPr lang="en-US" dirty="0"/>
              <a:t>Hold up the completed ENG-002 Design Package.</a:t>
            </a:r>
          </a:p>
          <a:p>
            <a:endParaRPr lang="en-US" dirty="0"/>
          </a:p>
          <a:p>
            <a:r>
              <a:rPr lang="en-US" dirty="0"/>
              <a:t>Then say...</a:t>
            </a:r>
          </a:p>
          <a:p>
            <a:endParaRPr lang="en-US" dirty="0"/>
          </a:p>
          <a:p>
            <a:r>
              <a:rPr lang="en-US" dirty="0"/>
              <a:t>"This document started with one idea."</a:t>
            </a:r>
          </a:p>
          <a:p>
            <a:endParaRPr lang="en-US" dirty="0"/>
          </a:p>
          <a:p>
            <a:r>
              <a:rPr lang="en-US" dirty="0"/>
              <a:t>"Now it contains everything needed to build Atlas </a:t>
            </a:r>
            <a:r>
              <a:rPr lang="en-US" dirty="0" err="1"/>
              <a:t>TaskFlow</a:t>
            </a:r>
            <a:r>
              <a:rPr lang="en-US" dirty="0"/>
              <a:t>."</a:t>
            </a:r>
          </a:p>
          <a:p>
            <a:endParaRPr lang="en-US" dirty="0"/>
          </a:p>
          <a:p>
            <a:r>
              <a:rPr lang="en-US" dirty="0"/>
              <a:t>Pause.</a:t>
            </a:r>
          </a:p>
          <a:p>
            <a:endParaRPr lang="en-US" dirty="0"/>
          </a:p>
          <a:p>
            <a:r>
              <a:rPr lang="en-US" dirty="0"/>
              <a:t>"Next sprint..."</a:t>
            </a:r>
          </a:p>
          <a:p>
            <a:endParaRPr lang="en-US" dirty="0"/>
          </a:p>
          <a:p>
            <a:r>
              <a:rPr lang="en-US" dirty="0"/>
              <a:t>"We become software developers."</a:t>
            </a:r>
          </a:p>
          <a:p>
            <a:endParaRPr lang="en-US" dirty="0"/>
          </a:p>
          <a:p>
            <a:r>
              <a:rPr lang="en-US" dirty="0"/>
              <a:t>Smile.</a:t>
            </a:r>
          </a:p>
          <a:p>
            <a:endParaRPr lang="en-US" dirty="0"/>
          </a:p>
          <a:p>
            <a:r>
              <a:rPr lang="en-US" dirty="0"/>
              <a:t>"And I can't wait."</a:t>
            </a:r>
          </a:p>
          <a:p>
            <a:endParaRPr lang="en-US" dirty="0"/>
          </a:p>
          <a:p>
            <a:r>
              <a:rPr lang="en-US" dirty="0"/>
              <a:t>============================================================</a:t>
            </a:r>
          </a:p>
        </p:txBody>
      </p:sp>
      <p:sp>
        <p:nvSpPr>
          <p:cNvPr id="4" name="Slide Number Placeholder 3"/>
          <p:cNvSpPr>
            <a:spLocks noGrp="1"/>
          </p:cNvSpPr>
          <p:nvPr>
            <p:ph type="sldNum" sz="quarter" idx="5"/>
          </p:nvPr>
        </p:nvSpPr>
        <p:spPr/>
        <p:txBody>
          <a:bodyPr/>
          <a:lstStyle/>
          <a:p>
            <a:fld id="{12CFA81F-48ED-4EC0-89DB-73FF3AF92981}" type="slidenum">
              <a:rPr lang="en-US" smtClean="0"/>
              <a:t>10</a:t>
            </a:fld>
            <a:endParaRPr lang="en-US"/>
          </a:p>
        </p:txBody>
      </p:sp>
    </p:spTree>
    <p:extLst>
      <p:ext uri="{BB962C8B-B14F-4D97-AF65-F5344CB8AC3E}">
        <p14:creationId xmlns:p14="http://schemas.microsoft.com/office/powerpoint/2010/main" val="23786068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76B1D-D2F6-5765-345F-27397481156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388D220-354C-8949-2F2A-BFA6286BF7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82691FE-F152-45B4-B6C3-7F30DDC84653}"/>
              </a:ext>
            </a:extLst>
          </p:cNvPr>
          <p:cNvSpPr>
            <a:spLocks noGrp="1"/>
          </p:cNvSpPr>
          <p:nvPr>
            <p:ph type="dt" sz="half" idx="10"/>
          </p:nvPr>
        </p:nvSpPr>
        <p:spPr/>
        <p:txBody>
          <a:bodyPr/>
          <a:lstStyle/>
          <a:p>
            <a:fld id="{7D4394B0-DE73-459F-8A43-7408A07B8073}" type="datetimeFigureOut">
              <a:rPr lang="en-US" smtClean="0"/>
              <a:t>8/13/2026</a:t>
            </a:fld>
            <a:endParaRPr lang="en-US"/>
          </a:p>
        </p:txBody>
      </p:sp>
      <p:sp>
        <p:nvSpPr>
          <p:cNvPr id="5" name="Footer Placeholder 4">
            <a:extLst>
              <a:ext uri="{FF2B5EF4-FFF2-40B4-BE49-F238E27FC236}">
                <a16:creationId xmlns:a16="http://schemas.microsoft.com/office/drawing/2014/main" id="{FC639E23-3183-426A-8C1D-AE58182B4E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E06D59-EE77-F17D-D70F-1397277FEF17}"/>
              </a:ext>
            </a:extLst>
          </p:cNvPr>
          <p:cNvSpPr>
            <a:spLocks noGrp="1"/>
          </p:cNvSpPr>
          <p:nvPr>
            <p:ph type="sldNum" sz="quarter" idx="12"/>
          </p:nvPr>
        </p:nvSpPr>
        <p:spPr/>
        <p:txBody>
          <a:bodyPr/>
          <a:lstStyle/>
          <a:p>
            <a:fld id="{956C7878-F061-4930-819C-DEF8D2E578B2}" type="slidenum">
              <a:rPr lang="en-US" smtClean="0"/>
              <a:t>‹#›</a:t>
            </a:fld>
            <a:endParaRPr lang="en-US"/>
          </a:p>
        </p:txBody>
      </p:sp>
    </p:spTree>
    <p:extLst>
      <p:ext uri="{BB962C8B-B14F-4D97-AF65-F5344CB8AC3E}">
        <p14:creationId xmlns:p14="http://schemas.microsoft.com/office/powerpoint/2010/main" val="20177168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F1FE1-E5E1-0714-033C-4688240494C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162F45D-1C28-A74C-BCCA-10DD6FDD20A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DE4AA3-D565-3002-9220-584522486739}"/>
              </a:ext>
            </a:extLst>
          </p:cNvPr>
          <p:cNvSpPr>
            <a:spLocks noGrp="1"/>
          </p:cNvSpPr>
          <p:nvPr>
            <p:ph type="dt" sz="half" idx="10"/>
          </p:nvPr>
        </p:nvSpPr>
        <p:spPr/>
        <p:txBody>
          <a:bodyPr/>
          <a:lstStyle/>
          <a:p>
            <a:fld id="{7D4394B0-DE73-459F-8A43-7408A07B8073}" type="datetimeFigureOut">
              <a:rPr lang="en-US" smtClean="0"/>
              <a:t>8/13/2026</a:t>
            </a:fld>
            <a:endParaRPr lang="en-US"/>
          </a:p>
        </p:txBody>
      </p:sp>
      <p:sp>
        <p:nvSpPr>
          <p:cNvPr id="5" name="Footer Placeholder 4">
            <a:extLst>
              <a:ext uri="{FF2B5EF4-FFF2-40B4-BE49-F238E27FC236}">
                <a16:creationId xmlns:a16="http://schemas.microsoft.com/office/drawing/2014/main" id="{7613BC63-E4D5-2BC3-C7EC-FB4730EBE3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E6248E-ECE3-41CB-79A9-D3E67CC0C2F5}"/>
              </a:ext>
            </a:extLst>
          </p:cNvPr>
          <p:cNvSpPr>
            <a:spLocks noGrp="1"/>
          </p:cNvSpPr>
          <p:nvPr>
            <p:ph type="sldNum" sz="quarter" idx="12"/>
          </p:nvPr>
        </p:nvSpPr>
        <p:spPr/>
        <p:txBody>
          <a:bodyPr/>
          <a:lstStyle/>
          <a:p>
            <a:fld id="{956C7878-F061-4930-819C-DEF8D2E578B2}" type="slidenum">
              <a:rPr lang="en-US" smtClean="0"/>
              <a:t>‹#›</a:t>
            </a:fld>
            <a:endParaRPr lang="en-US"/>
          </a:p>
        </p:txBody>
      </p:sp>
    </p:spTree>
    <p:extLst>
      <p:ext uri="{BB962C8B-B14F-4D97-AF65-F5344CB8AC3E}">
        <p14:creationId xmlns:p14="http://schemas.microsoft.com/office/powerpoint/2010/main" val="32310310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2CC81-441D-3FB6-A93B-33743610573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8F533EC-61EE-6825-FB47-3C652672A27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FE6E7E4-8C3E-F25D-3951-1125BC72126D}"/>
              </a:ext>
            </a:extLst>
          </p:cNvPr>
          <p:cNvSpPr>
            <a:spLocks noGrp="1"/>
          </p:cNvSpPr>
          <p:nvPr>
            <p:ph type="dt" sz="half" idx="10"/>
          </p:nvPr>
        </p:nvSpPr>
        <p:spPr/>
        <p:txBody>
          <a:bodyPr/>
          <a:lstStyle/>
          <a:p>
            <a:fld id="{7D4394B0-DE73-459F-8A43-7408A07B8073}" type="datetimeFigureOut">
              <a:rPr lang="en-US" smtClean="0"/>
              <a:t>8/13/2026</a:t>
            </a:fld>
            <a:endParaRPr lang="en-US"/>
          </a:p>
        </p:txBody>
      </p:sp>
      <p:sp>
        <p:nvSpPr>
          <p:cNvPr id="5" name="Footer Placeholder 4">
            <a:extLst>
              <a:ext uri="{FF2B5EF4-FFF2-40B4-BE49-F238E27FC236}">
                <a16:creationId xmlns:a16="http://schemas.microsoft.com/office/drawing/2014/main" id="{122A3FA8-63D9-E0FD-D5F9-B61510195B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752F7A-EEA1-0D12-02C3-E9AAD379A1F0}"/>
              </a:ext>
            </a:extLst>
          </p:cNvPr>
          <p:cNvSpPr>
            <a:spLocks noGrp="1"/>
          </p:cNvSpPr>
          <p:nvPr>
            <p:ph type="sldNum" sz="quarter" idx="12"/>
          </p:nvPr>
        </p:nvSpPr>
        <p:spPr/>
        <p:txBody>
          <a:bodyPr/>
          <a:lstStyle/>
          <a:p>
            <a:fld id="{956C7878-F061-4930-819C-DEF8D2E578B2}" type="slidenum">
              <a:rPr lang="en-US" smtClean="0"/>
              <a:t>‹#›</a:t>
            </a:fld>
            <a:endParaRPr lang="en-US"/>
          </a:p>
        </p:txBody>
      </p:sp>
    </p:spTree>
    <p:extLst>
      <p:ext uri="{BB962C8B-B14F-4D97-AF65-F5344CB8AC3E}">
        <p14:creationId xmlns:p14="http://schemas.microsoft.com/office/powerpoint/2010/main" val="37546622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B01BC-1747-6F3E-2553-B2398258DB0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30D4654-9A5A-8A6F-608B-78300C09124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2F50798-65D9-931D-4574-3C7FFF79EB9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6E68B2E-54AD-2EAC-9AC3-F5698E91CE94}"/>
              </a:ext>
            </a:extLst>
          </p:cNvPr>
          <p:cNvSpPr>
            <a:spLocks noGrp="1"/>
          </p:cNvSpPr>
          <p:nvPr>
            <p:ph type="dt" sz="half" idx="10"/>
          </p:nvPr>
        </p:nvSpPr>
        <p:spPr/>
        <p:txBody>
          <a:bodyPr/>
          <a:lstStyle/>
          <a:p>
            <a:fld id="{7D4394B0-DE73-459F-8A43-7408A07B8073}" type="datetimeFigureOut">
              <a:rPr lang="en-US" smtClean="0"/>
              <a:t>8/13/2026</a:t>
            </a:fld>
            <a:endParaRPr lang="en-US"/>
          </a:p>
        </p:txBody>
      </p:sp>
      <p:sp>
        <p:nvSpPr>
          <p:cNvPr id="6" name="Footer Placeholder 5">
            <a:extLst>
              <a:ext uri="{FF2B5EF4-FFF2-40B4-BE49-F238E27FC236}">
                <a16:creationId xmlns:a16="http://schemas.microsoft.com/office/drawing/2014/main" id="{8DFA579B-6BF2-2042-B13D-6AE8C7910C7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5170694-F759-455D-DE08-8A5EE5C04065}"/>
              </a:ext>
            </a:extLst>
          </p:cNvPr>
          <p:cNvSpPr>
            <a:spLocks noGrp="1"/>
          </p:cNvSpPr>
          <p:nvPr>
            <p:ph type="sldNum" sz="quarter" idx="12"/>
          </p:nvPr>
        </p:nvSpPr>
        <p:spPr/>
        <p:txBody>
          <a:bodyPr/>
          <a:lstStyle/>
          <a:p>
            <a:fld id="{956C7878-F061-4930-819C-DEF8D2E578B2}" type="slidenum">
              <a:rPr lang="en-US" smtClean="0"/>
              <a:t>‹#›</a:t>
            </a:fld>
            <a:endParaRPr lang="en-US"/>
          </a:p>
        </p:txBody>
      </p:sp>
    </p:spTree>
    <p:extLst>
      <p:ext uri="{BB962C8B-B14F-4D97-AF65-F5344CB8AC3E}">
        <p14:creationId xmlns:p14="http://schemas.microsoft.com/office/powerpoint/2010/main" val="3676458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8C30E-B3E7-BAD5-2BF5-23398A17E7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B73A837-9927-851B-9263-5B95463CE13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25B0E6F-C282-0882-C75C-EAA4640DD60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058DE39-2FFF-7A52-1646-3089EC62510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76AEBEF-8FD0-FC43-8B6A-DEE25D26672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520A572-2144-3465-319D-4284FE75F787}"/>
              </a:ext>
            </a:extLst>
          </p:cNvPr>
          <p:cNvSpPr>
            <a:spLocks noGrp="1"/>
          </p:cNvSpPr>
          <p:nvPr>
            <p:ph type="dt" sz="half" idx="10"/>
          </p:nvPr>
        </p:nvSpPr>
        <p:spPr/>
        <p:txBody>
          <a:bodyPr/>
          <a:lstStyle/>
          <a:p>
            <a:fld id="{7D4394B0-DE73-459F-8A43-7408A07B8073}" type="datetimeFigureOut">
              <a:rPr lang="en-US" smtClean="0"/>
              <a:t>8/13/2026</a:t>
            </a:fld>
            <a:endParaRPr lang="en-US"/>
          </a:p>
        </p:txBody>
      </p:sp>
      <p:sp>
        <p:nvSpPr>
          <p:cNvPr id="8" name="Footer Placeholder 7">
            <a:extLst>
              <a:ext uri="{FF2B5EF4-FFF2-40B4-BE49-F238E27FC236}">
                <a16:creationId xmlns:a16="http://schemas.microsoft.com/office/drawing/2014/main" id="{F0631A96-C523-58FA-5AA8-D6198475B69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DF94689-51F3-B4C1-AE75-2DB3047AD28C}"/>
              </a:ext>
            </a:extLst>
          </p:cNvPr>
          <p:cNvSpPr>
            <a:spLocks noGrp="1"/>
          </p:cNvSpPr>
          <p:nvPr>
            <p:ph type="sldNum" sz="quarter" idx="12"/>
          </p:nvPr>
        </p:nvSpPr>
        <p:spPr/>
        <p:txBody>
          <a:bodyPr/>
          <a:lstStyle/>
          <a:p>
            <a:fld id="{956C7878-F061-4930-819C-DEF8D2E578B2}" type="slidenum">
              <a:rPr lang="en-US" smtClean="0"/>
              <a:t>‹#›</a:t>
            </a:fld>
            <a:endParaRPr lang="en-US"/>
          </a:p>
        </p:txBody>
      </p:sp>
    </p:spTree>
    <p:extLst>
      <p:ext uri="{BB962C8B-B14F-4D97-AF65-F5344CB8AC3E}">
        <p14:creationId xmlns:p14="http://schemas.microsoft.com/office/powerpoint/2010/main" val="38448717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444C4-C0C3-6676-0AFD-F272A2C95FF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865050B-5677-3EDA-0DE4-668B12636865}"/>
              </a:ext>
            </a:extLst>
          </p:cNvPr>
          <p:cNvSpPr>
            <a:spLocks noGrp="1"/>
          </p:cNvSpPr>
          <p:nvPr>
            <p:ph type="dt" sz="half" idx="10"/>
          </p:nvPr>
        </p:nvSpPr>
        <p:spPr/>
        <p:txBody>
          <a:bodyPr/>
          <a:lstStyle/>
          <a:p>
            <a:fld id="{7D4394B0-DE73-459F-8A43-7408A07B8073}" type="datetimeFigureOut">
              <a:rPr lang="en-US" smtClean="0"/>
              <a:t>8/13/2026</a:t>
            </a:fld>
            <a:endParaRPr lang="en-US"/>
          </a:p>
        </p:txBody>
      </p:sp>
      <p:sp>
        <p:nvSpPr>
          <p:cNvPr id="4" name="Footer Placeholder 3">
            <a:extLst>
              <a:ext uri="{FF2B5EF4-FFF2-40B4-BE49-F238E27FC236}">
                <a16:creationId xmlns:a16="http://schemas.microsoft.com/office/drawing/2014/main" id="{69B91DFA-A38D-AED9-40E1-1A18DD570C2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88BE79E-4508-B392-B0E9-19F276A0D698}"/>
              </a:ext>
            </a:extLst>
          </p:cNvPr>
          <p:cNvSpPr>
            <a:spLocks noGrp="1"/>
          </p:cNvSpPr>
          <p:nvPr>
            <p:ph type="sldNum" sz="quarter" idx="12"/>
          </p:nvPr>
        </p:nvSpPr>
        <p:spPr/>
        <p:txBody>
          <a:bodyPr/>
          <a:lstStyle/>
          <a:p>
            <a:fld id="{956C7878-F061-4930-819C-DEF8D2E578B2}" type="slidenum">
              <a:rPr lang="en-US" smtClean="0"/>
              <a:t>‹#›</a:t>
            </a:fld>
            <a:endParaRPr lang="en-US"/>
          </a:p>
        </p:txBody>
      </p:sp>
    </p:spTree>
    <p:extLst>
      <p:ext uri="{BB962C8B-B14F-4D97-AF65-F5344CB8AC3E}">
        <p14:creationId xmlns:p14="http://schemas.microsoft.com/office/powerpoint/2010/main" val="38316450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4F31A54-1D3E-76F5-5F6D-B27DA3E68F6B}"/>
              </a:ext>
            </a:extLst>
          </p:cNvPr>
          <p:cNvSpPr>
            <a:spLocks noGrp="1"/>
          </p:cNvSpPr>
          <p:nvPr>
            <p:ph type="dt" sz="half" idx="10"/>
          </p:nvPr>
        </p:nvSpPr>
        <p:spPr/>
        <p:txBody>
          <a:bodyPr/>
          <a:lstStyle/>
          <a:p>
            <a:fld id="{7D4394B0-DE73-459F-8A43-7408A07B8073}" type="datetimeFigureOut">
              <a:rPr lang="en-US" smtClean="0"/>
              <a:t>8/13/2026</a:t>
            </a:fld>
            <a:endParaRPr lang="en-US"/>
          </a:p>
        </p:txBody>
      </p:sp>
      <p:sp>
        <p:nvSpPr>
          <p:cNvPr id="3" name="Footer Placeholder 2">
            <a:extLst>
              <a:ext uri="{FF2B5EF4-FFF2-40B4-BE49-F238E27FC236}">
                <a16:creationId xmlns:a16="http://schemas.microsoft.com/office/drawing/2014/main" id="{33188C4C-7483-5E61-CCFE-165DD63AC4B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F0842F9-456C-8457-8720-B6D32999161A}"/>
              </a:ext>
            </a:extLst>
          </p:cNvPr>
          <p:cNvSpPr>
            <a:spLocks noGrp="1"/>
          </p:cNvSpPr>
          <p:nvPr>
            <p:ph type="sldNum" sz="quarter" idx="12"/>
          </p:nvPr>
        </p:nvSpPr>
        <p:spPr/>
        <p:txBody>
          <a:bodyPr/>
          <a:lstStyle/>
          <a:p>
            <a:fld id="{956C7878-F061-4930-819C-DEF8D2E578B2}" type="slidenum">
              <a:rPr lang="en-US" smtClean="0"/>
              <a:t>‹#›</a:t>
            </a:fld>
            <a:endParaRPr lang="en-US"/>
          </a:p>
        </p:txBody>
      </p:sp>
    </p:spTree>
    <p:extLst>
      <p:ext uri="{BB962C8B-B14F-4D97-AF65-F5344CB8AC3E}">
        <p14:creationId xmlns:p14="http://schemas.microsoft.com/office/powerpoint/2010/main" val="22216810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0D50A-AF94-80D6-DCEF-07D9F8BCA5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2D5C031-60A5-FDA7-E23E-DAB93B60C5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0548149-2771-A5DA-7593-5227F31BC7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CB9D8D-F68E-10F3-8F85-4D02DE4DAAD0}"/>
              </a:ext>
            </a:extLst>
          </p:cNvPr>
          <p:cNvSpPr>
            <a:spLocks noGrp="1"/>
          </p:cNvSpPr>
          <p:nvPr>
            <p:ph type="dt" sz="half" idx="10"/>
          </p:nvPr>
        </p:nvSpPr>
        <p:spPr/>
        <p:txBody>
          <a:bodyPr/>
          <a:lstStyle/>
          <a:p>
            <a:fld id="{7D4394B0-DE73-459F-8A43-7408A07B8073}" type="datetimeFigureOut">
              <a:rPr lang="en-US" smtClean="0"/>
              <a:t>8/13/2026</a:t>
            </a:fld>
            <a:endParaRPr lang="en-US"/>
          </a:p>
        </p:txBody>
      </p:sp>
      <p:sp>
        <p:nvSpPr>
          <p:cNvPr id="6" name="Footer Placeholder 5">
            <a:extLst>
              <a:ext uri="{FF2B5EF4-FFF2-40B4-BE49-F238E27FC236}">
                <a16:creationId xmlns:a16="http://schemas.microsoft.com/office/drawing/2014/main" id="{740A32D4-4476-61BF-A7C8-8568308DF5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913F523-2D04-3095-5BBE-1A30339A98EB}"/>
              </a:ext>
            </a:extLst>
          </p:cNvPr>
          <p:cNvSpPr>
            <a:spLocks noGrp="1"/>
          </p:cNvSpPr>
          <p:nvPr>
            <p:ph type="sldNum" sz="quarter" idx="12"/>
          </p:nvPr>
        </p:nvSpPr>
        <p:spPr/>
        <p:txBody>
          <a:bodyPr/>
          <a:lstStyle/>
          <a:p>
            <a:fld id="{956C7878-F061-4930-819C-DEF8D2E578B2}" type="slidenum">
              <a:rPr lang="en-US" smtClean="0"/>
              <a:t>‹#›</a:t>
            </a:fld>
            <a:endParaRPr lang="en-US"/>
          </a:p>
        </p:txBody>
      </p:sp>
    </p:spTree>
    <p:extLst>
      <p:ext uri="{BB962C8B-B14F-4D97-AF65-F5344CB8AC3E}">
        <p14:creationId xmlns:p14="http://schemas.microsoft.com/office/powerpoint/2010/main" val="27507345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670E4-7819-1C6F-B492-B0ADCF83C51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3FD0CCB-3C7B-2CC5-7529-986E555BB6B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4AA7616-C056-13E4-D251-4C9B2A682F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A970C2-B8BC-18B2-F907-7936EBBDB466}"/>
              </a:ext>
            </a:extLst>
          </p:cNvPr>
          <p:cNvSpPr>
            <a:spLocks noGrp="1"/>
          </p:cNvSpPr>
          <p:nvPr>
            <p:ph type="dt" sz="half" idx="10"/>
          </p:nvPr>
        </p:nvSpPr>
        <p:spPr/>
        <p:txBody>
          <a:bodyPr/>
          <a:lstStyle/>
          <a:p>
            <a:fld id="{7D4394B0-DE73-459F-8A43-7408A07B8073}" type="datetimeFigureOut">
              <a:rPr lang="en-US" smtClean="0"/>
              <a:t>8/13/2026</a:t>
            </a:fld>
            <a:endParaRPr lang="en-US"/>
          </a:p>
        </p:txBody>
      </p:sp>
      <p:sp>
        <p:nvSpPr>
          <p:cNvPr id="6" name="Footer Placeholder 5">
            <a:extLst>
              <a:ext uri="{FF2B5EF4-FFF2-40B4-BE49-F238E27FC236}">
                <a16:creationId xmlns:a16="http://schemas.microsoft.com/office/drawing/2014/main" id="{AA79F267-8DCF-6DC9-8707-064559437F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EBCBFAC-05D7-57F6-2D91-899419077A38}"/>
              </a:ext>
            </a:extLst>
          </p:cNvPr>
          <p:cNvSpPr>
            <a:spLocks noGrp="1"/>
          </p:cNvSpPr>
          <p:nvPr>
            <p:ph type="sldNum" sz="quarter" idx="12"/>
          </p:nvPr>
        </p:nvSpPr>
        <p:spPr/>
        <p:txBody>
          <a:bodyPr/>
          <a:lstStyle/>
          <a:p>
            <a:fld id="{956C7878-F061-4930-819C-DEF8D2E578B2}" type="slidenum">
              <a:rPr lang="en-US" smtClean="0"/>
              <a:t>‹#›</a:t>
            </a:fld>
            <a:endParaRPr lang="en-US"/>
          </a:p>
        </p:txBody>
      </p:sp>
    </p:spTree>
    <p:extLst>
      <p:ext uri="{BB962C8B-B14F-4D97-AF65-F5344CB8AC3E}">
        <p14:creationId xmlns:p14="http://schemas.microsoft.com/office/powerpoint/2010/main" val="3505578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E0C67-00F3-B673-7210-E43245D1E71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9378E31-CD47-BA90-0757-B1972DD3C5F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4A9712-914E-8234-E366-A6DB56F2D42C}"/>
              </a:ext>
            </a:extLst>
          </p:cNvPr>
          <p:cNvSpPr>
            <a:spLocks noGrp="1"/>
          </p:cNvSpPr>
          <p:nvPr>
            <p:ph type="dt" sz="half" idx="10"/>
          </p:nvPr>
        </p:nvSpPr>
        <p:spPr/>
        <p:txBody>
          <a:bodyPr/>
          <a:lstStyle/>
          <a:p>
            <a:fld id="{7D4394B0-DE73-459F-8A43-7408A07B8073}" type="datetimeFigureOut">
              <a:rPr lang="en-US" smtClean="0"/>
              <a:t>8/13/2026</a:t>
            </a:fld>
            <a:endParaRPr lang="en-US"/>
          </a:p>
        </p:txBody>
      </p:sp>
      <p:sp>
        <p:nvSpPr>
          <p:cNvPr id="5" name="Footer Placeholder 4">
            <a:extLst>
              <a:ext uri="{FF2B5EF4-FFF2-40B4-BE49-F238E27FC236}">
                <a16:creationId xmlns:a16="http://schemas.microsoft.com/office/drawing/2014/main" id="{A0A0446B-0B6B-D01E-F4A8-50A9C2819A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2E9578-59BE-79B3-BB40-0ECAF6152FF5}"/>
              </a:ext>
            </a:extLst>
          </p:cNvPr>
          <p:cNvSpPr>
            <a:spLocks noGrp="1"/>
          </p:cNvSpPr>
          <p:nvPr>
            <p:ph type="sldNum" sz="quarter" idx="12"/>
          </p:nvPr>
        </p:nvSpPr>
        <p:spPr/>
        <p:txBody>
          <a:bodyPr/>
          <a:lstStyle/>
          <a:p>
            <a:fld id="{956C7878-F061-4930-819C-DEF8D2E578B2}" type="slidenum">
              <a:rPr lang="en-US" smtClean="0"/>
              <a:t>‹#›</a:t>
            </a:fld>
            <a:endParaRPr lang="en-US"/>
          </a:p>
        </p:txBody>
      </p:sp>
    </p:spTree>
    <p:extLst>
      <p:ext uri="{BB962C8B-B14F-4D97-AF65-F5344CB8AC3E}">
        <p14:creationId xmlns:p14="http://schemas.microsoft.com/office/powerpoint/2010/main" val="3036566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F719EE1-23C3-6B87-028D-E24FE5994CB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1282C82-19A2-260B-FF8D-C4A99726454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375B2B-EC57-36E5-324E-251C2DC36369}"/>
              </a:ext>
            </a:extLst>
          </p:cNvPr>
          <p:cNvSpPr>
            <a:spLocks noGrp="1"/>
          </p:cNvSpPr>
          <p:nvPr>
            <p:ph type="dt" sz="half" idx="10"/>
          </p:nvPr>
        </p:nvSpPr>
        <p:spPr/>
        <p:txBody>
          <a:bodyPr/>
          <a:lstStyle/>
          <a:p>
            <a:fld id="{7D4394B0-DE73-459F-8A43-7408A07B8073}" type="datetimeFigureOut">
              <a:rPr lang="en-US" smtClean="0"/>
              <a:t>8/13/2026</a:t>
            </a:fld>
            <a:endParaRPr lang="en-US"/>
          </a:p>
        </p:txBody>
      </p:sp>
      <p:sp>
        <p:nvSpPr>
          <p:cNvPr id="5" name="Footer Placeholder 4">
            <a:extLst>
              <a:ext uri="{FF2B5EF4-FFF2-40B4-BE49-F238E27FC236}">
                <a16:creationId xmlns:a16="http://schemas.microsoft.com/office/drawing/2014/main" id="{A87ECDC8-94D2-5676-D324-982929C65E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FE1BD6-4829-28CA-0A17-920E727259AA}"/>
              </a:ext>
            </a:extLst>
          </p:cNvPr>
          <p:cNvSpPr>
            <a:spLocks noGrp="1"/>
          </p:cNvSpPr>
          <p:nvPr>
            <p:ph type="sldNum" sz="quarter" idx="12"/>
          </p:nvPr>
        </p:nvSpPr>
        <p:spPr/>
        <p:txBody>
          <a:bodyPr/>
          <a:lstStyle/>
          <a:p>
            <a:fld id="{956C7878-F061-4930-819C-DEF8D2E578B2}" type="slidenum">
              <a:rPr lang="en-US" smtClean="0"/>
              <a:t>‹#›</a:t>
            </a:fld>
            <a:endParaRPr lang="en-US"/>
          </a:p>
        </p:txBody>
      </p:sp>
    </p:spTree>
    <p:extLst>
      <p:ext uri="{BB962C8B-B14F-4D97-AF65-F5344CB8AC3E}">
        <p14:creationId xmlns:p14="http://schemas.microsoft.com/office/powerpoint/2010/main" val="32606013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B56F02-6784-9C1B-C2BD-7D83747F0B4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4E323D0-8F3A-D76D-FDC3-965629845B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90E9E5-6CF2-03F6-D6E6-C1D49CE1E32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D4394B0-DE73-459F-8A43-7408A07B8073}" type="datetimeFigureOut">
              <a:rPr lang="en-US" smtClean="0"/>
              <a:t>8/13/2026</a:t>
            </a:fld>
            <a:endParaRPr lang="en-US"/>
          </a:p>
        </p:txBody>
      </p:sp>
      <p:sp>
        <p:nvSpPr>
          <p:cNvPr id="5" name="Footer Placeholder 4">
            <a:extLst>
              <a:ext uri="{FF2B5EF4-FFF2-40B4-BE49-F238E27FC236}">
                <a16:creationId xmlns:a16="http://schemas.microsoft.com/office/drawing/2014/main" id="{D8ED8CF2-0C8D-7D36-9033-5E0FBDC545F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ACC58E5-36AA-25BF-8435-4E2A3D62A8E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56C7878-F061-4930-819C-DEF8D2E578B2}" type="slidenum">
              <a:rPr lang="en-US" smtClean="0"/>
              <a:t>‹#›</a:t>
            </a:fld>
            <a:endParaRPr lang="en-US"/>
          </a:p>
        </p:txBody>
      </p:sp>
    </p:spTree>
    <p:extLst>
      <p:ext uri="{BB962C8B-B14F-4D97-AF65-F5344CB8AC3E}">
        <p14:creationId xmlns:p14="http://schemas.microsoft.com/office/powerpoint/2010/main" val="8783953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D89FF-8CA8-E72B-B3FD-A3DFEEABF6AD}"/>
              </a:ext>
            </a:extLst>
          </p:cNvPr>
          <p:cNvSpPr>
            <a:spLocks noGrp="1"/>
          </p:cNvSpPr>
          <p:nvPr>
            <p:ph type="ctrTitle"/>
          </p:nvPr>
        </p:nvSpPr>
        <p:spPr/>
        <p:txBody>
          <a:bodyPr/>
          <a:lstStyle/>
          <a:p>
            <a:r>
              <a:rPr lang="en-US" dirty="0"/>
              <a:t>3-01</a:t>
            </a:r>
          </a:p>
        </p:txBody>
      </p:sp>
      <p:sp>
        <p:nvSpPr>
          <p:cNvPr id="3" name="Subtitle 2">
            <a:extLst>
              <a:ext uri="{FF2B5EF4-FFF2-40B4-BE49-F238E27FC236}">
                <a16:creationId xmlns:a16="http://schemas.microsoft.com/office/drawing/2014/main" id="{96AD2B03-F618-4C1E-3F86-AC7E1FF5182C}"/>
              </a:ext>
            </a:extLst>
          </p:cNvPr>
          <p:cNvSpPr>
            <a:spLocks noGrp="1"/>
          </p:cNvSpPr>
          <p:nvPr>
            <p:ph type="subTitle" idx="1"/>
          </p:nvPr>
        </p:nvSpPr>
        <p:spPr/>
        <p:txBody>
          <a:bodyPr/>
          <a:lstStyle/>
          <a:p>
            <a:endParaRPr lang="en-US"/>
          </a:p>
        </p:txBody>
      </p:sp>
      <p:pic>
        <p:nvPicPr>
          <p:cNvPr id="11" name="Picture 10" descr="A colorful infographic outlines Sprint 3 of 8 for Atlas Software Solutions' engineering brief focused on cloud application design, highlighting the Atlas Taskflow feature. It includes sections on client request, sprint mission, engineering mindset, key deliverables, success criteria, sprint dates, roles, and an engineering architecture spotlight, using icons, checklists, and a central dashboard screenshot with purple, blue, and green accents.&#10;&#10;">
            <a:extLst>
              <a:ext uri="{FF2B5EF4-FFF2-40B4-BE49-F238E27FC236}">
                <a16:creationId xmlns:a16="http://schemas.microsoft.com/office/drawing/2014/main" id="{B27CB7A8-11DC-61E3-A8CE-76F574846142}"/>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19923074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78317-348E-DAFC-C4E0-F445F4FA8AEF}"/>
              </a:ext>
            </a:extLst>
          </p:cNvPr>
          <p:cNvSpPr>
            <a:spLocks noGrp="1"/>
          </p:cNvSpPr>
          <p:nvPr>
            <p:ph type="title"/>
          </p:nvPr>
        </p:nvSpPr>
        <p:spPr/>
        <p:txBody>
          <a:bodyPr/>
          <a:lstStyle/>
          <a:p>
            <a:r>
              <a:rPr lang="en-US" dirty="0"/>
              <a:t>3-02</a:t>
            </a:r>
          </a:p>
        </p:txBody>
      </p:sp>
      <p:sp>
        <p:nvSpPr>
          <p:cNvPr id="3" name="Content Placeholder 2">
            <a:extLst>
              <a:ext uri="{FF2B5EF4-FFF2-40B4-BE49-F238E27FC236}">
                <a16:creationId xmlns:a16="http://schemas.microsoft.com/office/drawing/2014/main" id="{6C4F77BF-9A4B-327C-54C3-4AB57ECC6696}"/>
              </a:ext>
            </a:extLst>
          </p:cNvPr>
          <p:cNvSpPr>
            <a:spLocks noGrp="1"/>
          </p:cNvSpPr>
          <p:nvPr>
            <p:ph idx="1"/>
          </p:nvPr>
        </p:nvSpPr>
        <p:spPr/>
        <p:txBody>
          <a:bodyPr/>
          <a:lstStyle/>
          <a:p>
            <a:endParaRPr lang="en-US"/>
          </a:p>
        </p:txBody>
      </p:sp>
      <p:pic>
        <p:nvPicPr>
          <p:cNvPr id="5" name="Picture 4" descr="Infographic outlining Sprint 3 of 8 in Atlas Software Solutions' Agile journey, focused on Requirements Engineering to create software by understanding problems before coding. It features sections on Atlas Taskflow, types of requirements (functional and non-functional), stakeholder roles, requirement gathering methods, and engineering lessons, with color-coded boxes, icons, and a timeline highlighting key activities and milestones.&#10;&#10;">
            <a:extLst>
              <a:ext uri="{FF2B5EF4-FFF2-40B4-BE49-F238E27FC236}">
                <a16:creationId xmlns:a16="http://schemas.microsoft.com/office/drawing/2014/main" id="{AADD5199-3E56-F302-6932-80CEC39D6FAC}"/>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30975658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1C10F9-B096-6282-8761-800E3AE76344}"/>
              </a:ext>
            </a:extLst>
          </p:cNvPr>
          <p:cNvSpPr>
            <a:spLocks noGrp="1"/>
          </p:cNvSpPr>
          <p:nvPr>
            <p:ph type="title"/>
          </p:nvPr>
        </p:nvSpPr>
        <p:spPr/>
        <p:txBody>
          <a:bodyPr/>
          <a:lstStyle/>
          <a:p>
            <a:r>
              <a:rPr lang="en-US" dirty="0"/>
              <a:t>3-03</a:t>
            </a:r>
          </a:p>
        </p:txBody>
      </p:sp>
      <p:sp>
        <p:nvSpPr>
          <p:cNvPr id="3" name="Content Placeholder 2">
            <a:extLst>
              <a:ext uri="{FF2B5EF4-FFF2-40B4-BE49-F238E27FC236}">
                <a16:creationId xmlns:a16="http://schemas.microsoft.com/office/drawing/2014/main" id="{8B833746-9763-D378-1A2A-51D6B3DCE8A1}"/>
              </a:ext>
            </a:extLst>
          </p:cNvPr>
          <p:cNvSpPr>
            <a:spLocks noGrp="1"/>
          </p:cNvSpPr>
          <p:nvPr>
            <p:ph idx="1"/>
          </p:nvPr>
        </p:nvSpPr>
        <p:spPr/>
        <p:txBody>
          <a:bodyPr/>
          <a:lstStyle/>
          <a:p>
            <a:endParaRPr lang="en-US"/>
          </a:p>
        </p:txBody>
      </p:sp>
      <p:pic>
        <p:nvPicPr>
          <p:cNvPr id="5" name="Picture 4" descr="An infographic explaining user stories in software development, focusing on capturing requirements from a user's perspective. It includes sections on user story definition, anatomy, examples for Atlas TaskFlow, good user story criteria, and converting requirements to stories, with color-coded labels, star ratings, and icons highlighting key points and best practices.&#10;">
            <a:extLst>
              <a:ext uri="{FF2B5EF4-FFF2-40B4-BE49-F238E27FC236}">
                <a16:creationId xmlns:a16="http://schemas.microsoft.com/office/drawing/2014/main" id="{85A5E550-DDCF-DFBF-FC2B-018D86D0B125}"/>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6099757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FBB8F-8566-B718-5F9A-9957F013F7C9}"/>
              </a:ext>
            </a:extLst>
          </p:cNvPr>
          <p:cNvSpPr>
            <a:spLocks noGrp="1"/>
          </p:cNvSpPr>
          <p:nvPr>
            <p:ph type="title"/>
          </p:nvPr>
        </p:nvSpPr>
        <p:spPr/>
        <p:txBody>
          <a:bodyPr/>
          <a:lstStyle/>
          <a:p>
            <a:r>
              <a:rPr lang="en-US" dirty="0"/>
              <a:t>3-04</a:t>
            </a:r>
          </a:p>
        </p:txBody>
      </p:sp>
      <p:sp>
        <p:nvSpPr>
          <p:cNvPr id="3" name="Content Placeholder 2">
            <a:extLst>
              <a:ext uri="{FF2B5EF4-FFF2-40B4-BE49-F238E27FC236}">
                <a16:creationId xmlns:a16="http://schemas.microsoft.com/office/drawing/2014/main" id="{591B2982-D278-87B7-AC3A-0A20D7DC9E27}"/>
              </a:ext>
            </a:extLst>
          </p:cNvPr>
          <p:cNvSpPr>
            <a:spLocks noGrp="1"/>
          </p:cNvSpPr>
          <p:nvPr>
            <p:ph idx="1"/>
          </p:nvPr>
        </p:nvSpPr>
        <p:spPr/>
        <p:txBody>
          <a:bodyPr/>
          <a:lstStyle/>
          <a:p>
            <a:endParaRPr lang="en-US"/>
          </a:p>
        </p:txBody>
      </p:sp>
      <p:pic>
        <p:nvPicPr>
          <p:cNvPr id="5" name="Picture 4" descr="Infographic poster explaining user stories in software development, focusing on capturing requirements from the user's perspective. It includes sections on user story definition, structure, examples for Atlas TaskFlow, engineering insights, and best practices, using color-coded labels, icons, and star ratings to highlight key points and milestones.&#10;&#10;">
            <a:extLst>
              <a:ext uri="{FF2B5EF4-FFF2-40B4-BE49-F238E27FC236}">
                <a16:creationId xmlns:a16="http://schemas.microsoft.com/office/drawing/2014/main" id="{FDFBC4AA-43A6-5B4D-86F9-C03983657BEE}"/>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3984418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4F2EAE-F007-68FF-E17C-BCECE13B8951}"/>
              </a:ext>
            </a:extLst>
          </p:cNvPr>
          <p:cNvSpPr>
            <a:spLocks noGrp="1"/>
          </p:cNvSpPr>
          <p:nvPr>
            <p:ph type="title"/>
          </p:nvPr>
        </p:nvSpPr>
        <p:spPr/>
        <p:txBody>
          <a:bodyPr/>
          <a:lstStyle/>
          <a:p>
            <a:r>
              <a:rPr lang="en-US" dirty="0"/>
              <a:t>3-05</a:t>
            </a:r>
          </a:p>
        </p:txBody>
      </p:sp>
      <p:sp>
        <p:nvSpPr>
          <p:cNvPr id="3" name="Content Placeholder 2">
            <a:extLst>
              <a:ext uri="{FF2B5EF4-FFF2-40B4-BE49-F238E27FC236}">
                <a16:creationId xmlns:a16="http://schemas.microsoft.com/office/drawing/2014/main" id="{A11160ED-34E6-9AE7-21C8-1CFAF0DA7725}"/>
              </a:ext>
            </a:extLst>
          </p:cNvPr>
          <p:cNvSpPr>
            <a:spLocks noGrp="1"/>
          </p:cNvSpPr>
          <p:nvPr>
            <p:ph idx="1"/>
          </p:nvPr>
        </p:nvSpPr>
        <p:spPr/>
        <p:txBody>
          <a:bodyPr/>
          <a:lstStyle/>
          <a:p>
            <a:endParaRPr lang="en-US"/>
          </a:p>
        </p:txBody>
      </p:sp>
      <p:pic>
        <p:nvPicPr>
          <p:cNvPr id="5" name="Picture 4" descr="A detailed infographic outlines personas and user journeys for Atlas Software Solutions, highlighting roles of four personas—Olivia, Ethan, Maya, and Daniel—with their goals, frustrations, and motivations. It includes a color-coded user journey map with six key steps, annotations on architecture and engineering solutions, and emphasizes user experience improvements through feedback and collaboration.&#10;">
            <a:extLst>
              <a:ext uri="{FF2B5EF4-FFF2-40B4-BE49-F238E27FC236}">
                <a16:creationId xmlns:a16="http://schemas.microsoft.com/office/drawing/2014/main" id="{62B60C33-0CE0-B39F-FBDB-8E25EFB121B5}"/>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41915181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A5591-9CBB-C609-42A9-21C9D256781B}"/>
              </a:ext>
            </a:extLst>
          </p:cNvPr>
          <p:cNvSpPr>
            <a:spLocks noGrp="1"/>
          </p:cNvSpPr>
          <p:nvPr>
            <p:ph type="title"/>
          </p:nvPr>
        </p:nvSpPr>
        <p:spPr/>
        <p:txBody>
          <a:bodyPr/>
          <a:lstStyle/>
          <a:p>
            <a:r>
              <a:rPr lang="en-US" dirty="0"/>
              <a:t>3-06</a:t>
            </a:r>
          </a:p>
        </p:txBody>
      </p:sp>
      <p:sp>
        <p:nvSpPr>
          <p:cNvPr id="3" name="Content Placeholder 2">
            <a:extLst>
              <a:ext uri="{FF2B5EF4-FFF2-40B4-BE49-F238E27FC236}">
                <a16:creationId xmlns:a16="http://schemas.microsoft.com/office/drawing/2014/main" id="{EBDEC3A7-FE5B-5BE3-0B82-01AC5AE0D3E1}"/>
              </a:ext>
            </a:extLst>
          </p:cNvPr>
          <p:cNvSpPr>
            <a:spLocks noGrp="1"/>
          </p:cNvSpPr>
          <p:nvPr>
            <p:ph idx="1"/>
          </p:nvPr>
        </p:nvSpPr>
        <p:spPr/>
        <p:txBody>
          <a:bodyPr/>
          <a:lstStyle/>
          <a:p>
            <a:endParaRPr lang="en-US"/>
          </a:p>
        </p:txBody>
      </p:sp>
      <p:pic>
        <p:nvPicPr>
          <p:cNvPr id="5" name="Picture 4" descr="Diagram illustrating information architecture for Atlas TaskFlow, showing content organization and user navigation. It includes a flowchart of data sources and views, principles applied, navigation patterns with examples, and engineering insights highlighting efficient task completion and user experience improvements.&#10;">
            <a:extLst>
              <a:ext uri="{FF2B5EF4-FFF2-40B4-BE49-F238E27FC236}">
                <a16:creationId xmlns:a16="http://schemas.microsoft.com/office/drawing/2014/main" id="{9D2ABCFC-306D-60A6-27A4-F10E08BE49BC}"/>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36309711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9AF7E-4D91-5105-13B2-83482D10BF19}"/>
              </a:ext>
            </a:extLst>
          </p:cNvPr>
          <p:cNvSpPr>
            <a:spLocks noGrp="1"/>
          </p:cNvSpPr>
          <p:nvPr>
            <p:ph type="title"/>
          </p:nvPr>
        </p:nvSpPr>
        <p:spPr/>
        <p:txBody>
          <a:bodyPr/>
          <a:lstStyle/>
          <a:p>
            <a:r>
              <a:rPr lang="en-US" dirty="0"/>
              <a:t>3-07</a:t>
            </a:r>
          </a:p>
        </p:txBody>
      </p:sp>
      <p:sp>
        <p:nvSpPr>
          <p:cNvPr id="3" name="Content Placeholder 2">
            <a:extLst>
              <a:ext uri="{FF2B5EF4-FFF2-40B4-BE49-F238E27FC236}">
                <a16:creationId xmlns:a16="http://schemas.microsoft.com/office/drawing/2014/main" id="{D5F8F91A-C286-8694-2892-9B43CF0CFB26}"/>
              </a:ext>
            </a:extLst>
          </p:cNvPr>
          <p:cNvSpPr>
            <a:spLocks noGrp="1"/>
          </p:cNvSpPr>
          <p:nvPr>
            <p:ph idx="1"/>
          </p:nvPr>
        </p:nvSpPr>
        <p:spPr/>
        <p:txBody>
          <a:bodyPr/>
          <a:lstStyle/>
          <a:p>
            <a:endParaRPr lang="en-US"/>
          </a:p>
        </p:txBody>
      </p:sp>
      <p:pic>
        <p:nvPicPr>
          <p:cNvPr id="5" name="Picture 4" descr="Screenshot of a product backlog and MVP planning dashboard for Atlas Software Solutions, showing prioritized user stories with details like ID, description, user, effort, priority, and dependencies. The layout includes sections for sprint goals, engineering insights, design challenges, class discussion points, and a motivational engineering lesson, using color-coded labels and icons to highlight progress and key focus areas.&#10;">
            <a:extLst>
              <a:ext uri="{FF2B5EF4-FFF2-40B4-BE49-F238E27FC236}">
                <a16:creationId xmlns:a16="http://schemas.microsoft.com/office/drawing/2014/main" id="{1B2A61CF-6689-2546-860D-6AE2D5E25D5D}"/>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42082820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7E940-4DCC-5CEE-0AC9-E20F3818E279}"/>
              </a:ext>
            </a:extLst>
          </p:cNvPr>
          <p:cNvSpPr>
            <a:spLocks noGrp="1"/>
          </p:cNvSpPr>
          <p:nvPr>
            <p:ph type="title"/>
          </p:nvPr>
        </p:nvSpPr>
        <p:spPr/>
        <p:txBody>
          <a:bodyPr/>
          <a:lstStyle/>
          <a:p>
            <a:r>
              <a:rPr lang="en-US" dirty="0"/>
              <a:t>3-08</a:t>
            </a:r>
          </a:p>
        </p:txBody>
      </p:sp>
      <p:sp>
        <p:nvSpPr>
          <p:cNvPr id="3" name="Content Placeholder 2">
            <a:extLst>
              <a:ext uri="{FF2B5EF4-FFF2-40B4-BE49-F238E27FC236}">
                <a16:creationId xmlns:a16="http://schemas.microsoft.com/office/drawing/2014/main" id="{BA564626-7F15-2F7A-3A29-84F72F534674}"/>
              </a:ext>
            </a:extLst>
          </p:cNvPr>
          <p:cNvSpPr>
            <a:spLocks noGrp="1"/>
          </p:cNvSpPr>
          <p:nvPr>
            <p:ph idx="1"/>
          </p:nvPr>
        </p:nvSpPr>
        <p:spPr/>
        <p:txBody>
          <a:bodyPr/>
          <a:lstStyle/>
          <a:p>
            <a:endParaRPr lang="en-US"/>
          </a:p>
        </p:txBody>
      </p:sp>
      <p:pic>
        <p:nvPicPr>
          <p:cNvPr id="7" name="Picture 6" descr="A detailed infographic outlines product backlog and MVP planning for software development, featuring a task list with user stories, priorities, dependencies, and assigned team members. It includes sections on sprint goals, engineering insights, architecture highlights, design challenges, class discussion points, and motivational quotes, using color-coded boxes, icons, and star ratings to emphasize key milestones and workflow stages.&#10;&#10;">
            <a:extLst>
              <a:ext uri="{FF2B5EF4-FFF2-40B4-BE49-F238E27FC236}">
                <a16:creationId xmlns:a16="http://schemas.microsoft.com/office/drawing/2014/main" id="{46C65047-501D-314E-6194-CDCC0697C367}"/>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21231337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62485-9330-288D-89AA-C5085B2E57EF}"/>
              </a:ext>
            </a:extLst>
          </p:cNvPr>
          <p:cNvSpPr>
            <a:spLocks noGrp="1"/>
          </p:cNvSpPr>
          <p:nvPr>
            <p:ph type="title"/>
          </p:nvPr>
        </p:nvSpPr>
        <p:spPr/>
        <p:txBody>
          <a:bodyPr/>
          <a:lstStyle/>
          <a:p>
            <a:r>
              <a:rPr lang="en-US" dirty="0"/>
              <a:t>3-09</a:t>
            </a:r>
          </a:p>
        </p:txBody>
      </p:sp>
      <p:sp>
        <p:nvSpPr>
          <p:cNvPr id="3" name="Content Placeholder 2">
            <a:extLst>
              <a:ext uri="{FF2B5EF4-FFF2-40B4-BE49-F238E27FC236}">
                <a16:creationId xmlns:a16="http://schemas.microsoft.com/office/drawing/2014/main" id="{1B22AD72-0E03-3E6E-CDDF-EECC6B76A658}"/>
              </a:ext>
            </a:extLst>
          </p:cNvPr>
          <p:cNvSpPr>
            <a:spLocks noGrp="1"/>
          </p:cNvSpPr>
          <p:nvPr>
            <p:ph idx="1"/>
          </p:nvPr>
        </p:nvSpPr>
        <p:spPr/>
        <p:txBody>
          <a:bodyPr/>
          <a:lstStyle/>
          <a:p>
            <a:endParaRPr lang="en-US"/>
          </a:p>
        </p:txBody>
      </p:sp>
      <p:pic>
        <p:nvPicPr>
          <p:cNvPr id="5" name="Picture 4" descr="A detailed infographic outlining the ENG-002 design package for Atlas TaskFlow, focusing on artifact XL in sprint 3 of 8. It includes sections on requirements, user stories, personas, client approval, and artifact overview with color-coded boxes, icons, and a timeline highlighting key steps and quality checks for software development.&#10;&#10;">
            <a:extLst>
              <a:ext uri="{FF2B5EF4-FFF2-40B4-BE49-F238E27FC236}">
                <a16:creationId xmlns:a16="http://schemas.microsoft.com/office/drawing/2014/main" id="{C51845DC-E572-5B06-AD9B-8C20CA21C0F8}"/>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2068098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40025-BE4A-2C4C-6BFB-5FB520D6DD5B}"/>
              </a:ext>
            </a:extLst>
          </p:cNvPr>
          <p:cNvSpPr>
            <a:spLocks noGrp="1"/>
          </p:cNvSpPr>
          <p:nvPr>
            <p:ph type="title"/>
          </p:nvPr>
        </p:nvSpPr>
        <p:spPr/>
        <p:txBody>
          <a:bodyPr/>
          <a:lstStyle/>
          <a:p>
            <a:r>
              <a:rPr lang="en-US" dirty="0"/>
              <a:t>3-10</a:t>
            </a:r>
          </a:p>
        </p:txBody>
      </p:sp>
      <p:sp>
        <p:nvSpPr>
          <p:cNvPr id="3" name="Content Placeholder 2">
            <a:extLst>
              <a:ext uri="{FF2B5EF4-FFF2-40B4-BE49-F238E27FC236}">
                <a16:creationId xmlns:a16="http://schemas.microsoft.com/office/drawing/2014/main" id="{F10DFB87-E985-D901-0A74-5A30A7D42301}"/>
              </a:ext>
            </a:extLst>
          </p:cNvPr>
          <p:cNvSpPr>
            <a:spLocks noGrp="1"/>
          </p:cNvSpPr>
          <p:nvPr>
            <p:ph idx="1"/>
          </p:nvPr>
        </p:nvSpPr>
        <p:spPr/>
        <p:txBody>
          <a:bodyPr/>
          <a:lstStyle/>
          <a:p>
            <a:endParaRPr lang="en-US"/>
          </a:p>
        </p:txBody>
      </p:sp>
      <p:pic>
        <p:nvPicPr>
          <p:cNvPr id="5" name="Picture 4" descr="Sprint 3 review and retrospective dashboard presenting a detailed summary of sprint goals, accomplishments, outcomes, and team reflections using icons, color-coded sections, and charts. Key elements include user stories completed, defect distribution pie chart, lessons learned, risks and mitigations, and client feedback highlighting successful feature delivery and collaboration improvements.&#10;&#10;">
            <a:extLst>
              <a:ext uri="{FF2B5EF4-FFF2-40B4-BE49-F238E27FC236}">
                <a16:creationId xmlns:a16="http://schemas.microsoft.com/office/drawing/2014/main" id="{0391DAC0-83C5-A3C3-BAFA-4AB09F36BC3C}"/>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39623395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175</TotalTime>
  <Words>10110</Words>
  <Application>Microsoft Office PowerPoint</Application>
  <PresentationFormat>Widescreen</PresentationFormat>
  <Paragraphs>4717</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3-01</vt:lpstr>
      <vt:lpstr>3-02</vt:lpstr>
      <vt:lpstr>3-03</vt:lpstr>
      <vt:lpstr>3-04</vt:lpstr>
      <vt:lpstr>3-05</vt:lpstr>
      <vt:lpstr>3-06</vt:lpstr>
      <vt:lpstr>3-07</vt:lpstr>
      <vt:lpstr>3-08</vt:lpstr>
      <vt:lpstr>3-09</vt:lpstr>
      <vt:lpstr>3-10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CT Thompson</dc:creator>
  <cp:lastModifiedBy>CT THOMPSON</cp:lastModifiedBy>
  <cp:revision>3</cp:revision>
  <dcterms:created xsi:type="dcterms:W3CDTF">2026-08-06T06:12:51Z</dcterms:created>
  <dcterms:modified xsi:type="dcterms:W3CDTF">2026-08-13T18:16:34Z</dcterms:modified>
</cp:coreProperties>
</file>