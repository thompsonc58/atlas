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78" d="100"/>
          <a:sy n="78" d="100"/>
        </p:scale>
        <p:origin x="120" y="4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FDA3B8-C7CA-45D5-A3B1-2E372F1A5B8C}"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FFB2A-FA1B-453E-A83D-1533B3FE308E}" type="slidenum">
              <a:rPr lang="en-US" smtClean="0"/>
              <a:t>‹#›</a:t>
            </a:fld>
            <a:endParaRPr lang="en-US"/>
          </a:p>
        </p:txBody>
      </p:sp>
    </p:spTree>
    <p:extLst>
      <p:ext uri="{BB962C8B-B14F-4D97-AF65-F5344CB8AC3E}">
        <p14:creationId xmlns:p14="http://schemas.microsoft.com/office/powerpoint/2010/main" val="1225870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ATLAS TASKFLOW NEEDS A MEMORY</a:t>
            </a:r>
          </a:p>
          <a:p>
            <a:endParaRPr lang="en-US" dirty="0"/>
          </a:p>
          <a:p>
            <a:r>
              <a:rPr lang="en-US" dirty="0"/>
              <a:t>============================================================</a:t>
            </a:r>
          </a:p>
          <a:p>
            <a:endParaRPr lang="en-US" dirty="0"/>
          </a:p>
          <a:p>
            <a:r>
              <a:rPr lang="en-US" dirty="0"/>
              <a:t>SLIDE PURPOSE</a:t>
            </a:r>
          </a:p>
          <a:p>
            <a:endParaRPr lang="en-US" dirty="0"/>
          </a:p>
          <a:p>
            <a:r>
              <a:rPr lang="en-US" dirty="0"/>
              <a:t>Introduce the central engineering problem for Sprint 5:</a:t>
            </a:r>
          </a:p>
          <a:p>
            <a:endParaRPr lang="en-US" dirty="0"/>
          </a:p>
          <a:p>
            <a:r>
              <a:rPr lang="en-US" dirty="0"/>
              <a:t>Atlas </a:t>
            </a:r>
            <a:r>
              <a:rPr lang="en-US" dirty="0" err="1"/>
              <a:t>TaskFlow</a:t>
            </a:r>
            <a:r>
              <a:rPr lang="en-US" dirty="0"/>
              <a:t> is live, but it cannot permanently store information.</a:t>
            </a:r>
          </a:p>
          <a:p>
            <a:endParaRPr lang="en-US" dirty="0"/>
          </a:p>
          <a:p>
            <a:r>
              <a:rPr lang="en-US" dirty="0"/>
              <a:t>Students will understand why persistence is essential to SaaS applications</a:t>
            </a:r>
          </a:p>
          <a:p>
            <a:r>
              <a:rPr lang="en-US" dirty="0"/>
              <a:t>and preview how a database will extend the architecture they created in</a:t>
            </a:r>
          </a:p>
          <a:p>
            <a:r>
              <a:rPr lang="en-US" dirty="0"/>
              <a:t>Sprint 4.</a:t>
            </a:r>
          </a:p>
          <a:p>
            <a:endParaRPr lang="en-US" dirty="0"/>
          </a:p>
          <a:p>
            <a:r>
              <a:rPr lang="en-US" dirty="0"/>
              <a:t>The objective is conceptual understanding.</a:t>
            </a:r>
          </a:p>
          <a:p>
            <a:endParaRPr lang="en-US" dirty="0"/>
          </a:p>
          <a:p>
            <a:r>
              <a:rPr lang="en-US" dirty="0"/>
              <a:t>Do NOT begin teaching database syntax yet.</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"Last sprint, we accomplished something pretty incredible."</a:t>
            </a:r>
          </a:p>
          <a:p>
            <a:endParaRPr lang="en-US" dirty="0"/>
          </a:p>
          <a:p>
            <a:r>
              <a:rPr lang="en-US" dirty="0"/>
              <a:t>"We took Atlas </a:t>
            </a:r>
            <a:r>
              <a:rPr lang="en-US" dirty="0" err="1"/>
              <a:t>TaskFlow</a:t>
            </a:r>
            <a:r>
              <a:rPr lang="en-US" dirty="0"/>
              <a:t>..."</a:t>
            </a:r>
          </a:p>
          <a:p>
            <a:endParaRPr lang="en-US" dirty="0"/>
          </a:p>
          <a:p>
            <a:r>
              <a:rPr lang="en-US" dirty="0"/>
              <a:t>"...and put it in the cloud."</a:t>
            </a:r>
          </a:p>
          <a:p>
            <a:endParaRPr lang="en-US" dirty="0"/>
          </a:p>
          <a:p>
            <a:r>
              <a:rPr lang="en-US" dirty="0"/>
              <a:t>Pause.</a:t>
            </a:r>
          </a:p>
          <a:p>
            <a:endParaRPr lang="en-US" dirty="0"/>
          </a:p>
          <a:p>
            <a:r>
              <a:rPr lang="en-US" dirty="0"/>
              <a:t>"Users can access it."</a:t>
            </a:r>
          </a:p>
          <a:p>
            <a:endParaRPr lang="en-US" dirty="0"/>
          </a:p>
          <a:p>
            <a:r>
              <a:rPr lang="en-US" dirty="0"/>
              <a:t>"It works."</a:t>
            </a:r>
          </a:p>
          <a:p>
            <a:endParaRPr lang="en-US" dirty="0"/>
          </a:p>
          <a:p>
            <a:r>
              <a:rPr lang="en-US" dirty="0"/>
              <a:t>"It looks professional."</a:t>
            </a:r>
          </a:p>
          <a:p>
            <a:endParaRPr lang="en-US" dirty="0"/>
          </a:p>
          <a:p>
            <a:r>
              <a:rPr lang="en-US" dirty="0"/>
              <a:t>Pause.</a:t>
            </a:r>
          </a:p>
          <a:p>
            <a:endParaRPr lang="en-US" dirty="0"/>
          </a:p>
          <a:p>
            <a:r>
              <a:rPr lang="en-US" dirty="0"/>
              <a:t>"But..."</a:t>
            </a:r>
          </a:p>
          <a:p>
            <a:endParaRPr lang="en-US" dirty="0"/>
          </a:p>
          <a:p>
            <a:r>
              <a:rPr lang="en-US" dirty="0"/>
              <a:t>"There is a problem."</a:t>
            </a:r>
          </a:p>
          <a:p>
            <a:endParaRPr lang="en-US" dirty="0"/>
          </a:p>
          <a:p>
            <a:r>
              <a:rPr lang="en-US" dirty="0"/>
              <a:t>------------------------------------------------------------</a:t>
            </a:r>
          </a:p>
          <a:p>
            <a:endParaRPr lang="en-US" dirty="0"/>
          </a:p>
          <a:p>
            <a:r>
              <a:rPr lang="en-US" dirty="0"/>
              <a:t>THE CLIENT'S QUESTION</a:t>
            </a:r>
          </a:p>
          <a:p>
            <a:endParaRPr lang="en-US" dirty="0"/>
          </a:p>
          <a:p>
            <a:r>
              <a:rPr lang="en-US" dirty="0"/>
              <a:t>Point to the client statement:</a:t>
            </a:r>
          </a:p>
          <a:p>
            <a:endParaRPr lang="en-US" dirty="0"/>
          </a:p>
          <a:p>
            <a:r>
              <a:rPr lang="en-US" dirty="0"/>
              <a:t>"It looks great, but where are my tasks?"</a:t>
            </a:r>
          </a:p>
          <a:p>
            <a:endParaRPr lang="en-US" dirty="0"/>
          </a:p>
          <a:p>
            <a:r>
              <a:rPr lang="en-US" dirty="0"/>
              <a:t>Pause.</a:t>
            </a:r>
          </a:p>
          <a:p>
            <a:endParaRPr lang="en-US" dirty="0"/>
          </a:p>
          <a:p>
            <a:r>
              <a:rPr lang="en-US" dirty="0"/>
              <a:t>Ask the class:</a:t>
            </a:r>
          </a:p>
          <a:p>
            <a:endParaRPr lang="en-US" dirty="0"/>
          </a:p>
          <a:p>
            <a:r>
              <a:rPr lang="en-US" dirty="0"/>
              <a:t>"What do you think the client means?"</a:t>
            </a:r>
          </a:p>
          <a:p>
            <a:endParaRPr lang="en-US" dirty="0"/>
          </a:p>
          <a:p>
            <a:r>
              <a:rPr lang="en-US" dirty="0"/>
              <a:t>Allow responses.</a:t>
            </a:r>
          </a:p>
          <a:p>
            <a:endParaRPr lang="en-US" dirty="0"/>
          </a:p>
          <a:p>
            <a:r>
              <a:rPr lang="en-US" dirty="0"/>
              <a:t>Guide them toward:</a:t>
            </a:r>
          </a:p>
          <a:p>
            <a:endParaRPr lang="en-US" dirty="0"/>
          </a:p>
          <a:p>
            <a:r>
              <a:rPr lang="en-US" dirty="0"/>
              <a:t>"The application doesn't save anything."</a:t>
            </a:r>
          </a:p>
          <a:p>
            <a:endParaRPr lang="en-US" dirty="0"/>
          </a:p>
          <a:p>
            <a:r>
              <a:rPr lang="en-US" dirty="0"/>
              <a:t>Then say:</a:t>
            </a:r>
          </a:p>
          <a:p>
            <a:endParaRPr lang="en-US" dirty="0"/>
          </a:p>
          <a:p>
            <a:r>
              <a:rPr lang="en-US" dirty="0"/>
              <a:t>"Exactly."</a:t>
            </a:r>
          </a:p>
          <a:p>
            <a:endParaRPr lang="en-US" dirty="0"/>
          </a:p>
          <a:p>
            <a:r>
              <a:rPr lang="en-US" dirty="0"/>
              <a:t>"Atlas </a:t>
            </a:r>
            <a:r>
              <a:rPr lang="en-US" dirty="0" err="1"/>
              <a:t>TaskFlow</a:t>
            </a:r>
            <a:r>
              <a:rPr lang="en-US" dirty="0"/>
              <a:t> has a memory problem."</a:t>
            </a:r>
          </a:p>
          <a:p>
            <a:endParaRPr lang="en-US" dirty="0"/>
          </a:p>
          <a:p>
            <a:r>
              <a:rPr lang="en-US" dirty="0"/>
              <a:t>------------------------------------------------------------</a:t>
            </a:r>
          </a:p>
          <a:p>
            <a:endParaRPr lang="en-US" dirty="0"/>
          </a:p>
          <a:p>
            <a:r>
              <a:rPr lang="en-US" dirty="0"/>
              <a:t>THE PROBLEM</a:t>
            </a:r>
          </a:p>
          <a:p>
            <a:endParaRPr lang="en-US" dirty="0"/>
          </a:p>
          <a:p>
            <a:r>
              <a:rPr lang="en-US" dirty="0"/>
              <a:t>Point to the list.</a:t>
            </a:r>
          </a:p>
          <a:p>
            <a:endParaRPr lang="en-US" dirty="0"/>
          </a:p>
          <a:p>
            <a:r>
              <a:rPr lang="en-US" dirty="0"/>
              <a:t>Create a task.</a:t>
            </a:r>
          </a:p>
          <a:p>
            <a:endParaRPr lang="en-US" dirty="0"/>
          </a:p>
          <a:p>
            <a:r>
              <a:rPr lang="en-US" dirty="0"/>
              <a:t>It's gone.</a:t>
            </a:r>
          </a:p>
          <a:p>
            <a:endParaRPr lang="en-US" dirty="0"/>
          </a:p>
          <a:p>
            <a:r>
              <a:rPr lang="en-US" dirty="0"/>
              <a:t>Refresh the page.</a:t>
            </a:r>
          </a:p>
          <a:p>
            <a:endParaRPr lang="en-US" dirty="0"/>
          </a:p>
          <a:p>
            <a:r>
              <a:rPr lang="en-US" dirty="0"/>
              <a:t>It's gone.</a:t>
            </a:r>
          </a:p>
          <a:p>
            <a:endParaRPr lang="en-US" dirty="0"/>
          </a:p>
          <a:p>
            <a:r>
              <a:rPr lang="en-US" dirty="0"/>
              <a:t>Close the application.</a:t>
            </a:r>
          </a:p>
          <a:p>
            <a:endParaRPr lang="en-US" dirty="0"/>
          </a:p>
          <a:p>
            <a:r>
              <a:rPr lang="en-US" dirty="0"/>
              <a:t>It's gone.</a:t>
            </a:r>
          </a:p>
          <a:p>
            <a:endParaRPr lang="en-US" dirty="0"/>
          </a:p>
          <a:p>
            <a:r>
              <a:rPr lang="en-US" dirty="0"/>
              <a:t>Come back tomorrow.</a:t>
            </a:r>
          </a:p>
          <a:p>
            <a:endParaRPr lang="en-US" dirty="0"/>
          </a:p>
          <a:p>
            <a:r>
              <a:rPr lang="en-US" dirty="0"/>
              <a:t>It's gone.</a:t>
            </a:r>
          </a:p>
          <a:p>
            <a:endParaRPr lang="en-US" dirty="0"/>
          </a:p>
          <a:p>
            <a:r>
              <a:rPr lang="en-US" dirty="0"/>
              <a:t>Explain:</a:t>
            </a:r>
          </a:p>
          <a:p>
            <a:endParaRPr lang="en-US" dirty="0"/>
          </a:p>
          <a:p>
            <a:r>
              <a:rPr lang="en-US" dirty="0"/>
              <a:t>"Right now, Atlas </a:t>
            </a:r>
            <a:r>
              <a:rPr lang="en-US" dirty="0" err="1"/>
              <a:t>TaskFlow</a:t>
            </a:r>
            <a:r>
              <a:rPr lang="en-US" dirty="0"/>
              <a:t> only remembers information while we're</a:t>
            </a:r>
          </a:p>
          <a:p>
            <a:r>
              <a:rPr lang="en-US" dirty="0"/>
              <a:t>working with it."</a:t>
            </a:r>
          </a:p>
          <a:p>
            <a:endParaRPr lang="en-US" dirty="0"/>
          </a:p>
          <a:p>
            <a:r>
              <a:rPr lang="en-US" dirty="0"/>
              <a:t>"Once that information disappears..."</a:t>
            </a:r>
          </a:p>
          <a:p>
            <a:endParaRPr lang="en-US" dirty="0"/>
          </a:p>
          <a:p>
            <a:r>
              <a:rPr lang="en-US" dirty="0"/>
              <a:t>"The application can't get it back."</a:t>
            </a:r>
          </a:p>
          <a:p>
            <a:endParaRPr lang="en-US" dirty="0"/>
          </a:p>
          <a:p>
            <a:r>
              <a:rPr lang="en-US" dirty="0"/>
              <a:t>------------------------------------------------------------</a:t>
            </a:r>
          </a:p>
          <a:p>
            <a:endParaRPr lang="en-US" dirty="0"/>
          </a:p>
          <a:p>
            <a:r>
              <a:rPr lang="en-US" dirty="0"/>
              <a:t>THE ENGINEERING QUESTION</a:t>
            </a:r>
          </a:p>
          <a:p>
            <a:endParaRPr lang="en-US" dirty="0"/>
          </a:p>
          <a:p>
            <a:r>
              <a:rPr lang="en-US" dirty="0"/>
              <a:t>Point to the center question:</a:t>
            </a:r>
          </a:p>
          <a:p>
            <a:endParaRPr lang="en-US" dirty="0"/>
          </a:p>
          <a:p>
            <a:r>
              <a:rPr lang="en-US" dirty="0"/>
              <a:t>"How does a SaaS application store, retrieve, and manage information?"</a:t>
            </a:r>
          </a:p>
          <a:p>
            <a:endParaRPr lang="en-US" dirty="0"/>
          </a:p>
          <a:p>
            <a:r>
              <a:rPr lang="en-US" dirty="0"/>
              <a:t>Explain:</a:t>
            </a:r>
          </a:p>
          <a:p>
            <a:endParaRPr lang="en-US" dirty="0"/>
          </a:p>
          <a:p>
            <a:r>
              <a:rPr lang="en-US" dirty="0"/>
              <a:t>"This is the question we're going to answer during Sprint 5."</a:t>
            </a:r>
          </a:p>
          <a:p>
            <a:endParaRPr lang="en-US" dirty="0"/>
          </a:p>
          <a:p>
            <a:r>
              <a:rPr lang="en-US" dirty="0"/>
              <a:t>Not:</a:t>
            </a:r>
          </a:p>
          <a:p>
            <a:endParaRPr lang="en-US" dirty="0"/>
          </a:p>
          <a:p>
            <a:r>
              <a:rPr lang="en-US" dirty="0"/>
              <a:t>"How do I write SQL?"</a:t>
            </a:r>
          </a:p>
          <a:p>
            <a:endParaRPr lang="en-US" dirty="0"/>
          </a:p>
          <a:p>
            <a:r>
              <a:rPr lang="en-US" dirty="0"/>
              <a:t>Not:</a:t>
            </a:r>
          </a:p>
          <a:p>
            <a:endParaRPr lang="en-US" dirty="0"/>
          </a:p>
          <a:p>
            <a:r>
              <a:rPr lang="en-US" dirty="0"/>
              <a:t>"How do I configure Entity Framework?"</a:t>
            </a:r>
          </a:p>
          <a:p>
            <a:endParaRPr lang="en-US" dirty="0"/>
          </a:p>
          <a:p>
            <a:r>
              <a:rPr lang="en-US" dirty="0"/>
              <a:t>The bigger question is:</a:t>
            </a:r>
          </a:p>
          <a:p>
            <a:endParaRPr lang="en-US" dirty="0"/>
          </a:p>
          <a:p>
            <a:r>
              <a:rPr lang="en-US" dirty="0"/>
              <a:t>"How does our software remember?"</a:t>
            </a:r>
          </a:p>
          <a:p>
            <a:endParaRPr lang="en-US" dirty="0"/>
          </a:p>
          <a:p>
            <a:r>
              <a:rPr lang="en-US" dirty="0"/>
              <a:t>------------------------------------------------------------</a:t>
            </a:r>
          </a:p>
          <a:p>
            <a:endParaRPr lang="en-US" dirty="0"/>
          </a:p>
          <a:p>
            <a:r>
              <a:rPr lang="en-US" dirty="0"/>
              <a:t>SPRINT 5 GOAL</a:t>
            </a:r>
          </a:p>
          <a:p>
            <a:endParaRPr lang="en-US" dirty="0"/>
          </a:p>
          <a:p>
            <a:r>
              <a:rPr lang="en-US" dirty="0"/>
              <a:t>Read the goal:</a:t>
            </a:r>
          </a:p>
          <a:p>
            <a:endParaRPr lang="en-US" dirty="0"/>
          </a:p>
          <a:p>
            <a:r>
              <a:rPr lang="en-US" dirty="0"/>
              <a:t>"Give Atlas </a:t>
            </a:r>
            <a:r>
              <a:rPr lang="en-US" dirty="0" err="1"/>
              <a:t>TaskFlow</a:t>
            </a:r>
            <a:r>
              <a:rPr lang="en-US" dirty="0"/>
              <a:t> the ability to store, retrieve, and manage data</a:t>
            </a:r>
          </a:p>
          <a:p>
            <a:r>
              <a:rPr lang="en-US" dirty="0"/>
              <a:t>so it can remember what matters."</a:t>
            </a:r>
          </a:p>
          <a:p>
            <a:endParaRPr lang="en-US" dirty="0"/>
          </a:p>
          <a:p>
            <a:r>
              <a:rPr lang="en-US" dirty="0"/>
              <a:t>Explain:</a:t>
            </a:r>
          </a:p>
          <a:p>
            <a:endParaRPr lang="en-US" dirty="0"/>
          </a:p>
          <a:p>
            <a:r>
              <a:rPr lang="en-US" dirty="0"/>
              <a:t>"That's our mission."</a:t>
            </a:r>
          </a:p>
          <a:p>
            <a:endParaRPr lang="en-US" dirty="0"/>
          </a:p>
          <a:p>
            <a:r>
              <a:rPr lang="en-US" dirty="0"/>
              <a:t>"By the end of this sprint..."</a:t>
            </a:r>
          </a:p>
          <a:p>
            <a:endParaRPr lang="en-US" dirty="0"/>
          </a:p>
          <a:p>
            <a:r>
              <a:rPr lang="en-US" dirty="0"/>
              <a:t>"Atlas </a:t>
            </a:r>
            <a:r>
              <a:rPr lang="en-US" dirty="0" err="1"/>
              <a:t>TaskFlow</a:t>
            </a:r>
            <a:r>
              <a:rPr lang="en-US" dirty="0"/>
              <a:t> should remember."</a:t>
            </a:r>
          </a:p>
          <a:p>
            <a:endParaRPr lang="en-US" dirty="0"/>
          </a:p>
          <a:p>
            <a:r>
              <a:rPr lang="en-US" dirty="0"/>
              <a:t>------------------------------------------------------------</a:t>
            </a:r>
          </a:p>
          <a:p>
            <a:endParaRPr lang="en-US" dirty="0"/>
          </a:p>
          <a:p>
            <a:r>
              <a:rPr lang="en-US" dirty="0"/>
              <a:t>FROM AMNESIA TO MEMORY</a:t>
            </a:r>
          </a:p>
          <a:p>
            <a:endParaRPr lang="en-US" dirty="0"/>
          </a:p>
          <a:p>
            <a:r>
              <a:rPr lang="en-US" dirty="0"/>
              <a:t>Point to the left side.</a:t>
            </a:r>
          </a:p>
          <a:p>
            <a:endParaRPr lang="en-US" dirty="0"/>
          </a:p>
          <a:p>
            <a:r>
              <a:rPr lang="en-US" dirty="0"/>
              <a:t>ATLAS TASKFLOW TODAY</a:t>
            </a:r>
          </a:p>
          <a:p>
            <a:endParaRPr lang="en-US" dirty="0"/>
          </a:p>
          <a:p>
            <a:r>
              <a:rPr lang="en-US" dirty="0"/>
              <a:t>User</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No Database</a:t>
            </a:r>
          </a:p>
          <a:p>
            <a:endParaRPr lang="en-US" dirty="0"/>
          </a:p>
          <a:p>
            <a:r>
              <a:rPr lang="en-US" dirty="0"/>
              <a:t>Explain:</a:t>
            </a:r>
          </a:p>
          <a:p>
            <a:endParaRPr lang="en-US" dirty="0"/>
          </a:p>
          <a:p>
            <a:r>
              <a:rPr lang="en-US" dirty="0"/>
              <a:t>"The user interacts with the application..."</a:t>
            </a:r>
          </a:p>
          <a:p>
            <a:endParaRPr lang="en-US" dirty="0"/>
          </a:p>
          <a:p>
            <a:r>
              <a:rPr lang="en-US" dirty="0"/>
              <a:t>"But there is nowhere permanent for the information to go."</a:t>
            </a:r>
          </a:p>
          <a:p>
            <a:endParaRPr lang="en-US" dirty="0"/>
          </a:p>
          <a:p>
            <a:r>
              <a:rPr lang="en-US" dirty="0"/>
              <a:t>"So when the session ends..."</a:t>
            </a:r>
          </a:p>
          <a:p>
            <a:endParaRPr lang="en-US" dirty="0"/>
          </a:p>
          <a:p>
            <a:r>
              <a:rPr lang="en-US" dirty="0"/>
              <a:t>"The information disappears."</a:t>
            </a:r>
          </a:p>
          <a:p>
            <a:endParaRPr lang="en-US" dirty="0"/>
          </a:p>
          <a:p>
            <a:r>
              <a:rPr lang="en-US" dirty="0"/>
              <a:t>------------------------------------------------------------</a:t>
            </a:r>
          </a:p>
          <a:p>
            <a:endParaRPr lang="en-US" dirty="0"/>
          </a:p>
          <a:p>
            <a:r>
              <a:rPr lang="en-US" dirty="0"/>
              <a:t>NOW POINT TO THE RIGHT SIDE</a:t>
            </a:r>
          </a:p>
          <a:p>
            <a:endParaRPr lang="en-US" dirty="0"/>
          </a:p>
          <a:p>
            <a:r>
              <a:rPr lang="en-US" dirty="0"/>
              <a:t>ATLAS TASKFLOW AFTER SPRINT 5</a:t>
            </a:r>
          </a:p>
          <a:p>
            <a:endParaRPr lang="en-US" dirty="0"/>
          </a:p>
          <a:p>
            <a:r>
              <a:rPr lang="en-US" dirty="0"/>
              <a:t>User</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Database</a:t>
            </a:r>
          </a:p>
          <a:p>
            <a:endParaRPr lang="en-US" dirty="0"/>
          </a:p>
          <a:p>
            <a:r>
              <a:rPr lang="en-US" dirty="0"/>
              <a:t>Explain:</a:t>
            </a:r>
          </a:p>
          <a:p>
            <a:endParaRPr lang="en-US" dirty="0"/>
          </a:p>
          <a:p>
            <a:r>
              <a:rPr lang="en-US" dirty="0"/>
              <a:t>"This is the change we're making."</a:t>
            </a:r>
          </a:p>
          <a:p>
            <a:endParaRPr lang="en-US" dirty="0"/>
          </a:p>
          <a:p>
            <a:r>
              <a:rPr lang="en-US" dirty="0"/>
              <a:t>"The application now has somewhere to store information."</a:t>
            </a:r>
          </a:p>
          <a:p>
            <a:endParaRPr lang="en-US" dirty="0"/>
          </a:p>
          <a:p>
            <a:r>
              <a:rPr lang="en-US" dirty="0"/>
              <a:t>"When the user comes back..."</a:t>
            </a:r>
          </a:p>
          <a:p>
            <a:endParaRPr lang="en-US" dirty="0"/>
          </a:p>
          <a:p>
            <a:r>
              <a:rPr lang="en-US" dirty="0"/>
              <a:t>"The information is still there."</a:t>
            </a:r>
          </a:p>
          <a:p>
            <a:endParaRPr lang="en-US" dirty="0"/>
          </a:p>
          <a:p>
            <a:r>
              <a:rPr lang="en-US" dirty="0"/>
              <a:t>------------------------------------------------------------</a:t>
            </a:r>
          </a:p>
          <a:p>
            <a:endParaRPr lang="en-US" dirty="0"/>
          </a:p>
          <a:p>
            <a:r>
              <a:rPr lang="en-US" dirty="0"/>
              <a:t>THE KEY WORD</a:t>
            </a:r>
          </a:p>
          <a:p>
            <a:endParaRPr lang="en-US" dirty="0"/>
          </a:p>
          <a:p>
            <a:r>
              <a:rPr lang="en-US" dirty="0"/>
              <a:t>Point to:</a:t>
            </a:r>
          </a:p>
          <a:p>
            <a:endParaRPr lang="en-US" dirty="0"/>
          </a:p>
          <a:p>
            <a:r>
              <a:rPr lang="en-US" dirty="0"/>
              <a:t>PERSISTENCE</a:t>
            </a:r>
          </a:p>
          <a:p>
            <a:endParaRPr lang="en-US" dirty="0"/>
          </a:p>
          <a:p>
            <a:r>
              <a:rPr lang="en-US" dirty="0"/>
              <a:t>Say:</a:t>
            </a:r>
          </a:p>
          <a:p>
            <a:endParaRPr lang="en-US" dirty="0"/>
          </a:p>
          <a:p>
            <a:r>
              <a:rPr lang="en-US" dirty="0"/>
              <a:t>"This is an important word."</a:t>
            </a:r>
          </a:p>
          <a:p>
            <a:endParaRPr lang="en-US" dirty="0"/>
          </a:p>
          <a:p>
            <a:r>
              <a:rPr lang="en-US" dirty="0"/>
              <a:t>"Persistence means information survives beyond the current session."</a:t>
            </a:r>
          </a:p>
          <a:p>
            <a:endParaRPr lang="en-US" dirty="0"/>
          </a:p>
          <a:p>
            <a:r>
              <a:rPr lang="en-US" dirty="0"/>
              <a:t>Give an example:</a:t>
            </a:r>
          </a:p>
          <a:p>
            <a:endParaRPr lang="en-US" dirty="0"/>
          </a:p>
          <a:p>
            <a:r>
              <a:rPr lang="en-US" dirty="0"/>
              <a:t>"If I create a task today..."</a:t>
            </a:r>
          </a:p>
          <a:p>
            <a:endParaRPr lang="en-US" dirty="0"/>
          </a:p>
          <a:p>
            <a:r>
              <a:rPr lang="en-US" dirty="0"/>
              <a:t>"And come back tomorrow..."</a:t>
            </a:r>
          </a:p>
          <a:p>
            <a:endParaRPr lang="en-US" dirty="0"/>
          </a:p>
          <a:p>
            <a:r>
              <a:rPr lang="en-US" dirty="0"/>
              <a:t>"The task is still there."</a:t>
            </a:r>
          </a:p>
          <a:p>
            <a:endParaRPr lang="en-US" dirty="0"/>
          </a:p>
          <a:p>
            <a:r>
              <a:rPr lang="en-US" dirty="0"/>
              <a:t>"That's persistence."</a:t>
            </a:r>
          </a:p>
          <a:p>
            <a:endParaRPr lang="en-US" dirty="0"/>
          </a:p>
          <a:p>
            <a:r>
              <a:rPr lang="en-US" dirty="0"/>
              <a:t>------------------------------------------------------------</a:t>
            </a:r>
          </a:p>
          <a:p>
            <a:endParaRPr lang="en-US" dirty="0"/>
          </a:p>
          <a:p>
            <a:r>
              <a:rPr lang="en-US" dirty="0"/>
              <a:t>ASK THE CLASS</a:t>
            </a:r>
          </a:p>
          <a:p>
            <a:endParaRPr lang="en-US" dirty="0"/>
          </a:p>
          <a:p>
            <a:r>
              <a:rPr lang="en-US" dirty="0"/>
              <a:t>"If I close my browser..."</a:t>
            </a:r>
          </a:p>
          <a:p>
            <a:endParaRPr lang="en-US" dirty="0"/>
          </a:p>
          <a:p>
            <a:r>
              <a:rPr lang="en-US" dirty="0"/>
              <a:t>"Should my tasks disappear?"</a:t>
            </a:r>
          </a:p>
          <a:p>
            <a:endParaRPr lang="en-US" dirty="0"/>
          </a:p>
          <a:p>
            <a:r>
              <a:rPr lang="en-US" dirty="0"/>
              <a:t>Students:</a:t>
            </a:r>
          </a:p>
          <a:p>
            <a:endParaRPr lang="en-US" dirty="0"/>
          </a:p>
          <a:p>
            <a:r>
              <a:rPr lang="en-US" dirty="0"/>
              <a:t>"No."</a:t>
            </a:r>
          </a:p>
          <a:p>
            <a:endParaRPr lang="en-US" dirty="0"/>
          </a:p>
          <a:p>
            <a:r>
              <a:rPr lang="en-US" dirty="0"/>
              <a:t>Ask:</a:t>
            </a:r>
          </a:p>
          <a:p>
            <a:endParaRPr lang="en-US" dirty="0"/>
          </a:p>
          <a:p>
            <a:r>
              <a:rPr lang="en-US" dirty="0"/>
              <a:t>"Why?"</a:t>
            </a:r>
          </a:p>
          <a:p>
            <a:endParaRPr lang="en-US" dirty="0"/>
          </a:p>
          <a:p>
            <a:r>
              <a:rPr lang="en-US" dirty="0"/>
              <a:t>Guide them toward:</a:t>
            </a:r>
          </a:p>
          <a:p>
            <a:endParaRPr lang="en-US" dirty="0"/>
          </a:p>
          <a:p>
            <a:r>
              <a:rPr lang="en-US" dirty="0"/>
              <a:t>"Because the data is stored somewhere outside the browser."</a:t>
            </a:r>
          </a:p>
          <a:p>
            <a:endParaRPr lang="en-US" dirty="0"/>
          </a:p>
          <a:p>
            <a:r>
              <a:rPr lang="en-US" dirty="0"/>
              <a:t>------------------------------------------------------------</a:t>
            </a:r>
          </a:p>
          <a:p>
            <a:endParaRPr lang="en-US" dirty="0"/>
          </a:p>
          <a:p>
            <a:r>
              <a:rPr lang="en-US" dirty="0"/>
              <a:t>KEY CONCEPT: DATABASE</a:t>
            </a:r>
          </a:p>
          <a:p>
            <a:endParaRPr lang="en-US" dirty="0"/>
          </a:p>
          <a:p>
            <a:r>
              <a:rPr lang="en-US" dirty="0"/>
              <a:t>Point to the database icon.</a:t>
            </a:r>
          </a:p>
          <a:p>
            <a:endParaRPr lang="en-US" dirty="0"/>
          </a:p>
          <a:p>
            <a:r>
              <a:rPr lang="en-US" dirty="0"/>
              <a:t>Explain:</a:t>
            </a:r>
          </a:p>
          <a:p>
            <a:endParaRPr lang="en-US" dirty="0"/>
          </a:p>
          <a:p>
            <a:r>
              <a:rPr lang="en-US" dirty="0"/>
              <a:t>"A database gives our application a structured place to store</a:t>
            </a:r>
          </a:p>
          <a:p>
            <a:r>
              <a:rPr lang="en-US" dirty="0"/>
              <a:t>information."</a:t>
            </a:r>
          </a:p>
          <a:p>
            <a:endParaRPr lang="en-US" dirty="0"/>
          </a:p>
          <a:p>
            <a:r>
              <a:rPr lang="en-US" dirty="0"/>
              <a:t>Don't go into SQL yet.</a:t>
            </a:r>
          </a:p>
          <a:p>
            <a:endParaRPr lang="en-US" dirty="0"/>
          </a:p>
          <a:p>
            <a:r>
              <a:rPr lang="en-US" dirty="0"/>
              <a:t>Don't discuss database administration.</a:t>
            </a:r>
          </a:p>
          <a:p>
            <a:endParaRPr lang="en-US" dirty="0"/>
          </a:p>
          <a:p>
            <a:r>
              <a:rPr lang="en-US" dirty="0"/>
              <a:t>Simply say:</a:t>
            </a:r>
          </a:p>
          <a:p>
            <a:endParaRPr lang="en-US" dirty="0"/>
          </a:p>
          <a:p>
            <a:r>
              <a:rPr lang="en-US" dirty="0"/>
              <a:t>"Think of the database as the application's long-term memory."</a:t>
            </a:r>
          </a:p>
          <a:p>
            <a:endParaRPr lang="en-US" dirty="0"/>
          </a:p>
          <a:p>
            <a:r>
              <a:rPr lang="en-US" dirty="0"/>
              <a:t>------------------------------------------------------------</a:t>
            </a:r>
          </a:p>
          <a:p>
            <a:endParaRPr lang="en-US" dirty="0"/>
          </a:p>
          <a:p>
            <a:r>
              <a:rPr lang="en-US" dirty="0"/>
              <a:t>KEY CONCEPT: ENTITY FRAMEWORK CORE</a:t>
            </a:r>
          </a:p>
          <a:p>
            <a:endParaRPr lang="en-US" dirty="0"/>
          </a:p>
          <a:p>
            <a:r>
              <a:rPr lang="en-US" dirty="0"/>
              <a:t>Point to Entity Framework Core.</a:t>
            </a:r>
          </a:p>
          <a:p>
            <a:endParaRPr lang="en-US" dirty="0"/>
          </a:p>
          <a:p>
            <a:r>
              <a:rPr lang="en-US" dirty="0"/>
              <a:t>Say:</a:t>
            </a:r>
          </a:p>
          <a:p>
            <a:endParaRPr lang="en-US" dirty="0"/>
          </a:p>
          <a:p>
            <a:r>
              <a:rPr lang="en-US" dirty="0"/>
              <a:t>"We're going to use a technology called Entity Framework Core."</a:t>
            </a:r>
          </a:p>
          <a:p>
            <a:endParaRPr lang="en-US" dirty="0"/>
          </a:p>
          <a:p>
            <a:r>
              <a:rPr lang="en-US" dirty="0"/>
              <a:t>Pause.</a:t>
            </a:r>
          </a:p>
          <a:p>
            <a:endParaRPr lang="en-US" dirty="0"/>
          </a:p>
          <a:p>
            <a:r>
              <a:rPr lang="en-US" dirty="0"/>
              <a:t>"But don't worry about memorizing that name today."</a:t>
            </a:r>
          </a:p>
          <a:p>
            <a:endParaRPr lang="en-US" dirty="0"/>
          </a:p>
          <a:p>
            <a:r>
              <a:rPr lang="en-US" dirty="0"/>
              <a:t>Explain its role simply:</a:t>
            </a:r>
          </a:p>
          <a:p>
            <a:endParaRPr lang="en-US" dirty="0"/>
          </a:p>
          <a:p>
            <a:r>
              <a:rPr lang="en-US" dirty="0"/>
              <a:t>"Entity Framework Core gives our C# application a way to work with</a:t>
            </a:r>
          </a:p>
          <a:p>
            <a:r>
              <a:rPr lang="en-US" dirty="0"/>
              <a:t>database information."</a:t>
            </a:r>
          </a:p>
          <a:p>
            <a:endParaRPr lang="en-US" dirty="0"/>
          </a:p>
          <a:p>
            <a:r>
              <a:rPr lang="en-US" dirty="0"/>
              <a:t>"Our C# objects can represent information stored in database tables."</a:t>
            </a:r>
          </a:p>
          <a:p>
            <a:endParaRPr lang="en-US" dirty="0"/>
          </a:p>
          <a:p>
            <a:r>
              <a:rPr lang="en-US" dirty="0"/>
              <a:t>That's enough for today.</a:t>
            </a:r>
          </a:p>
          <a:p>
            <a:endParaRPr lang="en-US" dirty="0"/>
          </a:p>
          <a:p>
            <a:r>
              <a:rPr lang="en-US" dirty="0"/>
              <a:t>------------------------------------------------------------</a:t>
            </a:r>
          </a:p>
          <a:p>
            <a:endParaRPr lang="en-US" dirty="0"/>
          </a:p>
          <a:p>
            <a:r>
              <a:rPr lang="en-US" dirty="0"/>
              <a:t>KEY CONCEPT: CRUD</a:t>
            </a:r>
          </a:p>
          <a:p>
            <a:endParaRPr lang="en-US" dirty="0"/>
          </a:p>
          <a:p>
            <a:r>
              <a:rPr lang="en-US" dirty="0"/>
              <a:t>Point to CRUD.</a:t>
            </a:r>
          </a:p>
          <a:p>
            <a:endParaRPr lang="en-US" dirty="0"/>
          </a:p>
          <a:p>
            <a:r>
              <a:rPr lang="en-US" dirty="0"/>
              <a:t>Explain:</a:t>
            </a:r>
          </a:p>
          <a:p>
            <a:endParaRPr lang="en-US" dirty="0"/>
          </a:p>
          <a:p>
            <a:r>
              <a:rPr lang="en-US" dirty="0"/>
              <a:t>"Most applications perform four basic operations with data."</a:t>
            </a:r>
          </a:p>
          <a:p>
            <a:endParaRPr lang="en-US" dirty="0"/>
          </a:p>
          <a:p>
            <a:r>
              <a:rPr lang="en-US" dirty="0"/>
              <a:t>Create.</a:t>
            </a:r>
          </a:p>
          <a:p>
            <a:endParaRPr lang="en-US" dirty="0"/>
          </a:p>
          <a:p>
            <a:r>
              <a:rPr lang="en-US" dirty="0"/>
              <a:t>Read.</a:t>
            </a:r>
          </a:p>
          <a:p>
            <a:endParaRPr lang="en-US" dirty="0"/>
          </a:p>
          <a:p>
            <a:r>
              <a:rPr lang="en-US" dirty="0"/>
              <a:t>Update.</a:t>
            </a:r>
          </a:p>
          <a:p>
            <a:endParaRPr lang="en-US" dirty="0"/>
          </a:p>
          <a:p>
            <a:r>
              <a:rPr lang="en-US" dirty="0"/>
              <a:t>Delete.</a:t>
            </a:r>
          </a:p>
          <a:p>
            <a:endParaRPr lang="en-US" dirty="0"/>
          </a:p>
          <a:p>
            <a:r>
              <a:rPr lang="en-US" dirty="0"/>
              <a:t>Give the Atlas example:</a:t>
            </a:r>
          </a:p>
          <a:p>
            <a:endParaRPr lang="en-US" dirty="0"/>
          </a:p>
          <a:p>
            <a:r>
              <a:rPr lang="en-US" dirty="0"/>
              <a:t>Create a task.</a:t>
            </a:r>
          </a:p>
          <a:p>
            <a:endParaRPr lang="en-US" dirty="0"/>
          </a:p>
          <a:p>
            <a:r>
              <a:rPr lang="en-US" dirty="0"/>
              <a:t>Read a task.</a:t>
            </a:r>
          </a:p>
          <a:p>
            <a:endParaRPr lang="en-US" dirty="0"/>
          </a:p>
          <a:p>
            <a:r>
              <a:rPr lang="en-US" dirty="0"/>
              <a:t>Update a task.</a:t>
            </a:r>
          </a:p>
          <a:p>
            <a:endParaRPr lang="en-US" dirty="0"/>
          </a:p>
          <a:p>
            <a:r>
              <a:rPr lang="en-US" dirty="0"/>
              <a:t>Delete a task.</a:t>
            </a:r>
          </a:p>
          <a:p>
            <a:endParaRPr lang="en-US" dirty="0"/>
          </a:p>
          <a:p>
            <a:r>
              <a:rPr lang="en-US" dirty="0"/>
              <a:t>Then say:</a:t>
            </a:r>
          </a:p>
          <a:p>
            <a:endParaRPr lang="en-US" dirty="0"/>
          </a:p>
          <a:p>
            <a:r>
              <a:rPr lang="en-US" dirty="0"/>
              <a:t>"You're going to hear these four words a lot."</a:t>
            </a:r>
          </a:p>
          <a:p>
            <a:endParaRPr lang="en-US" dirty="0"/>
          </a:p>
          <a:p>
            <a:r>
              <a:rPr lang="en-US" dirty="0"/>
              <a:t>------------------------------------------------------------</a:t>
            </a:r>
          </a:p>
          <a:p>
            <a:endParaRPr lang="en-US" dirty="0"/>
          </a:p>
          <a:p>
            <a:r>
              <a:rPr lang="en-US" dirty="0"/>
              <a:t>THE ARCHITECTURE EVOLUTION</a:t>
            </a:r>
          </a:p>
          <a:p>
            <a:endParaRPr lang="en-US" dirty="0"/>
          </a:p>
          <a:p>
            <a:r>
              <a:rPr lang="en-US" dirty="0"/>
              <a:t>Point to the Sprint 4 architecture.</a:t>
            </a:r>
          </a:p>
          <a:p>
            <a:endParaRPr lang="en-US" dirty="0"/>
          </a:p>
          <a:p>
            <a:r>
              <a:rPr lang="en-US" dirty="0"/>
              <a:t>Review:</a:t>
            </a:r>
          </a:p>
          <a:p>
            <a:endParaRPr lang="en-US" dirty="0"/>
          </a:p>
          <a:p>
            <a:r>
              <a:rPr lang="en-US" dirty="0"/>
              <a:t>User</a:t>
            </a:r>
          </a:p>
          <a:p>
            <a:endParaRPr lang="en-US" dirty="0"/>
          </a:p>
          <a:p>
            <a:r>
              <a:rPr lang="en-US" dirty="0"/>
              <a:t>Browser</a:t>
            </a:r>
          </a:p>
          <a:p>
            <a:endParaRPr lang="en-US" dirty="0"/>
          </a:p>
          <a:p>
            <a:r>
              <a:rPr lang="en-US" dirty="0"/>
              <a:t>Azure</a:t>
            </a:r>
          </a:p>
          <a:p>
            <a:endParaRPr lang="en-US" dirty="0"/>
          </a:p>
          <a:p>
            <a:r>
              <a:rPr lang="en-US" dirty="0"/>
              <a:t>Atlas </a:t>
            </a:r>
            <a:r>
              <a:rPr lang="en-US" dirty="0" err="1"/>
              <a:t>TaskFlow</a:t>
            </a:r>
            <a:endParaRPr lang="en-US" dirty="0"/>
          </a:p>
          <a:p>
            <a:endParaRPr lang="en-US" dirty="0"/>
          </a:p>
          <a:p>
            <a:r>
              <a:rPr lang="en-US" dirty="0"/>
              <a:t>HTML / UI</a:t>
            </a:r>
          </a:p>
          <a:p>
            <a:endParaRPr lang="en-US" dirty="0"/>
          </a:p>
          <a:p>
            <a:r>
              <a:rPr lang="en-US" dirty="0"/>
              <a:t>Then point to Sprint 5.</a:t>
            </a:r>
          </a:p>
          <a:p>
            <a:endParaRPr lang="en-US" dirty="0"/>
          </a:p>
          <a:p>
            <a:r>
              <a:rPr lang="en-US" dirty="0"/>
              <a:t>Now:</a:t>
            </a:r>
          </a:p>
          <a:p>
            <a:endParaRPr lang="en-US" dirty="0"/>
          </a:p>
          <a:p>
            <a:r>
              <a:rPr lang="en-US" dirty="0"/>
              <a:t>User</a:t>
            </a:r>
          </a:p>
          <a:p>
            <a:endParaRPr lang="en-US" dirty="0"/>
          </a:p>
          <a:p>
            <a:r>
              <a:rPr lang="en-US" dirty="0"/>
              <a:t>Browser</a:t>
            </a:r>
          </a:p>
          <a:p>
            <a:endParaRPr lang="en-US" dirty="0"/>
          </a:p>
          <a:p>
            <a:r>
              <a:rPr lang="en-US" dirty="0"/>
              <a:t>Azure</a:t>
            </a:r>
          </a:p>
          <a:p>
            <a:endParaRPr lang="en-US" dirty="0"/>
          </a:p>
          <a:p>
            <a:r>
              <a:rPr lang="en-US" dirty="0"/>
              <a:t>Atlas </a:t>
            </a:r>
            <a:r>
              <a:rPr lang="en-US" dirty="0" err="1"/>
              <a:t>TaskFlow</a:t>
            </a:r>
            <a:endParaRPr lang="en-US" dirty="0"/>
          </a:p>
          <a:p>
            <a:endParaRPr lang="en-US" dirty="0"/>
          </a:p>
          <a:p>
            <a:r>
              <a:rPr lang="en-US" dirty="0"/>
              <a:t>Database</a:t>
            </a:r>
          </a:p>
          <a:p>
            <a:endParaRPr lang="en-US" dirty="0"/>
          </a:p>
          <a:p>
            <a:r>
              <a:rPr lang="en-US" dirty="0"/>
              <a:t>Explain:</a:t>
            </a:r>
          </a:p>
          <a:p>
            <a:endParaRPr lang="en-US" dirty="0"/>
          </a:p>
          <a:p>
            <a:r>
              <a:rPr lang="en-US" dirty="0"/>
              <a:t>"We aren't replacing anything we built."</a:t>
            </a:r>
          </a:p>
          <a:p>
            <a:endParaRPr lang="en-US" dirty="0"/>
          </a:p>
          <a:p>
            <a:r>
              <a:rPr lang="en-US" dirty="0"/>
              <a:t>"We're extending it."</a:t>
            </a:r>
          </a:p>
          <a:p>
            <a:endParaRPr lang="en-US" dirty="0"/>
          </a:p>
          <a:p>
            <a:r>
              <a:rPr lang="en-US" dirty="0"/>
              <a:t>"This is an important engineering principle."</a:t>
            </a:r>
          </a:p>
          <a:p>
            <a:endParaRPr lang="en-US" dirty="0"/>
          </a:p>
          <a:p>
            <a:r>
              <a:rPr lang="en-US" dirty="0"/>
              <a:t>"Good software grows."</a:t>
            </a:r>
          </a:p>
          <a:p>
            <a:endParaRPr lang="en-US" dirty="0"/>
          </a:p>
          <a:p>
            <a:r>
              <a:rPr lang="en-US" dirty="0"/>
              <a:t>------------------------------------------------------------</a:t>
            </a:r>
          </a:p>
          <a:p>
            <a:endParaRPr lang="en-US" dirty="0"/>
          </a:p>
          <a:p>
            <a:r>
              <a:rPr lang="en-US" dirty="0"/>
              <a:t>CONNECT TO SPRINT 4</a:t>
            </a:r>
          </a:p>
          <a:p>
            <a:endParaRPr lang="en-US" dirty="0"/>
          </a:p>
          <a:p>
            <a:r>
              <a:rPr lang="en-US" dirty="0"/>
              <a:t>Ask:</a:t>
            </a:r>
          </a:p>
          <a:p>
            <a:endParaRPr lang="en-US" dirty="0"/>
          </a:p>
          <a:p>
            <a:r>
              <a:rPr lang="en-US" dirty="0"/>
              <a:t>"What did we accomplish in Sprint 4?"</a:t>
            </a:r>
          </a:p>
          <a:p>
            <a:endParaRPr lang="en-US" dirty="0"/>
          </a:p>
          <a:p>
            <a:r>
              <a:rPr lang="en-US" dirty="0"/>
              <a:t>Students should respond:</a:t>
            </a:r>
          </a:p>
          <a:p>
            <a:endParaRPr lang="en-US" dirty="0"/>
          </a:p>
          <a:p>
            <a:r>
              <a:rPr lang="en-US" dirty="0"/>
              <a:t>"Built and deployed the application."</a:t>
            </a:r>
          </a:p>
          <a:p>
            <a:endParaRPr lang="en-US" dirty="0"/>
          </a:p>
          <a:p>
            <a:r>
              <a:rPr lang="en-US" dirty="0"/>
              <a:t>Then ask:</a:t>
            </a:r>
          </a:p>
          <a:p>
            <a:endParaRPr lang="en-US" dirty="0"/>
          </a:p>
          <a:p>
            <a:r>
              <a:rPr lang="en-US" dirty="0"/>
              <a:t>"What is missing?"</a:t>
            </a:r>
          </a:p>
          <a:p>
            <a:endParaRPr lang="en-US" dirty="0"/>
          </a:p>
          <a:p>
            <a:r>
              <a:rPr lang="en-US" dirty="0"/>
              <a:t>Answer:</a:t>
            </a:r>
          </a:p>
          <a:p>
            <a:endParaRPr lang="en-US" dirty="0"/>
          </a:p>
          <a:p>
            <a:r>
              <a:rPr lang="en-US" dirty="0"/>
              <a:t>"Data."</a:t>
            </a:r>
          </a:p>
          <a:p>
            <a:endParaRPr lang="en-US" dirty="0"/>
          </a:p>
          <a:p>
            <a:r>
              <a:rPr lang="en-US" dirty="0"/>
              <a:t>Explain:</a:t>
            </a:r>
          </a:p>
          <a:p>
            <a:endParaRPr lang="en-US" dirty="0"/>
          </a:p>
          <a:p>
            <a:r>
              <a:rPr lang="en-US" dirty="0"/>
              <a:t>"Sprint 4 gave Atlas a home."</a:t>
            </a:r>
          </a:p>
          <a:p>
            <a:endParaRPr lang="en-US" dirty="0"/>
          </a:p>
          <a:p>
            <a:r>
              <a:rPr lang="en-US" dirty="0"/>
              <a:t>"Sprint 5 gives Atlas a memory."</a:t>
            </a:r>
          </a:p>
          <a:p>
            <a:endParaRPr lang="en-US" dirty="0"/>
          </a:p>
          <a:p>
            <a:r>
              <a:rPr lang="en-US" dirty="0"/>
              <a:t>------------------------------------------------------------</a:t>
            </a:r>
          </a:p>
          <a:p>
            <a:endParaRPr lang="en-US" dirty="0"/>
          </a:p>
          <a:p>
            <a:r>
              <a:rPr lang="en-US" dirty="0"/>
              <a:t>WHAT STUDENTS WILL BUILD</a:t>
            </a:r>
          </a:p>
          <a:p>
            <a:endParaRPr lang="en-US" dirty="0"/>
          </a:p>
          <a:p>
            <a:r>
              <a:rPr lang="en-US" dirty="0"/>
              <a:t>Point to the checklist.</a:t>
            </a:r>
          </a:p>
          <a:p>
            <a:endParaRPr lang="en-US" dirty="0"/>
          </a:p>
          <a:p>
            <a:r>
              <a:rPr lang="en-US" dirty="0"/>
              <a:t>During Sprint 5, students will:</a:t>
            </a:r>
          </a:p>
          <a:p>
            <a:endParaRPr lang="en-US" dirty="0"/>
          </a:p>
          <a:p>
            <a:r>
              <a:rPr lang="en-US" dirty="0"/>
              <a:t>Design the data model.</a:t>
            </a:r>
          </a:p>
          <a:p>
            <a:endParaRPr lang="en-US" dirty="0"/>
          </a:p>
          <a:p>
            <a:r>
              <a:rPr lang="en-US" dirty="0"/>
              <a:t>Connect the application to a database.</a:t>
            </a:r>
          </a:p>
          <a:p>
            <a:endParaRPr lang="en-US" dirty="0"/>
          </a:p>
          <a:p>
            <a:r>
              <a:rPr lang="en-US" dirty="0"/>
              <a:t>Use Entity Framework Core.</a:t>
            </a:r>
          </a:p>
          <a:p>
            <a:endParaRPr lang="en-US" dirty="0"/>
          </a:p>
          <a:p>
            <a:r>
              <a:rPr lang="en-US" dirty="0"/>
              <a:t>Create, read, update, and delete tasks.</a:t>
            </a:r>
          </a:p>
          <a:p>
            <a:endParaRPr lang="en-US" dirty="0"/>
          </a:p>
          <a:p>
            <a:r>
              <a:rPr lang="en-US" dirty="0"/>
              <a:t>Test persistence.</a:t>
            </a:r>
          </a:p>
          <a:p>
            <a:endParaRPr lang="en-US" dirty="0"/>
          </a:p>
          <a:p>
            <a:r>
              <a:rPr lang="en-US" dirty="0"/>
              <a:t>Explain:</a:t>
            </a:r>
          </a:p>
          <a:p>
            <a:endParaRPr lang="en-US" dirty="0"/>
          </a:p>
          <a:p>
            <a:r>
              <a:rPr lang="en-US" dirty="0"/>
              <a:t>"We're going to take this one step at a time."</a:t>
            </a:r>
          </a:p>
          <a:p>
            <a:endParaRPr lang="en-US" dirty="0"/>
          </a:p>
          <a:p>
            <a:r>
              <a:rPr lang="en-US" dirty="0"/>
              <a:t>------------------------------------------------------------</a:t>
            </a:r>
          </a:p>
          <a:p>
            <a:endParaRPr lang="en-US" dirty="0"/>
          </a:p>
          <a:p>
            <a:r>
              <a:rPr lang="en-US" dirty="0"/>
              <a:t>IMPORTANT BOUNDARY</a:t>
            </a:r>
          </a:p>
          <a:p>
            <a:endParaRPr lang="en-US" dirty="0"/>
          </a:p>
          <a:p>
            <a:r>
              <a:rPr lang="en-US" dirty="0"/>
              <a:t>Tell students:</a:t>
            </a:r>
          </a:p>
          <a:p>
            <a:endParaRPr lang="en-US" dirty="0"/>
          </a:p>
          <a:p>
            <a:r>
              <a:rPr lang="en-US" dirty="0"/>
              <a:t>"This is not a database administration course."</a:t>
            </a:r>
          </a:p>
          <a:p>
            <a:endParaRPr lang="en-US" dirty="0"/>
          </a:p>
          <a:p>
            <a:r>
              <a:rPr lang="en-US" dirty="0"/>
              <a:t>"We're not becoming database administrators."</a:t>
            </a:r>
          </a:p>
          <a:p>
            <a:endParaRPr lang="en-US" dirty="0"/>
          </a:p>
          <a:p>
            <a:r>
              <a:rPr lang="en-US" dirty="0"/>
              <a:t>"We're learning how software uses data."</a:t>
            </a:r>
          </a:p>
          <a:p>
            <a:endParaRPr lang="en-US" dirty="0"/>
          </a:p>
          <a:p>
            <a:r>
              <a:rPr lang="en-US" dirty="0"/>
              <a:t>Pause.</a:t>
            </a:r>
          </a:p>
          <a:p>
            <a:endParaRPr lang="en-US" dirty="0"/>
          </a:p>
          <a:p>
            <a:r>
              <a:rPr lang="en-US" dirty="0"/>
              <a:t>"And we're going to learn it by building something."</a:t>
            </a:r>
          </a:p>
          <a:p>
            <a:endParaRPr lang="en-US" dirty="0"/>
          </a:p>
          <a:p>
            <a:r>
              <a:rPr lang="en-US" dirty="0"/>
              <a:t>------------------------------------------------------------</a:t>
            </a:r>
          </a:p>
          <a:p>
            <a:endParaRPr lang="en-US" dirty="0"/>
          </a:p>
          <a:p>
            <a:r>
              <a:rPr lang="en-US" dirty="0"/>
              <a:t>REAL-WORLD CONNECTION</a:t>
            </a:r>
          </a:p>
          <a:p>
            <a:endParaRPr lang="en-US" dirty="0"/>
          </a:p>
          <a:p>
            <a:r>
              <a:rPr lang="en-US" dirty="0"/>
              <a:t>Ask:</a:t>
            </a:r>
          </a:p>
          <a:p>
            <a:endParaRPr lang="en-US" dirty="0"/>
          </a:p>
          <a:p>
            <a:r>
              <a:rPr lang="en-US" dirty="0"/>
              <a:t>"What would happen if Amazon forgot your shopping cart?"</a:t>
            </a:r>
          </a:p>
          <a:p>
            <a:endParaRPr lang="en-US" dirty="0"/>
          </a:p>
          <a:p>
            <a:r>
              <a:rPr lang="en-US" dirty="0"/>
              <a:t>"What if Canvas forgot your grades?"</a:t>
            </a:r>
          </a:p>
          <a:p>
            <a:endParaRPr lang="en-US" dirty="0"/>
          </a:p>
          <a:p>
            <a:r>
              <a:rPr lang="en-US" dirty="0"/>
              <a:t>"What if Gmail forgot your messages?"</a:t>
            </a:r>
          </a:p>
          <a:p>
            <a:endParaRPr lang="en-US" dirty="0"/>
          </a:p>
          <a:p>
            <a:r>
              <a:rPr lang="en-US" dirty="0"/>
              <a:t>"What if your banking application forgot your transactions?"</a:t>
            </a:r>
          </a:p>
          <a:p>
            <a:endParaRPr lang="en-US" dirty="0"/>
          </a:p>
          <a:p>
            <a:r>
              <a:rPr lang="en-US" dirty="0"/>
              <a:t>Allow responses.</a:t>
            </a:r>
          </a:p>
          <a:p>
            <a:endParaRPr lang="en-US" dirty="0"/>
          </a:p>
          <a:p>
            <a:r>
              <a:rPr lang="en-US" dirty="0"/>
              <a:t>Then say:</a:t>
            </a:r>
          </a:p>
          <a:p>
            <a:endParaRPr lang="en-US" dirty="0"/>
          </a:p>
          <a:p>
            <a:r>
              <a:rPr lang="en-US" dirty="0"/>
              <a:t>"Those applications need persistent data."</a:t>
            </a:r>
          </a:p>
          <a:p>
            <a:endParaRPr lang="en-US" dirty="0"/>
          </a:p>
          <a:p>
            <a:r>
              <a:rPr lang="en-US" dirty="0"/>
              <a:t>"That's what makes them useful."</a:t>
            </a:r>
          </a:p>
          <a:p>
            <a:endParaRPr lang="en-US" dirty="0"/>
          </a:p>
          <a:p>
            <a:r>
              <a:rPr lang="en-US" dirty="0"/>
              <a:t>------------------------------------------------------------</a:t>
            </a:r>
          </a:p>
          <a:p>
            <a:endParaRPr lang="en-US" dirty="0"/>
          </a:p>
          <a:p>
            <a:r>
              <a:rPr lang="en-US" dirty="0"/>
              <a:t>BUILD CHALLENGE</a:t>
            </a:r>
          </a:p>
          <a:p>
            <a:endParaRPr lang="en-US" dirty="0"/>
          </a:p>
          <a:p>
            <a:r>
              <a:rPr lang="en-US" dirty="0"/>
              <a:t>Give students a short design activity.</a:t>
            </a:r>
          </a:p>
          <a:p>
            <a:endParaRPr lang="en-US" dirty="0"/>
          </a:p>
          <a:p>
            <a:r>
              <a:rPr lang="en-US" dirty="0"/>
              <a:t>Ask:</a:t>
            </a:r>
          </a:p>
          <a:p>
            <a:endParaRPr lang="en-US" dirty="0"/>
          </a:p>
          <a:p>
            <a:r>
              <a:rPr lang="en-US" dirty="0"/>
              <a:t>"Without writing any code..."</a:t>
            </a:r>
          </a:p>
          <a:p>
            <a:endParaRPr lang="en-US" dirty="0"/>
          </a:p>
          <a:p>
            <a:r>
              <a:rPr lang="en-US" dirty="0"/>
              <a:t>"Write down five things Atlas </a:t>
            </a:r>
            <a:r>
              <a:rPr lang="en-US" dirty="0" err="1"/>
              <a:t>TaskFlow</a:t>
            </a:r>
            <a:r>
              <a:rPr lang="en-US" dirty="0"/>
              <a:t> needs to remember."</a:t>
            </a:r>
          </a:p>
          <a:p>
            <a:endParaRPr lang="en-US" dirty="0"/>
          </a:p>
          <a:p>
            <a:r>
              <a:rPr lang="en-US" dirty="0"/>
              <a:t>Possible answers:</a:t>
            </a:r>
          </a:p>
          <a:p>
            <a:endParaRPr lang="en-US" dirty="0"/>
          </a:p>
          <a:p>
            <a:r>
              <a:rPr lang="en-US" dirty="0"/>
              <a:t>Tasks.</a:t>
            </a:r>
          </a:p>
          <a:p>
            <a:endParaRPr lang="en-US" dirty="0"/>
          </a:p>
          <a:p>
            <a:r>
              <a:rPr lang="en-US" dirty="0"/>
              <a:t>Users.</a:t>
            </a:r>
          </a:p>
          <a:p>
            <a:endParaRPr lang="en-US" dirty="0"/>
          </a:p>
          <a:p>
            <a:r>
              <a:rPr lang="en-US" dirty="0"/>
              <a:t>Projects.</a:t>
            </a:r>
          </a:p>
          <a:p>
            <a:endParaRPr lang="en-US" dirty="0"/>
          </a:p>
          <a:p>
            <a:r>
              <a:rPr lang="en-US" dirty="0"/>
              <a:t>Due dates.</a:t>
            </a:r>
          </a:p>
          <a:p>
            <a:endParaRPr lang="en-US" dirty="0"/>
          </a:p>
          <a:p>
            <a:r>
              <a:rPr lang="en-US" dirty="0"/>
              <a:t>Task status.</a:t>
            </a:r>
          </a:p>
          <a:p>
            <a:endParaRPr lang="en-US" dirty="0"/>
          </a:p>
          <a:p>
            <a:r>
              <a:rPr lang="en-US" dirty="0"/>
              <a:t>Categories.</a:t>
            </a:r>
          </a:p>
          <a:p>
            <a:endParaRPr lang="en-US" dirty="0"/>
          </a:p>
          <a:p>
            <a:r>
              <a:rPr lang="en-US" dirty="0"/>
              <a:t>Do not correct every answer.</a:t>
            </a:r>
          </a:p>
          <a:p>
            <a:endParaRPr lang="en-US" dirty="0"/>
          </a:p>
          <a:p>
            <a:r>
              <a:rPr lang="en-US" dirty="0"/>
              <a:t>The purpose is to get students thinking about data.</a:t>
            </a:r>
          </a:p>
          <a:p>
            <a:endParaRPr lang="en-US" dirty="0"/>
          </a:p>
          <a:p>
            <a:r>
              <a:rPr lang="en-US" dirty="0"/>
              <a:t>------------------------------------------------------------</a:t>
            </a:r>
          </a:p>
          <a:p>
            <a:endParaRPr lang="en-US" dirty="0"/>
          </a:p>
          <a:p>
            <a:r>
              <a:rPr lang="en-US" dirty="0"/>
              <a:t>ENGINEERING INSIGHT</a:t>
            </a:r>
          </a:p>
          <a:p>
            <a:endParaRPr lang="en-US" dirty="0"/>
          </a:p>
          <a:p>
            <a:r>
              <a:rPr lang="en-US" dirty="0"/>
              <a:t>Point to the statement:</a:t>
            </a:r>
          </a:p>
          <a:p>
            <a:endParaRPr lang="en-US" dirty="0"/>
          </a:p>
          <a:p>
            <a:r>
              <a:rPr lang="en-US" dirty="0"/>
              <a:t>"Persistence is what turns a project into a real application."</a:t>
            </a:r>
          </a:p>
          <a:p>
            <a:endParaRPr lang="en-US" dirty="0"/>
          </a:p>
          <a:p>
            <a:r>
              <a:rPr lang="en-US" dirty="0"/>
              <a:t>Explain:</a:t>
            </a:r>
          </a:p>
          <a:p>
            <a:endParaRPr lang="en-US" dirty="0"/>
          </a:p>
          <a:p>
            <a:r>
              <a:rPr lang="en-US" dirty="0"/>
              <a:t>"A webpage can display information."</a:t>
            </a:r>
          </a:p>
          <a:p>
            <a:endParaRPr lang="en-US" dirty="0"/>
          </a:p>
          <a:p>
            <a:r>
              <a:rPr lang="en-US" dirty="0"/>
              <a:t>"An application needs to work with information."</a:t>
            </a:r>
          </a:p>
          <a:p>
            <a:endParaRPr lang="en-US" dirty="0"/>
          </a:p>
          <a:p>
            <a:r>
              <a:rPr lang="en-US" dirty="0"/>
              <a:t>"And a SaaS application needs to remember information."</a:t>
            </a:r>
          </a:p>
          <a:p>
            <a:endParaRPr lang="en-US" dirty="0"/>
          </a:p>
          <a:p>
            <a:r>
              <a:rPr lang="en-US" dirty="0"/>
              <a:t>------------------------------------------------------------</a:t>
            </a:r>
          </a:p>
          <a:p>
            <a:endParaRPr lang="en-US" dirty="0"/>
          </a:p>
          <a:p>
            <a:r>
              <a:rPr lang="en-US" dirty="0"/>
              <a:t>SPRINT ROADMAP</a:t>
            </a:r>
          </a:p>
          <a:p>
            <a:endParaRPr lang="en-US" dirty="0"/>
          </a:p>
          <a:p>
            <a:r>
              <a:rPr lang="en-US" dirty="0"/>
              <a:t>Point to Sprint 5.</a:t>
            </a:r>
          </a:p>
          <a:p>
            <a:endParaRPr lang="en-US" dirty="0"/>
          </a:p>
          <a:p>
            <a:r>
              <a:rPr lang="en-US" dirty="0"/>
              <a:t>Review the progression:</a:t>
            </a:r>
          </a:p>
          <a:p>
            <a:endParaRPr lang="en-US" dirty="0"/>
          </a:p>
          <a:p>
            <a:r>
              <a:rPr lang="en-US" dirty="0"/>
              <a:t>Plan It</a:t>
            </a:r>
          </a:p>
          <a:p>
            <a:endParaRPr lang="en-US" dirty="0"/>
          </a:p>
          <a:p>
            <a:r>
              <a:rPr lang="en-US" dirty="0"/>
              <a:t>Design It</a:t>
            </a:r>
          </a:p>
          <a:p>
            <a:endParaRPr lang="en-US" dirty="0"/>
          </a:p>
          <a:p>
            <a:r>
              <a:rPr lang="en-US" dirty="0"/>
              <a:t>Build It</a:t>
            </a:r>
          </a:p>
          <a:p>
            <a:endParaRPr lang="en-US" dirty="0"/>
          </a:p>
          <a:p>
            <a:r>
              <a:rPr lang="en-US" dirty="0"/>
              <a:t>Deploy It</a:t>
            </a:r>
          </a:p>
          <a:p>
            <a:endParaRPr lang="en-US" dirty="0"/>
          </a:p>
          <a:p>
            <a:r>
              <a:rPr lang="en-US" dirty="0"/>
              <a:t>Remember It</a:t>
            </a:r>
          </a:p>
          <a:p>
            <a:endParaRPr lang="en-US" dirty="0"/>
          </a:p>
          <a:p>
            <a:r>
              <a:rPr lang="en-US" dirty="0"/>
              <a:t>Protect It</a:t>
            </a:r>
          </a:p>
          <a:p>
            <a:endParaRPr lang="en-US" dirty="0"/>
          </a:p>
          <a:p>
            <a:r>
              <a:rPr lang="en-US" dirty="0"/>
              <a:t>Prepare It</a:t>
            </a:r>
          </a:p>
          <a:p>
            <a:endParaRPr lang="en-US" dirty="0"/>
          </a:p>
          <a:p>
            <a:r>
              <a:rPr lang="en-US" dirty="0"/>
              <a:t>Release It</a:t>
            </a:r>
          </a:p>
          <a:p>
            <a:endParaRPr lang="en-US" dirty="0"/>
          </a:p>
          <a:p>
            <a:r>
              <a:rPr lang="en-US" dirty="0"/>
              <a:t>Explain:</a:t>
            </a:r>
          </a:p>
          <a:p>
            <a:endParaRPr lang="en-US" dirty="0"/>
          </a:p>
          <a:p>
            <a:r>
              <a:rPr lang="en-US" dirty="0"/>
              <a:t>"We are here."</a:t>
            </a:r>
          </a:p>
          <a:p>
            <a:endParaRPr lang="en-US" dirty="0"/>
          </a:p>
          <a:p>
            <a:r>
              <a:rPr lang="en-US" dirty="0"/>
              <a:t>"Remember It."</a:t>
            </a:r>
          </a:p>
          <a:p>
            <a:endParaRPr lang="en-US" dirty="0"/>
          </a:p>
          <a:p>
            <a:r>
              <a:rPr lang="en-US" dirty="0"/>
              <a:t>------------------------------------------------------------</a:t>
            </a:r>
          </a:p>
          <a:p>
            <a:endParaRPr lang="en-US" dirty="0"/>
          </a:p>
          <a:p>
            <a:r>
              <a:rPr lang="en-US" dirty="0"/>
              <a:t>LOOKING AHEAD</a:t>
            </a:r>
          </a:p>
          <a:p>
            <a:endParaRPr lang="en-US" dirty="0"/>
          </a:p>
          <a:p>
            <a:r>
              <a:rPr lang="en-US" dirty="0"/>
              <a:t>Point to Sprint 6.</a:t>
            </a:r>
          </a:p>
          <a:p>
            <a:endParaRPr lang="en-US" dirty="0"/>
          </a:p>
          <a:p>
            <a:r>
              <a:rPr lang="en-US" dirty="0"/>
              <a:t>Say:</a:t>
            </a:r>
          </a:p>
          <a:p>
            <a:endParaRPr lang="en-US" dirty="0"/>
          </a:p>
          <a:p>
            <a:r>
              <a:rPr lang="en-US" dirty="0"/>
              <a:t>"Once Atlas can remember information..."</a:t>
            </a:r>
          </a:p>
          <a:p>
            <a:endParaRPr lang="en-US" dirty="0"/>
          </a:p>
          <a:p>
            <a:r>
              <a:rPr lang="en-US" dirty="0"/>
              <a:t>"We have another responsibility."</a:t>
            </a:r>
          </a:p>
          <a:p>
            <a:endParaRPr lang="en-US" dirty="0"/>
          </a:p>
          <a:p>
            <a:r>
              <a:rPr lang="en-US" dirty="0"/>
              <a:t>"Protecting it."</a:t>
            </a:r>
          </a:p>
          <a:p>
            <a:endParaRPr lang="en-US" dirty="0"/>
          </a:p>
          <a:p>
            <a:r>
              <a:rPr lang="en-US" dirty="0"/>
              <a:t>Next sprint:</a:t>
            </a:r>
          </a:p>
          <a:p>
            <a:endParaRPr lang="en-US" dirty="0"/>
          </a:p>
          <a:p>
            <a:r>
              <a:rPr lang="en-US" dirty="0"/>
              <a:t>Security.</a:t>
            </a:r>
          </a:p>
          <a:p>
            <a:endParaRPr lang="en-US" dirty="0"/>
          </a:p>
          <a:p>
            <a:r>
              <a:rPr lang="en-US" dirty="0"/>
              <a:t>User data.</a:t>
            </a:r>
          </a:p>
          <a:p>
            <a:endParaRPr lang="en-US" dirty="0"/>
          </a:p>
          <a:p>
            <a:r>
              <a:rPr lang="en-US" dirty="0"/>
              <a:t>Application protection.</a:t>
            </a:r>
          </a:p>
          <a:p>
            <a:endParaRPr lang="en-US" dirty="0"/>
          </a:p>
          <a:p>
            <a:r>
              <a:rPr lang="en-US" dirty="0"/>
              <a:t>Do not teach security yet.</a:t>
            </a:r>
          </a:p>
          <a:p>
            <a:endParaRPr lang="en-US" dirty="0"/>
          </a:p>
          <a:p>
            <a:r>
              <a:rPr lang="en-US" dirty="0"/>
              <a:t>Just create anticipation.</a:t>
            </a:r>
          </a:p>
          <a:p>
            <a:endParaRPr lang="en-US" dirty="0"/>
          </a:p>
          <a:p>
            <a:r>
              <a:rPr lang="en-US" dirty="0"/>
              <a:t>------------------------------------------------------------</a:t>
            </a:r>
          </a:p>
          <a:p>
            <a:endParaRPr lang="en-US" dirty="0"/>
          </a:p>
          <a:p>
            <a:r>
              <a:rPr lang="en-US" dirty="0"/>
              <a:t>THE MOMENT</a:t>
            </a:r>
          </a:p>
          <a:p>
            <a:endParaRPr lang="en-US" dirty="0"/>
          </a:p>
          <a:p>
            <a:r>
              <a:rPr lang="en-US" dirty="0"/>
              <a:t>Ask students to think about the Atlas application they deployed.</a:t>
            </a:r>
          </a:p>
          <a:p>
            <a:endParaRPr lang="en-US" dirty="0"/>
          </a:p>
          <a:p>
            <a:r>
              <a:rPr lang="en-US" dirty="0"/>
              <a:t>Then say:</a:t>
            </a:r>
          </a:p>
          <a:p>
            <a:endParaRPr lang="en-US" dirty="0"/>
          </a:p>
          <a:p>
            <a:r>
              <a:rPr lang="en-US" dirty="0"/>
              <a:t>"Right now..."</a:t>
            </a:r>
          </a:p>
          <a:p>
            <a:endParaRPr lang="en-US" dirty="0"/>
          </a:p>
          <a:p>
            <a:r>
              <a:rPr lang="en-US" dirty="0"/>
              <a:t>"Atlas </a:t>
            </a:r>
            <a:r>
              <a:rPr lang="en-US" dirty="0" err="1"/>
              <a:t>TaskFlow</a:t>
            </a:r>
            <a:r>
              <a:rPr lang="en-US" dirty="0"/>
              <a:t> can be accessed from anywhere."</a:t>
            </a:r>
          </a:p>
          <a:p>
            <a:endParaRPr lang="en-US" dirty="0"/>
          </a:p>
          <a:p>
            <a:r>
              <a:rPr lang="en-US" dirty="0"/>
              <a:t>"But it doesn't remember what happened yesterday."</a:t>
            </a:r>
          </a:p>
          <a:p>
            <a:endParaRPr lang="en-US" dirty="0"/>
          </a:p>
          <a:p>
            <a:r>
              <a:rPr lang="en-US" dirty="0"/>
              <a:t>Pause.</a:t>
            </a:r>
          </a:p>
          <a:p>
            <a:endParaRPr lang="en-US" dirty="0"/>
          </a:p>
          <a:p>
            <a:r>
              <a:rPr lang="en-US" dirty="0"/>
              <a:t>"By the end of this sprint..."</a:t>
            </a:r>
          </a:p>
          <a:p>
            <a:endParaRPr lang="en-US" dirty="0"/>
          </a:p>
          <a:p>
            <a:r>
              <a:rPr lang="en-US" dirty="0"/>
              <a:t>"It will."</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"Last sprint..."</a:t>
            </a:r>
          </a:p>
          <a:p>
            <a:endParaRPr lang="en-US" dirty="0"/>
          </a:p>
          <a:p>
            <a:r>
              <a:rPr lang="en-US" dirty="0"/>
              <a:t>"We taught Atlas how to reach users."</a:t>
            </a:r>
          </a:p>
          <a:p>
            <a:endParaRPr lang="en-US" dirty="0"/>
          </a:p>
          <a:p>
            <a:r>
              <a:rPr lang="en-US" dirty="0"/>
              <a:t>"This sprint..."</a:t>
            </a:r>
          </a:p>
          <a:p>
            <a:endParaRPr lang="en-US" dirty="0"/>
          </a:p>
          <a:p>
            <a:r>
              <a:rPr lang="en-US" dirty="0"/>
              <a:t>"We're teaching Atlas how to remember them."</a:t>
            </a:r>
          </a:p>
          <a:p>
            <a:endParaRPr lang="en-US" dirty="0"/>
          </a:p>
          <a:p>
            <a:r>
              <a:rPr lang="en-US" dirty="0"/>
              <a:t>Pause.</a:t>
            </a:r>
          </a:p>
          <a:p>
            <a:endParaRPr lang="en-US" dirty="0"/>
          </a:p>
          <a:p>
            <a:r>
              <a:rPr lang="en-US" dirty="0"/>
              <a:t>Then:</a:t>
            </a:r>
          </a:p>
          <a:p>
            <a:endParaRPr lang="en-US" dirty="0"/>
          </a:p>
          <a:p>
            <a:r>
              <a:rPr lang="en-US" dirty="0"/>
              <a:t>"Let's give Atlas a memory."</a:t>
            </a:r>
          </a:p>
          <a:p>
            <a:endParaRPr lang="en-US" dirty="0"/>
          </a:p>
          <a:p>
            <a:r>
              <a:rPr lang="en-US" dirty="0"/>
              <a:t>============================================================</a:t>
            </a:r>
          </a:p>
          <a:p>
            <a:endParaRPr lang="en-US" dirty="0"/>
          </a:p>
          <a:p>
            <a:r>
              <a:rPr lang="en-US" dirty="0"/>
              <a:t>ESTIMATED TIME</a:t>
            </a:r>
          </a:p>
          <a:p>
            <a:endParaRPr lang="en-US" dirty="0"/>
          </a:p>
          <a:p>
            <a:r>
              <a:rPr lang="en-US" dirty="0"/>
              <a:t>Opening &amp; Client Problem.............8 minutes</a:t>
            </a:r>
          </a:p>
          <a:p>
            <a:endParaRPr lang="en-US" dirty="0"/>
          </a:p>
          <a:p>
            <a:r>
              <a:rPr lang="en-US" dirty="0"/>
              <a:t>Engineering Question.................7 minutes</a:t>
            </a:r>
          </a:p>
          <a:p>
            <a:endParaRPr lang="en-US" dirty="0"/>
          </a:p>
          <a:p>
            <a:r>
              <a:rPr lang="en-US" dirty="0"/>
              <a:t>Persistence Concept..................10 minutes</a:t>
            </a:r>
          </a:p>
          <a:p>
            <a:endParaRPr lang="en-US" dirty="0"/>
          </a:p>
          <a:p>
            <a:r>
              <a:rPr lang="en-US" dirty="0"/>
              <a:t>Architecture Evolution...............10 minutes</a:t>
            </a:r>
          </a:p>
          <a:p>
            <a:endParaRPr lang="en-US" dirty="0"/>
          </a:p>
          <a:p>
            <a:r>
              <a:rPr lang="en-US" dirty="0"/>
              <a:t>Key Concepts..........................10 minutes</a:t>
            </a:r>
          </a:p>
          <a:p>
            <a:endParaRPr lang="en-US" dirty="0"/>
          </a:p>
          <a:p>
            <a:r>
              <a:rPr lang="en-US" dirty="0"/>
              <a:t>Build Challenge.......................10 minutes</a:t>
            </a:r>
          </a:p>
          <a:p>
            <a:endParaRPr lang="en-US" dirty="0"/>
          </a:p>
          <a:p>
            <a:r>
              <a:rPr lang="en-US" dirty="0"/>
              <a:t>Discussion &amp; Closing..................10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this lesson conceptual.</a:t>
            </a:r>
          </a:p>
          <a:p>
            <a:endParaRPr lang="en-US" dirty="0"/>
          </a:p>
          <a:p>
            <a:r>
              <a:rPr lang="en-US" dirty="0"/>
              <a:t>Do not open Visual Studio immediately.</a:t>
            </a:r>
          </a:p>
          <a:p>
            <a:endParaRPr lang="en-US" dirty="0"/>
          </a:p>
          <a:p>
            <a:r>
              <a:rPr lang="en-US" dirty="0"/>
              <a:t>Do not begin writing database code.</a:t>
            </a:r>
          </a:p>
          <a:p>
            <a:endParaRPr lang="en-US" dirty="0"/>
          </a:p>
          <a:p>
            <a:r>
              <a:rPr lang="en-US" dirty="0"/>
              <a:t>Do not begin writing SQL.</a:t>
            </a:r>
          </a:p>
          <a:p>
            <a:endParaRPr lang="en-US" dirty="0"/>
          </a:p>
          <a:p>
            <a:r>
              <a:rPr lang="en-US" dirty="0"/>
              <a:t>Students should first understand WHY persistence exists.</a:t>
            </a:r>
          </a:p>
          <a:p>
            <a:endParaRPr lang="en-US" dirty="0"/>
          </a:p>
          <a:p>
            <a:r>
              <a:rPr lang="en-US" dirty="0"/>
              <a:t>Use examples students recognize:</a:t>
            </a:r>
          </a:p>
          <a:p>
            <a:endParaRPr lang="en-US" dirty="0"/>
          </a:p>
          <a:p>
            <a:r>
              <a:rPr lang="en-US" dirty="0"/>
              <a:t>Canvas</a:t>
            </a:r>
          </a:p>
          <a:p>
            <a:endParaRPr lang="en-US" dirty="0"/>
          </a:p>
          <a:p>
            <a:r>
              <a:rPr lang="en-US" dirty="0"/>
              <a:t>Gmail</a:t>
            </a:r>
          </a:p>
          <a:p>
            <a:endParaRPr lang="en-US" dirty="0"/>
          </a:p>
          <a:p>
            <a:r>
              <a:rPr lang="en-US" dirty="0"/>
              <a:t>Amazon</a:t>
            </a:r>
          </a:p>
          <a:p>
            <a:endParaRPr lang="en-US" dirty="0"/>
          </a:p>
          <a:p>
            <a:r>
              <a:rPr lang="en-US" dirty="0"/>
              <a:t>Banking applications</a:t>
            </a:r>
          </a:p>
          <a:p>
            <a:endParaRPr lang="en-US" dirty="0"/>
          </a:p>
          <a:p>
            <a:r>
              <a:rPr lang="en-US" dirty="0"/>
              <a:t>Social media</a:t>
            </a:r>
          </a:p>
          <a:p>
            <a:endParaRPr lang="en-US" dirty="0"/>
          </a:p>
          <a:p>
            <a:r>
              <a:rPr lang="en-US" dirty="0"/>
              <a:t>Then connect everything back to Atlas </a:t>
            </a:r>
            <a:r>
              <a:rPr lang="en-US" dirty="0" err="1"/>
              <a:t>TaskFlow</a:t>
            </a:r>
            <a:r>
              <a:rPr lang="en-US" dirty="0"/>
              <a:t>.</a:t>
            </a:r>
          </a:p>
          <a:p>
            <a:endParaRPr lang="en-US" dirty="0"/>
          </a:p>
          <a:p>
            <a:r>
              <a:rPr lang="en-US" dirty="0"/>
              <a:t>The goal is for students to understand:</a:t>
            </a:r>
          </a:p>
          <a:p>
            <a:endParaRPr lang="en-US" dirty="0"/>
          </a:p>
          <a:p>
            <a:r>
              <a:rPr lang="en-US" dirty="0"/>
              <a:t>Application + Data = Useful Software</a:t>
            </a:r>
          </a:p>
          <a:p>
            <a:endParaRPr lang="en-US" dirty="0"/>
          </a:p>
          <a:p>
            <a:r>
              <a:rPr lang="en-US" dirty="0"/>
              <a:t>Application + Persistent Data = SaaS capability</a:t>
            </a:r>
          </a:p>
          <a:p>
            <a:endParaRPr lang="en-US" dirty="0"/>
          </a:p>
          <a:p>
            <a:r>
              <a:rPr lang="en-US" dirty="0"/>
              <a:t>Close with:</a:t>
            </a:r>
          </a:p>
          <a:p>
            <a:endParaRPr lang="en-US" dirty="0"/>
          </a:p>
          <a:p>
            <a:r>
              <a:rPr lang="en-US" dirty="0"/>
              <a:t>"Engineers..."</a:t>
            </a:r>
          </a:p>
          <a:p>
            <a:endParaRPr lang="en-US" dirty="0"/>
          </a:p>
          <a:p>
            <a:r>
              <a:rPr lang="en-US" dirty="0"/>
              <a:t>"Atlas </a:t>
            </a:r>
            <a:r>
              <a:rPr lang="en-US" dirty="0" err="1"/>
              <a:t>TaskFlow</a:t>
            </a:r>
            <a:r>
              <a:rPr lang="en-US" dirty="0"/>
              <a:t> is alive."</a:t>
            </a:r>
          </a:p>
          <a:p>
            <a:endParaRPr lang="en-US" dirty="0"/>
          </a:p>
          <a:p>
            <a:r>
              <a:rPr lang="en-US" dirty="0"/>
              <a:t>"Now..."</a:t>
            </a:r>
          </a:p>
          <a:p>
            <a:endParaRPr lang="en-US" dirty="0"/>
          </a:p>
          <a:p>
            <a:r>
              <a:rPr lang="en-US" dirty="0"/>
              <a:t>"We're going to teach it how to remember."</a:t>
            </a:r>
          </a:p>
          <a:p>
            <a:endParaRPr lang="en-US" dirty="0"/>
          </a:p>
          <a:p>
            <a:r>
              <a:rPr lang="en-US" dirty="0"/>
              <a:t>============================================================</a:t>
            </a:r>
          </a:p>
          <a:p>
            <a:endParaRPr lang="en-US" dirty="0"/>
          </a:p>
          <a:p>
            <a:r>
              <a:rPr lang="en-US" b="1" dirty="0"/>
              <a:t>Instructor emphasis</a:t>
            </a:r>
          </a:p>
          <a:p>
            <a:r>
              <a:rPr lang="en-US" dirty="0"/>
              <a:t>There are </a:t>
            </a:r>
            <a:r>
              <a:rPr lang="en-US" b="1" dirty="0"/>
              <a:t>three words I'd really emphasize</a:t>
            </a:r>
            <a:r>
              <a:rPr lang="en-US" dirty="0"/>
              <a:t> during this lesson:</a:t>
            </a:r>
          </a:p>
          <a:p>
            <a:r>
              <a:rPr lang="en-US" b="1" dirty="0"/>
              <a:t>Persistence</a:t>
            </a:r>
          </a:p>
          <a:p>
            <a:r>
              <a:rPr lang="en-US" dirty="0"/>
              <a:t>Data survives beyond the current session.</a:t>
            </a:r>
          </a:p>
          <a:p>
            <a:r>
              <a:rPr lang="en-US" b="1" dirty="0"/>
              <a:t>Database</a:t>
            </a:r>
          </a:p>
          <a:p>
            <a:r>
              <a:rPr lang="en-US" dirty="0"/>
              <a:t>The application's structured long-term storage.</a:t>
            </a:r>
          </a:p>
          <a:p>
            <a:r>
              <a:rPr lang="en-US" b="1" dirty="0"/>
              <a:t>CRUD</a:t>
            </a:r>
          </a:p>
          <a:p>
            <a:r>
              <a:rPr lang="en-US" dirty="0"/>
              <a:t>Create, Read, Update, Delete.</a:t>
            </a:r>
          </a:p>
          <a:p>
            <a:r>
              <a:rPr lang="en-US" dirty="0"/>
              <a:t>Those three concepts give students the vocabulary they need before we start building.</a:t>
            </a:r>
          </a:p>
          <a:p>
            <a:r>
              <a:rPr lang="en-US" dirty="0"/>
              <a:t>And importantly, </a:t>
            </a:r>
            <a:r>
              <a:rPr lang="en-US" b="1" dirty="0"/>
              <a:t>we don't rush into Entity Framework Core</a:t>
            </a:r>
            <a:r>
              <a:rPr lang="en-US" dirty="0"/>
              <a:t>. We introduce it as the tool that will help us solve the problem students already understand.</a:t>
            </a:r>
          </a:p>
          <a:p>
            <a:r>
              <a:rPr lang="en-US" dirty="0"/>
              <a:t>That's the Atlas approach working exactly as intended:</a:t>
            </a:r>
          </a:p>
          <a:p>
            <a:r>
              <a:rPr lang="en-US" b="1" dirty="0"/>
              <a:t>Problem → Engineering Question → Concept → Technology → Build.</a:t>
            </a:r>
            <a:endParaRPr lang="en-US" dirty="0"/>
          </a:p>
          <a:p>
            <a:endParaRPr lang="en-US" dirty="0"/>
          </a:p>
        </p:txBody>
      </p:sp>
      <p:sp>
        <p:nvSpPr>
          <p:cNvPr id="4" name="Slide Number Placeholder 3"/>
          <p:cNvSpPr>
            <a:spLocks noGrp="1"/>
          </p:cNvSpPr>
          <p:nvPr>
            <p:ph type="sldNum" sz="quarter" idx="5"/>
          </p:nvPr>
        </p:nvSpPr>
        <p:spPr/>
        <p:txBody>
          <a:bodyPr/>
          <a:lstStyle/>
          <a:p>
            <a:fld id="{BFAFFB2A-FA1B-453E-A83D-1533B3FE308E}" type="slidenum">
              <a:rPr lang="en-US" smtClean="0"/>
              <a:t>1</a:t>
            </a:fld>
            <a:endParaRPr lang="en-US"/>
          </a:p>
        </p:txBody>
      </p:sp>
    </p:spTree>
    <p:extLst>
      <p:ext uri="{BB962C8B-B14F-4D97-AF65-F5344CB8AC3E}">
        <p14:creationId xmlns:p14="http://schemas.microsoft.com/office/powerpoint/2010/main" val="4207566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WHERE DOES SaaS DATA LIVE?</a:t>
            </a:r>
          </a:p>
          <a:p>
            <a:endParaRPr lang="en-US" dirty="0"/>
          </a:p>
          <a:p>
            <a:r>
              <a:rPr lang="en-US" dirty="0"/>
              <a:t>============================================================</a:t>
            </a:r>
          </a:p>
          <a:p>
            <a:endParaRPr lang="en-US" dirty="0"/>
          </a:p>
          <a:p>
            <a:r>
              <a:rPr lang="en-US" dirty="0"/>
              <a:t>SLIDE PURPOSE</a:t>
            </a:r>
          </a:p>
          <a:p>
            <a:endParaRPr lang="en-US" dirty="0"/>
          </a:p>
          <a:p>
            <a:r>
              <a:rPr lang="en-US" dirty="0"/>
              <a:t>Help students understand where information is stored in a SaaS</a:t>
            </a:r>
          </a:p>
          <a:p>
            <a:r>
              <a:rPr lang="en-US" dirty="0"/>
              <a:t>application and how data moves between the user, application, and</a:t>
            </a:r>
          </a:p>
          <a:p>
            <a:r>
              <a:rPr lang="en-US" dirty="0"/>
              <a:t>database.</a:t>
            </a:r>
          </a:p>
          <a:p>
            <a:endParaRPr lang="en-US" dirty="0"/>
          </a:p>
          <a:p>
            <a:r>
              <a:rPr lang="en-US" dirty="0"/>
              <a:t>Students should understand the difference between:</a:t>
            </a:r>
          </a:p>
          <a:p>
            <a:endParaRPr lang="en-US" dirty="0"/>
          </a:p>
          <a:p>
            <a:r>
              <a:rPr lang="en-US" dirty="0"/>
              <a:t>• The user interface</a:t>
            </a:r>
          </a:p>
          <a:p>
            <a:r>
              <a:rPr lang="en-US" dirty="0"/>
              <a:t>• The application</a:t>
            </a:r>
          </a:p>
          <a:p>
            <a:r>
              <a:rPr lang="en-US" dirty="0"/>
              <a:t>• Persistent storage</a:t>
            </a:r>
          </a:p>
          <a:p>
            <a:endParaRPr lang="en-US" dirty="0"/>
          </a:p>
          <a:p>
            <a:r>
              <a:rPr lang="en-US" dirty="0"/>
              <a:t>The objective is conceptual understanding.</a:t>
            </a:r>
          </a:p>
          <a:p>
            <a:endParaRPr lang="en-US" dirty="0"/>
          </a:p>
          <a:p>
            <a:r>
              <a:rPr lang="en-US" dirty="0"/>
              <a:t>Do NOT begin teaching SQL syntax or database administration.</a:t>
            </a:r>
          </a:p>
          <a:p>
            <a:endParaRPr lang="en-US" dirty="0"/>
          </a:p>
          <a:p>
            <a:r>
              <a:rPr lang="en-US" dirty="0"/>
              <a:t>------------------------------------------------------------</a:t>
            </a:r>
          </a:p>
          <a:p>
            <a:endParaRPr lang="en-US" dirty="0"/>
          </a:p>
          <a:p>
            <a:r>
              <a:rPr lang="en-US" dirty="0"/>
              <a:t>OPENING</a:t>
            </a:r>
          </a:p>
          <a:p>
            <a:endParaRPr lang="en-US" dirty="0"/>
          </a:p>
          <a:p>
            <a:r>
              <a:rPr lang="en-US" dirty="0"/>
              <a:t>"Last lesson, we discovered that Atlas </a:t>
            </a:r>
            <a:r>
              <a:rPr lang="en-US" dirty="0" err="1"/>
              <a:t>TaskFlow</a:t>
            </a:r>
            <a:r>
              <a:rPr lang="en-US" dirty="0"/>
              <a:t> has a problem."</a:t>
            </a:r>
          </a:p>
          <a:p>
            <a:endParaRPr lang="en-US" dirty="0"/>
          </a:p>
          <a:p>
            <a:r>
              <a:rPr lang="en-US" dirty="0"/>
              <a:t>"It can't remember."</a:t>
            </a:r>
          </a:p>
          <a:p>
            <a:endParaRPr lang="en-US" dirty="0"/>
          </a:p>
          <a:p>
            <a:r>
              <a:rPr lang="en-US" dirty="0"/>
              <a:t>Pause.</a:t>
            </a:r>
          </a:p>
          <a:p>
            <a:endParaRPr lang="en-US" dirty="0"/>
          </a:p>
          <a:p>
            <a:r>
              <a:rPr lang="en-US" dirty="0"/>
              <a:t>"Today we're going to answer the obvious next question."</a:t>
            </a:r>
          </a:p>
          <a:p>
            <a:endParaRPr lang="en-US" dirty="0"/>
          </a:p>
          <a:p>
            <a:r>
              <a:rPr lang="en-US" dirty="0"/>
              <a:t>"Where does the memory live?"</a:t>
            </a:r>
          </a:p>
          <a:p>
            <a:endParaRPr lang="en-US" dirty="0"/>
          </a:p>
          <a:p>
            <a:r>
              <a:rPr lang="en-US" dirty="0"/>
              <a:t>------------------------------------------------------------</a:t>
            </a:r>
          </a:p>
          <a:p>
            <a:endParaRPr lang="en-US" dirty="0"/>
          </a:p>
          <a:p>
            <a:r>
              <a:rPr lang="en-US" dirty="0"/>
              <a:t>ASK THE CLASS</a:t>
            </a:r>
          </a:p>
          <a:p>
            <a:endParaRPr lang="en-US" dirty="0"/>
          </a:p>
          <a:p>
            <a:r>
              <a:rPr lang="en-US" dirty="0"/>
              <a:t>"If I create a task in Atlas </a:t>
            </a:r>
            <a:r>
              <a:rPr lang="en-US" dirty="0" err="1"/>
              <a:t>TaskFlow</a:t>
            </a:r>
            <a:r>
              <a:rPr lang="en-US" dirty="0"/>
              <a:t>..."</a:t>
            </a:r>
          </a:p>
          <a:p>
            <a:endParaRPr lang="en-US" dirty="0"/>
          </a:p>
          <a:p>
            <a:r>
              <a:rPr lang="en-US" dirty="0"/>
              <a:t>"Where is that task stored?"</a:t>
            </a:r>
          </a:p>
          <a:p>
            <a:endParaRPr lang="en-US" dirty="0"/>
          </a:p>
          <a:p>
            <a:r>
              <a:rPr lang="en-US" dirty="0"/>
              <a:t>Let students answer.</a:t>
            </a:r>
          </a:p>
          <a:p>
            <a:endParaRPr lang="en-US" dirty="0"/>
          </a:p>
          <a:p>
            <a:r>
              <a:rPr lang="en-US" dirty="0"/>
              <a:t>Possible answers:</a:t>
            </a:r>
          </a:p>
          <a:p>
            <a:endParaRPr lang="en-US" dirty="0"/>
          </a:p>
          <a:p>
            <a:r>
              <a:rPr lang="en-US" dirty="0"/>
              <a:t>"The website."</a:t>
            </a:r>
          </a:p>
          <a:p>
            <a:endParaRPr lang="en-US" dirty="0"/>
          </a:p>
          <a:p>
            <a:r>
              <a:rPr lang="en-US" dirty="0"/>
              <a:t>"The browser."</a:t>
            </a:r>
          </a:p>
          <a:p>
            <a:endParaRPr lang="en-US" dirty="0"/>
          </a:p>
          <a:p>
            <a:r>
              <a:rPr lang="en-US" dirty="0"/>
              <a:t>"Azure."</a:t>
            </a:r>
          </a:p>
          <a:p>
            <a:endParaRPr lang="en-US" dirty="0"/>
          </a:p>
          <a:p>
            <a:r>
              <a:rPr lang="en-US" dirty="0"/>
              <a:t>"The computer."</a:t>
            </a:r>
          </a:p>
          <a:p>
            <a:endParaRPr lang="en-US" dirty="0"/>
          </a:p>
          <a:p>
            <a:r>
              <a:rPr lang="en-US" dirty="0"/>
              <a:t>"The database."</a:t>
            </a:r>
          </a:p>
          <a:p>
            <a:endParaRPr lang="en-US" dirty="0"/>
          </a:p>
          <a:p>
            <a:r>
              <a:rPr lang="en-US" dirty="0"/>
              <a:t>Don't immediately correct them.</a:t>
            </a:r>
          </a:p>
          <a:p>
            <a:endParaRPr lang="en-US" dirty="0"/>
          </a:p>
          <a:p>
            <a:r>
              <a:rPr lang="en-US" dirty="0"/>
              <a:t>Say:</a:t>
            </a:r>
          </a:p>
          <a:p>
            <a:endParaRPr lang="en-US" dirty="0"/>
          </a:p>
          <a:p>
            <a:r>
              <a:rPr lang="en-US" dirty="0"/>
              <a:t>"Good."</a:t>
            </a:r>
          </a:p>
          <a:p>
            <a:endParaRPr lang="en-US" dirty="0"/>
          </a:p>
          <a:p>
            <a:r>
              <a:rPr lang="en-US" dirty="0"/>
              <a:t>"Those are all interesting answers."</a:t>
            </a:r>
          </a:p>
          <a:p>
            <a:endParaRPr lang="en-US" dirty="0"/>
          </a:p>
          <a:p>
            <a:r>
              <a:rPr lang="en-US" dirty="0"/>
              <a:t>"Let's figure out which one is actually responsible for remembering</a:t>
            </a:r>
          </a:p>
          <a:p>
            <a:r>
              <a:rPr lang="en-US" dirty="0"/>
              <a:t>our data."</a:t>
            </a:r>
          </a:p>
          <a:p>
            <a:endParaRPr lang="en-US" dirty="0"/>
          </a:p>
          <a:p>
            <a:r>
              <a:rPr lang="en-US" dirty="0"/>
              <a:t>------------------------------------------------------------</a:t>
            </a:r>
          </a:p>
          <a:p>
            <a:endParaRPr lang="en-US" dirty="0"/>
          </a:p>
          <a:p>
            <a:r>
              <a:rPr lang="en-US" dirty="0"/>
              <a:t>THE BIG IDEA</a:t>
            </a:r>
          </a:p>
          <a:p>
            <a:endParaRPr lang="en-US" dirty="0"/>
          </a:p>
          <a:p>
            <a:r>
              <a:rPr lang="en-US" dirty="0"/>
              <a:t>Point to the architecture diagram.</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DATABASE</a:t>
            </a:r>
          </a:p>
          <a:p>
            <a:endParaRPr lang="en-US" dirty="0"/>
          </a:p>
          <a:p>
            <a:r>
              <a:rPr lang="en-US" dirty="0"/>
              <a:t>Explain:</a:t>
            </a:r>
          </a:p>
          <a:p>
            <a:endParaRPr lang="en-US" dirty="0"/>
          </a:p>
          <a:p>
            <a:r>
              <a:rPr lang="en-US" dirty="0"/>
              <a:t>"These are four different pieces."</a:t>
            </a:r>
          </a:p>
          <a:p>
            <a:endParaRPr lang="en-US" dirty="0"/>
          </a:p>
          <a:p>
            <a:r>
              <a:rPr lang="en-US" dirty="0"/>
              <a:t>"They work together..."</a:t>
            </a:r>
          </a:p>
          <a:p>
            <a:endParaRPr lang="en-US" dirty="0"/>
          </a:p>
          <a:p>
            <a:r>
              <a:rPr lang="en-US" dirty="0"/>
              <a:t>"But they have different jobs."</a:t>
            </a:r>
          </a:p>
          <a:p>
            <a:endParaRPr lang="en-US" dirty="0"/>
          </a:p>
          <a:p>
            <a:r>
              <a:rPr lang="en-US" dirty="0"/>
              <a:t>------------------------------------------------------------</a:t>
            </a:r>
          </a:p>
          <a:p>
            <a:endParaRPr lang="en-US" dirty="0"/>
          </a:p>
          <a:p>
            <a:r>
              <a:rPr lang="en-US" dirty="0"/>
              <a:t>THE USER</a:t>
            </a:r>
          </a:p>
          <a:p>
            <a:endParaRPr lang="en-US" dirty="0"/>
          </a:p>
          <a:p>
            <a:r>
              <a:rPr lang="en-US" dirty="0"/>
              <a:t>Point to the User.</a:t>
            </a:r>
          </a:p>
          <a:p>
            <a:endParaRPr lang="en-US" dirty="0"/>
          </a:p>
          <a:p>
            <a:r>
              <a:rPr lang="en-US" dirty="0"/>
              <a:t>Explain:</a:t>
            </a:r>
          </a:p>
          <a:p>
            <a:endParaRPr lang="en-US" dirty="0"/>
          </a:p>
          <a:p>
            <a:r>
              <a:rPr lang="en-US" dirty="0"/>
              <a:t>"The user creates the information."</a:t>
            </a:r>
          </a:p>
          <a:p>
            <a:endParaRPr lang="en-US" dirty="0"/>
          </a:p>
          <a:p>
            <a:r>
              <a:rPr lang="en-US" dirty="0"/>
              <a:t>"For example..."</a:t>
            </a:r>
          </a:p>
          <a:p>
            <a:endParaRPr lang="en-US" dirty="0"/>
          </a:p>
          <a:p>
            <a:r>
              <a:rPr lang="en-US" dirty="0"/>
              <a:t>"I create a task."</a:t>
            </a:r>
          </a:p>
          <a:p>
            <a:endParaRPr lang="en-US" dirty="0"/>
          </a:p>
          <a:p>
            <a:r>
              <a:rPr lang="en-US" dirty="0"/>
              <a:t>"The user is responsible for providing the information."</a:t>
            </a:r>
          </a:p>
          <a:p>
            <a:endParaRPr lang="en-US" dirty="0"/>
          </a:p>
          <a:p>
            <a:r>
              <a:rPr lang="en-US" dirty="0"/>
              <a:t>"But the user doesn't permanently store it."</a:t>
            </a:r>
          </a:p>
          <a:p>
            <a:endParaRPr lang="en-US" dirty="0"/>
          </a:p>
          <a:p>
            <a:r>
              <a:rPr lang="en-US" dirty="0"/>
              <a:t>------------------------------------------------------------</a:t>
            </a:r>
          </a:p>
          <a:p>
            <a:endParaRPr lang="en-US" dirty="0"/>
          </a:p>
          <a:p>
            <a:r>
              <a:rPr lang="en-US" dirty="0"/>
              <a:t>THE BROWSER</a:t>
            </a:r>
          </a:p>
          <a:p>
            <a:endParaRPr lang="en-US" dirty="0"/>
          </a:p>
          <a:p>
            <a:r>
              <a:rPr lang="en-US" dirty="0"/>
              <a:t>Point to the Browser.</a:t>
            </a:r>
          </a:p>
          <a:p>
            <a:endParaRPr lang="en-US" dirty="0"/>
          </a:p>
          <a:p>
            <a:r>
              <a:rPr lang="en-US" dirty="0"/>
              <a:t>Explain:</a:t>
            </a:r>
          </a:p>
          <a:p>
            <a:endParaRPr lang="en-US" dirty="0"/>
          </a:p>
          <a:p>
            <a:r>
              <a:rPr lang="en-US" dirty="0"/>
              <a:t>"The browser gives the user a way to interact with the application."</a:t>
            </a:r>
          </a:p>
          <a:p>
            <a:endParaRPr lang="en-US" dirty="0"/>
          </a:p>
          <a:p>
            <a:r>
              <a:rPr lang="en-US" dirty="0"/>
              <a:t>"It displays pages."</a:t>
            </a:r>
          </a:p>
          <a:p>
            <a:endParaRPr lang="en-US" dirty="0"/>
          </a:p>
          <a:p>
            <a:r>
              <a:rPr lang="en-US" dirty="0"/>
              <a:t>"It sends requests."</a:t>
            </a:r>
          </a:p>
          <a:p>
            <a:endParaRPr lang="en-US" dirty="0"/>
          </a:p>
          <a:p>
            <a:r>
              <a:rPr lang="en-US" dirty="0"/>
              <a:t>"It receives responses."</a:t>
            </a:r>
          </a:p>
          <a:p>
            <a:endParaRPr lang="en-US" dirty="0"/>
          </a:p>
          <a:p>
            <a:r>
              <a:rPr lang="en-US" dirty="0"/>
              <a:t>Then emphasize:</a:t>
            </a:r>
          </a:p>
          <a:p>
            <a:endParaRPr lang="en-US" dirty="0"/>
          </a:p>
          <a:p>
            <a:r>
              <a:rPr lang="en-US" dirty="0"/>
              <a:t>"But the browser is NOT our application's long-term memory."</a:t>
            </a:r>
          </a:p>
          <a:p>
            <a:endParaRPr lang="en-US" dirty="0"/>
          </a:p>
          <a:p>
            <a:r>
              <a:rPr lang="en-US" dirty="0"/>
              <a:t>Ask:</a:t>
            </a:r>
          </a:p>
          <a:p>
            <a:endParaRPr lang="en-US" dirty="0"/>
          </a:p>
          <a:p>
            <a:r>
              <a:rPr lang="en-US" dirty="0"/>
              <a:t>"If I close Chrome..."</a:t>
            </a:r>
          </a:p>
          <a:p>
            <a:endParaRPr lang="en-US" dirty="0"/>
          </a:p>
          <a:p>
            <a:r>
              <a:rPr lang="en-US" dirty="0"/>
              <a:t>"Should my task disappear?"</a:t>
            </a:r>
          </a:p>
          <a:p>
            <a:endParaRPr lang="en-US" dirty="0"/>
          </a:p>
          <a:p>
            <a:r>
              <a:rPr lang="en-US" dirty="0"/>
              <a:t>Students:</a:t>
            </a:r>
          </a:p>
          <a:p>
            <a:endParaRPr lang="en-US" dirty="0"/>
          </a:p>
          <a:p>
            <a:r>
              <a:rPr lang="en-US" dirty="0"/>
              <a:t>"No."</a:t>
            </a:r>
          </a:p>
          <a:p>
            <a:endParaRPr lang="en-US" dirty="0"/>
          </a:p>
          <a:p>
            <a:r>
              <a:rPr lang="en-US" dirty="0"/>
              <a:t>Exactly.</a:t>
            </a:r>
          </a:p>
          <a:p>
            <a:endParaRPr lang="en-US" dirty="0"/>
          </a:p>
          <a:p>
            <a:r>
              <a:rPr lang="en-US" dirty="0"/>
              <a:t>------------------------------------------------------------</a:t>
            </a:r>
          </a:p>
          <a:p>
            <a:endParaRPr lang="en-US" dirty="0"/>
          </a:p>
          <a:p>
            <a:r>
              <a:rPr lang="en-US" dirty="0"/>
              <a:t>THE APPLICATION</a:t>
            </a:r>
          </a:p>
          <a:p>
            <a:endParaRPr lang="en-US" dirty="0"/>
          </a:p>
          <a:p>
            <a:r>
              <a:rPr lang="en-US" dirty="0"/>
              <a:t>Point to Atlas </a:t>
            </a:r>
            <a:r>
              <a:rPr lang="en-US" dirty="0" err="1"/>
              <a:t>TaskFlow</a:t>
            </a:r>
            <a:r>
              <a:rPr lang="en-US" dirty="0"/>
              <a:t>.</a:t>
            </a:r>
          </a:p>
          <a:p>
            <a:endParaRPr lang="en-US" dirty="0"/>
          </a:p>
          <a:p>
            <a:r>
              <a:rPr lang="en-US" dirty="0"/>
              <a:t>Explain:</a:t>
            </a:r>
          </a:p>
          <a:p>
            <a:endParaRPr lang="en-US" dirty="0"/>
          </a:p>
          <a:p>
            <a:r>
              <a:rPr lang="en-US" dirty="0"/>
              <a:t>"The application receives the user's request."</a:t>
            </a:r>
          </a:p>
          <a:p>
            <a:endParaRPr lang="en-US" dirty="0"/>
          </a:p>
          <a:p>
            <a:r>
              <a:rPr lang="en-US" dirty="0"/>
              <a:t>"It decides what needs to happen."</a:t>
            </a:r>
          </a:p>
          <a:p>
            <a:endParaRPr lang="en-US" dirty="0"/>
          </a:p>
          <a:p>
            <a:r>
              <a:rPr lang="en-US" dirty="0"/>
              <a:t>"It communicates with the database."</a:t>
            </a:r>
          </a:p>
          <a:p>
            <a:endParaRPr lang="en-US" dirty="0"/>
          </a:p>
          <a:p>
            <a:r>
              <a:rPr lang="en-US" dirty="0"/>
              <a:t>"This is where our C# and MVC code lives."</a:t>
            </a:r>
          </a:p>
          <a:p>
            <a:endParaRPr lang="en-US" dirty="0"/>
          </a:p>
          <a:p>
            <a:r>
              <a:rPr lang="en-US" dirty="0"/>
              <a:t>Then say:</a:t>
            </a:r>
          </a:p>
          <a:p>
            <a:endParaRPr lang="en-US" dirty="0"/>
          </a:p>
          <a:p>
            <a:r>
              <a:rPr lang="en-US" dirty="0"/>
              <a:t>"The application is the middleman."</a:t>
            </a:r>
          </a:p>
          <a:p>
            <a:endParaRPr lang="en-US" dirty="0"/>
          </a:p>
          <a:p>
            <a:r>
              <a:rPr lang="en-US" dirty="0"/>
              <a:t>------------------------------------------------------------</a:t>
            </a:r>
          </a:p>
          <a:p>
            <a:endParaRPr lang="en-US" dirty="0"/>
          </a:p>
          <a:p>
            <a:r>
              <a:rPr lang="en-US" dirty="0"/>
              <a:t>THE DATABASE</a:t>
            </a:r>
          </a:p>
          <a:p>
            <a:endParaRPr lang="en-US" dirty="0"/>
          </a:p>
          <a:p>
            <a:r>
              <a:rPr lang="en-US" dirty="0"/>
              <a:t>Point to the database.</a:t>
            </a:r>
          </a:p>
          <a:p>
            <a:endParaRPr lang="en-US" dirty="0"/>
          </a:p>
          <a:p>
            <a:r>
              <a:rPr lang="en-US" dirty="0"/>
              <a:t>Pause.</a:t>
            </a:r>
          </a:p>
          <a:p>
            <a:endParaRPr lang="en-US" dirty="0"/>
          </a:p>
          <a:p>
            <a:r>
              <a:rPr lang="en-US" dirty="0"/>
              <a:t>"This is the important part."</a:t>
            </a:r>
          </a:p>
          <a:p>
            <a:endParaRPr lang="en-US" dirty="0"/>
          </a:p>
          <a:p>
            <a:r>
              <a:rPr lang="en-US" dirty="0"/>
              <a:t>"The database is where persistent information lives."</a:t>
            </a:r>
          </a:p>
          <a:p>
            <a:endParaRPr lang="en-US" dirty="0"/>
          </a:p>
          <a:p>
            <a:r>
              <a:rPr lang="en-US" dirty="0"/>
              <a:t>Explain:</a:t>
            </a:r>
          </a:p>
          <a:p>
            <a:endParaRPr lang="en-US" dirty="0"/>
          </a:p>
          <a:p>
            <a:r>
              <a:rPr lang="en-US" dirty="0"/>
              <a:t>"It stores information."</a:t>
            </a:r>
          </a:p>
          <a:p>
            <a:endParaRPr lang="en-US" dirty="0"/>
          </a:p>
          <a:p>
            <a:r>
              <a:rPr lang="en-US" dirty="0"/>
              <a:t>"It organizes information."</a:t>
            </a:r>
          </a:p>
          <a:p>
            <a:endParaRPr lang="en-US" dirty="0"/>
          </a:p>
          <a:p>
            <a:r>
              <a:rPr lang="en-US" dirty="0"/>
              <a:t>"It allows the application to retrieve information later."</a:t>
            </a:r>
          </a:p>
          <a:p>
            <a:endParaRPr lang="en-US" dirty="0"/>
          </a:p>
          <a:p>
            <a:r>
              <a:rPr lang="en-US" dirty="0"/>
              <a:t>Use the phrase:</a:t>
            </a:r>
          </a:p>
          <a:p>
            <a:endParaRPr lang="en-US" dirty="0"/>
          </a:p>
          <a:p>
            <a:r>
              <a:rPr lang="en-US" dirty="0"/>
              <a:t>"Long-term memory."</a:t>
            </a:r>
          </a:p>
          <a:p>
            <a:endParaRPr lang="en-US" dirty="0"/>
          </a:p>
          <a:p>
            <a:r>
              <a:rPr lang="en-US" dirty="0"/>
              <a:t>------------------------------------------------------------</a:t>
            </a:r>
          </a:p>
          <a:p>
            <a:endParaRPr lang="en-US" dirty="0"/>
          </a:p>
          <a:p>
            <a:r>
              <a:rPr lang="en-US" dirty="0"/>
              <a:t>THE COMPLETE CONVERSATION</a:t>
            </a:r>
          </a:p>
          <a:p>
            <a:endParaRPr lang="en-US" dirty="0"/>
          </a:p>
          <a:p>
            <a:r>
              <a:rPr lang="en-US" dirty="0"/>
              <a:t>Walk through the flow.</a:t>
            </a:r>
          </a:p>
          <a:p>
            <a:endParaRPr lang="en-US" dirty="0"/>
          </a:p>
          <a:p>
            <a:r>
              <a:rPr lang="en-US" dirty="0"/>
              <a:t>User:</a:t>
            </a:r>
          </a:p>
          <a:p>
            <a:endParaRPr lang="en-US" dirty="0"/>
          </a:p>
          <a:p>
            <a:r>
              <a:rPr lang="en-US" dirty="0"/>
              <a:t>"Create a new task."</a:t>
            </a:r>
          </a:p>
          <a:p>
            <a:endParaRPr lang="en-US" dirty="0"/>
          </a:p>
          <a:p>
            <a:r>
              <a:rPr lang="en-US" dirty="0"/>
              <a:t>↓</a:t>
            </a:r>
          </a:p>
          <a:p>
            <a:endParaRPr lang="en-US" dirty="0"/>
          </a:p>
          <a:p>
            <a:r>
              <a:rPr lang="en-US" dirty="0"/>
              <a:t>Browser:</a:t>
            </a:r>
          </a:p>
          <a:p>
            <a:endParaRPr lang="en-US" dirty="0"/>
          </a:p>
          <a:p>
            <a:r>
              <a:rPr lang="en-US" dirty="0"/>
              <a:t>"Sends the request."</a:t>
            </a:r>
          </a:p>
          <a:p>
            <a:endParaRPr lang="en-US" dirty="0"/>
          </a:p>
          <a:p>
            <a:r>
              <a:rPr lang="en-US" dirty="0"/>
              <a:t>↓</a:t>
            </a:r>
          </a:p>
          <a:p>
            <a:endParaRPr lang="en-US" dirty="0"/>
          </a:p>
          <a:p>
            <a:r>
              <a:rPr lang="en-US" dirty="0"/>
              <a:t>Atlas </a:t>
            </a:r>
            <a:r>
              <a:rPr lang="en-US" dirty="0" err="1"/>
              <a:t>TaskFlow</a:t>
            </a:r>
            <a:r>
              <a:rPr lang="en-US" dirty="0"/>
              <a:t>:</a:t>
            </a:r>
          </a:p>
          <a:p>
            <a:endParaRPr lang="en-US" dirty="0"/>
          </a:p>
          <a:p>
            <a:r>
              <a:rPr lang="en-US" dirty="0"/>
              <a:t>"Processes the request."</a:t>
            </a:r>
          </a:p>
          <a:p>
            <a:endParaRPr lang="en-US" dirty="0"/>
          </a:p>
          <a:p>
            <a:r>
              <a:rPr lang="en-US" dirty="0"/>
              <a:t>↓</a:t>
            </a:r>
          </a:p>
          <a:p>
            <a:endParaRPr lang="en-US" dirty="0"/>
          </a:p>
          <a:p>
            <a:r>
              <a:rPr lang="en-US" dirty="0"/>
              <a:t>Database:</a:t>
            </a:r>
          </a:p>
          <a:p>
            <a:endParaRPr lang="en-US" dirty="0"/>
          </a:p>
          <a:p>
            <a:r>
              <a:rPr lang="en-US" dirty="0"/>
              <a:t>"Stores the task."</a:t>
            </a:r>
          </a:p>
          <a:p>
            <a:endParaRPr lang="en-US" dirty="0"/>
          </a:p>
          <a:p>
            <a:r>
              <a:rPr lang="en-US" dirty="0"/>
              <a:t>Then reverse it.</a:t>
            </a:r>
          </a:p>
          <a:p>
            <a:endParaRPr lang="en-US" dirty="0"/>
          </a:p>
          <a:p>
            <a:r>
              <a:rPr lang="en-US" dirty="0"/>
              <a:t>User:</a:t>
            </a:r>
          </a:p>
          <a:p>
            <a:endParaRPr lang="en-US" dirty="0"/>
          </a:p>
          <a:p>
            <a:r>
              <a:rPr lang="en-US" dirty="0"/>
              <a:t>"Show me my tasks."</a:t>
            </a:r>
          </a:p>
          <a:p>
            <a:endParaRPr lang="en-US" dirty="0"/>
          </a:p>
          <a:p>
            <a:r>
              <a:rPr lang="en-US" dirty="0"/>
              <a:t>↓</a:t>
            </a:r>
          </a:p>
          <a:p>
            <a:endParaRPr lang="en-US" dirty="0"/>
          </a:p>
          <a:p>
            <a:r>
              <a:rPr lang="en-US" dirty="0"/>
              <a:t>Browser:</a:t>
            </a:r>
          </a:p>
          <a:p>
            <a:endParaRPr lang="en-US" dirty="0"/>
          </a:p>
          <a:p>
            <a:r>
              <a:rPr lang="en-US" dirty="0"/>
              <a:t>"Sends the request."</a:t>
            </a:r>
          </a:p>
          <a:p>
            <a:endParaRPr lang="en-US" dirty="0"/>
          </a:p>
          <a:p>
            <a:r>
              <a:rPr lang="en-US" dirty="0"/>
              <a:t>↓</a:t>
            </a:r>
          </a:p>
          <a:p>
            <a:endParaRPr lang="en-US" dirty="0"/>
          </a:p>
          <a:p>
            <a:r>
              <a:rPr lang="en-US" dirty="0"/>
              <a:t>Atlas </a:t>
            </a:r>
            <a:r>
              <a:rPr lang="en-US" dirty="0" err="1"/>
              <a:t>TaskFlow</a:t>
            </a:r>
            <a:r>
              <a:rPr lang="en-US" dirty="0"/>
              <a:t>:</a:t>
            </a:r>
          </a:p>
          <a:p>
            <a:endParaRPr lang="en-US" dirty="0"/>
          </a:p>
          <a:p>
            <a:r>
              <a:rPr lang="en-US" dirty="0"/>
              <a:t>"Asks the database."</a:t>
            </a:r>
          </a:p>
          <a:p>
            <a:endParaRPr lang="en-US" dirty="0"/>
          </a:p>
          <a:p>
            <a:r>
              <a:rPr lang="en-US" dirty="0"/>
              <a:t>↓</a:t>
            </a:r>
          </a:p>
          <a:p>
            <a:endParaRPr lang="en-US" dirty="0"/>
          </a:p>
          <a:p>
            <a:r>
              <a:rPr lang="en-US" dirty="0"/>
              <a:t>Database:</a:t>
            </a:r>
          </a:p>
          <a:p>
            <a:endParaRPr lang="en-US" dirty="0"/>
          </a:p>
          <a:p>
            <a:r>
              <a:rPr lang="en-US" dirty="0"/>
              <a:t>"Returns the tasks."</a:t>
            </a:r>
          </a:p>
          <a:p>
            <a:endParaRPr lang="en-US" dirty="0"/>
          </a:p>
          <a:p>
            <a:r>
              <a:rPr lang="en-US" dirty="0"/>
              <a:t>↓</a:t>
            </a:r>
          </a:p>
          <a:p>
            <a:endParaRPr lang="en-US" dirty="0"/>
          </a:p>
          <a:p>
            <a:r>
              <a:rPr lang="en-US" dirty="0"/>
              <a:t>Atlas </a:t>
            </a:r>
            <a:r>
              <a:rPr lang="en-US" dirty="0" err="1"/>
              <a:t>TaskFlow</a:t>
            </a:r>
            <a:r>
              <a:rPr lang="en-US" dirty="0"/>
              <a:t>:</a:t>
            </a:r>
          </a:p>
          <a:p>
            <a:endParaRPr lang="en-US" dirty="0"/>
          </a:p>
          <a:p>
            <a:r>
              <a:rPr lang="en-US" dirty="0"/>
              <a:t>"Builds the response."</a:t>
            </a:r>
          </a:p>
          <a:p>
            <a:endParaRPr lang="en-US" dirty="0"/>
          </a:p>
          <a:p>
            <a:r>
              <a:rPr lang="en-US" dirty="0"/>
              <a:t>↓</a:t>
            </a:r>
          </a:p>
          <a:p>
            <a:endParaRPr lang="en-US" dirty="0"/>
          </a:p>
          <a:p>
            <a:r>
              <a:rPr lang="en-US" dirty="0"/>
              <a:t>Browser:</a:t>
            </a:r>
          </a:p>
          <a:p>
            <a:endParaRPr lang="en-US" dirty="0"/>
          </a:p>
          <a:p>
            <a:r>
              <a:rPr lang="en-US" dirty="0"/>
              <a:t>"Displays the tasks."</a:t>
            </a:r>
          </a:p>
          <a:p>
            <a:endParaRPr lang="en-US" dirty="0"/>
          </a:p>
          <a:p>
            <a:r>
              <a:rPr lang="en-US" dirty="0"/>
              <a:t>------------------------------------------------------------</a:t>
            </a:r>
          </a:p>
          <a:p>
            <a:endParaRPr lang="en-US" dirty="0"/>
          </a:p>
          <a:p>
            <a:r>
              <a:rPr lang="en-US" dirty="0"/>
              <a:t>THE IMPORTANT DISTINCTION</a:t>
            </a:r>
          </a:p>
          <a:p>
            <a:endParaRPr lang="en-US" dirty="0"/>
          </a:p>
          <a:p>
            <a:r>
              <a:rPr lang="en-US" dirty="0"/>
              <a:t>Say this slowly:</a:t>
            </a:r>
          </a:p>
          <a:p>
            <a:endParaRPr lang="en-US" dirty="0"/>
          </a:p>
          <a:p>
            <a:r>
              <a:rPr lang="en-US" dirty="0"/>
              <a:t>"The browser displays the information."</a:t>
            </a:r>
          </a:p>
          <a:p>
            <a:endParaRPr lang="en-US" dirty="0"/>
          </a:p>
          <a:p>
            <a:r>
              <a:rPr lang="en-US" dirty="0"/>
              <a:t>"The application processes the information."</a:t>
            </a:r>
          </a:p>
          <a:p>
            <a:endParaRPr lang="en-US" dirty="0"/>
          </a:p>
          <a:p>
            <a:r>
              <a:rPr lang="en-US" dirty="0"/>
              <a:t>"The database remembers the information."</a:t>
            </a:r>
          </a:p>
          <a:p>
            <a:endParaRPr lang="en-US" dirty="0"/>
          </a:p>
          <a:p>
            <a:r>
              <a:rPr lang="en-US" dirty="0"/>
              <a:t>Pause.</a:t>
            </a:r>
          </a:p>
          <a:p>
            <a:endParaRPr lang="en-US" dirty="0"/>
          </a:p>
          <a:p>
            <a:r>
              <a:rPr lang="en-US" dirty="0"/>
              <a:t>Repeat it.</a:t>
            </a:r>
          </a:p>
          <a:p>
            <a:endParaRPr lang="en-US" dirty="0"/>
          </a:p>
          <a:p>
            <a:r>
              <a:rPr lang="en-US" dirty="0"/>
              <a:t>"The browser displays."</a:t>
            </a:r>
          </a:p>
          <a:p>
            <a:endParaRPr lang="en-US" dirty="0"/>
          </a:p>
          <a:p>
            <a:r>
              <a:rPr lang="en-US" dirty="0"/>
              <a:t>"The application processes."</a:t>
            </a:r>
          </a:p>
          <a:p>
            <a:endParaRPr lang="en-US" dirty="0"/>
          </a:p>
          <a:p>
            <a:r>
              <a:rPr lang="en-US" dirty="0"/>
              <a:t>"The database remembers."</a:t>
            </a:r>
          </a:p>
          <a:p>
            <a:endParaRPr lang="en-US" dirty="0"/>
          </a:p>
          <a:p>
            <a:r>
              <a:rPr lang="en-US" dirty="0"/>
              <a:t>This is the key takeaway of the lesson.</a:t>
            </a:r>
          </a:p>
          <a:p>
            <a:endParaRPr lang="en-US" dirty="0"/>
          </a:p>
          <a:p>
            <a:r>
              <a:rPr lang="en-US" dirty="0"/>
              <a:t>------------------------------------------------------------</a:t>
            </a:r>
          </a:p>
          <a:p>
            <a:endParaRPr lang="en-US" dirty="0"/>
          </a:p>
          <a:p>
            <a:r>
              <a:rPr lang="en-US" dirty="0"/>
              <a:t>WHAT HAPPENS WITHOUT A DATABASE?</a:t>
            </a:r>
          </a:p>
          <a:p>
            <a:endParaRPr lang="en-US" dirty="0"/>
          </a:p>
          <a:p>
            <a:r>
              <a:rPr lang="en-US" dirty="0"/>
              <a:t>Point to the Sprint 4 architecture.</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Azure</a:t>
            </a:r>
          </a:p>
          <a:p>
            <a:endParaRPr lang="en-US" dirty="0"/>
          </a:p>
          <a:p>
            <a:r>
              <a:rPr lang="en-US" dirty="0"/>
              <a:t>↓</a:t>
            </a:r>
          </a:p>
          <a:p>
            <a:endParaRPr lang="en-US" dirty="0"/>
          </a:p>
          <a:p>
            <a:r>
              <a:rPr lang="en-US" dirty="0"/>
              <a:t>Atlas </a:t>
            </a:r>
            <a:r>
              <a:rPr lang="en-US" dirty="0" err="1"/>
              <a:t>TaskFlow</a:t>
            </a:r>
            <a:endParaRPr lang="en-US" dirty="0"/>
          </a:p>
          <a:p>
            <a:endParaRPr lang="en-US" dirty="0"/>
          </a:p>
          <a:p>
            <a:r>
              <a:rPr lang="en-US" dirty="0"/>
              <a:t>↓</a:t>
            </a:r>
          </a:p>
          <a:p>
            <a:endParaRPr lang="en-US" dirty="0"/>
          </a:p>
          <a:p>
            <a:r>
              <a:rPr lang="en-US" dirty="0"/>
              <a:t>HTML</a:t>
            </a:r>
          </a:p>
          <a:p>
            <a:endParaRPr lang="en-US" dirty="0"/>
          </a:p>
          <a:p>
            <a:r>
              <a:rPr lang="en-US" dirty="0"/>
              <a:t>Explain:</a:t>
            </a:r>
          </a:p>
          <a:p>
            <a:endParaRPr lang="en-US" dirty="0"/>
          </a:p>
          <a:p>
            <a:r>
              <a:rPr lang="en-US" dirty="0"/>
              <a:t>"This worked."</a:t>
            </a:r>
          </a:p>
          <a:p>
            <a:endParaRPr lang="en-US" dirty="0"/>
          </a:p>
          <a:p>
            <a:r>
              <a:rPr lang="en-US" dirty="0"/>
              <a:t>"We had a working application."</a:t>
            </a:r>
          </a:p>
          <a:p>
            <a:endParaRPr lang="en-US" dirty="0"/>
          </a:p>
          <a:p>
            <a:r>
              <a:rPr lang="en-US" dirty="0"/>
              <a:t>"But it couldn't permanently store our information."</a:t>
            </a:r>
          </a:p>
          <a:p>
            <a:endParaRPr lang="en-US" dirty="0"/>
          </a:p>
          <a:p>
            <a:r>
              <a:rPr lang="en-US" dirty="0"/>
              <a:t>"This is why Sprint 4 and Sprint 5 are different."</a:t>
            </a:r>
          </a:p>
          <a:p>
            <a:endParaRPr lang="en-US" dirty="0"/>
          </a:p>
          <a:p>
            <a:r>
              <a:rPr lang="en-US" dirty="0"/>
              <a:t>------------------------------------------------------------</a:t>
            </a:r>
          </a:p>
          <a:p>
            <a:endParaRPr lang="en-US" dirty="0"/>
          </a:p>
          <a:p>
            <a:r>
              <a:rPr lang="en-US" dirty="0"/>
              <a:t>WHAT CHANGES IN SPRINT 5?</a:t>
            </a:r>
          </a:p>
          <a:p>
            <a:endParaRPr lang="en-US" dirty="0"/>
          </a:p>
          <a:p>
            <a:r>
              <a:rPr lang="en-US" dirty="0"/>
              <a:t>Point to the updated architecture.</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Azure</a:t>
            </a:r>
          </a:p>
          <a:p>
            <a:endParaRPr lang="en-US" dirty="0"/>
          </a:p>
          <a:p>
            <a:r>
              <a:rPr lang="en-US" dirty="0"/>
              <a:t>↓</a:t>
            </a:r>
          </a:p>
          <a:p>
            <a:endParaRPr lang="en-US" dirty="0"/>
          </a:p>
          <a:p>
            <a:r>
              <a:rPr lang="en-US" dirty="0"/>
              <a:t>Atlas </a:t>
            </a:r>
            <a:r>
              <a:rPr lang="en-US" dirty="0" err="1"/>
              <a:t>TaskFlow</a:t>
            </a:r>
            <a:endParaRPr lang="en-US" dirty="0"/>
          </a:p>
          <a:p>
            <a:endParaRPr lang="en-US" dirty="0"/>
          </a:p>
          <a:p>
            <a:r>
              <a:rPr lang="en-US" dirty="0"/>
              <a:t>↓</a:t>
            </a:r>
          </a:p>
          <a:p>
            <a:endParaRPr lang="en-US" dirty="0"/>
          </a:p>
          <a:p>
            <a:r>
              <a:rPr lang="en-US" dirty="0"/>
              <a:t>Database</a:t>
            </a:r>
          </a:p>
          <a:p>
            <a:endParaRPr lang="en-US" dirty="0"/>
          </a:p>
          <a:p>
            <a:r>
              <a:rPr lang="en-US" dirty="0"/>
              <a:t>Explain:</a:t>
            </a:r>
          </a:p>
          <a:p>
            <a:endParaRPr lang="en-US" dirty="0"/>
          </a:p>
          <a:p>
            <a:r>
              <a:rPr lang="en-US" dirty="0"/>
              <a:t>"We aren't replacing our application."</a:t>
            </a:r>
          </a:p>
          <a:p>
            <a:endParaRPr lang="en-US" dirty="0"/>
          </a:p>
          <a:p>
            <a:r>
              <a:rPr lang="en-US" dirty="0"/>
              <a:t>"We're adding another capability."</a:t>
            </a:r>
          </a:p>
          <a:p>
            <a:endParaRPr lang="en-US" dirty="0"/>
          </a:p>
          <a:p>
            <a:r>
              <a:rPr lang="en-US" dirty="0"/>
              <a:t>"Atlas now has somewhere to store information."</a:t>
            </a:r>
          </a:p>
          <a:p>
            <a:endParaRPr lang="en-US" dirty="0"/>
          </a:p>
          <a:p>
            <a:r>
              <a:rPr lang="en-US" dirty="0"/>
              <a:t>------------------------------------------------------------</a:t>
            </a:r>
          </a:p>
          <a:p>
            <a:endParaRPr lang="en-US" dirty="0"/>
          </a:p>
          <a:p>
            <a:r>
              <a:rPr lang="en-US" dirty="0"/>
              <a:t>CLOUD CONNECTION</a:t>
            </a:r>
          </a:p>
          <a:p>
            <a:endParaRPr lang="en-US" dirty="0"/>
          </a:p>
          <a:p>
            <a:r>
              <a:rPr lang="en-US" dirty="0"/>
              <a:t>Point to Azure.</a:t>
            </a:r>
          </a:p>
          <a:p>
            <a:endParaRPr lang="en-US" dirty="0"/>
          </a:p>
          <a:p>
            <a:r>
              <a:rPr lang="en-US" dirty="0"/>
              <a:t>Ask:</a:t>
            </a:r>
          </a:p>
          <a:p>
            <a:endParaRPr lang="en-US" dirty="0"/>
          </a:p>
          <a:p>
            <a:r>
              <a:rPr lang="en-US" dirty="0"/>
              <a:t>"Where is our application running?"</a:t>
            </a:r>
          </a:p>
          <a:p>
            <a:endParaRPr lang="en-US" dirty="0"/>
          </a:p>
          <a:p>
            <a:r>
              <a:rPr lang="en-US" dirty="0"/>
              <a:t>Students:</a:t>
            </a:r>
          </a:p>
          <a:p>
            <a:endParaRPr lang="en-US" dirty="0"/>
          </a:p>
          <a:p>
            <a:r>
              <a:rPr lang="en-US" dirty="0"/>
              <a:t>"Azure."</a:t>
            </a:r>
          </a:p>
          <a:p>
            <a:endParaRPr lang="en-US" dirty="0"/>
          </a:p>
          <a:p>
            <a:r>
              <a:rPr lang="en-US" dirty="0"/>
              <a:t>Then ask:</a:t>
            </a:r>
          </a:p>
          <a:p>
            <a:endParaRPr lang="en-US" dirty="0"/>
          </a:p>
          <a:p>
            <a:r>
              <a:rPr lang="en-US" dirty="0"/>
              <a:t>"Where does our database run?"</a:t>
            </a:r>
          </a:p>
          <a:p>
            <a:endParaRPr lang="en-US" dirty="0"/>
          </a:p>
          <a:p>
            <a:r>
              <a:rPr lang="en-US" dirty="0"/>
              <a:t>Explain:</a:t>
            </a:r>
          </a:p>
          <a:p>
            <a:endParaRPr lang="en-US" dirty="0"/>
          </a:p>
          <a:p>
            <a:r>
              <a:rPr lang="en-US" dirty="0"/>
              <a:t>"Eventually, our database will also need to live somewhere accessible</a:t>
            </a:r>
          </a:p>
          <a:p>
            <a:r>
              <a:rPr lang="en-US" dirty="0"/>
              <a:t>to the application."</a:t>
            </a:r>
          </a:p>
          <a:p>
            <a:endParaRPr lang="en-US" dirty="0"/>
          </a:p>
          <a:p>
            <a:r>
              <a:rPr lang="en-US" dirty="0"/>
              <a:t>"This is part of building a cloud application."</a:t>
            </a:r>
          </a:p>
          <a:p>
            <a:endParaRPr lang="en-US" dirty="0"/>
          </a:p>
          <a:p>
            <a:r>
              <a:rPr lang="en-US" dirty="0"/>
              <a:t>Keep this conceptual.</a:t>
            </a:r>
          </a:p>
          <a:p>
            <a:endParaRPr lang="en-US" dirty="0"/>
          </a:p>
          <a:p>
            <a:r>
              <a:rPr lang="en-US" dirty="0"/>
              <a:t>Don't dive into Azure SQL configuration yet.</a:t>
            </a:r>
          </a:p>
          <a:p>
            <a:endParaRPr lang="en-US" dirty="0"/>
          </a:p>
          <a:p>
            <a:r>
              <a:rPr lang="en-US" dirty="0"/>
              <a:t>------------------------------------------------------------</a:t>
            </a:r>
          </a:p>
          <a:p>
            <a:endParaRPr lang="en-US" dirty="0"/>
          </a:p>
          <a:p>
            <a:r>
              <a:rPr lang="en-US" dirty="0"/>
              <a:t>DATABASE ANALOGY</a:t>
            </a:r>
          </a:p>
          <a:p>
            <a:endParaRPr lang="en-US" dirty="0"/>
          </a:p>
          <a:p>
            <a:r>
              <a:rPr lang="en-US" dirty="0"/>
              <a:t>Use a familiar analogy.</a:t>
            </a:r>
          </a:p>
          <a:p>
            <a:endParaRPr lang="en-US" dirty="0"/>
          </a:p>
          <a:p>
            <a:r>
              <a:rPr lang="en-US" dirty="0"/>
              <a:t>Say:</a:t>
            </a:r>
          </a:p>
          <a:p>
            <a:endParaRPr lang="en-US" dirty="0"/>
          </a:p>
          <a:p>
            <a:r>
              <a:rPr lang="en-US" dirty="0"/>
              <a:t>"Think about a library."</a:t>
            </a:r>
          </a:p>
          <a:p>
            <a:endParaRPr lang="en-US" dirty="0"/>
          </a:p>
          <a:p>
            <a:r>
              <a:rPr lang="en-US" dirty="0"/>
              <a:t>The browser is like the person looking for information.</a:t>
            </a:r>
          </a:p>
          <a:p>
            <a:endParaRPr lang="en-US" dirty="0"/>
          </a:p>
          <a:p>
            <a:r>
              <a:rPr lang="en-US" dirty="0"/>
              <a:t>The application is like the librarian.</a:t>
            </a:r>
          </a:p>
          <a:p>
            <a:endParaRPr lang="en-US" dirty="0"/>
          </a:p>
          <a:p>
            <a:r>
              <a:rPr lang="en-US" dirty="0"/>
              <a:t>The database is like the collection of books.</a:t>
            </a:r>
          </a:p>
          <a:p>
            <a:endParaRPr lang="en-US" dirty="0"/>
          </a:p>
          <a:p>
            <a:r>
              <a:rPr lang="en-US" dirty="0"/>
              <a:t>The librarian doesn't become the book.</a:t>
            </a:r>
          </a:p>
          <a:p>
            <a:endParaRPr lang="en-US" dirty="0"/>
          </a:p>
          <a:p>
            <a:r>
              <a:rPr lang="en-US" dirty="0"/>
              <a:t>The librarian retrieves the book.</a:t>
            </a:r>
          </a:p>
          <a:p>
            <a:endParaRPr lang="en-US" dirty="0"/>
          </a:p>
          <a:p>
            <a:r>
              <a:rPr lang="en-US" dirty="0"/>
              <a:t>Likewise:</a:t>
            </a:r>
          </a:p>
          <a:p>
            <a:endParaRPr lang="en-US" dirty="0"/>
          </a:p>
          <a:p>
            <a:r>
              <a:rPr lang="en-US" dirty="0"/>
              <a:t>"The application doesn't become the database."</a:t>
            </a:r>
          </a:p>
          <a:p>
            <a:endParaRPr lang="en-US" dirty="0"/>
          </a:p>
          <a:p>
            <a:r>
              <a:rPr lang="en-US" dirty="0"/>
              <a:t>"It communicates with the database."</a:t>
            </a:r>
          </a:p>
          <a:p>
            <a:endParaRPr lang="en-US" dirty="0"/>
          </a:p>
          <a:p>
            <a:r>
              <a:rPr lang="en-US" dirty="0"/>
              <a:t>------------------------------------------------------------</a:t>
            </a:r>
          </a:p>
          <a:p>
            <a:endParaRPr lang="en-US" dirty="0"/>
          </a:p>
          <a:p>
            <a:r>
              <a:rPr lang="en-US" dirty="0"/>
              <a:t>DATA VS APPLICATION</a:t>
            </a:r>
          </a:p>
          <a:p>
            <a:endParaRPr lang="en-US" dirty="0"/>
          </a:p>
          <a:p>
            <a:r>
              <a:rPr lang="en-US" dirty="0"/>
              <a:t>Ask:</a:t>
            </a:r>
          </a:p>
          <a:p>
            <a:endParaRPr lang="en-US" dirty="0"/>
          </a:p>
          <a:p>
            <a:r>
              <a:rPr lang="en-US" dirty="0"/>
              <a:t>"What happens if I redeploy my application?"</a:t>
            </a:r>
          </a:p>
          <a:p>
            <a:endParaRPr lang="en-US" dirty="0"/>
          </a:p>
          <a:p>
            <a:r>
              <a:rPr lang="en-US" dirty="0"/>
              <a:t>Guide students toward:</a:t>
            </a:r>
          </a:p>
          <a:p>
            <a:endParaRPr lang="en-US" dirty="0"/>
          </a:p>
          <a:p>
            <a:r>
              <a:rPr lang="en-US" dirty="0"/>
              <a:t>"The application code changes."</a:t>
            </a:r>
          </a:p>
          <a:p>
            <a:endParaRPr lang="en-US" dirty="0"/>
          </a:p>
          <a:p>
            <a:r>
              <a:rPr lang="en-US" dirty="0"/>
              <a:t>Then ask:</a:t>
            </a:r>
          </a:p>
          <a:p>
            <a:endParaRPr lang="en-US" dirty="0"/>
          </a:p>
          <a:p>
            <a:r>
              <a:rPr lang="en-US" dirty="0"/>
              <a:t>"Should all of our users' tasks disappear?"</a:t>
            </a:r>
          </a:p>
          <a:p>
            <a:endParaRPr lang="en-US" dirty="0"/>
          </a:p>
          <a:p>
            <a:r>
              <a:rPr lang="en-US" dirty="0"/>
              <a:t>Students:</a:t>
            </a:r>
          </a:p>
          <a:p>
            <a:endParaRPr lang="en-US" dirty="0"/>
          </a:p>
          <a:p>
            <a:r>
              <a:rPr lang="en-US" dirty="0"/>
              <a:t>"No."</a:t>
            </a:r>
          </a:p>
          <a:p>
            <a:endParaRPr lang="en-US" dirty="0"/>
          </a:p>
          <a:p>
            <a:r>
              <a:rPr lang="en-US" dirty="0"/>
              <a:t>Exactly.</a:t>
            </a:r>
          </a:p>
          <a:p>
            <a:endParaRPr lang="en-US" dirty="0"/>
          </a:p>
          <a:p>
            <a:r>
              <a:rPr lang="en-US" dirty="0"/>
              <a:t>Explain:</a:t>
            </a:r>
          </a:p>
          <a:p>
            <a:endParaRPr lang="en-US" dirty="0"/>
          </a:p>
          <a:p>
            <a:r>
              <a:rPr lang="en-US" dirty="0"/>
              <a:t>"That's one reason we separate application code from stored data."</a:t>
            </a:r>
          </a:p>
          <a:p>
            <a:endParaRPr lang="en-US" dirty="0"/>
          </a:p>
          <a:p>
            <a:r>
              <a:rPr lang="en-US" dirty="0"/>
              <a:t>"The application can change..."</a:t>
            </a:r>
          </a:p>
          <a:p>
            <a:endParaRPr lang="en-US" dirty="0"/>
          </a:p>
          <a:p>
            <a:r>
              <a:rPr lang="en-US" dirty="0"/>
              <a:t>"While the information remains."</a:t>
            </a:r>
          </a:p>
          <a:p>
            <a:endParaRPr lang="en-US" dirty="0"/>
          </a:p>
          <a:p>
            <a:r>
              <a:rPr lang="en-US" dirty="0"/>
              <a:t>This is an important professional concept.</a:t>
            </a:r>
          </a:p>
          <a:p>
            <a:endParaRPr lang="en-US" dirty="0"/>
          </a:p>
          <a:p>
            <a:r>
              <a:rPr lang="en-US" dirty="0"/>
              <a:t>------------------------------------------------------------</a:t>
            </a:r>
          </a:p>
          <a:p>
            <a:endParaRPr lang="en-US" dirty="0"/>
          </a:p>
          <a:p>
            <a:r>
              <a:rPr lang="en-US" dirty="0"/>
              <a:t>WHAT DOES A DATABASE STORE?</a:t>
            </a:r>
          </a:p>
          <a:p>
            <a:endParaRPr lang="en-US" dirty="0"/>
          </a:p>
          <a:p>
            <a:r>
              <a:rPr lang="en-US" dirty="0"/>
              <a:t>Point to examples.</a:t>
            </a:r>
          </a:p>
          <a:p>
            <a:endParaRPr lang="en-US" dirty="0"/>
          </a:p>
          <a:p>
            <a:r>
              <a:rPr lang="en-US" dirty="0"/>
              <a:t>Users.</a:t>
            </a:r>
          </a:p>
          <a:p>
            <a:endParaRPr lang="en-US" dirty="0"/>
          </a:p>
          <a:p>
            <a:r>
              <a:rPr lang="en-US" dirty="0"/>
              <a:t>Tasks.</a:t>
            </a:r>
          </a:p>
          <a:p>
            <a:endParaRPr lang="en-US" dirty="0"/>
          </a:p>
          <a:p>
            <a:r>
              <a:rPr lang="en-US" dirty="0"/>
              <a:t>Projects.</a:t>
            </a:r>
          </a:p>
          <a:p>
            <a:endParaRPr lang="en-US" dirty="0"/>
          </a:p>
          <a:p>
            <a:r>
              <a:rPr lang="en-US" dirty="0"/>
              <a:t>Categories.</a:t>
            </a:r>
          </a:p>
          <a:p>
            <a:endParaRPr lang="en-US" dirty="0"/>
          </a:p>
          <a:p>
            <a:r>
              <a:rPr lang="en-US" dirty="0"/>
              <a:t>Statuses.</a:t>
            </a:r>
          </a:p>
          <a:p>
            <a:endParaRPr lang="en-US" dirty="0"/>
          </a:p>
          <a:p>
            <a:r>
              <a:rPr lang="en-US" dirty="0"/>
              <a:t>Dates.</a:t>
            </a:r>
          </a:p>
          <a:p>
            <a:endParaRPr lang="en-US" dirty="0"/>
          </a:p>
          <a:p>
            <a:r>
              <a:rPr lang="en-US" dirty="0"/>
              <a:t>Explain:</a:t>
            </a:r>
          </a:p>
          <a:p>
            <a:endParaRPr lang="en-US" dirty="0"/>
          </a:p>
          <a:p>
            <a:r>
              <a:rPr lang="en-US" dirty="0"/>
              <a:t>"A database doesn't just store random pieces of information."</a:t>
            </a:r>
          </a:p>
          <a:p>
            <a:endParaRPr lang="en-US" dirty="0"/>
          </a:p>
          <a:p>
            <a:r>
              <a:rPr lang="en-US" dirty="0"/>
              <a:t>"It stores structured information."</a:t>
            </a:r>
          </a:p>
          <a:p>
            <a:endParaRPr lang="en-US" dirty="0"/>
          </a:p>
          <a:p>
            <a:r>
              <a:rPr lang="en-US" dirty="0"/>
              <a:t>This leads naturally into our next lessons.</a:t>
            </a:r>
          </a:p>
          <a:p>
            <a:endParaRPr lang="en-US" dirty="0"/>
          </a:p>
          <a:p>
            <a:r>
              <a:rPr lang="en-US" dirty="0"/>
              <a:t>------------------------------------------------------------</a:t>
            </a:r>
          </a:p>
          <a:p>
            <a:endParaRPr lang="en-US" dirty="0"/>
          </a:p>
          <a:p>
            <a:r>
              <a:rPr lang="en-US" dirty="0"/>
              <a:t>THE TASK EXAMPLE</a:t>
            </a:r>
          </a:p>
          <a:p>
            <a:endParaRPr lang="en-US" dirty="0"/>
          </a:p>
          <a:p>
            <a:r>
              <a:rPr lang="en-US" dirty="0"/>
              <a:t>Ask:</a:t>
            </a:r>
          </a:p>
          <a:p>
            <a:endParaRPr lang="en-US" dirty="0"/>
          </a:p>
          <a:p>
            <a:r>
              <a:rPr lang="en-US" dirty="0"/>
              <a:t>"What information might we need to remember about a task?"</a:t>
            </a:r>
          </a:p>
          <a:p>
            <a:endParaRPr lang="en-US" dirty="0"/>
          </a:p>
          <a:p>
            <a:r>
              <a:rPr lang="en-US" dirty="0"/>
              <a:t>Let students brainstorm.</a:t>
            </a:r>
          </a:p>
          <a:p>
            <a:endParaRPr lang="en-US" dirty="0"/>
          </a:p>
          <a:p>
            <a:r>
              <a:rPr lang="en-US" dirty="0"/>
              <a:t>Possible answers:</a:t>
            </a:r>
          </a:p>
          <a:p>
            <a:endParaRPr lang="en-US" dirty="0"/>
          </a:p>
          <a:p>
            <a:r>
              <a:rPr lang="en-US" dirty="0"/>
              <a:t>Task ID.</a:t>
            </a:r>
          </a:p>
          <a:p>
            <a:endParaRPr lang="en-US" dirty="0"/>
          </a:p>
          <a:p>
            <a:r>
              <a:rPr lang="en-US" dirty="0"/>
              <a:t>Title.</a:t>
            </a:r>
          </a:p>
          <a:p>
            <a:endParaRPr lang="en-US" dirty="0"/>
          </a:p>
          <a:p>
            <a:r>
              <a:rPr lang="en-US" dirty="0"/>
              <a:t>Description.</a:t>
            </a:r>
          </a:p>
          <a:p>
            <a:endParaRPr lang="en-US" dirty="0"/>
          </a:p>
          <a:p>
            <a:r>
              <a:rPr lang="en-US" dirty="0"/>
              <a:t>Due date.</a:t>
            </a:r>
          </a:p>
          <a:p>
            <a:endParaRPr lang="en-US" dirty="0"/>
          </a:p>
          <a:p>
            <a:r>
              <a:rPr lang="en-US" dirty="0"/>
              <a:t>Status.</a:t>
            </a:r>
          </a:p>
          <a:p>
            <a:endParaRPr lang="en-US" dirty="0"/>
          </a:p>
          <a:p>
            <a:r>
              <a:rPr lang="en-US" dirty="0"/>
              <a:t>Priority.</a:t>
            </a:r>
          </a:p>
          <a:p>
            <a:endParaRPr lang="en-US" dirty="0"/>
          </a:p>
          <a:p>
            <a:r>
              <a:rPr lang="en-US" dirty="0"/>
              <a:t>Assigned user.</a:t>
            </a:r>
          </a:p>
          <a:p>
            <a:endParaRPr lang="en-US" dirty="0"/>
          </a:p>
          <a:p>
            <a:r>
              <a:rPr lang="en-US" dirty="0"/>
              <a:t>Explain:</a:t>
            </a:r>
          </a:p>
          <a:p>
            <a:endParaRPr lang="en-US" dirty="0"/>
          </a:p>
          <a:p>
            <a:r>
              <a:rPr lang="en-US" dirty="0"/>
              <a:t>"Now we're beginning to think like database designers."</a:t>
            </a:r>
          </a:p>
          <a:p>
            <a:endParaRPr lang="en-US" dirty="0"/>
          </a:p>
          <a:p>
            <a:r>
              <a:rPr lang="en-US" dirty="0"/>
              <a:t>"But we're not designing the database yet."</a:t>
            </a:r>
          </a:p>
          <a:p>
            <a:endParaRPr lang="en-US" dirty="0"/>
          </a:p>
          <a:p>
            <a:r>
              <a:rPr lang="en-US" dirty="0"/>
              <a:t>"We're identifying what the application needs to remember."</a:t>
            </a:r>
          </a:p>
          <a:p>
            <a:endParaRPr lang="en-US" dirty="0"/>
          </a:p>
          <a:p>
            <a:r>
              <a:rPr lang="en-US" dirty="0"/>
              <a:t>------------------------------------------------------------</a:t>
            </a:r>
          </a:p>
          <a:p>
            <a:endParaRPr lang="en-US" dirty="0"/>
          </a:p>
          <a:p>
            <a:r>
              <a:rPr lang="en-US" dirty="0"/>
              <a:t>ENGINEERING INSIGHT</a:t>
            </a:r>
          </a:p>
          <a:p>
            <a:endParaRPr lang="en-US" dirty="0"/>
          </a:p>
          <a:p>
            <a:r>
              <a:rPr lang="en-US" dirty="0"/>
              <a:t>Read the statement:</a:t>
            </a:r>
          </a:p>
          <a:p>
            <a:endParaRPr lang="en-US" dirty="0"/>
          </a:p>
          <a:p>
            <a:r>
              <a:rPr lang="en-US" dirty="0"/>
              <a:t>"Where data lives determines how long it lives."</a:t>
            </a:r>
          </a:p>
          <a:p>
            <a:endParaRPr lang="en-US" dirty="0"/>
          </a:p>
          <a:p>
            <a:r>
              <a:rPr lang="en-US" dirty="0"/>
              <a:t>Explain:</a:t>
            </a:r>
          </a:p>
          <a:p>
            <a:endParaRPr lang="en-US" dirty="0"/>
          </a:p>
          <a:p>
            <a:r>
              <a:rPr lang="en-US" dirty="0"/>
              <a:t>"If information only exists in memory..."</a:t>
            </a:r>
          </a:p>
          <a:p>
            <a:endParaRPr lang="en-US" dirty="0"/>
          </a:p>
          <a:p>
            <a:r>
              <a:rPr lang="en-US" dirty="0"/>
              <a:t>"It can disappear."</a:t>
            </a:r>
          </a:p>
          <a:p>
            <a:endParaRPr lang="en-US" dirty="0"/>
          </a:p>
          <a:p>
            <a:r>
              <a:rPr lang="en-US" dirty="0"/>
              <a:t>"If information is persisted..."</a:t>
            </a:r>
          </a:p>
          <a:p>
            <a:endParaRPr lang="en-US" dirty="0"/>
          </a:p>
          <a:p>
            <a:r>
              <a:rPr lang="en-US" dirty="0"/>
              <a:t>"It can survive."</a:t>
            </a:r>
          </a:p>
          <a:p>
            <a:endParaRPr lang="en-US" dirty="0"/>
          </a:p>
          <a:p>
            <a:r>
              <a:rPr lang="en-US" dirty="0"/>
              <a:t>That is the difference between temporary information and persistent</a:t>
            </a:r>
          </a:p>
          <a:p>
            <a:r>
              <a:rPr lang="en-US" dirty="0"/>
              <a:t>information.</a:t>
            </a:r>
          </a:p>
          <a:p>
            <a:endParaRPr lang="en-US" dirty="0"/>
          </a:p>
          <a:p>
            <a:r>
              <a:rPr lang="en-US" dirty="0"/>
              <a:t>------------------------------------------------------------</a:t>
            </a:r>
          </a:p>
          <a:p>
            <a:endParaRPr lang="en-US" dirty="0"/>
          </a:p>
          <a:p>
            <a:r>
              <a:rPr lang="en-US" dirty="0"/>
              <a:t>BUILD CHALLENGE</a:t>
            </a:r>
          </a:p>
          <a:p>
            <a:endParaRPr lang="en-US" dirty="0"/>
          </a:p>
          <a:p>
            <a:r>
              <a:rPr lang="en-US" dirty="0"/>
              <a:t>Give students a quick activity.</a:t>
            </a:r>
          </a:p>
          <a:p>
            <a:endParaRPr lang="en-US" dirty="0"/>
          </a:p>
          <a:p>
            <a:r>
              <a:rPr lang="en-US" dirty="0"/>
              <a:t>Draw this on paper:</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ATLAS TASKFLOW</a:t>
            </a:r>
          </a:p>
          <a:p>
            <a:endParaRPr lang="en-US" dirty="0"/>
          </a:p>
          <a:p>
            <a:r>
              <a:rPr lang="en-US" dirty="0"/>
              <a:t>↓</a:t>
            </a:r>
          </a:p>
          <a:p>
            <a:endParaRPr lang="en-US" dirty="0"/>
          </a:p>
          <a:p>
            <a:r>
              <a:rPr lang="en-US" dirty="0"/>
              <a:t>DATABASE</a:t>
            </a:r>
          </a:p>
          <a:p>
            <a:endParaRPr lang="en-US" dirty="0"/>
          </a:p>
          <a:p>
            <a:r>
              <a:rPr lang="en-US" dirty="0"/>
              <a:t>Then ask them to label the responsibility of each component.</a:t>
            </a:r>
          </a:p>
          <a:p>
            <a:endParaRPr lang="en-US" dirty="0"/>
          </a:p>
          <a:p>
            <a:r>
              <a:rPr lang="en-US" dirty="0"/>
              <a:t>User:</a:t>
            </a:r>
          </a:p>
          <a:p>
            <a:r>
              <a:rPr lang="en-US" dirty="0"/>
              <a:t>Provides information.</a:t>
            </a:r>
          </a:p>
          <a:p>
            <a:endParaRPr lang="en-US" dirty="0"/>
          </a:p>
          <a:p>
            <a:r>
              <a:rPr lang="en-US" dirty="0"/>
              <a:t>Browser:</a:t>
            </a:r>
          </a:p>
          <a:p>
            <a:r>
              <a:rPr lang="en-US" dirty="0"/>
              <a:t>Displays and sends requests.</a:t>
            </a:r>
          </a:p>
          <a:p>
            <a:endParaRPr lang="en-US" dirty="0"/>
          </a:p>
          <a:p>
            <a:r>
              <a:rPr lang="en-US" dirty="0"/>
              <a:t>Application:</a:t>
            </a:r>
          </a:p>
          <a:p>
            <a:r>
              <a:rPr lang="en-US" dirty="0"/>
              <a:t>Processes requests.</a:t>
            </a:r>
          </a:p>
          <a:p>
            <a:endParaRPr lang="en-US" dirty="0"/>
          </a:p>
          <a:p>
            <a:r>
              <a:rPr lang="en-US" dirty="0"/>
              <a:t>Database:</a:t>
            </a:r>
          </a:p>
          <a:p>
            <a:r>
              <a:rPr lang="en-US" dirty="0"/>
              <a:t>Stores persistent information.</a:t>
            </a:r>
          </a:p>
          <a:p>
            <a:endParaRPr lang="en-US" dirty="0"/>
          </a:p>
          <a:p>
            <a:r>
              <a:rPr lang="en-US" dirty="0"/>
              <a:t>------------------------------------------------------------</a:t>
            </a:r>
          </a:p>
          <a:p>
            <a:endParaRPr lang="en-US" dirty="0"/>
          </a:p>
          <a:p>
            <a:r>
              <a:rPr lang="en-US" dirty="0"/>
              <a:t>CLASS DISCUSSION</a:t>
            </a:r>
          </a:p>
          <a:p>
            <a:endParaRPr lang="en-US" dirty="0"/>
          </a:p>
          <a:p>
            <a:r>
              <a:rPr lang="en-US" dirty="0"/>
              <a:t>Ask:</a:t>
            </a:r>
          </a:p>
          <a:p>
            <a:endParaRPr lang="en-US" dirty="0"/>
          </a:p>
          <a:p>
            <a:r>
              <a:rPr lang="en-US" dirty="0"/>
              <a:t>"Why shouldn't the browser be responsible for permanently storing all</a:t>
            </a:r>
          </a:p>
          <a:p>
            <a:r>
              <a:rPr lang="en-US" dirty="0"/>
              <a:t>our application data?"</a:t>
            </a:r>
          </a:p>
          <a:p>
            <a:endParaRPr lang="en-US" dirty="0"/>
          </a:p>
          <a:p>
            <a:r>
              <a:rPr lang="en-US" dirty="0"/>
              <a:t>Then:</a:t>
            </a:r>
          </a:p>
          <a:p>
            <a:endParaRPr lang="en-US" dirty="0"/>
          </a:p>
          <a:p>
            <a:r>
              <a:rPr lang="en-US" dirty="0"/>
              <a:t>"What would happen if the database disappeared?"</a:t>
            </a:r>
          </a:p>
          <a:p>
            <a:endParaRPr lang="en-US" dirty="0"/>
          </a:p>
          <a:p>
            <a:r>
              <a:rPr lang="en-US" dirty="0"/>
              <a:t>Guide students toward:</a:t>
            </a:r>
          </a:p>
          <a:p>
            <a:endParaRPr lang="en-US" dirty="0"/>
          </a:p>
          <a:p>
            <a:r>
              <a:rPr lang="en-US" dirty="0"/>
              <a:t>The application could still exist.</a:t>
            </a:r>
          </a:p>
          <a:p>
            <a:endParaRPr lang="en-US" dirty="0"/>
          </a:p>
          <a:p>
            <a:r>
              <a:rPr lang="en-US" dirty="0"/>
              <a:t>But it would lose access to its persistent information.</a:t>
            </a:r>
          </a:p>
          <a:p>
            <a:endParaRPr lang="en-US" dirty="0"/>
          </a:p>
          <a:p>
            <a:r>
              <a:rPr lang="en-US" dirty="0"/>
              <a:t>------------------------------------------------------------</a:t>
            </a:r>
          </a:p>
          <a:p>
            <a:endParaRPr lang="en-US" dirty="0"/>
          </a:p>
          <a:p>
            <a:r>
              <a:rPr lang="en-US" dirty="0"/>
              <a:t>REAL-WORLD CONNECTION</a:t>
            </a:r>
          </a:p>
          <a:p>
            <a:endParaRPr lang="en-US" dirty="0"/>
          </a:p>
          <a:p>
            <a:r>
              <a:rPr lang="en-US" dirty="0"/>
              <a:t>Ask students to think about:</a:t>
            </a:r>
          </a:p>
          <a:p>
            <a:endParaRPr lang="en-US" dirty="0"/>
          </a:p>
          <a:p>
            <a:r>
              <a:rPr lang="en-US" dirty="0"/>
              <a:t>Canvas.</a:t>
            </a:r>
          </a:p>
          <a:p>
            <a:endParaRPr lang="en-US" dirty="0"/>
          </a:p>
          <a:p>
            <a:r>
              <a:rPr lang="en-US" dirty="0"/>
              <a:t>Amazon.</a:t>
            </a:r>
          </a:p>
          <a:p>
            <a:endParaRPr lang="en-US" dirty="0"/>
          </a:p>
          <a:p>
            <a:r>
              <a:rPr lang="en-US" dirty="0"/>
              <a:t>Gmail.</a:t>
            </a:r>
          </a:p>
          <a:p>
            <a:endParaRPr lang="en-US" dirty="0"/>
          </a:p>
          <a:p>
            <a:r>
              <a:rPr lang="en-US" dirty="0"/>
              <a:t>Banking applications.</a:t>
            </a:r>
          </a:p>
          <a:p>
            <a:endParaRPr lang="en-US" dirty="0"/>
          </a:p>
          <a:p>
            <a:r>
              <a:rPr lang="en-US" dirty="0"/>
              <a:t>GitHub.</a:t>
            </a:r>
          </a:p>
          <a:p>
            <a:endParaRPr lang="en-US" dirty="0"/>
          </a:p>
          <a:p>
            <a:r>
              <a:rPr lang="en-US" dirty="0"/>
              <a:t>Then ask:</a:t>
            </a:r>
          </a:p>
          <a:p>
            <a:endParaRPr lang="en-US" dirty="0"/>
          </a:p>
          <a:p>
            <a:r>
              <a:rPr lang="en-US" dirty="0"/>
              <a:t>"If those applications didn't have persistent storage..."</a:t>
            </a:r>
          </a:p>
          <a:p>
            <a:endParaRPr lang="en-US" dirty="0"/>
          </a:p>
          <a:p>
            <a:r>
              <a:rPr lang="en-US" dirty="0"/>
              <a:t>"What would happen?"</a:t>
            </a:r>
          </a:p>
          <a:p>
            <a:endParaRPr lang="en-US" dirty="0"/>
          </a:p>
          <a:p>
            <a:r>
              <a:rPr lang="en-US" dirty="0"/>
              <a:t>Let them answer.</a:t>
            </a:r>
          </a:p>
          <a:p>
            <a:endParaRPr lang="en-US" dirty="0"/>
          </a:p>
          <a:p>
            <a:r>
              <a:rPr lang="en-US" dirty="0"/>
              <a:t>Then say:</a:t>
            </a:r>
          </a:p>
          <a:p>
            <a:endParaRPr lang="en-US" dirty="0"/>
          </a:p>
          <a:p>
            <a:r>
              <a:rPr lang="en-US" dirty="0"/>
              <a:t>"Exactly."</a:t>
            </a:r>
          </a:p>
          <a:p>
            <a:endParaRPr lang="en-US" dirty="0"/>
          </a:p>
          <a:p>
            <a:r>
              <a:rPr lang="en-US" dirty="0"/>
              <a:t>"That's why databases are everywhere."</a:t>
            </a:r>
          </a:p>
          <a:p>
            <a:endParaRPr lang="en-US" dirty="0"/>
          </a:p>
          <a:p>
            <a:r>
              <a:rPr lang="en-US" dirty="0"/>
              <a:t>------------------------------------------------------------</a:t>
            </a:r>
          </a:p>
          <a:p>
            <a:endParaRPr lang="en-US" dirty="0"/>
          </a:p>
          <a:p>
            <a:r>
              <a:rPr lang="en-US" dirty="0"/>
              <a:t>SPRINT CONNECTION</a:t>
            </a:r>
          </a:p>
          <a:p>
            <a:endParaRPr lang="en-US" dirty="0"/>
          </a:p>
          <a:p>
            <a:r>
              <a:rPr lang="en-US" dirty="0"/>
              <a:t>Point back to Sprint 4.</a:t>
            </a:r>
          </a:p>
          <a:p>
            <a:endParaRPr lang="en-US" dirty="0"/>
          </a:p>
          <a:p>
            <a:r>
              <a:rPr lang="en-US" dirty="0"/>
              <a:t>Sprint 4:</a:t>
            </a:r>
          </a:p>
          <a:p>
            <a:endParaRPr lang="en-US" dirty="0"/>
          </a:p>
          <a:p>
            <a:r>
              <a:rPr lang="en-US" dirty="0"/>
              <a:t>Build and Deploy.</a:t>
            </a:r>
          </a:p>
          <a:p>
            <a:endParaRPr lang="en-US" dirty="0"/>
          </a:p>
          <a:p>
            <a:r>
              <a:rPr lang="en-US" dirty="0"/>
              <a:t>Sprint 5:</a:t>
            </a:r>
          </a:p>
          <a:p>
            <a:endParaRPr lang="en-US" dirty="0"/>
          </a:p>
          <a:p>
            <a:r>
              <a:rPr lang="en-US" dirty="0"/>
              <a:t>Store and Retrieve.</a:t>
            </a:r>
          </a:p>
          <a:p>
            <a:endParaRPr lang="en-US" dirty="0"/>
          </a:p>
          <a:p>
            <a:r>
              <a:rPr lang="en-US" dirty="0"/>
              <a:t>Explain:</a:t>
            </a:r>
          </a:p>
          <a:p>
            <a:endParaRPr lang="en-US" dirty="0"/>
          </a:p>
          <a:p>
            <a:r>
              <a:rPr lang="en-US" dirty="0"/>
              <a:t>"We are extending the architecture."</a:t>
            </a:r>
          </a:p>
          <a:p>
            <a:endParaRPr lang="en-US" dirty="0"/>
          </a:p>
          <a:p>
            <a:r>
              <a:rPr lang="en-US" dirty="0"/>
              <a:t>"Every sprint adds another engineering capability."</a:t>
            </a:r>
          </a:p>
          <a:p>
            <a:endParaRPr lang="en-US" dirty="0"/>
          </a:p>
          <a:p>
            <a:r>
              <a:rPr lang="en-US" dirty="0"/>
              <a:t>------------------------------------------------------------</a:t>
            </a:r>
          </a:p>
          <a:p>
            <a:endParaRPr lang="en-US" dirty="0"/>
          </a:p>
          <a:p>
            <a:r>
              <a:rPr lang="en-US" dirty="0"/>
              <a:t>LOOKING AHEAD</a:t>
            </a:r>
          </a:p>
          <a:p>
            <a:endParaRPr lang="en-US" dirty="0"/>
          </a:p>
          <a:p>
            <a:r>
              <a:rPr lang="en-US" dirty="0"/>
              <a:t>Ask:</a:t>
            </a:r>
          </a:p>
          <a:p>
            <a:endParaRPr lang="en-US" dirty="0"/>
          </a:p>
          <a:p>
            <a:r>
              <a:rPr lang="en-US" dirty="0"/>
              <a:t>"Now that we know where the data lives..."</a:t>
            </a:r>
          </a:p>
          <a:p>
            <a:endParaRPr lang="en-US" dirty="0"/>
          </a:p>
          <a:p>
            <a:r>
              <a:rPr lang="en-US" dirty="0"/>
              <a:t>"What do we need to figure out next?"</a:t>
            </a:r>
          </a:p>
          <a:p>
            <a:endParaRPr lang="en-US" dirty="0"/>
          </a:p>
          <a:p>
            <a:r>
              <a:rPr lang="en-US" dirty="0"/>
              <a:t>Students should arrive at:</a:t>
            </a:r>
          </a:p>
          <a:p>
            <a:endParaRPr lang="en-US" dirty="0"/>
          </a:p>
          <a:p>
            <a:r>
              <a:rPr lang="en-US" dirty="0"/>
              <a:t>"What data do we need?"</a:t>
            </a:r>
          </a:p>
          <a:p>
            <a:endParaRPr lang="en-US" dirty="0"/>
          </a:p>
          <a:p>
            <a:r>
              <a:rPr lang="en-US" dirty="0"/>
              <a:t>Exactly.</a:t>
            </a:r>
          </a:p>
          <a:p>
            <a:endParaRPr lang="en-US" dirty="0"/>
          </a:p>
          <a:p>
            <a:r>
              <a:rPr lang="en-US" dirty="0"/>
              <a:t>"Next..."</a:t>
            </a:r>
          </a:p>
          <a:p>
            <a:endParaRPr lang="en-US" dirty="0"/>
          </a:p>
          <a:p>
            <a:r>
              <a:rPr lang="en-US" dirty="0"/>
              <a:t>"We design the data model for Atlas </a:t>
            </a:r>
            <a:r>
              <a:rPr lang="en-US" dirty="0" err="1"/>
              <a:t>TaskFlow</a:t>
            </a:r>
            <a:r>
              <a:rPr lang="en-US" dirty="0"/>
              <a:t>."</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"Remember these three sentences."</a:t>
            </a:r>
          </a:p>
          <a:p>
            <a:endParaRPr lang="en-US" dirty="0"/>
          </a:p>
          <a:p>
            <a:r>
              <a:rPr lang="en-US" dirty="0"/>
              <a:t>"The browser displays."</a:t>
            </a:r>
          </a:p>
          <a:p>
            <a:endParaRPr lang="en-US" dirty="0"/>
          </a:p>
          <a:p>
            <a:r>
              <a:rPr lang="en-US" dirty="0"/>
              <a:t>"The application processes."</a:t>
            </a:r>
          </a:p>
          <a:p>
            <a:endParaRPr lang="en-US" dirty="0"/>
          </a:p>
          <a:p>
            <a:r>
              <a:rPr lang="en-US" dirty="0"/>
              <a:t>"The database remembers."</a:t>
            </a:r>
          </a:p>
          <a:p>
            <a:endParaRPr lang="en-US" dirty="0"/>
          </a:p>
          <a:p>
            <a:r>
              <a:rPr lang="en-US" dirty="0"/>
              <a:t>Pause.</a:t>
            </a:r>
          </a:p>
          <a:p>
            <a:endParaRPr lang="en-US" dirty="0"/>
          </a:p>
          <a:p>
            <a:r>
              <a:rPr lang="en-US" dirty="0"/>
              <a:t>"Once you understand that..."</a:t>
            </a:r>
          </a:p>
          <a:p>
            <a:endParaRPr lang="en-US" dirty="0"/>
          </a:p>
          <a:p>
            <a:r>
              <a:rPr lang="en-US" dirty="0"/>
              <a:t>"You understand the foundation of data-driven SaaS applications."</a:t>
            </a:r>
          </a:p>
          <a:p>
            <a:endParaRPr lang="en-US" dirty="0"/>
          </a:p>
          <a:p>
            <a:r>
              <a:rPr lang="en-US" dirty="0"/>
              <a:t>------------------------------------------------------------</a:t>
            </a:r>
          </a:p>
          <a:p>
            <a:endParaRPr lang="en-US" dirty="0"/>
          </a:p>
          <a:p>
            <a:r>
              <a:rPr lang="en-US" dirty="0"/>
              <a:t>ESTIMATED TIME</a:t>
            </a:r>
          </a:p>
          <a:p>
            <a:endParaRPr lang="en-US" dirty="0"/>
          </a:p>
          <a:p>
            <a:r>
              <a:rPr lang="en-US" dirty="0"/>
              <a:t>Opening Discussion..................8 minutes</a:t>
            </a:r>
          </a:p>
          <a:p>
            <a:endParaRPr lang="en-US" dirty="0"/>
          </a:p>
          <a:p>
            <a:r>
              <a:rPr lang="en-US" dirty="0"/>
              <a:t>Architecture Explanation............15 minutes</a:t>
            </a:r>
          </a:p>
          <a:p>
            <a:endParaRPr lang="en-US" dirty="0"/>
          </a:p>
          <a:p>
            <a:r>
              <a:rPr lang="en-US" dirty="0"/>
              <a:t>Browser/Application/Database.........15 minutes</a:t>
            </a:r>
          </a:p>
          <a:p>
            <a:endParaRPr lang="en-US" dirty="0"/>
          </a:p>
          <a:p>
            <a:r>
              <a:rPr lang="en-US" dirty="0"/>
              <a:t>Real-World Examples..................7 minutes</a:t>
            </a:r>
          </a:p>
          <a:p>
            <a:endParaRPr lang="en-US" dirty="0"/>
          </a:p>
          <a:p>
            <a:r>
              <a:rPr lang="en-US" dirty="0"/>
              <a:t>Build Challenge......................10 minutes</a:t>
            </a:r>
          </a:p>
          <a:p>
            <a:endParaRPr lang="en-US" dirty="0"/>
          </a:p>
          <a:p>
            <a:r>
              <a:rPr lang="en-US" dirty="0"/>
              <a:t>Discussion &amp; Closing.................10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lesson should remain highly visual.</a:t>
            </a:r>
          </a:p>
          <a:p>
            <a:endParaRPr lang="en-US" dirty="0"/>
          </a:p>
          <a:p>
            <a:r>
              <a:rPr lang="en-US" dirty="0"/>
              <a:t>Keep returning to the architecture diagram.</a:t>
            </a:r>
          </a:p>
          <a:p>
            <a:endParaRPr lang="en-US" dirty="0"/>
          </a:p>
          <a:p>
            <a:r>
              <a:rPr lang="en-US" dirty="0"/>
              <a:t>Avoid:</a:t>
            </a:r>
          </a:p>
          <a:p>
            <a:endParaRPr lang="en-US" dirty="0"/>
          </a:p>
          <a:p>
            <a:r>
              <a:rPr lang="en-US" dirty="0"/>
              <a:t>• SQL syntax</a:t>
            </a:r>
          </a:p>
          <a:p>
            <a:r>
              <a:rPr lang="en-US" dirty="0"/>
              <a:t>• Database administration</a:t>
            </a:r>
          </a:p>
          <a:p>
            <a:r>
              <a:rPr lang="en-US" dirty="0"/>
              <a:t>• Connection strings</a:t>
            </a:r>
          </a:p>
          <a:p>
            <a:r>
              <a:rPr lang="en-US" dirty="0"/>
              <a:t>• Advanced Azure database configuration</a:t>
            </a:r>
          </a:p>
          <a:p>
            <a:r>
              <a:rPr lang="en-US" dirty="0"/>
              <a:t>• Entity Framework implementation</a:t>
            </a:r>
          </a:p>
          <a:p>
            <a:r>
              <a:rPr lang="en-US" dirty="0"/>
              <a:t>• Normalization</a:t>
            </a:r>
          </a:p>
          <a:p>
            <a:endParaRPr lang="en-US" dirty="0"/>
          </a:p>
          <a:p>
            <a:r>
              <a:rPr lang="en-US" dirty="0"/>
              <a:t>Those concepts come later.</a:t>
            </a:r>
          </a:p>
          <a:p>
            <a:endParaRPr lang="en-US" dirty="0"/>
          </a:p>
          <a:p>
            <a:r>
              <a:rPr lang="en-US" dirty="0"/>
              <a:t>The goal is to establish the mental model.</a:t>
            </a:r>
          </a:p>
          <a:p>
            <a:endParaRPr lang="en-US" dirty="0"/>
          </a:p>
          <a:p>
            <a:r>
              <a:rPr lang="en-US" dirty="0"/>
              <a:t>Students should leave knowing:</a:t>
            </a:r>
          </a:p>
          <a:p>
            <a:endParaRPr lang="en-US" dirty="0"/>
          </a:p>
          <a:p>
            <a:r>
              <a:rPr lang="en-US" dirty="0"/>
              <a:t>USER</a:t>
            </a:r>
          </a:p>
          <a:p>
            <a:r>
              <a:rPr lang="en-US" dirty="0"/>
              <a:t>Creates information.</a:t>
            </a:r>
          </a:p>
          <a:p>
            <a:endParaRPr lang="en-US" dirty="0"/>
          </a:p>
          <a:p>
            <a:r>
              <a:rPr lang="en-US" dirty="0"/>
              <a:t>BROWSER</a:t>
            </a:r>
          </a:p>
          <a:p>
            <a:r>
              <a:rPr lang="en-US" dirty="0"/>
              <a:t>Displays and requests information.</a:t>
            </a:r>
          </a:p>
          <a:p>
            <a:endParaRPr lang="en-US" dirty="0"/>
          </a:p>
          <a:p>
            <a:r>
              <a:rPr lang="en-US" dirty="0"/>
              <a:t>APPLICATION</a:t>
            </a:r>
          </a:p>
          <a:p>
            <a:r>
              <a:rPr lang="en-US" dirty="0"/>
              <a:t>Processes information.</a:t>
            </a:r>
          </a:p>
          <a:p>
            <a:endParaRPr lang="en-US" dirty="0"/>
          </a:p>
          <a:p>
            <a:r>
              <a:rPr lang="en-US" dirty="0"/>
              <a:t>DATABASE</a:t>
            </a:r>
          </a:p>
          <a:p>
            <a:r>
              <a:rPr lang="en-US" dirty="0"/>
              <a:t>Persists information.</a:t>
            </a:r>
          </a:p>
          <a:p>
            <a:endParaRPr lang="en-US" dirty="0"/>
          </a:p>
          <a:p>
            <a:r>
              <a:rPr lang="en-US" dirty="0"/>
              <a:t>Close with:</a:t>
            </a:r>
          </a:p>
          <a:p>
            <a:endParaRPr lang="en-US" dirty="0"/>
          </a:p>
          <a:p>
            <a:r>
              <a:rPr lang="en-US" dirty="0"/>
              <a:t>"Engineers..."</a:t>
            </a:r>
          </a:p>
          <a:p>
            <a:endParaRPr lang="en-US" dirty="0"/>
          </a:p>
          <a:p>
            <a:r>
              <a:rPr lang="en-US" dirty="0"/>
              <a:t>"Now we know where Atlas remembers."</a:t>
            </a:r>
          </a:p>
          <a:p>
            <a:endParaRPr lang="en-US" dirty="0"/>
          </a:p>
          <a:p>
            <a:r>
              <a:rPr lang="en-US" dirty="0"/>
              <a:t>"Next..."</a:t>
            </a:r>
          </a:p>
          <a:p>
            <a:endParaRPr lang="en-US" dirty="0"/>
          </a:p>
          <a:p>
            <a:r>
              <a:rPr lang="en-US" dirty="0"/>
              <a:t>"We need to decide exactly what it should remember."</a:t>
            </a:r>
          </a:p>
          <a:p>
            <a:endParaRPr lang="en-US" dirty="0"/>
          </a:p>
          <a:p>
            <a:r>
              <a:rPr lang="en-US" dirty="0"/>
              <a:t>============================================================</a:t>
            </a:r>
            <a:br>
              <a:rPr lang="en-US" dirty="0"/>
            </a:br>
            <a:r>
              <a:rPr lang="en-US" b="1" dirty="0"/>
              <a:t>Three emphasis points for you</a:t>
            </a:r>
          </a:p>
          <a:p>
            <a:r>
              <a:rPr lang="en-US" dirty="0"/>
              <a:t>I'd really hammer these three because they're going to become the foundation for everything that follows:</a:t>
            </a:r>
          </a:p>
          <a:p>
            <a:r>
              <a:rPr lang="en-US" b="1" dirty="0"/>
              <a:t>1. The browser is not the database.</a:t>
            </a:r>
          </a:p>
          <a:p>
            <a:r>
              <a:rPr lang="en-US" dirty="0"/>
              <a:t>Students coming from basic programming often assume that because they can see data on the screen, the browser must somehow be holding it.</a:t>
            </a:r>
          </a:p>
          <a:p>
            <a:r>
              <a:rPr lang="en-US" dirty="0"/>
              <a:t>That's an important misconception to eliminate early.</a:t>
            </a:r>
          </a:p>
          <a:p>
            <a:r>
              <a:rPr lang="en-US" b="1" dirty="0"/>
              <a:t>2. The application is the middleman.</a:t>
            </a:r>
          </a:p>
          <a:p>
            <a:r>
              <a:rPr lang="en-US" dirty="0"/>
              <a:t>This gives them a simple mental model for MVC + EF Core:</a:t>
            </a:r>
          </a:p>
          <a:p>
            <a:r>
              <a:rPr lang="en-US" b="1" dirty="0"/>
              <a:t>User → Application → Data</a:t>
            </a:r>
            <a:endParaRPr lang="en-US" dirty="0"/>
          </a:p>
          <a:p>
            <a:r>
              <a:rPr lang="en-US" dirty="0"/>
              <a:t>They don't need to understand every framework component yet.</a:t>
            </a:r>
          </a:p>
          <a:p>
            <a:r>
              <a:rPr lang="en-US" b="1" dirty="0"/>
              <a:t>3. Persistence is the difference between temporary and lasting information.</a:t>
            </a:r>
          </a:p>
          <a:p>
            <a:r>
              <a:rPr lang="en-US" dirty="0"/>
              <a:t>This is the concept I want them to remember most.</a:t>
            </a:r>
          </a:p>
          <a:p>
            <a:r>
              <a:rPr lang="en-US" b="1" dirty="0"/>
              <a:t>If the application can remember it tomorrow, we've persisted it.</a:t>
            </a:r>
            <a:endParaRPr lang="en-US" dirty="0"/>
          </a:p>
          <a:p>
            <a:r>
              <a:rPr lang="en-US" dirty="0"/>
              <a:t>And that sets us up perfectly for the next artifact:</a:t>
            </a:r>
          </a:p>
          <a:p>
            <a:r>
              <a:rPr lang="en-US" b="1" dirty="0"/>
              <a:t>Designing the Atlas </a:t>
            </a:r>
            <a:r>
              <a:rPr lang="en-US" b="1" dirty="0" err="1"/>
              <a:t>TaskFlow</a:t>
            </a:r>
            <a:r>
              <a:rPr lang="en-US" b="1" dirty="0"/>
              <a:t> Data Model</a:t>
            </a:r>
          </a:p>
          <a:p>
            <a:endParaRPr lang="en-US" dirty="0"/>
          </a:p>
          <a:p>
            <a:endParaRPr lang="en-US" dirty="0"/>
          </a:p>
        </p:txBody>
      </p:sp>
      <p:sp>
        <p:nvSpPr>
          <p:cNvPr id="4" name="Slide Number Placeholder 3"/>
          <p:cNvSpPr>
            <a:spLocks noGrp="1"/>
          </p:cNvSpPr>
          <p:nvPr>
            <p:ph type="sldNum" sz="quarter" idx="5"/>
          </p:nvPr>
        </p:nvSpPr>
        <p:spPr/>
        <p:txBody>
          <a:bodyPr/>
          <a:lstStyle/>
          <a:p>
            <a:fld id="{BFAFFB2A-FA1B-453E-A83D-1533B3FE308E}" type="slidenum">
              <a:rPr lang="en-US" smtClean="0"/>
              <a:t>2</a:t>
            </a:fld>
            <a:endParaRPr lang="en-US"/>
          </a:p>
        </p:txBody>
      </p:sp>
    </p:spTree>
    <p:extLst>
      <p:ext uri="{BB962C8B-B14F-4D97-AF65-F5344CB8AC3E}">
        <p14:creationId xmlns:p14="http://schemas.microsoft.com/office/powerpoint/2010/main" val="1321932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DESIGNING THE ATLAS TASKFLOW DATA MODEL</a:t>
            </a:r>
          </a:p>
          <a:p>
            <a:endParaRPr lang="en-US" dirty="0"/>
          </a:p>
          <a:p>
            <a:r>
              <a:rPr lang="en-US" dirty="0"/>
              <a:t>============================================================</a:t>
            </a:r>
          </a:p>
          <a:p>
            <a:endParaRPr lang="en-US" dirty="0"/>
          </a:p>
          <a:p>
            <a:r>
              <a:rPr lang="en-US" dirty="0"/>
              <a:t>SLIDE PURPOSE</a:t>
            </a:r>
          </a:p>
          <a:p>
            <a:endParaRPr lang="en-US" dirty="0"/>
          </a:p>
          <a:p>
            <a:r>
              <a:rPr lang="en-US" dirty="0"/>
              <a:t>Help students determine what information Atlas </a:t>
            </a:r>
            <a:r>
              <a:rPr lang="en-US" dirty="0" err="1"/>
              <a:t>TaskFlow</a:t>
            </a:r>
            <a:r>
              <a:rPr lang="en-US" dirty="0"/>
              <a:t> needs to</a:t>
            </a:r>
          </a:p>
          <a:p>
            <a:r>
              <a:rPr lang="en-US" dirty="0"/>
              <a:t>remember and how that information relates to other information.</a:t>
            </a:r>
          </a:p>
          <a:p>
            <a:endParaRPr lang="en-US" dirty="0"/>
          </a:p>
          <a:p>
            <a:r>
              <a:rPr lang="en-US" dirty="0"/>
              <a:t>Students will translate the requirements and user experience they</a:t>
            </a:r>
          </a:p>
          <a:p>
            <a:r>
              <a:rPr lang="en-US" dirty="0"/>
              <a:t>already created into a simple data model.</a:t>
            </a:r>
          </a:p>
          <a:p>
            <a:endParaRPr lang="en-US" dirty="0"/>
          </a:p>
          <a:p>
            <a:r>
              <a:rPr lang="en-US" dirty="0"/>
              <a:t>The objective is NOT to teach advanced database design.</a:t>
            </a:r>
          </a:p>
          <a:p>
            <a:endParaRPr lang="en-US" dirty="0"/>
          </a:p>
          <a:p>
            <a:r>
              <a:rPr lang="en-US" dirty="0"/>
              <a:t>The objective is to answer one engineering question:</a:t>
            </a:r>
          </a:p>
          <a:p>
            <a:endParaRPr lang="en-US" dirty="0"/>
          </a:p>
          <a:p>
            <a:r>
              <a:rPr lang="en-US" dirty="0"/>
              <a:t>"What information does Atlas </a:t>
            </a:r>
            <a:r>
              <a:rPr lang="en-US" dirty="0" err="1"/>
              <a:t>TaskFlow</a:t>
            </a:r>
            <a:r>
              <a:rPr lang="en-US" dirty="0"/>
              <a:t> need to remember?"</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"Last lesson, we figured out where Atlas </a:t>
            </a:r>
            <a:r>
              <a:rPr lang="en-US" dirty="0" err="1"/>
              <a:t>TaskFlow's</a:t>
            </a:r>
            <a:r>
              <a:rPr lang="en-US" dirty="0"/>
              <a:t> memory lives."</a:t>
            </a:r>
          </a:p>
          <a:p>
            <a:endParaRPr lang="en-US" dirty="0"/>
          </a:p>
          <a:p>
            <a:r>
              <a:rPr lang="en-US" dirty="0"/>
              <a:t>"Today, we have a different problem."</a:t>
            </a:r>
          </a:p>
          <a:p>
            <a:endParaRPr lang="en-US" dirty="0"/>
          </a:p>
          <a:p>
            <a:r>
              <a:rPr lang="en-US" dirty="0"/>
              <a:t>Pause.</a:t>
            </a:r>
          </a:p>
          <a:p>
            <a:endParaRPr lang="en-US" dirty="0"/>
          </a:p>
          <a:p>
            <a:r>
              <a:rPr lang="en-US" dirty="0"/>
              <a:t>"Before we build the memory..."</a:t>
            </a:r>
          </a:p>
          <a:p>
            <a:endParaRPr lang="en-US" dirty="0"/>
          </a:p>
          <a:p>
            <a:r>
              <a:rPr lang="en-US" dirty="0"/>
              <a:t>"We have to decide what goes into it."</a:t>
            </a:r>
          </a:p>
          <a:p>
            <a:endParaRPr lang="en-US" dirty="0"/>
          </a:p>
          <a:p>
            <a:r>
              <a:rPr lang="en-US" dirty="0"/>
              <a:t>------------------------------------------------------------</a:t>
            </a:r>
          </a:p>
          <a:p>
            <a:endParaRPr lang="en-US" dirty="0"/>
          </a:p>
          <a:p>
            <a:r>
              <a:rPr lang="en-US" dirty="0"/>
              <a:t>THE ENGINEERING QUESTION</a:t>
            </a:r>
          </a:p>
          <a:p>
            <a:endParaRPr lang="en-US" dirty="0"/>
          </a:p>
          <a:p>
            <a:r>
              <a:rPr lang="en-US" dirty="0"/>
              <a:t>Point to the question:</a:t>
            </a:r>
          </a:p>
          <a:p>
            <a:endParaRPr lang="en-US" dirty="0"/>
          </a:p>
          <a:p>
            <a:r>
              <a:rPr lang="en-US" dirty="0"/>
              <a:t>"What information does our application need to remember?"</a:t>
            </a:r>
          </a:p>
          <a:p>
            <a:endParaRPr lang="en-US" dirty="0"/>
          </a:p>
          <a:p>
            <a:r>
              <a:rPr lang="en-US" dirty="0"/>
              <a:t>Ask students:</a:t>
            </a:r>
          </a:p>
          <a:p>
            <a:endParaRPr lang="en-US" dirty="0"/>
          </a:p>
          <a:p>
            <a:r>
              <a:rPr lang="en-US" dirty="0"/>
              <a:t>"If Atlas </a:t>
            </a:r>
            <a:r>
              <a:rPr lang="en-US" dirty="0" err="1"/>
              <a:t>TaskFlow</a:t>
            </a:r>
            <a:r>
              <a:rPr lang="en-US" dirty="0"/>
              <a:t> were a real company..."</a:t>
            </a:r>
          </a:p>
          <a:p>
            <a:endParaRPr lang="en-US" dirty="0"/>
          </a:p>
          <a:p>
            <a:r>
              <a:rPr lang="en-US" dirty="0"/>
              <a:t>"What information would the application need tomorrow that it knows</a:t>
            </a:r>
          </a:p>
          <a:p>
            <a:r>
              <a:rPr lang="en-US" dirty="0"/>
              <a:t>today?"</a:t>
            </a:r>
          </a:p>
          <a:p>
            <a:endParaRPr lang="en-US" dirty="0"/>
          </a:p>
          <a:p>
            <a:r>
              <a:rPr lang="en-US" dirty="0"/>
              <a:t>Let students think.</a:t>
            </a:r>
          </a:p>
          <a:p>
            <a:endParaRPr lang="en-US" dirty="0"/>
          </a:p>
          <a:p>
            <a:r>
              <a:rPr lang="en-US" dirty="0"/>
              <a:t>Then explain:</a:t>
            </a:r>
          </a:p>
          <a:p>
            <a:endParaRPr lang="en-US" dirty="0"/>
          </a:p>
          <a:p>
            <a:r>
              <a:rPr lang="en-US" dirty="0"/>
              <a:t>"That's what we're designing today."</a:t>
            </a:r>
          </a:p>
          <a:p>
            <a:endParaRPr lang="en-US" dirty="0"/>
          </a:p>
          <a:p>
            <a:r>
              <a:rPr lang="en-US" dirty="0"/>
              <a:t>------------------------------------------------------------</a:t>
            </a:r>
          </a:p>
          <a:p>
            <a:endParaRPr lang="en-US" dirty="0"/>
          </a:p>
          <a:p>
            <a:r>
              <a:rPr lang="en-US" dirty="0"/>
              <a:t>CONNECT TO SPRINT 3</a:t>
            </a:r>
          </a:p>
          <a:p>
            <a:endParaRPr lang="en-US" dirty="0"/>
          </a:p>
          <a:p>
            <a:r>
              <a:rPr lang="en-US" dirty="0"/>
              <a:t>Remind students:</a:t>
            </a:r>
          </a:p>
          <a:p>
            <a:endParaRPr lang="en-US" dirty="0"/>
          </a:p>
          <a:p>
            <a:r>
              <a:rPr lang="en-US" dirty="0"/>
              <a:t>"Remember Sprint 3?"</a:t>
            </a:r>
          </a:p>
          <a:p>
            <a:endParaRPr lang="en-US" dirty="0"/>
          </a:p>
          <a:p>
            <a:r>
              <a:rPr lang="en-US" dirty="0"/>
              <a:t>"You created requirements."</a:t>
            </a:r>
          </a:p>
          <a:p>
            <a:endParaRPr lang="en-US" dirty="0"/>
          </a:p>
          <a:p>
            <a:r>
              <a:rPr lang="en-US" dirty="0"/>
              <a:t>"You created personas."</a:t>
            </a:r>
          </a:p>
          <a:p>
            <a:endParaRPr lang="en-US" dirty="0"/>
          </a:p>
          <a:p>
            <a:r>
              <a:rPr lang="en-US" dirty="0"/>
              <a:t>"You mapped user journeys."</a:t>
            </a:r>
          </a:p>
          <a:p>
            <a:endParaRPr lang="en-US" dirty="0"/>
          </a:p>
          <a:p>
            <a:r>
              <a:rPr lang="en-US" dirty="0"/>
              <a:t>"You designed </a:t>
            </a:r>
            <a:r>
              <a:rPr lang="en-US" dirty="0" err="1"/>
              <a:t>TaskFlow</a:t>
            </a:r>
            <a:r>
              <a:rPr lang="en-US" dirty="0"/>
              <a:t>."</a:t>
            </a:r>
          </a:p>
          <a:p>
            <a:endParaRPr lang="en-US" dirty="0"/>
          </a:p>
          <a:p>
            <a:r>
              <a:rPr lang="en-US" dirty="0"/>
              <a:t>Now say:</a:t>
            </a:r>
          </a:p>
          <a:p>
            <a:endParaRPr lang="en-US" dirty="0"/>
          </a:p>
          <a:p>
            <a:r>
              <a:rPr lang="en-US" dirty="0"/>
              <a:t>"All of that work gives us clues about our data."</a:t>
            </a:r>
          </a:p>
          <a:p>
            <a:endParaRPr lang="en-US" dirty="0"/>
          </a:p>
          <a:p>
            <a:r>
              <a:rPr lang="en-US" dirty="0"/>
              <a:t>This is important:</a:t>
            </a:r>
          </a:p>
          <a:p>
            <a:endParaRPr lang="en-US" dirty="0"/>
          </a:p>
          <a:p>
            <a:r>
              <a:rPr lang="en-US" dirty="0"/>
              <a:t>"We aren't inventing data."</a:t>
            </a:r>
          </a:p>
          <a:p>
            <a:endParaRPr lang="en-US" dirty="0"/>
          </a:p>
          <a:p>
            <a:r>
              <a:rPr lang="en-US" dirty="0"/>
              <a:t>"We're discovering data from the requirements."</a:t>
            </a:r>
          </a:p>
          <a:p>
            <a:endParaRPr lang="en-US" dirty="0"/>
          </a:p>
          <a:p>
            <a:r>
              <a:rPr lang="en-US" dirty="0"/>
              <a:t>------------------------------------------------------------</a:t>
            </a:r>
          </a:p>
          <a:p>
            <a:endParaRPr lang="en-US" dirty="0"/>
          </a:p>
          <a:p>
            <a:r>
              <a:rPr lang="en-US" dirty="0"/>
              <a:t>WHAT IS A DATA MODEL?</a:t>
            </a:r>
          </a:p>
          <a:p>
            <a:endParaRPr lang="en-US" dirty="0"/>
          </a:p>
          <a:p>
            <a:r>
              <a:rPr lang="en-US" dirty="0"/>
              <a:t>Point to the definition.</a:t>
            </a:r>
          </a:p>
          <a:p>
            <a:endParaRPr lang="en-US" dirty="0"/>
          </a:p>
          <a:p>
            <a:r>
              <a:rPr lang="en-US" dirty="0"/>
              <a:t>"A data model is a visual representation of the information our</a:t>
            </a:r>
          </a:p>
          <a:p>
            <a:r>
              <a:rPr lang="en-US" dirty="0"/>
              <a:t>application needs to store and how that information relates to other</a:t>
            </a:r>
          </a:p>
          <a:p>
            <a:r>
              <a:rPr lang="en-US" dirty="0"/>
              <a:t>information."</a:t>
            </a:r>
          </a:p>
          <a:p>
            <a:endParaRPr lang="en-US" dirty="0"/>
          </a:p>
          <a:p>
            <a:r>
              <a:rPr lang="en-US" dirty="0"/>
              <a:t>Explain:</a:t>
            </a:r>
          </a:p>
          <a:p>
            <a:endParaRPr lang="en-US" dirty="0"/>
          </a:p>
          <a:p>
            <a:r>
              <a:rPr lang="en-US" dirty="0"/>
              <a:t>"Think of it as a blueprint."</a:t>
            </a:r>
          </a:p>
          <a:p>
            <a:endParaRPr lang="en-US" dirty="0"/>
          </a:p>
          <a:p>
            <a:r>
              <a:rPr lang="en-US" dirty="0"/>
              <a:t>"Before we build the database..."</a:t>
            </a:r>
          </a:p>
          <a:p>
            <a:endParaRPr lang="en-US" dirty="0"/>
          </a:p>
          <a:p>
            <a:r>
              <a:rPr lang="en-US" dirty="0"/>
              <a:t>"We decide what the database needs to contain."</a:t>
            </a:r>
          </a:p>
          <a:p>
            <a:endParaRPr lang="en-US" dirty="0"/>
          </a:p>
          <a:p>
            <a:r>
              <a:rPr lang="en-US" dirty="0"/>
              <a:t>------------------------------------------------------------</a:t>
            </a:r>
          </a:p>
          <a:p>
            <a:endParaRPr lang="en-US" dirty="0"/>
          </a:p>
          <a:p>
            <a:r>
              <a:rPr lang="en-US" dirty="0"/>
              <a:t>START WITH THE USER</a:t>
            </a:r>
          </a:p>
          <a:p>
            <a:endParaRPr lang="en-US" dirty="0"/>
          </a:p>
          <a:p>
            <a:r>
              <a:rPr lang="en-US" dirty="0"/>
              <a:t>Point to User.</a:t>
            </a:r>
          </a:p>
          <a:p>
            <a:endParaRPr lang="en-US" dirty="0"/>
          </a:p>
          <a:p>
            <a:r>
              <a:rPr lang="en-US" dirty="0"/>
              <a:t>Ask:</a:t>
            </a:r>
          </a:p>
          <a:p>
            <a:endParaRPr lang="en-US" dirty="0"/>
          </a:p>
          <a:p>
            <a:r>
              <a:rPr lang="en-US" dirty="0"/>
              <a:t>"Who uses Atlas </a:t>
            </a:r>
            <a:r>
              <a:rPr lang="en-US" dirty="0" err="1"/>
              <a:t>TaskFlow</a:t>
            </a:r>
            <a:r>
              <a:rPr lang="en-US" dirty="0"/>
              <a:t>?"</a:t>
            </a:r>
          </a:p>
          <a:p>
            <a:endParaRPr lang="en-US" dirty="0"/>
          </a:p>
          <a:p>
            <a:r>
              <a:rPr lang="en-US" dirty="0"/>
              <a:t>Students:</a:t>
            </a:r>
          </a:p>
          <a:p>
            <a:endParaRPr lang="en-US" dirty="0"/>
          </a:p>
          <a:p>
            <a:r>
              <a:rPr lang="en-US" dirty="0"/>
              <a:t>"Users."</a:t>
            </a:r>
          </a:p>
          <a:p>
            <a:endParaRPr lang="en-US" dirty="0"/>
          </a:p>
          <a:p>
            <a:r>
              <a:rPr lang="en-US" dirty="0"/>
              <a:t>Then ask:</a:t>
            </a:r>
          </a:p>
          <a:p>
            <a:endParaRPr lang="en-US" dirty="0"/>
          </a:p>
          <a:p>
            <a:r>
              <a:rPr lang="en-US" dirty="0"/>
              <a:t>"What do we need to know about a user?"</a:t>
            </a:r>
          </a:p>
          <a:p>
            <a:endParaRPr lang="en-US" dirty="0"/>
          </a:p>
          <a:p>
            <a:r>
              <a:rPr lang="en-US" dirty="0"/>
              <a:t>Possible answers:</a:t>
            </a:r>
          </a:p>
          <a:p>
            <a:endParaRPr lang="en-US" dirty="0"/>
          </a:p>
          <a:p>
            <a:r>
              <a:rPr lang="en-US" dirty="0"/>
              <a:t>Name.</a:t>
            </a:r>
          </a:p>
          <a:p>
            <a:endParaRPr lang="en-US" dirty="0"/>
          </a:p>
          <a:p>
            <a:r>
              <a:rPr lang="en-US" dirty="0"/>
              <a:t>Email.</a:t>
            </a:r>
          </a:p>
          <a:p>
            <a:endParaRPr lang="en-US" dirty="0"/>
          </a:p>
          <a:p>
            <a:r>
              <a:rPr lang="en-US" dirty="0"/>
              <a:t>Account information.</a:t>
            </a:r>
          </a:p>
          <a:p>
            <a:endParaRPr lang="en-US" dirty="0"/>
          </a:p>
          <a:p>
            <a:r>
              <a:rPr lang="en-US" dirty="0"/>
              <a:t>Explain:</a:t>
            </a:r>
          </a:p>
          <a:p>
            <a:endParaRPr lang="en-US" dirty="0"/>
          </a:p>
          <a:p>
            <a:r>
              <a:rPr lang="en-US" dirty="0"/>
              <a:t>"We only store information the application actually needs."</a:t>
            </a:r>
          </a:p>
          <a:p>
            <a:endParaRPr lang="en-US" dirty="0"/>
          </a:p>
          <a:p>
            <a:r>
              <a:rPr lang="en-US" dirty="0"/>
              <a:t>This introduces the principle:</a:t>
            </a:r>
          </a:p>
          <a:p>
            <a:endParaRPr lang="en-US" dirty="0"/>
          </a:p>
          <a:p>
            <a:r>
              <a:rPr lang="en-US" dirty="0"/>
              <a:t>Store What Matters.</a:t>
            </a:r>
          </a:p>
          <a:p>
            <a:endParaRPr lang="en-US" dirty="0"/>
          </a:p>
          <a:p>
            <a:r>
              <a:rPr lang="en-US" dirty="0"/>
              <a:t>------------------------------------------------------------</a:t>
            </a:r>
          </a:p>
          <a:p>
            <a:endParaRPr lang="en-US" dirty="0"/>
          </a:p>
          <a:p>
            <a:r>
              <a:rPr lang="en-US" dirty="0"/>
              <a:t>MOVE TO PROJECTS</a:t>
            </a:r>
          </a:p>
          <a:p>
            <a:endParaRPr lang="en-US" dirty="0"/>
          </a:p>
          <a:p>
            <a:r>
              <a:rPr lang="en-US" dirty="0"/>
              <a:t>Point to Project.</a:t>
            </a:r>
          </a:p>
          <a:p>
            <a:endParaRPr lang="en-US" dirty="0"/>
          </a:p>
          <a:p>
            <a:r>
              <a:rPr lang="en-US" dirty="0"/>
              <a:t>Ask:</a:t>
            </a:r>
          </a:p>
          <a:p>
            <a:endParaRPr lang="en-US" dirty="0"/>
          </a:p>
          <a:p>
            <a:r>
              <a:rPr lang="en-US" dirty="0"/>
              <a:t>"What does a user actually manage in </a:t>
            </a:r>
            <a:r>
              <a:rPr lang="en-US" dirty="0" err="1"/>
              <a:t>TaskFlow</a:t>
            </a:r>
            <a:r>
              <a:rPr lang="en-US" dirty="0"/>
              <a:t>?"</a:t>
            </a:r>
          </a:p>
          <a:p>
            <a:endParaRPr lang="en-US" dirty="0"/>
          </a:p>
          <a:p>
            <a:r>
              <a:rPr lang="en-US" dirty="0"/>
              <a:t>Students:</a:t>
            </a:r>
          </a:p>
          <a:p>
            <a:endParaRPr lang="en-US" dirty="0"/>
          </a:p>
          <a:p>
            <a:r>
              <a:rPr lang="en-US" dirty="0"/>
              <a:t>"Projects."</a:t>
            </a:r>
          </a:p>
          <a:p>
            <a:endParaRPr lang="en-US" dirty="0"/>
          </a:p>
          <a:p>
            <a:r>
              <a:rPr lang="en-US" dirty="0"/>
              <a:t>Explain:</a:t>
            </a:r>
          </a:p>
          <a:p>
            <a:endParaRPr lang="en-US" dirty="0"/>
          </a:p>
          <a:p>
            <a:r>
              <a:rPr lang="en-US" dirty="0"/>
              <a:t>"A user can have multiple projects."</a:t>
            </a:r>
          </a:p>
          <a:p>
            <a:endParaRPr lang="en-US" dirty="0"/>
          </a:p>
          <a:p>
            <a:r>
              <a:rPr lang="en-US" dirty="0"/>
              <a:t>Draw the relationship:</a:t>
            </a:r>
          </a:p>
          <a:p>
            <a:endParaRPr lang="en-US" dirty="0"/>
          </a:p>
          <a:p>
            <a:r>
              <a:rPr lang="en-US" dirty="0"/>
              <a:t>User</a:t>
            </a:r>
          </a:p>
          <a:p>
            <a:endParaRPr lang="en-US" dirty="0"/>
          </a:p>
          <a:p>
            <a:r>
              <a:rPr lang="en-US" dirty="0"/>
              <a:t>↓</a:t>
            </a:r>
          </a:p>
          <a:p>
            <a:endParaRPr lang="en-US" dirty="0"/>
          </a:p>
          <a:p>
            <a:r>
              <a:rPr lang="en-US" dirty="0"/>
              <a:t>Many Projects</a:t>
            </a:r>
          </a:p>
          <a:p>
            <a:endParaRPr lang="en-US" dirty="0"/>
          </a:p>
          <a:p>
            <a:r>
              <a:rPr lang="en-US" dirty="0"/>
              <a:t>Explain:</a:t>
            </a:r>
          </a:p>
          <a:p>
            <a:endParaRPr lang="en-US" dirty="0"/>
          </a:p>
          <a:p>
            <a:r>
              <a:rPr lang="en-US" dirty="0"/>
              <a:t>"One user can own multiple projects."</a:t>
            </a:r>
          </a:p>
          <a:p>
            <a:endParaRPr lang="en-US" dirty="0"/>
          </a:p>
          <a:p>
            <a:r>
              <a:rPr lang="en-US" dirty="0"/>
              <a:t>This is a:</a:t>
            </a:r>
          </a:p>
          <a:p>
            <a:endParaRPr lang="en-US" dirty="0"/>
          </a:p>
          <a:p>
            <a:r>
              <a:rPr lang="en-US" dirty="0"/>
              <a:t>**One-to-Many relationship.**</a:t>
            </a:r>
          </a:p>
          <a:p>
            <a:endParaRPr lang="en-US" dirty="0"/>
          </a:p>
          <a:p>
            <a:r>
              <a:rPr lang="en-US" dirty="0"/>
              <a:t>------------------------------------------------------------</a:t>
            </a:r>
          </a:p>
          <a:p>
            <a:endParaRPr lang="en-US" dirty="0"/>
          </a:p>
          <a:p>
            <a:r>
              <a:rPr lang="en-US" dirty="0"/>
              <a:t>MOVE TO TASKS</a:t>
            </a:r>
          </a:p>
          <a:p>
            <a:endParaRPr lang="en-US" dirty="0"/>
          </a:p>
          <a:p>
            <a:r>
              <a:rPr lang="en-US" dirty="0"/>
              <a:t>Ask:</a:t>
            </a:r>
          </a:p>
          <a:p>
            <a:endParaRPr lang="en-US" dirty="0"/>
          </a:p>
          <a:p>
            <a:r>
              <a:rPr lang="en-US" dirty="0"/>
              <a:t>"What is the main thing our users are trying to manage?"</a:t>
            </a:r>
          </a:p>
          <a:p>
            <a:endParaRPr lang="en-US" dirty="0"/>
          </a:p>
          <a:p>
            <a:r>
              <a:rPr lang="en-US" dirty="0"/>
              <a:t>Students:</a:t>
            </a:r>
          </a:p>
          <a:p>
            <a:endParaRPr lang="en-US" dirty="0"/>
          </a:p>
          <a:p>
            <a:r>
              <a:rPr lang="en-US" dirty="0"/>
              <a:t>"Tasks."</a:t>
            </a:r>
          </a:p>
          <a:p>
            <a:endParaRPr lang="en-US" dirty="0"/>
          </a:p>
          <a:p>
            <a:r>
              <a:rPr lang="en-US" dirty="0"/>
              <a:t>Exactly.</a:t>
            </a:r>
          </a:p>
          <a:p>
            <a:endParaRPr lang="en-US" dirty="0"/>
          </a:p>
          <a:p>
            <a:r>
              <a:rPr lang="en-US" dirty="0"/>
              <a:t>Explain:</a:t>
            </a:r>
          </a:p>
          <a:p>
            <a:endParaRPr lang="en-US" dirty="0"/>
          </a:p>
          <a:p>
            <a:r>
              <a:rPr lang="en-US" dirty="0"/>
              <a:t>"Projects contain tasks."</a:t>
            </a:r>
          </a:p>
          <a:p>
            <a:endParaRPr lang="en-US" dirty="0"/>
          </a:p>
          <a:p>
            <a:r>
              <a:rPr lang="en-US" dirty="0"/>
              <a:t>Draw:</a:t>
            </a:r>
          </a:p>
          <a:p>
            <a:endParaRPr lang="en-US" dirty="0"/>
          </a:p>
          <a:p>
            <a:r>
              <a:rPr lang="en-US" dirty="0"/>
              <a:t>Project</a:t>
            </a:r>
          </a:p>
          <a:p>
            <a:endParaRPr lang="en-US" dirty="0"/>
          </a:p>
          <a:p>
            <a:r>
              <a:rPr lang="en-US" dirty="0"/>
              <a:t>↓</a:t>
            </a:r>
          </a:p>
          <a:p>
            <a:endParaRPr lang="en-US" dirty="0"/>
          </a:p>
          <a:p>
            <a:r>
              <a:rPr lang="en-US" dirty="0"/>
              <a:t>Many Tasks</a:t>
            </a:r>
          </a:p>
          <a:p>
            <a:endParaRPr lang="en-US" dirty="0"/>
          </a:p>
          <a:p>
            <a:r>
              <a:rPr lang="en-US" dirty="0"/>
              <a:t>Then ask:</a:t>
            </a:r>
          </a:p>
          <a:p>
            <a:endParaRPr lang="en-US" dirty="0"/>
          </a:p>
          <a:p>
            <a:r>
              <a:rPr lang="en-US" dirty="0"/>
              <a:t>"What information does a task need?"</a:t>
            </a:r>
          </a:p>
          <a:p>
            <a:endParaRPr lang="en-US" dirty="0"/>
          </a:p>
          <a:p>
            <a:r>
              <a:rPr lang="en-US" dirty="0"/>
              <a:t>Students might identify:</a:t>
            </a:r>
          </a:p>
          <a:p>
            <a:endParaRPr lang="en-US" dirty="0"/>
          </a:p>
          <a:p>
            <a:r>
              <a:rPr lang="en-US" dirty="0"/>
              <a:t>Title.</a:t>
            </a:r>
          </a:p>
          <a:p>
            <a:endParaRPr lang="en-US" dirty="0"/>
          </a:p>
          <a:p>
            <a:r>
              <a:rPr lang="en-US" dirty="0"/>
              <a:t>Description.</a:t>
            </a:r>
          </a:p>
          <a:p>
            <a:endParaRPr lang="en-US" dirty="0"/>
          </a:p>
          <a:p>
            <a:r>
              <a:rPr lang="en-US" dirty="0"/>
              <a:t>Due date.</a:t>
            </a:r>
          </a:p>
          <a:p>
            <a:endParaRPr lang="en-US" dirty="0"/>
          </a:p>
          <a:p>
            <a:r>
              <a:rPr lang="en-US" dirty="0"/>
              <a:t>Priority.</a:t>
            </a:r>
          </a:p>
          <a:p>
            <a:endParaRPr lang="en-US" dirty="0"/>
          </a:p>
          <a:p>
            <a:r>
              <a:rPr lang="en-US" dirty="0"/>
              <a:t>Status.</a:t>
            </a:r>
          </a:p>
          <a:p>
            <a:endParaRPr lang="en-US" dirty="0"/>
          </a:p>
          <a:p>
            <a:r>
              <a:rPr lang="en-US" dirty="0"/>
              <a:t>Explain:</a:t>
            </a:r>
          </a:p>
          <a:p>
            <a:endParaRPr lang="en-US" dirty="0"/>
          </a:p>
          <a:p>
            <a:r>
              <a:rPr lang="en-US" dirty="0"/>
              <a:t>"This is where our requirements become data."</a:t>
            </a:r>
          </a:p>
          <a:p>
            <a:endParaRPr lang="en-US" dirty="0"/>
          </a:p>
          <a:p>
            <a:r>
              <a:rPr lang="en-US" dirty="0"/>
              <a:t>------------------------------------------------------------</a:t>
            </a:r>
          </a:p>
          <a:p>
            <a:endParaRPr lang="en-US" dirty="0"/>
          </a:p>
          <a:p>
            <a:r>
              <a:rPr lang="en-US" dirty="0"/>
              <a:t>STATUS</a:t>
            </a:r>
          </a:p>
          <a:p>
            <a:endParaRPr lang="en-US" dirty="0"/>
          </a:p>
          <a:p>
            <a:r>
              <a:rPr lang="en-US" dirty="0"/>
              <a:t>Point to Status.</a:t>
            </a:r>
          </a:p>
          <a:p>
            <a:endParaRPr lang="en-US" dirty="0"/>
          </a:p>
          <a:p>
            <a:r>
              <a:rPr lang="en-US" dirty="0"/>
              <a:t>Ask:</a:t>
            </a:r>
          </a:p>
          <a:p>
            <a:endParaRPr lang="en-US" dirty="0"/>
          </a:p>
          <a:p>
            <a:r>
              <a:rPr lang="en-US" dirty="0"/>
              <a:t>"How does a user know where a task stands?"</a:t>
            </a:r>
          </a:p>
          <a:p>
            <a:endParaRPr lang="en-US" dirty="0"/>
          </a:p>
          <a:p>
            <a:r>
              <a:rPr lang="en-US" dirty="0"/>
              <a:t>Possible answers:</a:t>
            </a:r>
          </a:p>
          <a:p>
            <a:endParaRPr lang="en-US" dirty="0"/>
          </a:p>
          <a:p>
            <a:r>
              <a:rPr lang="en-US" dirty="0"/>
              <a:t>To Do.</a:t>
            </a:r>
          </a:p>
          <a:p>
            <a:endParaRPr lang="en-US" dirty="0"/>
          </a:p>
          <a:p>
            <a:r>
              <a:rPr lang="en-US" dirty="0"/>
              <a:t>In Progress.</a:t>
            </a:r>
          </a:p>
          <a:p>
            <a:endParaRPr lang="en-US" dirty="0"/>
          </a:p>
          <a:p>
            <a:r>
              <a:rPr lang="en-US" dirty="0"/>
              <a:t>Complete.</a:t>
            </a:r>
          </a:p>
          <a:p>
            <a:endParaRPr lang="en-US" dirty="0"/>
          </a:p>
          <a:p>
            <a:r>
              <a:rPr lang="en-US" dirty="0"/>
              <a:t>Explain:</a:t>
            </a:r>
          </a:p>
          <a:p>
            <a:endParaRPr lang="en-US" dirty="0"/>
          </a:p>
          <a:p>
            <a:r>
              <a:rPr lang="en-US" dirty="0"/>
              <a:t>"Status is information too."</a:t>
            </a:r>
          </a:p>
          <a:p>
            <a:endParaRPr lang="en-US" dirty="0"/>
          </a:p>
          <a:p>
            <a:r>
              <a:rPr lang="en-US" dirty="0"/>
              <a:t>Instead of storing arbitrary text everywhere, we can represent</a:t>
            </a:r>
          </a:p>
          <a:p>
            <a:r>
              <a:rPr lang="en-US" dirty="0"/>
              <a:t>statuses in a structured way.</a:t>
            </a:r>
          </a:p>
          <a:p>
            <a:endParaRPr lang="en-US" dirty="0"/>
          </a:p>
          <a:p>
            <a:r>
              <a:rPr lang="en-US" dirty="0"/>
              <a:t>For example:</a:t>
            </a:r>
          </a:p>
          <a:p>
            <a:endParaRPr lang="en-US" dirty="0"/>
          </a:p>
          <a:p>
            <a:r>
              <a:rPr lang="en-US" dirty="0"/>
              <a:t>To Do</a:t>
            </a:r>
          </a:p>
          <a:p>
            <a:endParaRPr lang="en-US" dirty="0"/>
          </a:p>
          <a:p>
            <a:r>
              <a:rPr lang="en-US" dirty="0"/>
              <a:t>In Progress</a:t>
            </a:r>
          </a:p>
          <a:p>
            <a:endParaRPr lang="en-US" dirty="0"/>
          </a:p>
          <a:p>
            <a:r>
              <a:rPr lang="en-US" dirty="0"/>
              <a:t>Done</a:t>
            </a:r>
          </a:p>
          <a:p>
            <a:endParaRPr lang="en-US" dirty="0"/>
          </a:p>
          <a:p>
            <a:r>
              <a:rPr lang="en-US" dirty="0"/>
              <a:t>This gives us consistency.</a:t>
            </a:r>
          </a:p>
          <a:p>
            <a:endParaRPr lang="en-US" dirty="0"/>
          </a:p>
          <a:p>
            <a:r>
              <a:rPr lang="en-US" dirty="0"/>
              <a:t>------------------------------------------------------------</a:t>
            </a:r>
          </a:p>
          <a:p>
            <a:endParaRPr lang="en-US" dirty="0"/>
          </a:p>
          <a:p>
            <a:r>
              <a:rPr lang="en-US" dirty="0"/>
              <a:t>CATEGORY</a:t>
            </a:r>
          </a:p>
          <a:p>
            <a:endParaRPr lang="en-US" dirty="0"/>
          </a:p>
          <a:p>
            <a:r>
              <a:rPr lang="en-US" dirty="0"/>
              <a:t>Point to Category.</a:t>
            </a:r>
          </a:p>
          <a:p>
            <a:endParaRPr lang="en-US" dirty="0"/>
          </a:p>
          <a:p>
            <a:r>
              <a:rPr lang="en-US" dirty="0"/>
              <a:t>Ask:</a:t>
            </a:r>
          </a:p>
          <a:p>
            <a:endParaRPr lang="en-US" dirty="0"/>
          </a:p>
          <a:p>
            <a:r>
              <a:rPr lang="en-US" dirty="0"/>
              <a:t>"Would users benefit from grouping or labeling tasks?"</a:t>
            </a:r>
          </a:p>
          <a:p>
            <a:endParaRPr lang="en-US" dirty="0"/>
          </a:p>
          <a:p>
            <a:r>
              <a:rPr lang="en-US" dirty="0"/>
              <a:t>Possible answers:</a:t>
            </a:r>
          </a:p>
          <a:p>
            <a:endParaRPr lang="en-US" dirty="0"/>
          </a:p>
          <a:p>
            <a:r>
              <a:rPr lang="en-US" dirty="0"/>
              <a:t>Development.</a:t>
            </a:r>
          </a:p>
          <a:p>
            <a:endParaRPr lang="en-US" dirty="0"/>
          </a:p>
          <a:p>
            <a:r>
              <a:rPr lang="en-US" dirty="0"/>
              <a:t>Design.</a:t>
            </a:r>
          </a:p>
          <a:p>
            <a:endParaRPr lang="en-US" dirty="0"/>
          </a:p>
          <a:p>
            <a:r>
              <a:rPr lang="en-US" dirty="0"/>
              <a:t>Testing.</a:t>
            </a:r>
          </a:p>
          <a:p>
            <a:endParaRPr lang="en-US" dirty="0"/>
          </a:p>
          <a:p>
            <a:r>
              <a:rPr lang="en-US" dirty="0"/>
              <a:t>Documentation.</a:t>
            </a:r>
          </a:p>
          <a:p>
            <a:endParaRPr lang="en-US" dirty="0"/>
          </a:p>
          <a:p>
            <a:r>
              <a:rPr lang="en-US" dirty="0"/>
              <a:t>Explain:</a:t>
            </a:r>
          </a:p>
          <a:p>
            <a:endParaRPr lang="en-US" dirty="0"/>
          </a:p>
          <a:p>
            <a:r>
              <a:rPr lang="en-US" dirty="0"/>
              <a:t>"That's another piece of information the application may need."</a:t>
            </a:r>
          </a:p>
          <a:p>
            <a:endParaRPr lang="en-US" dirty="0"/>
          </a:p>
          <a:p>
            <a:r>
              <a:rPr lang="en-US" dirty="0"/>
              <a:t>Then explain:</a:t>
            </a:r>
          </a:p>
          <a:p>
            <a:endParaRPr lang="en-US" dirty="0"/>
          </a:p>
          <a:p>
            <a:r>
              <a:rPr lang="en-US" dirty="0"/>
              <a:t>"Not every application needs every possible table."</a:t>
            </a:r>
          </a:p>
          <a:p>
            <a:endParaRPr lang="en-US" dirty="0"/>
          </a:p>
          <a:p>
            <a:r>
              <a:rPr lang="en-US" dirty="0"/>
              <a:t>"Remember our principle."</a:t>
            </a:r>
          </a:p>
          <a:p>
            <a:endParaRPr lang="en-US" dirty="0"/>
          </a:p>
          <a:p>
            <a:r>
              <a:rPr lang="en-US" dirty="0"/>
              <a:t>Point to:</a:t>
            </a:r>
          </a:p>
          <a:p>
            <a:endParaRPr lang="en-US" dirty="0"/>
          </a:p>
          <a:p>
            <a:r>
              <a:rPr lang="en-US" dirty="0"/>
              <a:t>KEEP IT SIMPLE.</a:t>
            </a:r>
          </a:p>
          <a:p>
            <a:endParaRPr lang="en-US" dirty="0"/>
          </a:p>
          <a:p>
            <a:r>
              <a:rPr lang="en-US" dirty="0"/>
              <a:t>------------------------------------------------------------</a:t>
            </a:r>
          </a:p>
          <a:p>
            <a:endParaRPr lang="en-US" dirty="0"/>
          </a:p>
          <a:p>
            <a:r>
              <a:rPr lang="en-US" dirty="0"/>
              <a:t>THE DATA MODEL</a:t>
            </a:r>
          </a:p>
          <a:p>
            <a:endParaRPr lang="en-US" dirty="0"/>
          </a:p>
          <a:p>
            <a:r>
              <a:rPr lang="en-US" dirty="0"/>
              <a:t>Now walk through the complete model.</a:t>
            </a:r>
          </a:p>
          <a:p>
            <a:endParaRPr lang="en-US" dirty="0"/>
          </a:p>
          <a:p>
            <a:r>
              <a:rPr lang="en-US" dirty="0"/>
              <a:t>User</a:t>
            </a:r>
          </a:p>
          <a:p>
            <a:endParaRPr lang="en-US" dirty="0"/>
          </a:p>
          <a:p>
            <a:r>
              <a:rPr lang="en-US" dirty="0"/>
              <a:t>↓</a:t>
            </a:r>
          </a:p>
          <a:p>
            <a:endParaRPr lang="en-US" dirty="0"/>
          </a:p>
          <a:p>
            <a:r>
              <a:rPr lang="en-US" dirty="0"/>
              <a:t>Project</a:t>
            </a:r>
          </a:p>
          <a:p>
            <a:endParaRPr lang="en-US" dirty="0"/>
          </a:p>
          <a:p>
            <a:r>
              <a:rPr lang="en-US" dirty="0"/>
              <a:t>↓</a:t>
            </a:r>
          </a:p>
          <a:p>
            <a:endParaRPr lang="en-US" dirty="0"/>
          </a:p>
          <a:p>
            <a:r>
              <a:rPr lang="en-US" dirty="0"/>
              <a:t>Task</a:t>
            </a:r>
          </a:p>
          <a:p>
            <a:endParaRPr lang="en-US" dirty="0"/>
          </a:p>
          <a:p>
            <a:r>
              <a:rPr lang="en-US" dirty="0"/>
              <a:t>↓</a:t>
            </a:r>
          </a:p>
          <a:p>
            <a:endParaRPr lang="en-US" dirty="0"/>
          </a:p>
          <a:p>
            <a:r>
              <a:rPr lang="en-US" dirty="0"/>
              <a:t>Status</a:t>
            </a:r>
          </a:p>
          <a:p>
            <a:endParaRPr lang="en-US" dirty="0"/>
          </a:p>
          <a:p>
            <a:r>
              <a:rPr lang="en-US" dirty="0"/>
              <a:t>And optionally:</a:t>
            </a:r>
          </a:p>
          <a:p>
            <a:endParaRPr lang="en-US" dirty="0"/>
          </a:p>
          <a:p>
            <a:r>
              <a:rPr lang="en-US" dirty="0"/>
              <a:t>Task</a:t>
            </a:r>
          </a:p>
          <a:p>
            <a:endParaRPr lang="en-US" dirty="0"/>
          </a:p>
          <a:p>
            <a:r>
              <a:rPr lang="en-US" dirty="0"/>
              <a:t>↕</a:t>
            </a:r>
          </a:p>
          <a:p>
            <a:endParaRPr lang="en-US" dirty="0"/>
          </a:p>
          <a:p>
            <a:r>
              <a:rPr lang="en-US" dirty="0"/>
              <a:t>Category</a:t>
            </a:r>
          </a:p>
          <a:p>
            <a:endParaRPr lang="en-US" dirty="0"/>
          </a:p>
          <a:p>
            <a:r>
              <a:rPr lang="en-US" dirty="0"/>
              <a:t>Explain:</a:t>
            </a:r>
          </a:p>
          <a:p>
            <a:endParaRPr lang="en-US" dirty="0"/>
          </a:p>
          <a:p>
            <a:r>
              <a:rPr lang="en-US" dirty="0"/>
              <a:t>"This is our initial model."</a:t>
            </a:r>
          </a:p>
          <a:p>
            <a:endParaRPr lang="en-US" dirty="0"/>
          </a:p>
          <a:p>
            <a:r>
              <a:rPr lang="en-US" dirty="0"/>
              <a:t>"It doesn't have to be perfect."</a:t>
            </a:r>
          </a:p>
          <a:p>
            <a:endParaRPr lang="en-US" dirty="0"/>
          </a:p>
          <a:p>
            <a:r>
              <a:rPr lang="en-US" dirty="0"/>
              <a:t>"It has to be useful."</a:t>
            </a:r>
          </a:p>
          <a:p>
            <a:endParaRPr lang="en-US" dirty="0"/>
          </a:p>
          <a:p>
            <a:r>
              <a:rPr lang="en-US" dirty="0"/>
              <a:t>------------------------------------------------------------</a:t>
            </a:r>
          </a:p>
          <a:p>
            <a:endParaRPr lang="en-US" dirty="0"/>
          </a:p>
          <a:p>
            <a:r>
              <a:rPr lang="en-US" dirty="0"/>
              <a:t>IMPORTANT EMPHASIS</a:t>
            </a:r>
          </a:p>
          <a:p>
            <a:endParaRPr lang="en-US" dirty="0"/>
          </a:p>
          <a:p>
            <a:r>
              <a:rPr lang="en-US" dirty="0"/>
              <a:t>Say:</a:t>
            </a:r>
          </a:p>
          <a:p>
            <a:endParaRPr lang="en-US" dirty="0"/>
          </a:p>
          <a:p>
            <a:r>
              <a:rPr lang="en-US" dirty="0"/>
              <a:t>"We are designing Version 1."</a:t>
            </a:r>
          </a:p>
          <a:p>
            <a:endParaRPr lang="en-US" dirty="0"/>
          </a:p>
          <a:p>
            <a:r>
              <a:rPr lang="en-US" dirty="0"/>
              <a:t>Not Version 10.</a:t>
            </a:r>
          </a:p>
          <a:p>
            <a:endParaRPr lang="en-US" dirty="0"/>
          </a:p>
          <a:p>
            <a:r>
              <a:rPr lang="en-US" dirty="0"/>
              <a:t>Not every possible future feature.</a:t>
            </a:r>
          </a:p>
          <a:p>
            <a:endParaRPr lang="en-US" dirty="0"/>
          </a:p>
          <a:p>
            <a:r>
              <a:rPr lang="en-US" dirty="0"/>
              <a:t>Just what Atlas needs right now.</a:t>
            </a:r>
          </a:p>
          <a:p>
            <a:endParaRPr lang="en-US" dirty="0"/>
          </a:p>
          <a:p>
            <a:r>
              <a:rPr lang="en-US" dirty="0"/>
              <a:t>This is an important engineering lesson:</a:t>
            </a:r>
          </a:p>
          <a:p>
            <a:endParaRPr lang="en-US" dirty="0"/>
          </a:p>
          <a:p>
            <a:r>
              <a:rPr lang="en-US" dirty="0"/>
              <a:t>**Design for today's requirements while leaving room for tomorrow.**</a:t>
            </a:r>
          </a:p>
          <a:p>
            <a:endParaRPr lang="en-US" dirty="0"/>
          </a:p>
          <a:p>
            <a:r>
              <a:rPr lang="en-US" dirty="0"/>
              <a:t>------------------------------------------------------------</a:t>
            </a:r>
          </a:p>
          <a:p>
            <a:endParaRPr lang="en-US" dirty="0"/>
          </a:p>
          <a:p>
            <a:r>
              <a:rPr lang="en-US" dirty="0"/>
              <a:t>PRIMARY KEYS</a:t>
            </a:r>
          </a:p>
          <a:p>
            <a:endParaRPr lang="en-US" dirty="0"/>
          </a:p>
          <a:p>
            <a:r>
              <a:rPr lang="en-US" dirty="0"/>
              <a:t>Point to the IDs.</a:t>
            </a:r>
          </a:p>
          <a:p>
            <a:endParaRPr lang="en-US" dirty="0"/>
          </a:p>
          <a:p>
            <a:r>
              <a:rPr lang="en-US" dirty="0" err="1"/>
              <a:t>UserId</a:t>
            </a:r>
            <a:r>
              <a:rPr lang="en-US" dirty="0"/>
              <a:t>.</a:t>
            </a:r>
          </a:p>
          <a:p>
            <a:endParaRPr lang="en-US" dirty="0"/>
          </a:p>
          <a:p>
            <a:r>
              <a:rPr lang="en-US" dirty="0" err="1"/>
              <a:t>ProjectId</a:t>
            </a:r>
            <a:r>
              <a:rPr lang="en-US" dirty="0"/>
              <a:t>.</a:t>
            </a:r>
          </a:p>
          <a:p>
            <a:endParaRPr lang="en-US" dirty="0"/>
          </a:p>
          <a:p>
            <a:r>
              <a:rPr lang="en-US" dirty="0" err="1"/>
              <a:t>TaskId</a:t>
            </a:r>
            <a:r>
              <a:rPr lang="en-US" dirty="0"/>
              <a:t>.</a:t>
            </a:r>
          </a:p>
          <a:p>
            <a:endParaRPr lang="en-US" dirty="0"/>
          </a:p>
          <a:p>
            <a:r>
              <a:rPr lang="en-US" dirty="0" err="1"/>
              <a:t>StatusId</a:t>
            </a:r>
            <a:r>
              <a:rPr lang="en-US" dirty="0"/>
              <a:t>.</a:t>
            </a:r>
          </a:p>
          <a:p>
            <a:endParaRPr lang="en-US" dirty="0"/>
          </a:p>
          <a:p>
            <a:r>
              <a:rPr lang="en-US" dirty="0" err="1"/>
              <a:t>CategoryId</a:t>
            </a:r>
            <a:r>
              <a:rPr lang="en-US" dirty="0"/>
              <a:t>.</a:t>
            </a:r>
          </a:p>
          <a:p>
            <a:endParaRPr lang="en-US" dirty="0"/>
          </a:p>
          <a:p>
            <a:r>
              <a:rPr lang="en-US" dirty="0"/>
              <a:t>Explain:</a:t>
            </a:r>
          </a:p>
          <a:p>
            <a:endParaRPr lang="en-US" dirty="0"/>
          </a:p>
          <a:p>
            <a:r>
              <a:rPr lang="en-US" dirty="0"/>
              <a:t>"Each record needs a way to be uniquely identified."</a:t>
            </a:r>
          </a:p>
          <a:p>
            <a:endParaRPr lang="en-US" dirty="0"/>
          </a:p>
          <a:p>
            <a:r>
              <a:rPr lang="en-US" dirty="0"/>
              <a:t>"For example..."</a:t>
            </a:r>
          </a:p>
          <a:p>
            <a:endParaRPr lang="en-US" dirty="0"/>
          </a:p>
          <a:p>
            <a:r>
              <a:rPr lang="en-US" dirty="0"/>
              <a:t>"If we have two users named Alex..."</a:t>
            </a:r>
          </a:p>
          <a:p>
            <a:endParaRPr lang="en-US" dirty="0"/>
          </a:p>
          <a:p>
            <a:r>
              <a:rPr lang="en-US" dirty="0"/>
              <a:t>"Their names aren't enough to tell them apart."</a:t>
            </a:r>
          </a:p>
          <a:p>
            <a:endParaRPr lang="en-US" dirty="0"/>
          </a:p>
          <a:p>
            <a:r>
              <a:rPr lang="en-US" dirty="0"/>
              <a:t>"The </a:t>
            </a:r>
            <a:r>
              <a:rPr lang="en-US" dirty="0" err="1"/>
              <a:t>UserId</a:t>
            </a:r>
            <a:r>
              <a:rPr lang="en-US" dirty="0"/>
              <a:t> gives each record a unique identity."</a:t>
            </a:r>
          </a:p>
          <a:p>
            <a:endParaRPr lang="en-US" dirty="0"/>
          </a:p>
          <a:p>
            <a:r>
              <a:rPr lang="en-US" dirty="0"/>
              <a:t>Keep the explanation simple.</a:t>
            </a:r>
          </a:p>
          <a:p>
            <a:endParaRPr lang="en-US" dirty="0"/>
          </a:p>
          <a:p>
            <a:r>
              <a:rPr lang="en-US" dirty="0"/>
              <a:t>------------------------------------------------------------</a:t>
            </a:r>
          </a:p>
          <a:p>
            <a:endParaRPr lang="en-US" dirty="0"/>
          </a:p>
          <a:p>
            <a:r>
              <a:rPr lang="en-US" dirty="0"/>
              <a:t>FOREIGN KEYS</a:t>
            </a:r>
          </a:p>
          <a:p>
            <a:endParaRPr lang="en-US" dirty="0"/>
          </a:p>
          <a:p>
            <a:r>
              <a:rPr lang="en-US" dirty="0"/>
              <a:t>Point to:</a:t>
            </a:r>
          </a:p>
          <a:p>
            <a:endParaRPr lang="en-US" dirty="0"/>
          </a:p>
          <a:p>
            <a:r>
              <a:rPr lang="en-US" dirty="0" err="1"/>
              <a:t>Project.UserId</a:t>
            </a:r>
            <a:endParaRPr lang="en-US" dirty="0"/>
          </a:p>
          <a:p>
            <a:endParaRPr lang="en-US" dirty="0"/>
          </a:p>
          <a:p>
            <a:r>
              <a:rPr lang="en-US" dirty="0" err="1"/>
              <a:t>Task.ProjectId</a:t>
            </a:r>
            <a:endParaRPr lang="en-US" dirty="0"/>
          </a:p>
          <a:p>
            <a:endParaRPr lang="en-US" dirty="0"/>
          </a:p>
          <a:p>
            <a:r>
              <a:rPr lang="en-US" dirty="0" err="1"/>
              <a:t>Task.StatusId</a:t>
            </a:r>
            <a:endParaRPr lang="en-US" dirty="0"/>
          </a:p>
          <a:p>
            <a:endParaRPr lang="en-US" dirty="0"/>
          </a:p>
          <a:p>
            <a:r>
              <a:rPr lang="en-US" dirty="0"/>
              <a:t>Explain:</a:t>
            </a:r>
          </a:p>
          <a:p>
            <a:endParaRPr lang="en-US" dirty="0"/>
          </a:p>
          <a:p>
            <a:r>
              <a:rPr lang="en-US" dirty="0"/>
              <a:t>"These fields connect records together."</a:t>
            </a:r>
          </a:p>
          <a:p>
            <a:endParaRPr lang="en-US" dirty="0"/>
          </a:p>
          <a:p>
            <a:r>
              <a:rPr lang="en-US" dirty="0"/>
              <a:t>"For example..."</a:t>
            </a:r>
          </a:p>
          <a:p>
            <a:endParaRPr lang="en-US" dirty="0"/>
          </a:p>
          <a:p>
            <a:r>
              <a:rPr lang="en-US" dirty="0"/>
              <a:t>"</a:t>
            </a:r>
            <a:r>
              <a:rPr lang="en-US" dirty="0" err="1"/>
              <a:t>ProjectId</a:t>
            </a:r>
            <a:r>
              <a:rPr lang="en-US" dirty="0"/>
              <a:t> tells us which project a task belongs to."</a:t>
            </a:r>
          </a:p>
          <a:p>
            <a:endParaRPr lang="en-US" dirty="0"/>
          </a:p>
          <a:p>
            <a:r>
              <a:rPr lang="en-US" dirty="0"/>
              <a:t>"</a:t>
            </a:r>
            <a:r>
              <a:rPr lang="en-US" dirty="0" err="1"/>
              <a:t>UserId</a:t>
            </a:r>
            <a:r>
              <a:rPr lang="en-US" dirty="0"/>
              <a:t> tells us which user owns a project."</a:t>
            </a:r>
          </a:p>
          <a:p>
            <a:endParaRPr lang="en-US" dirty="0"/>
          </a:p>
          <a:p>
            <a:r>
              <a:rPr lang="en-US" dirty="0"/>
              <a:t>This is the key idea:</a:t>
            </a:r>
          </a:p>
          <a:p>
            <a:endParaRPr lang="en-US" dirty="0"/>
          </a:p>
          <a:p>
            <a:r>
              <a:rPr lang="en-US" dirty="0"/>
              <a:t>**Primary keys identify.**</a:t>
            </a:r>
          </a:p>
          <a:p>
            <a:endParaRPr lang="en-US" dirty="0"/>
          </a:p>
          <a:p>
            <a:r>
              <a:rPr lang="en-US" dirty="0"/>
              <a:t>**Foreign keys connect.**</a:t>
            </a:r>
          </a:p>
          <a:p>
            <a:endParaRPr lang="en-US" dirty="0"/>
          </a:p>
          <a:p>
            <a:r>
              <a:rPr lang="en-US" dirty="0"/>
              <a:t>Repeat it.</a:t>
            </a:r>
          </a:p>
          <a:p>
            <a:endParaRPr lang="en-US" dirty="0"/>
          </a:p>
          <a:p>
            <a:r>
              <a:rPr lang="en-US" dirty="0"/>
              <a:t>------------------------------------------------------------</a:t>
            </a:r>
          </a:p>
          <a:p>
            <a:endParaRPr lang="en-US" dirty="0"/>
          </a:p>
          <a:p>
            <a:r>
              <a:rPr lang="en-US" dirty="0"/>
              <a:t>RELATIONSHIPS</a:t>
            </a:r>
          </a:p>
          <a:p>
            <a:endParaRPr lang="en-US" dirty="0"/>
          </a:p>
          <a:p>
            <a:r>
              <a:rPr lang="en-US" dirty="0"/>
              <a:t>Point to the relationship examples.</a:t>
            </a:r>
          </a:p>
          <a:p>
            <a:endParaRPr lang="en-US" dirty="0"/>
          </a:p>
          <a:p>
            <a:r>
              <a:rPr lang="en-US" dirty="0"/>
              <a:t>1 to 1</a:t>
            </a:r>
          </a:p>
          <a:p>
            <a:endParaRPr lang="en-US" dirty="0"/>
          </a:p>
          <a:p>
            <a:r>
              <a:rPr lang="en-US" dirty="0"/>
              <a:t>1 to Many</a:t>
            </a:r>
          </a:p>
          <a:p>
            <a:endParaRPr lang="en-US" dirty="0"/>
          </a:p>
          <a:p>
            <a:r>
              <a:rPr lang="en-US" dirty="0"/>
              <a:t>Many to Many</a:t>
            </a:r>
          </a:p>
          <a:p>
            <a:endParaRPr lang="en-US" dirty="0"/>
          </a:p>
          <a:p>
            <a:r>
              <a:rPr lang="en-US" dirty="0"/>
              <a:t>Explain:</a:t>
            </a:r>
          </a:p>
          <a:p>
            <a:endParaRPr lang="en-US" dirty="0"/>
          </a:p>
          <a:p>
            <a:r>
              <a:rPr lang="en-US" dirty="0"/>
              <a:t>"We don't need to master every database relationship today."</a:t>
            </a:r>
          </a:p>
          <a:p>
            <a:endParaRPr lang="en-US" dirty="0"/>
          </a:p>
          <a:p>
            <a:r>
              <a:rPr lang="en-US" dirty="0"/>
              <a:t>"We need to recognize how information relates."</a:t>
            </a:r>
          </a:p>
          <a:p>
            <a:endParaRPr lang="en-US" dirty="0"/>
          </a:p>
          <a:p>
            <a:r>
              <a:rPr lang="en-US" dirty="0"/>
              <a:t>Use Atlas examples.</a:t>
            </a:r>
          </a:p>
          <a:p>
            <a:endParaRPr lang="en-US" dirty="0"/>
          </a:p>
          <a:p>
            <a:r>
              <a:rPr lang="en-US" dirty="0"/>
              <a:t>One User → Many Projects.</a:t>
            </a:r>
          </a:p>
          <a:p>
            <a:endParaRPr lang="en-US" dirty="0"/>
          </a:p>
          <a:p>
            <a:r>
              <a:rPr lang="en-US" dirty="0"/>
              <a:t>One Project → Many Tasks.</a:t>
            </a:r>
          </a:p>
          <a:p>
            <a:endParaRPr lang="en-US" dirty="0"/>
          </a:p>
          <a:p>
            <a:r>
              <a:rPr lang="en-US" dirty="0"/>
              <a:t>One Status → Many Tasks.</a:t>
            </a:r>
          </a:p>
          <a:p>
            <a:endParaRPr lang="en-US" dirty="0"/>
          </a:p>
          <a:p>
            <a:r>
              <a:rPr lang="en-US" dirty="0"/>
              <a:t>Then discuss Category as an optional future relationship.</a:t>
            </a:r>
          </a:p>
          <a:p>
            <a:endParaRPr lang="en-US" dirty="0"/>
          </a:p>
          <a:p>
            <a:r>
              <a:rPr lang="en-US" dirty="0"/>
              <a:t>------------------------------------------------------------</a:t>
            </a:r>
          </a:p>
          <a:p>
            <a:endParaRPr lang="en-US" dirty="0"/>
          </a:p>
          <a:p>
            <a:r>
              <a:rPr lang="en-US" dirty="0"/>
              <a:t>WHY RELATIONSHIPS MATTER</a:t>
            </a:r>
          </a:p>
          <a:p>
            <a:endParaRPr lang="en-US" dirty="0"/>
          </a:p>
          <a:p>
            <a:r>
              <a:rPr lang="en-US" dirty="0"/>
              <a:t>Ask:</a:t>
            </a:r>
          </a:p>
          <a:p>
            <a:endParaRPr lang="en-US" dirty="0"/>
          </a:p>
          <a:p>
            <a:r>
              <a:rPr lang="en-US" dirty="0"/>
              <a:t>"What happens if we don't connect our data?"</a:t>
            </a:r>
          </a:p>
          <a:p>
            <a:endParaRPr lang="en-US" dirty="0"/>
          </a:p>
          <a:p>
            <a:r>
              <a:rPr lang="en-US" dirty="0"/>
              <a:t>Guide students.</a:t>
            </a:r>
          </a:p>
          <a:p>
            <a:endParaRPr lang="en-US" dirty="0"/>
          </a:p>
          <a:p>
            <a:r>
              <a:rPr lang="en-US" dirty="0"/>
              <a:t>"We wouldn't know which task belongs to which project."</a:t>
            </a:r>
          </a:p>
          <a:p>
            <a:endParaRPr lang="en-US" dirty="0"/>
          </a:p>
          <a:p>
            <a:r>
              <a:rPr lang="en-US" dirty="0"/>
              <a:t>"We wouldn't know which project belongs to which user."</a:t>
            </a:r>
          </a:p>
          <a:p>
            <a:endParaRPr lang="en-US" dirty="0"/>
          </a:p>
          <a:p>
            <a:r>
              <a:rPr lang="en-US" dirty="0"/>
              <a:t>Explain:</a:t>
            </a:r>
          </a:p>
          <a:p>
            <a:endParaRPr lang="en-US" dirty="0"/>
          </a:p>
          <a:p>
            <a:r>
              <a:rPr lang="en-US" dirty="0"/>
              <a:t>"Relationships give our data meaning."</a:t>
            </a:r>
          </a:p>
          <a:p>
            <a:endParaRPr lang="en-US" dirty="0"/>
          </a:p>
          <a:p>
            <a:r>
              <a:rPr lang="en-US" dirty="0"/>
              <a:t>The database isn't just a collection of unrelated tables.</a:t>
            </a:r>
          </a:p>
          <a:p>
            <a:endParaRPr lang="en-US" dirty="0"/>
          </a:p>
          <a:p>
            <a:r>
              <a:rPr lang="en-US" dirty="0"/>
              <a:t>------------------------------------------------------------</a:t>
            </a:r>
          </a:p>
          <a:p>
            <a:endParaRPr lang="en-US" dirty="0"/>
          </a:p>
          <a:p>
            <a:r>
              <a:rPr lang="en-US" dirty="0"/>
              <a:t>EXAMPLE DATA</a:t>
            </a:r>
          </a:p>
          <a:p>
            <a:endParaRPr lang="en-US" dirty="0"/>
          </a:p>
          <a:p>
            <a:r>
              <a:rPr lang="en-US" dirty="0"/>
              <a:t>Point to the example tables.</a:t>
            </a:r>
          </a:p>
          <a:p>
            <a:endParaRPr lang="en-US" dirty="0"/>
          </a:p>
          <a:p>
            <a:r>
              <a:rPr lang="en-US" dirty="0"/>
              <a:t>Show:</a:t>
            </a:r>
          </a:p>
          <a:p>
            <a:endParaRPr lang="en-US" dirty="0"/>
          </a:p>
          <a:p>
            <a:r>
              <a:rPr lang="en-US" dirty="0"/>
              <a:t>Users.</a:t>
            </a:r>
          </a:p>
          <a:p>
            <a:endParaRPr lang="en-US" dirty="0"/>
          </a:p>
          <a:p>
            <a:r>
              <a:rPr lang="en-US" dirty="0"/>
              <a:t>Projects.</a:t>
            </a:r>
          </a:p>
          <a:p>
            <a:endParaRPr lang="en-US" dirty="0"/>
          </a:p>
          <a:p>
            <a:r>
              <a:rPr lang="en-US" dirty="0"/>
              <a:t>Tasks.</a:t>
            </a:r>
          </a:p>
          <a:p>
            <a:endParaRPr lang="en-US" dirty="0"/>
          </a:p>
          <a:p>
            <a:r>
              <a:rPr lang="en-US" dirty="0"/>
              <a:t>Statuses.</a:t>
            </a:r>
          </a:p>
          <a:p>
            <a:endParaRPr lang="en-US" dirty="0"/>
          </a:p>
          <a:p>
            <a:r>
              <a:rPr lang="en-US" dirty="0"/>
              <a:t>Categories.</a:t>
            </a:r>
          </a:p>
          <a:p>
            <a:endParaRPr lang="en-US" dirty="0"/>
          </a:p>
          <a:p>
            <a:r>
              <a:rPr lang="en-US" dirty="0"/>
              <a:t>Explain:</a:t>
            </a:r>
          </a:p>
          <a:p>
            <a:endParaRPr lang="en-US" dirty="0"/>
          </a:p>
          <a:p>
            <a:r>
              <a:rPr lang="en-US" dirty="0"/>
              <a:t>"This is what our data might actually look like."</a:t>
            </a:r>
          </a:p>
          <a:p>
            <a:endParaRPr lang="en-US" dirty="0"/>
          </a:p>
          <a:p>
            <a:r>
              <a:rPr lang="en-US" dirty="0"/>
              <a:t>We can have:</a:t>
            </a:r>
          </a:p>
          <a:p>
            <a:endParaRPr lang="en-US" dirty="0"/>
          </a:p>
          <a:p>
            <a:r>
              <a:rPr lang="en-US" dirty="0"/>
              <a:t>Alex → Website Redesign → Create Homepage</a:t>
            </a:r>
          </a:p>
          <a:p>
            <a:endParaRPr lang="en-US" dirty="0"/>
          </a:p>
          <a:p>
            <a:r>
              <a:rPr lang="en-US" dirty="0"/>
              <a:t>Taylor → Mobile App → Build Navigation</a:t>
            </a:r>
          </a:p>
          <a:p>
            <a:endParaRPr lang="en-US" dirty="0"/>
          </a:p>
          <a:p>
            <a:r>
              <a:rPr lang="en-US" dirty="0"/>
              <a:t>The exact data isn't important.</a:t>
            </a:r>
          </a:p>
          <a:p>
            <a:endParaRPr lang="en-US" dirty="0"/>
          </a:p>
          <a:p>
            <a:r>
              <a:rPr lang="en-US" dirty="0"/>
              <a:t>The relationships are.</a:t>
            </a:r>
          </a:p>
          <a:p>
            <a:endParaRPr lang="en-US" dirty="0"/>
          </a:p>
          <a:p>
            <a:r>
              <a:rPr lang="en-US" dirty="0"/>
              <a:t>------------------------------------------------------------</a:t>
            </a:r>
          </a:p>
          <a:p>
            <a:endParaRPr lang="en-US" dirty="0"/>
          </a:p>
          <a:p>
            <a:r>
              <a:rPr lang="en-US" dirty="0"/>
              <a:t>ENGINEERING INSIGHT</a:t>
            </a:r>
          </a:p>
          <a:p>
            <a:endParaRPr lang="en-US" dirty="0"/>
          </a:p>
          <a:p>
            <a:r>
              <a:rPr lang="en-US" dirty="0"/>
              <a:t>Point to the Engineering Insight panel.</a:t>
            </a:r>
          </a:p>
          <a:p>
            <a:endParaRPr lang="en-US" dirty="0"/>
          </a:p>
          <a:p>
            <a:r>
              <a:rPr lang="en-US" dirty="0"/>
              <a:t>"Good software starts with good design."</a:t>
            </a:r>
          </a:p>
          <a:p>
            <a:endParaRPr lang="en-US" dirty="0"/>
          </a:p>
          <a:p>
            <a:r>
              <a:rPr lang="en-US" dirty="0"/>
              <a:t>Explain:</a:t>
            </a:r>
          </a:p>
          <a:p>
            <a:endParaRPr lang="en-US" dirty="0"/>
          </a:p>
          <a:p>
            <a:r>
              <a:rPr lang="en-US" dirty="0"/>
              <a:t>"If we don't understand our data..."</a:t>
            </a:r>
          </a:p>
          <a:p>
            <a:endParaRPr lang="en-US" dirty="0"/>
          </a:p>
          <a:p>
            <a:r>
              <a:rPr lang="en-US" dirty="0"/>
              <a:t>"We're going to have problems later."</a:t>
            </a:r>
          </a:p>
          <a:p>
            <a:endParaRPr lang="en-US" dirty="0"/>
          </a:p>
          <a:p>
            <a:r>
              <a:rPr lang="en-US" dirty="0"/>
              <a:t>A clear data model helps with:</a:t>
            </a:r>
          </a:p>
          <a:p>
            <a:endParaRPr lang="en-US" dirty="0"/>
          </a:p>
          <a:p>
            <a:r>
              <a:rPr lang="en-US" dirty="0"/>
              <a:t>Better features.</a:t>
            </a:r>
          </a:p>
          <a:p>
            <a:endParaRPr lang="en-US" dirty="0"/>
          </a:p>
          <a:p>
            <a:r>
              <a:rPr lang="en-US" dirty="0"/>
              <a:t>Fewer bugs.</a:t>
            </a:r>
          </a:p>
          <a:p>
            <a:endParaRPr lang="en-US" dirty="0"/>
          </a:p>
          <a:p>
            <a:r>
              <a:rPr lang="en-US" dirty="0"/>
              <a:t>Easier maintenance.</a:t>
            </a:r>
          </a:p>
          <a:p>
            <a:endParaRPr lang="en-US" dirty="0"/>
          </a:p>
          <a:p>
            <a:r>
              <a:rPr lang="en-US" dirty="0"/>
              <a:t>A better user experience.</a:t>
            </a:r>
          </a:p>
          <a:p>
            <a:endParaRPr lang="en-US" dirty="0"/>
          </a:p>
          <a:p>
            <a:r>
              <a:rPr lang="en-US" dirty="0"/>
              <a:t>------------------------------------------------------------</a:t>
            </a:r>
          </a:p>
          <a:p>
            <a:endParaRPr lang="en-US" dirty="0"/>
          </a:p>
          <a:p>
            <a:r>
              <a:rPr lang="en-US" dirty="0"/>
              <a:t>THE "STORE WHAT MATTERS" PRINCIPLE</a:t>
            </a:r>
          </a:p>
          <a:p>
            <a:endParaRPr lang="en-US" dirty="0"/>
          </a:p>
          <a:p>
            <a:r>
              <a:rPr lang="en-US" dirty="0"/>
              <a:t>Point to the design principle.</a:t>
            </a:r>
          </a:p>
          <a:p>
            <a:endParaRPr lang="en-US" dirty="0"/>
          </a:p>
          <a:p>
            <a:r>
              <a:rPr lang="en-US" dirty="0"/>
              <a:t>Say:</a:t>
            </a:r>
          </a:p>
          <a:p>
            <a:endParaRPr lang="en-US" dirty="0"/>
          </a:p>
          <a:p>
            <a:r>
              <a:rPr lang="en-US" dirty="0"/>
              <a:t>"Here's something I want you to remember."</a:t>
            </a:r>
          </a:p>
          <a:p>
            <a:endParaRPr lang="en-US" dirty="0"/>
          </a:p>
          <a:p>
            <a:r>
              <a:rPr lang="en-US" dirty="0"/>
              <a:t>"We don't store information just because we can."</a:t>
            </a:r>
          </a:p>
          <a:p>
            <a:endParaRPr lang="en-US" dirty="0"/>
          </a:p>
          <a:p>
            <a:r>
              <a:rPr lang="en-US" dirty="0"/>
              <a:t>"We store information because the application needs it."</a:t>
            </a:r>
          </a:p>
          <a:p>
            <a:endParaRPr lang="en-US" dirty="0"/>
          </a:p>
          <a:p>
            <a:r>
              <a:rPr lang="en-US" dirty="0"/>
              <a:t>Ask:</a:t>
            </a:r>
          </a:p>
          <a:p>
            <a:endParaRPr lang="en-US" dirty="0"/>
          </a:p>
          <a:p>
            <a:r>
              <a:rPr lang="en-US" dirty="0"/>
              <a:t>"Do we need a user's favorite color to manage tasks?"</a:t>
            </a:r>
          </a:p>
          <a:p>
            <a:endParaRPr lang="en-US" dirty="0"/>
          </a:p>
          <a:p>
            <a:r>
              <a:rPr lang="en-US" dirty="0"/>
              <a:t>Probably not.</a:t>
            </a:r>
          </a:p>
          <a:p>
            <a:endParaRPr lang="en-US" dirty="0"/>
          </a:p>
          <a:p>
            <a:r>
              <a:rPr lang="en-US" dirty="0"/>
              <a:t>"Then why store it?"</a:t>
            </a:r>
          </a:p>
          <a:p>
            <a:endParaRPr lang="en-US" dirty="0"/>
          </a:p>
          <a:p>
            <a:r>
              <a:rPr lang="en-US" dirty="0"/>
              <a:t>Exactly.</a:t>
            </a:r>
          </a:p>
          <a:p>
            <a:endParaRPr lang="en-US" dirty="0"/>
          </a:p>
          <a:p>
            <a:r>
              <a:rPr lang="en-US" dirty="0"/>
              <a:t>Don't collect unnecessary information.</a:t>
            </a:r>
          </a:p>
          <a:p>
            <a:endParaRPr lang="en-US" dirty="0"/>
          </a:p>
          <a:p>
            <a:r>
              <a:rPr lang="en-US" dirty="0"/>
              <a:t>------------------------------------------------------------</a:t>
            </a:r>
          </a:p>
          <a:p>
            <a:endParaRPr lang="en-US" dirty="0"/>
          </a:p>
          <a:p>
            <a:r>
              <a:rPr lang="en-US" dirty="0"/>
              <a:t>KEEP IT SIMPLE</a:t>
            </a:r>
          </a:p>
          <a:p>
            <a:endParaRPr lang="en-US" dirty="0"/>
          </a:p>
          <a:p>
            <a:r>
              <a:rPr lang="en-US" dirty="0"/>
              <a:t>Point to the second principle.</a:t>
            </a:r>
          </a:p>
          <a:p>
            <a:endParaRPr lang="en-US" dirty="0"/>
          </a:p>
          <a:p>
            <a:r>
              <a:rPr lang="en-US" dirty="0"/>
              <a:t>Explain:</a:t>
            </a:r>
          </a:p>
          <a:p>
            <a:endParaRPr lang="en-US" dirty="0"/>
          </a:p>
          <a:p>
            <a:r>
              <a:rPr lang="en-US" dirty="0"/>
              <a:t>"Our first data model should be small."</a:t>
            </a:r>
          </a:p>
          <a:p>
            <a:endParaRPr lang="en-US" dirty="0"/>
          </a:p>
          <a:p>
            <a:r>
              <a:rPr lang="en-US" dirty="0"/>
              <a:t>"We can always add functionality later."</a:t>
            </a:r>
          </a:p>
          <a:p>
            <a:endParaRPr lang="en-US" dirty="0"/>
          </a:p>
          <a:p>
            <a:r>
              <a:rPr lang="en-US" dirty="0"/>
              <a:t>This is especially important for Atlas.</a:t>
            </a:r>
          </a:p>
          <a:p>
            <a:endParaRPr lang="en-US" dirty="0"/>
          </a:p>
          <a:p>
            <a:r>
              <a:rPr lang="en-US" dirty="0"/>
              <a:t>"We're building Version 1."</a:t>
            </a:r>
          </a:p>
          <a:p>
            <a:endParaRPr lang="en-US" dirty="0"/>
          </a:p>
          <a:p>
            <a:r>
              <a:rPr lang="en-US" dirty="0"/>
              <a:t>Not the final version of the company.</a:t>
            </a:r>
          </a:p>
          <a:p>
            <a:endParaRPr lang="en-US" dirty="0"/>
          </a:p>
          <a:p>
            <a:r>
              <a:rPr lang="en-US" dirty="0"/>
              <a:t>------------------------------------------------------------</a:t>
            </a:r>
          </a:p>
          <a:p>
            <a:endParaRPr lang="en-US" dirty="0"/>
          </a:p>
          <a:p>
            <a:r>
              <a:rPr lang="en-US" dirty="0"/>
              <a:t>PLAN FOR GROWTH</a:t>
            </a:r>
          </a:p>
          <a:p>
            <a:endParaRPr lang="en-US" dirty="0"/>
          </a:p>
          <a:p>
            <a:r>
              <a:rPr lang="en-US" dirty="0"/>
              <a:t>Point to the final principle.</a:t>
            </a:r>
          </a:p>
          <a:p>
            <a:endParaRPr lang="en-US" dirty="0"/>
          </a:p>
          <a:p>
            <a:r>
              <a:rPr lang="en-US" dirty="0"/>
              <a:t>Explain:</a:t>
            </a:r>
          </a:p>
          <a:p>
            <a:endParaRPr lang="en-US" dirty="0"/>
          </a:p>
          <a:p>
            <a:r>
              <a:rPr lang="en-US" dirty="0"/>
              <a:t>"Keeping it simple doesn't mean ignoring the future."</a:t>
            </a:r>
          </a:p>
          <a:p>
            <a:endParaRPr lang="en-US" dirty="0"/>
          </a:p>
          <a:p>
            <a:r>
              <a:rPr lang="en-US" dirty="0"/>
              <a:t>"It means we build today's solution in a way that doesn't prevent</a:t>
            </a:r>
          </a:p>
          <a:p>
            <a:r>
              <a:rPr lang="en-US" dirty="0"/>
              <a:t>tomorrow's improvements."</a:t>
            </a:r>
          </a:p>
          <a:p>
            <a:endParaRPr lang="en-US" dirty="0"/>
          </a:p>
          <a:p>
            <a:r>
              <a:rPr lang="en-US" dirty="0"/>
              <a:t>For example:</a:t>
            </a:r>
          </a:p>
          <a:p>
            <a:endParaRPr lang="en-US" dirty="0"/>
          </a:p>
          <a:p>
            <a:r>
              <a:rPr lang="en-US" dirty="0"/>
              <a:t>Today:</a:t>
            </a:r>
          </a:p>
          <a:p>
            <a:endParaRPr lang="en-US" dirty="0"/>
          </a:p>
          <a:p>
            <a:r>
              <a:rPr lang="en-US" dirty="0"/>
              <a:t>Task → Project</a:t>
            </a:r>
          </a:p>
          <a:p>
            <a:endParaRPr lang="en-US" dirty="0"/>
          </a:p>
          <a:p>
            <a:r>
              <a:rPr lang="en-US" dirty="0"/>
              <a:t>Later:</a:t>
            </a:r>
          </a:p>
          <a:p>
            <a:endParaRPr lang="en-US" dirty="0"/>
          </a:p>
          <a:p>
            <a:r>
              <a:rPr lang="en-US" dirty="0"/>
              <a:t>Task → Project → Team → Organization</a:t>
            </a:r>
          </a:p>
          <a:p>
            <a:endParaRPr lang="en-US" dirty="0"/>
          </a:p>
          <a:p>
            <a:r>
              <a:rPr lang="en-US" dirty="0"/>
              <a:t>But we don't need to build all of that today.</a:t>
            </a:r>
          </a:p>
          <a:p>
            <a:endParaRPr lang="en-US" dirty="0"/>
          </a:p>
          <a:p>
            <a:r>
              <a:rPr lang="en-US" dirty="0"/>
              <a:t>------------------------------------------------------------</a:t>
            </a:r>
          </a:p>
          <a:p>
            <a:endParaRPr lang="en-US" dirty="0"/>
          </a:p>
          <a:p>
            <a:r>
              <a:rPr lang="en-US" dirty="0"/>
              <a:t>BUILD CHALLENGE</a:t>
            </a:r>
          </a:p>
          <a:p>
            <a:endParaRPr lang="en-US" dirty="0"/>
          </a:p>
          <a:p>
            <a:r>
              <a:rPr lang="en-US" dirty="0"/>
              <a:t>Give students the following task:</a:t>
            </a:r>
          </a:p>
          <a:p>
            <a:endParaRPr lang="en-US" dirty="0"/>
          </a:p>
          <a:p>
            <a:r>
              <a:rPr lang="en-US" dirty="0"/>
              <a:t>"Take one feature from your Sprint 3 design."</a:t>
            </a:r>
          </a:p>
          <a:p>
            <a:endParaRPr lang="en-US" dirty="0"/>
          </a:p>
          <a:p>
            <a:r>
              <a:rPr lang="en-US" dirty="0"/>
              <a:t>Ask:</a:t>
            </a:r>
          </a:p>
          <a:p>
            <a:endParaRPr lang="en-US" dirty="0"/>
          </a:p>
          <a:p>
            <a:r>
              <a:rPr lang="en-US" dirty="0"/>
              <a:t>1. What information does this feature need?</a:t>
            </a:r>
          </a:p>
          <a:p>
            <a:endParaRPr lang="en-US" dirty="0"/>
          </a:p>
          <a:p>
            <a:r>
              <a:rPr lang="en-US" dirty="0"/>
              <a:t>2. What entity should store it?</a:t>
            </a:r>
          </a:p>
          <a:p>
            <a:endParaRPr lang="en-US" dirty="0"/>
          </a:p>
          <a:p>
            <a:r>
              <a:rPr lang="en-US" dirty="0"/>
              <a:t>3. What other entity does it relate to?</a:t>
            </a:r>
          </a:p>
          <a:p>
            <a:endParaRPr lang="en-US" dirty="0"/>
          </a:p>
          <a:p>
            <a:r>
              <a:rPr lang="en-US" dirty="0"/>
              <a:t>4. What uniquely identifies the record?</a:t>
            </a:r>
          </a:p>
          <a:p>
            <a:endParaRPr lang="en-US" dirty="0"/>
          </a:p>
          <a:p>
            <a:r>
              <a:rPr lang="en-US" dirty="0"/>
              <a:t>Give them an example.</a:t>
            </a:r>
          </a:p>
          <a:p>
            <a:endParaRPr lang="en-US" dirty="0"/>
          </a:p>
          <a:p>
            <a:r>
              <a:rPr lang="en-US" dirty="0"/>
              <a:t>Feature:</a:t>
            </a:r>
          </a:p>
          <a:p>
            <a:endParaRPr lang="en-US" dirty="0"/>
          </a:p>
          <a:p>
            <a:r>
              <a:rPr lang="en-US" dirty="0"/>
              <a:t>Create a Task.</a:t>
            </a:r>
          </a:p>
          <a:p>
            <a:endParaRPr lang="en-US" dirty="0"/>
          </a:p>
          <a:p>
            <a:r>
              <a:rPr lang="en-US" dirty="0"/>
              <a:t>Data:</a:t>
            </a:r>
          </a:p>
          <a:p>
            <a:endParaRPr lang="en-US" dirty="0"/>
          </a:p>
          <a:p>
            <a:r>
              <a:rPr lang="en-US" dirty="0" err="1"/>
              <a:t>TaskId</a:t>
            </a:r>
            <a:r>
              <a:rPr lang="en-US" dirty="0"/>
              <a:t>.</a:t>
            </a:r>
          </a:p>
          <a:p>
            <a:endParaRPr lang="en-US" dirty="0"/>
          </a:p>
          <a:p>
            <a:r>
              <a:rPr lang="en-US" dirty="0"/>
              <a:t>Title.</a:t>
            </a:r>
          </a:p>
          <a:p>
            <a:endParaRPr lang="en-US" dirty="0"/>
          </a:p>
          <a:p>
            <a:r>
              <a:rPr lang="en-US" dirty="0"/>
              <a:t>Description.</a:t>
            </a:r>
          </a:p>
          <a:p>
            <a:endParaRPr lang="en-US" dirty="0"/>
          </a:p>
          <a:p>
            <a:r>
              <a:rPr lang="en-US" dirty="0" err="1"/>
              <a:t>DueDate</a:t>
            </a:r>
            <a:r>
              <a:rPr lang="en-US" dirty="0"/>
              <a:t>.</a:t>
            </a:r>
          </a:p>
          <a:p>
            <a:endParaRPr lang="en-US" dirty="0"/>
          </a:p>
          <a:p>
            <a:r>
              <a:rPr lang="en-US" dirty="0" err="1"/>
              <a:t>StatusId</a:t>
            </a:r>
            <a:r>
              <a:rPr lang="en-US" dirty="0"/>
              <a:t>.</a:t>
            </a:r>
          </a:p>
          <a:p>
            <a:endParaRPr lang="en-US" dirty="0"/>
          </a:p>
          <a:p>
            <a:r>
              <a:rPr lang="en-US" dirty="0" err="1"/>
              <a:t>ProjectId</a:t>
            </a:r>
            <a:r>
              <a:rPr lang="en-US" dirty="0"/>
              <a:t>.</a:t>
            </a:r>
          </a:p>
          <a:p>
            <a:endParaRPr lang="en-US" dirty="0"/>
          </a:p>
          <a:p>
            <a:r>
              <a:rPr lang="en-US" dirty="0"/>
              <a:t>Then ask:</a:t>
            </a:r>
          </a:p>
          <a:p>
            <a:endParaRPr lang="en-US" dirty="0"/>
          </a:p>
          <a:p>
            <a:r>
              <a:rPr lang="en-US" dirty="0"/>
              <a:t>"What does </a:t>
            </a:r>
            <a:r>
              <a:rPr lang="en-US" dirty="0" err="1"/>
              <a:t>ProjectId</a:t>
            </a:r>
            <a:r>
              <a:rPr lang="en-US" dirty="0"/>
              <a:t> tell us?"</a:t>
            </a:r>
          </a:p>
          <a:p>
            <a:endParaRPr lang="en-US" dirty="0"/>
          </a:p>
          <a:p>
            <a:r>
              <a:rPr lang="en-US" dirty="0"/>
              <a:t>Students:</a:t>
            </a:r>
          </a:p>
          <a:p>
            <a:endParaRPr lang="en-US" dirty="0"/>
          </a:p>
          <a:p>
            <a:r>
              <a:rPr lang="en-US" dirty="0"/>
              <a:t>"Which project the task belongs to."</a:t>
            </a:r>
          </a:p>
          <a:p>
            <a:endParaRPr lang="en-US" dirty="0"/>
          </a:p>
          <a:p>
            <a:r>
              <a:rPr lang="en-US" dirty="0"/>
              <a:t>------------------------------------------------------------</a:t>
            </a:r>
          </a:p>
          <a:p>
            <a:endParaRPr lang="en-US" dirty="0"/>
          </a:p>
          <a:p>
            <a:r>
              <a:rPr lang="en-US" dirty="0"/>
              <a:t>ENGINEERING CHECK</a:t>
            </a:r>
          </a:p>
          <a:p>
            <a:endParaRPr lang="en-US" dirty="0"/>
          </a:p>
          <a:p>
            <a:r>
              <a:rPr lang="en-US" dirty="0"/>
              <a:t>Before moving on, ask students:</a:t>
            </a:r>
          </a:p>
          <a:p>
            <a:endParaRPr lang="en-US" dirty="0"/>
          </a:p>
          <a:p>
            <a:r>
              <a:rPr lang="en-US" dirty="0"/>
              <a:t>"Can you explain why we have a Task table?"</a:t>
            </a:r>
          </a:p>
          <a:p>
            <a:endParaRPr lang="en-US" dirty="0"/>
          </a:p>
          <a:p>
            <a:r>
              <a:rPr lang="en-US" dirty="0"/>
              <a:t>"Can you explain why Task has a </a:t>
            </a:r>
            <a:r>
              <a:rPr lang="en-US" dirty="0" err="1"/>
              <a:t>ProjectId</a:t>
            </a:r>
            <a:r>
              <a:rPr lang="en-US" dirty="0"/>
              <a:t>?"</a:t>
            </a:r>
          </a:p>
          <a:p>
            <a:endParaRPr lang="en-US" dirty="0"/>
          </a:p>
          <a:p>
            <a:r>
              <a:rPr lang="en-US" dirty="0"/>
              <a:t>"Can you explain why User has a </a:t>
            </a:r>
            <a:r>
              <a:rPr lang="en-US" dirty="0" err="1"/>
              <a:t>UserId</a:t>
            </a:r>
            <a:r>
              <a:rPr lang="en-US" dirty="0"/>
              <a:t>?"</a:t>
            </a:r>
          </a:p>
          <a:p>
            <a:endParaRPr lang="en-US" dirty="0"/>
          </a:p>
          <a:p>
            <a:r>
              <a:rPr lang="en-US" dirty="0"/>
              <a:t>"Can you explain what Status represents?"</a:t>
            </a:r>
          </a:p>
          <a:p>
            <a:endParaRPr lang="en-US" dirty="0"/>
          </a:p>
          <a:p>
            <a:r>
              <a:rPr lang="en-US" dirty="0"/>
              <a:t>If they can answer those questions...</a:t>
            </a:r>
          </a:p>
          <a:p>
            <a:endParaRPr lang="en-US" dirty="0"/>
          </a:p>
          <a:p>
            <a:r>
              <a:rPr lang="en-US" dirty="0"/>
              <a:t>They're ready to move forward.</a:t>
            </a:r>
          </a:p>
          <a:p>
            <a:endParaRPr lang="en-US" dirty="0"/>
          </a:p>
          <a:p>
            <a:r>
              <a:rPr lang="en-US" dirty="0"/>
              <a:t>------------------------------------------------------------</a:t>
            </a:r>
          </a:p>
          <a:p>
            <a:endParaRPr lang="en-US" dirty="0"/>
          </a:p>
          <a:p>
            <a:r>
              <a:rPr lang="en-US" dirty="0"/>
              <a:t>IMPORTANT BOUNDARY</a:t>
            </a:r>
          </a:p>
          <a:p>
            <a:endParaRPr lang="en-US" dirty="0"/>
          </a:p>
          <a:p>
            <a:r>
              <a:rPr lang="en-US" dirty="0"/>
              <a:t>Tell students:</a:t>
            </a:r>
          </a:p>
          <a:p>
            <a:endParaRPr lang="en-US" dirty="0"/>
          </a:p>
          <a:p>
            <a:r>
              <a:rPr lang="en-US" dirty="0"/>
              <a:t>"This is our initial data model."</a:t>
            </a:r>
          </a:p>
          <a:p>
            <a:endParaRPr lang="en-US" dirty="0"/>
          </a:p>
          <a:p>
            <a:r>
              <a:rPr lang="en-US" dirty="0"/>
              <a:t>"We are not trying to design the entire database for Microsoft."</a:t>
            </a:r>
          </a:p>
          <a:p>
            <a:endParaRPr lang="en-US" dirty="0"/>
          </a:p>
          <a:p>
            <a:r>
              <a:rPr lang="en-US" dirty="0"/>
              <a:t>"We are designing enough data structure to make Atlas </a:t>
            </a:r>
            <a:r>
              <a:rPr lang="en-US" dirty="0" err="1"/>
              <a:t>TaskFlow</a:t>
            </a:r>
            <a:r>
              <a:rPr lang="en-US" dirty="0"/>
              <a:t> work."</a:t>
            </a:r>
          </a:p>
          <a:p>
            <a:endParaRPr lang="en-US" dirty="0"/>
          </a:p>
          <a:p>
            <a:r>
              <a:rPr lang="en-US" dirty="0"/>
              <a:t>Avoid diving into:</a:t>
            </a:r>
          </a:p>
          <a:p>
            <a:endParaRPr lang="en-US" dirty="0"/>
          </a:p>
          <a:p>
            <a:r>
              <a:rPr lang="en-US" dirty="0"/>
              <a:t>• Advanced normalization</a:t>
            </a:r>
          </a:p>
          <a:p>
            <a:r>
              <a:rPr lang="en-US" dirty="0"/>
              <a:t>• Database optimization</a:t>
            </a:r>
          </a:p>
          <a:p>
            <a:r>
              <a:rPr lang="en-US" dirty="0"/>
              <a:t>• Stored procedures</a:t>
            </a:r>
          </a:p>
          <a:p>
            <a:r>
              <a:rPr lang="en-US" dirty="0"/>
              <a:t>• Complex indexing</a:t>
            </a:r>
          </a:p>
          <a:p>
            <a:r>
              <a:rPr lang="en-US" dirty="0"/>
              <a:t>• Advanced relationship patterns</a:t>
            </a:r>
          </a:p>
          <a:p>
            <a:r>
              <a:rPr lang="en-US" dirty="0"/>
              <a:t>• Database administration</a:t>
            </a:r>
          </a:p>
          <a:p>
            <a:endParaRPr lang="en-US" dirty="0"/>
          </a:p>
          <a:p>
            <a:r>
              <a:rPr lang="en-US" dirty="0"/>
              <a:t>Those aren't today's objectives.</a:t>
            </a:r>
          </a:p>
          <a:p>
            <a:endParaRPr lang="en-US" dirty="0"/>
          </a:p>
          <a:p>
            <a:r>
              <a:rPr lang="en-US" dirty="0"/>
              <a:t>------------------------------------------------------------</a:t>
            </a:r>
          </a:p>
          <a:p>
            <a:endParaRPr lang="en-US" dirty="0"/>
          </a:p>
          <a:p>
            <a:r>
              <a:rPr lang="en-US" dirty="0"/>
              <a:t>SPRINT CONNECTION</a:t>
            </a:r>
          </a:p>
          <a:p>
            <a:endParaRPr lang="en-US" dirty="0"/>
          </a:p>
          <a:p>
            <a:r>
              <a:rPr lang="en-US" dirty="0"/>
              <a:t>Point to the roadmap.</a:t>
            </a:r>
          </a:p>
          <a:p>
            <a:endParaRPr lang="en-US" dirty="0"/>
          </a:p>
          <a:p>
            <a:r>
              <a:rPr lang="en-US" dirty="0"/>
              <a:t>Sprint 3:</a:t>
            </a:r>
          </a:p>
          <a:p>
            <a:endParaRPr lang="en-US" dirty="0"/>
          </a:p>
          <a:p>
            <a:r>
              <a:rPr lang="en-US" dirty="0"/>
              <a:t>Design It.</a:t>
            </a:r>
          </a:p>
          <a:p>
            <a:endParaRPr lang="en-US" dirty="0"/>
          </a:p>
          <a:p>
            <a:r>
              <a:rPr lang="en-US" dirty="0"/>
              <a:t>Sprint 4:</a:t>
            </a:r>
          </a:p>
          <a:p>
            <a:endParaRPr lang="en-US" dirty="0"/>
          </a:p>
          <a:p>
            <a:r>
              <a:rPr lang="en-US" dirty="0"/>
              <a:t>Build It.</a:t>
            </a:r>
          </a:p>
          <a:p>
            <a:endParaRPr lang="en-US" dirty="0"/>
          </a:p>
          <a:p>
            <a:r>
              <a:rPr lang="en-US" dirty="0"/>
              <a:t>Deploy It.</a:t>
            </a:r>
          </a:p>
          <a:p>
            <a:endParaRPr lang="en-US" dirty="0"/>
          </a:p>
          <a:p>
            <a:r>
              <a:rPr lang="en-US" dirty="0"/>
              <a:t>Sprint 5:</a:t>
            </a:r>
          </a:p>
          <a:p>
            <a:endParaRPr lang="en-US" dirty="0"/>
          </a:p>
          <a:p>
            <a:r>
              <a:rPr lang="en-US" dirty="0"/>
              <a:t>Remember It.</a:t>
            </a:r>
          </a:p>
          <a:p>
            <a:endParaRPr lang="en-US" dirty="0"/>
          </a:p>
          <a:p>
            <a:r>
              <a:rPr lang="en-US" dirty="0"/>
              <a:t>Explain:</a:t>
            </a:r>
          </a:p>
          <a:p>
            <a:endParaRPr lang="en-US" dirty="0"/>
          </a:p>
          <a:p>
            <a:r>
              <a:rPr lang="en-US" dirty="0"/>
              <a:t>"Everything we've designed is now becoming data."</a:t>
            </a:r>
          </a:p>
          <a:p>
            <a:endParaRPr lang="en-US" dirty="0"/>
          </a:p>
          <a:p>
            <a:r>
              <a:rPr lang="en-US" dirty="0"/>
              <a:t>"Our user stories created requirements."</a:t>
            </a:r>
          </a:p>
          <a:p>
            <a:endParaRPr lang="en-US" dirty="0"/>
          </a:p>
          <a:p>
            <a:r>
              <a:rPr lang="en-US" dirty="0"/>
              <a:t>"Our requirements created features."</a:t>
            </a:r>
          </a:p>
          <a:p>
            <a:endParaRPr lang="en-US" dirty="0"/>
          </a:p>
          <a:p>
            <a:r>
              <a:rPr lang="en-US" dirty="0"/>
              <a:t>"Our features tell us what data we need."</a:t>
            </a:r>
          </a:p>
          <a:p>
            <a:endParaRPr lang="en-US" dirty="0"/>
          </a:p>
          <a:p>
            <a:r>
              <a:rPr lang="en-US" dirty="0"/>
              <a:t>This is the engineering chain.</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"Introducing Entity Framework Core."</a:t>
            </a:r>
          </a:p>
          <a:p>
            <a:endParaRPr lang="en-US" dirty="0"/>
          </a:p>
          <a:p>
            <a:r>
              <a:rPr lang="en-US" dirty="0"/>
              <a:t>Say:</a:t>
            </a:r>
          </a:p>
          <a:p>
            <a:endParaRPr lang="en-US" dirty="0"/>
          </a:p>
          <a:p>
            <a:r>
              <a:rPr lang="en-US" dirty="0"/>
              <a:t>"We now know what Atlas needs to remember."</a:t>
            </a:r>
          </a:p>
          <a:p>
            <a:endParaRPr lang="en-US" dirty="0"/>
          </a:p>
          <a:p>
            <a:r>
              <a:rPr lang="en-US" dirty="0"/>
              <a:t>"We know how the information relates."</a:t>
            </a:r>
          </a:p>
          <a:p>
            <a:endParaRPr lang="en-US" dirty="0"/>
          </a:p>
          <a:p>
            <a:r>
              <a:rPr lang="en-US" dirty="0"/>
              <a:t>"But our C# application still needs a way to communicate with the</a:t>
            </a:r>
          </a:p>
          <a:p>
            <a:r>
              <a:rPr lang="en-US" dirty="0"/>
              <a:t>database."</a:t>
            </a:r>
          </a:p>
          <a:p>
            <a:endParaRPr lang="en-US" dirty="0"/>
          </a:p>
          <a:p>
            <a:r>
              <a:rPr lang="en-US" dirty="0"/>
              <a:t>Pause.</a:t>
            </a:r>
          </a:p>
          <a:p>
            <a:endParaRPr lang="en-US" dirty="0"/>
          </a:p>
          <a:p>
            <a:r>
              <a:rPr lang="en-US" dirty="0"/>
              <a:t>"That's where Entity Framework Core comes in."</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 don't start by creating tables."</a:t>
            </a:r>
          </a:p>
          <a:p>
            <a:endParaRPr lang="en-US" dirty="0"/>
          </a:p>
          <a:p>
            <a:r>
              <a:rPr lang="en-US" dirty="0"/>
              <a:t>"We start by understanding the problem."</a:t>
            </a:r>
          </a:p>
          <a:p>
            <a:endParaRPr lang="en-US" dirty="0"/>
          </a:p>
          <a:p>
            <a:r>
              <a:rPr lang="en-US" dirty="0"/>
              <a:t>"Then we identify the information."</a:t>
            </a:r>
          </a:p>
          <a:p>
            <a:endParaRPr lang="en-US" dirty="0"/>
          </a:p>
          <a:p>
            <a:r>
              <a:rPr lang="en-US" dirty="0"/>
              <a:t>"Then we design the relationships."</a:t>
            </a:r>
          </a:p>
          <a:p>
            <a:endParaRPr lang="en-US" dirty="0"/>
          </a:p>
          <a:p>
            <a:r>
              <a:rPr lang="en-US" dirty="0"/>
              <a:t>"Then..."</a:t>
            </a:r>
          </a:p>
          <a:p>
            <a:endParaRPr lang="en-US" dirty="0"/>
          </a:p>
          <a:p>
            <a:r>
              <a:rPr lang="en-US" dirty="0"/>
              <a:t>"We build it."</a:t>
            </a:r>
          </a:p>
          <a:p>
            <a:endParaRPr lang="en-US" dirty="0"/>
          </a:p>
          <a:p>
            <a:r>
              <a:rPr lang="en-US" dirty="0"/>
              <a:t>Pause.</a:t>
            </a:r>
          </a:p>
          <a:p>
            <a:endParaRPr lang="en-US" dirty="0"/>
          </a:p>
          <a:p>
            <a:r>
              <a:rPr lang="en-US" dirty="0"/>
              <a:t>"Today, we created the blueprint for Atlas </a:t>
            </a:r>
            <a:r>
              <a:rPr lang="en-US" dirty="0" err="1"/>
              <a:t>TaskFlow's</a:t>
            </a:r>
            <a:r>
              <a:rPr lang="en-US" dirty="0"/>
              <a:t> memory."</a:t>
            </a:r>
          </a:p>
          <a:p>
            <a:endParaRPr lang="en-US" dirty="0"/>
          </a:p>
          <a:p>
            <a:r>
              <a:rPr lang="en-US" dirty="0"/>
              <a:t>------------------------------------------------------------</a:t>
            </a:r>
          </a:p>
          <a:p>
            <a:endParaRPr lang="en-US" dirty="0"/>
          </a:p>
          <a:p>
            <a:r>
              <a:rPr lang="en-US" dirty="0"/>
              <a:t>ESTIMATED TIME</a:t>
            </a:r>
          </a:p>
          <a:p>
            <a:endParaRPr lang="en-US" dirty="0"/>
          </a:p>
          <a:p>
            <a:r>
              <a:rPr lang="en-US" dirty="0"/>
              <a:t>Sprint 3 Connection..................5 minutes</a:t>
            </a:r>
          </a:p>
          <a:p>
            <a:endParaRPr lang="en-US" dirty="0"/>
          </a:p>
          <a:p>
            <a:r>
              <a:rPr lang="en-US" dirty="0"/>
              <a:t>Data Model Introduction.............10 minutes</a:t>
            </a:r>
          </a:p>
          <a:p>
            <a:endParaRPr lang="en-US" dirty="0"/>
          </a:p>
          <a:p>
            <a:r>
              <a:rPr lang="en-US" dirty="0"/>
              <a:t>Atlas Entities.......................15 minutes</a:t>
            </a:r>
          </a:p>
          <a:p>
            <a:endParaRPr lang="en-US" dirty="0"/>
          </a:p>
          <a:p>
            <a:r>
              <a:rPr lang="en-US" dirty="0"/>
              <a:t>Relationships.........................10 minutes</a:t>
            </a:r>
          </a:p>
          <a:p>
            <a:endParaRPr lang="en-US" dirty="0"/>
          </a:p>
          <a:p>
            <a:r>
              <a:rPr lang="en-US" dirty="0"/>
              <a:t>Design Principles....................8 minutes</a:t>
            </a:r>
          </a:p>
          <a:p>
            <a:endParaRPr lang="en-US" dirty="0"/>
          </a:p>
          <a:p>
            <a:r>
              <a:rPr lang="en-US" dirty="0"/>
              <a:t>Build Challenge......................12 minutes</a:t>
            </a:r>
          </a:p>
          <a:p>
            <a:endParaRPr lang="en-US" dirty="0"/>
          </a:p>
          <a:p>
            <a:r>
              <a:rPr lang="en-US" dirty="0"/>
              <a:t>Discussion &amp; Closing.................5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lesson should connect directly to the students' Sprint 3 work.</a:t>
            </a:r>
          </a:p>
          <a:p>
            <a:endParaRPr lang="en-US" dirty="0"/>
          </a:p>
          <a:p>
            <a:r>
              <a:rPr lang="en-US" dirty="0"/>
              <a:t>Whenever possible, ask students to reference their own:</a:t>
            </a:r>
          </a:p>
          <a:p>
            <a:endParaRPr lang="en-US" dirty="0"/>
          </a:p>
          <a:p>
            <a:r>
              <a:rPr lang="en-US" dirty="0"/>
              <a:t>• Requirements</a:t>
            </a:r>
          </a:p>
          <a:p>
            <a:r>
              <a:rPr lang="en-US" dirty="0"/>
              <a:t>• User stories</a:t>
            </a:r>
          </a:p>
          <a:p>
            <a:r>
              <a:rPr lang="en-US" dirty="0"/>
              <a:t>• Personas</a:t>
            </a:r>
          </a:p>
          <a:p>
            <a:r>
              <a:rPr lang="en-US" dirty="0"/>
              <a:t>• User journeys</a:t>
            </a:r>
          </a:p>
          <a:p>
            <a:r>
              <a:rPr lang="en-US" dirty="0"/>
              <a:t>• Task flows</a:t>
            </a:r>
          </a:p>
          <a:p>
            <a:endParaRPr lang="en-US" dirty="0"/>
          </a:p>
          <a:p>
            <a:r>
              <a:rPr lang="en-US" dirty="0"/>
              <a:t>The important teaching move is:</a:t>
            </a:r>
          </a:p>
          <a:p>
            <a:endParaRPr lang="en-US" dirty="0"/>
          </a:p>
          <a:p>
            <a:r>
              <a:rPr lang="en-US" dirty="0"/>
              <a:t>"Show me where this data came from."</a:t>
            </a:r>
          </a:p>
          <a:p>
            <a:endParaRPr lang="en-US" dirty="0"/>
          </a:p>
          <a:p>
            <a:r>
              <a:rPr lang="en-US" dirty="0"/>
              <a:t>If a student proposes a field or entity, ask:</a:t>
            </a:r>
          </a:p>
          <a:p>
            <a:endParaRPr lang="en-US" dirty="0"/>
          </a:p>
          <a:p>
            <a:r>
              <a:rPr lang="en-US" dirty="0"/>
              <a:t>"What requirement does that support?"</a:t>
            </a:r>
          </a:p>
          <a:p>
            <a:endParaRPr lang="en-US" dirty="0"/>
          </a:p>
          <a:p>
            <a:r>
              <a:rPr lang="en-US" dirty="0"/>
              <a:t>This reinforces traceability between requirements, design, and</a:t>
            </a:r>
          </a:p>
          <a:p>
            <a:r>
              <a:rPr lang="en-US" dirty="0"/>
              <a:t>implementation.</a:t>
            </a:r>
          </a:p>
          <a:p>
            <a:endParaRPr lang="en-US" dirty="0"/>
          </a:p>
          <a:p>
            <a:r>
              <a:rPr lang="en-US" dirty="0"/>
              <a:t>Do not let the data model become unnecessarily complicated.</a:t>
            </a:r>
          </a:p>
          <a:p>
            <a:endParaRPr lang="en-US" dirty="0"/>
          </a:p>
          <a:p>
            <a:r>
              <a:rPr lang="en-US" dirty="0"/>
              <a:t>Atlas </a:t>
            </a:r>
            <a:r>
              <a:rPr lang="en-US" dirty="0" err="1"/>
              <a:t>TaskFlow</a:t>
            </a:r>
            <a:r>
              <a:rPr lang="en-US" dirty="0"/>
              <a:t> Version 1 needs enough data to support the core</a:t>
            </a:r>
          </a:p>
          <a:p>
            <a:r>
              <a:rPr lang="en-US" dirty="0"/>
              <a:t>application.</a:t>
            </a:r>
          </a:p>
          <a:p>
            <a:endParaRPr lang="en-US" dirty="0"/>
          </a:p>
          <a:p>
            <a:r>
              <a:rPr lang="en-US" dirty="0"/>
              <a:t>The data model can evolve later.</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PRIMARY KEY</a:t>
            </a:r>
          </a:p>
          <a:p>
            <a:r>
              <a:rPr lang="en-US" dirty="0"/>
              <a:t>= Identifies</a:t>
            </a:r>
          </a:p>
          <a:p>
            <a:endParaRPr lang="en-US" dirty="0"/>
          </a:p>
          <a:p>
            <a:r>
              <a:rPr lang="en-US" dirty="0"/>
              <a:t>FOREIGN KEY</a:t>
            </a:r>
          </a:p>
          <a:p>
            <a:r>
              <a:rPr lang="en-US" dirty="0"/>
              <a:t>= Connects</a:t>
            </a:r>
          </a:p>
          <a:p>
            <a:endParaRPr lang="en-US" dirty="0"/>
          </a:p>
          <a:p>
            <a:r>
              <a:rPr lang="en-US" dirty="0"/>
              <a:t>DATA MODEL</a:t>
            </a:r>
          </a:p>
          <a:p>
            <a:r>
              <a:rPr lang="en-US" dirty="0"/>
              <a:t>= Blueprint</a:t>
            </a:r>
          </a:p>
          <a:p>
            <a:endParaRPr lang="en-US" dirty="0"/>
          </a:p>
          <a:p>
            <a:r>
              <a:rPr lang="en-US" dirty="0"/>
              <a:t>PERSISTENCE</a:t>
            </a:r>
          </a:p>
          <a:p>
            <a:r>
              <a:rPr lang="en-US" dirty="0"/>
              <a:t>= Remembers</a:t>
            </a:r>
          </a:p>
          <a:p>
            <a:endParaRPr lang="en-US" dirty="0"/>
          </a:p>
          <a:p>
            <a:r>
              <a:rPr lang="en-US" dirty="0"/>
              <a:t>Then say:</a:t>
            </a:r>
          </a:p>
          <a:p>
            <a:endParaRPr lang="en-US" dirty="0"/>
          </a:p>
          <a:p>
            <a:r>
              <a:rPr lang="en-US" dirty="0"/>
              <a:t>"These four ideas will carry us through the rest of Sprint 5."</a:t>
            </a:r>
          </a:p>
          <a:p>
            <a:endParaRPr lang="en-US" dirty="0"/>
          </a:p>
          <a:p>
            <a:r>
              <a:rPr lang="en-US" dirty="0"/>
              <a:t>------------------------------------------------------------</a:t>
            </a:r>
          </a:p>
          <a:p>
            <a:endParaRPr lang="en-US" dirty="0"/>
          </a:p>
          <a:p>
            <a:r>
              <a:rPr lang="en-US" dirty="0"/>
              <a:t>CLOSING STATEMENT</a:t>
            </a:r>
          </a:p>
          <a:p>
            <a:endParaRPr lang="en-US" dirty="0"/>
          </a:p>
          <a:p>
            <a:r>
              <a:rPr lang="en-US" dirty="0"/>
              <a:t>"Engineers..."</a:t>
            </a:r>
          </a:p>
          <a:p>
            <a:endParaRPr lang="en-US" dirty="0"/>
          </a:p>
          <a:p>
            <a:r>
              <a:rPr lang="en-US" dirty="0"/>
              <a:t>"Atlas </a:t>
            </a:r>
            <a:r>
              <a:rPr lang="en-US" dirty="0" err="1"/>
              <a:t>TaskFlow</a:t>
            </a:r>
            <a:r>
              <a:rPr lang="en-US" dirty="0"/>
              <a:t> needed a memory."</a:t>
            </a:r>
          </a:p>
          <a:p>
            <a:endParaRPr lang="en-US" dirty="0"/>
          </a:p>
          <a:p>
            <a:r>
              <a:rPr lang="en-US" dirty="0"/>
              <a:t>"Today..."</a:t>
            </a:r>
          </a:p>
          <a:p>
            <a:endParaRPr lang="en-US" dirty="0"/>
          </a:p>
          <a:p>
            <a:r>
              <a:rPr lang="en-US" dirty="0"/>
              <a:t>"We designed what that memory needs to contain."</a:t>
            </a:r>
          </a:p>
          <a:p>
            <a:endParaRPr lang="en-US" dirty="0"/>
          </a:p>
          <a:p>
            <a:r>
              <a:rPr lang="en-US" dirty="0"/>
              <a:t>"Next..."</a:t>
            </a:r>
          </a:p>
          <a:p>
            <a:endParaRPr lang="en-US" dirty="0"/>
          </a:p>
          <a:p>
            <a:r>
              <a:rPr lang="en-US" dirty="0"/>
              <a:t>"We're going to connect our C# application to it."</a:t>
            </a:r>
          </a:p>
          <a:p>
            <a:endParaRPr lang="en-US" dirty="0"/>
          </a:p>
          <a:p>
            <a:r>
              <a:rPr lang="en-US" dirty="0"/>
              <a:t>============================================================</a:t>
            </a:r>
          </a:p>
        </p:txBody>
      </p:sp>
      <p:sp>
        <p:nvSpPr>
          <p:cNvPr id="4" name="Slide Number Placeholder 3"/>
          <p:cNvSpPr>
            <a:spLocks noGrp="1"/>
          </p:cNvSpPr>
          <p:nvPr>
            <p:ph type="sldNum" sz="quarter" idx="5"/>
          </p:nvPr>
        </p:nvSpPr>
        <p:spPr/>
        <p:txBody>
          <a:bodyPr/>
          <a:lstStyle/>
          <a:p>
            <a:fld id="{BFAFFB2A-FA1B-453E-A83D-1533B3FE308E}" type="slidenum">
              <a:rPr lang="en-US" smtClean="0"/>
              <a:t>3</a:t>
            </a:fld>
            <a:endParaRPr lang="en-US"/>
          </a:p>
        </p:txBody>
      </p:sp>
    </p:spTree>
    <p:extLst>
      <p:ext uri="{BB962C8B-B14F-4D97-AF65-F5344CB8AC3E}">
        <p14:creationId xmlns:p14="http://schemas.microsoft.com/office/powerpoint/2010/main" val="3871032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INTRODUCING ENTITY FRAMEWORK CORE</a:t>
            </a:r>
          </a:p>
          <a:p>
            <a:endParaRPr lang="en-US" dirty="0"/>
          </a:p>
          <a:p>
            <a:r>
              <a:rPr lang="en-US" dirty="0"/>
              <a:t>============================================================</a:t>
            </a:r>
          </a:p>
          <a:p>
            <a:endParaRPr lang="en-US" dirty="0"/>
          </a:p>
          <a:p>
            <a:r>
              <a:rPr lang="en-US" dirty="0"/>
              <a:t>SLIDE PURPOSE</a:t>
            </a:r>
          </a:p>
          <a:p>
            <a:endParaRPr lang="en-US" dirty="0"/>
          </a:p>
          <a:p>
            <a:r>
              <a:rPr lang="en-US" dirty="0"/>
              <a:t>Introduce Entity Framework Core (EF Core) as the bridge between the</a:t>
            </a:r>
          </a:p>
          <a:p>
            <a:r>
              <a:rPr lang="en-US" dirty="0"/>
              <a:t>Atlas </a:t>
            </a:r>
            <a:r>
              <a:rPr lang="en-US" dirty="0" err="1"/>
              <a:t>TaskFlow</a:t>
            </a:r>
            <a:r>
              <a:rPr lang="en-US" dirty="0"/>
              <a:t> C# application and its database.</a:t>
            </a:r>
          </a:p>
          <a:p>
            <a:endParaRPr lang="en-US" dirty="0"/>
          </a:p>
          <a:p>
            <a:r>
              <a:rPr lang="en-US" dirty="0"/>
              <a:t>Students should understand:</a:t>
            </a:r>
          </a:p>
          <a:p>
            <a:endParaRPr lang="en-US" dirty="0"/>
          </a:p>
          <a:p>
            <a:r>
              <a:rPr lang="en-US" dirty="0"/>
              <a:t>C# Objects</a:t>
            </a:r>
          </a:p>
          <a:p>
            <a:r>
              <a:rPr lang="en-US" dirty="0"/>
              <a:t>      ↓</a:t>
            </a:r>
          </a:p>
          <a:p>
            <a:r>
              <a:rPr lang="en-US" dirty="0"/>
              <a:t>Entity Framework Core</a:t>
            </a:r>
          </a:p>
          <a:p>
            <a:r>
              <a:rPr lang="en-US" dirty="0"/>
              <a:t>      ↓</a:t>
            </a:r>
          </a:p>
          <a:p>
            <a:r>
              <a:rPr lang="en-US" dirty="0"/>
              <a:t>Database Tables</a:t>
            </a:r>
          </a:p>
          <a:p>
            <a:endParaRPr lang="en-US" dirty="0"/>
          </a:p>
          <a:p>
            <a:r>
              <a:rPr lang="en-US" dirty="0"/>
              <a:t>The objective is to understand WHY EF Core exists and what role it</a:t>
            </a:r>
          </a:p>
          <a:p>
            <a:r>
              <a:rPr lang="en-US" dirty="0"/>
              <a:t>plays in a data-driven SaaS application.</a:t>
            </a:r>
          </a:p>
          <a:p>
            <a:endParaRPr lang="en-US" dirty="0"/>
          </a:p>
          <a:p>
            <a:r>
              <a:rPr lang="en-US" dirty="0"/>
              <a:t>This is not an advanced EF Core lesson.</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"Atlas </a:t>
            </a:r>
            <a:r>
              <a:rPr lang="en-US" dirty="0" err="1"/>
              <a:t>TaskFlow</a:t>
            </a:r>
            <a:r>
              <a:rPr lang="en-US" dirty="0"/>
              <a:t> needs a memory."</a:t>
            </a:r>
          </a:p>
          <a:p>
            <a:endParaRPr lang="en-US" dirty="0"/>
          </a:p>
          <a:p>
            <a:r>
              <a:rPr lang="en-US" dirty="0"/>
              <a:t>"We figured out where that memory lives."</a:t>
            </a:r>
          </a:p>
          <a:p>
            <a:endParaRPr lang="en-US" dirty="0"/>
          </a:p>
          <a:p>
            <a:r>
              <a:rPr lang="en-US" dirty="0"/>
              <a:t>"We designed what that memory needs to contain."</a:t>
            </a:r>
          </a:p>
          <a:p>
            <a:endParaRPr lang="en-US" dirty="0"/>
          </a:p>
          <a:p>
            <a:r>
              <a:rPr lang="en-US" dirty="0"/>
              <a:t>Pause.</a:t>
            </a:r>
          </a:p>
          <a:p>
            <a:endParaRPr lang="en-US" dirty="0"/>
          </a:p>
          <a:p>
            <a:r>
              <a:rPr lang="en-US" dirty="0"/>
              <a:t>"But there's one problem."</a:t>
            </a:r>
          </a:p>
          <a:p>
            <a:endParaRPr lang="en-US" dirty="0"/>
          </a:p>
          <a:p>
            <a:r>
              <a:rPr lang="en-US" dirty="0"/>
              <a:t>"Our C# application still needs to communicate with the database."</a:t>
            </a:r>
          </a:p>
          <a:p>
            <a:endParaRPr lang="en-US" dirty="0"/>
          </a:p>
          <a:p>
            <a:r>
              <a:rPr lang="en-US" dirty="0"/>
              <a:t>Point to the center of the slide.</a:t>
            </a:r>
          </a:p>
          <a:p>
            <a:endParaRPr lang="en-US" dirty="0"/>
          </a:p>
          <a:p>
            <a:r>
              <a:rPr lang="en-US" dirty="0"/>
              <a:t>"That's where Entity Framework Core comes in."</a:t>
            </a:r>
          </a:p>
          <a:p>
            <a:endParaRPr lang="en-US" dirty="0"/>
          </a:p>
          <a:p>
            <a:r>
              <a:rPr lang="en-US" dirty="0"/>
              <a:t>------------------------------------------------------------</a:t>
            </a:r>
          </a:p>
          <a:p>
            <a:endParaRPr lang="en-US" dirty="0"/>
          </a:p>
          <a:p>
            <a:r>
              <a:rPr lang="en-US" dirty="0"/>
              <a:t>THE ENGINEERING QUESTION</a:t>
            </a:r>
          </a:p>
          <a:p>
            <a:endParaRPr lang="en-US" dirty="0"/>
          </a:p>
          <a:p>
            <a:r>
              <a:rPr lang="en-US" dirty="0"/>
              <a:t>Ask:</a:t>
            </a:r>
          </a:p>
          <a:p>
            <a:endParaRPr lang="en-US" dirty="0"/>
          </a:p>
          <a:p>
            <a:r>
              <a:rPr lang="en-US" dirty="0"/>
              <a:t>"How does our C# application talk to a database?"</a:t>
            </a:r>
          </a:p>
          <a:p>
            <a:endParaRPr lang="en-US" dirty="0"/>
          </a:p>
          <a:p>
            <a:r>
              <a:rPr lang="en-US" dirty="0"/>
              <a:t>Let students answer.</a:t>
            </a:r>
          </a:p>
          <a:p>
            <a:endParaRPr lang="en-US" dirty="0"/>
          </a:p>
          <a:p>
            <a:r>
              <a:rPr lang="en-US" dirty="0"/>
              <a:t>Possible answers:</a:t>
            </a:r>
          </a:p>
          <a:p>
            <a:endParaRPr lang="en-US" dirty="0"/>
          </a:p>
          <a:p>
            <a:r>
              <a:rPr lang="en-US" dirty="0"/>
              <a:t>"SQL."</a:t>
            </a:r>
          </a:p>
          <a:p>
            <a:endParaRPr lang="en-US" dirty="0"/>
          </a:p>
          <a:p>
            <a:r>
              <a:rPr lang="en-US" dirty="0"/>
              <a:t>"Connection."</a:t>
            </a:r>
          </a:p>
          <a:p>
            <a:endParaRPr lang="en-US" dirty="0"/>
          </a:p>
          <a:p>
            <a:r>
              <a:rPr lang="en-US" dirty="0"/>
              <a:t>"Database."</a:t>
            </a:r>
          </a:p>
          <a:p>
            <a:endParaRPr lang="en-US" dirty="0"/>
          </a:p>
          <a:p>
            <a:r>
              <a:rPr lang="en-US" dirty="0"/>
              <a:t>"EF Core."</a:t>
            </a:r>
          </a:p>
          <a:p>
            <a:endParaRPr lang="en-US" dirty="0"/>
          </a:p>
          <a:p>
            <a:r>
              <a:rPr lang="en-US" dirty="0"/>
              <a:t>Acknowledge the answers.</a:t>
            </a:r>
          </a:p>
          <a:p>
            <a:endParaRPr lang="en-US" dirty="0"/>
          </a:p>
          <a:p>
            <a:r>
              <a:rPr lang="en-US" dirty="0"/>
              <a:t>Then say:</a:t>
            </a:r>
          </a:p>
          <a:p>
            <a:endParaRPr lang="en-US" dirty="0"/>
          </a:p>
          <a:p>
            <a:r>
              <a:rPr lang="en-US" dirty="0"/>
              <a:t>"All of those are related."</a:t>
            </a:r>
          </a:p>
          <a:p>
            <a:endParaRPr lang="en-US" dirty="0"/>
          </a:p>
          <a:p>
            <a:r>
              <a:rPr lang="en-US" dirty="0"/>
              <a:t>"But today we're focusing on the tool we're going to use."</a:t>
            </a:r>
          </a:p>
          <a:p>
            <a:endParaRPr lang="en-US" dirty="0"/>
          </a:p>
          <a:p>
            <a:r>
              <a:rPr lang="en-US" dirty="0"/>
              <a:t>"Entity Framework Core."</a:t>
            </a:r>
          </a:p>
          <a:p>
            <a:endParaRPr lang="en-US" dirty="0"/>
          </a:p>
          <a:p>
            <a:r>
              <a:rPr lang="en-US" dirty="0"/>
              <a:t>------------------------------------------------------------</a:t>
            </a:r>
          </a:p>
          <a:p>
            <a:endParaRPr lang="en-US" dirty="0"/>
          </a:p>
          <a:p>
            <a:r>
              <a:rPr lang="en-US" dirty="0"/>
              <a:t>THE BIG IDEA</a:t>
            </a:r>
          </a:p>
          <a:p>
            <a:endParaRPr lang="en-US" dirty="0"/>
          </a:p>
          <a:p>
            <a:r>
              <a:rPr lang="en-US" dirty="0"/>
              <a:t>Point to the bridge.</a:t>
            </a:r>
          </a:p>
          <a:p>
            <a:endParaRPr lang="en-US" dirty="0"/>
          </a:p>
          <a:p>
            <a:r>
              <a:rPr lang="en-US" dirty="0"/>
              <a:t>"C# Application."</a:t>
            </a:r>
          </a:p>
          <a:p>
            <a:endParaRPr lang="en-US" dirty="0"/>
          </a:p>
          <a:p>
            <a:r>
              <a:rPr lang="en-US" dirty="0"/>
              <a:t>"Entity Framework Core."</a:t>
            </a:r>
          </a:p>
          <a:p>
            <a:endParaRPr lang="en-US" dirty="0"/>
          </a:p>
          <a:p>
            <a:r>
              <a:rPr lang="en-US" dirty="0"/>
              <a:t>"Database."</a:t>
            </a:r>
          </a:p>
          <a:p>
            <a:endParaRPr lang="en-US" dirty="0"/>
          </a:p>
          <a:p>
            <a:r>
              <a:rPr lang="en-US" dirty="0"/>
              <a:t>Say:</a:t>
            </a:r>
          </a:p>
          <a:p>
            <a:endParaRPr lang="en-US" dirty="0"/>
          </a:p>
          <a:p>
            <a:r>
              <a:rPr lang="en-US" dirty="0"/>
              <a:t>"Think of EF Core as the bridge between our application and our</a:t>
            </a:r>
          </a:p>
          <a:p>
            <a:r>
              <a:rPr lang="en-US" dirty="0"/>
              <a:t>database."</a:t>
            </a:r>
          </a:p>
          <a:p>
            <a:endParaRPr lang="en-US" dirty="0"/>
          </a:p>
          <a:p>
            <a:r>
              <a:rPr lang="en-US" dirty="0"/>
              <a:t>Pause.</a:t>
            </a:r>
          </a:p>
          <a:p>
            <a:endParaRPr lang="en-US" dirty="0"/>
          </a:p>
          <a:p>
            <a:r>
              <a:rPr lang="en-US" dirty="0"/>
              <a:t>"The application works with C#."</a:t>
            </a:r>
          </a:p>
          <a:p>
            <a:endParaRPr lang="en-US" dirty="0"/>
          </a:p>
          <a:p>
            <a:r>
              <a:rPr lang="en-US" dirty="0"/>
              <a:t>"The database stores information in tables."</a:t>
            </a:r>
          </a:p>
          <a:p>
            <a:endParaRPr lang="en-US" dirty="0"/>
          </a:p>
          <a:p>
            <a:r>
              <a:rPr lang="en-US" dirty="0"/>
              <a:t>"EF Core helps those two worlds communicate."</a:t>
            </a:r>
          </a:p>
          <a:p>
            <a:endParaRPr lang="en-US" dirty="0"/>
          </a:p>
          <a:p>
            <a:r>
              <a:rPr lang="en-US" dirty="0"/>
              <a:t>------------------------------------------------------------</a:t>
            </a:r>
          </a:p>
          <a:p>
            <a:endParaRPr lang="en-US" dirty="0"/>
          </a:p>
          <a:p>
            <a:r>
              <a:rPr lang="en-US" dirty="0"/>
              <a:t>THE KEY SENTENCE</a:t>
            </a:r>
          </a:p>
          <a:p>
            <a:endParaRPr lang="en-US" dirty="0"/>
          </a:p>
          <a:p>
            <a:r>
              <a:rPr lang="en-US" dirty="0"/>
              <a:t>Say this slowly:</a:t>
            </a:r>
          </a:p>
          <a:p>
            <a:endParaRPr lang="en-US" dirty="0"/>
          </a:p>
          <a:p>
            <a:r>
              <a:rPr lang="en-US" dirty="0"/>
              <a:t>"C# thinks in objects."</a:t>
            </a:r>
          </a:p>
          <a:p>
            <a:endParaRPr lang="en-US" dirty="0"/>
          </a:p>
          <a:p>
            <a:r>
              <a:rPr lang="en-US" dirty="0"/>
              <a:t>"Databases think in tables."</a:t>
            </a:r>
          </a:p>
          <a:p>
            <a:endParaRPr lang="en-US" dirty="0"/>
          </a:p>
          <a:p>
            <a:r>
              <a:rPr lang="en-US" dirty="0"/>
              <a:t>"EF Core helps them work together."</a:t>
            </a:r>
          </a:p>
          <a:p>
            <a:endParaRPr lang="en-US" dirty="0"/>
          </a:p>
          <a:p>
            <a:r>
              <a:rPr lang="en-US" dirty="0"/>
              <a:t>Pause.</a:t>
            </a:r>
          </a:p>
          <a:p>
            <a:endParaRPr lang="en-US" dirty="0"/>
          </a:p>
          <a:p>
            <a:r>
              <a:rPr lang="en-US" dirty="0"/>
              <a:t>Repeat:</a:t>
            </a:r>
          </a:p>
          <a:p>
            <a:endParaRPr lang="en-US" dirty="0"/>
          </a:p>
          <a:p>
            <a:r>
              <a:rPr lang="en-US" dirty="0"/>
              <a:t>"C# objects."</a:t>
            </a:r>
          </a:p>
          <a:p>
            <a:endParaRPr lang="en-US" dirty="0"/>
          </a:p>
          <a:p>
            <a:r>
              <a:rPr lang="en-US" dirty="0"/>
              <a:t>"Database tables."</a:t>
            </a:r>
          </a:p>
          <a:p>
            <a:endParaRPr lang="en-US" dirty="0"/>
          </a:p>
          <a:p>
            <a:r>
              <a:rPr lang="en-US" dirty="0"/>
              <a:t>"EF Core connects them."</a:t>
            </a:r>
          </a:p>
          <a:p>
            <a:endParaRPr lang="en-US" dirty="0"/>
          </a:p>
          <a:p>
            <a:r>
              <a:rPr lang="en-US" dirty="0"/>
              <a:t>This is the primary takeaway from today's lesson.</a:t>
            </a:r>
          </a:p>
          <a:p>
            <a:endParaRPr lang="en-US" dirty="0"/>
          </a:p>
          <a:p>
            <a:r>
              <a:rPr lang="en-US" dirty="0"/>
              <a:t>------------------------------------------------------------</a:t>
            </a:r>
          </a:p>
          <a:p>
            <a:endParaRPr lang="en-US" dirty="0"/>
          </a:p>
          <a:p>
            <a:r>
              <a:rPr lang="en-US" dirty="0"/>
              <a:t>WHAT IS EF CORE?</a:t>
            </a:r>
          </a:p>
          <a:p>
            <a:endParaRPr lang="en-US" dirty="0"/>
          </a:p>
          <a:p>
            <a:r>
              <a:rPr lang="en-US" dirty="0"/>
              <a:t>Point to the definition.</a:t>
            </a:r>
          </a:p>
          <a:p>
            <a:endParaRPr lang="en-US" dirty="0"/>
          </a:p>
          <a:p>
            <a:r>
              <a:rPr lang="en-US" dirty="0"/>
              <a:t>"Entity Framework Core is an Object-Relational Mapper."</a:t>
            </a:r>
          </a:p>
          <a:p>
            <a:endParaRPr lang="en-US" dirty="0"/>
          </a:p>
          <a:p>
            <a:r>
              <a:rPr lang="en-US" dirty="0"/>
              <a:t>Then immediately translate the terminology.</a:t>
            </a:r>
          </a:p>
          <a:p>
            <a:endParaRPr lang="en-US" dirty="0"/>
          </a:p>
          <a:p>
            <a:r>
              <a:rPr lang="en-US" dirty="0"/>
              <a:t>"That's a fancy way of saying..."</a:t>
            </a:r>
          </a:p>
          <a:p>
            <a:endParaRPr lang="en-US" dirty="0"/>
          </a:p>
          <a:p>
            <a:r>
              <a:rPr lang="en-US" dirty="0"/>
              <a:t>"It helps our application work with database data using C# objects."</a:t>
            </a:r>
          </a:p>
          <a:p>
            <a:endParaRPr lang="en-US" dirty="0"/>
          </a:p>
          <a:p>
            <a:r>
              <a:rPr lang="en-US" dirty="0"/>
              <a:t>Explain:</a:t>
            </a:r>
          </a:p>
          <a:p>
            <a:endParaRPr lang="en-US" dirty="0"/>
          </a:p>
          <a:p>
            <a:r>
              <a:rPr lang="en-US" dirty="0"/>
              <a:t>"We don't have to think about every database operation as raw SQL."</a:t>
            </a:r>
          </a:p>
          <a:p>
            <a:endParaRPr lang="en-US" dirty="0"/>
          </a:p>
          <a:p>
            <a:r>
              <a:rPr lang="en-US" dirty="0"/>
              <a:t>"EF Core gives us a programming model for working with our data."</a:t>
            </a:r>
          </a:p>
          <a:p>
            <a:endParaRPr lang="en-US" dirty="0"/>
          </a:p>
          <a:p>
            <a:r>
              <a:rPr lang="en-US" dirty="0"/>
              <a:t>------------------------------------------------------------</a:t>
            </a:r>
          </a:p>
          <a:p>
            <a:endParaRPr lang="en-US" dirty="0"/>
          </a:p>
          <a:p>
            <a:r>
              <a:rPr lang="en-US" dirty="0"/>
              <a:t>THE WORD ENTITY</a:t>
            </a:r>
          </a:p>
          <a:p>
            <a:endParaRPr lang="en-US" dirty="0"/>
          </a:p>
          <a:p>
            <a:r>
              <a:rPr lang="en-US" dirty="0"/>
              <a:t>Point to the word "Entity."</a:t>
            </a:r>
          </a:p>
          <a:p>
            <a:endParaRPr lang="en-US" dirty="0"/>
          </a:p>
          <a:p>
            <a:r>
              <a:rPr lang="en-US" dirty="0"/>
              <a:t>Ask:</a:t>
            </a:r>
          </a:p>
          <a:p>
            <a:endParaRPr lang="en-US" dirty="0"/>
          </a:p>
          <a:p>
            <a:r>
              <a:rPr lang="en-US" dirty="0"/>
              <a:t>"What is an entity?"</a:t>
            </a:r>
          </a:p>
          <a:p>
            <a:endParaRPr lang="en-US" dirty="0"/>
          </a:p>
          <a:p>
            <a:r>
              <a:rPr lang="en-US" dirty="0"/>
              <a:t>Explain:</a:t>
            </a:r>
          </a:p>
          <a:p>
            <a:endParaRPr lang="en-US" dirty="0"/>
          </a:p>
          <a:p>
            <a:r>
              <a:rPr lang="en-US" dirty="0"/>
              <a:t>"An entity is something our application needs to keep track of."</a:t>
            </a:r>
          </a:p>
          <a:p>
            <a:endParaRPr lang="en-US" dirty="0"/>
          </a:p>
          <a:p>
            <a:r>
              <a:rPr lang="en-US" dirty="0"/>
              <a:t>For Atlas </a:t>
            </a:r>
            <a:r>
              <a:rPr lang="en-US" dirty="0" err="1"/>
              <a:t>TaskFlow</a:t>
            </a:r>
            <a:r>
              <a:rPr lang="en-US" dirty="0"/>
              <a:t>:</a:t>
            </a:r>
          </a:p>
          <a:p>
            <a:endParaRPr lang="en-US" dirty="0"/>
          </a:p>
          <a:p>
            <a:r>
              <a:rPr lang="en-US" dirty="0"/>
              <a:t>User.</a:t>
            </a:r>
          </a:p>
          <a:p>
            <a:endParaRPr lang="en-US" dirty="0"/>
          </a:p>
          <a:p>
            <a:r>
              <a:rPr lang="en-US" dirty="0"/>
              <a:t>Project.</a:t>
            </a:r>
          </a:p>
          <a:p>
            <a:endParaRPr lang="en-US" dirty="0"/>
          </a:p>
          <a:p>
            <a:r>
              <a:rPr lang="en-US" dirty="0"/>
              <a:t>Task.</a:t>
            </a:r>
          </a:p>
          <a:p>
            <a:endParaRPr lang="en-US" dirty="0"/>
          </a:p>
          <a:p>
            <a:r>
              <a:rPr lang="en-US" dirty="0"/>
              <a:t>Status.</a:t>
            </a:r>
          </a:p>
          <a:p>
            <a:endParaRPr lang="en-US" dirty="0"/>
          </a:p>
          <a:p>
            <a:r>
              <a:rPr lang="en-US" dirty="0"/>
              <a:t>Category.</a:t>
            </a:r>
          </a:p>
          <a:p>
            <a:endParaRPr lang="en-US" dirty="0"/>
          </a:p>
          <a:p>
            <a:r>
              <a:rPr lang="en-US" dirty="0"/>
              <a:t>These entities came directly from the data model we just designed.</a:t>
            </a:r>
          </a:p>
          <a:p>
            <a:endParaRPr lang="en-US" dirty="0"/>
          </a:p>
          <a:p>
            <a:r>
              <a:rPr lang="en-US" dirty="0"/>
              <a:t>------------------------------------------------------------</a:t>
            </a:r>
          </a:p>
          <a:p>
            <a:endParaRPr lang="en-US" dirty="0"/>
          </a:p>
          <a:p>
            <a:r>
              <a:rPr lang="en-US" dirty="0"/>
              <a:t>CONNECT TO THE PREVIOUS LESSON</a:t>
            </a:r>
          </a:p>
          <a:p>
            <a:endParaRPr lang="en-US" dirty="0"/>
          </a:p>
          <a:p>
            <a:r>
              <a:rPr lang="en-US" dirty="0"/>
              <a:t>Point back to the data model.</a:t>
            </a:r>
          </a:p>
          <a:p>
            <a:endParaRPr lang="en-US" dirty="0"/>
          </a:p>
          <a:p>
            <a:r>
              <a:rPr lang="en-US" dirty="0"/>
              <a:t>Say:</a:t>
            </a:r>
          </a:p>
          <a:p>
            <a:endParaRPr lang="en-US" dirty="0"/>
          </a:p>
          <a:p>
            <a:r>
              <a:rPr lang="en-US" dirty="0"/>
              <a:t>"Notice something."</a:t>
            </a:r>
          </a:p>
          <a:p>
            <a:endParaRPr lang="en-US" dirty="0"/>
          </a:p>
          <a:p>
            <a:r>
              <a:rPr lang="en-US" dirty="0"/>
              <a:t>"We're not creating these entities out of nowhere."</a:t>
            </a:r>
          </a:p>
          <a:p>
            <a:endParaRPr lang="en-US" dirty="0"/>
          </a:p>
          <a:p>
            <a:r>
              <a:rPr lang="en-US" dirty="0"/>
              <a:t>"We already designed them."</a:t>
            </a:r>
          </a:p>
          <a:p>
            <a:endParaRPr lang="en-US" dirty="0"/>
          </a:p>
          <a:p>
            <a:r>
              <a:rPr lang="en-US" dirty="0"/>
              <a:t>The process is:</a:t>
            </a:r>
          </a:p>
          <a:p>
            <a:endParaRPr lang="en-US" dirty="0"/>
          </a:p>
          <a:p>
            <a:r>
              <a:rPr lang="en-US" dirty="0"/>
              <a:t>Requirements</a:t>
            </a:r>
          </a:p>
          <a:p>
            <a:endParaRPr lang="en-US" dirty="0"/>
          </a:p>
          <a:p>
            <a:r>
              <a:rPr lang="en-US" dirty="0"/>
              <a:t>↓</a:t>
            </a:r>
          </a:p>
          <a:p>
            <a:endParaRPr lang="en-US" dirty="0"/>
          </a:p>
          <a:p>
            <a:r>
              <a:rPr lang="en-US" dirty="0"/>
              <a:t>Features</a:t>
            </a:r>
          </a:p>
          <a:p>
            <a:endParaRPr lang="en-US" dirty="0"/>
          </a:p>
          <a:p>
            <a:r>
              <a:rPr lang="en-US" dirty="0"/>
              <a:t>↓</a:t>
            </a:r>
          </a:p>
          <a:p>
            <a:endParaRPr lang="en-US" dirty="0"/>
          </a:p>
          <a:p>
            <a:r>
              <a:rPr lang="en-US" dirty="0"/>
              <a:t>Data Model</a:t>
            </a:r>
          </a:p>
          <a:p>
            <a:endParaRPr lang="en-US" dirty="0"/>
          </a:p>
          <a:p>
            <a:r>
              <a:rPr lang="en-US" dirty="0"/>
              <a:t>↓</a:t>
            </a:r>
          </a:p>
          <a:p>
            <a:endParaRPr lang="en-US" dirty="0"/>
          </a:p>
          <a:p>
            <a:r>
              <a:rPr lang="en-US" dirty="0"/>
              <a:t>C# Models</a:t>
            </a:r>
          </a:p>
          <a:p>
            <a:endParaRPr lang="en-US" dirty="0"/>
          </a:p>
          <a:p>
            <a:r>
              <a:rPr lang="en-US" dirty="0"/>
              <a:t>↓</a:t>
            </a:r>
          </a:p>
          <a:p>
            <a:endParaRPr lang="en-US" dirty="0"/>
          </a:p>
          <a:p>
            <a:r>
              <a:rPr lang="en-US" dirty="0"/>
              <a:t>Database</a:t>
            </a:r>
          </a:p>
          <a:p>
            <a:endParaRPr lang="en-US" dirty="0"/>
          </a:p>
          <a:p>
            <a:r>
              <a:rPr lang="en-US" dirty="0"/>
              <a:t>Explain:</a:t>
            </a:r>
          </a:p>
          <a:p>
            <a:endParaRPr lang="en-US" dirty="0"/>
          </a:p>
          <a:p>
            <a:r>
              <a:rPr lang="en-US" dirty="0"/>
              <a:t>"This is traceability."</a:t>
            </a:r>
          </a:p>
          <a:p>
            <a:endParaRPr lang="en-US" dirty="0"/>
          </a:p>
          <a:p>
            <a:r>
              <a:rPr lang="en-US" dirty="0"/>
              <a:t>"The work we did earlier is now guiding our implementation."</a:t>
            </a:r>
          </a:p>
          <a:p>
            <a:endParaRPr lang="en-US" dirty="0"/>
          </a:p>
          <a:p>
            <a:r>
              <a:rPr lang="en-US" dirty="0"/>
              <a:t>------------------------------------------------------------</a:t>
            </a:r>
          </a:p>
          <a:p>
            <a:endParaRPr lang="en-US" dirty="0"/>
          </a:p>
          <a:p>
            <a:r>
              <a:rPr lang="en-US" dirty="0"/>
              <a:t>FROM DATA MODEL TO C#</a:t>
            </a:r>
          </a:p>
          <a:p>
            <a:endParaRPr lang="en-US" dirty="0"/>
          </a:p>
          <a:p>
            <a:r>
              <a:rPr lang="en-US" dirty="0"/>
              <a:t>Use Task as the example.</a:t>
            </a:r>
          </a:p>
          <a:p>
            <a:endParaRPr lang="en-US" dirty="0"/>
          </a:p>
          <a:p>
            <a:r>
              <a:rPr lang="en-US" dirty="0"/>
              <a:t>Our data model says a Task needs:</a:t>
            </a:r>
          </a:p>
          <a:p>
            <a:endParaRPr lang="en-US" dirty="0"/>
          </a:p>
          <a:p>
            <a:r>
              <a:rPr lang="en-US" dirty="0" err="1"/>
              <a:t>TaskId</a:t>
            </a:r>
            <a:endParaRPr lang="en-US" dirty="0"/>
          </a:p>
          <a:p>
            <a:endParaRPr lang="en-US" dirty="0"/>
          </a:p>
          <a:p>
            <a:r>
              <a:rPr lang="en-US" dirty="0"/>
              <a:t>Title</a:t>
            </a:r>
          </a:p>
          <a:p>
            <a:endParaRPr lang="en-US" dirty="0"/>
          </a:p>
          <a:p>
            <a:r>
              <a:rPr lang="en-US" dirty="0"/>
              <a:t>Description</a:t>
            </a:r>
          </a:p>
          <a:p>
            <a:endParaRPr lang="en-US" dirty="0"/>
          </a:p>
          <a:p>
            <a:r>
              <a:rPr lang="en-US" dirty="0" err="1"/>
              <a:t>DueDate</a:t>
            </a:r>
            <a:endParaRPr lang="en-US" dirty="0"/>
          </a:p>
          <a:p>
            <a:endParaRPr lang="en-US" dirty="0"/>
          </a:p>
          <a:p>
            <a:r>
              <a:rPr lang="en-US" dirty="0" err="1"/>
              <a:t>StatusId</a:t>
            </a:r>
            <a:endParaRPr lang="en-US" dirty="0"/>
          </a:p>
          <a:p>
            <a:endParaRPr lang="en-US" dirty="0"/>
          </a:p>
          <a:p>
            <a:r>
              <a:rPr lang="en-US" dirty="0" err="1"/>
              <a:t>ProjectId</a:t>
            </a:r>
            <a:endParaRPr lang="en-US" dirty="0"/>
          </a:p>
          <a:p>
            <a:endParaRPr lang="en-US" dirty="0"/>
          </a:p>
          <a:p>
            <a:r>
              <a:rPr lang="en-US" dirty="0"/>
              <a:t>Explain:</a:t>
            </a:r>
          </a:p>
          <a:p>
            <a:endParaRPr lang="en-US" dirty="0"/>
          </a:p>
          <a:p>
            <a:r>
              <a:rPr lang="en-US" dirty="0"/>
              <a:t>"Now our application needs a C# representation of that information."</a:t>
            </a:r>
          </a:p>
          <a:p>
            <a:endParaRPr lang="en-US" dirty="0"/>
          </a:p>
          <a:p>
            <a:r>
              <a:rPr lang="en-US" dirty="0"/>
              <a:t>Show the simple class from the poster.</a:t>
            </a:r>
          </a:p>
          <a:p>
            <a:endParaRPr lang="en-US" dirty="0"/>
          </a:p>
          <a:p>
            <a:r>
              <a:rPr lang="en-US" dirty="0"/>
              <a:t>Say:</a:t>
            </a:r>
          </a:p>
          <a:p>
            <a:endParaRPr lang="en-US" dirty="0"/>
          </a:p>
          <a:p>
            <a:r>
              <a:rPr lang="en-US" dirty="0"/>
              <a:t>"This is our Task model."</a:t>
            </a:r>
          </a:p>
          <a:p>
            <a:endParaRPr lang="en-US" dirty="0"/>
          </a:p>
          <a:p>
            <a:r>
              <a:rPr lang="en-US" dirty="0"/>
              <a:t>"These properties represent the information our application works</a:t>
            </a:r>
          </a:p>
          <a:p>
            <a:r>
              <a:rPr lang="en-US" dirty="0"/>
              <a:t>with."</a:t>
            </a:r>
          </a:p>
          <a:p>
            <a:endParaRPr lang="en-US" dirty="0"/>
          </a:p>
          <a:p>
            <a:r>
              <a:rPr lang="en-US" dirty="0"/>
              <a:t>------------------------------------------------------------</a:t>
            </a:r>
          </a:p>
          <a:p>
            <a:endParaRPr lang="en-US" dirty="0"/>
          </a:p>
          <a:p>
            <a:r>
              <a:rPr lang="en-US" dirty="0"/>
              <a:t>FROM C# CLASS TO DATABASE TABLE</a:t>
            </a:r>
          </a:p>
          <a:p>
            <a:endParaRPr lang="en-US" dirty="0"/>
          </a:p>
          <a:p>
            <a:r>
              <a:rPr lang="en-US" dirty="0"/>
              <a:t>Point to the mapping diagram.</a:t>
            </a:r>
          </a:p>
          <a:p>
            <a:endParaRPr lang="en-US" dirty="0"/>
          </a:p>
          <a:p>
            <a:r>
              <a:rPr lang="en-US" dirty="0"/>
              <a:t>Task class</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Tasks table</a:t>
            </a:r>
          </a:p>
          <a:p>
            <a:endParaRPr lang="en-US" dirty="0"/>
          </a:p>
          <a:p>
            <a:r>
              <a:rPr lang="en-US" dirty="0"/>
              <a:t>Explain:</a:t>
            </a:r>
          </a:p>
          <a:p>
            <a:endParaRPr lang="en-US" dirty="0"/>
          </a:p>
          <a:p>
            <a:r>
              <a:rPr lang="en-US" dirty="0"/>
              <a:t>"EF Core helps map the properties of our C# class to columns in the</a:t>
            </a:r>
          </a:p>
          <a:p>
            <a:r>
              <a:rPr lang="en-US" dirty="0"/>
              <a:t>database."</a:t>
            </a:r>
          </a:p>
          <a:p>
            <a:endParaRPr lang="en-US" dirty="0"/>
          </a:p>
          <a:p>
            <a:r>
              <a:rPr lang="en-US" dirty="0"/>
              <a:t>For example:</a:t>
            </a:r>
          </a:p>
          <a:p>
            <a:endParaRPr lang="en-US" dirty="0"/>
          </a:p>
          <a:p>
            <a:r>
              <a:rPr lang="en-US" dirty="0" err="1"/>
              <a:t>TaskId</a:t>
            </a:r>
            <a:r>
              <a:rPr lang="en-US" dirty="0"/>
              <a:t> → </a:t>
            </a:r>
            <a:r>
              <a:rPr lang="en-US" dirty="0" err="1"/>
              <a:t>TaskId</a:t>
            </a:r>
            <a:endParaRPr lang="en-US" dirty="0"/>
          </a:p>
          <a:p>
            <a:endParaRPr lang="en-US" dirty="0"/>
          </a:p>
          <a:p>
            <a:r>
              <a:rPr lang="en-US" dirty="0"/>
              <a:t>Title → Title</a:t>
            </a:r>
          </a:p>
          <a:p>
            <a:endParaRPr lang="en-US" dirty="0"/>
          </a:p>
          <a:p>
            <a:r>
              <a:rPr lang="en-US" dirty="0"/>
              <a:t>Description → Description</a:t>
            </a:r>
          </a:p>
          <a:p>
            <a:endParaRPr lang="en-US" dirty="0"/>
          </a:p>
          <a:p>
            <a:r>
              <a:rPr lang="en-US" dirty="0" err="1"/>
              <a:t>DueDate</a:t>
            </a:r>
            <a:r>
              <a:rPr lang="en-US" dirty="0"/>
              <a:t> → </a:t>
            </a:r>
            <a:r>
              <a:rPr lang="en-US" dirty="0" err="1"/>
              <a:t>DueDate</a:t>
            </a:r>
            <a:endParaRPr lang="en-US" dirty="0"/>
          </a:p>
          <a:p>
            <a:endParaRPr lang="en-US" dirty="0"/>
          </a:p>
          <a:p>
            <a:r>
              <a:rPr lang="en-US" dirty="0" err="1"/>
              <a:t>StatusId</a:t>
            </a:r>
            <a:r>
              <a:rPr lang="en-US" dirty="0"/>
              <a:t> → </a:t>
            </a:r>
            <a:r>
              <a:rPr lang="en-US" dirty="0" err="1"/>
              <a:t>StatusId</a:t>
            </a:r>
            <a:endParaRPr lang="en-US" dirty="0"/>
          </a:p>
          <a:p>
            <a:endParaRPr lang="en-US" dirty="0"/>
          </a:p>
          <a:p>
            <a:r>
              <a:rPr lang="en-US" dirty="0" err="1"/>
              <a:t>ProjectId</a:t>
            </a:r>
            <a:r>
              <a:rPr lang="en-US" dirty="0"/>
              <a:t> → </a:t>
            </a:r>
            <a:r>
              <a:rPr lang="en-US" dirty="0" err="1"/>
              <a:t>ProjectId</a:t>
            </a:r>
            <a:endParaRPr lang="en-US" dirty="0"/>
          </a:p>
          <a:p>
            <a:endParaRPr lang="en-US" dirty="0"/>
          </a:p>
          <a:p>
            <a:r>
              <a:rPr lang="en-US" dirty="0"/>
              <a:t>Explain:</a:t>
            </a:r>
          </a:p>
          <a:p>
            <a:endParaRPr lang="en-US" dirty="0"/>
          </a:p>
          <a:p>
            <a:r>
              <a:rPr lang="en-US" dirty="0"/>
              <a:t>"The names and configuration can vary."</a:t>
            </a:r>
          </a:p>
          <a:p>
            <a:endParaRPr lang="en-US" dirty="0"/>
          </a:p>
          <a:p>
            <a:r>
              <a:rPr lang="en-US" dirty="0"/>
              <a:t>"The important idea is the mapping."</a:t>
            </a:r>
          </a:p>
          <a:p>
            <a:endParaRPr lang="en-US" dirty="0"/>
          </a:p>
          <a:p>
            <a:r>
              <a:rPr lang="en-US" dirty="0"/>
              <a:t>------------------------------------------------------------</a:t>
            </a:r>
          </a:p>
          <a:p>
            <a:endParaRPr lang="en-US" dirty="0"/>
          </a:p>
          <a:p>
            <a:r>
              <a:rPr lang="en-US" dirty="0"/>
              <a:t>THE WORD "MAPPING"</a:t>
            </a:r>
          </a:p>
          <a:p>
            <a:endParaRPr lang="en-US" dirty="0"/>
          </a:p>
          <a:p>
            <a:r>
              <a:rPr lang="en-US" dirty="0"/>
              <a:t>Emphasize:</a:t>
            </a:r>
          </a:p>
          <a:p>
            <a:endParaRPr lang="en-US" dirty="0"/>
          </a:p>
          <a:p>
            <a:r>
              <a:rPr lang="en-US" dirty="0"/>
              <a:t>"Mapping."</a:t>
            </a:r>
          </a:p>
          <a:p>
            <a:endParaRPr lang="en-US" dirty="0"/>
          </a:p>
          <a:p>
            <a:r>
              <a:rPr lang="en-US" dirty="0"/>
              <a:t>Say:</a:t>
            </a:r>
          </a:p>
          <a:p>
            <a:endParaRPr lang="en-US" dirty="0"/>
          </a:p>
          <a:p>
            <a:r>
              <a:rPr lang="en-US" dirty="0"/>
              <a:t>"When we talk about EF Core..."</a:t>
            </a:r>
          </a:p>
          <a:p>
            <a:endParaRPr lang="en-US" dirty="0"/>
          </a:p>
          <a:p>
            <a:r>
              <a:rPr lang="en-US" dirty="0"/>
              <a:t>"You're going to hear the word mapping."</a:t>
            </a:r>
          </a:p>
          <a:p>
            <a:endParaRPr lang="en-US" dirty="0"/>
          </a:p>
          <a:p>
            <a:r>
              <a:rPr lang="en-US" dirty="0"/>
              <a:t>"Mapping means connecting something in our application to something in</a:t>
            </a:r>
          </a:p>
          <a:p>
            <a:r>
              <a:rPr lang="en-US" dirty="0"/>
              <a:t>our database."</a:t>
            </a:r>
          </a:p>
          <a:p>
            <a:endParaRPr lang="en-US" dirty="0"/>
          </a:p>
          <a:p>
            <a:r>
              <a:rPr lang="en-US" dirty="0"/>
              <a:t>For Atlas:</a:t>
            </a:r>
          </a:p>
          <a:p>
            <a:endParaRPr lang="en-US" dirty="0"/>
          </a:p>
          <a:p>
            <a:r>
              <a:rPr lang="en-US" dirty="0"/>
              <a:t>C# Task object</a:t>
            </a:r>
          </a:p>
          <a:p>
            <a:endParaRPr lang="en-US" dirty="0"/>
          </a:p>
          <a:p>
            <a:r>
              <a:rPr lang="en-US" dirty="0"/>
              <a:t>maps to</a:t>
            </a:r>
          </a:p>
          <a:p>
            <a:endParaRPr lang="en-US" dirty="0"/>
          </a:p>
          <a:p>
            <a:r>
              <a:rPr lang="en-US" dirty="0"/>
              <a:t>Task database record.</a:t>
            </a:r>
          </a:p>
          <a:p>
            <a:endParaRPr lang="en-US" dirty="0"/>
          </a:p>
          <a:p>
            <a:r>
              <a:rPr lang="en-US" dirty="0"/>
              <a:t>------------------------------------------------------------</a:t>
            </a:r>
          </a:p>
          <a:p>
            <a:endParaRPr lang="en-US" dirty="0"/>
          </a:p>
          <a:p>
            <a:r>
              <a:rPr lang="en-US" dirty="0"/>
              <a:t>CRUD</a:t>
            </a:r>
          </a:p>
          <a:p>
            <a:endParaRPr lang="en-US" dirty="0"/>
          </a:p>
          <a:p>
            <a:r>
              <a:rPr lang="en-US" dirty="0"/>
              <a:t>Point to the four operations.</a:t>
            </a:r>
          </a:p>
          <a:p>
            <a:endParaRPr lang="en-US" dirty="0"/>
          </a:p>
          <a:p>
            <a:r>
              <a:rPr lang="en-US" dirty="0"/>
              <a:t>CREATE</a:t>
            </a:r>
          </a:p>
          <a:p>
            <a:endParaRPr lang="en-US" dirty="0"/>
          </a:p>
          <a:p>
            <a:r>
              <a:rPr lang="en-US" dirty="0"/>
              <a:t>READ</a:t>
            </a:r>
          </a:p>
          <a:p>
            <a:endParaRPr lang="en-US" dirty="0"/>
          </a:p>
          <a:p>
            <a:r>
              <a:rPr lang="en-US" dirty="0"/>
              <a:t>UPDATE</a:t>
            </a:r>
          </a:p>
          <a:p>
            <a:endParaRPr lang="en-US" dirty="0"/>
          </a:p>
          <a:p>
            <a:r>
              <a:rPr lang="en-US" dirty="0"/>
              <a:t>DELETE</a:t>
            </a:r>
          </a:p>
          <a:p>
            <a:endParaRPr lang="en-US" dirty="0"/>
          </a:p>
          <a:p>
            <a:r>
              <a:rPr lang="en-US" dirty="0"/>
              <a:t>Ask:</a:t>
            </a:r>
          </a:p>
          <a:p>
            <a:endParaRPr lang="en-US" dirty="0"/>
          </a:p>
          <a:p>
            <a:r>
              <a:rPr lang="en-US" dirty="0"/>
              <a:t>"Does anyone remember these from earlier?"</a:t>
            </a:r>
          </a:p>
          <a:p>
            <a:endParaRPr lang="en-US" dirty="0"/>
          </a:p>
          <a:p>
            <a:r>
              <a:rPr lang="en-US" dirty="0"/>
              <a:t>Review:</a:t>
            </a:r>
          </a:p>
          <a:p>
            <a:endParaRPr lang="en-US" dirty="0"/>
          </a:p>
          <a:p>
            <a:r>
              <a:rPr lang="en-US" dirty="0"/>
              <a:t>Create a task.</a:t>
            </a:r>
          </a:p>
          <a:p>
            <a:endParaRPr lang="en-US" dirty="0"/>
          </a:p>
          <a:p>
            <a:r>
              <a:rPr lang="en-US" dirty="0"/>
              <a:t>Read tasks.</a:t>
            </a:r>
          </a:p>
          <a:p>
            <a:endParaRPr lang="en-US" dirty="0"/>
          </a:p>
          <a:p>
            <a:r>
              <a:rPr lang="en-US" dirty="0"/>
              <a:t>Update a task.</a:t>
            </a:r>
          </a:p>
          <a:p>
            <a:endParaRPr lang="en-US" dirty="0"/>
          </a:p>
          <a:p>
            <a:r>
              <a:rPr lang="en-US" dirty="0"/>
              <a:t>Delete a task.</a:t>
            </a:r>
          </a:p>
          <a:p>
            <a:endParaRPr lang="en-US" dirty="0"/>
          </a:p>
          <a:p>
            <a:r>
              <a:rPr lang="en-US" dirty="0"/>
              <a:t>Say:</a:t>
            </a:r>
          </a:p>
          <a:p>
            <a:endParaRPr lang="en-US" dirty="0"/>
          </a:p>
          <a:p>
            <a:r>
              <a:rPr lang="en-US" dirty="0"/>
              <a:t>"These are the basic operations our application needs to perform with</a:t>
            </a:r>
          </a:p>
          <a:p>
            <a:r>
              <a:rPr lang="en-US" dirty="0"/>
              <a:t>persistent data."</a:t>
            </a:r>
          </a:p>
          <a:p>
            <a:endParaRPr lang="en-US" dirty="0"/>
          </a:p>
          <a:p>
            <a:r>
              <a:rPr lang="en-US" dirty="0"/>
              <a:t>------------------------------------------------------------</a:t>
            </a:r>
          </a:p>
          <a:p>
            <a:endParaRPr lang="en-US" dirty="0"/>
          </a:p>
          <a:p>
            <a:r>
              <a:rPr lang="en-US" dirty="0"/>
              <a:t>CREATE</a:t>
            </a:r>
          </a:p>
          <a:p>
            <a:endParaRPr lang="en-US" dirty="0"/>
          </a:p>
          <a:p>
            <a:r>
              <a:rPr lang="en-US" dirty="0"/>
              <a:t>Walk through the Atlas example.</a:t>
            </a:r>
          </a:p>
          <a:p>
            <a:endParaRPr lang="en-US" dirty="0"/>
          </a:p>
          <a:p>
            <a:r>
              <a:rPr lang="en-US" dirty="0"/>
              <a:t>User creates:</a:t>
            </a:r>
          </a:p>
          <a:p>
            <a:endParaRPr lang="en-US" dirty="0"/>
          </a:p>
          <a:p>
            <a:r>
              <a:rPr lang="en-US" dirty="0"/>
              <a:t>"Build homepage."</a:t>
            </a:r>
          </a:p>
          <a:p>
            <a:endParaRPr lang="en-US" dirty="0"/>
          </a:p>
          <a:p>
            <a:r>
              <a:rPr lang="en-US" dirty="0"/>
              <a:t>The application creates a Task object.</a:t>
            </a:r>
          </a:p>
          <a:p>
            <a:endParaRPr lang="en-US" dirty="0"/>
          </a:p>
          <a:p>
            <a:r>
              <a:rPr lang="en-US" dirty="0"/>
              <a:t>EF Core sends the appropriate operation to the database.</a:t>
            </a:r>
          </a:p>
          <a:p>
            <a:endParaRPr lang="en-US" dirty="0"/>
          </a:p>
          <a:p>
            <a:r>
              <a:rPr lang="en-US" dirty="0"/>
              <a:t>The database stores the information.</a:t>
            </a:r>
          </a:p>
          <a:p>
            <a:endParaRPr lang="en-US" dirty="0"/>
          </a:p>
          <a:p>
            <a:r>
              <a:rPr lang="en-US" dirty="0"/>
              <a:t>Say:</a:t>
            </a:r>
          </a:p>
          <a:p>
            <a:endParaRPr lang="en-US" dirty="0"/>
          </a:p>
          <a:p>
            <a:r>
              <a:rPr lang="en-US" dirty="0"/>
              <a:t>"The task now exists beyond the current browser session."</a:t>
            </a:r>
          </a:p>
          <a:p>
            <a:endParaRPr lang="en-US" dirty="0"/>
          </a:p>
          <a:p>
            <a:r>
              <a:rPr lang="en-US" dirty="0"/>
              <a:t>That's persistence.</a:t>
            </a:r>
          </a:p>
          <a:p>
            <a:endParaRPr lang="en-US" dirty="0"/>
          </a:p>
          <a:p>
            <a:r>
              <a:rPr lang="en-US" dirty="0"/>
              <a:t>------------------------------------------------------------</a:t>
            </a:r>
          </a:p>
          <a:p>
            <a:endParaRPr lang="en-US" dirty="0"/>
          </a:p>
          <a:p>
            <a:r>
              <a:rPr lang="en-US" dirty="0"/>
              <a:t>READ</a:t>
            </a:r>
          </a:p>
          <a:p>
            <a:endParaRPr lang="en-US" dirty="0"/>
          </a:p>
          <a:p>
            <a:r>
              <a:rPr lang="en-US" dirty="0"/>
              <a:t>User opens the Tasks page.</a:t>
            </a:r>
          </a:p>
          <a:p>
            <a:endParaRPr lang="en-US" dirty="0"/>
          </a:p>
          <a:p>
            <a:r>
              <a:rPr lang="en-US" dirty="0"/>
              <a:t>The application asks for the user's tasks.</a:t>
            </a:r>
          </a:p>
          <a:p>
            <a:endParaRPr lang="en-US" dirty="0"/>
          </a:p>
          <a:p>
            <a:r>
              <a:rPr lang="en-US" dirty="0"/>
              <a:t>EF Core communicates with the database.</a:t>
            </a:r>
          </a:p>
          <a:p>
            <a:endParaRPr lang="en-US" dirty="0"/>
          </a:p>
          <a:p>
            <a:r>
              <a:rPr lang="en-US" dirty="0"/>
              <a:t>The database returns the records.</a:t>
            </a:r>
          </a:p>
          <a:p>
            <a:endParaRPr lang="en-US" dirty="0"/>
          </a:p>
          <a:p>
            <a:r>
              <a:rPr lang="en-US" dirty="0"/>
              <a:t>The application displays them.</a:t>
            </a:r>
          </a:p>
          <a:p>
            <a:endParaRPr lang="en-US" dirty="0"/>
          </a:p>
          <a:p>
            <a:r>
              <a:rPr lang="en-US" dirty="0"/>
              <a:t>Say:</a:t>
            </a:r>
          </a:p>
          <a:p>
            <a:endParaRPr lang="en-US" dirty="0"/>
          </a:p>
          <a:p>
            <a:r>
              <a:rPr lang="en-US" dirty="0"/>
              <a:t>"This is how Atlas remembers."</a:t>
            </a:r>
          </a:p>
          <a:p>
            <a:endParaRPr lang="en-US" dirty="0"/>
          </a:p>
          <a:p>
            <a:r>
              <a:rPr lang="en-US" dirty="0"/>
              <a:t>------------------------------------------------------------</a:t>
            </a:r>
          </a:p>
          <a:p>
            <a:endParaRPr lang="en-US" dirty="0"/>
          </a:p>
          <a:p>
            <a:r>
              <a:rPr lang="en-US" dirty="0"/>
              <a:t>UPDATE</a:t>
            </a:r>
          </a:p>
          <a:p>
            <a:endParaRPr lang="en-US" dirty="0"/>
          </a:p>
          <a:p>
            <a:r>
              <a:rPr lang="en-US" dirty="0"/>
              <a:t>User changes:</a:t>
            </a:r>
          </a:p>
          <a:p>
            <a:endParaRPr lang="en-US" dirty="0"/>
          </a:p>
          <a:p>
            <a:r>
              <a:rPr lang="en-US" dirty="0"/>
              <a:t>"Build homepage"</a:t>
            </a:r>
          </a:p>
          <a:p>
            <a:endParaRPr lang="en-US" dirty="0"/>
          </a:p>
          <a:p>
            <a:r>
              <a:rPr lang="en-US" dirty="0"/>
              <a:t>to:</a:t>
            </a:r>
          </a:p>
          <a:p>
            <a:endParaRPr lang="en-US" dirty="0"/>
          </a:p>
          <a:p>
            <a:r>
              <a:rPr lang="en-US" dirty="0"/>
              <a:t>"Build landing page."</a:t>
            </a:r>
          </a:p>
          <a:p>
            <a:endParaRPr lang="en-US" dirty="0"/>
          </a:p>
          <a:p>
            <a:r>
              <a:rPr lang="en-US" dirty="0"/>
              <a:t>The application updates the task.</a:t>
            </a:r>
          </a:p>
          <a:p>
            <a:endParaRPr lang="en-US" dirty="0"/>
          </a:p>
          <a:p>
            <a:r>
              <a:rPr lang="en-US" dirty="0"/>
              <a:t>EF Core communicates the change.</a:t>
            </a:r>
          </a:p>
          <a:p>
            <a:endParaRPr lang="en-US" dirty="0"/>
          </a:p>
          <a:p>
            <a:r>
              <a:rPr lang="en-US" dirty="0"/>
              <a:t>The database stores the updated information.</a:t>
            </a:r>
          </a:p>
          <a:p>
            <a:endParaRPr lang="en-US" dirty="0"/>
          </a:p>
          <a:p>
            <a:r>
              <a:rPr lang="en-US" dirty="0"/>
              <a:t>Explain:</a:t>
            </a:r>
          </a:p>
          <a:p>
            <a:endParaRPr lang="en-US" dirty="0"/>
          </a:p>
          <a:p>
            <a:r>
              <a:rPr lang="en-US" dirty="0"/>
              <a:t>"The database now contains the current version."</a:t>
            </a:r>
          </a:p>
          <a:p>
            <a:endParaRPr lang="en-US" dirty="0"/>
          </a:p>
          <a:p>
            <a:r>
              <a:rPr lang="en-US" dirty="0"/>
              <a:t>------------------------------------------------------------</a:t>
            </a:r>
          </a:p>
          <a:p>
            <a:endParaRPr lang="en-US" dirty="0"/>
          </a:p>
          <a:p>
            <a:r>
              <a:rPr lang="en-US" dirty="0"/>
              <a:t>DELETE</a:t>
            </a:r>
          </a:p>
          <a:p>
            <a:endParaRPr lang="en-US" dirty="0"/>
          </a:p>
          <a:p>
            <a:r>
              <a:rPr lang="en-US" dirty="0"/>
              <a:t>User removes a task.</a:t>
            </a:r>
          </a:p>
          <a:p>
            <a:endParaRPr lang="en-US" dirty="0"/>
          </a:p>
          <a:p>
            <a:r>
              <a:rPr lang="en-US" dirty="0"/>
              <a:t>The application requests the deletion.</a:t>
            </a:r>
          </a:p>
          <a:p>
            <a:endParaRPr lang="en-US" dirty="0"/>
          </a:p>
          <a:p>
            <a:r>
              <a:rPr lang="en-US" dirty="0"/>
              <a:t>EF Core communicates the operation.</a:t>
            </a:r>
          </a:p>
          <a:p>
            <a:endParaRPr lang="en-US" dirty="0"/>
          </a:p>
          <a:p>
            <a:r>
              <a:rPr lang="en-US" dirty="0"/>
              <a:t>The database removes the record.</a:t>
            </a:r>
          </a:p>
          <a:p>
            <a:endParaRPr lang="en-US" dirty="0"/>
          </a:p>
          <a:p>
            <a:r>
              <a:rPr lang="en-US" dirty="0"/>
              <a:t>Explain:</a:t>
            </a:r>
          </a:p>
          <a:p>
            <a:endParaRPr lang="en-US" dirty="0"/>
          </a:p>
          <a:p>
            <a:r>
              <a:rPr lang="en-US" dirty="0"/>
              <a:t>"That's the complete CRUD cycle."</a:t>
            </a:r>
          </a:p>
          <a:p>
            <a:endParaRPr lang="en-US" dirty="0"/>
          </a:p>
          <a:p>
            <a:r>
              <a:rPr lang="en-US" dirty="0"/>
              <a:t>------------------------------------------------------------</a:t>
            </a:r>
          </a:p>
          <a:p>
            <a:endParaRPr lang="en-US" dirty="0"/>
          </a:p>
          <a:p>
            <a:r>
              <a:rPr lang="en-US" dirty="0"/>
              <a:t>THE REQUEST FLOW</a:t>
            </a:r>
          </a:p>
          <a:p>
            <a:endParaRPr lang="en-US" dirty="0"/>
          </a:p>
          <a:p>
            <a:r>
              <a:rPr lang="en-US" dirty="0"/>
              <a:t>Point to the right-side workflow.</a:t>
            </a:r>
          </a:p>
          <a:p>
            <a:endParaRPr lang="en-US" dirty="0"/>
          </a:p>
          <a:p>
            <a:r>
              <a:rPr lang="en-US" dirty="0"/>
              <a:t>Walk through it:</a:t>
            </a:r>
          </a:p>
          <a:p>
            <a:endParaRPr lang="en-US" dirty="0"/>
          </a:p>
          <a:p>
            <a:r>
              <a:rPr lang="en-US" dirty="0"/>
              <a:t>1. User makes a request.</a:t>
            </a:r>
          </a:p>
          <a:p>
            <a:endParaRPr lang="en-US" dirty="0"/>
          </a:p>
          <a:p>
            <a:r>
              <a:rPr lang="en-US" dirty="0"/>
              <a:t>2. Controller receives the request.</a:t>
            </a:r>
          </a:p>
          <a:p>
            <a:endParaRPr lang="en-US" dirty="0"/>
          </a:p>
          <a:p>
            <a:r>
              <a:rPr lang="en-US" dirty="0"/>
              <a:t>3. Our C# application processes it.</a:t>
            </a:r>
          </a:p>
          <a:p>
            <a:endParaRPr lang="en-US" dirty="0"/>
          </a:p>
          <a:p>
            <a:r>
              <a:rPr lang="en-US" dirty="0"/>
              <a:t>4. EF Core communicates with the database.</a:t>
            </a:r>
          </a:p>
          <a:p>
            <a:endParaRPr lang="en-US" dirty="0"/>
          </a:p>
          <a:p>
            <a:r>
              <a:rPr lang="en-US" dirty="0"/>
              <a:t>5. Database saves or retrieves information.</a:t>
            </a:r>
          </a:p>
          <a:p>
            <a:endParaRPr lang="en-US" dirty="0"/>
          </a:p>
          <a:p>
            <a:r>
              <a:rPr lang="en-US" dirty="0"/>
              <a:t>6. The result comes back to the application.</a:t>
            </a:r>
          </a:p>
          <a:p>
            <a:endParaRPr lang="en-US" dirty="0"/>
          </a:p>
          <a:p>
            <a:r>
              <a:rPr lang="en-US" dirty="0"/>
              <a:t>7. The application responds to the user.</a:t>
            </a:r>
          </a:p>
          <a:p>
            <a:endParaRPr lang="en-US" dirty="0"/>
          </a:p>
          <a:p>
            <a:r>
              <a:rPr lang="en-US" dirty="0"/>
              <a:t>Say:</a:t>
            </a:r>
          </a:p>
          <a:p>
            <a:endParaRPr lang="en-US" dirty="0"/>
          </a:p>
          <a:p>
            <a:r>
              <a:rPr lang="en-US" dirty="0"/>
              <a:t>"This is the conversation happening behind the screen."</a:t>
            </a:r>
          </a:p>
          <a:p>
            <a:endParaRPr lang="en-US" dirty="0"/>
          </a:p>
          <a:p>
            <a:r>
              <a:rPr lang="en-US" dirty="0"/>
              <a:t>------------------------------------------------------------</a:t>
            </a:r>
          </a:p>
          <a:p>
            <a:endParaRPr lang="en-US" dirty="0"/>
          </a:p>
          <a:p>
            <a:r>
              <a:rPr lang="en-US" dirty="0"/>
              <a:t>CONNECT THIS TO MVC</a:t>
            </a:r>
          </a:p>
          <a:p>
            <a:endParaRPr lang="en-US" dirty="0"/>
          </a:p>
          <a:p>
            <a:r>
              <a:rPr lang="en-US" dirty="0"/>
              <a:t>Point to the MVC architecture students already know.</a:t>
            </a:r>
          </a:p>
          <a:p>
            <a:endParaRPr lang="en-US" dirty="0"/>
          </a:p>
          <a:p>
            <a:r>
              <a:rPr lang="en-US" dirty="0"/>
              <a:t>Say:</a:t>
            </a:r>
          </a:p>
          <a:p>
            <a:endParaRPr lang="en-US" dirty="0"/>
          </a:p>
          <a:p>
            <a:r>
              <a:rPr lang="en-US" dirty="0"/>
              <a:t>"MVC is still doing its job."</a:t>
            </a:r>
          </a:p>
          <a:p>
            <a:endParaRPr lang="en-US" dirty="0"/>
          </a:p>
          <a:p>
            <a:r>
              <a:rPr lang="en-US" dirty="0"/>
              <a:t>"The Controller handles the request."</a:t>
            </a:r>
          </a:p>
          <a:p>
            <a:endParaRPr lang="en-US" dirty="0"/>
          </a:p>
          <a:p>
            <a:r>
              <a:rPr lang="en-US" dirty="0"/>
              <a:t>"The Model represents our data."</a:t>
            </a:r>
          </a:p>
          <a:p>
            <a:endParaRPr lang="en-US" dirty="0"/>
          </a:p>
          <a:p>
            <a:r>
              <a:rPr lang="en-US" dirty="0"/>
              <a:t>"The View displays the result."</a:t>
            </a:r>
          </a:p>
          <a:p>
            <a:endParaRPr lang="en-US" dirty="0"/>
          </a:p>
          <a:p>
            <a:r>
              <a:rPr lang="en-US" dirty="0"/>
              <a:t>"EF Core handles the communication with persistent data."</a:t>
            </a:r>
          </a:p>
          <a:p>
            <a:endParaRPr lang="en-US" dirty="0"/>
          </a:p>
          <a:p>
            <a:r>
              <a:rPr lang="en-US" dirty="0"/>
              <a:t>Simple architecture:</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MODEL / EF CORE</a:t>
            </a:r>
          </a:p>
          <a:p>
            <a:endParaRPr lang="en-US" dirty="0"/>
          </a:p>
          <a:p>
            <a:r>
              <a:rPr lang="en-US" dirty="0"/>
              <a:t>↓</a:t>
            </a:r>
          </a:p>
          <a:p>
            <a:endParaRPr lang="en-US" dirty="0"/>
          </a:p>
          <a:p>
            <a:r>
              <a:rPr lang="en-US" dirty="0"/>
              <a:t>DATABASE</a:t>
            </a:r>
          </a:p>
          <a:p>
            <a:endParaRPr lang="en-US" dirty="0"/>
          </a:p>
          <a:p>
            <a:r>
              <a:rPr lang="en-US" dirty="0"/>
              <a:t>Don't overcomplicate this.</a:t>
            </a:r>
          </a:p>
          <a:p>
            <a:endParaRPr lang="en-US" dirty="0"/>
          </a:p>
          <a:p>
            <a:r>
              <a:rPr lang="en-US" dirty="0"/>
              <a:t>------------------------------------------------------------</a:t>
            </a:r>
          </a:p>
          <a:p>
            <a:endParaRPr lang="en-US" dirty="0"/>
          </a:p>
          <a:p>
            <a:r>
              <a:rPr lang="en-US" dirty="0"/>
              <a:t>WHY USE EF CORE?</a:t>
            </a:r>
          </a:p>
          <a:p>
            <a:endParaRPr lang="en-US" dirty="0"/>
          </a:p>
          <a:p>
            <a:r>
              <a:rPr lang="en-US" dirty="0"/>
              <a:t>Point to the benefits.</a:t>
            </a:r>
          </a:p>
          <a:p>
            <a:endParaRPr lang="en-US" dirty="0"/>
          </a:p>
          <a:p>
            <a:r>
              <a:rPr lang="en-US" dirty="0"/>
              <a:t>Ask:</a:t>
            </a:r>
          </a:p>
          <a:p>
            <a:endParaRPr lang="en-US" dirty="0"/>
          </a:p>
          <a:p>
            <a:r>
              <a:rPr lang="en-US" dirty="0"/>
              <a:t>"Why wouldn't we just write SQL for everything?"</a:t>
            </a:r>
          </a:p>
          <a:p>
            <a:endParaRPr lang="en-US" dirty="0"/>
          </a:p>
          <a:p>
            <a:r>
              <a:rPr lang="en-US" dirty="0"/>
              <a:t>Explain:</a:t>
            </a:r>
          </a:p>
          <a:p>
            <a:endParaRPr lang="en-US" dirty="0"/>
          </a:p>
          <a:p>
            <a:r>
              <a:rPr lang="en-US" dirty="0"/>
              <a:t>"We absolutely can use SQL when appropriate."</a:t>
            </a:r>
          </a:p>
          <a:p>
            <a:endParaRPr lang="en-US" dirty="0"/>
          </a:p>
          <a:p>
            <a:r>
              <a:rPr lang="en-US" dirty="0"/>
              <a:t>"But EF Core lets our C# application work with data through C# models</a:t>
            </a:r>
          </a:p>
          <a:p>
            <a:r>
              <a:rPr lang="en-US" dirty="0"/>
              <a:t>and objects."</a:t>
            </a:r>
          </a:p>
          <a:p>
            <a:endParaRPr lang="en-US" dirty="0"/>
          </a:p>
          <a:p>
            <a:r>
              <a:rPr lang="en-US" dirty="0"/>
              <a:t>Benefits include:</a:t>
            </a:r>
          </a:p>
          <a:p>
            <a:endParaRPr lang="en-US" dirty="0"/>
          </a:p>
          <a:p>
            <a:r>
              <a:rPr lang="en-US" dirty="0"/>
              <a:t>Less repetitive database code.</a:t>
            </a:r>
          </a:p>
          <a:p>
            <a:endParaRPr lang="en-US" dirty="0"/>
          </a:p>
          <a:p>
            <a:r>
              <a:rPr lang="en-US" dirty="0"/>
              <a:t>Strongly typed models.</a:t>
            </a:r>
          </a:p>
          <a:p>
            <a:endParaRPr lang="en-US" dirty="0"/>
          </a:p>
          <a:p>
            <a:r>
              <a:rPr lang="en-US" dirty="0"/>
              <a:t>Integration with ASP.NET Core.</a:t>
            </a:r>
          </a:p>
          <a:p>
            <a:endParaRPr lang="en-US" dirty="0"/>
          </a:p>
          <a:p>
            <a:r>
              <a:rPr lang="en-US" dirty="0"/>
              <a:t>A consistent programming model.</a:t>
            </a:r>
          </a:p>
          <a:p>
            <a:endParaRPr lang="en-US" dirty="0"/>
          </a:p>
          <a:p>
            <a:r>
              <a:rPr lang="en-US" dirty="0"/>
              <a:t>Support for common CRUD operations.</a:t>
            </a:r>
          </a:p>
          <a:p>
            <a:endParaRPr lang="en-US" dirty="0"/>
          </a:p>
          <a:p>
            <a:r>
              <a:rPr lang="en-US" dirty="0"/>
              <a:t>Say:</a:t>
            </a:r>
          </a:p>
          <a:p>
            <a:endParaRPr lang="en-US" dirty="0"/>
          </a:p>
          <a:p>
            <a:r>
              <a:rPr lang="en-US" dirty="0"/>
              <a:t>"The goal is to reduce unnecessary complexity."</a:t>
            </a:r>
          </a:p>
          <a:p>
            <a:endParaRPr lang="en-US" dirty="0"/>
          </a:p>
          <a:p>
            <a:r>
              <a:rPr lang="en-US" dirty="0"/>
              <a:t>------------------------------------------------------------</a:t>
            </a:r>
          </a:p>
          <a:p>
            <a:endParaRPr lang="en-US" dirty="0"/>
          </a:p>
          <a:p>
            <a:r>
              <a:rPr lang="en-US" dirty="0"/>
              <a:t>IMPORTANT BOUNDARY</a:t>
            </a:r>
          </a:p>
          <a:p>
            <a:endParaRPr lang="en-US" dirty="0"/>
          </a:p>
          <a:p>
            <a:r>
              <a:rPr lang="en-US" dirty="0"/>
              <a:t>Tell students:</a:t>
            </a:r>
          </a:p>
          <a:p>
            <a:endParaRPr lang="en-US" dirty="0"/>
          </a:p>
          <a:p>
            <a:r>
              <a:rPr lang="en-US" dirty="0"/>
              <a:t>"Let me be very clear."</a:t>
            </a:r>
          </a:p>
          <a:p>
            <a:endParaRPr lang="en-US" dirty="0"/>
          </a:p>
          <a:p>
            <a:r>
              <a:rPr lang="en-US" dirty="0"/>
              <a:t>"We are NOT becoming EF Core experts in this class."</a:t>
            </a:r>
          </a:p>
          <a:p>
            <a:endParaRPr lang="en-US" dirty="0"/>
          </a:p>
          <a:p>
            <a:r>
              <a:rPr lang="en-US" dirty="0"/>
              <a:t>"We are learning enough to make Atlas </a:t>
            </a:r>
            <a:r>
              <a:rPr lang="en-US" dirty="0" err="1"/>
              <a:t>TaskFlow</a:t>
            </a:r>
            <a:r>
              <a:rPr lang="en-US" dirty="0"/>
              <a:t> work."</a:t>
            </a:r>
          </a:p>
          <a:p>
            <a:endParaRPr lang="en-US" dirty="0"/>
          </a:p>
          <a:p>
            <a:r>
              <a:rPr lang="en-US" dirty="0"/>
              <a:t>No:</a:t>
            </a:r>
          </a:p>
          <a:p>
            <a:endParaRPr lang="en-US" dirty="0"/>
          </a:p>
          <a:p>
            <a:r>
              <a:rPr lang="en-US" dirty="0"/>
              <a:t>Advanced query optimization.</a:t>
            </a:r>
          </a:p>
          <a:p>
            <a:endParaRPr lang="en-US" dirty="0"/>
          </a:p>
          <a:p>
            <a:r>
              <a:rPr lang="en-US" dirty="0"/>
              <a:t>Repository patterns.</a:t>
            </a:r>
          </a:p>
          <a:p>
            <a:endParaRPr lang="en-US" dirty="0"/>
          </a:p>
          <a:p>
            <a:r>
              <a:rPr lang="en-US" dirty="0"/>
              <a:t>Unit of Work.</a:t>
            </a:r>
          </a:p>
          <a:p>
            <a:endParaRPr lang="en-US" dirty="0"/>
          </a:p>
          <a:p>
            <a:r>
              <a:rPr lang="en-US" dirty="0"/>
              <a:t>Complex tracking behavior.</a:t>
            </a:r>
          </a:p>
          <a:p>
            <a:endParaRPr lang="en-US" dirty="0"/>
          </a:p>
          <a:p>
            <a:r>
              <a:rPr lang="en-US" dirty="0"/>
              <a:t>Advanced relationship loading.</a:t>
            </a:r>
          </a:p>
          <a:p>
            <a:endParaRPr lang="en-US" dirty="0"/>
          </a:p>
          <a:p>
            <a:r>
              <a:rPr lang="en-US" dirty="0"/>
              <a:t>Performance tuning.</a:t>
            </a:r>
          </a:p>
          <a:p>
            <a:endParaRPr lang="en-US" dirty="0"/>
          </a:p>
          <a:p>
            <a:r>
              <a:rPr lang="en-US" dirty="0"/>
              <a:t>Those are future topics.</a:t>
            </a:r>
          </a:p>
          <a:p>
            <a:endParaRPr lang="en-US" dirty="0"/>
          </a:p>
          <a:p>
            <a:r>
              <a:rPr lang="en-US" dirty="0"/>
              <a:t>------------------------------------------------------------</a:t>
            </a:r>
          </a:p>
          <a:p>
            <a:endParaRPr lang="en-US" dirty="0"/>
          </a:p>
          <a:p>
            <a:r>
              <a:rPr lang="en-US" dirty="0"/>
              <a:t>THE CONTEXT</a:t>
            </a:r>
          </a:p>
          <a:p>
            <a:endParaRPr lang="en-US" dirty="0"/>
          </a:p>
          <a:p>
            <a:r>
              <a:rPr lang="en-US" dirty="0"/>
              <a:t>Briefly introduce </a:t>
            </a:r>
            <a:r>
              <a:rPr lang="en-US" dirty="0" err="1"/>
              <a:t>DbContext</a:t>
            </a:r>
            <a:r>
              <a:rPr lang="en-US" dirty="0"/>
              <a:t>.</a:t>
            </a:r>
          </a:p>
          <a:p>
            <a:endParaRPr lang="en-US" dirty="0"/>
          </a:p>
          <a:p>
            <a:r>
              <a:rPr lang="en-US" dirty="0"/>
              <a:t>Say:</a:t>
            </a:r>
          </a:p>
          <a:p>
            <a:endParaRPr lang="en-US" dirty="0"/>
          </a:p>
          <a:p>
            <a:r>
              <a:rPr lang="en-US" dirty="0"/>
              <a:t>"You'll also hear the term </a:t>
            </a:r>
            <a:r>
              <a:rPr lang="en-US" dirty="0" err="1"/>
              <a:t>DbContext</a:t>
            </a:r>
            <a:r>
              <a:rPr lang="en-US" dirty="0"/>
              <a:t>."</a:t>
            </a:r>
          </a:p>
          <a:p>
            <a:endParaRPr lang="en-US" dirty="0"/>
          </a:p>
          <a:p>
            <a:r>
              <a:rPr lang="en-US" dirty="0"/>
              <a:t>"Think of it as the main working connection between our application and</a:t>
            </a:r>
          </a:p>
          <a:p>
            <a:r>
              <a:rPr lang="en-US" dirty="0"/>
              <a:t>the database."</a:t>
            </a:r>
          </a:p>
          <a:p>
            <a:endParaRPr lang="en-US" dirty="0"/>
          </a:p>
          <a:p>
            <a:r>
              <a:rPr lang="en-US" dirty="0"/>
              <a:t>"It gives our application access to the entities and database</a:t>
            </a:r>
          </a:p>
          <a:p>
            <a:r>
              <a:rPr lang="en-US" dirty="0"/>
              <a:t>operations we need."</a:t>
            </a:r>
          </a:p>
          <a:p>
            <a:endParaRPr lang="en-US" dirty="0"/>
          </a:p>
          <a:p>
            <a:r>
              <a:rPr lang="en-US" dirty="0"/>
              <a:t>Don't go into configuration yet.</a:t>
            </a:r>
          </a:p>
          <a:p>
            <a:endParaRPr lang="en-US" dirty="0"/>
          </a:p>
          <a:p>
            <a:r>
              <a:rPr lang="en-US" dirty="0"/>
              <a:t>Students only need the concept.</a:t>
            </a:r>
          </a:p>
          <a:p>
            <a:endParaRPr lang="en-US" dirty="0"/>
          </a:p>
          <a:p>
            <a:r>
              <a:rPr lang="en-US" dirty="0"/>
              <a:t>------------------------------------------------------------</a:t>
            </a:r>
          </a:p>
          <a:p>
            <a:endParaRPr lang="en-US" dirty="0"/>
          </a:p>
          <a:p>
            <a:r>
              <a:rPr lang="en-US" dirty="0"/>
              <a:t>WHY THIS MATTERS</a:t>
            </a:r>
          </a:p>
          <a:p>
            <a:endParaRPr lang="en-US" dirty="0"/>
          </a:p>
          <a:p>
            <a:r>
              <a:rPr lang="en-US" dirty="0"/>
              <a:t>Ask:</a:t>
            </a:r>
          </a:p>
          <a:p>
            <a:endParaRPr lang="en-US" dirty="0"/>
          </a:p>
          <a:p>
            <a:r>
              <a:rPr lang="en-US" dirty="0"/>
              <a:t>"What would Atlas </a:t>
            </a:r>
            <a:r>
              <a:rPr lang="en-US" dirty="0" err="1"/>
              <a:t>TaskFlow</a:t>
            </a:r>
            <a:r>
              <a:rPr lang="en-US" dirty="0"/>
              <a:t> be without this connection?"</a:t>
            </a:r>
          </a:p>
          <a:p>
            <a:endParaRPr lang="en-US" dirty="0"/>
          </a:p>
          <a:p>
            <a:r>
              <a:rPr lang="en-US" dirty="0"/>
              <a:t>Students should recognize:</a:t>
            </a:r>
          </a:p>
          <a:p>
            <a:endParaRPr lang="en-US" dirty="0"/>
          </a:p>
          <a:p>
            <a:r>
              <a:rPr lang="en-US" dirty="0"/>
              <a:t>The application could still exist.</a:t>
            </a:r>
          </a:p>
          <a:p>
            <a:endParaRPr lang="en-US" dirty="0"/>
          </a:p>
          <a:p>
            <a:r>
              <a:rPr lang="en-US" dirty="0"/>
              <a:t>The interface could still exist.</a:t>
            </a:r>
          </a:p>
          <a:p>
            <a:endParaRPr lang="en-US" dirty="0"/>
          </a:p>
          <a:p>
            <a:r>
              <a:rPr lang="en-US" dirty="0"/>
              <a:t>But persistent data would not work.</a:t>
            </a:r>
          </a:p>
          <a:p>
            <a:endParaRPr lang="en-US" dirty="0"/>
          </a:p>
          <a:p>
            <a:r>
              <a:rPr lang="en-US" dirty="0"/>
              <a:t>Say:</a:t>
            </a:r>
          </a:p>
          <a:p>
            <a:endParaRPr lang="en-US" dirty="0"/>
          </a:p>
          <a:p>
            <a:r>
              <a:rPr lang="en-US" dirty="0"/>
              <a:t>"EF Core helps turn our application from something that displays data..."</a:t>
            </a:r>
          </a:p>
          <a:p>
            <a:endParaRPr lang="en-US" dirty="0"/>
          </a:p>
          <a:p>
            <a:r>
              <a:rPr lang="en-US" dirty="0"/>
              <a:t>"...into something that can work with data."</a:t>
            </a:r>
          </a:p>
          <a:p>
            <a:endParaRPr lang="en-US" dirty="0"/>
          </a:p>
          <a:p>
            <a:r>
              <a:rPr lang="en-US" dirty="0"/>
              <a:t>------------------------------------------------------------</a:t>
            </a:r>
          </a:p>
          <a:p>
            <a:endParaRPr lang="en-US" dirty="0"/>
          </a:p>
          <a:p>
            <a:r>
              <a:rPr lang="en-US" dirty="0"/>
              <a:t>ENGINEERING INSIGHT</a:t>
            </a:r>
          </a:p>
          <a:p>
            <a:endParaRPr lang="en-US" dirty="0"/>
          </a:p>
          <a:p>
            <a:r>
              <a:rPr lang="en-US" dirty="0"/>
              <a:t>Point to the engineering insight.</a:t>
            </a:r>
          </a:p>
          <a:p>
            <a:endParaRPr lang="en-US" dirty="0"/>
          </a:p>
          <a:p>
            <a:r>
              <a:rPr lang="en-US" dirty="0"/>
              <a:t>"Good tools reduce complexity."</a:t>
            </a:r>
          </a:p>
          <a:p>
            <a:endParaRPr lang="en-US" dirty="0"/>
          </a:p>
          <a:p>
            <a:r>
              <a:rPr lang="en-US" dirty="0"/>
              <a:t>Explain:</a:t>
            </a:r>
          </a:p>
          <a:p>
            <a:endParaRPr lang="en-US" dirty="0"/>
          </a:p>
          <a:p>
            <a:r>
              <a:rPr lang="en-US" dirty="0"/>
              <a:t>"Professional engineers don't write everything from scratch."</a:t>
            </a:r>
          </a:p>
          <a:p>
            <a:endParaRPr lang="en-US" dirty="0"/>
          </a:p>
          <a:p>
            <a:r>
              <a:rPr lang="en-US" dirty="0"/>
              <a:t>"We choose tools that solve problems effectively."</a:t>
            </a:r>
          </a:p>
          <a:p>
            <a:endParaRPr lang="en-US" dirty="0"/>
          </a:p>
          <a:p>
            <a:r>
              <a:rPr lang="en-US" dirty="0"/>
              <a:t>"EF Core is one of those tools."</a:t>
            </a:r>
          </a:p>
          <a:p>
            <a:endParaRPr lang="en-US" dirty="0"/>
          </a:p>
          <a:p>
            <a:r>
              <a:rPr lang="en-US" dirty="0"/>
              <a:t>But emphasize:</a:t>
            </a:r>
          </a:p>
          <a:p>
            <a:endParaRPr lang="en-US" dirty="0"/>
          </a:p>
          <a:p>
            <a:r>
              <a:rPr lang="en-US" dirty="0"/>
              <a:t>"Knowing the tool is useful."</a:t>
            </a:r>
          </a:p>
          <a:p>
            <a:endParaRPr lang="en-US" dirty="0"/>
          </a:p>
          <a:p>
            <a:r>
              <a:rPr lang="en-US" dirty="0"/>
              <a:t>"Understanding the problem is more important."</a:t>
            </a:r>
          </a:p>
          <a:p>
            <a:endParaRPr lang="en-US" dirty="0"/>
          </a:p>
          <a:p>
            <a:r>
              <a:rPr lang="en-US" dirty="0"/>
              <a:t>------------------------------------------------------------</a:t>
            </a:r>
          </a:p>
          <a:p>
            <a:endParaRPr lang="en-US" dirty="0"/>
          </a:p>
          <a:p>
            <a:r>
              <a:rPr lang="en-US" dirty="0"/>
              <a:t>BUILD CHALLENGE</a:t>
            </a:r>
          </a:p>
          <a:p>
            <a:endParaRPr lang="en-US" dirty="0"/>
          </a:p>
          <a:p>
            <a:r>
              <a:rPr lang="en-US" dirty="0"/>
              <a:t>Give students a small challenge.</a:t>
            </a:r>
          </a:p>
          <a:p>
            <a:endParaRPr lang="en-US" dirty="0"/>
          </a:p>
          <a:p>
            <a:r>
              <a:rPr lang="en-US" dirty="0"/>
              <a:t>Ask:</a:t>
            </a:r>
          </a:p>
          <a:p>
            <a:endParaRPr lang="en-US" dirty="0"/>
          </a:p>
          <a:p>
            <a:r>
              <a:rPr lang="en-US" dirty="0"/>
              <a:t>"Look at the Atlas </a:t>
            </a:r>
            <a:r>
              <a:rPr lang="en-US" dirty="0" err="1"/>
              <a:t>TaskFlow</a:t>
            </a:r>
            <a:r>
              <a:rPr lang="en-US" dirty="0"/>
              <a:t> data model."</a:t>
            </a:r>
          </a:p>
          <a:p>
            <a:endParaRPr lang="en-US" dirty="0"/>
          </a:p>
          <a:p>
            <a:r>
              <a:rPr lang="en-US" dirty="0"/>
              <a:t>"Pick one entity."</a:t>
            </a:r>
          </a:p>
          <a:p>
            <a:endParaRPr lang="en-US" dirty="0"/>
          </a:p>
          <a:p>
            <a:r>
              <a:rPr lang="en-US" dirty="0"/>
              <a:t>For example:</a:t>
            </a:r>
          </a:p>
          <a:p>
            <a:endParaRPr lang="en-US" dirty="0"/>
          </a:p>
          <a:p>
            <a:r>
              <a:rPr lang="en-US" dirty="0"/>
              <a:t>Task.</a:t>
            </a:r>
          </a:p>
          <a:p>
            <a:endParaRPr lang="en-US" dirty="0"/>
          </a:p>
          <a:p>
            <a:r>
              <a:rPr lang="en-US" dirty="0"/>
              <a:t>Then identify:</a:t>
            </a:r>
          </a:p>
          <a:p>
            <a:endParaRPr lang="en-US" dirty="0"/>
          </a:p>
          <a:p>
            <a:r>
              <a:rPr lang="en-US" dirty="0"/>
              <a:t>What is the entity?</a:t>
            </a:r>
          </a:p>
          <a:p>
            <a:endParaRPr lang="en-US" dirty="0"/>
          </a:p>
          <a:p>
            <a:r>
              <a:rPr lang="en-US" dirty="0"/>
              <a:t>What properties does it contain?</a:t>
            </a:r>
          </a:p>
          <a:p>
            <a:endParaRPr lang="en-US" dirty="0"/>
          </a:p>
          <a:p>
            <a:r>
              <a:rPr lang="en-US" dirty="0"/>
              <a:t>What database table should represent it?</a:t>
            </a:r>
          </a:p>
          <a:p>
            <a:endParaRPr lang="en-US" dirty="0"/>
          </a:p>
          <a:p>
            <a:r>
              <a:rPr lang="en-US" dirty="0"/>
              <a:t>What operations will users perform?</a:t>
            </a:r>
          </a:p>
          <a:p>
            <a:endParaRPr lang="en-US" dirty="0"/>
          </a:p>
          <a:p>
            <a:r>
              <a:rPr lang="en-US" dirty="0"/>
              <a:t>Example:</a:t>
            </a:r>
          </a:p>
          <a:p>
            <a:endParaRPr lang="en-US" dirty="0"/>
          </a:p>
          <a:p>
            <a:r>
              <a:rPr lang="en-US" dirty="0"/>
              <a:t>Task</a:t>
            </a:r>
          </a:p>
          <a:p>
            <a:endParaRPr lang="en-US" dirty="0"/>
          </a:p>
          <a:p>
            <a:r>
              <a:rPr lang="en-US" dirty="0"/>
              <a:t>↓</a:t>
            </a:r>
          </a:p>
          <a:p>
            <a:endParaRPr lang="en-US" dirty="0"/>
          </a:p>
          <a:p>
            <a:r>
              <a:rPr lang="en-US" dirty="0" err="1"/>
              <a:t>TaskId</a:t>
            </a:r>
            <a:endParaRPr lang="en-US" dirty="0"/>
          </a:p>
          <a:p>
            <a:endParaRPr lang="en-US" dirty="0"/>
          </a:p>
          <a:p>
            <a:r>
              <a:rPr lang="en-US" dirty="0"/>
              <a:t>Title</a:t>
            </a:r>
          </a:p>
          <a:p>
            <a:endParaRPr lang="en-US" dirty="0"/>
          </a:p>
          <a:p>
            <a:r>
              <a:rPr lang="en-US" dirty="0"/>
              <a:t>Description</a:t>
            </a:r>
          </a:p>
          <a:p>
            <a:endParaRPr lang="en-US" dirty="0"/>
          </a:p>
          <a:p>
            <a:r>
              <a:rPr lang="en-US" dirty="0" err="1"/>
              <a:t>DueDate</a:t>
            </a:r>
            <a:endParaRPr lang="en-US" dirty="0"/>
          </a:p>
          <a:p>
            <a:endParaRPr lang="en-US" dirty="0"/>
          </a:p>
          <a:p>
            <a:r>
              <a:rPr lang="en-US" dirty="0" err="1"/>
              <a:t>StatusId</a:t>
            </a:r>
            <a:endParaRPr lang="en-US" dirty="0"/>
          </a:p>
          <a:p>
            <a:endParaRPr lang="en-US" dirty="0"/>
          </a:p>
          <a:p>
            <a:r>
              <a:rPr lang="en-US" dirty="0" err="1"/>
              <a:t>ProjectId</a:t>
            </a:r>
            <a:endParaRPr lang="en-US" dirty="0"/>
          </a:p>
          <a:p>
            <a:endParaRPr lang="en-US" dirty="0"/>
          </a:p>
          <a:p>
            <a:r>
              <a:rPr lang="en-US" dirty="0"/>
              <a:t>Then ask:</a:t>
            </a:r>
          </a:p>
          <a:p>
            <a:endParaRPr lang="en-US" dirty="0"/>
          </a:p>
          <a:p>
            <a:r>
              <a:rPr lang="en-US" dirty="0"/>
              <a:t>"What CRUD operations will Atlas need?"</a:t>
            </a:r>
          </a:p>
          <a:p>
            <a:endParaRPr lang="en-US" dirty="0"/>
          </a:p>
          <a:p>
            <a:r>
              <a:rPr lang="en-US" dirty="0"/>
              <a:t>Students:</a:t>
            </a:r>
          </a:p>
          <a:p>
            <a:endParaRPr lang="en-US" dirty="0"/>
          </a:p>
          <a:p>
            <a:r>
              <a:rPr lang="en-US" dirty="0"/>
              <a:t>Create.</a:t>
            </a:r>
          </a:p>
          <a:p>
            <a:endParaRPr lang="en-US" dirty="0"/>
          </a:p>
          <a:p>
            <a:r>
              <a:rPr lang="en-US" dirty="0"/>
              <a:t>Read.</a:t>
            </a:r>
          </a:p>
          <a:p>
            <a:endParaRPr lang="en-US" dirty="0"/>
          </a:p>
          <a:p>
            <a:r>
              <a:rPr lang="en-US" dirty="0"/>
              <a:t>Update.</a:t>
            </a:r>
          </a:p>
          <a:p>
            <a:endParaRPr lang="en-US" dirty="0"/>
          </a:p>
          <a:p>
            <a:r>
              <a:rPr lang="en-US" dirty="0"/>
              <a:t>Delete.</a:t>
            </a:r>
          </a:p>
          <a:p>
            <a:endParaRPr lang="en-US" dirty="0"/>
          </a:p>
          <a:p>
            <a:r>
              <a:rPr lang="en-US" dirty="0"/>
              <a:t>------------------------------------------------------------</a:t>
            </a:r>
          </a:p>
          <a:p>
            <a:endParaRPr lang="en-US" dirty="0"/>
          </a:p>
          <a:p>
            <a:r>
              <a:rPr lang="en-US" dirty="0"/>
              <a:t>ENGINEERING CHECK</a:t>
            </a:r>
          </a:p>
          <a:p>
            <a:endParaRPr lang="en-US" dirty="0"/>
          </a:p>
          <a:p>
            <a:r>
              <a:rPr lang="en-US" dirty="0"/>
              <a:t>Ask students:</a:t>
            </a:r>
          </a:p>
          <a:p>
            <a:endParaRPr lang="en-US" dirty="0"/>
          </a:p>
          <a:p>
            <a:r>
              <a:rPr lang="en-US" dirty="0"/>
              <a:t>"What is EF Core?"</a:t>
            </a:r>
          </a:p>
          <a:p>
            <a:endParaRPr lang="en-US" dirty="0"/>
          </a:p>
          <a:p>
            <a:r>
              <a:rPr lang="en-US" dirty="0"/>
              <a:t>Expected answer:</a:t>
            </a:r>
          </a:p>
          <a:p>
            <a:endParaRPr lang="en-US" dirty="0"/>
          </a:p>
          <a:p>
            <a:r>
              <a:rPr lang="en-US" dirty="0"/>
              <a:t>"A tool that helps our C# application work with database data."</a:t>
            </a:r>
          </a:p>
          <a:p>
            <a:endParaRPr lang="en-US" dirty="0"/>
          </a:p>
          <a:p>
            <a:r>
              <a:rPr lang="en-US" dirty="0"/>
              <a:t>Ask:</a:t>
            </a:r>
          </a:p>
          <a:p>
            <a:endParaRPr lang="en-US" dirty="0"/>
          </a:p>
          <a:p>
            <a:r>
              <a:rPr lang="en-US" dirty="0"/>
              <a:t>"What does the database do?"</a:t>
            </a:r>
          </a:p>
          <a:p>
            <a:endParaRPr lang="en-US" dirty="0"/>
          </a:p>
          <a:p>
            <a:r>
              <a:rPr lang="en-US" dirty="0"/>
              <a:t>"Stores persistent data."</a:t>
            </a:r>
          </a:p>
          <a:p>
            <a:endParaRPr lang="en-US" dirty="0"/>
          </a:p>
          <a:p>
            <a:r>
              <a:rPr lang="en-US" dirty="0"/>
              <a:t>Ask:</a:t>
            </a:r>
          </a:p>
          <a:p>
            <a:endParaRPr lang="en-US" dirty="0"/>
          </a:p>
          <a:p>
            <a:r>
              <a:rPr lang="en-US" dirty="0"/>
              <a:t>"What does a C# model do?"</a:t>
            </a:r>
          </a:p>
          <a:p>
            <a:endParaRPr lang="en-US" dirty="0"/>
          </a:p>
          <a:p>
            <a:r>
              <a:rPr lang="en-US" dirty="0"/>
              <a:t>"Represents the data in our application."</a:t>
            </a:r>
          </a:p>
          <a:p>
            <a:endParaRPr lang="en-US" dirty="0"/>
          </a:p>
          <a:p>
            <a:r>
              <a:rPr lang="en-US" dirty="0"/>
              <a:t>Ask:</a:t>
            </a:r>
          </a:p>
          <a:p>
            <a:endParaRPr lang="en-US" dirty="0"/>
          </a:p>
          <a:p>
            <a:r>
              <a:rPr lang="en-US" dirty="0"/>
              <a:t>"What does EF Core do?"</a:t>
            </a:r>
          </a:p>
          <a:p>
            <a:endParaRPr lang="en-US" dirty="0"/>
          </a:p>
          <a:p>
            <a:r>
              <a:rPr lang="en-US" dirty="0"/>
              <a:t>"Connects the application to the database."</a:t>
            </a:r>
          </a:p>
          <a:p>
            <a:endParaRPr lang="en-US" dirty="0"/>
          </a:p>
          <a:p>
            <a:r>
              <a:rPr lang="en-US" dirty="0"/>
              <a:t>If they can answer those three questions, the lesson succeeded.</a:t>
            </a:r>
          </a:p>
          <a:p>
            <a:endParaRPr lang="en-US" dirty="0"/>
          </a:p>
          <a:p>
            <a:r>
              <a:rPr lang="en-US" dirty="0"/>
              <a:t>------------------------------------------------------------</a:t>
            </a:r>
          </a:p>
          <a:p>
            <a:endParaRPr lang="en-US" dirty="0"/>
          </a:p>
          <a:p>
            <a:r>
              <a:rPr lang="en-US" dirty="0"/>
              <a:t>COMMON MISCONCEPTIONS</a:t>
            </a:r>
          </a:p>
          <a:p>
            <a:endParaRPr lang="en-US" dirty="0"/>
          </a:p>
          <a:p>
            <a:r>
              <a:rPr lang="en-US" dirty="0"/>
              <a:t>Address these explicitly.</a:t>
            </a:r>
          </a:p>
          <a:p>
            <a:endParaRPr lang="en-US" dirty="0"/>
          </a:p>
          <a:p>
            <a:r>
              <a:rPr lang="en-US" dirty="0"/>
              <a:t>EF Core is NOT the database.</a:t>
            </a:r>
          </a:p>
          <a:p>
            <a:endParaRPr lang="en-US" dirty="0"/>
          </a:p>
          <a:p>
            <a:r>
              <a:rPr lang="en-US" dirty="0"/>
              <a:t>EF Core is NOT SQL.</a:t>
            </a:r>
          </a:p>
          <a:p>
            <a:endParaRPr lang="en-US" dirty="0"/>
          </a:p>
          <a:p>
            <a:r>
              <a:rPr lang="en-US" dirty="0"/>
              <a:t>EF Core is NOT MVC.</a:t>
            </a:r>
          </a:p>
          <a:p>
            <a:endParaRPr lang="en-US" dirty="0"/>
          </a:p>
          <a:p>
            <a:r>
              <a:rPr lang="en-US" dirty="0"/>
              <a:t>EF Core is NOT the user interface.</a:t>
            </a:r>
          </a:p>
          <a:p>
            <a:endParaRPr lang="en-US" dirty="0"/>
          </a:p>
          <a:p>
            <a:r>
              <a:rPr lang="en-US" dirty="0"/>
              <a:t>EF Core is a data-access technology that helps our application work</a:t>
            </a:r>
          </a:p>
          <a:p>
            <a:r>
              <a:rPr lang="en-US" dirty="0"/>
              <a:t>with persistent data.</a:t>
            </a:r>
          </a:p>
          <a:p>
            <a:endParaRPr lang="en-US" dirty="0"/>
          </a:p>
          <a:p>
            <a:r>
              <a:rPr lang="en-US" dirty="0"/>
              <a:t>------------------------------------------------------------</a:t>
            </a:r>
          </a:p>
          <a:p>
            <a:endParaRPr lang="en-US" dirty="0"/>
          </a:p>
          <a:p>
            <a:r>
              <a:rPr lang="en-US" dirty="0"/>
              <a:t>SPRINT 5 CONNECTION</a:t>
            </a:r>
          </a:p>
          <a:p>
            <a:endParaRPr lang="en-US" dirty="0"/>
          </a:p>
          <a:p>
            <a:r>
              <a:rPr lang="en-US" dirty="0"/>
              <a:t>Point to the roadmap.</a:t>
            </a:r>
          </a:p>
          <a:p>
            <a:endParaRPr lang="en-US" dirty="0"/>
          </a:p>
          <a:p>
            <a:r>
              <a:rPr lang="en-US" dirty="0"/>
              <a:t>Sprint 3:</a:t>
            </a:r>
          </a:p>
          <a:p>
            <a:endParaRPr lang="en-US" dirty="0"/>
          </a:p>
          <a:p>
            <a:r>
              <a:rPr lang="en-US" dirty="0"/>
              <a:t>Design It.</a:t>
            </a:r>
          </a:p>
          <a:p>
            <a:endParaRPr lang="en-US" dirty="0"/>
          </a:p>
          <a:p>
            <a:r>
              <a:rPr lang="en-US" dirty="0"/>
              <a:t>Sprint 4:</a:t>
            </a:r>
          </a:p>
          <a:p>
            <a:endParaRPr lang="en-US" dirty="0"/>
          </a:p>
          <a:p>
            <a:r>
              <a:rPr lang="en-US" dirty="0"/>
              <a:t>Build It.</a:t>
            </a:r>
          </a:p>
          <a:p>
            <a:endParaRPr lang="en-US" dirty="0"/>
          </a:p>
          <a:p>
            <a:r>
              <a:rPr lang="en-US" dirty="0"/>
              <a:t>Deploy It.</a:t>
            </a:r>
          </a:p>
          <a:p>
            <a:endParaRPr lang="en-US" dirty="0"/>
          </a:p>
          <a:p>
            <a:r>
              <a:rPr lang="en-US" dirty="0"/>
              <a:t>Sprint 5:</a:t>
            </a:r>
          </a:p>
          <a:p>
            <a:endParaRPr lang="en-US" dirty="0"/>
          </a:p>
          <a:p>
            <a:r>
              <a:rPr lang="en-US" dirty="0"/>
              <a:t>REMEMBER IT.</a:t>
            </a:r>
          </a:p>
          <a:p>
            <a:endParaRPr lang="en-US" dirty="0"/>
          </a:p>
          <a:p>
            <a:r>
              <a:rPr lang="en-US" dirty="0"/>
              <a:t>Say:</a:t>
            </a:r>
          </a:p>
          <a:p>
            <a:endParaRPr lang="en-US" dirty="0"/>
          </a:p>
          <a:p>
            <a:r>
              <a:rPr lang="en-US" dirty="0"/>
              <a:t>"We now know what Atlas needs to remember."</a:t>
            </a:r>
          </a:p>
          <a:p>
            <a:endParaRPr lang="en-US" dirty="0"/>
          </a:p>
          <a:p>
            <a:r>
              <a:rPr lang="en-US" dirty="0"/>
              <a:t>"We know where that information will live."</a:t>
            </a:r>
          </a:p>
          <a:p>
            <a:endParaRPr lang="en-US" dirty="0"/>
          </a:p>
          <a:p>
            <a:r>
              <a:rPr lang="en-US" dirty="0"/>
              <a:t>"We have introduced the bridge that connects our application to it."</a:t>
            </a:r>
          </a:p>
          <a:p>
            <a:endParaRPr lang="en-US" dirty="0"/>
          </a:p>
          <a:p>
            <a:r>
              <a:rPr lang="en-US" dirty="0"/>
              <a:t>"Now we're ready to actually connect everything."</a:t>
            </a:r>
          </a:p>
          <a:p>
            <a:endParaRPr lang="en-US" dirty="0"/>
          </a:p>
          <a:p>
            <a:r>
              <a:rPr lang="en-US" dirty="0"/>
              <a:t>------------------------------------------------------------</a:t>
            </a:r>
          </a:p>
          <a:p>
            <a:endParaRPr lang="en-US" dirty="0"/>
          </a:p>
          <a:p>
            <a:r>
              <a:rPr lang="en-US" dirty="0"/>
              <a:t>LOOKING AHEAD</a:t>
            </a:r>
          </a:p>
          <a:p>
            <a:endParaRPr lang="en-US" dirty="0"/>
          </a:p>
          <a:p>
            <a:r>
              <a:rPr lang="en-US" dirty="0"/>
              <a:t>Point to the next lesson.</a:t>
            </a:r>
          </a:p>
          <a:p>
            <a:endParaRPr lang="en-US" dirty="0"/>
          </a:p>
          <a:p>
            <a:r>
              <a:rPr lang="en-US" dirty="0"/>
              <a:t>"Next..."</a:t>
            </a:r>
          </a:p>
          <a:p>
            <a:endParaRPr lang="en-US" dirty="0"/>
          </a:p>
          <a:p>
            <a:r>
              <a:rPr lang="en-US" dirty="0"/>
              <a:t>"We stop talking about the database."</a:t>
            </a:r>
          </a:p>
          <a:p>
            <a:endParaRPr lang="en-US" dirty="0"/>
          </a:p>
          <a:p>
            <a:r>
              <a:rPr lang="en-US" dirty="0"/>
              <a:t>"We connect Atlas </a:t>
            </a:r>
            <a:r>
              <a:rPr lang="en-US" dirty="0" err="1"/>
              <a:t>TaskFlow</a:t>
            </a:r>
            <a:r>
              <a:rPr lang="en-US" dirty="0"/>
              <a:t> to it."</a:t>
            </a:r>
          </a:p>
          <a:p>
            <a:endParaRPr lang="en-US" dirty="0"/>
          </a:p>
          <a:p>
            <a:r>
              <a:rPr lang="en-US" dirty="0"/>
              <a:t>Students will:</a:t>
            </a:r>
          </a:p>
          <a:p>
            <a:endParaRPr lang="en-US" dirty="0"/>
          </a:p>
          <a:p>
            <a:r>
              <a:rPr lang="en-US" dirty="0"/>
              <a:t>Create their models.</a:t>
            </a:r>
          </a:p>
          <a:p>
            <a:endParaRPr lang="en-US" dirty="0"/>
          </a:p>
          <a:p>
            <a:r>
              <a:rPr lang="en-US" dirty="0"/>
              <a:t>Configure EF Core.</a:t>
            </a:r>
          </a:p>
          <a:p>
            <a:endParaRPr lang="en-US" dirty="0"/>
          </a:p>
          <a:p>
            <a:r>
              <a:rPr lang="en-US" dirty="0"/>
              <a:t>Connect the application.</a:t>
            </a:r>
          </a:p>
          <a:p>
            <a:endParaRPr lang="en-US" dirty="0"/>
          </a:p>
          <a:p>
            <a:r>
              <a:rPr lang="en-US" dirty="0"/>
              <a:t>Create the database.</a:t>
            </a:r>
          </a:p>
          <a:p>
            <a:endParaRPr lang="en-US" dirty="0"/>
          </a:p>
          <a:p>
            <a:r>
              <a:rPr lang="en-US" dirty="0"/>
              <a:t>Test the connection.</a:t>
            </a:r>
          </a:p>
          <a:p>
            <a:endParaRPr lang="en-US" dirty="0"/>
          </a:p>
          <a:p>
            <a:r>
              <a:rPr lang="en-US" dirty="0"/>
              <a:t>Say:</a:t>
            </a:r>
          </a:p>
          <a:p>
            <a:endParaRPr lang="en-US" dirty="0"/>
          </a:p>
          <a:p>
            <a:r>
              <a:rPr lang="en-US" dirty="0"/>
              <a:t>"That's when Atlas gets its memory."</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"Remember the bridge."</a:t>
            </a:r>
          </a:p>
          <a:p>
            <a:endParaRPr lang="en-US" dirty="0"/>
          </a:p>
          <a:p>
            <a:r>
              <a:rPr lang="en-US" dirty="0"/>
              <a:t>C# Application</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Database</a:t>
            </a:r>
          </a:p>
          <a:p>
            <a:endParaRPr lang="en-US" dirty="0"/>
          </a:p>
          <a:p>
            <a:r>
              <a:rPr lang="en-US" dirty="0"/>
              <a:t>Then:</a:t>
            </a:r>
          </a:p>
          <a:p>
            <a:endParaRPr lang="en-US" dirty="0"/>
          </a:p>
          <a:p>
            <a:r>
              <a:rPr lang="en-US" dirty="0"/>
              <a:t>"C# thinks in objects."</a:t>
            </a:r>
          </a:p>
          <a:p>
            <a:endParaRPr lang="en-US" dirty="0"/>
          </a:p>
          <a:p>
            <a:r>
              <a:rPr lang="en-US" dirty="0"/>
              <a:t>"Databases think in tables."</a:t>
            </a:r>
          </a:p>
          <a:p>
            <a:endParaRPr lang="en-US" dirty="0"/>
          </a:p>
          <a:p>
            <a:r>
              <a:rPr lang="en-US" dirty="0"/>
              <a:t>"EF Core helps them work together."</a:t>
            </a:r>
          </a:p>
          <a:p>
            <a:endParaRPr lang="en-US" dirty="0"/>
          </a:p>
          <a:p>
            <a:r>
              <a:rPr lang="en-US" dirty="0"/>
              <a:t>Pause.</a:t>
            </a:r>
          </a:p>
          <a:p>
            <a:endParaRPr lang="en-US" dirty="0"/>
          </a:p>
          <a:p>
            <a:r>
              <a:rPr lang="en-US" dirty="0"/>
              <a:t>"Next..."</a:t>
            </a:r>
          </a:p>
          <a:p>
            <a:endParaRPr lang="en-US" dirty="0"/>
          </a:p>
          <a:p>
            <a:r>
              <a:rPr lang="en-US" dirty="0"/>
              <a:t>"We make that connection real."</a:t>
            </a:r>
          </a:p>
          <a:p>
            <a:endParaRPr lang="en-US" dirty="0"/>
          </a:p>
          <a:p>
            <a:r>
              <a:rPr lang="en-US" dirty="0"/>
              <a:t>============================================================</a:t>
            </a:r>
          </a:p>
          <a:p>
            <a:endParaRPr lang="en-US" dirty="0"/>
          </a:p>
          <a:p>
            <a:r>
              <a:rPr lang="en-US" dirty="0"/>
              <a:t>ESTIMATED TIME</a:t>
            </a:r>
          </a:p>
          <a:p>
            <a:endParaRPr lang="en-US" dirty="0"/>
          </a:p>
          <a:p>
            <a:r>
              <a:rPr lang="en-US" dirty="0"/>
              <a:t>Opening.............................5 minutes</a:t>
            </a:r>
          </a:p>
          <a:p>
            <a:endParaRPr lang="en-US" dirty="0"/>
          </a:p>
          <a:p>
            <a:r>
              <a:rPr lang="en-US" dirty="0"/>
              <a:t>EF Core Concept.....................10 minutes</a:t>
            </a:r>
          </a:p>
          <a:p>
            <a:endParaRPr lang="en-US" dirty="0"/>
          </a:p>
          <a:p>
            <a:r>
              <a:rPr lang="en-US" dirty="0"/>
              <a:t>C# Objects &amp; Database Tables.........10 minutes</a:t>
            </a:r>
          </a:p>
          <a:p>
            <a:endParaRPr lang="en-US" dirty="0"/>
          </a:p>
          <a:p>
            <a:r>
              <a:rPr lang="en-US" dirty="0"/>
              <a:t>CRUD Operations......................15 minutes</a:t>
            </a:r>
          </a:p>
          <a:p>
            <a:endParaRPr lang="en-US" dirty="0"/>
          </a:p>
          <a:p>
            <a:r>
              <a:rPr lang="en-US" dirty="0"/>
              <a:t>Request/Response Flow................10 minutes</a:t>
            </a:r>
          </a:p>
          <a:p>
            <a:endParaRPr lang="en-US" dirty="0"/>
          </a:p>
          <a:p>
            <a:r>
              <a:rPr lang="en-US" dirty="0"/>
              <a:t>Build Challenge......................10 minutes</a:t>
            </a:r>
          </a:p>
          <a:p>
            <a:endParaRPr lang="en-US" dirty="0"/>
          </a:p>
          <a:p>
            <a:r>
              <a:rPr lang="en-US" dirty="0"/>
              <a:t>Discussion &amp; Closing.................5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lesson should build directly on the previous two lessons.</a:t>
            </a:r>
          </a:p>
          <a:p>
            <a:endParaRPr lang="en-US" dirty="0"/>
          </a:p>
          <a:p>
            <a:r>
              <a:rPr lang="en-US" dirty="0"/>
              <a:t>Students already understand:</a:t>
            </a:r>
          </a:p>
          <a:p>
            <a:endParaRPr lang="en-US" dirty="0"/>
          </a:p>
          <a:p>
            <a:r>
              <a:rPr lang="en-US" dirty="0"/>
              <a:t>1. Atlas needs persistent data.</a:t>
            </a:r>
          </a:p>
          <a:p>
            <a:r>
              <a:rPr lang="en-US" dirty="0"/>
              <a:t>2. A database stores persistent data.</a:t>
            </a:r>
          </a:p>
          <a:p>
            <a:r>
              <a:rPr lang="en-US" dirty="0"/>
              <a:t>3. Atlas needs a defined data model.</a:t>
            </a:r>
          </a:p>
          <a:p>
            <a:endParaRPr lang="en-US" dirty="0"/>
          </a:p>
          <a:p>
            <a:r>
              <a:rPr lang="en-US" dirty="0"/>
              <a:t>Now they need to understand:</a:t>
            </a:r>
          </a:p>
          <a:p>
            <a:endParaRPr lang="en-US" dirty="0"/>
          </a:p>
          <a:p>
            <a:r>
              <a:rPr lang="en-US" dirty="0"/>
              <a:t>4. EF Core connects the C# application to that data.</a:t>
            </a:r>
          </a:p>
          <a:p>
            <a:endParaRPr lang="en-US" dirty="0"/>
          </a:p>
          <a:p>
            <a:r>
              <a:rPr lang="en-US" dirty="0"/>
              <a:t>Keep returning to the central bridge diagram.</a:t>
            </a:r>
          </a:p>
          <a:p>
            <a:endParaRPr lang="en-US" dirty="0"/>
          </a:p>
          <a:p>
            <a:r>
              <a:rPr lang="en-US" dirty="0"/>
              <a:t>If students begin asking advanced EF Core questions, acknowledge the</a:t>
            </a:r>
          </a:p>
          <a:p>
            <a:r>
              <a:rPr lang="en-US" dirty="0"/>
              <a:t>question but defer it.</a:t>
            </a:r>
          </a:p>
          <a:p>
            <a:endParaRPr lang="en-US" dirty="0"/>
          </a:p>
          <a:p>
            <a:r>
              <a:rPr lang="en-US" dirty="0"/>
              <a:t>For example:</a:t>
            </a:r>
          </a:p>
          <a:p>
            <a:endParaRPr lang="en-US" dirty="0"/>
          </a:p>
          <a:p>
            <a:r>
              <a:rPr lang="en-US" dirty="0"/>
              <a:t>"That's a great Advanced C# question."</a:t>
            </a:r>
          </a:p>
          <a:p>
            <a:endParaRPr lang="en-US" dirty="0"/>
          </a:p>
          <a:p>
            <a:r>
              <a:rPr lang="en-US" dirty="0"/>
              <a:t>"We'll go much deeper into that later."</a:t>
            </a:r>
          </a:p>
          <a:p>
            <a:endParaRPr lang="en-US" dirty="0"/>
          </a:p>
          <a:p>
            <a:r>
              <a:rPr lang="en-US" dirty="0"/>
              <a:t>This protects the scope of the SaaS course.</a:t>
            </a:r>
          </a:p>
          <a:p>
            <a:endParaRPr lang="en-US" dirty="0"/>
          </a:p>
          <a:p>
            <a:r>
              <a:rPr lang="en-US" dirty="0"/>
              <a:t>The purpose here is confidence, not mastery.</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C# OBJECTS</a:t>
            </a:r>
          </a:p>
          <a:p>
            <a:endParaRPr lang="en-US" dirty="0"/>
          </a:p>
          <a:p>
            <a:r>
              <a:rPr lang="en-US" dirty="0"/>
              <a:t>      ↕</a:t>
            </a:r>
          </a:p>
          <a:p>
            <a:endParaRPr lang="en-US" dirty="0"/>
          </a:p>
          <a:p>
            <a:r>
              <a:rPr lang="en-US" dirty="0"/>
              <a:t>EF CORE</a:t>
            </a:r>
          </a:p>
          <a:p>
            <a:endParaRPr lang="en-US" dirty="0"/>
          </a:p>
          <a:p>
            <a:r>
              <a:rPr lang="en-US" dirty="0"/>
              <a:t>      ↕</a:t>
            </a:r>
          </a:p>
          <a:p>
            <a:endParaRPr lang="en-US" dirty="0"/>
          </a:p>
          <a:p>
            <a:r>
              <a:rPr lang="en-US" dirty="0"/>
              <a:t>DATABASE TABLES</a:t>
            </a:r>
          </a:p>
          <a:p>
            <a:endParaRPr lang="en-US" dirty="0"/>
          </a:p>
          <a:p>
            <a:r>
              <a:rPr lang="en-US" dirty="0"/>
              <a:t>Then underneath:</a:t>
            </a:r>
          </a:p>
          <a:p>
            <a:endParaRPr lang="en-US" dirty="0"/>
          </a:p>
          <a:p>
            <a:r>
              <a:rPr lang="en-US" dirty="0"/>
              <a:t>"EF Core is the bridge."</a:t>
            </a:r>
          </a:p>
          <a:p>
            <a:endParaRPr lang="en-US" dirty="0"/>
          </a:p>
          <a:p>
            <a:r>
              <a:rPr lang="en-US" dirty="0"/>
              <a:t>------------------------------------------------------------</a:t>
            </a:r>
          </a:p>
          <a:p>
            <a:endParaRPr lang="en-US" dirty="0"/>
          </a:p>
          <a:p>
            <a:r>
              <a:rPr lang="en-US" dirty="0"/>
              <a:t>CLOSING STATEMENT</a:t>
            </a:r>
          </a:p>
          <a:p>
            <a:endParaRPr lang="en-US" dirty="0"/>
          </a:p>
          <a:p>
            <a:r>
              <a:rPr lang="en-US" dirty="0"/>
              <a:t>"Engineers..."</a:t>
            </a:r>
          </a:p>
          <a:p>
            <a:endParaRPr lang="en-US" dirty="0"/>
          </a:p>
          <a:p>
            <a:r>
              <a:rPr lang="en-US" dirty="0"/>
              <a:t>"We know what Atlas needs to remember."</a:t>
            </a:r>
          </a:p>
          <a:p>
            <a:endParaRPr lang="en-US" dirty="0"/>
          </a:p>
          <a:p>
            <a:r>
              <a:rPr lang="en-US" dirty="0"/>
              <a:t>"We know where that information lives."</a:t>
            </a:r>
          </a:p>
          <a:p>
            <a:endParaRPr lang="en-US" dirty="0"/>
          </a:p>
          <a:p>
            <a:r>
              <a:rPr lang="en-US" dirty="0"/>
              <a:t>"We now know how our C# application can communicate with it."</a:t>
            </a:r>
          </a:p>
          <a:p>
            <a:endParaRPr lang="en-US" dirty="0"/>
          </a:p>
          <a:p>
            <a:r>
              <a:rPr lang="en-US" dirty="0"/>
              <a:t>"Next..."</a:t>
            </a:r>
          </a:p>
          <a:p>
            <a:endParaRPr lang="en-US" dirty="0"/>
          </a:p>
          <a:p>
            <a:r>
              <a:rPr lang="en-US" dirty="0"/>
              <a:t>"We connect Atlas </a:t>
            </a:r>
            <a:r>
              <a:rPr lang="en-US" dirty="0" err="1"/>
              <a:t>TaskFlow</a:t>
            </a:r>
            <a:r>
              <a:rPr lang="en-US" dirty="0"/>
              <a:t> to its memory."</a:t>
            </a:r>
          </a:p>
          <a:p>
            <a:endParaRPr lang="en-US" dirty="0"/>
          </a:p>
          <a:p>
            <a:r>
              <a:rPr lang="en-US" dirty="0"/>
              <a:t>============================================================</a:t>
            </a:r>
          </a:p>
        </p:txBody>
      </p:sp>
      <p:sp>
        <p:nvSpPr>
          <p:cNvPr id="4" name="Slide Number Placeholder 3"/>
          <p:cNvSpPr>
            <a:spLocks noGrp="1"/>
          </p:cNvSpPr>
          <p:nvPr>
            <p:ph type="sldNum" sz="quarter" idx="5"/>
          </p:nvPr>
        </p:nvSpPr>
        <p:spPr/>
        <p:txBody>
          <a:bodyPr/>
          <a:lstStyle/>
          <a:p>
            <a:fld id="{BFAFFB2A-FA1B-453E-A83D-1533B3FE308E}" type="slidenum">
              <a:rPr lang="en-US" smtClean="0"/>
              <a:t>4</a:t>
            </a:fld>
            <a:endParaRPr lang="en-US"/>
          </a:p>
        </p:txBody>
      </p:sp>
    </p:spTree>
    <p:extLst>
      <p:ext uri="{BB962C8B-B14F-4D97-AF65-F5344CB8AC3E}">
        <p14:creationId xmlns:p14="http://schemas.microsoft.com/office/powerpoint/2010/main" val="3606227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CONNECTING ATLAS TASKFLOW TO THE DATABASE</a:t>
            </a:r>
          </a:p>
          <a:p>
            <a:endParaRPr lang="en-US" dirty="0"/>
          </a:p>
          <a:p>
            <a:r>
              <a:rPr lang="en-US" dirty="0"/>
              <a:t>============================================================</a:t>
            </a:r>
          </a:p>
          <a:p>
            <a:endParaRPr lang="en-US" dirty="0"/>
          </a:p>
          <a:p>
            <a:r>
              <a:rPr lang="en-US" dirty="0"/>
              <a:t>SLIDE PURPOSE</a:t>
            </a:r>
          </a:p>
          <a:p>
            <a:endParaRPr lang="en-US" dirty="0"/>
          </a:p>
          <a:p>
            <a:r>
              <a:rPr lang="en-US" dirty="0"/>
              <a:t>Guide students through establishing the connection between the Atlas</a:t>
            </a:r>
          </a:p>
          <a:p>
            <a:r>
              <a:rPr lang="en-US" dirty="0" err="1"/>
              <a:t>TaskFlow</a:t>
            </a:r>
            <a:r>
              <a:rPr lang="en-US" dirty="0"/>
              <a:t> ASP.NET Core MVC application and a relational database using</a:t>
            </a:r>
          </a:p>
          <a:p>
            <a:r>
              <a:rPr lang="en-US" dirty="0"/>
              <a:t>Entity Framework Core.</a:t>
            </a:r>
          </a:p>
          <a:p>
            <a:endParaRPr lang="en-US" dirty="0"/>
          </a:p>
          <a:p>
            <a:r>
              <a:rPr lang="en-US" dirty="0"/>
              <a:t>Students should understand the major pieces required to establish</a:t>
            </a:r>
          </a:p>
          <a:p>
            <a:r>
              <a:rPr lang="en-US" dirty="0"/>
              <a:t>database connectivity:</a:t>
            </a:r>
          </a:p>
          <a:p>
            <a:endParaRPr lang="en-US" dirty="0"/>
          </a:p>
          <a:p>
            <a:r>
              <a:rPr lang="en-US" dirty="0"/>
              <a:t>• EF Core packages</a:t>
            </a:r>
          </a:p>
          <a:p>
            <a:r>
              <a:rPr lang="en-US" dirty="0"/>
              <a:t>• Connection string</a:t>
            </a:r>
          </a:p>
          <a:p>
            <a:r>
              <a:rPr lang="en-US" dirty="0"/>
              <a:t>• </a:t>
            </a:r>
            <a:r>
              <a:rPr lang="en-US" dirty="0" err="1"/>
              <a:t>DbContext</a:t>
            </a:r>
            <a:endParaRPr lang="en-US" dirty="0"/>
          </a:p>
          <a:p>
            <a:r>
              <a:rPr lang="en-US" dirty="0"/>
              <a:t>• </a:t>
            </a:r>
            <a:r>
              <a:rPr lang="en-US" dirty="0" err="1"/>
              <a:t>DbSet</a:t>
            </a:r>
            <a:r>
              <a:rPr lang="en-US" dirty="0"/>
              <a:t>&lt;</a:t>
            </a:r>
            <a:r>
              <a:rPr lang="en-US" dirty="0" err="1"/>
              <a:t>TEntity</a:t>
            </a:r>
            <a:r>
              <a:rPr lang="en-US" dirty="0"/>
              <a:t>&gt;</a:t>
            </a:r>
          </a:p>
          <a:p>
            <a:r>
              <a:rPr lang="en-US" dirty="0"/>
              <a:t>• Database creation/migrations</a:t>
            </a:r>
          </a:p>
          <a:p>
            <a:r>
              <a:rPr lang="en-US" dirty="0"/>
              <a:t>• Verification</a:t>
            </a:r>
          </a:p>
          <a:p>
            <a:endParaRPr lang="en-US" dirty="0"/>
          </a:p>
          <a:p>
            <a:r>
              <a:rPr lang="en-US" dirty="0"/>
              <a:t>The goal is a working connection, not mastery of database configuration.</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"We've designed the memory."</a:t>
            </a:r>
          </a:p>
          <a:p>
            <a:endParaRPr lang="en-US" dirty="0"/>
          </a:p>
          <a:p>
            <a:r>
              <a:rPr lang="en-US" dirty="0"/>
              <a:t>"We've learned about the bridge."</a:t>
            </a:r>
          </a:p>
          <a:p>
            <a:endParaRPr lang="en-US" dirty="0"/>
          </a:p>
          <a:p>
            <a:r>
              <a:rPr lang="en-US" dirty="0"/>
              <a:t>"Today..."</a:t>
            </a:r>
          </a:p>
          <a:p>
            <a:endParaRPr lang="en-US" dirty="0"/>
          </a:p>
          <a:p>
            <a:r>
              <a:rPr lang="en-US" dirty="0"/>
              <a:t>"We're going to connect them."</a:t>
            </a:r>
          </a:p>
          <a:p>
            <a:endParaRPr lang="en-US" dirty="0"/>
          </a:p>
          <a:p>
            <a:r>
              <a:rPr lang="en-US" dirty="0"/>
              <a:t>Pause.</a:t>
            </a:r>
          </a:p>
          <a:p>
            <a:endParaRPr lang="en-US" dirty="0"/>
          </a:p>
          <a:p>
            <a:r>
              <a:rPr lang="en-US" dirty="0"/>
              <a:t>"This is the moment Atlas </a:t>
            </a:r>
            <a:r>
              <a:rPr lang="en-US" dirty="0" err="1"/>
              <a:t>TaskFlow</a:t>
            </a:r>
            <a:r>
              <a:rPr lang="en-US" dirty="0"/>
              <a:t> gets access to its memory."</a:t>
            </a:r>
          </a:p>
          <a:p>
            <a:endParaRPr lang="en-US" dirty="0"/>
          </a:p>
          <a:p>
            <a:r>
              <a:rPr lang="en-US" dirty="0"/>
              <a:t>------------------------------------------------------------</a:t>
            </a:r>
          </a:p>
          <a:p>
            <a:endParaRPr lang="en-US" dirty="0"/>
          </a:p>
          <a:p>
            <a:r>
              <a:rPr lang="en-US" dirty="0"/>
              <a:t>THE ENGINEERING QUESTION</a:t>
            </a:r>
          </a:p>
          <a:p>
            <a:endParaRPr lang="en-US" dirty="0"/>
          </a:p>
          <a:p>
            <a:r>
              <a:rPr lang="en-US" dirty="0"/>
              <a:t>Point to the question:</a:t>
            </a:r>
          </a:p>
          <a:p>
            <a:endParaRPr lang="en-US" dirty="0"/>
          </a:p>
          <a:p>
            <a:r>
              <a:rPr lang="en-US" dirty="0"/>
              <a:t>"How do we connect Atlas </a:t>
            </a:r>
            <a:r>
              <a:rPr lang="en-US" dirty="0" err="1"/>
              <a:t>TaskFlow</a:t>
            </a:r>
            <a:r>
              <a:rPr lang="en-US" dirty="0"/>
              <a:t> to a database?"</a:t>
            </a:r>
          </a:p>
          <a:p>
            <a:endParaRPr lang="en-US" dirty="0"/>
          </a:p>
          <a:p>
            <a:r>
              <a:rPr lang="en-US" dirty="0"/>
              <a:t>Explain:</a:t>
            </a:r>
          </a:p>
          <a:p>
            <a:endParaRPr lang="en-US" dirty="0"/>
          </a:p>
          <a:p>
            <a:r>
              <a:rPr lang="en-US" dirty="0"/>
              <a:t>"We already have..."</a:t>
            </a:r>
          </a:p>
          <a:p>
            <a:endParaRPr lang="en-US" dirty="0"/>
          </a:p>
          <a:p>
            <a:r>
              <a:rPr lang="en-US" dirty="0"/>
              <a:t>A C# application.</a:t>
            </a:r>
          </a:p>
          <a:p>
            <a:endParaRPr lang="en-US" dirty="0"/>
          </a:p>
          <a:p>
            <a:r>
              <a:rPr lang="en-US" dirty="0"/>
              <a:t>A data model.</a:t>
            </a:r>
          </a:p>
          <a:p>
            <a:endParaRPr lang="en-US" dirty="0"/>
          </a:p>
          <a:p>
            <a:r>
              <a:rPr lang="en-US" dirty="0"/>
              <a:t>Entity Framework Core.</a:t>
            </a:r>
          </a:p>
          <a:p>
            <a:endParaRPr lang="en-US" dirty="0"/>
          </a:p>
          <a:p>
            <a:r>
              <a:rPr lang="en-US" dirty="0"/>
              <a:t>A database technology.</a:t>
            </a:r>
          </a:p>
          <a:p>
            <a:endParaRPr lang="en-US" dirty="0"/>
          </a:p>
          <a:p>
            <a:r>
              <a:rPr lang="en-US" dirty="0"/>
              <a:t>"But they're not connected yet."</a:t>
            </a:r>
          </a:p>
          <a:p>
            <a:endParaRPr lang="en-US" dirty="0"/>
          </a:p>
          <a:p>
            <a:r>
              <a:rPr lang="en-US" dirty="0"/>
              <a:t>"Today we're going to connect those pieces."</a:t>
            </a:r>
          </a:p>
          <a:p>
            <a:endParaRPr lang="en-US" dirty="0"/>
          </a:p>
          <a:p>
            <a:r>
              <a:rPr lang="en-US" dirty="0"/>
              <a:t>------------------------------------------------------------</a:t>
            </a:r>
          </a:p>
          <a:p>
            <a:endParaRPr lang="en-US" dirty="0"/>
          </a:p>
          <a:p>
            <a:r>
              <a:rPr lang="en-US" dirty="0"/>
              <a:t>THE CONNECTION FLOW</a:t>
            </a:r>
          </a:p>
          <a:p>
            <a:endParaRPr lang="en-US" dirty="0"/>
          </a:p>
          <a:p>
            <a:r>
              <a:rPr lang="en-US" dirty="0"/>
              <a:t>Walk through the diagram:</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DATABASE</a:t>
            </a:r>
          </a:p>
          <a:p>
            <a:endParaRPr lang="en-US" dirty="0"/>
          </a:p>
          <a:p>
            <a:r>
              <a:rPr lang="en-US" dirty="0"/>
              <a:t>↓</a:t>
            </a:r>
          </a:p>
          <a:p>
            <a:endParaRPr lang="en-US" dirty="0"/>
          </a:p>
          <a:p>
            <a:r>
              <a:rPr lang="en-US" dirty="0"/>
              <a:t>RESULT</a:t>
            </a:r>
          </a:p>
          <a:p>
            <a:endParaRPr lang="en-US" dirty="0"/>
          </a:p>
          <a:p>
            <a:r>
              <a:rPr lang="en-US" dirty="0"/>
              <a:t>Explain:</a:t>
            </a:r>
          </a:p>
          <a:p>
            <a:endParaRPr lang="en-US" dirty="0"/>
          </a:p>
          <a:p>
            <a:r>
              <a:rPr lang="en-US" dirty="0"/>
              <a:t>"This is the conversation that will happen every time our application</a:t>
            </a:r>
          </a:p>
          <a:p>
            <a:r>
              <a:rPr lang="en-US" dirty="0"/>
              <a:t>works with persistent data."</a:t>
            </a:r>
          </a:p>
          <a:p>
            <a:endParaRPr lang="en-US" dirty="0"/>
          </a:p>
          <a:p>
            <a:r>
              <a:rPr lang="en-US" dirty="0"/>
              <a:t>For example:</a:t>
            </a:r>
          </a:p>
          <a:p>
            <a:endParaRPr lang="en-US" dirty="0"/>
          </a:p>
          <a:p>
            <a:r>
              <a:rPr lang="en-US" dirty="0"/>
              <a:t>"Create a task."</a:t>
            </a:r>
          </a:p>
          <a:p>
            <a:endParaRPr lang="en-US" dirty="0"/>
          </a:p>
          <a:p>
            <a:r>
              <a:rPr lang="en-US" dirty="0"/>
              <a:t>The request travels through the application.</a:t>
            </a:r>
          </a:p>
          <a:p>
            <a:endParaRPr lang="en-US" dirty="0"/>
          </a:p>
          <a:p>
            <a:r>
              <a:rPr lang="en-US" dirty="0"/>
              <a:t>EF Core communicates with the database.</a:t>
            </a:r>
          </a:p>
          <a:p>
            <a:endParaRPr lang="en-US" dirty="0"/>
          </a:p>
          <a:p>
            <a:r>
              <a:rPr lang="en-US" dirty="0"/>
              <a:t>The database stores the information.</a:t>
            </a:r>
          </a:p>
          <a:p>
            <a:endParaRPr lang="en-US" dirty="0"/>
          </a:p>
          <a:p>
            <a:r>
              <a:rPr lang="en-US" dirty="0"/>
              <a:t>The result comes back.</a:t>
            </a:r>
          </a:p>
          <a:p>
            <a:endParaRPr lang="en-US" dirty="0"/>
          </a:p>
          <a:p>
            <a:r>
              <a:rPr lang="en-US" dirty="0"/>
              <a:t>------------------------------------------------------------</a:t>
            </a:r>
          </a:p>
          <a:p>
            <a:endParaRPr lang="en-US" dirty="0"/>
          </a:p>
          <a:p>
            <a:r>
              <a:rPr lang="en-US" dirty="0"/>
              <a:t>STEP 1 — INSTALL EF CORE PACKAGES</a:t>
            </a:r>
          </a:p>
          <a:p>
            <a:endParaRPr lang="en-US" dirty="0"/>
          </a:p>
          <a:p>
            <a:r>
              <a:rPr lang="en-US" dirty="0"/>
              <a:t>Point to Step 1.</a:t>
            </a:r>
          </a:p>
          <a:p>
            <a:endParaRPr lang="en-US" dirty="0"/>
          </a:p>
          <a:p>
            <a:r>
              <a:rPr lang="en-US" dirty="0"/>
              <a:t>Explain:</a:t>
            </a:r>
          </a:p>
          <a:p>
            <a:endParaRPr lang="en-US" dirty="0"/>
          </a:p>
          <a:p>
            <a:r>
              <a:rPr lang="en-US" dirty="0"/>
              <a:t>"Before our application can use EF Core..."</a:t>
            </a:r>
          </a:p>
          <a:p>
            <a:endParaRPr lang="en-US" dirty="0"/>
          </a:p>
          <a:p>
            <a:r>
              <a:rPr lang="en-US" dirty="0"/>
              <a:t>"We need the appropriate EF Core packages."</a:t>
            </a:r>
          </a:p>
          <a:p>
            <a:endParaRPr lang="en-US" dirty="0"/>
          </a:p>
          <a:p>
            <a:r>
              <a:rPr lang="en-US" dirty="0"/>
              <a:t>Explain that packages provide the functionality our project needs.</a:t>
            </a:r>
          </a:p>
          <a:p>
            <a:endParaRPr lang="en-US" dirty="0"/>
          </a:p>
          <a:p>
            <a:r>
              <a:rPr lang="en-US" dirty="0"/>
              <a:t>Depending on the database provider, we may need:</a:t>
            </a:r>
          </a:p>
          <a:p>
            <a:endParaRPr lang="en-US" dirty="0"/>
          </a:p>
          <a:p>
            <a:r>
              <a:rPr lang="en-US" dirty="0" err="1"/>
              <a:t>Microsoft.EntityFrameworkCore</a:t>
            </a:r>
            <a:endParaRPr lang="en-US" dirty="0"/>
          </a:p>
          <a:p>
            <a:endParaRPr lang="en-US" dirty="0"/>
          </a:p>
          <a:p>
            <a:r>
              <a:rPr lang="en-US" dirty="0" err="1"/>
              <a:t>Microsoft.EntityFrameworkCore.SqlServer</a:t>
            </a:r>
            <a:endParaRPr lang="en-US" dirty="0"/>
          </a:p>
          <a:p>
            <a:endParaRPr lang="en-US" dirty="0"/>
          </a:p>
          <a:p>
            <a:r>
              <a:rPr lang="en-US" dirty="0" err="1"/>
              <a:t>Microsoft.EntityFrameworkCore.Tools</a:t>
            </a:r>
            <a:endParaRPr lang="en-US" dirty="0"/>
          </a:p>
          <a:p>
            <a:endParaRPr lang="en-US" dirty="0"/>
          </a:p>
          <a:p>
            <a:r>
              <a:rPr lang="en-US" dirty="0"/>
              <a:t>Do not spend significant time on package management.</a:t>
            </a:r>
          </a:p>
          <a:p>
            <a:endParaRPr lang="en-US" dirty="0"/>
          </a:p>
          <a:p>
            <a:r>
              <a:rPr lang="en-US" dirty="0"/>
              <a:t>The important idea:</a:t>
            </a:r>
          </a:p>
          <a:p>
            <a:endParaRPr lang="en-US" dirty="0"/>
          </a:p>
          <a:p>
            <a:r>
              <a:rPr lang="en-US" dirty="0"/>
              <a:t>"Our project needs the tools necessary to communicate with the database."</a:t>
            </a:r>
          </a:p>
          <a:p>
            <a:endParaRPr lang="en-US" dirty="0"/>
          </a:p>
          <a:p>
            <a:r>
              <a:rPr lang="en-US" dirty="0"/>
              <a:t>------------------------------------------------------------</a:t>
            </a:r>
          </a:p>
          <a:p>
            <a:endParaRPr lang="en-US" dirty="0"/>
          </a:p>
          <a:p>
            <a:r>
              <a:rPr lang="en-US" dirty="0"/>
              <a:t>STEP 2 — ADD A CONNECTION STRING</a:t>
            </a:r>
          </a:p>
          <a:p>
            <a:endParaRPr lang="en-US" dirty="0"/>
          </a:p>
          <a:p>
            <a:r>
              <a:rPr lang="en-US" dirty="0"/>
              <a:t>Point to Step 2.</a:t>
            </a:r>
          </a:p>
          <a:p>
            <a:endParaRPr lang="en-US" dirty="0"/>
          </a:p>
          <a:p>
            <a:r>
              <a:rPr lang="en-US" dirty="0"/>
              <a:t>Ask:</a:t>
            </a:r>
          </a:p>
          <a:p>
            <a:endParaRPr lang="en-US" dirty="0"/>
          </a:p>
          <a:p>
            <a:r>
              <a:rPr lang="en-US" dirty="0"/>
              <a:t>"How does the application know where the database is?"</a:t>
            </a:r>
          </a:p>
          <a:p>
            <a:endParaRPr lang="en-US" dirty="0"/>
          </a:p>
          <a:p>
            <a:r>
              <a:rPr lang="en-US" dirty="0"/>
              <a:t>Answer:</a:t>
            </a:r>
          </a:p>
          <a:p>
            <a:endParaRPr lang="en-US" dirty="0"/>
          </a:p>
          <a:p>
            <a:r>
              <a:rPr lang="en-US" dirty="0"/>
              <a:t>"The connection string."</a:t>
            </a:r>
          </a:p>
          <a:p>
            <a:endParaRPr lang="en-US" dirty="0"/>
          </a:p>
          <a:p>
            <a:r>
              <a:rPr lang="en-US" dirty="0"/>
              <a:t>Explain:</a:t>
            </a:r>
          </a:p>
          <a:p>
            <a:endParaRPr lang="en-US" dirty="0"/>
          </a:p>
          <a:p>
            <a:r>
              <a:rPr lang="en-US" dirty="0"/>
              <a:t>"A connection string tells the application how to locate and connect to</a:t>
            </a:r>
          </a:p>
          <a:p>
            <a:r>
              <a:rPr lang="en-US" dirty="0"/>
              <a:t>the database."</a:t>
            </a:r>
          </a:p>
          <a:p>
            <a:endParaRPr lang="en-US" dirty="0"/>
          </a:p>
          <a:p>
            <a:r>
              <a:rPr lang="en-US" dirty="0"/>
              <a:t>It may contain information such as:</a:t>
            </a:r>
          </a:p>
          <a:p>
            <a:endParaRPr lang="en-US" dirty="0"/>
          </a:p>
          <a:p>
            <a:r>
              <a:rPr lang="en-US" dirty="0"/>
              <a:t>Server.</a:t>
            </a:r>
          </a:p>
          <a:p>
            <a:endParaRPr lang="en-US" dirty="0"/>
          </a:p>
          <a:p>
            <a:r>
              <a:rPr lang="en-US" dirty="0"/>
              <a:t>Database name.</a:t>
            </a:r>
          </a:p>
          <a:p>
            <a:endParaRPr lang="en-US" dirty="0"/>
          </a:p>
          <a:p>
            <a:r>
              <a:rPr lang="en-US" dirty="0"/>
              <a:t>Authentication information.</a:t>
            </a:r>
          </a:p>
          <a:p>
            <a:endParaRPr lang="en-US" dirty="0"/>
          </a:p>
          <a:p>
            <a:r>
              <a:rPr lang="en-US" dirty="0"/>
              <a:t>Security settings.</a:t>
            </a:r>
          </a:p>
          <a:p>
            <a:endParaRPr lang="en-US" dirty="0"/>
          </a:p>
          <a:p>
            <a:r>
              <a:rPr lang="en-US" dirty="0"/>
              <a:t>------------------------------------------------------------</a:t>
            </a:r>
          </a:p>
          <a:p>
            <a:endParaRPr lang="en-US" dirty="0"/>
          </a:p>
          <a:p>
            <a:r>
              <a:rPr lang="en-US" dirty="0"/>
              <a:t>IMPORTANT SECURITY NOTE</a:t>
            </a:r>
          </a:p>
          <a:p>
            <a:endParaRPr lang="en-US" dirty="0"/>
          </a:p>
          <a:p>
            <a:r>
              <a:rPr lang="en-US" dirty="0"/>
              <a:t>Pause here.</a:t>
            </a:r>
          </a:p>
          <a:p>
            <a:endParaRPr lang="en-US" dirty="0"/>
          </a:p>
          <a:p>
            <a:r>
              <a:rPr lang="en-US" dirty="0"/>
              <a:t>"One important rule."</a:t>
            </a:r>
          </a:p>
          <a:p>
            <a:endParaRPr lang="en-US" dirty="0"/>
          </a:p>
          <a:p>
            <a:r>
              <a:rPr lang="en-US" dirty="0"/>
              <a:t>"Never put sensitive credentials directly into your source code."</a:t>
            </a:r>
          </a:p>
          <a:p>
            <a:endParaRPr lang="en-US" dirty="0"/>
          </a:p>
          <a:p>
            <a:r>
              <a:rPr lang="en-US" dirty="0"/>
              <a:t>Explain:</a:t>
            </a:r>
          </a:p>
          <a:p>
            <a:endParaRPr lang="en-US" dirty="0"/>
          </a:p>
          <a:p>
            <a:r>
              <a:rPr lang="en-US" dirty="0"/>
              <a:t>"Connection information needs to be handled carefully."</a:t>
            </a:r>
          </a:p>
          <a:p>
            <a:endParaRPr lang="en-US" dirty="0"/>
          </a:p>
          <a:p>
            <a:r>
              <a:rPr lang="en-US" dirty="0"/>
              <a:t>For our classroom project, students may see connection strings in</a:t>
            </a:r>
          </a:p>
          <a:p>
            <a:r>
              <a:rPr lang="en-US" dirty="0" err="1"/>
              <a:t>appsettings.json</a:t>
            </a:r>
            <a:r>
              <a:rPr lang="en-US" dirty="0"/>
              <a:t>.</a:t>
            </a:r>
          </a:p>
          <a:p>
            <a:endParaRPr lang="en-US" dirty="0"/>
          </a:p>
          <a:p>
            <a:r>
              <a:rPr lang="en-US" dirty="0"/>
              <a:t>But explain:</a:t>
            </a:r>
          </a:p>
          <a:p>
            <a:endParaRPr lang="en-US" dirty="0"/>
          </a:p>
          <a:p>
            <a:r>
              <a:rPr lang="en-US" dirty="0"/>
              <a:t>"Real applications use appropriate secret management."</a:t>
            </a:r>
          </a:p>
          <a:p>
            <a:endParaRPr lang="en-US" dirty="0"/>
          </a:p>
          <a:p>
            <a:r>
              <a:rPr lang="en-US" dirty="0"/>
              <a:t>Don't turn this into a security lesson yet.</a:t>
            </a:r>
          </a:p>
          <a:p>
            <a:endParaRPr lang="en-US" dirty="0"/>
          </a:p>
          <a:p>
            <a:r>
              <a:rPr lang="en-US" dirty="0"/>
              <a:t>That belongs in Sprint 6.</a:t>
            </a:r>
          </a:p>
          <a:p>
            <a:endParaRPr lang="en-US" dirty="0"/>
          </a:p>
          <a:p>
            <a:r>
              <a:rPr lang="en-US" dirty="0"/>
              <a:t>------------------------------------------------------------</a:t>
            </a:r>
          </a:p>
          <a:p>
            <a:endParaRPr lang="en-US" dirty="0"/>
          </a:p>
          <a:p>
            <a:r>
              <a:rPr lang="en-US" dirty="0"/>
              <a:t>STEP 3 — CREATE THE DBCONTEXT</a:t>
            </a:r>
          </a:p>
          <a:p>
            <a:endParaRPr lang="en-US" dirty="0"/>
          </a:p>
          <a:p>
            <a:r>
              <a:rPr lang="en-US" dirty="0"/>
              <a:t>Point to Step 3.</a:t>
            </a:r>
          </a:p>
          <a:p>
            <a:endParaRPr lang="en-US" dirty="0"/>
          </a:p>
          <a:p>
            <a:r>
              <a:rPr lang="en-US" dirty="0"/>
              <a:t>Explain:</a:t>
            </a:r>
          </a:p>
          <a:p>
            <a:endParaRPr lang="en-US" dirty="0"/>
          </a:p>
          <a:p>
            <a:r>
              <a:rPr lang="en-US" dirty="0"/>
              <a:t>"Now we need something that represents our application's working</a:t>
            </a:r>
          </a:p>
          <a:p>
            <a:r>
              <a:rPr lang="en-US" dirty="0"/>
              <a:t>connection to the database."</a:t>
            </a:r>
          </a:p>
          <a:p>
            <a:endParaRPr lang="en-US" dirty="0"/>
          </a:p>
          <a:p>
            <a:r>
              <a:rPr lang="en-US" dirty="0"/>
              <a:t>Introduce:</a:t>
            </a:r>
          </a:p>
          <a:p>
            <a:endParaRPr lang="en-US" dirty="0"/>
          </a:p>
          <a:p>
            <a:r>
              <a:rPr lang="en-US" dirty="0" err="1"/>
              <a:t>DbContext</a:t>
            </a:r>
            <a:r>
              <a:rPr lang="en-US" dirty="0"/>
              <a:t>.</a:t>
            </a:r>
          </a:p>
          <a:p>
            <a:endParaRPr lang="en-US" dirty="0"/>
          </a:p>
          <a:p>
            <a:r>
              <a:rPr lang="en-US" dirty="0"/>
              <a:t>Say:</a:t>
            </a:r>
          </a:p>
          <a:p>
            <a:endParaRPr lang="en-US" dirty="0"/>
          </a:p>
          <a:p>
            <a:r>
              <a:rPr lang="en-US" dirty="0"/>
              <a:t>"Think of </a:t>
            </a:r>
            <a:r>
              <a:rPr lang="en-US" dirty="0" err="1"/>
              <a:t>DbContext</a:t>
            </a:r>
            <a:r>
              <a:rPr lang="en-US" dirty="0"/>
              <a:t> as the main gateway EF Core uses to work with our</a:t>
            </a:r>
          </a:p>
          <a:p>
            <a:r>
              <a:rPr lang="en-US" dirty="0"/>
              <a:t>database."</a:t>
            </a:r>
          </a:p>
          <a:p>
            <a:endParaRPr lang="en-US" dirty="0"/>
          </a:p>
          <a:p>
            <a:r>
              <a:rPr lang="en-US" dirty="0"/>
              <a:t>Simple mental model:</a:t>
            </a:r>
          </a:p>
          <a:p>
            <a:endParaRPr lang="en-US" dirty="0"/>
          </a:p>
          <a:p>
            <a:r>
              <a:rPr lang="en-US" dirty="0"/>
              <a:t>Application</a:t>
            </a:r>
          </a:p>
          <a:p>
            <a:endParaRPr lang="en-US" dirty="0"/>
          </a:p>
          <a:p>
            <a:r>
              <a:rPr lang="en-US" dirty="0"/>
              <a:t>↓</a:t>
            </a:r>
          </a:p>
          <a:p>
            <a:endParaRPr lang="en-US" dirty="0"/>
          </a:p>
          <a:p>
            <a:r>
              <a:rPr lang="en-US" dirty="0" err="1"/>
              <a:t>DbContext</a:t>
            </a:r>
            <a:endParaRPr lang="en-US" dirty="0"/>
          </a:p>
          <a:p>
            <a:endParaRPr lang="en-US" dirty="0"/>
          </a:p>
          <a:p>
            <a:r>
              <a:rPr lang="en-US" dirty="0"/>
              <a:t>↓</a:t>
            </a:r>
          </a:p>
          <a:p>
            <a:endParaRPr lang="en-US" dirty="0"/>
          </a:p>
          <a:p>
            <a:r>
              <a:rPr lang="en-US" dirty="0"/>
              <a:t>Database</a:t>
            </a:r>
          </a:p>
          <a:p>
            <a:endParaRPr lang="en-US" dirty="0"/>
          </a:p>
          <a:p>
            <a:r>
              <a:rPr lang="en-US" dirty="0"/>
              <a:t>------------------------------------------------------------</a:t>
            </a:r>
          </a:p>
          <a:p>
            <a:endParaRPr lang="en-US" dirty="0"/>
          </a:p>
          <a:p>
            <a:r>
              <a:rPr lang="en-US" dirty="0"/>
              <a:t>THE DBCONTEXT</a:t>
            </a:r>
          </a:p>
          <a:p>
            <a:endParaRPr lang="en-US" dirty="0"/>
          </a:p>
          <a:p>
            <a:r>
              <a:rPr lang="en-US" dirty="0"/>
              <a:t>Show the conceptual example.</a:t>
            </a:r>
          </a:p>
          <a:p>
            <a:endParaRPr lang="en-US" dirty="0"/>
          </a:p>
          <a:p>
            <a:r>
              <a:rPr lang="en-US" dirty="0" err="1"/>
              <a:t>ApplicationDbContext</a:t>
            </a:r>
            <a:endParaRPr lang="en-US" dirty="0"/>
          </a:p>
          <a:p>
            <a:endParaRPr lang="en-US" dirty="0"/>
          </a:p>
          <a:p>
            <a:r>
              <a:rPr lang="en-US" dirty="0"/>
              <a:t>inherits from:</a:t>
            </a:r>
          </a:p>
          <a:p>
            <a:endParaRPr lang="en-US" dirty="0"/>
          </a:p>
          <a:p>
            <a:r>
              <a:rPr lang="en-US" dirty="0" err="1"/>
              <a:t>DbContext</a:t>
            </a:r>
            <a:endParaRPr lang="en-US" dirty="0"/>
          </a:p>
          <a:p>
            <a:endParaRPr lang="en-US" dirty="0"/>
          </a:p>
          <a:p>
            <a:r>
              <a:rPr lang="en-US" dirty="0"/>
              <a:t>Explain:</a:t>
            </a:r>
          </a:p>
          <a:p>
            <a:endParaRPr lang="en-US" dirty="0"/>
          </a:p>
          <a:p>
            <a:r>
              <a:rPr lang="en-US" dirty="0"/>
              <a:t>"Our context will contain the information EF Core needs to work with</a:t>
            </a:r>
          </a:p>
          <a:p>
            <a:r>
              <a:rPr lang="en-US" dirty="0"/>
              <a:t>our application's entities."</a:t>
            </a:r>
          </a:p>
          <a:p>
            <a:endParaRPr lang="en-US" dirty="0"/>
          </a:p>
          <a:p>
            <a:r>
              <a:rPr lang="en-US" dirty="0"/>
              <a:t>Don't get lost in inheritance details.</a:t>
            </a:r>
          </a:p>
          <a:p>
            <a:endParaRPr lang="en-US" dirty="0"/>
          </a:p>
          <a:p>
            <a:r>
              <a:rPr lang="en-US" dirty="0"/>
              <a:t>The important concept is:</a:t>
            </a:r>
          </a:p>
          <a:p>
            <a:endParaRPr lang="en-US" dirty="0"/>
          </a:p>
          <a:p>
            <a:r>
              <a:rPr lang="en-US" dirty="0"/>
              <a:t>"</a:t>
            </a:r>
            <a:r>
              <a:rPr lang="en-US" dirty="0" err="1"/>
              <a:t>DbContext</a:t>
            </a:r>
            <a:r>
              <a:rPr lang="en-US" dirty="0"/>
              <a:t> is our application's database gateway."</a:t>
            </a:r>
          </a:p>
          <a:p>
            <a:endParaRPr lang="en-US" dirty="0"/>
          </a:p>
          <a:p>
            <a:r>
              <a:rPr lang="en-US" dirty="0"/>
              <a:t>------------------------------------------------------------</a:t>
            </a:r>
          </a:p>
          <a:p>
            <a:endParaRPr lang="en-US" dirty="0"/>
          </a:p>
          <a:p>
            <a:r>
              <a:rPr lang="en-US" dirty="0"/>
              <a:t>STEP 4 — ADD DBSET PROPERTIES</a:t>
            </a:r>
          </a:p>
          <a:p>
            <a:endParaRPr lang="en-US" dirty="0"/>
          </a:p>
          <a:p>
            <a:r>
              <a:rPr lang="en-US" dirty="0"/>
              <a:t>Point to Step 4.</a:t>
            </a:r>
          </a:p>
          <a:p>
            <a:endParaRPr lang="en-US" dirty="0"/>
          </a:p>
          <a:p>
            <a:r>
              <a:rPr lang="en-US" dirty="0"/>
              <a:t>Explain:</a:t>
            </a:r>
          </a:p>
          <a:p>
            <a:endParaRPr lang="en-US" dirty="0"/>
          </a:p>
          <a:p>
            <a:r>
              <a:rPr lang="en-US" dirty="0"/>
              <a:t>"Now we tell EF Core what entities our application works with."</a:t>
            </a:r>
          </a:p>
          <a:p>
            <a:endParaRPr lang="en-US" dirty="0"/>
          </a:p>
          <a:p>
            <a:r>
              <a:rPr lang="en-US" dirty="0"/>
              <a:t>Examples:</a:t>
            </a:r>
          </a:p>
          <a:p>
            <a:endParaRPr lang="en-US" dirty="0"/>
          </a:p>
          <a:p>
            <a:r>
              <a:rPr lang="en-US" dirty="0" err="1"/>
              <a:t>DbSet</a:t>
            </a:r>
            <a:r>
              <a:rPr lang="en-US" dirty="0"/>
              <a:t>&lt;User&gt;</a:t>
            </a:r>
          </a:p>
          <a:p>
            <a:endParaRPr lang="en-US" dirty="0"/>
          </a:p>
          <a:p>
            <a:r>
              <a:rPr lang="en-US" dirty="0" err="1"/>
              <a:t>DbSet</a:t>
            </a:r>
            <a:r>
              <a:rPr lang="en-US" dirty="0"/>
              <a:t>&lt;Project&gt;</a:t>
            </a:r>
          </a:p>
          <a:p>
            <a:endParaRPr lang="en-US" dirty="0"/>
          </a:p>
          <a:p>
            <a:r>
              <a:rPr lang="en-US" dirty="0" err="1"/>
              <a:t>DbSet</a:t>
            </a:r>
            <a:r>
              <a:rPr lang="en-US" dirty="0"/>
              <a:t>&lt;Task&gt;</a:t>
            </a:r>
          </a:p>
          <a:p>
            <a:endParaRPr lang="en-US" dirty="0"/>
          </a:p>
          <a:p>
            <a:r>
              <a:rPr lang="en-US" dirty="0" err="1"/>
              <a:t>DbSet</a:t>
            </a:r>
            <a:r>
              <a:rPr lang="en-US" dirty="0"/>
              <a:t>&lt;Status&gt;</a:t>
            </a:r>
          </a:p>
          <a:p>
            <a:endParaRPr lang="en-US" dirty="0"/>
          </a:p>
          <a:p>
            <a:r>
              <a:rPr lang="en-US" dirty="0" err="1"/>
              <a:t>DbSet</a:t>
            </a:r>
            <a:r>
              <a:rPr lang="en-US" dirty="0"/>
              <a:t>&lt;Category&gt;</a:t>
            </a:r>
          </a:p>
          <a:p>
            <a:endParaRPr lang="en-US" dirty="0"/>
          </a:p>
          <a:p>
            <a:r>
              <a:rPr lang="en-US" dirty="0"/>
              <a:t>Explain:</a:t>
            </a:r>
          </a:p>
          <a:p>
            <a:endParaRPr lang="en-US" dirty="0"/>
          </a:p>
          <a:p>
            <a:r>
              <a:rPr lang="en-US" dirty="0"/>
              <a:t>"Each </a:t>
            </a:r>
            <a:r>
              <a:rPr lang="en-US" dirty="0" err="1"/>
              <a:t>DbSet</a:t>
            </a:r>
            <a:r>
              <a:rPr lang="en-US" dirty="0"/>
              <a:t> represents a collection of records for an entity."</a:t>
            </a:r>
          </a:p>
          <a:p>
            <a:endParaRPr lang="en-US" dirty="0"/>
          </a:p>
          <a:p>
            <a:r>
              <a:rPr lang="en-US" dirty="0"/>
              <a:t>Simple analogy:</a:t>
            </a:r>
          </a:p>
          <a:p>
            <a:endParaRPr lang="en-US" dirty="0"/>
          </a:p>
          <a:p>
            <a:r>
              <a:rPr lang="en-US" dirty="0" err="1"/>
              <a:t>DbSet</a:t>
            </a:r>
            <a:r>
              <a:rPr lang="en-US" dirty="0"/>
              <a:t>&lt;Task&gt;</a:t>
            </a:r>
          </a:p>
          <a:p>
            <a:endParaRPr lang="en-US" dirty="0"/>
          </a:p>
          <a:p>
            <a:r>
              <a:rPr lang="en-US" dirty="0"/>
              <a:t>↓</a:t>
            </a:r>
          </a:p>
          <a:p>
            <a:endParaRPr lang="en-US" dirty="0"/>
          </a:p>
          <a:p>
            <a:r>
              <a:rPr lang="en-US" dirty="0"/>
              <a:t>Tasks table</a:t>
            </a:r>
          </a:p>
          <a:p>
            <a:endParaRPr lang="en-US" dirty="0"/>
          </a:p>
          <a:p>
            <a:r>
              <a:rPr lang="en-US" dirty="0"/>
              <a:t>------------------------------------------------------------</a:t>
            </a:r>
          </a:p>
          <a:p>
            <a:endParaRPr lang="en-US" dirty="0"/>
          </a:p>
          <a:p>
            <a:r>
              <a:rPr lang="en-US" dirty="0"/>
              <a:t>IMPORTANT DISTINCTION</a:t>
            </a:r>
          </a:p>
          <a:p>
            <a:endParaRPr lang="en-US" dirty="0"/>
          </a:p>
          <a:p>
            <a:r>
              <a:rPr lang="en-US" dirty="0"/>
              <a:t>Say:</a:t>
            </a:r>
          </a:p>
          <a:p>
            <a:endParaRPr lang="en-US" dirty="0"/>
          </a:p>
          <a:p>
            <a:r>
              <a:rPr lang="en-US" dirty="0"/>
              <a:t>"A </a:t>
            </a:r>
            <a:r>
              <a:rPr lang="en-US" dirty="0" err="1"/>
              <a:t>DbSet</a:t>
            </a:r>
            <a:r>
              <a:rPr lang="en-US" dirty="0"/>
              <a:t> is not literally the database table."</a:t>
            </a:r>
          </a:p>
          <a:p>
            <a:endParaRPr lang="en-US" dirty="0"/>
          </a:p>
          <a:p>
            <a:r>
              <a:rPr lang="en-US" dirty="0"/>
              <a:t>"Think of it as EF Core's way of representing that set of data in the</a:t>
            </a:r>
          </a:p>
          <a:p>
            <a:r>
              <a:rPr lang="en-US" dirty="0"/>
              <a:t>application."</a:t>
            </a:r>
          </a:p>
          <a:p>
            <a:endParaRPr lang="en-US" dirty="0"/>
          </a:p>
          <a:p>
            <a:r>
              <a:rPr lang="en-US" dirty="0"/>
              <a:t>This distinction prevents students from treating EF Core abstractions</a:t>
            </a:r>
          </a:p>
          <a:p>
            <a:r>
              <a:rPr lang="en-US" dirty="0"/>
              <a:t>as the database itself.</a:t>
            </a:r>
          </a:p>
          <a:p>
            <a:endParaRPr lang="en-US" dirty="0"/>
          </a:p>
          <a:p>
            <a:r>
              <a:rPr lang="en-US" dirty="0"/>
              <a:t>------------------------------------------------------------</a:t>
            </a:r>
          </a:p>
          <a:p>
            <a:endParaRPr lang="en-US" dirty="0"/>
          </a:p>
          <a:p>
            <a:r>
              <a:rPr lang="en-US" dirty="0"/>
              <a:t>STEP 5 — CREATE THE DATABASE</a:t>
            </a:r>
          </a:p>
          <a:p>
            <a:endParaRPr lang="en-US" dirty="0"/>
          </a:p>
          <a:p>
            <a:r>
              <a:rPr lang="en-US" dirty="0"/>
              <a:t>Point to Step 5.</a:t>
            </a:r>
          </a:p>
          <a:p>
            <a:endParaRPr lang="en-US" dirty="0"/>
          </a:p>
          <a:p>
            <a:r>
              <a:rPr lang="en-US" dirty="0"/>
              <a:t>Explain:</a:t>
            </a:r>
          </a:p>
          <a:p>
            <a:endParaRPr lang="en-US" dirty="0"/>
          </a:p>
          <a:p>
            <a:r>
              <a:rPr lang="en-US" dirty="0"/>
              <a:t>"We've now told the application what our data looks like."</a:t>
            </a:r>
          </a:p>
          <a:p>
            <a:endParaRPr lang="en-US" dirty="0"/>
          </a:p>
          <a:p>
            <a:r>
              <a:rPr lang="en-US" dirty="0"/>
              <a:t>"But the database still needs to be created."</a:t>
            </a:r>
          </a:p>
          <a:p>
            <a:endParaRPr lang="en-US" dirty="0"/>
          </a:p>
          <a:p>
            <a:r>
              <a:rPr lang="en-US" dirty="0"/>
              <a:t>Introduce migrations at a high level.</a:t>
            </a:r>
          </a:p>
          <a:p>
            <a:endParaRPr lang="en-US" dirty="0"/>
          </a:p>
          <a:p>
            <a:r>
              <a:rPr lang="en-US" dirty="0"/>
              <a:t>"Migrations allow EF Core to track changes to our model and apply those</a:t>
            </a:r>
          </a:p>
          <a:p>
            <a:r>
              <a:rPr lang="en-US" dirty="0"/>
              <a:t>changes to the database structure."</a:t>
            </a:r>
          </a:p>
          <a:p>
            <a:endParaRPr lang="en-US" dirty="0"/>
          </a:p>
          <a:p>
            <a:r>
              <a:rPr lang="en-US" dirty="0"/>
              <a:t>Keep this simple.</a:t>
            </a:r>
          </a:p>
          <a:p>
            <a:endParaRPr lang="en-US" dirty="0"/>
          </a:p>
          <a:p>
            <a:r>
              <a:rPr lang="en-US" dirty="0"/>
              <a:t>Today we're using migrations to create the initial database structure.</a:t>
            </a:r>
          </a:p>
          <a:p>
            <a:endParaRPr lang="en-US" dirty="0"/>
          </a:p>
          <a:p>
            <a:r>
              <a:rPr lang="en-US" dirty="0"/>
              <a:t>------------------------------------------------------------</a:t>
            </a:r>
          </a:p>
          <a:p>
            <a:endParaRPr lang="en-US" dirty="0"/>
          </a:p>
          <a:p>
            <a:r>
              <a:rPr lang="en-US" dirty="0"/>
              <a:t>THE MIGRATION CONCEPT</a:t>
            </a:r>
          </a:p>
          <a:p>
            <a:endParaRPr lang="en-US" dirty="0"/>
          </a:p>
          <a:p>
            <a:r>
              <a:rPr lang="en-US" dirty="0"/>
              <a:t>Draw:</a:t>
            </a:r>
          </a:p>
          <a:p>
            <a:endParaRPr lang="en-US" dirty="0"/>
          </a:p>
          <a:p>
            <a:r>
              <a:rPr lang="en-US" dirty="0"/>
              <a:t>C# Models</a:t>
            </a:r>
          </a:p>
          <a:p>
            <a:endParaRPr lang="en-US" dirty="0"/>
          </a:p>
          <a:p>
            <a:r>
              <a:rPr lang="en-US" dirty="0"/>
              <a:t>↓</a:t>
            </a:r>
          </a:p>
          <a:p>
            <a:endParaRPr lang="en-US" dirty="0"/>
          </a:p>
          <a:p>
            <a:r>
              <a:rPr lang="en-US" dirty="0"/>
              <a:t>Migration</a:t>
            </a:r>
          </a:p>
          <a:p>
            <a:endParaRPr lang="en-US" dirty="0"/>
          </a:p>
          <a:p>
            <a:r>
              <a:rPr lang="en-US" dirty="0"/>
              <a:t>↓</a:t>
            </a:r>
          </a:p>
          <a:p>
            <a:endParaRPr lang="en-US" dirty="0"/>
          </a:p>
          <a:p>
            <a:r>
              <a:rPr lang="en-US" dirty="0"/>
              <a:t>Database Schema</a:t>
            </a:r>
          </a:p>
          <a:p>
            <a:endParaRPr lang="en-US" dirty="0"/>
          </a:p>
          <a:p>
            <a:r>
              <a:rPr lang="en-US" dirty="0"/>
              <a:t>Explain:</a:t>
            </a:r>
          </a:p>
          <a:p>
            <a:endParaRPr lang="en-US" dirty="0"/>
          </a:p>
          <a:p>
            <a:r>
              <a:rPr lang="en-US" dirty="0"/>
              <a:t>"If we change our model later..."</a:t>
            </a:r>
          </a:p>
          <a:p>
            <a:endParaRPr lang="en-US" dirty="0"/>
          </a:p>
          <a:p>
            <a:r>
              <a:rPr lang="en-US" dirty="0"/>
              <a:t>"We can create another migration."</a:t>
            </a:r>
          </a:p>
          <a:p>
            <a:endParaRPr lang="en-US" dirty="0"/>
          </a:p>
          <a:p>
            <a:r>
              <a:rPr lang="en-US" dirty="0"/>
              <a:t>"The database can then be updated."</a:t>
            </a:r>
          </a:p>
          <a:p>
            <a:endParaRPr lang="en-US" dirty="0"/>
          </a:p>
          <a:p>
            <a:r>
              <a:rPr lang="en-US" dirty="0"/>
              <a:t>This is why migrations are useful.</a:t>
            </a:r>
          </a:p>
          <a:p>
            <a:endParaRPr lang="en-US" dirty="0"/>
          </a:p>
          <a:p>
            <a:r>
              <a:rPr lang="en-US" dirty="0"/>
              <a:t>------------------------------------------------------------</a:t>
            </a:r>
          </a:p>
          <a:p>
            <a:endParaRPr lang="en-US" dirty="0"/>
          </a:p>
          <a:p>
            <a:r>
              <a:rPr lang="en-US" dirty="0"/>
              <a:t>STEP 6 — VERIFY THE CONNECTION</a:t>
            </a:r>
          </a:p>
          <a:p>
            <a:endParaRPr lang="en-US" dirty="0"/>
          </a:p>
          <a:p>
            <a:r>
              <a:rPr lang="en-US" dirty="0"/>
              <a:t>Point to Step 6.</a:t>
            </a:r>
          </a:p>
          <a:p>
            <a:endParaRPr lang="en-US" dirty="0"/>
          </a:p>
          <a:p>
            <a:r>
              <a:rPr lang="en-US" dirty="0"/>
              <a:t>Say:</a:t>
            </a:r>
          </a:p>
          <a:p>
            <a:endParaRPr lang="en-US" dirty="0"/>
          </a:p>
          <a:p>
            <a:r>
              <a:rPr lang="en-US" dirty="0"/>
              <a:t>"Never assume the connection works."</a:t>
            </a:r>
          </a:p>
          <a:p>
            <a:endParaRPr lang="en-US" dirty="0"/>
          </a:p>
          <a:p>
            <a:r>
              <a:rPr lang="en-US" dirty="0"/>
              <a:t>"We test it."</a:t>
            </a:r>
          </a:p>
          <a:p>
            <a:endParaRPr lang="en-US" dirty="0"/>
          </a:p>
          <a:p>
            <a:r>
              <a:rPr lang="en-US" dirty="0"/>
              <a:t>Run the application.</a:t>
            </a:r>
          </a:p>
          <a:p>
            <a:endParaRPr lang="en-US" dirty="0"/>
          </a:p>
          <a:p>
            <a:r>
              <a:rPr lang="en-US" dirty="0"/>
              <a:t>Perform a simple database operation.</a:t>
            </a:r>
          </a:p>
          <a:p>
            <a:endParaRPr lang="en-US" dirty="0"/>
          </a:p>
          <a:p>
            <a:r>
              <a:rPr lang="en-US" dirty="0"/>
              <a:t>Check for errors.</a:t>
            </a:r>
          </a:p>
          <a:p>
            <a:endParaRPr lang="en-US" dirty="0"/>
          </a:p>
          <a:p>
            <a:r>
              <a:rPr lang="en-US" dirty="0"/>
              <a:t>Verify that the database exists.</a:t>
            </a:r>
          </a:p>
          <a:p>
            <a:endParaRPr lang="en-US" dirty="0"/>
          </a:p>
          <a:p>
            <a:r>
              <a:rPr lang="en-US" dirty="0"/>
              <a:t>Explain:</a:t>
            </a:r>
          </a:p>
          <a:p>
            <a:endParaRPr lang="en-US" dirty="0"/>
          </a:p>
          <a:p>
            <a:r>
              <a:rPr lang="en-US" dirty="0"/>
              <a:t>"Successful deployment taught us to verify."</a:t>
            </a:r>
          </a:p>
          <a:p>
            <a:endParaRPr lang="en-US" dirty="0"/>
          </a:p>
          <a:p>
            <a:r>
              <a:rPr lang="en-US" dirty="0"/>
              <a:t>"Database connectivity requires the same discipline."</a:t>
            </a:r>
          </a:p>
          <a:p>
            <a:endParaRPr lang="en-US" dirty="0"/>
          </a:p>
          <a:p>
            <a:r>
              <a:rPr lang="en-US" dirty="0"/>
              <a:t>------------------------------------------------------------</a:t>
            </a:r>
          </a:p>
          <a:p>
            <a:endParaRPr lang="en-US" dirty="0"/>
          </a:p>
          <a:p>
            <a:r>
              <a:rPr lang="en-US" dirty="0"/>
              <a:t>THE FIRST TEST</a:t>
            </a:r>
          </a:p>
          <a:p>
            <a:endParaRPr lang="en-US" dirty="0"/>
          </a:p>
          <a:p>
            <a:r>
              <a:rPr lang="en-US" dirty="0"/>
              <a:t>Give students a very simple test:</a:t>
            </a:r>
          </a:p>
          <a:p>
            <a:endParaRPr lang="en-US" dirty="0"/>
          </a:p>
          <a:p>
            <a:r>
              <a:rPr lang="en-US" dirty="0"/>
              <a:t>Run Atlas </a:t>
            </a:r>
            <a:r>
              <a:rPr lang="en-US" dirty="0" err="1"/>
              <a:t>TaskFlow</a:t>
            </a:r>
            <a:r>
              <a:rPr lang="en-US" dirty="0"/>
              <a:t>.</a:t>
            </a:r>
          </a:p>
          <a:p>
            <a:endParaRPr lang="en-US" dirty="0"/>
          </a:p>
          <a:p>
            <a:r>
              <a:rPr lang="en-US" dirty="0"/>
              <a:t>Open the application.</a:t>
            </a:r>
          </a:p>
          <a:p>
            <a:endParaRPr lang="en-US" dirty="0"/>
          </a:p>
          <a:p>
            <a:r>
              <a:rPr lang="en-US" dirty="0"/>
              <a:t>Navigate to the database-connected feature.</a:t>
            </a:r>
          </a:p>
          <a:p>
            <a:endParaRPr lang="en-US" dirty="0"/>
          </a:p>
          <a:p>
            <a:r>
              <a:rPr lang="en-US" dirty="0"/>
              <a:t>Perform a basic operation.</a:t>
            </a:r>
          </a:p>
          <a:p>
            <a:endParaRPr lang="en-US" dirty="0"/>
          </a:p>
          <a:p>
            <a:r>
              <a:rPr lang="en-US" dirty="0"/>
              <a:t>Verify that the database responds.</a:t>
            </a:r>
          </a:p>
          <a:p>
            <a:endParaRPr lang="en-US" dirty="0"/>
          </a:p>
          <a:p>
            <a:r>
              <a:rPr lang="en-US" dirty="0"/>
              <a:t>If the application reaches the database successfully:</a:t>
            </a:r>
          </a:p>
          <a:p>
            <a:endParaRPr lang="en-US" dirty="0"/>
          </a:p>
          <a:p>
            <a:r>
              <a:rPr lang="en-US" dirty="0"/>
              <a:t>"We have a connection."</a:t>
            </a:r>
          </a:p>
          <a:p>
            <a:endParaRPr lang="en-US" dirty="0"/>
          </a:p>
          <a:p>
            <a:r>
              <a:rPr lang="en-US" dirty="0"/>
              <a:t>------------------------------------------------------------</a:t>
            </a:r>
          </a:p>
          <a:p>
            <a:endParaRPr lang="en-US" dirty="0"/>
          </a:p>
          <a:p>
            <a:r>
              <a:rPr lang="en-US" dirty="0"/>
              <a:t>WHAT COULD GO WRONG?</a:t>
            </a:r>
          </a:p>
          <a:p>
            <a:endParaRPr lang="en-US" dirty="0"/>
          </a:p>
          <a:p>
            <a:r>
              <a:rPr lang="en-US" dirty="0"/>
              <a:t>Ask students:</a:t>
            </a:r>
          </a:p>
          <a:p>
            <a:endParaRPr lang="en-US" dirty="0"/>
          </a:p>
          <a:p>
            <a:r>
              <a:rPr lang="en-US" dirty="0"/>
              <a:t>"What could prevent this from working?"</a:t>
            </a:r>
          </a:p>
          <a:p>
            <a:endParaRPr lang="en-US" dirty="0"/>
          </a:p>
          <a:p>
            <a:r>
              <a:rPr lang="en-US" dirty="0"/>
              <a:t>Possible answers:</a:t>
            </a:r>
          </a:p>
          <a:p>
            <a:endParaRPr lang="en-US" dirty="0"/>
          </a:p>
          <a:p>
            <a:r>
              <a:rPr lang="en-US" dirty="0"/>
              <a:t>Incorrect connection string.</a:t>
            </a:r>
          </a:p>
          <a:p>
            <a:endParaRPr lang="en-US" dirty="0"/>
          </a:p>
          <a:p>
            <a:r>
              <a:rPr lang="en-US" dirty="0"/>
              <a:t>Missing package.</a:t>
            </a:r>
          </a:p>
          <a:p>
            <a:endParaRPr lang="en-US" dirty="0"/>
          </a:p>
          <a:p>
            <a:r>
              <a:rPr lang="en-US" dirty="0"/>
              <a:t>Wrong database provider.</a:t>
            </a:r>
          </a:p>
          <a:p>
            <a:endParaRPr lang="en-US" dirty="0"/>
          </a:p>
          <a:p>
            <a:r>
              <a:rPr lang="en-US" dirty="0"/>
              <a:t>Incorrect server name.</a:t>
            </a:r>
          </a:p>
          <a:p>
            <a:endParaRPr lang="en-US" dirty="0"/>
          </a:p>
          <a:p>
            <a:r>
              <a:rPr lang="en-US" dirty="0"/>
              <a:t>Database doesn't exist.</a:t>
            </a:r>
          </a:p>
          <a:p>
            <a:endParaRPr lang="en-US" dirty="0"/>
          </a:p>
          <a:p>
            <a:r>
              <a:rPr lang="en-US" dirty="0"/>
              <a:t>Migration wasn't applied.</a:t>
            </a:r>
          </a:p>
          <a:p>
            <a:endParaRPr lang="en-US" dirty="0"/>
          </a:p>
          <a:p>
            <a:r>
              <a:rPr lang="en-US" dirty="0"/>
              <a:t>Configuration problem.</a:t>
            </a:r>
          </a:p>
          <a:p>
            <a:endParaRPr lang="en-US" dirty="0"/>
          </a:p>
          <a:p>
            <a:r>
              <a:rPr lang="en-US" dirty="0"/>
              <a:t>Explain:</a:t>
            </a:r>
          </a:p>
          <a:p>
            <a:endParaRPr lang="en-US" dirty="0"/>
          </a:p>
          <a:p>
            <a:r>
              <a:rPr lang="en-US" dirty="0"/>
              <a:t>"This is normal."</a:t>
            </a:r>
          </a:p>
          <a:p>
            <a:endParaRPr lang="en-US" dirty="0"/>
          </a:p>
          <a:p>
            <a:r>
              <a:rPr lang="en-US" dirty="0"/>
              <a:t>"Database configuration problems are part of development."</a:t>
            </a:r>
          </a:p>
          <a:p>
            <a:endParaRPr lang="en-US" dirty="0"/>
          </a:p>
          <a:p>
            <a:r>
              <a:rPr lang="en-US" dirty="0"/>
              <a:t>------------------------------------------------------------</a:t>
            </a:r>
          </a:p>
          <a:p>
            <a:endParaRPr lang="en-US" dirty="0"/>
          </a:p>
          <a:p>
            <a:r>
              <a:rPr lang="en-US" dirty="0"/>
              <a:t>DEBUGGING MINDSET</a:t>
            </a:r>
          </a:p>
          <a:p>
            <a:endParaRPr lang="en-US" dirty="0"/>
          </a:p>
          <a:p>
            <a:r>
              <a:rPr lang="en-US" dirty="0"/>
              <a:t>If something fails, don't immediately change everything.</a:t>
            </a:r>
          </a:p>
          <a:p>
            <a:endParaRPr lang="en-US" dirty="0"/>
          </a:p>
          <a:p>
            <a:r>
              <a:rPr lang="en-US" dirty="0"/>
              <a:t>Ask:</a:t>
            </a:r>
          </a:p>
          <a:p>
            <a:endParaRPr lang="en-US" dirty="0"/>
          </a:p>
          <a:p>
            <a:r>
              <a:rPr lang="en-US" dirty="0"/>
              <a:t>1. Did the application start?</a:t>
            </a:r>
          </a:p>
          <a:p>
            <a:endParaRPr lang="en-US" dirty="0"/>
          </a:p>
          <a:p>
            <a:r>
              <a:rPr lang="en-US" dirty="0"/>
              <a:t>2. Did the request reach the controller?</a:t>
            </a:r>
          </a:p>
          <a:p>
            <a:endParaRPr lang="en-US" dirty="0"/>
          </a:p>
          <a:p>
            <a:r>
              <a:rPr lang="en-US" dirty="0"/>
              <a:t>3. Did EF Core initialize?</a:t>
            </a:r>
          </a:p>
          <a:p>
            <a:endParaRPr lang="en-US" dirty="0"/>
          </a:p>
          <a:p>
            <a:r>
              <a:rPr lang="en-US" dirty="0"/>
              <a:t>4. Did the connection string load?</a:t>
            </a:r>
          </a:p>
          <a:p>
            <a:endParaRPr lang="en-US" dirty="0"/>
          </a:p>
          <a:p>
            <a:r>
              <a:rPr lang="en-US" dirty="0"/>
              <a:t>5. Can the database be reached?</a:t>
            </a:r>
          </a:p>
          <a:p>
            <a:endParaRPr lang="en-US" dirty="0"/>
          </a:p>
          <a:p>
            <a:r>
              <a:rPr lang="en-US" dirty="0"/>
              <a:t>6. Did the migration run?</a:t>
            </a:r>
          </a:p>
          <a:p>
            <a:endParaRPr lang="en-US" dirty="0"/>
          </a:p>
          <a:p>
            <a:r>
              <a:rPr lang="en-US" dirty="0"/>
              <a:t>Explain:</a:t>
            </a:r>
          </a:p>
          <a:p>
            <a:endParaRPr lang="en-US" dirty="0"/>
          </a:p>
          <a:p>
            <a:r>
              <a:rPr lang="en-US" dirty="0"/>
              <a:t>"Debugging is a process of narrowing down the problem."</a:t>
            </a:r>
          </a:p>
          <a:p>
            <a:endParaRPr lang="en-US" dirty="0"/>
          </a:p>
          <a:p>
            <a:r>
              <a:rPr lang="en-US" dirty="0"/>
              <a:t>------------------------------------------------------------</a:t>
            </a:r>
          </a:p>
          <a:p>
            <a:endParaRPr lang="en-US" dirty="0"/>
          </a:p>
          <a:p>
            <a:r>
              <a:rPr lang="en-US" dirty="0"/>
              <a:t>THE ARCHITECTURE</a:t>
            </a:r>
          </a:p>
          <a:p>
            <a:endParaRPr lang="en-US" dirty="0"/>
          </a:p>
          <a:p>
            <a:r>
              <a:rPr lang="en-US" dirty="0"/>
              <a:t>Point to the full architecture:</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MVC APPLICATION</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EF CORE / DBCONTEXT</a:t>
            </a:r>
          </a:p>
          <a:p>
            <a:endParaRPr lang="en-US" dirty="0"/>
          </a:p>
          <a:p>
            <a:r>
              <a:rPr lang="en-US" dirty="0"/>
              <a:t>↓</a:t>
            </a:r>
          </a:p>
          <a:p>
            <a:endParaRPr lang="en-US" dirty="0"/>
          </a:p>
          <a:p>
            <a:r>
              <a:rPr lang="en-US" dirty="0"/>
              <a:t>DATABASE</a:t>
            </a:r>
          </a:p>
          <a:p>
            <a:endParaRPr lang="en-US" dirty="0"/>
          </a:p>
          <a:p>
            <a:r>
              <a:rPr lang="en-US" dirty="0"/>
              <a:t>Say:</a:t>
            </a:r>
          </a:p>
          <a:p>
            <a:endParaRPr lang="en-US" dirty="0"/>
          </a:p>
          <a:p>
            <a:r>
              <a:rPr lang="en-US" dirty="0"/>
              <a:t>"This is the architecture we're building."</a:t>
            </a:r>
          </a:p>
          <a:p>
            <a:endParaRPr lang="en-US" dirty="0"/>
          </a:p>
          <a:p>
            <a:r>
              <a:rPr lang="en-US" dirty="0"/>
              <a:t>"We've now connected the bottom half."</a:t>
            </a:r>
          </a:p>
          <a:p>
            <a:endParaRPr lang="en-US" dirty="0"/>
          </a:p>
          <a:p>
            <a:r>
              <a:rPr lang="en-US" dirty="0"/>
              <a:t>------------------------------------------------------------</a:t>
            </a:r>
          </a:p>
          <a:p>
            <a:endParaRPr lang="en-US" dirty="0"/>
          </a:p>
          <a:p>
            <a:r>
              <a:rPr lang="en-US" dirty="0"/>
              <a:t>WHY THIS MATTERS</a:t>
            </a:r>
          </a:p>
          <a:p>
            <a:endParaRPr lang="en-US" dirty="0"/>
          </a:p>
          <a:p>
            <a:r>
              <a:rPr lang="en-US" dirty="0"/>
              <a:t>Ask:</a:t>
            </a:r>
          </a:p>
          <a:p>
            <a:endParaRPr lang="en-US" dirty="0"/>
          </a:p>
          <a:p>
            <a:r>
              <a:rPr lang="en-US" dirty="0"/>
              <a:t>"What changes once the database is connected?"</a:t>
            </a:r>
          </a:p>
          <a:p>
            <a:endParaRPr lang="en-US" dirty="0"/>
          </a:p>
          <a:p>
            <a:r>
              <a:rPr lang="en-US" dirty="0"/>
              <a:t>Before:</a:t>
            </a:r>
          </a:p>
          <a:p>
            <a:endParaRPr lang="en-US" dirty="0"/>
          </a:p>
          <a:p>
            <a:r>
              <a:rPr lang="en-US" dirty="0"/>
              <a:t>Atlas can display information.</a:t>
            </a:r>
          </a:p>
          <a:p>
            <a:endParaRPr lang="en-US" dirty="0"/>
          </a:p>
          <a:p>
            <a:r>
              <a:rPr lang="en-US" dirty="0"/>
              <a:t>After:</a:t>
            </a:r>
          </a:p>
          <a:p>
            <a:endParaRPr lang="en-US" dirty="0"/>
          </a:p>
          <a:p>
            <a:r>
              <a:rPr lang="en-US" dirty="0"/>
              <a:t>Atlas can store information.</a:t>
            </a:r>
          </a:p>
          <a:p>
            <a:endParaRPr lang="en-US" dirty="0"/>
          </a:p>
          <a:p>
            <a:r>
              <a:rPr lang="en-US" dirty="0"/>
              <a:t>Explain:</a:t>
            </a:r>
          </a:p>
          <a:p>
            <a:endParaRPr lang="en-US" dirty="0"/>
          </a:p>
          <a:p>
            <a:r>
              <a:rPr lang="en-US" dirty="0"/>
              <a:t>"This is the difference between a static interface..."</a:t>
            </a:r>
          </a:p>
          <a:p>
            <a:endParaRPr lang="en-US" dirty="0"/>
          </a:p>
          <a:p>
            <a:r>
              <a:rPr lang="en-US" dirty="0"/>
              <a:t>"...and a data-driven application."</a:t>
            </a:r>
          </a:p>
          <a:p>
            <a:endParaRPr lang="en-US" dirty="0"/>
          </a:p>
          <a:p>
            <a:r>
              <a:rPr lang="en-US" dirty="0"/>
              <a:t>------------------------------------------------------------</a:t>
            </a:r>
          </a:p>
          <a:p>
            <a:endParaRPr lang="en-US" dirty="0"/>
          </a:p>
          <a:p>
            <a:r>
              <a:rPr lang="en-US" dirty="0"/>
              <a:t>BUILD CHALLENGE</a:t>
            </a:r>
          </a:p>
          <a:p>
            <a:endParaRPr lang="en-US" dirty="0"/>
          </a:p>
          <a:p>
            <a:r>
              <a:rPr lang="en-US" dirty="0"/>
              <a:t>Students should complete the following:</a:t>
            </a:r>
          </a:p>
          <a:p>
            <a:endParaRPr lang="en-US" dirty="0"/>
          </a:p>
          <a:p>
            <a:r>
              <a:rPr lang="en-US" dirty="0"/>
              <a:t>1. Install required EF Core packages.</a:t>
            </a:r>
          </a:p>
          <a:p>
            <a:endParaRPr lang="en-US" dirty="0"/>
          </a:p>
          <a:p>
            <a:r>
              <a:rPr lang="en-US" dirty="0"/>
              <a:t>2. Configure the database provider.</a:t>
            </a:r>
          </a:p>
          <a:p>
            <a:endParaRPr lang="en-US" dirty="0"/>
          </a:p>
          <a:p>
            <a:r>
              <a:rPr lang="en-US" dirty="0"/>
              <a:t>3. Add the connection string.</a:t>
            </a:r>
          </a:p>
          <a:p>
            <a:endParaRPr lang="en-US" dirty="0"/>
          </a:p>
          <a:p>
            <a:r>
              <a:rPr lang="en-US" dirty="0"/>
              <a:t>4. Create </a:t>
            </a:r>
            <a:r>
              <a:rPr lang="en-US" dirty="0" err="1"/>
              <a:t>ApplicationDbContext</a:t>
            </a:r>
            <a:r>
              <a:rPr lang="en-US" dirty="0"/>
              <a:t>.</a:t>
            </a:r>
          </a:p>
          <a:p>
            <a:endParaRPr lang="en-US" dirty="0"/>
          </a:p>
          <a:p>
            <a:r>
              <a:rPr lang="en-US" dirty="0"/>
              <a:t>5. Add </a:t>
            </a:r>
            <a:r>
              <a:rPr lang="en-US" dirty="0" err="1"/>
              <a:t>DbSet</a:t>
            </a:r>
            <a:r>
              <a:rPr lang="en-US" dirty="0"/>
              <a:t> properties.</a:t>
            </a:r>
          </a:p>
          <a:p>
            <a:endParaRPr lang="en-US" dirty="0"/>
          </a:p>
          <a:p>
            <a:r>
              <a:rPr lang="en-US" dirty="0"/>
              <a:t>6. Create the initial migration.</a:t>
            </a:r>
          </a:p>
          <a:p>
            <a:endParaRPr lang="en-US" dirty="0"/>
          </a:p>
          <a:p>
            <a:r>
              <a:rPr lang="en-US" dirty="0"/>
              <a:t>7. Update/create the database.</a:t>
            </a:r>
          </a:p>
          <a:p>
            <a:endParaRPr lang="en-US" dirty="0"/>
          </a:p>
          <a:p>
            <a:r>
              <a:rPr lang="en-US" dirty="0"/>
              <a:t>8. Run the application.</a:t>
            </a:r>
          </a:p>
          <a:p>
            <a:endParaRPr lang="en-US" dirty="0"/>
          </a:p>
          <a:p>
            <a:r>
              <a:rPr lang="en-US" dirty="0"/>
              <a:t>9. Verify the connection.</a:t>
            </a:r>
          </a:p>
          <a:p>
            <a:endParaRPr lang="en-US" dirty="0"/>
          </a:p>
          <a:p>
            <a:r>
              <a:rPr lang="en-US" dirty="0"/>
              <a:t>------------------------------------------------------------</a:t>
            </a:r>
          </a:p>
          <a:p>
            <a:endParaRPr lang="en-US" dirty="0"/>
          </a:p>
          <a:p>
            <a:r>
              <a:rPr lang="en-US" dirty="0"/>
              <a:t>ENGINEERING CHECKPOINT</a:t>
            </a:r>
          </a:p>
          <a:p>
            <a:endParaRPr lang="en-US" dirty="0"/>
          </a:p>
          <a:p>
            <a:r>
              <a:rPr lang="en-US" dirty="0"/>
              <a:t>Have students stop before moving forward.</a:t>
            </a:r>
          </a:p>
          <a:p>
            <a:endParaRPr lang="en-US" dirty="0"/>
          </a:p>
          <a:p>
            <a:r>
              <a:rPr lang="en-US" dirty="0"/>
              <a:t>Ask:</a:t>
            </a:r>
          </a:p>
          <a:p>
            <a:endParaRPr lang="en-US" dirty="0"/>
          </a:p>
          <a:p>
            <a:r>
              <a:rPr lang="en-US" dirty="0"/>
              <a:t>"Show me your </a:t>
            </a:r>
            <a:r>
              <a:rPr lang="en-US" dirty="0" err="1"/>
              <a:t>DbContext</a:t>
            </a:r>
            <a:r>
              <a:rPr lang="en-US" dirty="0"/>
              <a:t>."</a:t>
            </a:r>
          </a:p>
          <a:p>
            <a:endParaRPr lang="en-US" dirty="0"/>
          </a:p>
          <a:p>
            <a:r>
              <a:rPr lang="en-US" dirty="0"/>
              <a:t>"Show me your connection string."</a:t>
            </a:r>
          </a:p>
          <a:p>
            <a:endParaRPr lang="en-US" dirty="0"/>
          </a:p>
          <a:p>
            <a:r>
              <a:rPr lang="en-US" dirty="0"/>
              <a:t>"Show me your migration."</a:t>
            </a:r>
          </a:p>
          <a:p>
            <a:endParaRPr lang="en-US" dirty="0"/>
          </a:p>
          <a:p>
            <a:r>
              <a:rPr lang="en-US" dirty="0"/>
              <a:t>"Show me your database."</a:t>
            </a:r>
          </a:p>
          <a:p>
            <a:endParaRPr lang="en-US" dirty="0"/>
          </a:p>
          <a:p>
            <a:r>
              <a:rPr lang="en-US" dirty="0"/>
              <a:t>This creates a natural checkpoint before CRUD begins.</a:t>
            </a:r>
          </a:p>
          <a:p>
            <a:endParaRPr lang="en-US" dirty="0"/>
          </a:p>
          <a:p>
            <a:r>
              <a:rPr lang="en-US" dirty="0"/>
              <a:t>------------------------------------------------------------</a:t>
            </a:r>
          </a:p>
          <a:p>
            <a:endParaRPr lang="en-US" dirty="0"/>
          </a:p>
          <a:p>
            <a:r>
              <a:rPr lang="en-US" dirty="0"/>
              <a:t>IMPORTANT BOUNDARY</a:t>
            </a:r>
          </a:p>
          <a:p>
            <a:endParaRPr lang="en-US" dirty="0"/>
          </a:p>
          <a:p>
            <a:r>
              <a:rPr lang="en-US" dirty="0"/>
              <a:t>Tell students:</a:t>
            </a:r>
          </a:p>
          <a:p>
            <a:endParaRPr lang="en-US" dirty="0"/>
          </a:p>
          <a:p>
            <a:r>
              <a:rPr lang="en-US" dirty="0"/>
              <a:t>"We are not building features yet."</a:t>
            </a:r>
          </a:p>
          <a:p>
            <a:endParaRPr lang="en-US" dirty="0"/>
          </a:p>
          <a:p>
            <a:r>
              <a:rPr lang="en-US" dirty="0"/>
              <a:t>"Today we're building the foundation that allows those features to</a:t>
            </a:r>
          </a:p>
          <a:p>
            <a:r>
              <a:rPr lang="en-US" dirty="0"/>
              <a:t>store information."</a:t>
            </a:r>
          </a:p>
          <a:p>
            <a:endParaRPr lang="en-US" dirty="0"/>
          </a:p>
          <a:p>
            <a:r>
              <a:rPr lang="en-US" dirty="0"/>
              <a:t>This is important.</a:t>
            </a:r>
          </a:p>
          <a:p>
            <a:endParaRPr lang="en-US" dirty="0"/>
          </a:p>
          <a:p>
            <a:r>
              <a:rPr lang="en-US" dirty="0"/>
              <a:t>The next lesson is where CRUD begins.</a:t>
            </a:r>
          </a:p>
          <a:p>
            <a:endParaRPr lang="en-US" dirty="0"/>
          </a:p>
          <a:p>
            <a:r>
              <a:rPr lang="en-US" dirty="0"/>
              <a:t>------------------------------------------------------------</a:t>
            </a:r>
          </a:p>
          <a:p>
            <a:endParaRPr lang="en-US" dirty="0"/>
          </a:p>
          <a:p>
            <a:r>
              <a:rPr lang="en-US" dirty="0"/>
              <a:t>SPRINT CONNECTION</a:t>
            </a:r>
          </a:p>
          <a:p>
            <a:endParaRPr lang="en-US" dirty="0"/>
          </a:p>
          <a:p>
            <a:r>
              <a:rPr lang="en-US" dirty="0"/>
              <a:t>Point to the roadmap.</a:t>
            </a:r>
          </a:p>
          <a:p>
            <a:endParaRPr lang="en-US" dirty="0"/>
          </a:p>
          <a:p>
            <a:r>
              <a:rPr lang="en-US" dirty="0"/>
              <a:t>Sprint 5:</a:t>
            </a:r>
          </a:p>
          <a:p>
            <a:endParaRPr lang="en-US" dirty="0"/>
          </a:p>
          <a:p>
            <a:r>
              <a:rPr lang="en-US" dirty="0"/>
              <a:t>REMEMBER IT.</a:t>
            </a:r>
          </a:p>
          <a:p>
            <a:endParaRPr lang="en-US" dirty="0"/>
          </a:p>
          <a:p>
            <a:r>
              <a:rPr lang="en-US" dirty="0"/>
              <a:t>Say:</a:t>
            </a:r>
          </a:p>
          <a:p>
            <a:endParaRPr lang="en-US" dirty="0"/>
          </a:p>
          <a:p>
            <a:r>
              <a:rPr lang="en-US" dirty="0"/>
              <a:t>"We've now given Atlas access to its memory."</a:t>
            </a:r>
          </a:p>
          <a:p>
            <a:endParaRPr lang="en-US" dirty="0"/>
          </a:p>
          <a:p>
            <a:r>
              <a:rPr lang="en-US" dirty="0"/>
              <a:t>"But having a memory isn't enough."</a:t>
            </a:r>
          </a:p>
          <a:p>
            <a:endParaRPr lang="en-US" dirty="0"/>
          </a:p>
          <a:p>
            <a:r>
              <a:rPr lang="en-US" dirty="0"/>
              <a:t>"Now we need to teach Atlas how to use it."</a:t>
            </a:r>
          </a:p>
          <a:p>
            <a:endParaRPr lang="en-US" dirty="0"/>
          </a:p>
          <a:p>
            <a:r>
              <a:rPr lang="en-US" dirty="0"/>
              <a:t>------------------------------------------------------------</a:t>
            </a:r>
          </a:p>
          <a:p>
            <a:endParaRPr lang="en-US" dirty="0"/>
          </a:p>
          <a:p>
            <a:r>
              <a:rPr lang="en-US" dirty="0"/>
              <a:t>LOOKING AHEAD</a:t>
            </a:r>
          </a:p>
          <a:p>
            <a:endParaRPr lang="en-US" dirty="0"/>
          </a:p>
          <a:p>
            <a:r>
              <a:rPr lang="en-US" dirty="0"/>
              <a:t>Point to the next lesson:</a:t>
            </a:r>
          </a:p>
          <a:p>
            <a:endParaRPr lang="en-US" dirty="0"/>
          </a:p>
          <a:p>
            <a:r>
              <a:rPr lang="en-US" dirty="0"/>
              <a:t>"Performing CRUD Operations."</a:t>
            </a:r>
          </a:p>
          <a:p>
            <a:endParaRPr lang="en-US" dirty="0"/>
          </a:p>
          <a:p>
            <a:r>
              <a:rPr lang="en-US" dirty="0"/>
              <a:t>Explain:</a:t>
            </a:r>
          </a:p>
          <a:p>
            <a:endParaRPr lang="en-US" dirty="0"/>
          </a:p>
          <a:p>
            <a:r>
              <a:rPr lang="en-US" dirty="0"/>
              <a:t>"Now that the connection exists..."</a:t>
            </a:r>
          </a:p>
          <a:p>
            <a:endParaRPr lang="en-US" dirty="0"/>
          </a:p>
          <a:p>
            <a:r>
              <a:rPr lang="en-US" dirty="0"/>
              <a:t>"We can finally create a task."</a:t>
            </a:r>
          </a:p>
          <a:p>
            <a:endParaRPr lang="en-US" dirty="0"/>
          </a:p>
          <a:p>
            <a:r>
              <a:rPr lang="en-US" dirty="0"/>
              <a:t>"Save it."</a:t>
            </a:r>
          </a:p>
          <a:p>
            <a:endParaRPr lang="en-US" dirty="0"/>
          </a:p>
          <a:p>
            <a:r>
              <a:rPr lang="en-US" dirty="0"/>
              <a:t>"Retrieve it."</a:t>
            </a:r>
          </a:p>
          <a:p>
            <a:endParaRPr lang="en-US" dirty="0"/>
          </a:p>
          <a:p>
            <a:r>
              <a:rPr lang="en-US" dirty="0"/>
              <a:t>"Change it."</a:t>
            </a:r>
          </a:p>
          <a:p>
            <a:endParaRPr lang="en-US" dirty="0"/>
          </a:p>
          <a:p>
            <a:r>
              <a:rPr lang="en-US" dirty="0"/>
              <a:t>"Delete it."</a:t>
            </a:r>
          </a:p>
          <a:p>
            <a:endParaRPr lang="en-US" dirty="0"/>
          </a:p>
          <a:p>
            <a:r>
              <a:rPr lang="en-US" dirty="0"/>
              <a:t>Pause.</a:t>
            </a:r>
          </a:p>
          <a:p>
            <a:endParaRPr lang="en-US" dirty="0"/>
          </a:p>
          <a:p>
            <a:r>
              <a:rPr lang="en-US" dirty="0"/>
              <a:t>"That's when Atlas really starts remembering."</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"Today we connected..."</a:t>
            </a:r>
          </a:p>
          <a:p>
            <a:endParaRPr lang="en-US" dirty="0"/>
          </a:p>
          <a:p>
            <a:r>
              <a:rPr lang="en-US" dirty="0"/>
              <a:t>C# Application</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Database</a:t>
            </a:r>
          </a:p>
          <a:p>
            <a:endParaRPr lang="en-US" dirty="0"/>
          </a:p>
          <a:p>
            <a:r>
              <a:rPr lang="en-US" dirty="0"/>
              <a:t>Then:</a:t>
            </a:r>
          </a:p>
          <a:p>
            <a:endParaRPr lang="en-US" dirty="0"/>
          </a:p>
          <a:p>
            <a:r>
              <a:rPr lang="en-US" dirty="0"/>
              <a:t>"Next..."</a:t>
            </a:r>
          </a:p>
          <a:p>
            <a:endParaRPr lang="en-US" dirty="0"/>
          </a:p>
          <a:p>
            <a:r>
              <a:rPr lang="en-US" dirty="0"/>
              <a:t>"We start putting information into it."</a:t>
            </a:r>
          </a:p>
          <a:p>
            <a:endParaRPr lang="en-US" dirty="0"/>
          </a:p>
          <a:p>
            <a:r>
              <a:rPr lang="en-US" dirty="0"/>
              <a:t>============================================================</a:t>
            </a:r>
          </a:p>
          <a:p>
            <a:endParaRPr lang="en-US" dirty="0"/>
          </a:p>
          <a:p>
            <a:r>
              <a:rPr lang="en-US" dirty="0"/>
              <a:t>ESTIMATED TIME</a:t>
            </a:r>
          </a:p>
          <a:p>
            <a:endParaRPr lang="en-US" dirty="0"/>
          </a:p>
          <a:p>
            <a:r>
              <a:rPr lang="en-US" dirty="0"/>
              <a:t>Connection Concept...................8 minutes</a:t>
            </a:r>
          </a:p>
          <a:p>
            <a:endParaRPr lang="en-US" dirty="0"/>
          </a:p>
          <a:p>
            <a:r>
              <a:rPr lang="en-US" dirty="0"/>
              <a:t>EF Core Package Setup................8 minutes</a:t>
            </a:r>
          </a:p>
          <a:p>
            <a:endParaRPr lang="en-US" dirty="0"/>
          </a:p>
          <a:p>
            <a:r>
              <a:rPr lang="en-US" dirty="0"/>
              <a:t>Connection String....................8 minutes</a:t>
            </a:r>
          </a:p>
          <a:p>
            <a:endParaRPr lang="en-US" dirty="0"/>
          </a:p>
          <a:p>
            <a:r>
              <a:rPr lang="en-US" dirty="0" err="1"/>
              <a:t>DbContext</a:t>
            </a:r>
            <a:r>
              <a:rPr lang="en-US" dirty="0"/>
              <a:t>............................10 minutes</a:t>
            </a:r>
          </a:p>
          <a:p>
            <a:endParaRPr lang="en-US" dirty="0"/>
          </a:p>
          <a:p>
            <a:r>
              <a:rPr lang="en-US" dirty="0" err="1"/>
              <a:t>DbSet</a:t>
            </a:r>
            <a:r>
              <a:rPr lang="en-US" dirty="0"/>
              <a:t>.................................8 minutes</a:t>
            </a:r>
          </a:p>
          <a:p>
            <a:endParaRPr lang="en-US" dirty="0"/>
          </a:p>
          <a:p>
            <a:r>
              <a:rPr lang="en-US" dirty="0"/>
              <a:t>Migrations...........................8 minutes</a:t>
            </a:r>
          </a:p>
          <a:p>
            <a:endParaRPr lang="en-US" dirty="0"/>
          </a:p>
          <a:p>
            <a:r>
              <a:rPr lang="en-US" dirty="0"/>
              <a:t>Verification.........................10 minutes</a:t>
            </a:r>
          </a:p>
          <a:p>
            <a:endParaRPr lang="en-US" dirty="0"/>
          </a:p>
          <a:p>
            <a:r>
              <a:rPr lang="en-US" dirty="0"/>
              <a:t>Debugging Discussion.................5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should be a guided hands-on lesson.</a:t>
            </a:r>
          </a:p>
          <a:p>
            <a:endParaRPr lang="en-US" dirty="0"/>
          </a:p>
          <a:p>
            <a:r>
              <a:rPr lang="en-US" dirty="0"/>
              <a:t>Demonstrate each step once.</a:t>
            </a:r>
          </a:p>
          <a:p>
            <a:endParaRPr lang="en-US" dirty="0"/>
          </a:p>
          <a:p>
            <a:r>
              <a:rPr lang="en-US" dirty="0"/>
              <a:t>Then allow students to perform it.</a:t>
            </a:r>
          </a:p>
          <a:p>
            <a:endParaRPr lang="en-US" dirty="0"/>
          </a:p>
          <a:p>
            <a:r>
              <a:rPr lang="en-US" dirty="0"/>
              <a:t>Do not allow students to race through the steps without understanding</a:t>
            </a:r>
          </a:p>
          <a:p>
            <a:r>
              <a:rPr lang="en-US" dirty="0"/>
              <a:t>what each component does.</a:t>
            </a:r>
          </a:p>
          <a:p>
            <a:endParaRPr lang="en-US" dirty="0"/>
          </a:p>
          <a:p>
            <a:r>
              <a:rPr lang="en-US" dirty="0"/>
              <a:t>At every major step ask:</a:t>
            </a:r>
          </a:p>
          <a:p>
            <a:endParaRPr lang="en-US" dirty="0"/>
          </a:p>
          <a:p>
            <a:r>
              <a:rPr lang="en-US" dirty="0"/>
              <a:t>"What does this accomplish?"</a:t>
            </a:r>
          </a:p>
          <a:p>
            <a:endParaRPr lang="en-US" dirty="0"/>
          </a:p>
          <a:p>
            <a:r>
              <a:rPr lang="en-US" dirty="0"/>
              <a:t>For example:</a:t>
            </a:r>
          </a:p>
          <a:p>
            <a:endParaRPr lang="en-US" dirty="0"/>
          </a:p>
          <a:p>
            <a:r>
              <a:rPr lang="en-US" dirty="0"/>
              <a:t>Packages:</a:t>
            </a:r>
          </a:p>
          <a:p>
            <a:r>
              <a:rPr lang="en-US" dirty="0"/>
              <a:t>"What capability did we add?"</a:t>
            </a:r>
          </a:p>
          <a:p>
            <a:endParaRPr lang="en-US" dirty="0"/>
          </a:p>
          <a:p>
            <a:r>
              <a:rPr lang="en-US" dirty="0"/>
              <a:t>Connection string:</a:t>
            </a:r>
          </a:p>
          <a:p>
            <a:r>
              <a:rPr lang="en-US" dirty="0"/>
              <a:t>"How does the application know where the database is?"</a:t>
            </a:r>
          </a:p>
          <a:p>
            <a:endParaRPr lang="en-US" dirty="0"/>
          </a:p>
          <a:p>
            <a:r>
              <a:rPr lang="en-US" dirty="0" err="1"/>
              <a:t>DbContext</a:t>
            </a:r>
            <a:r>
              <a:rPr lang="en-US" dirty="0"/>
              <a:t>:</a:t>
            </a:r>
          </a:p>
          <a:p>
            <a:r>
              <a:rPr lang="en-US" dirty="0"/>
              <a:t>"What is our database gateway?"</a:t>
            </a:r>
          </a:p>
          <a:p>
            <a:endParaRPr lang="en-US" dirty="0"/>
          </a:p>
          <a:p>
            <a:r>
              <a:rPr lang="en-US" dirty="0" err="1"/>
              <a:t>DbSet</a:t>
            </a:r>
            <a:r>
              <a:rPr lang="en-US" dirty="0"/>
              <a:t>:</a:t>
            </a:r>
          </a:p>
          <a:p>
            <a:r>
              <a:rPr lang="en-US" dirty="0"/>
              <a:t>"Which entities are we working with?"</a:t>
            </a:r>
          </a:p>
          <a:p>
            <a:endParaRPr lang="en-US" dirty="0"/>
          </a:p>
          <a:p>
            <a:r>
              <a:rPr lang="en-US" dirty="0"/>
              <a:t>Migration:</a:t>
            </a:r>
          </a:p>
          <a:p>
            <a:r>
              <a:rPr lang="en-US" dirty="0"/>
              <a:t>"How does our model become database structure?"</a:t>
            </a:r>
          </a:p>
          <a:p>
            <a:endParaRPr lang="en-US" dirty="0"/>
          </a:p>
          <a:p>
            <a:r>
              <a:rPr lang="en-US" dirty="0"/>
              <a:t>Verification:</a:t>
            </a:r>
          </a:p>
          <a:p>
            <a:r>
              <a:rPr lang="en-US" dirty="0"/>
              <a:t>"How do we know it works?"</a:t>
            </a:r>
          </a:p>
          <a:p>
            <a:endParaRPr lang="en-US" dirty="0"/>
          </a:p>
          <a:p>
            <a:r>
              <a:rPr lang="en-US" dirty="0"/>
              <a:t>------------------------------------------------------------</a:t>
            </a:r>
          </a:p>
          <a:p>
            <a:endParaRPr lang="en-US" dirty="0"/>
          </a:p>
          <a:p>
            <a:r>
              <a:rPr lang="en-US" dirty="0"/>
              <a:t>TROUBLESHOOTING APPROACH</a:t>
            </a:r>
          </a:p>
          <a:p>
            <a:endParaRPr lang="en-US" dirty="0"/>
          </a:p>
          <a:p>
            <a:r>
              <a:rPr lang="en-US" dirty="0"/>
              <a:t>When a student encounters an error, resist immediately giving them</a:t>
            </a:r>
          </a:p>
          <a:p>
            <a:r>
              <a:rPr lang="en-US" dirty="0"/>
              <a:t>the solution.</a:t>
            </a:r>
          </a:p>
          <a:p>
            <a:endParaRPr lang="en-US" dirty="0"/>
          </a:p>
          <a:p>
            <a:r>
              <a:rPr lang="en-US" dirty="0"/>
              <a:t>Ask:</a:t>
            </a:r>
          </a:p>
          <a:p>
            <a:endParaRPr lang="en-US" dirty="0"/>
          </a:p>
          <a:p>
            <a:r>
              <a:rPr lang="en-US" dirty="0"/>
              <a:t>"What step are you on?"</a:t>
            </a:r>
          </a:p>
          <a:p>
            <a:endParaRPr lang="en-US" dirty="0"/>
          </a:p>
          <a:p>
            <a:r>
              <a:rPr lang="en-US" dirty="0"/>
              <a:t>"What did you expect to happen?"</a:t>
            </a:r>
          </a:p>
          <a:p>
            <a:endParaRPr lang="en-US" dirty="0"/>
          </a:p>
          <a:p>
            <a:r>
              <a:rPr lang="en-US" dirty="0"/>
              <a:t>"What actually happened?"</a:t>
            </a:r>
          </a:p>
          <a:p>
            <a:endParaRPr lang="en-US" dirty="0"/>
          </a:p>
          <a:p>
            <a:r>
              <a:rPr lang="en-US" dirty="0"/>
              <a:t>"What does the error message say?"</a:t>
            </a:r>
          </a:p>
          <a:p>
            <a:endParaRPr lang="en-US" dirty="0"/>
          </a:p>
          <a:p>
            <a:r>
              <a:rPr lang="en-US" dirty="0"/>
              <a:t>"What changed most recently?"</a:t>
            </a:r>
          </a:p>
          <a:p>
            <a:endParaRPr lang="en-US" dirty="0"/>
          </a:p>
          <a:p>
            <a:r>
              <a:rPr lang="en-US" dirty="0"/>
              <a:t>This reinforces the engineering debugging process.</a:t>
            </a:r>
          </a:p>
          <a:p>
            <a:endParaRPr lang="en-US" dirty="0"/>
          </a:p>
          <a:p>
            <a:r>
              <a:rPr lang="en-US" dirty="0"/>
              <a:t>------------------------------------------------------------</a:t>
            </a:r>
          </a:p>
          <a:p>
            <a:endParaRPr lang="en-US" dirty="0"/>
          </a:p>
          <a:p>
            <a:r>
              <a:rPr lang="en-US" dirty="0"/>
              <a:t>SECURITY REMINDER</a:t>
            </a:r>
          </a:p>
          <a:p>
            <a:endParaRPr lang="en-US" dirty="0"/>
          </a:p>
          <a:p>
            <a:r>
              <a:rPr lang="en-US" dirty="0"/>
              <a:t>When discussing connection strings, briefly reinforce:</a:t>
            </a:r>
          </a:p>
          <a:p>
            <a:endParaRPr lang="en-US" dirty="0"/>
          </a:p>
          <a:p>
            <a:r>
              <a:rPr lang="en-US" dirty="0"/>
              <a:t>"Never commit production credentials to GitHub."</a:t>
            </a:r>
          </a:p>
          <a:p>
            <a:endParaRPr lang="en-US" dirty="0"/>
          </a:p>
          <a:p>
            <a:r>
              <a:rPr lang="en-US" dirty="0"/>
              <a:t>Students should understand that configuration and secrets must be</a:t>
            </a:r>
          </a:p>
          <a:p>
            <a:r>
              <a:rPr lang="en-US" dirty="0"/>
              <a:t>handled responsibly.</a:t>
            </a:r>
          </a:p>
          <a:p>
            <a:endParaRPr lang="en-US" dirty="0"/>
          </a:p>
          <a:p>
            <a:r>
              <a:rPr lang="en-US" dirty="0"/>
              <a:t>Save the deeper security discussion for Sprint 6.</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CONNECTION STRING</a:t>
            </a:r>
          </a:p>
          <a:p>
            <a:r>
              <a:rPr lang="en-US" dirty="0"/>
              <a:t>= Where is the database?</a:t>
            </a:r>
          </a:p>
          <a:p>
            <a:endParaRPr lang="en-US" dirty="0"/>
          </a:p>
          <a:p>
            <a:r>
              <a:rPr lang="en-US" dirty="0"/>
              <a:t>DBCONTEXT</a:t>
            </a:r>
          </a:p>
          <a:p>
            <a:r>
              <a:rPr lang="en-US" dirty="0"/>
              <a:t>= How does EF Core work with it?</a:t>
            </a:r>
          </a:p>
          <a:p>
            <a:endParaRPr lang="en-US" dirty="0"/>
          </a:p>
          <a:p>
            <a:r>
              <a:rPr lang="en-US" dirty="0"/>
              <a:t>DBSET</a:t>
            </a:r>
          </a:p>
          <a:p>
            <a:r>
              <a:rPr lang="en-US" dirty="0"/>
              <a:t>= What data are we working with?</a:t>
            </a:r>
          </a:p>
          <a:p>
            <a:endParaRPr lang="en-US" dirty="0"/>
          </a:p>
          <a:p>
            <a:r>
              <a:rPr lang="en-US" dirty="0"/>
              <a:t>MIGRATION</a:t>
            </a:r>
          </a:p>
          <a:p>
            <a:r>
              <a:rPr lang="en-US" dirty="0"/>
              <a:t>= How does our model become database structure?</a:t>
            </a:r>
          </a:p>
          <a:p>
            <a:endParaRPr lang="en-US" dirty="0"/>
          </a:p>
          <a:p>
            <a:r>
              <a:rPr lang="en-US" dirty="0"/>
              <a:t>PERSISTENCE</a:t>
            </a:r>
          </a:p>
          <a:p>
            <a:r>
              <a:rPr lang="en-US" dirty="0"/>
              <a:t>= Does the data survive?</a:t>
            </a:r>
          </a:p>
          <a:p>
            <a:endParaRPr lang="en-US" dirty="0"/>
          </a:p>
          <a:p>
            <a:r>
              <a:rPr lang="en-US" dirty="0"/>
              <a:t>------------------------------------------------------------</a:t>
            </a:r>
          </a:p>
          <a:p>
            <a:endParaRPr lang="en-US" dirty="0"/>
          </a:p>
          <a:p>
            <a:r>
              <a:rPr lang="en-US" dirty="0"/>
              <a:t>CLOSING STATEMENT</a:t>
            </a:r>
          </a:p>
          <a:p>
            <a:endParaRPr lang="en-US" dirty="0"/>
          </a:p>
          <a:p>
            <a:r>
              <a:rPr lang="en-US" dirty="0"/>
              <a:t>"Engineers..."</a:t>
            </a:r>
          </a:p>
          <a:p>
            <a:endParaRPr lang="en-US" dirty="0"/>
          </a:p>
          <a:p>
            <a:r>
              <a:rPr lang="en-US" dirty="0"/>
              <a:t>"Atlas </a:t>
            </a:r>
            <a:r>
              <a:rPr lang="en-US" dirty="0" err="1"/>
              <a:t>TaskFlow</a:t>
            </a:r>
            <a:r>
              <a:rPr lang="en-US" dirty="0"/>
              <a:t> now has a connection to its memory."</a:t>
            </a:r>
          </a:p>
          <a:p>
            <a:endParaRPr lang="en-US" dirty="0"/>
          </a:p>
          <a:p>
            <a:r>
              <a:rPr lang="en-US" dirty="0"/>
              <a:t>"Next..."</a:t>
            </a:r>
          </a:p>
          <a:p>
            <a:endParaRPr lang="en-US" dirty="0"/>
          </a:p>
          <a:p>
            <a:r>
              <a:rPr lang="en-US" dirty="0"/>
              <a:t>"We're going to give it something to remember."</a:t>
            </a:r>
          </a:p>
          <a:p>
            <a:endParaRPr lang="en-US" dirty="0"/>
          </a:p>
          <a:p>
            <a:r>
              <a:rPr lang="en-US" dirty="0"/>
              <a:t>============================================================</a:t>
            </a:r>
          </a:p>
        </p:txBody>
      </p:sp>
      <p:sp>
        <p:nvSpPr>
          <p:cNvPr id="4" name="Slide Number Placeholder 3"/>
          <p:cNvSpPr>
            <a:spLocks noGrp="1"/>
          </p:cNvSpPr>
          <p:nvPr>
            <p:ph type="sldNum" sz="quarter" idx="5"/>
          </p:nvPr>
        </p:nvSpPr>
        <p:spPr/>
        <p:txBody>
          <a:bodyPr/>
          <a:lstStyle/>
          <a:p>
            <a:fld id="{BFAFFB2A-FA1B-453E-A83D-1533B3FE308E}" type="slidenum">
              <a:rPr lang="en-US" smtClean="0"/>
              <a:t>5</a:t>
            </a:fld>
            <a:endParaRPr lang="en-US"/>
          </a:p>
        </p:txBody>
      </p:sp>
    </p:spTree>
    <p:extLst>
      <p:ext uri="{BB962C8B-B14F-4D97-AF65-F5344CB8AC3E}">
        <p14:creationId xmlns:p14="http://schemas.microsoft.com/office/powerpoint/2010/main" val="2741733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PERFORMING CRUD OPERATIONS</a:t>
            </a:r>
          </a:p>
          <a:p>
            <a:endParaRPr lang="en-US" dirty="0"/>
          </a:p>
          <a:p>
            <a:r>
              <a:rPr lang="en-US" dirty="0"/>
              <a:t>============================================================</a:t>
            </a:r>
          </a:p>
          <a:p>
            <a:endParaRPr lang="en-US" dirty="0"/>
          </a:p>
          <a:p>
            <a:r>
              <a:rPr lang="en-US" dirty="0"/>
              <a:t>SLIDE PURPOSE</a:t>
            </a:r>
          </a:p>
          <a:p>
            <a:endParaRPr lang="en-US" dirty="0"/>
          </a:p>
          <a:p>
            <a:r>
              <a:rPr lang="en-US" dirty="0"/>
              <a:t>Introduce and implement the four fundamental data operations used by</a:t>
            </a:r>
          </a:p>
          <a:p>
            <a:r>
              <a:rPr lang="en-US" dirty="0"/>
              <a:t>Atlas </a:t>
            </a:r>
            <a:r>
              <a:rPr lang="en-US" dirty="0" err="1"/>
              <a:t>TaskFlow</a:t>
            </a:r>
            <a:r>
              <a:rPr lang="en-US" dirty="0"/>
              <a:t>:</a:t>
            </a:r>
          </a:p>
          <a:p>
            <a:endParaRPr lang="en-US" dirty="0"/>
          </a:p>
          <a:p>
            <a:r>
              <a:rPr lang="en-US" dirty="0"/>
              <a:t>CREATE</a:t>
            </a:r>
          </a:p>
          <a:p>
            <a:r>
              <a:rPr lang="en-US" dirty="0"/>
              <a:t>READ</a:t>
            </a:r>
          </a:p>
          <a:p>
            <a:r>
              <a:rPr lang="en-US" dirty="0"/>
              <a:t>UPDATE</a:t>
            </a:r>
          </a:p>
          <a:p>
            <a:r>
              <a:rPr lang="en-US" dirty="0"/>
              <a:t>DELETE</a:t>
            </a:r>
          </a:p>
          <a:p>
            <a:endParaRPr lang="en-US" dirty="0"/>
          </a:p>
          <a:p>
            <a:r>
              <a:rPr lang="en-US" dirty="0"/>
              <a:t>Students will use Entity Framework Core to perform these operations</a:t>
            </a:r>
          </a:p>
          <a:p>
            <a:r>
              <a:rPr lang="en-US" dirty="0"/>
              <a:t>against persistent application data.</a:t>
            </a:r>
          </a:p>
          <a:p>
            <a:endParaRPr lang="en-US" dirty="0"/>
          </a:p>
          <a:p>
            <a:r>
              <a:rPr lang="en-US" dirty="0"/>
              <a:t>The goal is not to memorize EF Core methods.</a:t>
            </a:r>
          </a:p>
          <a:p>
            <a:endParaRPr lang="en-US" dirty="0"/>
          </a:p>
          <a:p>
            <a:r>
              <a:rPr lang="en-US" dirty="0"/>
              <a:t>The goal is to understand the relationship between a user action,</a:t>
            </a:r>
          </a:p>
          <a:p>
            <a:r>
              <a:rPr lang="en-US" dirty="0"/>
              <a:t>application logic, EF Core, and the database.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"Atlas </a:t>
            </a:r>
            <a:r>
              <a:rPr lang="en-US" dirty="0" err="1"/>
              <a:t>TaskFlow</a:t>
            </a:r>
            <a:r>
              <a:rPr lang="en-US" dirty="0"/>
              <a:t> has a memory now."</a:t>
            </a:r>
          </a:p>
          <a:p>
            <a:endParaRPr lang="en-US" dirty="0"/>
          </a:p>
          <a:p>
            <a:r>
              <a:rPr lang="en-US" dirty="0"/>
              <a:t>"We connected the application to the database."</a:t>
            </a:r>
          </a:p>
          <a:p>
            <a:endParaRPr lang="en-US" dirty="0"/>
          </a:p>
          <a:p>
            <a:r>
              <a:rPr lang="en-US" dirty="0"/>
              <a:t>Pause.</a:t>
            </a:r>
          </a:p>
          <a:p>
            <a:endParaRPr lang="en-US" dirty="0"/>
          </a:p>
          <a:p>
            <a:r>
              <a:rPr lang="en-US" dirty="0"/>
              <a:t>"But having a database isn't enough."</a:t>
            </a:r>
          </a:p>
          <a:p>
            <a:endParaRPr lang="en-US" dirty="0"/>
          </a:p>
          <a:p>
            <a:r>
              <a:rPr lang="en-US" dirty="0"/>
              <a:t>"An application has to know how to use that database."</a:t>
            </a:r>
          </a:p>
          <a:p>
            <a:endParaRPr lang="en-US" dirty="0"/>
          </a:p>
          <a:p>
            <a:r>
              <a:rPr lang="en-US" dirty="0"/>
              <a:t>Ask:</a:t>
            </a:r>
          </a:p>
          <a:p>
            <a:endParaRPr lang="en-US" dirty="0"/>
          </a:p>
          <a:p>
            <a:r>
              <a:rPr lang="en-US" dirty="0"/>
              <a:t>"What should users be able to do with their tasks?"</a:t>
            </a:r>
          </a:p>
          <a:p>
            <a:endParaRPr lang="en-US" dirty="0"/>
          </a:p>
          <a:p>
            <a:r>
              <a:rPr lang="en-US" dirty="0"/>
              <a:t>Students will likely say:</a:t>
            </a:r>
          </a:p>
          <a:p>
            <a:endParaRPr lang="en-US" dirty="0"/>
          </a:p>
          <a:p>
            <a:r>
              <a:rPr lang="en-US" dirty="0"/>
              <a:t>"Create."</a:t>
            </a:r>
          </a:p>
          <a:p>
            <a:endParaRPr lang="en-US" dirty="0"/>
          </a:p>
          <a:p>
            <a:r>
              <a:rPr lang="en-US" dirty="0"/>
              <a:t>"View."</a:t>
            </a:r>
          </a:p>
          <a:p>
            <a:endParaRPr lang="en-US" dirty="0"/>
          </a:p>
          <a:p>
            <a:r>
              <a:rPr lang="en-US" dirty="0"/>
              <a:t>"Edit."</a:t>
            </a:r>
          </a:p>
          <a:p>
            <a:endParaRPr lang="en-US" dirty="0"/>
          </a:p>
          <a:p>
            <a:r>
              <a:rPr lang="en-US" dirty="0"/>
              <a:t>"Delete."</a:t>
            </a:r>
          </a:p>
          <a:p>
            <a:endParaRPr lang="en-US" dirty="0"/>
          </a:p>
          <a:p>
            <a:r>
              <a:rPr lang="en-US" dirty="0"/>
              <a:t>Exactly.</a:t>
            </a:r>
          </a:p>
          <a:p>
            <a:endParaRPr lang="en-US" dirty="0"/>
          </a:p>
          <a:p>
            <a:r>
              <a:rPr lang="en-US" dirty="0"/>
              <a:t>"That's CRUD."</a:t>
            </a:r>
          </a:p>
          <a:p>
            <a:endParaRPr lang="en-US" dirty="0"/>
          </a:p>
          <a:p>
            <a:r>
              <a:rPr lang="en-US" dirty="0"/>
              <a:t>------------------------------------------------------------</a:t>
            </a:r>
          </a:p>
          <a:p>
            <a:endParaRPr lang="en-US" dirty="0"/>
          </a:p>
          <a:p>
            <a:r>
              <a:rPr lang="en-US" dirty="0"/>
              <a:t>THE ENGINEERING QUESTION</a:t>
            </a:r>
          </a:p>
          <a:p>
            <a:endParaRPr lang="en-US" dirty="0"/>
          </a:p>
          <a:p>
            <a:r>
              <a:rPr lang="en-US" dirty="0"/>
              <a:t>Point to the question:</a:t>
            </a:r>
          </a:p>
          <a:p>
            <a:endParaRPr lang="en-US" dirty="0"/>
          </a:p>
          <a:p>
            <a:r>
              <a:rPr lang="en-US" dirty="0"/>
              <a:t>"How do we create, read, update, and delete data in the database?"</a:t>
            </a:r>
          </a:p>
          <a:p>
            <a:endParaRPr lang="en-US" dirty="0"/>
          </a:p>
          <a:p>
            <a:r>
              <a:rPr lang="en-US" dirty="0"/>
              <a:t>Explain:</a:t>
            </a:r>
          </a:p>
          <a:p>
            <a:endParaRPr lang="en-US" dirty="0"/>
          </a:p>
          <a:p>
            <a:r>
              <a:rPr lang="en-US" dirty="0"/>
              <a:t>"These four operations are at the heart of most data-driven</a:t>
            </a:r>
          </a:p>
          <a:p>
            <a:r>
              <a:rPr lang="en-US" dirty="0"/>
              <a:t>applications."</a:t>
            </a:r>
          </a:p>
          <a:p>
            <a:endParaRPr lang="en-US" dirty="0"/>
          </a:p>
          <a:p>
            <a:r>
              <a:rPr lang="en-US" dirty="0"/>
              <a:t>"Atlas </a:t>
            </a:r>
            <a:r>
              <a:rPr lang="en-US" dirty="0" err="1"/>
              <a:t>TaskFlow</a:t>
            </a:r>
            <a:r>
              <a:rPr lang="en-US" dirty="0"/>
              <a:t> will use all four."</a:t>
            </a:r>
          </a:p>
          <a:p>
            <a:endParaRPr lang="en-US" dirty="0"/>
          </a:p>
          <a:p>
            <a:r>
              <a:rPr lang="en-US" dirty="0"/>
              <a:t>------------------------------------------------------------</a:t>
            </a:r>
          </a:p>
          <a:p>
            <a:endParaRPr lang="en-US" dirty="0"/>
          </a:p>
          <a:p>
            <a:r>
              <a:rPr lang="en-US" dirty="0"/>
              <a:t>WHAT DOES CRUD MEAN?</a:t>
            </a:r>
          </a:p>
          <a:p>
            <a:endParaRPr lang="en-US" dirty="0"/>
          </a:p>
          <a:p>
            <a:r>
              <a:rPr lang="en-US" dirty="0"/>
              <a:t>Point to each operation.</a:t>
            </a:r>
          </a:p>
          <a:p>
            <a:endParaRPr lang="en-US" dirty="0"/>
          </a:p>
          <a:p>
            <a:r>
              <a:rPr lang="en-US" dirty="0"/>
              <a:t>CREATE</a:t>
            </a:r>
          </a:p>
          <a:p>
            <a:endParaRPr lang="en-US" dirty="0"/>
          </a:p>
          <a:p>
            <a:r>
              <a:rPr lang="en-US" dirty="0"/>
              <a:t>Add new information.</a:t>
            </a:r>
          </a:p>
          <a:p>
            <a:endParaRPr lang="en-US" dirty="0"/>
          </a:p>
          <a:p>
            <a:r>
              <a:rPr lang="en-US" dirty="0"/>
              <a:t>READ</a:t>
            </a:r>
          </a:p>
          <a:p>
            <a:endParaRPr lang="en-US" dirty="0"/>
          </a:p>
          <a:p>
            <a:r>
              <a:rPr lang="en-US" dirty="0"/>
              <a:t>Retrieve existing information.</a:t>
            </a:r>
          </a:p>
          <a:p>
            <a:endParaRPr lang="en-US" dirty="0"/>
          </a:p>
          <a:p>
            <a:r>
              <a:rPr lang="en-US" dirty="0"/>
              <a:t>UPDATE</a:t>
            </a:r>
          </a:p>
          <a:p>
            <a:endParaRPr lang="en-US" dirty="0"/>
          </a:p>
          <a:p>
            <a:r>
              <a:rPr lang="en-US" dirty="0"/>
              <a:t>Modify existing information.</a:t>
            </a:r>
          </a:p>
          <a:p>
            <a:endParaRPr lang="en-US" dirty="0"/>
          </a:p>
          <a:p>
            <a:r>
              <a:rPr lang="en-US" dirty="0"/>
              <a:t>DELETE</a:t>
            </a:r>
          </a:p>
          <a:p>
            <a:endParaRPr lang="en-US" dirty="0"/>
          </a:p>
          <a:p>
            <a:r>
              <a:rPr lang="en-US" dirty="0"/>
              <a:t>Remove information.</a:t>
            </a:r>
          </a:p>
          <a:p>
            <a:endParaRPr lang="en-US" dirty="0"/>
          </a:p>
          <a:p>
            <a:r>
              <a:rPr lang="en-US" dirty="0"/>
              <a:t>Say:</a:t>
            </a:r>
          </a:p>
          <a:p>
            <a:endParaRPr lang="en-US" dirty="0"/>
          </a:p>
          <a:p>
            <a:r>
              <a:rPr lang="en-US" dirty="0"/>
              <a:t>"CRUD isn't a special Atlas concept."</a:t>
            </a:r>
          </a:p>
          <a:p>
            <a:endParaRPr lang="en-US" dirty="0"/>
          </a:p>
          <a:p>
            <a:r>
              <a:rPr lang="en-US" dirty="0"/>
              <a:t>"It's a general software engineering concept."</a:t>
            </a:r>
          </a:p>
          <a:p>
            <a:endParaRPr lang="en-US" dirty="0"/>
          </a:p>
          <a:p>
            <a:r>
              <a:rPr lang="en-US" dirty="0"/>
              <a:t>------------------------------------------------------------</a:t>
            </a:r>
          </a:p>
          <a:p>
            <a:endParaRPr lang="en-US" dirty="0"/>
          </a:p>
          <a:p>
            <a:r>
              <a:rPr lang="en-US" dirty="0"/>
              <a:t>REAL-WORLD CONNECTION</a:t>
            </a:r>
          </a:p>
          <a:p>
            <a:endParaRPr lang="en-US" dirty="0"/>
          </a:p>
          <a:p>
            <a:r>
              <a:rPr lang="en-US" dirty="0"/>
              <a:t>Ask students to think about a social media application.</a:t>
            </a:r>
          </a:p>
          <a:p>
            <a:endParaRPr lang="en-US" dirty="0"/>
          </a:p>
          <a:p>
            <a:r>
              <a:rPr lang="en-US" dirty="0"/>
              <a:t>CREATE:</a:t>
            </a:r>
          </a:p>
          <a:p>
            <a:endParaRPr lang="en-US" dirty="0"/>
          </a:p>
          <a:p>
            <a:r>
              <a:rPr lang="en-US" dirty="0"/>
              <a:t>Create a post.</a:t>
            </a:r>
          </a:p>
          <a:p>
            <a:endParaRPr lang="en-US" dirty="0"/>
          </a:p>
          <a:p>
            <a:r>
              <a:rPr lang="en-US" dirty="0"/>
              <a:t>READ:</a:t>
            </a:r>
          </a:p>
          <a:p>
            <a:endParaRPr lang="en-US" dirty="0"/>
          </a:p>
          <a:p>
            <a:r>
              <a:rPr lang="en-US" dirty="0"/>
              <a:t>View a post.</a:t>
            </a:r>
          </a:p>
          <a:p>
            <a:endParaRPr lang="en-US" dirty="0"/>
          </a:p>
          <a:p>
            <a:r>
              <a:rPr lang="en-US" dirty="0"/>
              <a:t>UPDATE:</a:t>
            </a:r>
          </a:p>
          <a:p>
            <a:endParaRPr lang="en-US" dirty="0"/>
          </a:p>
          <a:p>
            <a:r>
              <a:rPr lang="en-US" dirty="0"/>
              <a:t>Edit a post.</a:t>
            </a:r>
          </a:p>
          <a:p>
            <a:endParaRPr lang="en-US" dirty="0"/>
          </a:p>
          <a:p>
            <a:r>
              <a:rPr lang="en-US" dirty="0"/>
              <a:t>DELETE:</a:t>
            </a:r>
          </a:p>
          <a:p>
            <a:endParaRPr lang="en-US" dirty="0"/>
          </a:p>
          <a:p>
            <a:r>
              <a:rPr lang="en-US" dirty="0"/>
              <a:t>Delete a post.</a:t>
            </a:r>
          </a:p>
          <a:p>
            <a:endParaRPr lang="en-US" dirty="0"/>
          </a:p>
          <a:p>
            <a:r>
              <a:rPr lang="en-US" dirty="0"/>
              <a:t>Then ask:</a:t>
            </a:r>
          </a:p>
          <a:p>
            <a:endParaRPr lang="en-US" dirty="0"/>
          </a:p>
          <a:p>
            <a:r>
              <a:rPr lang="en-US" dirty="0"/>
              <a:t>"What about an online store?"</a:t>
            </a:r>
          </a:p>
          <a:p>
            <a:endParaRPr lang="en-US" dirty="0"/>
          </a:p>
          <a:p>
            <a:r>
              <a:rPr lang="en-US" dirty="0"/>
              <a:t>CREATE:</a:t>
            </a:r>
          </a:p>
          <a:p>
            <a:endParaRPr lang="en-US" dirty="0"/>
          </a:p>
          <a:p>
            <a:r>
              <a:rPr lang="en-US" dirty="0"/>
              <a:t>Place an order.</a:t>
            </a:r>
          </a:p>
          <a:p>
            <a:endParaRPr lang="en-US" dirty="0"/>
          </a:p>
          <a:p>
            <a:r>
              <a:rPr lang="en-US" dirty="0"/>
              <a:t>READ:</a:t>
            </a:r>
          </a:p>
          <a:p>
            <a:endParaRPr lang="en-US" dirty="0"/>
          </a:p>
          <a:p>
            <a:r>
              <a:rPr lang="en-US" dirty="0"/>
              <a:t>View an order.</a:t>
            </a:r>
          </a:p>
          <a:p>
            <a:endParaRPr lang="en-US" dirty="0"/>
          </a:p>
          <a:p>
            <a:r>
              <a:rPr lang="en-US" dirty="0"/>
              <a:t>UPDATE:</a:t>
            </a:r>
          </a:p>
          <a:p>
            <a:endParaRPr lang="en-US" dirty="0"/>
          </a:p>
          <a:p>
            <a:r>
              <a:rPr lang="en-US" dirty="0"/>
              <a:t>Update an order.</a:t>
            </a:r>
          </a:p>
          <a:p>
            <a:endParaRPr lang="en-US" dirty="0"/>
          </a:p>
          <a:p>
            <a:r>
              <a:rPr lang="en-US" dirty="0"/>
              <a:t>DELETE:</a:t>
            </a:r>
          </a:p>
          <a:p>
            <a:endParaRPr lang="en-US" dirty="0"/>
          </a:p>
          <a:p>
            <a:r>
              <a:rPr lang="en-US" dirty="0"/>
              <a:t>Cancel an order.</a:t>
            </a:r>
          </a:p>
          <a:p>
            <a:endParaRPr lang="en-US" dirty="0"/>
          </a:p>
          <a:p>
            <a:r>
              <a:rPr lang="en-US" dirty="0"/>
              <a:t>Explain:</a:t>
            </a:r>
          </a:p>
          <a:p>
            <a:endParaRPr lang="en-US" dirty="0"/>
          </a:p>
          <a:p>
            <a:r>
              <a:rPr lang="en-US" dirty="0"/>
              <a:t>"These operations are happening everywhere."</a:t>
            </a:r>
          </a:p>
          <a:p>
            <a:endParaRPr lang="en-US" dirty="0"/>
          </a:p>
          <a:p>
            <a:r>
              <a:rPr lang="en-US" dirty="0"/>
              <a:t>------------------------------------------------------------</a:t>
            </a:r>
          </a:p>
          <a:p>
            <a:endParaRPr lang="en-US" dirty="0"/>
          </a:p>
          <a:p>
            <a:r>
              <a:rPr lang="en-US" dirty="0"/>
              <a:t>THE ATLAS CRUD FLOW</a:t>
            </a:r>
          </a:p>
          <a:p>
            <a:endParaRPr lang="en-US" dirty="0"/>
          </a:p>
          <a:p>
            <a:r>
              <a:rPr lang="en-US" dirty="0"/>
              <a:t>Point to the center diagram.</a:t>
            </a:r>
          </a:p>
          <a:p>
            <a:endParaRPr lang="en-US" dirty="0"/>
          </a:p>
          <a:p>
            <a:r>
              <a:rPr lang="en-US" dirty="0"/>
              <a:t>USER ACTION</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DATABASE</a:t>
            </a:r>
          </a:p>
          <a:p>
            <a:endParaRPr lang="en-US" dirty="0"/>
          </a:p>
          <a:p>
            <a:r>
              <a:rPr lang="en-US" dirty="0"/>
              <a:t>↓</a:t>
            </a:r>
          </a:p>
          <a:p>
            <a:endParaRPr lang="en-US" dirty="0"/>
          </a:p>
          <a:p>
            <a:r>
              <a:rPr lang="en-US" dirty="0"/>
              <a:t>RESULT</a:t>
            </a:r>
          </a:p>
          <a:p>
            <a:endParaRPr lang="en-US" dirty="0"/>
          </a:p>
          <a:p>
            <a:r>
              <a:rPr lang="en-US" dirty="0"/>
              <a:t>Explain:</a:t>
            </a:r>
          </a:p>
          <a:p>
            <a:endParaRPr lang="en-US" dirty="0"/>
          </a:p>
          <a:p>
            <a:r>
              <a:rPr lang="en-US" dirty="0"/>
              <a:t>"This is what happens when a user performs a data operation."</a:t>
            </a:r>
          </a:p>
          <a:p>
            <a:endParaRPr lang="en-US" dirty="0"/>
          </a:p>
          <a:p>
            <a:r>
              <a:rPr lang="en-US" dirty="0"/>
              <a:t>The user doesn't talk directly to the database.</a:t>
            </a:r>
          </a:p>
          <a:p>
            <a:endParaRPr lang="en-US" dirty="0"/>
          </a:p>
          <a:p>
            <a:r>
              <a:rPr lang="en-US" dirty="0"/>
              <a:t>"The application handles the request."</a:t>
            </a:r>
          </a:p>
          <a:p>
            <a:endParaRPr lang="en-US" dirty="0"/>
          </a:p>
          <a:p>
            <a:r>
              <a:rPr lang="en-US" dirty="0"/>
              <a:t>"EF Core handles communication with the database."</a:t>
            </a:r>
          </a:p>
          <a:p>
            <a:endParaRPr lang="en-US" dirty="0"/>
          </a:p>
          <a:p>
            <a:r>
              <a:rPr lang="en-US" dirty="0"/>
              <a:t>------------------------------------------------------------</a:t>
            </a:r>
          </a:p>
          <a:p>
            <a:endParaRPr lang="en-US" dirty="0"/>
          </a:p>
          <a:p>
            <a:r>
              <a:rPr lang="en-US" dirty="0"/>
              <a:t>CREATE</a:t>
            </a:r>
          </a:p>
          <a:p>
            <a:endParaRPr lang="en-US" dirty="0"/>
          </a:p>
          <a:p>
            <a:r>
              <a:rPr lang="en-US" dirty="0"/>
              <a:t>Point to CREATE.</a:t>
            </a:r>
          </a:p>
          <a:p>
            <a:endParaRPr lang="en-US" dirty="0"/>
          </a:p>
          <a:p>
            <a:r>
              <a:rPr lang="en-US" dirty="0"/>
              <a:t>Say:</a:t>
            </a:r>
          </a:p>
          <a:p>
            <a:endParaRPr lang="en-US" dirty="0"/>
          </a:p>
          <a:p>
            <a:r>
              <a:rPr lang="en-US" dirty="0"/>
              <a:t>"Let's start with the most exciting one."</a:t>
            </a:r>
          </a:p>
          <a:p>
            <a:endParaRPr lang="en-US" dirty="0"/>
          </a:p>
          <a:p>
            <a:r>
              <a:rPr lang="en-US" dirty="0"/>
              <a:t>"We're going to create something."</a:t>
            </a:r>
          </a:p>
          <a:p>
            <a:endParaRPr lang="en-US" dirty="0"/>
          </a:p>
          <a:p>
            <a:r>
              <a:rPr lang="en-US" dirty="0"/>
              <a:t>Example:</a:t>
            </a:r>
          </a:p>
          <a:p>
            <a:endParaRPr lang="en-US" dirty="0"/>
          </a:p>
          <a:p>
            <a:r>
              <a:rPr lang="en-US" dirty="0"/>
              <a:t>User enters:</a:t>
            </a:r>
          </a:p>
          <a:p>
            <a:endParaRPr lang="en-US" dirty="0"/>
          </a:p>
          <a:p>
            <a:r>
              <a:rPr lang="en-US" dirty="0"/>
              <a:t>Title:</a:t>
            </a:r>
          </a:p>
          <a:p>
            <a:r>
              <a:rPr lang="en-US" dirty="0"/>
              <a:t>Build Homepage</a:t>
            </a:r>
          </a:p>
          <a:p>
            <a:endParaRPr lang="en-US" dirty="0"/>
          </a:p>
          <a:p>
            <a:r>
              <a:rPr lang="en-US" dirty="0"/>
              <a:t>Description:</a:t>
            </a:r>
          </a:p>
          <a:p>
            <a:r>
              <a:rPr lang="en-US" dirty="0"/>
              <a:t>Create the landing page for Atlas </a:t>
            </a:r>
            <a:r>
              <a:rPr lang="en-US" dirty="0" err="1"/>
              <a:t>TaskFlow</a:t>
            </a:r>
            <a:r>
              <a:rPr lang="en-US" dirty="0"/>
              <a:t>.</a:t>
            </a:r>
          </a:p>
          <a:p>
            <a:endParaRPr lang="en-US" dirty="0"/>
          </a:p>
          <a:p>
            <a:r>
              <a:rPr lang="en-US" dirty="0"/>
              <a:t>Due Date:</a:t>
            </a:r>
          </a:p>
          <a:p>
            <a:r>
              <a:rPr lang="en-US" dirty="0"/>
              <a:t>Friday</a:t>
            </a:r>
          </a:p>
          <a:p>
            <a:endParaRPr lang="en-US" dirty="0"/>
          </a:p>
          <a:p>
            <a:r>
              <a:rPr lang="en-US" dirty="0"/>
              <a:t>Status:</a:t>
            </a:r>
          </a:p>
          <a:p>
            <a:r>
              <a:rPr lang="en-US" dirty="0"/>
              <a:t>To Do</a:t>
            </a:r>
          </a:p>
          <a:p>
            <a:endParaRPr lang="en-US" dirty="0"/>
          </a:p>
          <a:p>
            <a:r>
              <a:rPr lang="en-US" dirty="0"/>
              <a:t>Project:</a:t>
            </a:r>
          </a:p>
          <a:p>
            <a:r>
              <a:rPr lang="en-US" dirty="0"/>
              <a:t>Atlas </a:t>
            </a:r>
            <a:r>
              <a:rPr lang="en-US" dirty="0" err="1"/>
              <a:t>TaskFlow</a:t>
            </a:r>
            <a:endParaRPr lang="en-US" dirty="0"/>
          </a:p>
          <a:p>
            <a:endParaRPr lang="en-US" dirty="0"/>
          </a:p>
          <a:p>
            <a:r>
              <a:rPr lang="en-US" dirty="0"/>
              <a:t>The user clicks:</a:t>
            </a:r>
          </a:p>
          <a:p>
            <a:endParaRPr lang="en-US" dirty="0"/>
          </a:p>
          <a:p>
            <a:r>
              <a:rPr lang="en-US" dirty="0"/>
              <a:t>SAVE</a:t>
            </a:r>
          </a:p>
          <a:p>
            <a:endParaRPr lang="en-US" dirty="0"/>
          </a:p>
          <a:p>
            <a:r>
              <a:rPr lang="en-US" dirty="0"/>
              <a:t>------------------------------------------------------------</a:t>
            </a:r>
          </a:p>
          <a:p>
            <a:endParaRPr lang="en-US" dirty="0"/>
          </a:p>
          <a:p>
            <a:r>
              <a:rPr lang="en-US" dirty="0"/>
              <a:t>WHAT HAPPENS?</a:t>
            </a:r>
          </a:p>
          <a:p>
            <a:endParaRPr lang="en-US" dirty="0"/>
          </a:p>
          <a:p>
            <a:r>
              <a:rPr lang="en-US" dirty="0"/>
              <a:t>Walk through the flow.</a:t>
            </a:r>
          </a:p>
          <a:p>
            <a:endParaRPr lang="en-US" dirty="0"/>
          </a:p>
          <a:p>
            <a:r>
              <a:rPr lang="en-US" dirty="0"/>
              <a:t>User clicks Save.</a:t>
            </a:r>
          </a:p>
          <a:p>
            <a:endParaRPr lang="en-US" dirty="0"/>
          </a:p>
          <a:p>
            <a:r>
              <a:rPr lang="en-US" dirty="0"/>
              <a:t>↓</a:t>
            </a:r>
          </a:p>
          <a:p>
            <a:endParaRPr lang="en-US" dirty="0"/>
          </a:p>
          <a:p>
            <a:r>
              <a:rPr lang="en-US" dirty="0"/>
              <a:t>Controller receives the request.</a:t>
            </a:r>
          </a:p>
          <a:p>
            <a:endParaRPr lang="en-US" dirty="0"/>
          </a:p>
          <a:p>
            <a:r>
              <a:rPr lang="en-US" dirty="0"/>
              <a:t>↓</a:t>
            </a:r>
          </a:p>
          <a:p>
            <a:endParaRPr lang="en-US" dirty="0"/>
          </a:p>
          <a:p>
            <a:r>
              <a:rPr lang="en-US" dirty="0"/>
              <a:t>Application creates a Task object.</a:t>
            </a:r>
          </a:p>
          <a:p>
            <a:endParaRPr lang="en-US" dirty="0"/>
          </a:p>
          <a:p>
            <a:r>
              <a:rPr lang="en-US" dirty="0"/>
              <a:t>↓</a:t>
            </a:r>
          </a:p>
          <a:p>
            <a:endParaRPr lang="en-US" dirty="0"/>
          </a:p>
          <a:p>
            <a:r>
              <a:rPr lang="en-US" dirty="0"/>
              <a:t>EF Core adds the entity.</a:t>
            </a:r>
          </a:p>
          <a:p>
            <a:endParaRPr lang="en-US" dirty="0"/>
          </a:p>
          <a:p>
            <a:r>
              <a:rPr lang="en-US" dirty="0"/>
              <a:t>↓</a:t>
            </a:r>
          </a:p>
          <a:p>
            <a:endParaRPr lang="en-US" dirty="0"/>
          </a:p>
          <a:p>
            <a:r>
              <a:rPr lang="en-US" dirty="0" err="1"/>
              <a:t>SaveChangesAsync</a:t>
            </a:r>
            <a:r>
              <a:rPr lang="en-US" dirty="0"/>
              <a:t>() sends the change.</a:t>
            </a:r>
          </a:p>
          <a:p>
            <a:endParaRPr lang="en-US" dirty="0"/>
          </a:p>
          <a:p>
            <a:r>
              <a:rPr lang="en-US" dirty="0"/>
              <a:t>↓</a:t>
            </a:r>
          </a:p>
          <a:p>
            <a:endParaRPr lang="en-US" dirty="0"/>
          </a:p>
          <a:p>
            <a:r>
              <a:rPr lang="en-US" dirty="0"/>
              <a:t>Database stores the task.</a:t>
            </a:r>
          </a:p>
          <a:p>
            <a:endParaRPr lang="en-US" dirty="0"/>
          </a:p>
          <a:p>
            <a:r>
              <a:rPr lang="en-US" dirty="0"/>
              <a:t>Explain:</a:t>
            </a:r>
          </a:p>
          <a:p>
            <a:endParaRPr lang="en-US" dirty="0"/>
          </a:p>
          <a:p>
            <a:r>
              <a:rPr lang="en-US" dirty="0"/>
              <a:t>"The information now exists beyond the current browser session."</a:t>
            </a:r>
          </a:p>
          <a:p>
            <a:endParaRPr lang="en-US" dirty="0"/>
          </a:p>
          <a:p>
            <a:r>
              <a:rPr lang="en-US" dirty="0"/>
              <a:t>Pause.</a:t>
            </a:r>
          </a:p>
          <a:p>
            <a:endParaRPr lang="en-US" dirty="0"/>
          </a:p>
          <a:p>
            <a:r>
              <a:rPr lang="en-US" dirty="0"/>
              <a:t>"That's persistence."</a:t>
            </a:r>
          </a:p>
          <a:p>
            <a:endParaRPr lang="en-US" dirty="0"/>
          </a:p>
          <a:p>
            <a:r>
              <a:rPr lang="en-US" dirty="0"/>
              <a:t>------------------------------------------------------------</a:t>
            </a:r>
          </a:p>
          <a:p>
            <a:endParaRPr lang="en-US" dirty="0"/>
          </a:p>
          <a:p>
            <a:r>
              <a:rPr lang="en-US" dirty="0"/>
              <a:t>THE MOMENT</a:t>
            </a:r>
          </a:p>
          <a:p>
            <a:endParaRPr lang="en-US" dirty="0"/>
          </a:p>
          <a:p>
            <a:r>
              <a:rPr lang="en-US" dirty="0"/>
              <a:t>Tell students:</a:t>
            </a:r>
          </a:p>
          <a:p>
            <a:endParaRPr lang="en-US" dirty="0"/>
          </a:p>
          <a:p>
            <a:r>
              <a:rPr lang="en-US" dirty="0"/>
              <a:t>"After creating the task..."</a:t>
            </a:r>
          </a:p>
          <a:p>
            <a:endParaRPr lang="en-US" dirty="0"/>
          </a:p>
          <a:p>
            <a:r>
              <a:rPr lang="en-US" dirty="0"/>
              <a:t>"Close the browser."</a:t>
            </a:r>
          </a:p>
          <a:p>
            <a:endParaRPr lang="en-US" dirty="0"/>
          </a:p>
          <a:p>
            <a:r>
              <a:rPr lang="en-US" dirty="0"/>
              <a:t>"Open Atlas </a:t>
            </a:r>
            <a:r>
              <a:rPr lang="en-US" dirty="0" err="1"/>
              <a:t>TaskFlow</a:t>
            </a:r>
            <a:r>
              <a:rPr lang="en-US" dirty="0"/>
              <a:t> again."</a:t>
            </a:r>
          </a:p>
          <a:p>
            <a:endParaRPr lang="en-US" dirty="0"/>
          </a:p>
          <a:p>
            <a:r>
              <a:rPr lang="en-US" dirty="0"/>
              <a:t>"Find the task."</a:t>
            </a:r>
          </a:p>
          <a:p>
            <a:endParaRPr lang="en-US" dirty="0"/>
          </a:p>
          <a:p>
            <a:r>
              <a:rPr lang="en-US" dirty="0"/>
              <a:t>Pause.</a:t>
            </a:r>
          </a:p>
          <a:p>
            <a:endParaRPr lang="en-US" dirty="0"/>
          </a:p>
          <a:p>
            <a:r>
              <a:rPr lang="en-US" dirty="0"/>
              <a:t>"If it's still there..."</a:t>
            </a:r>
          </a:p>
          <a:p>
            <a:endParaRPr lang="en-US" dirty="0"/>
          </a:p>
          <a:p>
            <a:r>
              <a:rPr lang="en-US" dirty="0"/>
              <a:t>"Atlas remembers."</a:t>
            </a:r>
          </a:p>
          <a:p>
            <a:endParaRPr lang="en-US" dirty="0"/>
          </a:p>
          <a:p>
            <a:r>
              <a:rPr lang="en-US" dirty="0"/>
              <a:t>This is the key emotional moment of Sprint 5.</a:t>
            </a:r>
          </a:p>
          <a:p>
            <a:endParaRPr lang="en-US" dirty="0"/>
          </a:p>
          <a:p>
            <a:r>
              <a:rPr lang="en-US" dirty="0"/>
              <a:t>------------------------------------------------------------</a:t>
            </a:r>
          </a:p>
          <a:p>
            <a:endParaRPr lang="en-US" dirty="0"/>
          </a:p>
          <a:p>
            <a:r>
              <a:rPr lang="en-US" dirty="0"/>
              <a:t>READ</a:t>
            </a:r>
          </a:p>
          <a:p>
            <a:endParaRPr lang="en-US" dirty="0"/>
          </a:p>
          <a:p>
            <a:r>
              <a:rPr lang="en-US" dirty="0"/>
              <a:t>Point to READ.</a:t>
            </a:r>
          </a:p>
          <a:p>
            <a:endParaRPr lang="en-US" dirty="0"/>
          </a:p>
          <a:p>
            <a:r>
              <a:rPr lang="en-US" dirty="0"/>
              <a:t>Say:</a:t>
            </a:r>
          </a:p>
          <a:p>
            <a:endParaRPr lang="en-US" dirty="0"/>
          </a:p>
          <a:p>
            <a:r>
              <a:rPr lang="en-US" dirty="0"/>
              <a:t>"Now we need to get the information back."</a:t>
            </a:r>
          </a:p>
          <a:p>
            <a:endParaRPr lang="en-US" dirty="0"/>
          </a:p>
          <a:p>
            <a:r>
              <a:rPr lang="en-US" dirty="0"/>
              <a:t>Example:</a:t>
            </a:r>
          </a:p>
          <a:p>
            <a:endParaRPr lang="en-US" dirty="0"/>
          </a:p>
          <a:p>
            <a:r>
              <a:rPr lang="en-US" dirty="0"/>
              <a:t>User opens:</a:t>
            </a:r>
          </a:p>
          <a:p>
            <a:endParaRPr lang="en-US" dirty="0"/>
          </a:p>
          <a:p>
            <a:r>
              <a:rPr lang="en-US" dirty="0"/>
              <a:t>"My Tasks"</a:t>
            </a:r>
          </a:p>
          <a:p>
            <a:endParaRPr lang="en-US" dirty="0"/>
          </a:p>
          <a:p>
            <a:r>
              <a:rPr lang="en-US" dirty="0"/>
              <a:t>The application requests the tasks.</a:t>
            </a:r>
          </a:p>
          <a:p>
            <a:endParaRPr lang="en-US" dirty="0"/>
          </a:p>
          <a:p>
            <a:r>
              <a:rPr lang="en-US" dirty="0"/>
              <a:t>EF Core queries the database.</a:t>
            </a:r>
          </a:p>
          <a:p>
            <a:endParaRPr lang="en-US" dirty="0"/>
          </a:p>
          <a:p>
            <a:r>
              <a:rPr lang="en-US" dirty="0"/>
              <a:t>The database returns the records.</a:t>
            </a:r>
          </a:p>
          <a:p>
            <a:endParaRPr lang="en-US" dirty="0"/>
          </a:p>
          <a:p>
            <a:r>
              <a:rPr lang="en-US" dirty="0"/>
              <a:t>The application sends them to the View.</a:t>
            </a:r>
          </a:p>
          <a:p>
            <a:endParaRPr lang="en-US" dirty="0"/>
          </a:p>
          <a:p>
            <a:r>
              <a:rPr lang="en-US" dirty="0"/>
              <a:t>The user sees their tasks.</a:t>
            </a:r>
          </a:p>
          <a:p>
            <a:endParaRPr lang="en-US" dirty="0"/>
          </a:p>
          <a:p>
            <a:r>
              <a:rPr lang="en-US" dirty="0"/>
              <a:t>------------------------------------------------------------</a:t>
            </a:r>
          </a:p>
          <a:p>
            <a:endParaRPr lang="en-US" dirty="0"/>
          </a:p>
          <a:p>
            <a:r>
              <a:rPr lang="en-US" dirty="0"/>
              <a:t>READING DATA</a:t>
            </a:r>
          </a:p>
          <a:p>
            <a:endParaRPr lang="en-US" dirty="0"/>
          </a:p>
          <a:p>
            <a:r>
              <a:rPr lang="en-US" dirty="0"/>
              <a:t>Explain the conceptual flow:</a:t>
            </a:r>
          </a:p>
          <a:p>
            <a:endParaRPr lang="en-US" dirty="0"/>
          </a:p>
          <a:p>
            <a:r>
              <a:rPr lang="en-US" dirty="0"/>
              <a:t>Database</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View</a:t>
            </a:r>
          </a:p>
          <a:p>
            <a:endParaRPr lang="en-US" dirty="0"/>
          </a:p>
          <a:p>
            <a:r>
              <a:rPr lang="en-US" dirty="0"/>
              <a:t>↓</a:t>
            </a:r>
          </a:p>
          <a:p>
            <a:endParaRPr lang="en-US" dirty="0"/>
          </a:p>
          <a:p>
            <a:r>
              <a:rPr lang="en-US" dirty="0"/>
              <a:t>Browser</a:t>
            </a:r>
          </a:p>
          <a:p>
            <a:endParaRPr lang="en-US" dirty="0"/>
          </a:p>
          <a:p>
            <a:r>
              <a:rPr lang="en-US" dirty="0"/>
              <a:t>Say:</a:t>
            </a:r>
          </a:p>
          <a:p>
            <a:endParaRPr lang="en-US" dirty="0"/>
          </a:p>
          <a:p>
            <a:r>
              <a:rPr lang="en-US" dirty="0"/>
              <a:t>"The application asks..."</a:t>
            </a:r>
          </a:p>
          <a:p>
            <a:endParaRPr lang="en-US" dirty="0"/>
          </a:p>
          <a:p>
            <a:r>
              <a:rPr lang="en-US" dirty="0"/>
              <a:t>"The database answers."</a:t>
            </a:r>
          </a:p>
          <a:p>
            <a:endParaRPr lang="en-US" dirty="0"/>
          </a:p>
          <a:p>
            <a:r>
              <a:rPr lang="en-US" dirty="0"/>
              <a:t>------------------------------------------------------------</a:t>
            </a:r>
          </a:p>
          <a:p>
            <a:endParaRPr lang="en-US" dirty="0"/>
          </a:p>
          <a:p>
            <a:r>
              <a:rPr lang="en-US" dirty="0"/>
              <a:t>UPDATE</a:t>
            </a:r>
          </a:p>
          <a:p>
            <a:endParaRPr lang="en-US" dirty="0"/>
          </a:p>
          <a:p>
            <a:r>
              <a:rPr lang="en-US" dirty="0"/>
              <a:t>Point to UPDATE.</a:t>
            </a:r>
          </a:p>
          <a:p>
            <a:endParaRPr lang="en-US" dirty="0"/>
          </a:p>
          <a:p>
            <a:r>
              <a:rPr lang="en-US" dirty="0"/>
              <a:t>Say:</a:t>
            </a:r>
          </a:p>
          <a:p>
            <a:endParaRPr lang="en-US" dirty="0"/>
          </a:p>
          <a:p>
            <a:r>
              <a:rPr lang="en-US" dirty="0"/>
              <a:t>"Now suppose the user changes something."</a:t>
            </a:r>
          </a:p>
          <a:p>
            <a:endParaRPr lang="en-US" dirty="0"/>
          </a:p>
          <a:p>
            <a:r>
              <a:rPr lang="en-US" dirty="0"/>
              <a:t>Example:</a:t>
            </a:r>
          </a:p>
          <a:p>
            <a:endParaRPr lang="en-US" dirty="0"/>
          </a:p>
          <a:p>
            <a:r>
              <a:rPr lang="en-US" dirty="0"/>
              <a:t>Task:</a:t>
            </a:r>
          </a:p>
          <a:p>
            <a:endParaRPr lang="en-US" dirty="0"/>
          </a:p>
          <a:p>
            <a:r>
              <a:rPr lang="en-US" dirty="0"/>
              <a:t>Build Homepage</a:t>
            </a:r>
          </a:p>
          <a:p>
            <a:endParaRPr lang="en-US" dirty="0"/>
          </a:p>
          <a:p>
            <a:r>
              <a:rPr lang="en-US" dirty="0"/>
              <a:t>Status:</a:t>
            </a:r>
          </a:p>
          <a:p>
            <a:endParaRPr lang="en-US" dirty="0"/>
          </a:p>
          <a:p>
            <a:r>
              <a:rPr lang="en-US" dirty="0"/>
              <a:t>To Do</a:t>
            </a:r>
          </a:p>
          <a:p>
            <a:endParaRPr lang="en-US" dirty="0"/>
          </a:p>
          <a:p>
            <a:r>
              <a:rPr lang="en-US" dirty="0"/>
              <a:t>becomes:</a:t>
            </a:r>
          </a:p>
          <a:p>
            <a:endParaRPr lang="en-US" dirty="0"/>
          </a:p>
          <a:p>
            <a:r>
              <a:rPr lang="en-US" dirty="0"/>
              <a:t>In Progress</a:t>
            </a:r>
          </a:p>
          <a:p>
            <a:endParaRPr lang="en-US" dirty="0"/>
          </a:p>
          <a:p>
            <a:r>
              <a:rPr lang="en-US" dirty="0"/>
              <a:t>The application retrieves the task.</a:t>
            </a:r>
          </a:p>
          <a:p>
            <a:endParaRPr lang="en-US" dirty="0"/>
          </a:p>
          <a:p>
            <a:r>
              <a:rPr lang="en-US" dirty="0"/>
              <a:t>Changes the property.</a:t>
            </a:r>
          </a:p>
          <a:p>
            <a:endParaRPr lang="en-US" dirty="0"/>
          </a:p>
          <a:p>
            <a:r>
              <a:rPr lang="en-US" dirty="0"/>
              <a:t>EF Core saves the change.</a:t>
            </a:r>
          </a:p>
          <a:p>
            <a:endParaRPr lang="en-US" dirty="0"/>
          </a:p>
          <a:p>
            <a:r>
              <a:rPr lang="en-US" dirty="0"/>
              <a:t>The database now contains the updated information.</a:t>
            </a:r>
          </a:p>
          <a:p>
            <a:endParaRPr lang="en-US" dirty="0"/>
          </a:p>
          <a:p>
            <a:r>
              <a:rPr lang="en-US" dirty="0"/>
              <a:t>------------------------------------------------------------</a:t>
            </a:r>
          </a:p>
          <a:p>
            <a:endParaRPr lang="en-US" dirty="0"/>
          </a:p>
          <a:p>
            <a:r>
              <a:rPr lang="en-US" dirty="0"/>
              <a:t>WHY UPDATE MATTERS</a:t>
            </a:r>
          </a:p>
          <a:p>
            <a:endParaRPr lang="en-US" dirty="0"/>
          </a:p>
          <a:p>
            <a:r>
              <a:rPr lang="en-US" dirty="0"/>
              <a:t>Ask:</a:t>
            </a:r>
          </a:p>
          <a:p>
            <a:endParaRPr lang="en-US" dirty="0"/>
          </a:p>
          <a:p>
            <a:r>
              <a:rPr lang="en-US" dirty="0"/>
              <a:t>"What happens if our application could create tasks but couldn't</a:t>
            </a:r>
          </a:p>
          <a:p>
            <a:r>
              <a:rPr lang="en-US" dirty="0"/>
              <a:t>change them?"</a:t>
            </a:r>
          </a:p>
          <a:p>
            <a:endParaRPr lang="en-US" dirty="0"/>
          </a:p>
          <a:p>
            <a:r>
              <a:rPr lang="en-US" dirty="0"/>
              <a:t>Students will recognize the problem.</a:t>
            </a:r>
          </a:p>
          <a:p>
            <a:endParaRPr lang="en-US" dirty="0"/>
          </a:p>
          <a:p>
            <a:r>
              <a:rPr lang="en-US" dirty="0"/>
              <a:t>Explain:</a:t>
            </a:r>
          </a:p>
          <a:p>
            <a:endParaRPr lang="en-US" dirty="0"/>
          </a:p>
          <a:p>
            <a:r>
              <a:rPr lang="en-US" dirty="0"/>
              <a:t>"Real applications are constantly changing data."</a:t>
            </a:r>
          </a:p>
          <a:p>
            <a:endParaRPr lang="en-US" dirty="0"/>
          </a:p>
          <a:p>
            <a:r>
              <a:rPr lang="en-US" dirty="0"/>
              <a:t>Tasks move through statuses.</a:t>
            </a:r>
          </a:p>
          <a:p>
            <a:endParaRPr lang="en-US" dirty="0"/>
          </a:p>
          <a:p>
            <a:r>
              <a:rPr lang="en-US" dirty="0"/>
              <a:t>Dates change.</a:t>
            </a:r>
          </a:p>
          <a:p>
            <a:endParaRPr lang="en-US" dirty="0"/>
          </a:p>
          <a:p>
            <a:r>
              <a:rPr lang="en-US" dirty="0"/>
              <a:t>Descriptions change.</a:t>
            </a:r>
          </a:p>
          <a:p>
            <a:endParaRPr lang="en-US" dirty="0"/>
          </a:p>
          <a:p>
            <a:r>
              <a:rPr lang="en-US" dirty="0"/>
              <a:t>Assignments change.</a:t>
            </a:r>
          </a:p>
          <a:p>
            <a:endParaRPr lang="en-US" dirty="0"/>
          </a:p>
          <a:p>
            <a:r>
              <a:rPr lang="en-US" dirty="0"/>
              <a:t>"Persistence isn't just about saving."</a:t>
            </a:r>
          </a:p>
          <a:p>
            <a:endParaRPr lang="en-US" dirty="0"/>
          </a:p>
          <a:p>
            <a:r>
              <a:rPr lang="en-US" dirty="0"/>
              <a:t>"It's about managing information."</a:t>
            </a:r>
          </a:p>
          <a:p>
            <a:endParaRPr lang="en-US" dirty="0"/>
          </a:p>
          <a:p>
            <a:r>
              <a:rPr lang="en-US" dirty="0"/>
              <a:t>------------------------------------------------------------</a:t>
            </a:r>
          </a:p>
          <a:p>
            <a:endParaRPr lang="en-US" dirty="0"/>
          </a:p>
          <a:p>
            <a:r>
              <a:rPr lang="en-US" dirty="0"/>
              <a:t>DELETE</a:t>
            </a:r>
          </a:p>
          <a:p>
            <a:endParaRPr lang="en-US" dirty="0"/>
          </a:p>
          <a:p>
            <a:r>
              <a:rPr lang="en-US" dirty="0"/>
              <a:t>Point to DELETE.</a:t>
            </a:r>
          </a:p>
          <a:p>
            <a:endParaRPr lang="en-US" dirty="0"/>
          </a:p>
          <a:p>
            <a:r>
              <a:rPr lang="en-US" dirty="0"/>
              <a:t>Say:</a:t>
            </a:r>
          </a:p>
          <a:p>
            <a:endParaRPr lang="en-US" dirty="0"/>
          </a:p>
          <a:p>
            <a:r>
              <a:rPr lang="en-US" dirty="0"/>
              <a:t>"Finally..."</a:t>
            </a:r>
          </a:p>
          <a:p>
            <a:endParaRPr lang="en-US" dirty="0"/>
          </a:p>
          <a:p>
            <a:r>
              <a:rPr lang="en-US" dirty="0"/>
              <a:t>"Sometimes information needs to be removed."</a:t>
            </a:r>
          </a:p>
          <a:p>
            <a:endParaRPr lang="en-US" dirty="0"/>
          </a:p>
          <a:p>
            <a:r>
              <a:rPr lang="en-US" dirty="0"/>
              <a:t>Example:</a:t>
            </a:r>
          </a:p>
          <a:p>
            <a:endParaRPr lang="en-US" dirty="0"/>
          </a:p>
          <a:p>
            <a:r>
              <a:rPr lang="en-US" dirty="0"/>
              <a:t>A user creates a duplicate task.</a:t>
            </a:r>
          </a:p>
          <a:p>
            <a:endParaRPr lang="en-US" dirty="0"/>
          </a:p>
          <a:p>
            <a:r>
              <a:rPr lang="en-US" dirty="0"/>
              <a:t>They click:</a:t>
            </a:r>
          </a:p>
          <a:p>
            <a:endParaRPr lang="en-US" dirty="0"/>
          </a:p>
          <a:p>
            <a:r>
              <a:rPr lang="en-US" dirty="0"/>
              <a:t>DELETE</a:t>
            </a:r>
          </a:p>
          <a:p>
            <a:endParaRPr lang="en-US" dirty="0"/>
          </a:p>
          <a:p>
            <a:r>
              <a:rPr lang="en-US" dirty="0"/>
              <a:t>The application identifies the task.</a:t>
            </a:r>
          </a:p>
          <a:p>
            <a:endParaRPr lang="en-US" dirty="0"/>
          </a:p>
          <a:p>
            <a:r>
              <a:rPr lang="en-US" dirty="0"/>
              <a:t>EF Core removes it.</a:t>
            </a:r>
          </a:p>
          <a:p>
            <a:endParaRPr lang="en-US" dirty="0"/>
          </a:p>
          <a:p>
            <a:r>
              <a:rPr lang="en-US" dirty="0"/>
              <a:t>The database no longer contains that record.</a:t>
            </a:r>
          </a:p>
          <a:p>
            <a:endParaRPr lang="en-US" dirty="0"/>
          </a:p>
          <a:p>
            <a:r>
              <a:rPr lang="en-US" dirty="0"/>
              <a:t>------------------------------------------------------------</a:t>
            </a:r>
          </a:p>
          <a:p>
            <a:endParaRPr lang="en-US" dirty="0"/>
          </a:p>
          <a:p>
            <a:r>
              <a:rPr lang="en-US" dirty="0"/>
              <a:t>IMPORTANT QUESTION</a:t>
            </a:r>
          </a:p>
          <a:p>
            <a:endParaRPr lang="en-US" dirty="0"/>
          </a:p>
          <a:p>
            <a:r>
              <a:rPr lang="en-US" dirty="0"/>
              <a:t>Ask:</a:t>
            </a:r>
          </a:p>
          <a:p>
            <a:endParaRPr lang="en-US" dirty="0"/>
          </a:p>
          <a:p>
            <a:r>
              <a:rPr lang="en-US" dirty="0"/>
              <a:t>"Should every user be allowed to delete every task?"</a:t>
            </a:r>
          </a:p>
          <a:p>
            <a:endParaRPr lang="en-US" dirty="0"/>
          </a:p>
          <a:p>
            <a:r>
              <a:rPr lang="en-US" dirty="0"/>
              <a:t>Students may say:</a:t>
            </a:r>
          </a:p>
          <a:p>
            <a:endParaRPr lang="en-US" dirty="0"/>
          </a:p>
          <a:p>
            <a:r>
              <a:rPr lang="en-US" dirty="0"/>
              <a:t>"No."</a:t>
            </a:r>
          </a:p>
          <a:p>
            <a:endParaRPr lang="en-US" dirty="0"/>
          </a:p>
          <a:p>
            <a:r>
              <a:rPr lang="en-US" dirty="0"/>
              <a:t>Good.</a:t>
            </a:r>
          </a:p>
          <a:p>
            <a:endParaRPr lang="en-US" dirty="0"/>
          </a:p>
          <a:p>
            <a:r>
              <a:rPr lang="en-US" dirty="0"/>
              <a:t>Tell them:</a:t>
            </a:r>
          </a:p>
          <a:p>
            <a:endParaRPr lang="en-US" dirty="0"/>
          </a:p>
          <a:p>
            <a:r>
              <a:rPr lang="en-US" dirty="0"/>
              <a:t>"That's a security and authorization question."</a:t>
            </a:r>
          </a:p>
          <a:p>
            <a:endParaRPr lang="en-US" dirty="0"/>
          </a:p>
          <a:p>
            <a:r>
              <a:rPr lang="en-US" dirty="0"/>
              <a:t>"We'll deal with that later."</a:t>
            </a:r>
          </a:p>
          <a:p>
            <a:endParaRPr lang="en-US" dirty="0"/>
          </a:p>
          <a:p>
            <a:r>
              <a:rPr lang="en-US" dirty="0"/>
              <a:t>For now:</a:t>
            </a:r>
          </a:p>
          <a:p>
            <a:endParaRPr lang="en-US" dirty="0"/>
          </a:p>
          <a:p>
            <a:r>
              <a:rPr lang="en-US" dirty="0"/>
              <a:t>"We're learning the mechanics of CRUD."</a:t>
            </a:r>
          </a:p>
          <a:p>
            <a:endParaRPr lang="en-US" dirty="0"/>
          </a:p>
          <a:p>
            <a:r>
              <a:rPr lang="en-US" dirty="0"/>
              <a:t>This gives us a natural bridge to Sprint 6.</a:t>
            </a:r>
          </a:p>
          <a:p>
            <a:endParaRPr lang="en-US" dirty="0"/>
          </a:p>
          <a:p>
            <a:r>
              <a:rPr lang="en-US" dirty="0"/>
              <a:t>------------------------------------------------------------</a:t>
            </a:r>
          </a:p>
          <a:p>
            <a:endParaRPr lang="en-US" dirty="0"/>
          </a:p>
          <a:p>
            <a:r>
              <a:rPr lang="en-US" dirty="0"/>
              <a:t>EF CORE METHODS</a:t>
            </a:r>
          </a:p>
          <a:p>
            <a:endParaRPr lang="en-US" dirty="0"/>
          </a:p>
          <a:p>
            <a:r>
              <a:rPr lang="en-US" dirty="0"/>
              <a:t>Point to the methods.</a:t>
            </a:r>
          </a:p>
          <a:p>
            <a:endParaRPr lang="en-US" dirty="0"/>
          </a:p>
          <a:p>
            <a:r>
              <a:rPr lang="en-US" dirty="0"/>
              <a:t>Explain them at a high level:</a:t>
            </a:r>
          </a:p>
          <a:p>
            <a:endParaRPr lang="en-US" dirty="0"/>
          </a:p>
          <a:p>
            <a:r>
              <a:rPr lang="en-US" dirty="0"/>
              <a:t>Add()</a:t>
            </a:r>
          </a:p>
          <a:p>
            <a:endParaRPr lang="en-US" dirty="0"/>
          </a:p>
          <a:p>
            <a:r>
              <a:rPr lang="en-US" dirty="0"/>
              <a:t>Adds a new entity.</a:t>
            </a:r>
          </a:p>
          <a:p>
            <a:endParaRPr lang="en-US" dirty="0"/>
          </a:p>
          <a:p>
            <a:r>
              <a:rPr lang="en-US" dirty="0" err="1"/>
              <a:t>ToListAsync</a:t>
            </a:r>
            <a:r>
              <a:rPr lang="en-US" dirty="0"/>
              <a:t>()</a:t>
            </a:r>
          </a:p>
          <a:p>
            <a:endParaRPr lang="en-US" dirty="0"/>
          </a:p>
          <a:p>
            <a:r>
              <a:rPr lang="en-US" dirty="0"/>
              <a:t>Retrieves multiple records.</a:t>
            </a:r>
          </a:p>
          <a:p>
            <a:endParaRPr lang="en-US" dirty="0"/>
          </a:p>
          <a:p>
            <a:r>
              <a:rPr lang="en-US" dirty="0" err="1"/>
              <a:t>FirstOrDefaultAsync</a:t>
            </a:r>
            <a:r>
              <a:rPr lang="en-US" dirty="0"/>
              <a:t>()</a:t>
            </a:r>
          </a:p>
          <a:p>
            <a:endParaRPr lang="en-US" dirty="0"/>
          </a:p>
          <a:p>
            <a:r>
              <a:rPr lang="en-US" dirty="0"/>
              <a:t>Retrieves a specific record.</a:t>
            </a:r>
          </a:p>
          <a:p>
            <a:endParaRPr lang="en-US" dirty="0"/>
          </a:p>
          <a:p>
            <a:r>
              <a:rPr lang="en-US" dirty="0" err="1"/>
              <a:t>FindAsync</a:t>
            </a:r>
            <a:r>
              <a:rPr lang="en-US" dirty="0"/>
              <a:t>()</a:t>
            </a:r>
          </a:p>
          <a:p>
            <a:endParaRPr lang="en-US" dirty="0"/>
          </a:p>
          <a:p>
            <a:r>
              <a:rPr lang="en-US" dirty="0"/>
              <a:t>Finds an entity by its key.</a:t>
            </a:r>
          </a:p>
          <a:p>
            <a:endParaRPr lang="en-US" dirty="0"/>
          </a:p>
          <a:p>
            <a:r>
              <a:rPr lang="en-US" dirty="0"/>
              <a:t>Update()</a:t>
            </a:r>
          </a:p>
          <a:p>
            <a:endParaRPr lang="en-US" dirty="0"/>
          </a:p>
          <a:p>
            <a:r>
              <a:rPr lang="en-US" dirty="0"/>
              <a:t>Marks an entity as changed.</a:t>
            </a:r>
          </a:p>
          <a:p>
            <a:endParaRPr lang="en-US" dirty="0"/>
          </a:p>
          <a:p>
            <a:r>
              <a:rPr lang="en-US" dirty="0"/>
              <a:t>Remove()</a:t>
            </a:r>
          </a:p>
          <a:p>
            <a:endParaRPr lang="en-US" dirty="0"/>
          </a:p>
          <a:p>
            <a:r>
              <a:rPr lang="en-US" dirty="0"/>
              <a:t>Marks an entity for deletion.</a:t>
            </a:r>
          </a:p>
          <a:p>
            <a:endParaRPr lang="en-US" dirty="0"/>
          </a:p>
          <a:p>
            <a:r>
              <a:rPr lang="en-US" dirty="0" err="1"/>
              <a:t>SaveChangesAsync</a:t>
            </a:r>
            <a:r>
              <a:rPr lang="en-US" dirty="0"/>
              <a:t>()</a:t>
            </a:r>
          </a:p>
          <a:p>
            <a:endParaRPr lang="en-US" dirty="0"/>
          </a:p>
          <a:p>
            <a:r>
              <a:rPr lang="en-US" dirty="0"/>
              <a:t>Persists the changes.</a:t>
            </a:r>
          </a:p>
          <a:p>
            <a:endParaRPr lang="en-US" dirty="0"/>
          </a:p>
          <a:p>
            <a:r>
              <a:rPr lang="en-US" dirty="0"/>
              <a:t>Emphasize:</a:t>
            </a:r>
          </a:p>
          <a:p>
            <a:endParaRPr lang="en-US" dirty="0"/>
          </a:p>
          <a:p>
            <a:r>
              <a:rPr lang="en-US" dirty="0"/>
              <a:t>"Don't memorize these as vocabulary words."</a:t>
            </a:r>
          </a:p>
          <a:p>
            <a:endParaRPr lang="en-US" dirty="0"/>
          </a:p>
          <a:p>
            <a:r>
              <a:rPr lang="en-US" dirty="0"/>
              <a:t>"Understand what operation you're trying to perform."</a:t>
            </a:r>
          </a:p>
          <a:p>
            <a:endParaRPr lang="en-US" dirty="0"/>
          </a:p>
          <a:p>
            <a:r>
              <a:rPr lang="en-US" dirty="0"/>
              <a:t>------------------------------------------------------------</a:t>
            </a:r>
          </a:p>
          <a:p>
            <a:endParaRPr lang="en-US" dirty="0"/>
          </a:p>
          <a:p>
            <a:r>
              <a:rPr lang="en-US" dirty="0"/>
              <a:t>THE MOST IMPORTANT METHOD</a:t>
            </a:r>
          </a:p>
          <a:p>
            <a:endParaRPr lang="en-US" dirty="0"/>
          </a:p>
          <a:p>
            <a:r>
              <a:rPr lang="en-US" dirty="0"/>
              <a:t>Point to:</a:t>
            </a:r>
          </a:p>
          <a:p>
            <a:endParaRPr lang="en-US" dirty="0"/>
          </a:p>
          <a:p>
            <a:r>
              <a:rPr lang="en-US" dirty="0" err="1"/>
              <a:t>SaveChangesAsync</a:t>
            </a:r>
            <a:r>
              <a:rPr lang="en-US" dirty="0"/>
              <a:t>()</a:t>
            </a:r>
          </a:p>
          <a:p>
            <a:endParaRPr lang="en-US" dirty="0"/>
          </a:p>
          <a:p>
            <a:r>
              <a:rPr lang="en-US" dirty="0"/>
              <a:t>Say:</a:t>
            </a:r>
          </a:p>
          <a:p>
            <a:endParaRPr lang="en-US" dirty="0"/>
          </a:p>
          <a:p>
            <a:r>
              <a:rPr lang="en-US" dirty="0"/>
              <a:t>"Pay attention to this one."</a:t>
            </a:r>
          </a:p>
          <a:p>
            <a:endParaRPr lang="en-US" dirty="0"/>
          </a:p>
          <a:p>
            <a:r>
              <a:rPr lang="en-US" dirty="0"/>
              <a:t>"Changing an object in C# isn't automatically the same thing as changing</a:t>
            </a:r>
          </a:p>
          <a:p>
            <a:r>
              <a:rPr lang="en-US" dirty="0"/>
              <a:t>the database."</a:t>
            </a:r>
          </a:p>
          <a:p>
            <a:endParaRPr lang="en-US" dirty="0"/>
          </a:p>
          <a:p>
            <a:r>
              <a:rPr lang="en-US" dirty="0"/>
              <a:t>"</a:t>
            </a:r>
            <a:r>
              <a:rPr lang="en-US" dirty="0" err="1"/>
              <a:t>SaveChangesAsync</a:t>
            </a:r>
            <a:r>
              <a:rPr lang="en-US" dirty="0"/>
              <a:t>() is what tells EF Core to persist the changes."</a:t>
            </a:r>
          </a:p>
          <a:p>
            <a:endParaRPr lang="en-US" dirty="0"/>
          </a:p>
          <a:p>
            <a:r>
              <a:rPr lang="en-US" dirty="0"/>
              <a:t>This is an important distinction.</a:t>
            </a:r>
          </a:p>
          <a:p>
            <a:endParaRPr lang="en-US" dirty="0"/>
          </a:p>
          <a:p>
            <a:r>
              <a:rPr lang="en-US" dirty="0"/>
              <a:t>------------------------------------------------------------</a:t>
            </a:r>
          </a:p>
          <a:p>
            <a:endParaRPr lang="en-US" dirty="0"/>
          </a:p>
          <a:p>
            <a:r>
              <a:rPr lang="en-US" dirty="0"/>
              <a:t>CRUD IS A CYCLE</a:t>
            </a:r>
          </a:p>
          <a:p>
            <a:endParaRPr lang="en-US" dirty="0"/>
          </a:p>
          <a:p>
            <a:r>
              <a:rPr lang="en-US" dirty="0"/>
              <a:t>Draw:</a:t>
            </a:r>
          </a:p>
          <a:p>
            <a:endParaRPr lang="en-US" dirty="0"/>
          </a:p>
          <a:p>
            <a:r>
              <a:rPr lang="en-US" dirty="0"/>
              <a:t>CREATE</a:t>
            </a:r>
          </a:p>
          <a:p>
            <a:endParaRPr lang="en-US" dirty="0"/>
          </a:p>
          <a:p>
            <a:r>
              <a:rPr lang="en-US" dirty="0"/>
              <a:t>↓</a:t>
            </a:r>
          </a:p>
          <a:p>
            <a:endParaRPr lang="en-US" dirty="0"/>
          </a:p>
          <a:p>
            <a:r>
              <a:rPr lang="en-US" dirty="0"/>
              <a:t>READ</a:t>
            </a:r>
          </a:p>
          <a:p>
            <a:endParaRPr lang="en-US" dirty="0"/>
          </a:p>
          <a:p>
            <a:r>
              <a:rPr lang="en-US" dirty="0"/>
              <a:t>↓</a:t>
            </a:r>
          </a:p>
          <a:p>
            <a:endParaRPr lang="en-US" dirty="0"/>
          </a:p>
          <a:p>
            <a:r>
              <a:rPr lang="en-US" dirty="0"/>
              <a:t>UPDATE</a:t>
            </a:r>
          </a:p>
          <a:p>
            <a:endParaRPr lang="en-US" dirty="0"/>
          </a:p>
          <a:p>
            <a:r>
              <a:rPr lang="en-US" dirty="0"/>
              <a:t>↓</a:t>
            </a:r>
          </a:p>
          <a:p>
            <a:endParaRPr lang="en-US" dirty="0"/>
          </a:p>
          <a:p>
            <a:r>
              <a:rPr lang="en-US" dirty="0"/>
              <a:t>DELETE</a:t>
            </a:r>
          </a:p>
          <a:p>
            <a:endParaRPr lang="en-US" dirty="0"/>
          </a:p>
          <a:p>
            <a:r>
              <a:rPr lang="en-US" dirty="0"/>
              <a:t>Then:</a:t>
            </a:r>
          </a:p>
          <a:p>
            <a:endParaRPr lang="en-US" dirty="0"/>
          </a:p>
          <a:p>
            <a:r>
              <a:rPr lang="en-US" dirty="0"/>
              <a:t>READ</a:t>
            </a:r>
          </a:p>
          <a:p>
            <a:endParaRPr lang="en-US" dirty="0"/>
          </a:p>
          <a:p>
            <a:r>
              <a:rPr lang="en-US" dirty="0"/>
              <a:t>↓</a:t>
            </a:r>
          </a:p>
          <a:p>
            <a:endParaRPr lang="en-US" dirty="0"/>
          </a:p>
          <a:p>
            <a:r>
              <a:rPr lang="en-US" dirty="0"/>
              <a:t>UPDATE</a:t>
            </a:r>
          </a:p>
          <a:p>
            <a:endParaRPr lang="en-US" dirty="0"/>
          </a:p>
          <a:p>
            <a:r>
              <a:rPr lang="en-US" dirty="0"/>
              <a:t>↓</a:t>
            </a:r>
          </a:p>
          <a:p>
            <a:endParaRPr lang="en-US" dirty="0"/>
          </a:p>
          <a:p>
            <a:r>
              <a:rPr lang="en-US" dirty="0"/>
              <a:t>READ</a:t>
            </a:r>
          </a:p>
          <a:p>
            <a:endParaRPr lang="en-US" dirty="0"/>
          </a:p>
          <a:p>
            <a:r>
              <a:rPr lang="en-US" dirty="0"/>
              <a:t>Explain:</a:t>
            </a:r>
          </a:p>
          <a:p>
            <a:endParaRPr lang="en-US" dirty="0"/>
          </a:p>
          <a:p>
            <a:r>
              <a:rPr lang="en-US" dirty="0"/>
              <a:t>"Applications are constantly moving through this cycle."</a:t>
            </a:r>
          </a:p>
          <a:p>
            <a:endParaRPr lang="en-US" dirty="0"/>
          </a:p>
          <a:p>
            <a:r>
              <a:rPr lang="en-US" dirty="0"/>
              <a:t>A user creates information.</a:t>
            </a:r>
          </a:p>
          <a:p>
            <a:endParaRPr lang="en-US" dirty="0"/>
          </a:p>
          <a:p>
            <a:r>
              <a:rPr lang="en-US" dirty="0"/>
              <a:t>Reads it.</a:t>
            </a:r>
          </a:p>
          <a:p>
            <a:endParaRPr lang="en-US" dirty="0"/>
          </a:p>
          <a:p>
            <a:r>
              <a:rPr lang="en-US" dirty="0"/>
              <a:t>Changes it.</a:t>
            </a:r>
          </a:p>
          <a:p>
            <a:endParaRPr lang="en-US" dirty="0"/>
          </a:p>
          <a:p>
            <a:r>
              <a:rPr lang="en-US" dirty="0"/>
              <a:t>Reads it again.</a:t>
            </a:r>
          </a:p>
          <a:p>
            <a:endParaRPr lang="en-US" dirty="0"/>
          </a:p>
          <a:p>
            <a:r>
              <a:rPr lang="en-US" dirty="0"/>
              <a:t>Eventually deletes it.</a:t>
            </a:r>
          </a:p>
          <a:p>
            <a:endParaRPr lang="en-US" dirty="0"/>
          </a:p>
          <a:p>
            <a:r>
              <a:rPr lang="en-US" dirty="0"/>
              <a:t>------------------------------------------------------------</a:t>
            </a:r>
          </a:p>
          <a:p>
            <a:endParaRPr lang="en-US" dirty="0"/>
          </a:p>
          <a:p>
            <a:r>
              <a:rPr lang="en-US" dirty="0"/>
              <a:t>BUILD CHALLENGE</a:t>
            </a:r>
          </a:p>
          <a:p>
            <a:endParaRPr lang="en-US" dirty="0"/>
          </a:p>
          <a:p>
            <a:r>
              <a:rPr lang="en-US" dirty="0"/>
              <a:t>Students will implement CRUD for Tasks.</a:t>
            </a:r>
          </a:p>
          <a:p>
            <a:endParaRPr lang="en-US" dirty="0"/>
          </a:p>
          <a:p>
            <a:r>
              <a:rPr lang="en-US" dirty="0"/>
              <a:t>### CREATE</a:t>
            </a:r>
          </a:p>
          <a:p>
            <a:endParaRPr lang="en-US" dirty="0"/>
          </a:p>
          <a:p>
            <a:r>
              <a:rPr lang="en-US" dirty="0"/>
              <a:t>Build a form that creates a task.</a:t>
            </a:r>
          </a:p>
          <a:p>
            <a:endParaRPr lang="en-US" dirty="0"/>
          </a:p>
          <a:p>
            <a:r>
              <a:rPr lang="en-US" dirty="0"/>
              <a:t>### READ</a:t>
            </a:r>
          </a:p>
          <a:p>
            <a:endParaRPr lang="en-US" dirty="0"/>
          </a:p>
          <a:p>
            <a:r>
              <a:rPr lang="en-US" dirty="0"/>
              <a:t>Display the user's tasks.</a:t>
            </a:r>
          </a:p>
          <a:p>
            <a:endParaRPr lang="en-US" dirty="0"/>
          </a:p>
          <a:p>
            <a:r>
              <a:rPr lang="en-US" dirty="0"/>
              <a:t>### UPDATE</a:t>
            </a:r>
          </a:p>
          <a:p>
            <a:endParaRPr lang="en-US" dirty="0"/>
          </a:p>
          <a:p>
            <a:r>
              <a:rPr lang="en-US" dirty="0"/>
              <a:t>Allow a task to be edited.</a:t>
            </a:r>
          </a:p>
          <a:p>
            <a:endParaRPr lang="en-US" dirty="0"/>
          </a:p>
          <a:p>
            <a:r>
              <a:rPr lang="en-US" dirty="0"/>
              <a:t>### DELETE</a:t>
            </a:r>
          </a:p>
          <a:p>
            <a:endParaRPr lang="en-US" dirty="0"/>
          </a:p>
          <a:p>
            <a:r>
              <a:rPr lang="en-US" dirty="0"/>
              <a:t>Allow a task to be removed.</a:t>
            </a:r>
          </a:p>
          <a:p>
            <a:endParaRPr lang="en-US" dirty="0"/>
          </a:p>
          <a:p>
            <a:r>
              <a:rPr lang="en-US" dirty="0"/>
              <a:t>Tell students:</a:t>
            </a:r>
          </a:p>
          <a:p>
            <a:endParaRPr lang="en-US" dirty="0"/>
          </a:p>
          <a:p>
            <a:r>
              <a:rPr lang="en-US" dirty="0"/>
              <a:t>"Don't try to build everything at once."</a:t>
            </a:r>
          </a:p>
          <a:p>
            <a:endParaRPr lang="en-US" dirty="0"/>
          </a:p>
          <a:p>
            <a:r>
              <a:rPr lang="en-US" dirty="0"/>
              <a:t>Build one operation.</a:t>
            </a:r>
          </a:p>
          <a:p>
            <a:endParaRPr lang="en-US" dirty="0"/>
          </a:p>
          <a:p>
            <a:r>
              <a:rPr lang="en-US" dirty="0"/>
              <a:t>Test it.</a:t>
            </a:r>
          </a:p>
          <a:p>
            <a:endParaRPr lang="en-US" dirty="0"/>
          </a:p>
          <a:p>
            <a:r>
              <a:rPr lang="en-US" dirty="0"/>
              <a:t>Then move to the next.</a:t>
            </a:r>
          </a:p>
          <a:p>
            <a:endParaRPr lang="en-US" dirty="0"/>
          </a:p>
          <a:p>
            <a:r>
              <a:rPr lang="en-US" dirty="0"/>
              <a:t>------------------------------------------------------------</a:t>
            </a:r>
          </a:p>
          <a:p>
            <a:endParaRPr lang="en-US" dirty="0"/>
          </a:p>
          <a:p>
            <a:r>
              <a:rPr lang="en-US" dirty="0"/>
              <a:t>RECOMMENDED BUILD ORDER</a:t>
            </a:r>
          </a:p>
          <a:p>
            <a:endParaRPr lang="en-US" dirty="0"/>
          </a:p>
          <a:p>
            <a:r>
              <a:rPr lang="en-US" dirty="0"/>
              <a:t>Point to the sequence.</a:t>
            </a:r>
          </a:p>
          <a:p>
            <a:endParaRPr lang="en-US" dirty="0"/>
          </a:p>
          <a:p>
            <a:r>
              <a:rPr lang="en-US" dirty="0"/>
              <a:t>1. CREATE</a:t>
            </a:r>
          </a:p>
          <a:p>
            <a:endParaRPr lang="en-US" dirty="0"/>
          </a:p>
          <a:p>
            <a:r>
              <a:rPr lang="en-US" dirty="0"/>
              <a:t>2. READ</a:t>
            </a:r>
          </a:p>
          <a:p>
            <a:endParaRPr lang="en-US" dirty="0"/>
          </a:p>
          <a:p>
            <a:r>
              <a:rPr lang="en-US" dirty="0"/>
              <a:t>3. UPDATE</a:t>
            </a:r>
          </a:p>
          <a:p>
            <a:endParaRPr lang="en-US" dirty="0"/>
          </a:p>
          <a:p>
            <a:r>
              <a:rPr lang="en-US" dirty="0"/>
              <a:t>4. DELETE</a:t>
            </a:r>
          </a:p>
          <a:p>
            <a:endParaRPr lang="en-US" dirty="0"/>
          </a:p>
          <a:p>
            <a:r>
              <a:rPr lang="en-US" dirty="0"/>
              <a:t>Explain:</a:t>
            </a:r>
          </a:p>
          <a:p>
            <a:endParaRPr lang="en-US" dirty="0"/>
          </a:p>
          <a:p>
            <a:r>
              <a:rPr lang="en-US" dirty="0"/>
              <a:t>"Start with Create and Read."</a:t>
            </a:r>
          </a:p>
          <a:p>
            <a:endParaRPr lang="en-US" dirty="0"/>
          </a:p>
          <a:p>
            <a:r>
              <a:rPr lang="en-US" dirty="0"/>
              <a:t>"Once those work..."</a:t>
            </a:r>
          </a:p>
          <a:p>
            <a:endParaRPr lang="en-US" dirty="0"/>
          </a:p>
          <a:p>
            <a:r>
              <a:rPr lang="en-US" dirty="0"/>
              <a:t>"Add Update."</a:t>
            </a:r>
          </a:p>
          <a:p>
            <a:endParaRPr lang="en-US" dirty="0"/>
          </a:p>
          <a:p>
            <a:r>
              <a:rPr lang="en-US" dirty="0"/>
              <a:t>"Then Delete."</a:t>
            </a:r>
          </a:p>
          <a:p>
            <a:endParaRPr lang="en-US" dirty="0"/>
          </a:p>
          <a:p>
            <a:r>
              <a:rPr lang="en-US" dirty="0"/>
              <a:t>This keeps debugging manageable.</a:t>
            </a:r>
          </a:p>
          <a:p>
            <a:endParaRPr lang="en-US" dirty="0"/>
          </a:p>
          <a:p>
            <a:r>
              <a:rPr lang="en-US" dirty="0"/>
              <a:t>------------------------------------------------------------</a:t>
            </a:r>
          </a:p>
          <a:p>
            <a:endParaRPr lang="en-US" dirty="0"/>
          </a:p>
          <a:p>
            <a:r>
              <a:rPr lang="en-US" dirty="0"/>
              <a:t>TEST AFTER EACH OPERATION</a:t>
            </a:r>
          </a:p>
          <a:p>
            <a:endParaRPr lang="en-US" dirty="0"/>
          </a:p>
          <a:p>
            <a:r>
              <a:rPr lang="en-US" dirty="0"/>
              <a:t>Ask:</a:t>
            </a:r>
          </a:p>
          <a:p>
            <a:endParaRPr lang="en-US" dirty="0"/>
          </a:p>
          <a:p>
            <a:r>
              <a:rPr lang="en-US" dirty="0"/>
              <a:t>"What should we do after implementing Create?"</a:t>
            </a:r>
          </a:p>
          <a:p>
            <a:endParaRPr lang="en-US" dirty="0"/>
          </a:p>
          <a:p>
            <a:r>
              <a:rPr lang="en-US" dirty="0"/>
              <a:t>Students:</a:t>
            </a:r>
          </a:p>
          <a:p>
            <a:endParaRPr lang="en-US" dirty="0"/>
          </a:p>
          <a:p>
            <a:r>
              <a:rPr lang="en-US" dirty="0"/>
              <a:t>"Test it."</a:t>
            </a:r>
          </a:p>
          <a:p>
            <a:endParaRPr lang="en-US" dirty="0"/>
          </a:p>
          <a:p>
            <a:r>
              <a:rPr lang="en-US" dirty="0"/>
              <a:t>Exactly.</a:t>
            </a:r>
          </a:p>
          <a:p>
            <a:endParaRPr lang="en-US" dirty="0"/>
          </a:p>
          <a:p>
            <a:r>
              <a:rPr lang="en-US" dirty="0"/>
              <a:t>Test:</a:t>
            </a:r>
          </a:p>
          <a:p>
            <a:endParaRPr lang="en-US" dirty="0"/>
          </a:p>
          <a:p>
            <a:r>
              <a:rPr lang="en-US" dirty="0"/>
              <a:t>Create a task.</a:t>
            </a:r>
          </a:p>
          <a:p>
            <a:endParaRPr lang="en-US" dirty="0"/>
          </a:p>
          <a:p>
            <a:r>
              <a:rPr lang="en-US" dirty="0"/>
              <a:t>Refresh.</a:t>
            </a:r>
          </a:p>
          <a:p>
            <a:endParaRPr lang="en-US" dirty="0"/>
          </a:p>
          <a:p>
            <a:r>
              <a:rPr lang="en-US" dirty="0"/>
              <a:t>Close the application.</a:t>
            </a:r>
          </a:p>
          <a:p>
            <a:endParaRPr lang="en-US" dirty="0"/>
          </a:p>
          <a:p>
            <a:r>
              <a:rPr lang="en-US" dirty="0"/>
              <a:t>Reopen it.</a:t>
            </a:r>
          </a:p>
          <a:p>
            <a:endParaRPr lang="en-US" dirty="0"/>
          </a:p>
          <a:p>
            <a:r>
              <a:rPr lang="en-US" dirty="0"/>
              <a:t>Verify the task exists.</a:t>
            </a:r>
          </a:p>
          <a:p>
            <a:endParaRPr lang="en-US" dirty="0"/>
          </a:p>
          <a:p>
            <a:r>
              <a:rPr lang="en-US" dirty="0"/>
              <a:t>Then move forward.</a:t>
            </a:r>
          </a:p>
          <a:p>
            <a:endParaRPr lang="en-US" dirty="0"/>
          </a:p>
          <a:p>
            <a:r>
              <a:rPr lang="en-US" dirty="0"/>
              <a:t>------------------------------------------------------------</a:t>
            </a:r>
          </a:p>
          <a:p>
            <a:endParaRPr lang="en-US" dirty="0"/>
          </a:p>
          <a:p>
            <a:r>
              <a:rPr lang="en-US" dirty="0"/>
              <a:t>TESTING CHECKLIST</a:t>
            </a:r>
          </a:p>
          <a:p>
            <a:endParaRPr lang="en-US" dirty="0"/>
          </a:p>
          <a:p>
            <a:r>
              <a:rPr lang="en-US" dirty="0"/>
              <a:t>For CREATE:</a:t>
            </a:r>
          </a:p>
          <a:p>
            <a:endParaRPr lang="en-US" dirty="0"/>
          </a:p>
          <a:p>
            <a:r>
              <a:rPr lang="en-US" dirty="0"/>
              <a:t>Can I save a task?</a:t>
            </a:r>
          </a:p>
          <a:p>
            <a:endParaRPr lang="en-US" dirty="0"/>
          </a:p>
          <a:p>
            <a:r>
              <a:rPr lang="en-US" dirty="0"/>
              <a:t>For READ:</a:t>
            </a:r>
          </a:p>
          <a:p>
            <a:endParaRPr lang="en-US" dirty="0"/>
          </a:p>
          <a:p>
            <a:r>
              <a:rPr lang="en-US" dirty="0"/>
              <a:t>Can I see saved tasks?</a:t>
            </a:r>
          </a:p>
          <a:p>
            <a:endParaRPr lang="en-US" dirty="0"/>
          </a:p>
          <a:p>
            <a:r>
              <a:rPr lang="en-US" dirty="0"/>
              <a:t>For UPDATE:</a:t>
            </a:r>
          </a:p>
          <a:p>
            <a:endParaRPr lang="en-US" dirty="0"/>
          </a:p>
          <a:p>
            <a:r>
              <a:rPr lang="en-US" dirty="0"/>
              <a:t>Can I change a task?</a:t>
            </a:r>
          </a:p>
          <a:p>
            <a:endParaRPr lang="en-US" dirty="0"/>
          </a:p>
          <a:p>
            <a:r>
              <a:rPr lang="en-US" dirty="0"/>
              <a:t>For DELETE:</a:t>
            </a:r>
          </a:p>
          <a:p>
            <a:endParaRPr lang="en-US" dirty="0"/>
          </a:p>
          <a:p>
            <a:r>
              <a:rPr lang="en-US" dirty="0"/>
              <a:t>Can I remove a task?</a:t>
            </a:r>
          </a:p>
          <a:p>
            <a:endParaRPr lang="en-US" dirty="0"/>
          </a:p>
          <a:p>
            <a:r>
              <a:rPr lang="en-US" dirty="0"/>
              <a:t>Then ask:</a:t>
            </a:r>
          </a:p>
          <a:p>
            <a:endParaRPr lang="en-US" dirty="0"/>
          </a:p>
          <a:p>
            <a:r>
              <a:rPr lang="en-US" dirty="0"/>
              <a:t>"Does the database reflect what the interface shows?"</a:t>
            </a:r>
          </a:p>
          <a:p>
            <a:endParaRPr lang="en-US" dirty="0"/>
          </a:p>
          <a:p>
            <a:r>
              <a:rPr lang="en-US" dirty="0"/>
              <a:t>This is critical.</a:t>
            </a:r>
          </a:p>
          <a:p>
            <a:endParaRPr lang="en-US" dirty="0"/>
          </a:p>
          <a:p>
            <a:r>
              <a:rPr lang="en-US" dirty="0"/>
              <a:t>------------------------------------------------------------</a:t>
            </a:r>
          </a:p>
          <a:p>
            <a:endParaRPr lang="en-US" dirty="0"/>
          </a:p>
          <a:p>
            <a:r>
              <a:rPr lang="en-US" dirty="0"/>
              <a:t>BEST PRACTICES</a:t>
            </a:r>
          </a:p>
          <a:p>
            <a:endParaRPr lang="en-US" dirty="0"/>
          </a:p>
          <a:p>
            <a:r>
              <a:rPr lang="en-US" dirty="0"/>
              <a:t>Point to the right-side panel.</a:t>
            </a:r>
          </a:p>
          <a:p>
            <a:endParaRPr lang="en-US" dirty="0"/>
          </a:p>
          <a:p>
            <a:r>
              <a:rPr lang="en-US" dirty="0"/>
              <a:t>Validate user input.</a:t>
            </a:r>
          </a:p>
          <a:p>
            <a:endParaRPr lang="en-US" dirty="0"/>
          </a:p>
          <a:p>
            <a:r>
              <a:rPr lang="en-US" dirty="0"/>
              <a:t>Handle errors gracefully.</a:t>
            </a:r>
          </a:p>
          <a:p>
            <a:endParaRPr lang="en-US" dirty="0"/>
          </a:p>
          <a:p>
            <a:r>
              <a:rPr lang="en-US" dirty="0"/>
              <a:t>Use asynchronous database operations.</a:t>
            </a:r>
          </a:p>
          <a:p>
            <a:endParaRPr lang="en-US" dirty="0"/>
          </a:p>
          <a:p>
            <a:r>
              <a:rPr lang="en-US" dirty="0"/>
              <a:t>Keep database logic organized.</a:t>
            </a:r>
          </a:p>
          <a:p>
            <a:endParaRPr lang="en-US" dirty="0"/>
          </a:p>
          <a:p>
            <a:r>
              <a:rPr lang="en-US" dirty="0"/>
              <a:t>Test every operation.</a:t>
            </a:r>
          </a:p>
          <a:p>
            <a:endParaRPr lang="en-US" dirty="0"/>
          </a:p>
          <a:p>
            <a:r>
              <a:rPr lang="en-US" dirty="0"/>
              <a:t>Verify results in the database.</a:t>
            </a:r>
          </a:p>
          <a:p>
            <a:endParaRPr lang="en-US" dirty="0"/>
          </a:p>
          <a:p>
            <a:r>
              <a:rPr lang="en-US" dirty="0"/>
              <a:t>Explain:</a:t>
            </a:r>
          </a:p>
          <a:p>
            <a:endParaRPr lang="en-US" dirty="0"/>
          </a:p>
          <a:p>
            <a:r>
              <a:rPr lang="en-US" dirty="0"/>
              <a:t>"CRUD is easy to demonstrate."</a:t>
            </a:r>
          </a:p>
          <a:p>
            <a:endParaRPr lang="en-US" dirty="0"/>
          </a:p>
          <a:p>
            <a:r>
              <a:rPr lang="en-US" dirty="0"/>
              <a:t>"Doing it reliably is engineering."</a:t>
            </a:r>
          </a:p>
          <a:p>
            <a:endParaRPr lang="en-US" dirty="0"/>
          </a:p>
          <a:p>
            <a:r>
              <a:rPr lang="en-US" dirty="0"/>
              <a:t>------------------------------------------------------------</a:t>
            </a:r>
          </a:p>
          <a:p>
            <a:endParaRPr lang="en-US" dirty="0"/>
          </a:p>
          <a:p>
            <a:r>
              <a:rPr lang="en-US" dirty="0"/>
              <a:t>VALIDATION</a:t>
            </a:r>
          </a:p>
          <a:p>
            <a:endParaRPr lang="en-US" dirty="0"/>
          </a:p>
          <a:p>
            <a:r>
              <a:rPr lang="en-US" dirty="0"/>
              <a:t>Briefly introduce the next problem.</a:t>
            </a:r>
          </a:p>
          <a:p>
            <a:endParaRPr lang="en-US" dirty="0"/>
          </a:p>
          <a:p>
            <a:r>
              <a:rPr lang="en-US" dirty="0"/>
              <a:t>Ask:</a:t>
            </a:r>
          </a:p>
          <a:p>
            <a:endParaRPr lang="en-US" dirty="0"/>
          </a:p>
          <a:p>
            <a:r>
              <a:rPr lang="en-US" dirty="0"/>
              <a:t>"What happens if someone submits an empty task title?"</a:t>
            </a:r>
          </a:p>
          <a:p>
            <a:endParaRPr lang="en-US" dirty="0"/>
          </a:p>
          <a:p>
            <a:r>
              <a:rPr lang="en-US" dirty="0"/>
              <a:t>"What if the due date is invalid?"</a:t>
            </a:r>
          </a:p>
          <a:p>
            <a:endParaRPr lang="en-US" dirty="0"/>
          </a:p>
          <a:p>
            <a:r>
              <a:rPr lang="en-US" dirty="0"/>
              <a:t>"What if the database isn't available?"</a:t>
            </a:r>
          </a:p>
          <a:p>
            <a:endParaRPr lang="en-US" dirty="0"/>
          </a:p>
          <a:p>
            <a:r>
              <a:rPr lang="en-US" dirty="0"/>
              <a:t>Explain:</a:t>
            </a:r>
          </a:p>
          <a:p>
            <a:endParaRPr lang="en-US" dirty="0"/>
          </a:p>
          <a:p>
            <a:r>
              <a:rPr lang="en-US" dirty="0"/>
              <a:t>"Those are problems we're going to address next."</a:t>
            </a:r>
          </a:p>
          <a:p>
            <a:endParaRPr lang="en-US" dirty="0"/>
          </a:p>
          <a:p>
            <a:r>
              <a:rPr lang="en-US" dirty="0"/>
              <a:t>Don't solve them yet.</a:t>
            </a:r>
          </a:p>
          <a:p>
            <a:endParaRPr lang="en-US" dirty="0"/>
          </a:p>
          <a:p>
            <a:r>
              <a:rPr lang="en-US" dirty="0"/>
              <a:t>Just establish the need.</a:t>
            </a:r>
          </a:p>
          <a:p>
            <a:endParaRPr lang="en-US" dirty="0"/>
          </a:p>
          <a:p>
            <a:r>
              <a:rPr lang="en-US" dirty="0"/>
              <a:t>------------------------------------------------------------</a:t>
            </a:r>
          </a:p>
          <a:p>
            <a:endParaRPr lang="en-US" dirty="0"/>
          </a:p>
          <a:p>
            <a:r>
              <a:rPr lang="en-US" dirty="0"/>
              <a:t>ENGINEERING INSIGHT</a:t>
            </a:r>
          </a:p>
          <a:p>
            <a:endParaRPr lang="en-US" dirty="0"/>
          </a:p>
          <a:p>
            <a:r>
              <a:rPr lang="en-US" dirty="0"/>
              <a:t>Point to the statement:</a:t>
            </a:r>
          </a:p>
          <a:p>
            <a:endParaRPr lang="en-US" dirty="0"/>
          </a:p>
          <a:p>
            <a:r>
              <a:rPr lang="en-US" dirty="0"/>
              <a:t>"CRUD operations are the heartbeat of data-driven applications."</a:t>
            </a:r>
          </a:p>
          <a:p>
            <a:endParaRPr lang="en-US" dirty="0"/>
          </a:p>
          <a:p>
            <a:r>
              <a:rPr lang="en-US" dirty="0"/>
              <a:t>Explain:</a:t>
            </a:r>
          </a:p>
          <a:p>
            <a:endParaRPr lang="en-US" dirty="0"/>
          </a:p>
          <a:p>
            <a:r>
              <a:rPr lang="en-US" dirty="0"/>
              <a:t>"Without CRUD..."</a:t>
            </a:r>
          </a:p>
          <a:p>
            <a:endParaRPr lang="en-US" dirty="0"/>
          </a:p>
          <a:p>
            <a:r>
              <a:rPr lang="en-US" dirty="0"/>
              <a:t>"Our database is basically storage nobody can use."</a:t>
            </a:r>
          </a:p>
          <a:p>
            <a:endParaRPr lang="en-US" dirty="0"/>
          </a:p>
          <a:p>
            <a:r>
              <a:rPr lang="en-US" dirty="0"/>
              <a:t>"CRUD gives the application the ability to work with that information."</a:t>
            </a:r>
          </a:p>
          <a:p>
            <a:endParaRPr lang="en-US" dirty="0"/>
          </a:p>
          <a:p>
            <a:r>
              <a:rPr lang="en-US" dirty="0"/>
              <a:t>------------------------------------------------------------</a:t>
            </a:r>
          </a:p>
          <a:p>
            <a:endParaRPr lang="en-US" dirty="0"/>
          </a:p>
          <a:p>
            <a:r>
              <a:rPr lang="en-US" dirty="0"/>
              <a:t>ARCHITECTURE CONNECTION</a:t>
            </a:r>
          </a:p>
          <a:p>
            <a:endParaRPr lang="en-US" dirty="0"/>
          </a:p>
          <a:p>
            <a:r>
              <a:rPr lang="en-US" dirty="0"/>
              <a:t>Return to the architecture.</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CONTROLLER</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DATABASE</a:t>
            </a:r>
          </a:p>
          <a:p>
            <a:endParaRPr lang="en-US" dirty="0"/>
          </a:p>
          <a:p>
            <a:r>
              <a:rPr lang="en-US" dirty="0"/>
              <a:t>Then say:</a:t>
            </a:r>
          </a:p>
          <a:p>
            <a:endParaRPr lang="en-US" dirty="0"/>
          </a:p>
          <a:p>
            <a:r>
              <a:rPr lang="en-US" dirty="0"/>
              <a:t>"Every CRUD operation follows this basic pattern."</a:t>
            </a:r>
          </a:p>
          <a:p>
            <a:endParaRPr lang="en-US" dirty="0"/>
          </a:p>
          <a:p>
            <a:r>
              <a:rPr lang="en-US" dirty="0"/>
              <a:t>This reinforces the architecture from earlier lessons.</a:t>
            </a:r>
          </a:p>
          <a:p>
            <a:endParaRPr lang="en-US" dirty="0"/>
          </a:p>
          <a:p>
            <a:r>
              <a:rPr lang="en-US" dirty="0"/>
              <a:t>------------------------------------------------------------</a:t>
            </a:r>
          </a:p>
          <a:p>
            <a:endParaRPr lang="en-US" dirty="0"/>
          </a:p>
          <a:p>
            <a:r>
              <a:rPr lang="en-US" dirty="0"/>
              <a:t>SPRINT CONNECTION</a:t>
            </a:r>
          </a:p>
          <a:p>
            <a:endParaRPr lang="en-US" dirty="0"/>
          </a:p>
          <a:p>
            <a:r>
              <a:rPr lang="en-US" dirty="0"/>
              <a:t>Point to:</a:t>
            </a:r>
          </a:p>
          <a:p>
            <a:endParaRPr lang="en-US" dirty="0"/>
          </a:p>
          <a:p>
            <a:r>
              <a:rPr lang="en-US" dirty="0"/>
              <a:t>⑤ REMEMBER IT</a:t>
            </a:r>
          </a:p>
          <a:p>
            <a:endParaRPr lang="en-US" dirty="0"/>
          </a:p>
          <a:p>
            <a:r>
              <a:rPr lang="en-US" dirty="0"/>
              <a:t>Say:</a:t>
            </a:r>
          </a:p>
          <a:p>
            <a:endParaRPr lang="en-US" dirty="0"/>
          </a:p>
          <a:p>
            <a:r>
              <a:rPr lang="en-US" dirty="0"/>
              <a:t>"This is what Remember It actually means."</a:t>
            </a:r>
          </a:p>
          <a:p>
            <a:endParaRPr lang="en-US" dirty="0"/>
          </a:p>
          <a:p>
            <a:r>
              <a:rPr lang="en-US" dirty="0"/>
              <a:t>Atlas can:</a:t>
            </a:r>
          </a:p>
          <a:p>
            <a:endParaRPr lang="en-US" dirty="0"/>
          </a:p>
          <a:p>
            <a:r>
              <a:rPr lang="en-US" dirty="0"/>
              <a:t>Create information.</a:t>
            </a:r>
          </a:p>
          <a:p>
            <a:endParaRPr lang="en-US" dirty="0"/>
          </a:p>
          <a:p>
            <a:r>
              <a:rPr lang="en-US" dirty="0"/>
              <a:t>Store information.</a:t>
            </a:r>
          </a:p>
          <a:p>
            <a:endParaRPr lang="en-US" dirty="0"/>
          </a:p>
          <a:p>
            <a:r>
              <a:rPr lang="en-US" dirty="0"/>
              <a:t>Retrieve information.</a:t>
            </a:r>
          </a:p>
          <a:p>
            <a:endParaRPr lang="en-US" dirty="0"/>
          </a:p>
          <a:p>
            <a:r>
              <a:rPr lang="en-US" dirty="0"/>
              <a:t>Change information.</a:t>
            </a:r>
          </a:p>
          <a:p>
            <a:endParaRPr lang="en-US" dirty="0"/>
          </a:p>
          <a:p>
            <a:r>
              <a:rPr lang="en-US" dirty="0"/>
              <a:t>Remove information.</a:t>
            </a:r>
          </a:p>
          <a:p>
            <a:endParaRPr lang="en-US" dirty="0"/>
          </a:p>
          <a:p>
            <a:r>
              <a:rPr lang="en-US" dirty="0"/>
              <a:t>"Atlas isn't just displaying data anymore."</a:t>
            </a:r>
          </a:p>
          <a:p>
            <a:endParaRPr lang="en-US" dirty="0"/>
          </a:p>
          <a:p>
            <a:r>
              <a:rPr lang="en-US" dirty="0"/>
              <a:t>"It is managing data."</a:t>
            </a:r>
          </a:p>
          <a:p>
            <a:endParaRPr lang="en-US" dirty="0"/>
          </a:p>
          <a:p>
            <a:r>
              <a:rPr lang="en-US" dirty="0"/>
              <a:t>------------------------------------------------------------</a:t>
            </a:r>
          </a:p>
          <a:p>
            <a:endParaRPr lang="en-US" dirty="0"/>
          </a:p>
          <a:p>
            <a:r>
              <a:rPr lang="en-US" dirty="0"/>
              <a:t>LOOKING AHEAD</a:t>
            </a:r>
          </a:p>
          <a:p>
            <a:endParaRPr lang="en-US" dirty="0"/>
          </a:p>
          <a:p>
            <a:r>
              <a:rPr lang="en-US" dirty="0"/>
              <a:t>Point to:</a:t>
            </a:r>
          </a:p>
          <a:p>
            <a:endParaRPr lang="en-US" dirty="0"/>
          </a:p>
          <a:p>
            <a:r>
              <a:rPr lang="en-US" dirty="0"/>
              <a:t>"Data Validation &amp; Error Handling."</a:t>
            </a:r>
          </a:p>
          <a:p>
            <a:endParaRPr lang="en-US" dirty="0"/>
          </a:p>
          <a:p>
            <a:r>
              <a:rPr lang="en-US" dirty="0"/>
              <a:t>Ask:</a:t>
            </a:r>
          </a:p>
          <a:p>
            <a:endParaRPr lang="en-US" dirty="0"/>
          </a:p>
          <a:p>
            <a:r>
              <a:rPr lang="en-US" dirty="0"/>
              <a:t>"Is our application finished?"</a:t>
            </a:r>
          </a:p>
          <a:p>
            <a:endParaRPr lang="en-US" dirty="0"/>
          </a:p>
          <a:p>
            <a:r>
              <a:rPr lang="en-US" dirty="0"/>
              <a:t>Students:</a:t>
            </a:r>
          </a:p>
          <a:p>
            <a:endParaRPr lang="en-US" dirty="0"/>
          </a:p>
          <a:p>
            <a:r>
              <a:rPr lang="en-US" dirty="0"/>
              <a:t>"No."</a:t>
            </a:r>
          </a:p>
          <a:p>
            <a:endParaRPr lang="en-US" dirty="0"/>
          </a:p>
          <a:p>
            <a:r>
              <a:rPr lang="en-US" dirty="0"/>
              <a:t>"Why?"</a:t>
            </a:r>
          </a:p>
          <a:p>
            <a:endParaRPr lang="en-US" dirty="0"/>
          </a:p>
          <a:p>
            <a:r>
              <a:rPr lang="en-US" dirty="0"/>
              <a:t>Possible answers:</a:t>
            </a:r>
          </a:p>
          <a:p>
            <a:endParaRPr lang="en-US" dirty="0"/>
          </a:p>
          <a:p>
            <a:r>
              <a:rPr lang="en-US" dirty="0"/>
              <a:t>"Users can enter bad information."</a:t>
            </a:r>
          </a:p>
          <a:p>
            <a:endParaRPr lang="en-US" dirty="0"/>
          </a:p>
          <a:p>
            <a:r>
              <a:rPr lang="en-US" dirty="0"/>
              <a:t>"Errors can happen."</a:t>
            </a:r>
          </a:p>
          <a:p>
            <a:endParaRPr lang="en-US" dirty="0"/>
          </a:p>
          <a:p>
            <a:r>
              <a:rPr lang="en-US" dirty="0"/>
              <a:t>"The database could be unavailable."</a:t>
            </a:r>
          </a:p>
          <a:p>
            <a:endParaRPr lang="en-US" dirty="0"/>
          </a:p>
          <a:p>
            <a:r>
              <a:rPr lang="en-US" dirty="0"/>
              <a:t>Exactly.</a:t>
            </a:r>
          </a:p>
          <a:p>
            <a:endParaRPr lang="en-US" dirty="0"/>
          </a:p>
          <a:p>
            <a:r>
              <a:rPr lang="en-US" dirty="0"/>
              <a:t>"Next..."</a:t>
            </a:r>
          </a:p>
          <a:p>
            <a:endParaRPr lang="en-US" dirty="0"/>
          </a:p>
          <a:p>
            <a:r>
              <a:rPr lang="en-US" dirty="0"/>
              <a:t>"We make Atlas more reliable."</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"Today..."</a:t>
            </a:r>
          </a:p>
          <a:p>
            <a:endParaRPr lang="en-US" dirty="0"/>
          </a:p>
          <a:p>
            <a:r>
              <a:rPr lang="en-US" dirty="0"/>
              <a:t>"You taught Atlas how to remember."</a:t>
            </a:r>
          </a:p>
          <a:p>
            <a:endParaRPr lang="en-US" dirty="0"/>
          </a:p>
          <a:p>
            <a:r>
              <a:rPr lang="en-US" dirty="0"/>
              <a:t>"You taught it how to retrieve."</a:t>
            </a:r>
          </a:p>
          <a:p>
            <a:endParaRPr lang="en-US" dirty="0"/>
          </a:p>
          <a:p>
            <a:r>
              <a:rPr lang="en-US" dirty="0"/>
              <a:t>"You taught it how to change."</a:t>
            </a:r>
          </a:p>
          <a:p>
            <a:endParaRPr lang="en-US" dirty="0"/>
          </a:p>
          <a:p>
            <a:r>
              <a:rPr lang="en-US" dirty="0"/>
              <a:t>"And you taught it how to forget."</a:t>
            </a:r>
          </a:p>
          <a:p>
            <a:endParaRPr lang="en-US" dirty="0"/>
          </a:p>
          <a:p>
            <a:r>
              <a:rPr lang="en-US" dirty="0"/>
              <a:t>Pause.</a:t>
            </a:r>
          </a:p>
          <a:p>
            <a:endParaRPr lang="en-US" dirty="0"/>
          </a:p>
          <a:p>
            <a:r>
              <a:rPr lang="en-US" dirty="0"/>
              <a:t>"That's CRUD."</a:t>
            </a:r>
          </a:p>
          <a:p>
            <a:endParaRPr lang="en-US" dirty="0"/>
          </a:p>
          <a:p>
            <a:r>
              <a:rPr lang="en-US" dirty="0"/>
              <a:t>Then:</a:t>
            </a:r>
          </a:p>
          <a:p>
            <a:endParaRPr lang="en-US" dirty="0"/>
          </a:p>
          <a:p>
            <a:r>
              <a:rPr lang="en-US" dirty="0"/>
              <a:t>"But professional software isn't just about what happens when</a:t>
            </a:r>
          </a:p>
          <a:p>
            <a:r>
              <a:rPr lang="en-US" dirty="0"/>
              <a:t>everything goes right."</a:t>
            </a:r>
          </a:p>
          <a:p>
            <a:endParaRPr lang="en-US" dirty="0"/>
          </a:p>
          <a:p>
            <a:r>
              <a:rPr lang="en-US" dirty="0"/>
              <a:t>"Next..."</a:t>
            </a:r>
          </a:p>
          <a:p>
            <a:endParaRPr lang="en-US" dirty="0"/>
          </a:p>
          <a:p>
            <a:r>
              <a:rPr lang="en-US" dirty="0"/>
              <a:t>"We learn what happens when things go wrong."</a:t>
            </a:r>
          </a:p>
          <a:p>
            <a:endParaRPr lang="en-US" dirty="0"/>
          </a:p>
          <a:p>
            <a:r>
              <a:rPr lang="en-US" dirty="0"/>
              <a:t>============================================================</a:t>
            </a:r>
          </a:p>
          <a:p>
            <a:endParaRPr lang="en-US" dirty="0"/>
          </a:p>
          <a:p>
            <a:r>
              <a:rPr lang="en-US" dirty="0"/>
              <a:t>ESTIMATED TIME</a:t>
            </a:r>
          </a:p>
          <a:p>
            <a:endParaRPr lang="en-US" dirty="0"/>
          </a:p>
          <a:p>
            <a:r>
              <a:rPr lang="en-US" dirty="0"/>
              <a:t>CRUD Introduction...................10 minutes</a:t>
            </a:r>
          </a:p>
          <a:p>
            <a:endParaRPr lang="en-US" dirty="0"/>
          </a:p>
          <a:p>
            <a:r>
              <a:rPr lang="en-US" dirty="0"/>
              <a:t>Create..............................10 minutes</a:t>
            </a:r>
          </a:p>
          <a:p>
            <a:endParaRPr lang="en-US" dirty="0"/>
          </a:p>
          <a:p>
            <a:r>
              <a:rPr lang="en-US" dirty="0"/>
              <a:t>Read.................................10 minutes</a:t>
            </a:r>
          </a:p>
          <a:p>
            <a:endParaRPr lang="en-US" dirty="0"/>
          </a:p>
          <a:p>
            <a:r>
              <a:rPr lang="en-US" dirty="0"/>
              <a:t>Update...............................10 minutes</a:t>
            </a:r>
          </a:p>
          <a:p>
            <a:endParaRPr lang="en-US" dirty="0"/>
          </a:p>
          <a:p>
            <a:r>
              <a:rPr lang="en-US" dirty="0"/>
              <a:t>Delete................................8 minutes</a:t>
            </a:r>
          </a:p>
          <a:p>
            <a:endParaRPr lang="en-US" dirty="0"/>
          </a:p>
          <a:p>
            <a:r>
              <a:rPr lang="en-US" dirty="0"/>
              <a:t>Hands-on Implementation.............15 minutes</a:t>
            </a:r>
          </a:p>
          <a:p>
            <a:endParaRPr lang="en-US" dirty="0"/>
          </a:p>
          <a:p>
            <a:r>
              <a:rPr lang="en-US" dirty="0"/>
              <a:t>Testing &amp; Discussion..................7 minutes</a:t>
            </a:r>
          </a:p>
          <a:p>
            <a:endParaRPr lang="en-US" dirty="0"/>
          </a:p>
          <a:p>
            <a:r>
              <a:rPr lang="en-US" dirty="0"/>
              <a:t>TOTAL...............................70 minutes</a:t>
            </a:r>
          </a:p>
          <a:p>
            <a:endParaRPr lang="en-US" dirty="0"/>
          </a:p>
          <a:p>
            <a:r>
              <a:rPr lang="en-US" dirty="0"/>
              <a:t>============================================================</a:t>
            </a:r>
          </a:p>
          <a:p>
            <a:endParaRPr lang="en-US" dirty="0"/>
          </a:p>
          <a:p>
            <a:r>
              <a:rPr lang="en-US" dirty="0"/>
              <a:t>INSTRUCTOR NOTES</a:t>
            </a:r>
          </a:p>
          <a:p>
            <a:endParaRPr lang="en-US" dirty="0"/>
          </a:p>
          <a:p>
            <a:r>
              <a:rPr lang="en-US" dirty="0"/>
              <a:t>This should be a highly hands-on lesson.</a:t>
            </a:r>
          </a:p>
          <a:p>
            <a:endParaRPr lang="en-US" dirty="0"/>
          </a:p>
          <a:p>
            <a:r>
              <a:rPr lang="en-US" dirty="0"/>
              <a:t>Demonstrate CREATE first.</a:t>
            </a:r>
          </a:p>
          <a:p>
            <a:endParaRPr lang="en-US" dirty="0"/>
          </a:p>
          <a:p>
            <a:r>
              <a:rPr lang="en-US" dirty="0"/>
              <a:t>Have students implement it.</a:t>
            </a:r>
          </a:p>
          <a:p>
            <a:endParaRPr lang="en-US" dirty="0"/>
          </a:p>
          <a:p>
            <a:r>
              <a:rPr lang="en-US" dirty="0"/>
              <a:t>Stop.</a:t>
            </a:r>
          </a:p>
          <a:p>
            <a:endParaRPr lang="en-US" dirty="0"/>
          </a:p>
          <a:p>
            <a:r>
              <a:rPr lang="en-US" dirty="0"/>
              <a:t>Test it.</a:t>
            </a:r>
          </a:p>
          <a:p>
            <a:endParaRPr lang="en-US" dirty="0"/>
          </a:p>
          <a:p>
            <a:r>
              <a:rPr lang="en-US" dirty="0"/>
              <a:t>Then demonstrate READ.</a:t>
            </a:r>
          </a:p>
          <a:p>
            <a:endParaRPr lang="en-US" dirty="0"/>
          </a:p>
          <a:p>
            <a:r>
              <a:rPr lang="en-US" dirty="0"/>
              <a:t>Repeat.</a:t>
            </a:r>
          </a:p>
          <a:p>
            <a:endParaRPr lang="en-US" dirty="0"/>
          </a:p>
          <a:p>
            <a:r>
              <a:rPr lang="en-US" dirty="0"/>
              <a:t>Do not give students all four operations at once and expect them to</a:t>
            </a:r>
          </a:p>
          <a:p>
            <a:r>
              <a:rPr lang="en-US" dirty="0"/>
              <a:t>copy everything.</a:t>
            </a:r>
          </a:p>
          <a:p>
            <a:endParaRPr lang="en-US" dirty="0"/>
          </a:p>
          <a:p>
            <a:r>
              <a:rPr lang="en-US" dirty="0"/>
              <a:t>The goal is to develop an iterative engineering process:</a:t>
            </a:r>
          </a:p>
          <a:p>
            <a:endParaRPr lang="en-US" dirty="0"/>
          </a:p>
          <a:p>
            <a:r>
              <a:rPr lang="en-US" dirty="0"/>
              <a:t>BUILD</a:t>
            </a:r>
          </a:p>
          <a:p>
            <a:endParaRPr lang="en-US" dirty="0"/>
          </a:p>
          <a:p>
            <a:r>
              <a:rPr lang="en-US" dirty="0"/>
              <a:t>↓</a:t>
            </a:r>
          </a:p>
          <a:p>
            <a:endParaRPr lang="en-US" dirty="0"/>
          </a:p>
          <a:p>
            <a:r>
              <a:rPr lang="en-US" dirty="0"/>
              <a:t>TEST</a:t>
            </a:r>
          </a:p>
          <a:p>
            <a:endParaRPr lang="en-US" dirty="0"/>
          </a:p>
          <a:p>
            <a:r>
              <a:rPr lang="en-US" dirty="0"/>
              <a:t>↓</a:t>
            </a:r>
          </a:p>
          <a:p>
            <a:endParaRPr lang="en-US" dirty="0"/>
          </a:p>
          <a:p>
            <a:r>
              <a:rPr lang="en-US" dirty="0"/>
              <a:t>VERIFY</a:t>
            </a:r>
          </a:p>
          <a:p>
            <a:endParaRPr lang="en-US" dirty="0"/>
          </a:p>
          <a:p>
            <a:r>
              <a:rPr lang="en-US" dirty="0"/>
              <a:t>↓</a:t>
            </a:r>
          </a:p>
          <a:p>
            <a:endParaRPr lang="en-US" dirty="0"/>
          </a:p>
          <a:p>
            <a:r>
              <a:rPr lang="en-US" dirty="0"/>
              <a:t>CONTINUE</a:t>
            </a:r>
          </a:p>
          <a:p>
            <a:endParaRPr lang="en-US" dirty="0"/>
          </a:p>
          <a:p>
            <a:r>
              <a:rPr lang="en-US" dirty="0"/>
              <a:t>------------------------------------------------------------</a:t>
            </a:r>
          </a:p>
          <a:p>
            <a:endParaRPr lang="en-US" dirty="0"/>
          </a:p>
          <a:p>
            <a:r>
              <a:rPr lang="en-US" dirty="0"/>
              <a:t>IMPORTANT TEACHING POINT</a:t>
            </a:r>
          </a:p>
          <a:p>
            <a:endParaRPr lang="en-US" dirty="0"/>
          </a:p>
          <a:p>
            <a:r>
              <a:rPr lang="en-US" dirty="0"/>
              <a:t>Students may become frustrated when EF Core code doesn't immediately</a:t>
            </a:r>
          </a:p>
          <a:p>
            <a:r>
              <a:rPr lang="en-US" dirty="0"/>
              <a:t>work.</a:t>
            </a:r>
          </a:p>
          <a:p>
            <a:endParaRPr lang="en-US" dirty="0"/>
          </a:p>
          <a:p>
            <a:r>
              <a:rPr lang="en-US" dirty="0"/>
              <a:t>That's useful.</a:t>
            </a:r>
          </a:p>
          <a:p>
            <a:endParaRPr lang="en-US" dirty="0"/>
          </a:p>
          <a:p>
            <a:r>
              <a:rPr lang="en-US" dirty="0"/>
              <a:t>Ask:</a:t>
            </a:r>
          </a:p>
          <a:p>
            <a:endParaRPr lang="en-US" dirty="0"/>
          </a:p>
          <a:p>
            <a:r>
              <a:rPr lang="en-US" dirty="0"/>
              <a:t>"What did you expect?"</a:t>
            </a:r>
          </a:p>
          <a:p>
            <a:endParaRPr lang="en-US" dirty="0"/>
          </a:p>
          <a:p>
            <a:r>
              <a:rPr lang="en-US" dirty="0"/>
              <a:t>"What actually happened?"</a:t>
            </a:r>
          </a:p>
          <a:p>
            <a:endParaRPr lang="en-US" dirty="0"/>
          </a:p>
          <a:p>
            <a:r>
              <a:rPr lang="en-US" dirty="0"/>
              <a:t>"Did the controller receive the request?"</a:t>
            </a:r>
          </a:p>
          <a:p>
            <a:endParaRPr lang="en-US" dirty="0"/>
          </a:p>
          <a:p>
            <a:r>
              <a:rPr lang="en-US" dirty="0"/>
              <a:t>"Did EF Core execute?"</a:t>
            </a:r>
          </a:p>
          <a:p>
            <a:endParaRPr lang="en-US" dirty="0"/>
          </a:p>
          <a:p>
            <a:r>
              <a:rPr lang="en-US" dirty="0"/>
              <a:t>"Did </a:t>
            </a:r>
            <a:r>
              <a:rPr lang="en-US" dirty="0" err="1"/>
              <a:t>SaveChangesAsync</a:t>
            </a:r>
            <a:r>
              <a:rPr lang="en-US" dirty="0"/>
              <a:t>() run?"</a:t>
            </a:r>
          </a:p>
          <a:p>
            <a:endParaRPr lang="en-US" dirty="0"/>
          </a:p>
          <a:p>
            <a:r>
              <a:rPr lang="en-US" dirty="0"/>
              <a:t>"Does the record exist in the database?"</a:t>
            </a:r>
          </a:p>
          <a:p>
            <a:endParaRPr lang="en-US" dirty="0"/>
          </a:p>
          <a:p>
            <a:r>
              <a:rPr lang="en-US" dirty="0"/>
              <a:t>Teach debugging through the actual application.</a:t>
            </a:r>
          </a:p>
          <a:p>
            <a:endParaRPr lang="en-US" dirty="0"/>
          </a:p>
          <a:p>
            <a:r>
              <a:rPr lang="en-US" dirty="0"/>
              <a:t>------------------------------------------------------------</a:t>
            </a:r>
          </a:p>
          <a:p>
            <a:endParaRPr lang="en-US" dirty="0"/>
          </a:p>
          <a:p>
            <a:r>
              <a:rPr lang="en-US" dirty="0"/>
              <a:t>COMMON MISCONCEPTIONS</a:t>
            </a:r>
          </a:p>
          <a:p>
            <a:endParaRPr lang="en-US" dirty="0"/>
          </a:p>
          <a:p>
            <a:r>
              <a:rPr lang="en-US" dirty="0"/>
              <a:t>Changing a C# object does not automatically save the database.</a:t>
            </a:r>
          </a:p>
          <a:p>
            <a:endParaRPr lang="en-US" dirty="0"/>
          </a:p>
          <a:p>
            <a:r>
              <a:rPr lang="en-US" dirty="0"/>
              <a:t>Displaying a task does not mean it was persisted.</a:t>
            </a:r>
          </a:p>
          <a:p>
            <a:endParaRPr lang="en-US" dirty="0"/>
          </a:p>
          <a:p>
            <a:r>
              <a:rPr lang="en-US" dirty="0"/>
              <a:t>Deleting an item from a View does not automatically delete the database</a:t>
            </a:r>
          </a:p>
          <a:p>
            <a:r>
              <a:rPr lang="en-US" dirty="0"/>
              <a:t>record.</a:t>
            </a:r>
          </a:p>
          <a:p>
            <a:endParaRPr lang="en-US" dirty="0"/>
          </a:p>
          <a:p>
            <a:r>
              <a:rPr lang="en-US" dirty="0"/>
              <a:t>EF Core communicates with the database; it does not replace the</a:t>
            </a:r>
          </a:p>
          <a:p>
            <a:r>
              <a:rPr lang="en-US" dirty="0"/>
              <a:t>database.</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CREATE</a:t>
            </a:r>
          </a:p>
          <a:p>
            <a:r>
              <a:rPr lang="en-US" dirty="0"/>
              <a:t>= Add</a:t>
            </a:r>
          </a:p>
          <a:p>
            <a:endParaRPr lang="en-US" dirty="0"/>
          </a:p>
          <a:p>
            <a:r>
              <a:rPr lang="en-US" dirty="0"/>
              <a:t>READ</a:t>
            </a:r>
          </a:p>
          <a:p>
            <a:r>
              <a:rPr lang="en-US" dirty="0"/>
              <a:t>= Retrieve</a:t>
            </a:r>
          </a:p>
          <a:p>
            <a:endParaRPr lang="en-US" dirty="0"/>
          </a:p>
          <a:p>
            <a:r>
              <a:rPr lang="en-US" dirty="0"/>
              <a:t>UPDATE</a:t>
            </a:r>
          </a:p>
          <a:p>
            <a:r>
              <a:rPr lang="en-US" dirty="0"/>
              <a:t>= Change</a:t>
            </a:r>
          </a:p>
          <a:p>
            <a:endParaRPr lang="en-US" dirty="0"/>
          </a:p>
          <a:p>
            <a:r>
              <a:rPr lang="en-US" dirty="0"/>
              <a:t>DELETE</a:t>
            </a:r>
          </a:p>
          <a:p>
            <a:r>
              <a:rPr lang="en-US" dirty="0"/>
              <a:t>= Remove</a:t>
            </a:r>
          </a:p>
          <a:p>
            <a:endParaRPr lang="en-US" dirty="0"/>
          </a:p>
          <a:p>
            <a:r>
              <a:rPr lang="en-US" dirty="0"/>
              <a:t>Then:</a:t>
            </a:r>
          </a:p>
          <a:p>
            <a:endParaRPr lang="en-US" dirty="0"/>
          </a:p>
          <a:p>
            <a:r>
              <a:rPr lang="en-US" dirty="0"/>
              <a:t>SAVE</a:t>
            </a:r>
          </a:p>
          <a:p>
            <a:endParaRPr lang="en-US" dirty="0"/>
          </a:p>
          <a:p>
            <a:r>
              <a:rPr lang="en-US" dirty="0"/>
              <a:t>= Persist</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"Atlas </a:t>
            </a:r>
            <a:r>
              <a:rPr lang="en-US" dirty="0" err="1"/>
              <a:t>TaskFlow</a:t>
            </a:r>
            <a:r>
              <a:rPr lang="en-US" dirty="0"/>
              <a:t> can now work with real data."</a:t>
            </a:r>
          </a:p>
          <a:p>
            <a:endParaRPr lang="en-US" dirty="0"/>
          </a:p>
          <a:p>
            <a:r>
              <a:rPr lang="en-US" dirty="0"/>
              <a:t>"That's a major milestone."</a:t>
            </a:r>
          </a:p>
          <a:p>
            <a:endParaRPr lang="en-US" dirty="0"/>
          </a:p>
          <a:p>
            <a:r>
              <a:rPr lang="en-US" dirty="0"/>
              <a:t>"But reliable software isn't just about successful operations."</a:t>
            </a:r>
          </a:p>
          <a:p>
            <a:endParaRPr lang="en-US" dirty="0"/>
          </a:p>
          <a:p>
            <a:r>
              <a:rPr lang="en-US" dirty="0"/>
              <a:t>"Next..."</a:t>
            </a:r>
          </a:p>
          <a:p>
            <a:endParaRPr lang="en-US" dirty="0"/>
          </a:p>
          <a:p>
            <a:r>
              <a:rPr lang="en-US" dirty="0"/>
              <a:t>"We teach Atlas what to do when things go wrong."</a:t>
            </a:r>
          </a:p>
          <a:p>
            <a:endParaRPr lang="en-US" dirty="0"/>
          </a:p>
          <a:p>
            <a:r>
              <a:rPr lang="en-US" dirty="0"/>
              <a:t>============================================================</a:t>
            </a:r>
          </a:p>
          <a:p>
            <a:r>
              <a:rPr lang="en-US" b="1" dirty="0"/>
              <a:t>1. Don't teach CRUD as four methods</a:t>
            </a:r>
          </a:p>
          <a:p>
            <a:r>
              <a:rPr lang="en-US" dirty="0"/>
              <a:t>This is important.</a:t>
            </a:r>
          </a:p>
          <a:p>
            <a:r>
              <a:rPr lang="en-US" dirty="0"/>
              <a:t>Students shouldn't leave thinking:</a:t>
            </a:r>
          </a:p>
          <a:p>
            <a:r>
              <a:rPr lang="en-US" sz="1200" kern="1200" dirty="0">
                <a:solidFill>
                  <a:schemeClr val="tx1"/>
                </a:solidFill>
                <a:latin typeface="+mn-lt"/>
                <a:ea typeface="+mn-ea"/>
                <a:cs typeface="+mn-cs"/>
              </a:rPr>
              <a:t>Add()</a:t>
            </a:r>
            <a:r>
              <a:rPr lang="en-US" dirty="0"/>
              <a:t> = Create</a:t>
            </a:r>
            <a:br>
              <a:rPr lang="en-US" dirty="0"/>
            </a:br>
            <a:r>
              <a:rPr lang="en-US" sz="1200" kern="1200" dirty="0" err="1">
                <a:solidFill>
                  <a:schemeClr val="tx1"/>
                </a:solidFill>
                <a:latin typeface="+mn-lt"/>
                <a:ea typeface="+mn-ea"/>
                <a:cs typeface="+mn-cs"/>
              </a:rPr>
              <a:t>ToList</a:t>
            </a:r>
            <a:r>
              <a:rPr lang="en-US" sz="1200" kern="1200" dirty="0">
                <a:solidFill>
                  <a:schemeClr val="tx1"/>
                </a:solidFill>
                <a:latin typeface="+mn-lt"/>
                <a:ea typeface="+mn-ea"/>
                <a:cs typeface="+mn-cs"/>
              </a:rPr>
              <a:t>()</a:t>
            </a:r>
            <a:r>
              <a:rPr lang="en-US" dirty="0"/>
              <a:t> = Read</a:t>
            </a:r>
            <a:br>
              <a:rPr lang="en-US" dirty="0"/>
            </a:br>
            <a:r>
              <a:rPr lang="en-US" sz="1200" kern="1200" dirty="0">
                <a:solidFill>
                  <a:schemeClr val="tx1"/>
                </a:solidFill>
                <a:latin typeface="+mn-lt"/>
                <a:ea typeface="+mn-ea"/>
                <a:cs typeface="+mn-cs"/>
              </a:rPr>
              <a:t>Update()</a:t>
            </a:r>
            <a:r>
              <a:rPr lang="en-US" dirty="0"/>
              <a:t> = Update</a:t>
            </a:r>
            <a:br>
              <a:rPr lang="en-US" dirty="0"/>
            </a:br>
            <a:r>
              <a:rPr lang="en-US" sz="1200" kern="1200" dirty="0">
                <a:solidFill>
                  <a:schemeClr val="tx1"/>
                </a:solidFill>
                <a:latin typeface="+mn-lt"/>
                <a:ea typeface="+mn-ea"/>
                <a:cs typeface="+mn-cs"/>
              </a:rPr>
              <a:t>Remove()</a:t>
            </a:r>
            <a:r>
              <a:rPr lang="en-US" dirty="0"/>
              <a:t> = Delete</a:t>
            </a:r>
          </a:p>
          <a:p>
            <a:r>
              <a:rPr lang="en-US" dirty="0"/>
              <a:t>That's syntax memorization.</a:t>
            </a:r>
          </a:p>
          <a:p>
            <a:r>
              <a:rPr lang="en-US" dirty="0"/>
              <a:t>Instead:</a:t>
            </a:r>
          </a:p>
          <a:p>
            <a:r>
              <a:rPr lang="en-US" b="1" dirty="0"/>
              <a:t>User action → application logic → EF Core → database → result</a:t>
            </a:r>
            <a:endParaRPr lang="en-US" dirty="0"/>
          </a:p>
          <a:p>
            <a:r>
              <a:rPr lang="en-US" dirty="0"/>
              <a:t>The methods are simply the tools that implement that process.</a:t>
            </a:r>
          </a:p>
          <a:p>
            <a:br>
              <a:rPr lang="en-US" dirty="0"/>
            </a:br>
            <a:endParaRPr lang="en-US" dirty="0"/>
          </a:p>
          <a:p>
            <a:r>
              <a:rPr lang="en-US" b="1" dirty="0"/>
              <a:t>2. </a:t>
            </a:r>
            <a:r>
              <a:rPr lang="en-US" sz="1200" b="1" kern="1200" dirty="0" err="1">
                <a:solidFill>
                  <a:schemeClr val="tx1"/>
                </a:solidFill>
                <a:latin typeface="+mn-lt"/>
                <a:ea typeface="+mn-ea"/>
                <a:cs typeface="+mn-cs"/>
              </a:rPr>
              <a:t>SaveChangesAsync</a:t>
            </a:r>
            <a:r>
              <a:rPr lang="en-US" sz="1200" b="1" kern="1200" dirty="0">
                <a:solidFill>
                  <a:schemeClr val="tx1"/>
                </a:solidFill>
                <a:latin typeface="+mn-lt"/>
                <a:ea typeface="+mn-ea"/>
                <a:cs typeface="+mn-cs"/>
              </a:rPr>
              <a:t>()</a:t>
            </a:r>
            <a:r>
              <a:rPr lang="en-US" b="1" dirty="0"/>
              <a:t> deserves special attention</a:t>
            </a:r>
          </a:p>
          <a:p>
            <a:r>
              <a:rPr lang="en-US" dirty="0"/>
              <a:t>This is a fantastic teaching moment.</a:t>
            </a:r>
          </a:p>
          <a:p>
            <a:r>
              <a:rPr lang="en-US" dirty="0"/>
              <a:t>Students will eventually change a property in a C# object and wonder:</a:t>
            </a:r>
          </a:p>
          <a:p>
            <a:r>
              <a:rPr lang="en-US" i="1" dirty="0"/>
              <a:t>"Why didn't the database change?"</a:t>
            </a:r>
            <a:endParaRPr lang="en-US" dirty="0"/>
          </a:p>
          <a:p>
            <a:r>
              <a:rPr lang="en-US" dirty="0"/>
              <a:t>That's because changing an object and </a:t>
            </a:r>
            <a:r>
              <a:rPr lang="en-US" b="1" dirty="0"/>
              <a:t>persisting the change</a:t>
            </a:r>
            <a:r>
              <a:rPr lang="en-US" dirty="0"/>
              <a:t> are two different things.</a:t>
            </a:r>
          </a:p>
          <a:p>
            <a:r>
              <a:rPr lang="en-US" dirty="0"/>
              <a:t>That's an actual engineering concept—not just an EF Core trick.</a:t>
            </a:r>
          </a:p>
          <a:p>
            <a:br>
              <a:rPr lang="en-US" dirty="0"/>
            </a:br>
            <a:endParaRPr lang="en-US" dirty="0"/>
          </a:p>
          <a:p>
            <a:r>
              <a:rPr lang="en-US" b="1" dirty="0"/>
              <a:t>3. Make the "It remembered!" moment happen</a:t>
            </a:r>
          </a:p>
          <a:p>
            <a:r>
              <a:rPr lang="en-US" dirty="0"/>
              <a:t>I would actually make this a mini-classroom celebration.</a:t>
            </a:r>
          </a:p>
          <a:p>
            <a:r>
              <a:rPr lang="en-US" dirty="0"/>
              <a:t>Have everyone:</a:t>
            </a:r>
          </a:p>
          <a:p>
            <a:pPr lvl="0"/>
            <a:r>
              <a:rPr lang="en-US" dirty="0"/>
              <a:t>Create a task. </a:t>
            </a:r>
          </a:p>
          <a:p>
            <a:pPr lvl="0"/>
            <a:r>
              <a:rPr lang="en-US" dirty="0"/>
              <a:t>Save it. </a:t>
            </a:r>
          </a:p>
          <a:p>
            <a:pPr lvl="0"/>
            <a:r>
              <a:rPr lang="en-US" dirty="0"/>
              <a:t>Close the browser. </a:t>
            </a:r>
          </a:p>
          <a:p>
            <a:pPr lvl="0"/>
            <a:r>
              <a:rPr lang="en-US" dirty="0"/>
              <a:t>Reopen Atlas. </a:t>
            </a:r>
          </a:p>
          <a:p>
            <a:pPr lvl="0"/>
            <a:r>
              <a:rPr lang="en-US" dirty="0"/>
              <a:t>Find the task.</a:t>
            </a:r>
          </a:p>
          <a:p>
            <a:endParaRPr lang="en-US" dirty="0"/>
          </a:p>
        </p:txBody>
      </p:sp>
      <p:sp>
        <p:nvSpPr>
          <p:cNvPr id="4" name="Slide Number Placeholder 3"/>
          <p:cNvSpPr>
            <a:spLocks noGrp="1"/>
          </p:cNvSpPr>
          <p:nvPr>
            <p:ph type="sldNum" sz="quarter" idx="5"/>
          </p:nvPr>
        </p:nvSpPr>
        <p:spPr/>
        <p:txBody>
          <a:bodyPr/>
          <a:lstStyle/>
          <a:p>
            <a:fld id="{BFAFFB2A-FA1B-453E-A83D-1533B3FE308E}" type="slidenum">
              <a:rPr lang="en-US" smtClean="0"/>
              <a:t>6</a:t>
            </a:fld>
            <a:endParaRPr lang="en-US"/>
          </a:p>
        </p:txBody>
      </p:sp>
    </p:spTree>
    <p:extLst>
      <p:ext uri="{BB962C8B-B14F-4D97-AF65-F5344CB8AC3E}">
        <p14:creationId xmlns:p14="http://schemas.microsoft.com/office/powerpoint/2010/main" val="3757046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DATA VALIDATION &amp; ERROR HANDLING</a:t>
            </a:r>
          </a:p>
          <a:p>
            <a:endParaRPr lang="en-US" dirty="0"/>
          </a:p>
          <a:p>
            <a:r>
              <a:rPr lang="en-US" dirty="0"/>
              <a:t>============================================================</a:t>
            </a:r>
          </a:p>
          <a:p>
            <a:endParaRPr lang="en-US" dirty="0"/>
          </a:p>
          <a:p>
            <a:r>
              <a:rPr lang="en-US" dirty="0"/>
              <a:t>SLIDE PURPOSE</a:t>
            </a:r>
          </a:p>
          <a:p>
            <a:endParaRPr lang="en-US" dirty="0"/>
          </a:p>
          <a:p>
            <a:r>
              <a:rPr lang="en-US" dirty="0"/>
              <a:t>Teach students how to protect the quality of application data and</a:t>
            </a:r>
          </a:p>
          <a:p>
            <a:r>
              <a:rPr lang="en-US" dirty="0"/>
              <a:t>respond appropriately when something goes wrong.</a:t>
            </a:r>
          </a:p>
          <a:p>
            <a:endParaRPr lang="en-US" dirty="0"/>
          </a:p>
          <a:p>
            <a:r>
              <a:rPr lang="en-US" dirty="0"/>
              <a:t>Students should understand:</a:t>
            </a:r>
          </a:p>
          <a:p>
            <a:endParaRPr lang="en-US" dirty="0"/>
          </a:p>
          <a:p>
            <a:r>
              <a:rPr lang="en-US" dirty="0"/>
              <a:t>• Why validation is necessary</a:t>
            </a:r>
          </a:p>
          <a:p>
            <a:r>
              <a:rPr lang="en-US" dirty="0"/>
              <a:t>• The difference between client-side and server-side validation</a:t>
            </a:r>
          </a:p>
          <a:p>
            <a:r>
              <a:rPr lang="en-US" dirty="0"/>
              <a:t>• How ASP.NET Core model validation supports the application</a:t>
            </a:r>
          </a:p>
          <a:p>
            <a:r>
              <a:rPr lang="en-US" dirty="0"/>
              <a:t>• How to handle expected database/application errors</a:t>
            </a:r>
          </a:p>
          <a:p>
            <a:r>
              <a:rPr lang="en-US" dirty="0"/>
              <a:t>• Why users should receive helpful messages</a:t>
            </a:r>
          </a:p>
          <a:p>
            <a:r>
              <a:rPr lang="en-US" dirty="0"/>
              <a:t>• Why technical error details should not be exposed to users</a:t>
            </a:r>
          </a:p>
          <a:p>
            <a:endParaRPr lang="en-US" dirty="0"/>
          </a:p>
          <a:p>
            <a:r>
              <a:rPr lang="en-US" dirty="0"/>
              <a:t>The goal is reliable application behavior.</a:t>
            </a:r>
          </a:p>
          <a:p>
            <a:endParaRPr lang="en-US" dirty="0"/>
          </a:p>
          <a:p>
            <a:r>
              <a:rPr lang="en-US" dirty="0"/>
              <a:t>This is NOT an advanced security or exception-handling course.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 have reached an important point."</a:t>
            </a:r>
          </a:p>
          <a:p>
            <a:endParaRPr lang="en-US" dirty="0"/>
          </a:p>
          <a:p>
            <a:r>
              <a:rPr lang="en-US" dirty="0"/>
              <a:t>"Atlas </a:t>
            </a:r>
            <a:r>
              <a:rPr lang="en-US" dirty="0" err="1"/>
              <a:t>TaskFlow</a:t>
            </a:r>
            <a:r>
              <a:rPr lang="en-US" dirty="0"/>
              <a:t> can now remember."</a:t>
            </a:r>
          </a:p>
          <a:p>
            <a:endParaRPr lang="en-US" dirty="0"/>
          </a:p>
          <a:p>
            <a:r>
              <a:rPr lang="en-US" dirty="0"/>
              <a:t>"We can create tasks."</a:t>
            </a:r>
          </a:p>
          <a:p>
            <a:endParaRPr lang="en-US" dirty="0"/>
          </a:p>
          <a:p>
            <a:r>
              <a:rPr lang="en-US" dirty="0"/>
              <a:t>"We can retrieve them."</a:t>
            </a:r>
          </a:p>
          <a:p>
            <a:endParaRPr lang="en-US" dirty="0"/>
          </a:p>
          <a:p>
            <a:r>
              <a:rPr lang="en-US" dirty="0"/>
              <a:t>"We can update them."</a:t>
            </a:r>
          </a:p>
          <a:p>
            <a:endParaRPr lang="en-US" dirty="0"/>
          </a:p>
          <a:p>
            <a:r>
              <a:rPr lang="en-US" dirty="0"/>
              <a:t>"We can delete them."</a:t>
            </a:r>
          </a:p>
          <a:p>
            <a:endParaRPr lang="en-US" dirty="0"/>
          </a:p>
          <a:p>
            <a:r>
              <a:rPr lang="en-US" dirty="0"/>
              <a:t>Pause.</a:t>
            </a:r>
          </a:p>
          <a:p>
            <a:endParaRPr lang="en-US" dirty="0"/>
          </a:p>
          <a:p>
            <a:r>
              <a:rPr lang="en-US" dirty="0"/>
              <a:t>"But..."</a:t>
            </a:r>
          </a:p>
          <a:p>
            <a:endParaRPr lang="en-US" dirty="0"/>
          </a:p>
          <a:p>
            <a:r>
              <a:rPr lang="en-US" dirty="0"/>
              <a:t>"What happens when the user does something wrong?"</a:t>
            </a:r>
          </a:p>
          <a:p>
            <a:endParaRPr lang="en-US" dirty="0"/>
          </a:p>
          <a:p>
            <a:r>
              <a:rPr lang="en-US" dirty="0"/>
              <a:t>------------------------------------------------------------</a:t>
            </a:r>
          </a:p>
          <a:p>
            <a:endParaRPr lang="en-US" dirty="0"/>
          </a:p>
          <a:p>
            <a:r>
              <a:rPr lang="en-US" dirty="0"/>
              <a:t>THE ENGINEERING QUESTION</a:t>
            </a:r>
          </a:p>
          <a:p>
            <a:endParaRPr lang="en-US" dirty="0"/>
          </a:p>
          <a:p>
            <a:r>
              <a:rPr lang="en-US" dirty="0"/>
              <a:t>Point to the question:</a:t>
            </a:r>
          </a:p>
          <a:p>
            <a:endParaRPr lang="en-US" dirty="0"/>
          </a:p>
          <a:p>
            <a:r>
              <a:rPr lang="en-US" dirty="0"/>
              <a:t>"How do we prevent bad data and handle problems gracefully?"</a:t>
            </a:r>
          </a:p>
          <a:p>
            <a:endParaRPr lang="en-US" dirty="0"/>
          </a:p>
          <a:p>
            <a:r>
              <a:rPr lang="en-US" dirty="0"/>
              <a:t>Ask:</a:t>
            </a:r>
          </a:p>
          <a:p>
            <a:endParaRPr lang="en-US" dirty="0"/>
          </a:p>
          <a:p>
            <a:r>
              <a:rPr lang="en-US" dirty="0"/>
              <a:t>"What could a user do that might cause a problem?"</a:t>
            </a:r>
          </a:p>
          <a:p>
            <a:endParaRPr lang="en-US" dirty="0"/>
          </a:p>
          <a:p>
            <a:r>
              <a:rPr lang="en-US" dirty="0"/>
              <a:t>Let students brainstorm.</a:t>
            </a:r>
          </a:p>
          <a:p>
            <a:endParaRPr lang="en-US" dirty="0"/>
          </a:p>
          <a:p>
            <a:r>
              <a:rPr lang="en-US" dirty="0"/>
              <a:t>Possible answers:</a:t>
            </a:r>
          </a:p>
          <a:p>
            <a:endParaRPr lang="en-US" dirty="0"/>
          </a:p>
          <a:p>
            <a:r>
              <a:rPr lang="en-US" dirty="0"/>
              <a:t>Leave a required field blank.</a:t>
            </a:r>
          </a:p>
          <a:p>
            <a:endParaRPr lang="en-US" dirty="0"/>
          </a:p>
          <a:p>
            <a:r>
              <a:rPr lang="en-US" dirty="0"/>
              <a:t>Enter an invalid date.</a:t>
            </a:r>
          </a:p>
          <a:p>
            <a:endParaRPr lang="en-US" dirty="0"/>
          </a:p>
          <a:p>
            <a:r>
              <a:rPr lang="en-US" dirty="0"/>
              <a:t>Enter too much text.</a:t>
            </a:r>
          </a:p>
          <a:p>
            <a:endParaRPr lang="en-US" dirty="0"/>
          </a:p>
          <a:p>
            <a:r>
              <a:rPr lang="en-US" dirty="0"/>
              <a:t>Submit incomplete information.</a:t>
            </a:r>
          </a:p>
          <a:p>
            <a:endParaRPr lang="en-US" dirty="0"/>
          </a:p>
          <a:p>
            <a:r>
              <a:rPr lang="en-US" dirty="0"/>
              <a:t>Try to access something that doesn't exist.</a:t>
            </a:r>
          </a:p>
          <a:p>
            <a:endParaRPr lang="en-US" dirty="0"/>
          </a:p>
          <a:p>
            <a:r>
              <a:rPr lang="en-US" dirty="0"/>
              <a:t>Lose the database connection.</a:t>
            </a:r>
          </a:p>
          <a:p>
            <a:endParaRPr lang="en-US" dirty="0"/>
          </a:p>
          <a:p>
            <a:r>
              <a:rPr lang="en-US" dirty="0"/>
              <a:t>Then say:</a:t>
            </a:r>
          </a:p>
          <a:p>
            <a:endParaRPr lang="en-US" dirty="0"/>
          </a:p>
          <a:p>
            <a:r>
              <a:rPr lang="en-US" dirty="0"/>
              <a:t>"Exactly."</a:t>
            </a:r>
          </a:p>
          <a:p>
            <a:endParaRPr lang="en-US" dirty="0"/>
          </a:p>
          <a:p>
            <a:r>
              <a:rPr lang="en-US" dirty="0"/>
              <a:t>"Real users don't always do what we expect."</a:t>
            </a:r>
          </a:p>
          <a:p>
            <a:endParaRPr lang="en-US" dirty="0"/>
          </a:p>
          <a:p>
            <a:r>
              <a:rPr lang="en-US" dirty="0"/>
              <a:t>------------------------------------------------------------</a:t>
            </a:r>
          </a:p>
          <a:p>
            <a:endParaRPr lang="en-US" dirty="0"/>
          </a:p>
          <a:p>
            <a:r>
              <a:rPr lang="en-US" dirty="0"/>
              <a:t>THE REAL WORLD</a:t>
            </a:r>
          </a:p>
          <a:p>
            <a:endParaRPr lang="en-US" dirty="0"/>
          </a:p>
          <a:p>
            <a:r>
              <a:rPr lang="en-US" dirty="0"/>
              <a:t>Give an example.</a:t>
            </a:r>
          </a:p>
          <a:p>
            <a:endParaRPr lang="en-US" dirty="0"/>
          </a:p>
          <a:p>
            <a:r>
              <a:rPr lang="en-US" dirty="0"/>
              <a:t>Suppose the Task form asks for:</a:t>
            </a:r>
          </a:p>
          <a:p>
            <a:endParaRPr lang="en-US" dirty="0"/>
          </a:p>
          <a:p>
            <a:r>
              <a:rPr lang="en-US" dirty="0"/>
              <a:t>Title</a:t>
            </a:r>
          </a:p>
          <a:p>
            <a:endParaRPr lang="en-US" dirty="0"/>
          </a:p>
          <a:p>
            <a:r>
              <a:rPr lang="en-US" dirty="0"/>
              <a:t>Description</a:t>
            </a:r>
          </a:p>
          <a:p>
            <a:endParaRPr lang="en-US" dirty="0"/>
          </a:p>
          <a:p>
            <a:r>
              <a:rPr lang="en-US" dirty="0"/>
              <a:t>Due Date</a:t>
            </a:r>
          </a:p>
          <a:p>
            <a:endParaRPr lang="en-US" dirty="0"/>
          </a:p>
          <a:p>
            <a:r>
              <a:rPr lang="en-US" dirty="0"/>
              <a:t>Status</a:t>
            </a:r>
          </a:p>
          <a:p>
            <a:endParaRPr lang="en-US" dirty="0"/>
          </a:p>
          <a:p>
            <a:r>
              <a:rPr lang="en-US" dirty="0"/>
              <a:t>Ask:</a:t>
            </a:r>
          </a:p>
          <a:p>
            <a:endParaRPr lang="en-US" dirty="0"/>
          </a:p>
          <a:p>
            <a:r>
              <a:rPr lang="en-US" dirty="0"/>
              <a:t>"What happens if the user doesn't enter a title?"</a:t>
            </a:r>
          </a:p>
          <a:p>
            <a:endParaRPr lang="en-US" dirty="0"/>
          </a:p>
          <a:p>
            <a:r>
              <a:rPr lang="en-US" dirty="0"/>
              <a:t>Possible answers:</a:t>
            </a:r>
          </a:p>
          <a:p>
            <a:endParaRPr lang="en-US" dirty="0"/>
          </a:p>
          <a:p>
            <a:r>
              <a:rPr lang="en-US" dirty="0"/>
              <a:t>"Save it anyway."</a:t>
            </a:r>
          </a:p>
          <a:p>
            <a:endParaRPr lang="en-US" dirty="0"/>
          </a:p>
          <a:p>
            <a:r>
              <a:rPr lang="en-US" dirty="0"/>
              <a:t>"Show an error."</a:t>
            </a:r>
          </a:p>
          <a:p>
            <a:endParaRPr lang="en-US" dirty="0"/>
          </a:p>
          <a:p>
            <a:r>
              <a:rPr lang="en-US" dirty="0"/>
              <a:t>"Application crashes."</a:t>
            </a:r>
          </a:p>
          <a:p>
            <a:endParaRPr lang="en-US" dirty="0"/>
          </a:p>
          <a:p>
            <a:r>
              <a:rPr lang="en-US" dirty="0"/>
              <a:t>Then say:</a:t>
            </a:r>
          </a:p>
          <a:p>
            <a:endParaRPr lang="en-US" dirty="0"/>
          </a:p>
          <a:p>
            <a:r>
              <a:rPr lang="en-US" dirty="0"/>
              <a:t>"We don't want a crash."</a:t>
            </a:r>
          </a:p>
          <a:p>
            <a:endParaRPr lang="en-US" dirty="0"/>
          </a:p>
          <a:p>
            <a:r>
              <a:rPr lang="en-US" dirty="0"/>
              <a:t>"We want the application to help the user fix the problem."</a:t>
            </a:r>
          </a:p>
          <a:p>
            <a:endParaRPr lang="en-US" dirty="0"/>
          </a:p>
          <a:p>
            <a:r>
              <a:rPr lang="en-US" dirty="0"/>
              <a:t>------------------------------------------------------------</a:t>
            </a:r>
          </a:p>
          <a:p>
            <a:endParaRPr lang="en-US" dirty="0"/>
          </a:p>
          <a:p>
            <a:r>
              <a:rPr lang="en-US" dirty="0"/>
              <a:t>WHAT IS VALIDATION?</a:t>
            </a:r>
          </a:p>
          <a:p>
            <a:endParaRPr lang="en-US" dirty="0"/>
          </a:p>
          <a:p>
            <a:r>
              <a:rPr lang="en-US" dirty="0"/>
              <a:t>Point to the definition.</a:t>
            </a:r>
          </a:p>
          <a:p>
            <a:endParaRPr lang="en-US" dirty="0"/>
          </a:p>
          <a:p>
            <a:r>
              <a:rPr lang="en-US" dirty="0"/>
              <a:t>"Validation checks whether data meets the rules our application</a:t>
            </a:r>
          </a:p>
          <a:p>
            <a:r>
              <a:rPr lang="en-US" dirty="0"/>
              <a:t>requires BEFORE we accept it."</a:t>
            </a:r>
          </a:p>
          <a:p>
            <a:endParaRPr lang="en-US" dirty="0"/>
          </a:p>
          <a:p>
            <a:r>
              <a:rPr lang="en-US" dirty="0"/>
              <a:t>Explain:</a:t>
            </a:r>
          </a:p>
          <a:p>
            <a:endParaRPr lang="en-US" dirty="0"/>
          </a:p>
          <a:p>
            <a:r>
              <a:rPr lang="en-US" dirty="0"/>
              <a:t>"If Title is required..."</a:t>
            </a:r>
          </a:p>
          <a:p>
            <a:endParaRPr lang="en-US" dirty="0"/>
          </a:p>
          <a:p>
            <a:r>
              <a:rPr lang="en-US" dirty="0"/>
              <a:t>"An empty Title is invalid."</a:t>
            </a:r>
          </a:p>
          <a:p>
            <a:endParaRPr lang="en-US" dirty="0"/>
          </a:p>
          <a:p>
            <a:r>
              <a:rPr lang="en-US" dirty="0"/>
              <a:t>"If </a:t>
            </a:r>
            <a:r>
              <a:rPr lang="en-US" dirty="0" err="1"/>
              <a:t>DueDate</a:t>
            </a:r>
            <a:r>
              <a:rPr lang="en-US" dirty="0"/>
              <a:t> cannot be in the past..."</a:t>
            </a:r>
          </a:p>
          <a:p>
            <a:endParaRPr lang="en-US" dirty="0"/>
          </a:p>
          <a:p>
            <a:r>
              <a:rPr lang="en-US" dirty="0"/>
              <a:t>"A past </a:t>
            </a:r>
            <a:r>
              <a:rPr lang="en-US" dirty="0" err="1"/>
              <a:t>DueDate</a:t>
            </a:r>
            <a:r>
              <a:rPr lang="en-US" dirty="0"/>
              <a:t> is invalid."</a:t>
            </a:r>
          </a:p>
          <a:p>
            <a:endParaRPr lang="en-US" dirty="0"/>
          </a:p>
          <a:p>
            <a:r>
              <a:rPr lang="en-US" dirty="0"/>
              <a:t>"If Priority must be between 1 and 5..."</a:t>
            </a:r>
          </a:p>
          <a:p>
            <a:endParaRPr lang="en-US" dirty="0"/>
          </a:p>
          <a:p>
            <a:r>
              <a:rPr lang="en-US" dirty="0"/>
              <a:t>"6 is invalid."</a:t>
            </a:r>
          </a:p>
          <a:p>
            <a:endParaRPr lang="en-US" dirty="0"/>
          </a:p>
          <a:p>
            <a:r>
              <a:rPr lang="en-US" dirty="0"/>
              <a:t>Validation protects the quality of our data.</a:t>
            </a:r>
          </a:p>
          <a:p>
            <a:endParaRPr lang="en-US" dirty="0"/>
          </a:p>
          <a:p>
            <a:r>
              <a:rPr lang="en-US" dirty="0"/>
              <a:t>------------------------------------------------------------</a:t>
            </a:r>
          </a:p>
          <a:p>
            <a:endParaRPr lang="en-US" dirty="0"/>
          </a:p>
          <a:p>
            <a:r>
              <a:rPr lang="en-US" dirty="0"/>
              <a:t>THE VALIDATION FLOW</a:t>
            </a:r>
          </a:p>
          <a:p>
            <a:endParaRPr lang="en-US" dirty="0"/>
          </a:p>
          <a:p>
            <a:r>
              <a:rPr lang="en-US" dirty="0"/>
              <a:t>Walk through the diagram.</a:t>
            </a:r>
          </a:p>
          <a:p>
            <a:endParaRPr lang="en-US" dirty="0"/>
          </a:p>
          <a:p>
            <a:r>
              <a:rPr lang="en-US" dirty="0"/>
              <a:t>USER SUBMITS FORM</a:t>
            </a:r>
          </a:p>
          <a:p>
            <a:endParaRPr lang="en-US" dirty="0"/>
          </a:p>
          <a:p>
            <a:r>
              <a:rPr lang="en-US" dirty="0"/>
              <a:t>↓</a:t>
            </a:r>
          </a:p>
          <a:p>
            <a:endParaRPr lang="en-US" dirty="0"/>
          </a:p>
          <a:p>
            <a:r>
              <a:rPr lang="en-US" dirty="0"/>
              <a:t>VALIDATION RUNS</a:t>
            </a:r>
          </a:p>
          <a:p>
            <a:endParaRPr lang="en-US" dirty="0"/>
          </a:p>
          <a:p>
            <a:r>
              <a:rPr lang="en-US" dirty="0"/>
              <a:t>↓</a:t>
            </a:r>
          </a:p>
          <a:p>
            <a:endParaRPr lang="en-US" dirty="0"/>
          </a:p>
          <a:p>
            <a:r>
              <a:rPr lang="en-US" dirty="0"/>
              <a:t>INVALID?</a:t>
            </a:r>
          </a:p>
          <a:p>
            <a:endParaRPr lang="en-US" dirty="0"/>
          </a:p>
          <a:p>
            <a:r>
              <a:rPr lang="en-US" dirty="0"/>
              <a:t>↓</a:t>
            </a:r>
          </a:p>
          <a:p>
            <a:endParaRPr lang="en-US" dirty="0"/>
          </a:p>
          <a:p>
            <a:r>
              <a:rPr lang="en-US" dirty="0"/>
              <a:t>ERROR MESSAGE</a:t>
            </a:r>
          </a:p>
          <a:p>
            <a:endParaRPr lang="en-US" dirty="0"/>
          </a:p>
          <a:p>
            <a:r>
              <a:rPr lang="en-US" dirty="0"/>
              <a:t>↓</a:t>
            </a:r>
          </a:p>
          <a:p>
            <a:endParaRPr lang="en-US" dirty="0"/>
          </a:p>
          <a:p>
            <a:r>
              <a:rPr lang="en-US" dirty="0"/>
              <a:t>USER CORRECTS DATA</a:t>
            </a:r>
          </a:p>
          <a:p>
            <a:endParaRPr lang="en-US" dirty="0"/>
          </a:p>
          <a:p>
            <a:r>
              <a:rPr lang="en-US" dirty="0"/>
              <a:t>↓</a:t>
            </a:r>
          </a:p>
          <a:p>
            <a:endParaRPr lang="en-US" dirty="0"/>
          </a:p>
          <a:p>
            <a:r>
              <a:rPr lang="en-US" dirty="0"/>
              <a:t>VALID</a:t>
            </a:r>
          </a:p>
          <a:p>
            <a:endParaRPr lang="en-US" dirty="0"/>
          </a:p>
          <a:p>
            <a:r>
              <a:rPr lang="en-US" dirty="0"/>
              <a:t>↓</a:t>
            </a:r>
          </a:p>
          <a:p>
            <a:endParaRPr lang="en-US" dirty="0"/>
          </a:p>
          <a:p>
            <a:r>
              <a:rPr lang="en-US" dirty="0"/>
              <a:t>DATA IS SAVED</a:t>
            </a:r>
          </a:p>
          <a:p>
            <a:endParaRPr lang="en-US" dirty="0"/>
          </a:p>
          <a:p>
            <a:r>
              <a:rPr lang="en-US" dirty="0"/>
              <a:t>Explain:</a:t>
            </a:r>
          </a:p>
          <a:p>
            <a:endParaRPr lang="en-US" dirty="0"/>
          </a:p>
          <a:p>
            <a:r>
              <a:rPr lang="en-US" dirty="0"/>
              <a:t>"The application doesn't simply accept everything."</a:t>
            </a:r>
          </a:p>
          <a:p>
            <a:endParaRPr lang="en-US" dirty="0"/>
          </a:p>
          <a:p>
            <a:r>
              <a:rPr lang="en-US" dirty="0"/>
              <a:t>"It checks first."</a:t>
            </a:r>
          </a:p>
          <a:p>
            <a:endParaRPr lang="en-US" dirty="0"/>
          </a:p>
          <a:p>
            <a:r>
              <a:rPr lang="en-US" dirty="0"/>
              <a:t>------------------------------------------------------------</a:t>
            </a:r>
          </a:p>
          <a:p>
            <a:endParaRPr lang="en-US" dirty="0"/>
          </a:p>
          <a:p>
            <a:r>
              <a:rPr lang="en-US" dirty="0"/>
              <a:t>VALIDATION IS A BUSINESS RULE</a:t>
            </a:r>
          </a:p>
          <a:p>
            <a:endParaRPr lang="en-US" dirty="0"/>
          </a:p>
          <a:p>
            <a:r>
              <a:rPr lang="en-US" dirty="0"/>
              <a:t>Point to the examples.</a:t>
            </a:r>
          </a:p>
          <a:p>
            <a:endParaRPr lang="en-US" dirty="0"/>
          </a:p>
          <a:p>
            <a:r>
              <a:rPr lang="en-US" dirty="0"/>
              <a:t>Ask:</a:t>
            </a:r>
          </a:p>
          <a:p>
            <a:endParaRPr lang="en-US" dirty="0"/>
          </a:p>
          <a:p>
            <a:r>
              <a:rPr lang="en-US" dirty="0"/>
              <a:t>"Who decides whether a task title is required?"</a:t>
            </a:r>
          </a:p>
          <a:p>
            <a:endParaRPr lang="en-US" dirty="0"/>
          </a:p>
          <a:p>
            <a:r>
              <a:rPr lang="en-US" dirty="0"/>
              <a:t>Students may say:</a:t>
            </a:r>
          </a:p>
          <a:p>
            <a:endParaRPr lang="en-US" dirty="0"/>
          </a:p>
          <a:p>
            <a:r>
              <a:rPr lang="en-US" dirty="0"/>
              <a:t>"The programmer."</a:t>
            </a:r>
          </a:p>
          <a:p>
            <a:endParaRPr lang="en-US" dirty="0"/>
          </a:p>
          <a:p>
            <a:r>
              <a:rPr lang="en-US" dirty="0"/>
              <a:t>Clarify:</a:t>
            </a:r>
          </a:p>
          <a:p>
            <a:endParaRPr lang="en-US" dirty="0"/>
          </a:p>
          <a:p>
            <a:r>
              <a:rPr lang="en-US" dirty="0"/>
              <a:t>"The programmer implements the rule."</a:t>
            </a:r>
          </a:p>
          <a:p>
            <a:endParaRPr lang="en-US" dirty="0"/>
          </a:p>
          <a:p>
            <a:r>
              <a:rPr lang="en-US" dirty="0"/>
              <a:t>"But the rule comes from the application's requirements."</a:t>
            </a:r>
          </a:p>
          <a:p>
            <a:endParaRPr lang="en-US" dirty="0"/>
          </a:p>
          <a:p>
            <a:r>
              <a:rPr lang="en-US" dirty="0"/>
              <a:t>This connects validation back to Sprint 3.</a:t>
            </a:r>
          </a:p>
          <a:p>
            <a:endParaRPr lang="en-US" dirty="0"/>
          </a:p>
          <a:p>
            <a:r>
              <a:rPr lang="en-US" dirty="0"/>
              <a:t>------------------------------------------------------------</a:t>
            </a:r>
          </a:p>
          <a:p>
            <a:endParaRPr lang="en-US" dirty="0"/>
          </a:p>
          <a:p>
            <a:r>
              <a:rPr lang="en-US" dirty="0"/>
              <a:t>REQUIREMENTS → VALIDATION</a:t>
            </a:r>
          </a:p>
          <a:p>
            <a:endParaRPr lang="en-US" dirty="0"/>
          </a:p>
          <a:p>
            <a:r>
              <a:rPr lang="en-US" dirty="0"/>
              <a:t>Explain:</a:t>
            </a:r>
          </a:p>
          <a:p>
            <a:endParaRPr lang="en-US" dirty="0"/>
          </a:p>
          <a:p>
            <a:r>
              <a:rPr lang="en-US" dirty="0"/>
              <a:t>"Remember requirements?"</a:t>
            </a:r>
          </a:p>
          <a:p>
            <a:endParaRPr lang="en-US" dirty="0"/>
          </a:p>
          <a:p>
            <a:r>
              <a:rPr lang="en-US" dirty="0"/>
              <a:t>If the requirement says:</a:t>
            </a:r>
          </a:p>
          <a:p>
            <a:endParaRPr lang="en-US" dirty="0"/>
          </a:p>
          <a:p>
            <a:r>
              <a:rPr lang="en-US" dirty="0"/>
              <a:t>"Every task must have a title."</a:t>
            </a:r>
          </a:p>
          <a:p>
            <a:endParaRPr lang="en-US" dirty="0"/>
          </a:p>
          <a:p>
            <a:r>
              <a:rPr lang="en-US" dirty="0"/>
              <a:t>Then the application needs validation:</a:t>
            </a:r>
          </a:p>
          <a:p>
            <a:endParaRPr lang="en-US" dirty="0"/>
          </a:p>
          <a:p>
            <a:r>
              <a:rPr lang="en-US" dirty="0"/>
              <a:t>"Title is required."</a:t>
            </a:r>
          </a:p>
          <a:p>
            <a:endParaRPr lang="en-US" dirty="0"/>
          </a:p>
          <a:p>
            <a:r>
              <a:rPr lang="en-US" dirty="0"/>
              <a:t>If the requirement says:</a:t>
            </a:r>
          </a:p>
          <a:p>
            <a:endParaRPr lang="en-US" dirty="0"/>
          </a:p>
          <a:p>
            <a:r>
              <a:rPr lang="en-US" dirty="0"/>
              <a:t>"Tasks must have a due date."</a:t>
            </a:r>
          </a:p>
          <a:p>
            <a:endParaRPr lang="en-US" dirty="0"/>
          </a:p>
          <a:p>
            <a:r>
              <a:rPr lang="en-US" dirty="0"/>
              <a:t>Then:</a:t>
            </a:r>
          </a:p>
          <a:p>
            <a:endParaRPr lang="en-US" dirty="0"/>
          </a:p>
          <a:p>
            <a:r>
              <a:rPr lang="en-US" dirty="0"/>
              <a:t>"Due date is required."</a:t>
            </a:r>
          </a:p>
          <a:p>
            <a:endParaRPr lang="en-US" dirty="0"/>
          </a:p>
          <a:p>
            <a:r>
              <a:rPr lang="en-US" dirty="0"/>
              <a:t>If the requirement says:</a:t>
            </a:r>
          </a:p>
          <a:p>
            <a:endParaRPr lang="en-US" dirty="0"/>
          </a:p>
          <a:p>
            <a:r>
              <a:rPr lang="en-US" dirty="0"/>
              <a:t>"Priority must be between 1 and 5."</a:t>
            </a:r>
          </a:p>
          <a:p>
            <a:endParaRPr lang="en-US" dirty="0"/>
          </a:p>
          <a:p>
            <a:r>
              <a:rPr lang="en-US" dirty="0"/>
              <a:t>Then:</a:t>
            </a:r>
          </a:p>
          <a:p>
            <a:endParaRPr lang="en-US" dirty="0"/>
          </a:p>
          <a:p>
            <a:r>
              <a:rPr lang="en-US" dirty="0"/>
              <a:t>"Priority must be between 1 and 5."</a:t>
            </a:r>
          </a:p>
          <a:p>
            <a:endParaRPr lang="en-US" dirty="0"/>
          </a:p>
          <a:p>
            <a:r>
              <a:rPr lang="en-US" dirty="0"/>
              <a:t>Say:</a:t>
            </a:r>
          </a:p>
          <a:p>
            <a:endParaRPr lang="en-US" dirty="0"/>
          </a:p>
          <a:p>
            <a:r>
              <a:rPr lang="en-US" dirty="0"/>
              <a:t>"Validation turns requirements into enforceable rules."</a:t>
            </a:r>
          </a:p>
          <a:p>
            <a:endParaRPr lang="en-US" dirty="0"/>
          </a:p>
          <a:p>
            <a:r>
              <a:rPr lang="en-US" dirty="0"/>
              <a:t>------------------------------------------------------------</a:t>
            </a:r>
          </a:p>
          <a:p>
            <a:endParaRPr lang="en-US" dirty="0"/>
          </a:p>
          <a:p>
            <a:r>
              <a:rPr lang="en-US" dirty="0"/>
              <a:t>DATA ANNOTATIONS</a:t>
            </a:r>
          </a:p>
          <a:p>
            <a:endParaRPr lang="en-US" dirty="0"/>
          </a:p>
          <a:p>
            <a:r>
              <a:rPr lang="en-US" dirty="0"/>
              <a:t>Point to the Data Annotations section.</a:t>
            </a:r>
          </a:p>
          <a:p>
            <a:endParaRPr lang="en-US" dirty="0"/>
          </a:p>
          <a:p>
            <a:r>
              <a:rPr lang="en-US" dirty="0"/>
              <a:t>Explain:</a:t>
            </a:r>
          </a:p>
          <a:p>
            <a:endParaRPr lang="en-US" dirty="0"/>
          </a:p>
          <a:p>
            <a:r>
              <a:rPr lang="en-US" dirty="0"/>
              <a:t>"ASP.NET Core gives us simple tools for defining common validation</a:t>
            </a:r>
          </a:p>
          <a:p>
            <a:r>
              <a:rPr lang="en-US" dirty="0"/>
              <a:t>rules."</a:t>
            </a:r>
          </a:p>
          <a:p>
            <a:endParaRPr lang="en-US" dirty="0"/>
          </a:p>
          <a:p>
            <a:r>
              <a:rPr lang="en-US" dirty="0"/>
              <a:t>Examples:</a:t>
            </a:r>
          </a:p>
          <a:p>
            <a:endParaRPr lang="en-US" dirty="0"/>
          </a:p>
          <a:p>
            <a:r>
              <a:rPr lang="en-US" dirty="0"/>
              <a:t>[Required]</a:t>
            </a:r>
          </a:p>
          <a:p>
            <a:endParaRPr lang="en-US" dirty="0"/>
          </a:p>
          <a:p>
            <a:r>
              <a:rPr lang="en-US" dirty="0"/>
              <a:t>[</a:t>
            </a:r>
            <a:r>
              <a:rPr lang="en-US" dirty="0" err="1"/>
              <a:t>StringLength</a:t>
            </a:r>
            <a:r>
              <a:rPr lang="en-US" dirty="0"/>
              <a:t>]</a:t>
            </a:r>
          </a:p>
          <a:p>
            <a:endParaRPr lang="en-US" dirty="0"/>
          </a:p>
          <a:p>
            <a:r>
              <a:rPr lang="en-US" dirty="0"/>
              <a:t>[Range]</a:t>
            </a:r>
          </a:p>
          <a:p>
            <a:endParaRPr lang="en-US" dirty="0"/>
          </a:p>
          <a:p>
            <a:r>
              <a:rPr lang="en-US" dirty="0"/>
              <a:t>[</a:t>
            </a:r>
            <a:r>
              <a:rPr lang="en-US" dirty="0" err="1"/>
              <a:t>DataType</a:t>
            </a:r>
            <a:r>
              <a:rPr lang="en-US" dirty="0"/>
              <a:t>]</a:t>
            </a:r>
          </a:p>
          <a:p>
            <a:endParaRPr lang="en-US" dirty="0"/>
          </a:p>
          <a:p>
            <a:r>
              <a:rPr lang="en-US" dirty="0"/>
              <a:t>Explain:</a:t>
            </a:r>
          </a:p>
          <a:p>
            <a:endParaRPr lang="en-US" dirty="0"/>
          </a:p>
          <a:p>
            <a:r>
              <a:rPr lang="en-US" dirty="0"/>
              <a:t>"We can place these rules on our model."</a:t>
            </a:r>
          </a:p>
          <a:p>
            <a:endParaRPr lang="en-US" dirty="0"/>
          </a:p>
          <a:p>
            <a:r>
              <a:rPr lang="en-US" dirty="0"/>
              <a:t>The model now communicates:</a:t>
            </a:r>
          </a:p>
          <a:p>
            <a:endParaRPr lang="en-US" dirty="0"/>
          </a:p>
          <a:p>
            <a:r>
              <a:rPr lang="en-US" dirty="0"/>
              <a:t>"This information is required."</a:t>
            </a:r>
          </a:p>
          <a:p>
            <a:endParaRPr lang="en-US" dirty="0"/>
          </a:p>
          <a:p>
            <a:r>
              <a:rPr lang="en-US" dirty="0"/>
              <a:t>"This value has limits."</a:t>
            </a:r>
          </a:p>
          <a:p>
            <a:endParaRPr lang="en-US" dirty="0"/>
          </a:p>
          <a:p>
            <a:r>
              <a:rPr lang="en-US" dirty="0"/>
              <a:t>"This value must follow certain rules."</a:t>
            </a:r>
          </a:p>
          <a:p>
            <a:endParaRPr lang="en-US" dirty="0"/>
          </a:p>
          <a:p>
            <a:r>
              <a:rPr lang="en-US" dirty="0"/>
              <a:t>------------------------------------------------------------</a:t>
            </a:r>
          </a:p>
          <a:p>
            <a:endParaRPr lang="en-US" dirty="0"/>
          </a:p>
          <a:p>
            <a:r>
              <a:rPr lang="en-US" dirty="0"/>
              <a:t>EXAMPLE</a:t>
            </a:r>
          </a:p>
          <a:p>
            <a:endParaRPr lang="en-US" dirty="0"/>
          </a:p>
          <a:p>
            <a:r>
              <a:rPr lang="en-US" dirty="0"/>
              <a:t>Point to the Task model.</a:t>
            </a:r>
          </a:p>
          <a:p>
            <a:endParaRPr lang="en-US" dirty="0"/>
          </a:p>
          <a:p>
            <a:r>
              <a:rPr lang="en-US" dirty="0"/>
              <a:t>Show:</a:t>
            </a:r>
          </a:p>
          <a:p>
            <a:endParaRPr lang="en-US" dirty="0"/>
          </a:p>
          <a:p>
            <a:r>
              <a:rPr lang="en-US" dirty="0"/>
              <a:t>[Required]</a:t>
            </a:r>
          </a:p>
          <a:p>
            <a:endParaRPr lang="en-US" dirty="0"/>
          </a:p>
          <a:p>
            <a:r>
              <a:rPr lang="en-US" dirty="0"/>
              <a:t>Title</a:t>
            </a:r>
          </a:p>
          <a:p>
            <a:endParaRPr lang="en-US" dirty="0"/>
          </a:p>
          <a:p>
            <a:r>
              <a:rPr lang="en-US" dirty="0"/>
              <a:t>Explain:</a:t>
            </a:r>
          </a:p>
          <a:p>
            <a:endParaRPr lang="en-US" dirty="0"/>
          </a:p>
          <a:p>
            <a:r>
              <a:rPr lang="en-US" dirty="0"/>
              <a:t>"If Title is empty..."</a:t>
            </a:r>
          </a:p>
          <a:p>
            <a:endParaRPr lang="en-US" dirty="0"/>
          </a:p>
          <a:p>
            <a:r>
              <a:rPr lang="en-US" dirty="0"/>
              <a:t>"The application can identify the problem."</a:t>
            </a:r>
          </a:p>
          <a:p>
            <a:endParaRPr lang="en-US" dirty="0"/>
          </a:p>
          <a:p>
            <a:r>
              <a:rPr lang="en-US" dirty="0"/>
              <a:t>Then:</a:t>
            </a:r>
          </a:p>
          <a:p>
            <a:endParaRPr lang="en-US" dirty="0"/>
          </a:p>
          <a:p>
            <a:r>
              <a:rPr lang="en-US" dirty="0"/>
              <a:t>[</a:t>
            </a:r>
            <a:r>
              <a:rPr lang="en-US" dirty="0" err="1"/>
              <a:t>StringLength</a:t>
            </a:r>
            <a:r>
              <a:rPr lang="en-US" dirty="0"/>
              <a:t>]</a:t>
            </a:r>
          </a:p>
          <a:p>
            <a:endParaRPr lang="en-US" dirty="0"/>
          </a:p>
          <a:p>
            <a:r>
              <a:rPr lang="en-US" dirty="0"/>
              <a:t>Explain:</a:t>
            </a:r>
          </a:p>
          <a:p>
            <a:endParaRPr lang="en-US" dirty="0"/>
          </a:p>
          <a:p>
            <a:r>
              <a:rPr lang="en-US" dirty="0"/>
              <a:t>"We can also prevent excessively long values."</a:t>
            </a:r>
          </a:p>
          <a:p>
            <a:endParaRPr lang="en-US" dirty="0"/>
          </a:p>
          <a:p>
            <a:r>
              <a:rPr lang="en-US" dirty="0"/>
              <a:t>Then:</a:t>
            </a:r>
          </a:p>
          <a:p>
            <a:endParaRPr lang="en-US" dirty="0"/>
          </a:p>
          <a:p>
            <a:r>
              <a:rPr lang="en-US" dirty="0"/>
              <a:t>[Range]</a:t>
            </a:r>
          </a:p>
          <a:p>
            <a:endParaRPr lang="en-US" dirty="0"/>
          </a:p>
          <a:p>
            <a:r>
              <a:rPr lang="en-US" dirty="0"/>
              <a:t>Explain:</a:t>
            </a:r>
          </a:p>
          <a:p>
            <a:endParaRPr lang="en-US" dirty="0"/>
          </a:p>
          <a:p>
            <a:r>
              <a:rPr lang="en-US" dirty="0"/>
              <a:t>"We can limit numeric values."</a:t>
            </a:r>
          </a:p>
          <a:p>
            <a:endParaRPr lang="en-US" dirty="0"/>
          </a:p>
          <a:p>
            <a:r>
              <a:rPr lang="en-US" dirty="0"/>
              <a:t>------------------------------------------------------------</a:t>
            </a:r>
          </a:p>
          <a:p>
            <a:endParaRPr lang="en-US" dirty="0"/>
          </a:p>
          <a:p>
            <a:r>
              <a:rPr lang="en-US" dirty="0"/>
              <a:t>WHY VALIDATE ON THE SERVER?</a:t>
            </a:r>
          </a:p>
          <a:p>
            <a:endParaRPr lang="en-US" dirty="0"/>
          </a:p>
          <a:p>
            <a:r>
              <a:rPr lang="en-US" dirty="0"/>
              <a:t>Point to Server-Side Validation.</a:t>
            </a:r>
          </a:p>
          <a:p>
            <a:endParaRPr lang="en-US" dirty="0"/>
          </a:p>
          <a:p>
            <a:r>
              <a:rPr lang="en-US" dirty="0"/>
              <a:t>Ask:</a:t>
            </a:r>
          </a:p>
          <a:p>
            <a:endParaRPr lang="en-US" dirty="0"/>
          </a:p>
          <a:p>
            <a:r>
              <a:rPr lang="en-US" dirty="0"/>
              <a:t>"Can we trust the browser to validate everything?"</a:t>
            </a:r>
          </a:p>
          <a:p>
            <a:endParaRPr lang="en-US" dirty="0"/>
          </a:p>
          <a:p>
            <a:r>
              <a:rPr lang="en-US" dirty="0"/>
              <a:t>Students may say:</a:t>
            </a:r>
          </a:p>
          <a:p>
            <a:endParaRPr lang="en-US" dirty="0"/>
          </a:p>
          <a:p>
            <a:r>
              <a:rPr lang="en-US" dirty="0"/>
              <a:t>"No."</a:t>
            </a:r>
          </a:p>
          <a:p>
            <a:endParaRPr lang="en-US" dirty="0"/>
          </a:p>
          <a:p>
            <a:r>
              <a:rPr lang="en-US" dirty="0"/>
              <a:t>Exactly.</a:t>
            </a:r>
          </a:p>
          <a:p>
            <a:endParaRPr lang="en-US" dirty="0"/>
          </a:p>
          <a:p>
            <a:r>
              <a:rPr lang="en-US" dirty="0"/>
              <a:t>Explain:</a:t>
            </a:r>
          </a:p>
          <a:p>
            <a:endParaRPr lang="en-US" dirty="0"/>
          </a:p>
          <a:p>
            <a:r>
              <a:rPr lang="en-US" dirty="0"/>
              <a:t>"Client-side validation improves the user experience."</a:t>
            </a:r>
          </a:p>
          <a:p>
            <a:endParaRPr lang="en-US" dirty="0"/>
          </a:p>
          <a:p>
            <a:r>
              <a:rPr lang="en-US" dirty="0"/>
              <a:t>"But server-side validation protects the application."</a:t>
            </a:r>
          </a:p>
          <a:p>
            <a:endParaRPr lang="en-US" dirty="0"/>
          </a:p>
          <a:p>
            <a:r>
              <a:rPr lang="en-US" dirty="0"/>
              <a:t>This is an important distinction.</a:t>
            </a:r>
          </a:p>
          <a:p>
            <a:endParaRPr lang="en-US" dirty="0"/>
          </a:p>
          <a:p>
            <a:r>
              <a:rPr lang="en-US" dirty="0"/>
              <a:t>------------------------------------------------------------</a:t>
            </a:r>
          </a:p>
          <a:p>
            <a:endParaRPr lang="en-US" dirty="0"/>
          </a:p>
          <a:p>
            <a:r>
              <a:rPr lang="en-US" dirty="0"/>
              <a:t>CLIENT-SIDE VALIDATION</a:t>
            </a:r>
          </a:p>
          <a:p>
            <a:endParaRPr lang="en-US" dirty="0"/>
          </a:p>
          <a:p>
            <a:r>
              <a:rPr lang="en-US" dirty="0"/>
              <a:t>Explain:</a:t>
            </a:r>
          </a:p>
          <a:p>
            <a:endParaRPr lang="en-US" dirty="0"/>
          </a:p>
          <a:p>
            <a:r>
              <a:rPr lang="en-US" dirty="0"/>
              <a:t>"Client-side validation happens in the browser."</a:t>
            </a:r>
          </a:p>
          <a:p>
            <a:endParaRPr lang="en-US" dirty="0"/>
          </a:p>
          <a:p>
            <a:r>
              <a:rPr lang="en-US" dirty="0"/>
              <a:t>Benefits:</a:t>
            </a:r>
          </a:p>
          <a:p>
            <a:endParaRPr lang="en-US" dirty="0"/>
          </a:p>
          <a:p>
            <a:r>
              <a:rPr lang="en-US" dirty="0"/>
              <a:t>Fast feedback.</a:t>
            </a:r>
          </a:p>
          <a:p>
            <a:endParaRPr lang="en-US" dirty="0"/>
          </a:p>
          <a:p>
            <a:r>
              <a:rPr lang="en-US" dirty="0"/>
              <a:t>Better user experience.</a:t>
            </a:r>
          </a:p>
          <a:p>
            <a:endParaRPr lang="en-US" dirty="0"/>
          </a:p>
          <a:p>
            <a:r>
              <a:rPr lang="en-US" dirty="0"/>
              <a:t>No unnecessary request to the server.</a:t>
            </a:r>
          </a:p>
          <a:p>
            <a:endParaRPr lang="en-US" dirty="0"/>
          </a:p>
          <a:p>
            <a:r>
              <a:rPr lang="en-US" dirty="0"/>
              <a:t>Example:</a:t>
            </a:r>
          </a:p>
          <a:p>
            <a:endParaRPr lang="en-US" dirty="0"/>
          </a:p>
          <a:p>
            <a:r>
              <a:rPr lang="en-US" dirty="0"/>
              <a:t>User leaves Title blank.</a:t>
            </a:r>
          </a:p>
          <a:p>
            <a:endParaRPr lang="en-US" dirty="0"/>
          </a:p>
          <a:p>
            <a:r>
              <a:rPr lang="en-US" dirty="0"/>
              <a:t>The browser can immediately say:</a:t>
            </a:r>
          </a:p>
          <a:p>
            <a:endParaRPr lang="en-US" dirty="0"/>
          </a:p>
          <a:p>
            <a:r>
              <a:rPr lang="en-US" dirty="0"/>
              <a:t>"Title is required."</a:t>
            </a:r>
          </a:p>
          <a:p>
            <a:endParaRPr lang="en-US" dirty="0"/>
          </a:p>
          <a:p>
            <a:r>
              <a:rPr lang="en-US" dirty="0"/>
              <a:t>------------------------------------------------------------</a:t>
            </a:r>
          </a:p>
          <a:p>
            <a:endParaRPr lang="en-US" dirty="0"/>
          </a:p>
          <a:p>
            <a:r>
              <a:rPr lang="en-US" dirty="0"/>
              <a:t>SERVER-SIDE VALIDATION</a:t>
            </a:r>
          </a:p>
          <a:p>
            <a:endParaRPr lang="en-US" dirty="0"/>
          </a:p>
          <a:p>
            <a:r>
              <a:rPr lang="en-US" dirty="0"/>
              <a:t>Explain:</a:t>
            </a:r>
          </a:p>
          <a:p>
            <a:endParaRPr lang="en-US" dirty="0"/>
          </a:p>
          <a:p>
            <a:r>
              <a:rPr lang="en-US" dirty="0"/>
              <a:t>"Server-side validation happens inside our application."</a:t>
            </a:r>
          </a:p>
          <a:p>
            <a:endParaRPr lang="en-US" dirty="0"/>
          </a:p>
          <a:p>
            <a:r>
              <a:rPr lang="en-US" dirty="0"/>
              <a:t>"The server must validate the data again."</a:t>
            </a:r>
          </a:p>
          <a:p>
            <a:endParaRPr lang="en-US" dirty="0"/>
          </a:p>
          <a:p>
            <a:r>
              <a:rPr lang="en-US" dirty="0"/>
              <a:t>Why?</a:t>
            </a:r>
          </a:p>
          <a:p>
            <a:endParaRPr lang="en-US" dirty="0"/>
          </a:p>
          <a:p>
            <a:r>
              <a:rPr lang="en-US" dirty="0"/>
              <a:t>"Because users can bypass browser behavior."</a:t>
            </a:r>
          </a:p>
          <a:p>
            <a:endParaRPr lang="en-US" dirty="0"/>
          </a:p>
          <a:p>
            <a:r>
              <a:rPr lang="en-US" dirty="0"/>
              <a:t>"Requests can be manipulated."</a:t>
            </a:r>
          </a:p>
          <a:p>
            <a:endParaRPr lang="en-US" dirty="0"/>
          </a:p>
          <a:p>
            <a:r>
              <a:rPr lang="en-US" dirty="0"/>
              <a:t>"The server is ultimately responsible for protecting the application."</a:t>
            </a:r>
          </a:p>
          <a:p>
            <a:endParaRPr lang="en-US" dirty="0"/>
          </a:p>
          <a:p>
            <a:r>
              <a:rPr lang="en-US" dirty="0"/>
              <a:t>Do not turn this into a security deep dive.</a:t>
            </a:r>
          </a:p>
          <a:p>
            <a:endParaRPr lang="en-US" dirty="0"/>
          </a:p>
          <a:p>
            <a:r>
              <a:rPr lang="en-US" dirty="0"/>
              <a:t>Simply establish the principle:</a:t>
            </a:r>
          </a:p>
          <a:p>
            <a:endParaRPr lang="en-US" dirty="0"/>
          </a:p>
          <a:p>
            <a:r>
              <a:rPr lang="en-US" dirty="0"/>
              <a:t>"Never trust client-side validation alone."</a:t>
            </a:r>
          </a:p>
          <a:p>
            <a:endParaRPr lang="en-US" dirty="0"/>
          </a:p>
          <a:p>
            <a:r>
              <a:rPr lang="en-US" dirty="0"/>
              <a:t>------------------------------------------------------------</a:t>
            </a:r>
          </a:p>
          <a:p>
            <a:endParaRPr lang="en-US" dirty="0"/>
          </a:p>
          <a:p>
            <a:r>
              <a:rPr lang="en-US" dirty="0"/>
              <a:t>VALIDATION VS ERROR HANDLING</a:t>
            </a:r>
          </a:p>
          <a:p>
            <a:endParaRPr lang="en-US" dirty="0"/>
          </a:p>
          <a:p>
            <a:r>
              <a:rPr lang="en-US" dirty="0"/>
              <a:t>This distinction is important.</a:t>
            </a:r>
          </a:p>
          <a:p>
            <a:endParaRPr lang="en-US" dirty="0"/>
          </a:p>
          <a:p>
            <a:r>
              <a:rPr lang="en-US" dirty="0"/>
              <a:t>Ask:</a:t>
            </a:r>
          </a:p>
          <a:p>
            <a:endParaRPr lang="en-US" dirty="0"/>
          </a:p>
          <a:p>
            <a:r>
              <a:rPr lang="en-US" dirty="0"/>
              <a:t>"Is an empty title the same thing as a database failure?"</a:t>
            </a:r>
          </a:p>
          <a:p>
            <a:endParaRPr lang="en-US" dirty="0"/>
          </a:p>
          <a:p>
            <a:r>
              <a:rPr lang="en-US" dirty="0"/>
              <a:t>Students should recognize:</a:t>
            </a:r>
          </a:p>
          <a:p>
            <a:endParaRPr lang="en-US" dirty="0"/>
          </a:p>
          <a:p>
            <a:r>
              <a:rPr lang="en-US" dirty="0"/>
              <a:t>"No."</a:t>
            </a:r>
          </a:p>
          <a:p>
            <a:endParaRPr lang="en-US" dirty="0"/>
          </a:p>
          <a:p>
            <a:r>
              <a:rPr lang="en-US" dirty="0"/>
              <a:t>Explain:</a:t>
            </a:r>
          </a:p>
          <a:p>
            <a:endParaRPr lang="en-US" dirty="0"/>
          </a:p>
          <a:p>
            <a:r>
              <a:rPr lang="en-US" dirty="0"/>
              <a:t>"Validation handles invalid input."</a:t>
            </a:r>
          </a:p>
          <a:p>
            <a:endParaRPr lang="en-US" dirty="0"/>
          </a:p>
          <a:p>
            <a:r>
              <a:rPr lang="en-US" dirty="0"/>
              <a:t>"Error handling handles unexpected problems."</a:t>
            </a:r>
          </a:p>
          <a:p>
            <a:endParaRPr lang="en-US" dirty="0"/>
          </a:p>
          <a:p>
            <a:r>
              <a:rPr lang="en-US" dirty="0"/>
              <a:t>------------------------------------------------------------</a:t>
            </a:r>
          </a:p>
          <a:p>
            <a:endParaRPr lang="en-US" dirty="0"/>
          </a:p>
          <a:p>
            <a:r>
              <a:rPr lang="en-US" dirty="0"/>
              <a:t>VALIDATION ERROR</a:t>
            </a:r>
          </a:p>
          <a:p>
            <a:endParaRPr lang="en-US" dirty="0"/>
          </a:p>
          <a:p>
            <a:r>
              <a:rPr lang="en-US" dirty="0"/>
              <a:t>Example:</a:t>
            </a:r>
          </a:p>
          <a:p>
            <a:endParaRPr lang="en-US" dirty="0"/>
          </a:p>
          <a:p>
            <a:r>
              <a:rPr lang="en-US" dirty="0"/>
              <a:t>User submits:</a:t>
            </a:r>
          </a:p>
          <a:p>
            <a:endParaRPr lang="en-US" dirty="0"/>
          </a:p>
          <a:p>
            <a:r>
              <a:rPr lang="en-US" dirty="0"/>
              <a:t>Title = blank</a:t>
            </a:r>
          </a:p>
          <a:p>
            <a:endParaRPr lang="en-US" dirty="0"/>
          </a:p>
          <a:p>
            <a:r>
              <a:rPr lang="en-US" dirty="0"/>
              <a:t>Application says:</a:t>
            </a:r>
          </a:p>
          <a:p>
            <a:endParaRPr lang="en-US" dirty="0"/>
          </a:p>
          <a:p>
            <a:r>
              <a:rPr lang="en-US" dirty="0"/>
              <a:t>"Title is required."</a:t>
            </a:r>
          </a:p>
          <a:p>
            <a:endParaRPr lang="en-US" dirty="0"/>
          </a:p>
          <a:p>
            <a:r>
              <a:rPr lang="en-US" dirty="0"/>
              <a:t>The user can fix it.</a:t>
            </a:r>
          </a:p>
          <a:p>
            <a:endParaRPr lang="en-US" dirty="0"/>
          </a:p>
          <a:p>
            <a:r>
              <a:rPr lang="en-US" dirty="0"/>
              <a:t>No system failure occurred.</a:t>
            </a:r>
          </a:p>
          <a:p>
            <a:endParaRPr lang="en-US" dirty="0"/>
          </a:p>
          <a:p>
            <a:r>
              <a:rPr lang="en-US" dirty="0"/>
              <a:t>------------------------------------------------------------</a:t>
            </a:r>
          </a:p>
          <a:p>
            <a:endParaRPr lang="en-US" dirty="0"/>
          </a:p>
          <a:p>
            <a:r>
              <a:rPr lang="en-US" dirty="0"/>
              <a:t>DATABASE ERROR</a:t>
            </a:r>
          </a:p>
          <a:p>
            <a:endParaRPr lang="en-US" dirty="0"/>
          </a:p>
          <a:p>
            <a:r>
              <a:rPr lang="en-US" dirty="0"/>
              <a:t>Example:</a:t>
            </a:r>
          </a:p>
          <a:p>
            <a:endParaRPr lang="en-US" dirty="0"/>
          </a:p>
          <a:p>
            <a:r>
              <a:rPr lang="en-US" dirty="0"/>
              <a:t>The database connection fails.</a:t>
            </a:r>
          </a:p>
          <a:p>
            <a:endParaRPr lang="en-US" dirty="0"/>
          </a:p>
          <a:p>
            <a:r>
              <a:rPr lang="en-US" dirty="0"/>
              <a:t>The application tries to save the task.</a:t>
            </a:r>
          </a:p>
          <a:p>
            <a:endParaRPr lang="en-US" dirty="0"/>
          </a:p>
          <a:p>
            <a:r>
              <a:rPr lang="en-US" dirty="0"/>
              <a:t>The operation fails.</a:t>
            </a:r>
          </a:p>
          <a:p>
            <a:endParaRPr lang="en-US" dirty="0"/>
          </a:p>
          <a:p>
            <a:r>
              <a:rPr lang="en-US" dirty="0"/>
              <a:t>Now we need error handling.</a:t>
            </a:r>
          </a:p>
          <a:p>
            <a:endParaRPr lang="en-US" dirty="0"/>
          </a:p>
          <a:p>
            <a:r>
              <a:rPr lang="en-US" dirty="0"/>
              <a:t>The user shouldn't see a giant technical exception.</a:t>
            </a:r>
          </a:p>
          <a:p>
            <a:endParaRPr lang="en-US" dirty="0"/>
          </a:p>
          <a:p>
            <a:r>
              <a:rPr lang="en-US" dirty="0"/>
              <a:t>Instead:</a:t>
            </a:r>
          </a:p>
          <a:p>
            <a:endParaRPr lang="en-US" dirty="0"/>
          </a:p>
          <a:p>
            <a:r>
              <a:rPr lang="en-US" dirty="0"/>
              <a:t>"Unable to save the task. Please try again."</a:t>
            </a:r>
          </a:p>
          <a:p>
            <a:endParaRPr lang="en-US" dirty="0"/>
          </a:p>
          <a:p>
            <a:r>
              <a:rPr lang="en-US" dirty="0"/>
              <a:t>------------------------------------------------------------</a:t>
            </a:r>
          </a:p>
          <a:p>
            <a:endParaRPr lang="en-US" dirty="0"/>
          </a:p>
          <a:p>
            <a:r>
              <a:rPr lang="en-US" dirty="0"/>
              <a:t>GOOD ERROR MESSAGES</a:t>
            </a:r>
          </a:p>
          <a:p>
            <a:endParaRPr lang="en-US" dirty="0"/>
          </a:p>
          <a:p>
            <a:r>
              <a:rPr lang="en-US" dirty="0"/>
              <a:t>Point to the examples.</a:t>
            </a:r>
          </a:p>
          <a:p>
            <a:endParaRPr lang="en-US" dirty="0"/>
          </a:p>
          <a:p>
            <a:r>
              <a:rPr lang="en-US" dirty="0"/>
              <a:t>GOOD:</a:t>
            </a:r>
          </a:p>
          <a:p>
            <a:endParaRPr lang="en-US" dirty="0"/>
          </a:p>
          <a:p>
            <a:r>
              <a:rPr lang="en-US" dirty="0"/>
              <a:t>"Title is required."</a:t>
            </a:r>
          </a:p>
          <a:p>
            <a:endParaRPr lang="en-US" dirty="0"/>
          </a:p>
          <a:p>
            <a:r>
              <a:rPr lang="en-US" dirty="0"/>
              <a:t>"Due date cannot be in the past."</a:t>
            </a:r>
          </a:p>
          <a:p>
            <a:endParaRPr lang="en-US" dirty="0"/>
          </a:p>
          <a:p>
            <a:r>
              <a:rPr lang="en-US" dirty="0"/>
              <a:t>"Unable to save the task. Please try again."</a:t>
            </a:r>
          </a:p>
          <a:p>
            <a:endParaRPr lang="en-US" dirty="0"/>
          </a:p>
          <a:p>
            <a:r>
              <a:rPr lang="en-US" dirty="0"/>
              <a:t>BAD:</a:t>
            </a:r>
          </a:p>
          <a:p>
            <a:endParaRPr lang="en-US" dirty="0"/>
          </a:p>
          <a:p>
            <a:r>
              <a:rPr lang="en-US" dirty="0"/>
              <a:t>"</a:t>
            </a:r>
            <a:r>
              <a:rPr lang="en-US" dirty="0" err="1"/>
              <a:t>System.Data.SqlClient.SqlException</a:t>
            </a:r>
            <a:r>
              <a:rPr lang="en-US" dirty="0"/>
              <a:t>..."</a:t>
            </a:r>
          </a:p>
          <a:p>
            <a:endParaRPr lang="en-US" dirty="0"/>
          </a:p>
          <a:p>
            <a:r>
              <a:rPr lang="en-US" dirty="0"/>
              <a:t>"Object reference not set to an instance of an object."</a:t>
            </a:r>
          </a:p>
          <a:p>
            <a:endParaRPr lang="en-US" dirty="0"/>
          </a:p>
          <a:p>
            <a:r>
              <a:rPr lang="en-US" dirty="0"/>
              <a:t>"</a:t>
            </a:r>
            <a:r>
              <a:rPr lang="en-US" dirty="0" err="1"/>
              <a:t>NullReferenceException</a:t>
            </a:r>
            <a:r>
              <a:rPr lang="en-US" dirty="0"/>
              <a:t> at line 47."</a:t>
            </a:r>
          </a:p>
          <a:p>
            <a:endParaRPr lang="en-US" dirty="0"/>
          </a:p>
          <a:p>
            <a:r>
              <a:rPr lang="en-US" dirty="0"/>
              <a:t>Explain:</a:t>
            </a:r>
          </a:p>
          <a:p>
            <a:endParaRPr lang="en-US" dirty="0"/>
          </a:p>
          <a:p>
            <a:r>
              <a:rPr lang="en-US" dirty="0"/>
              <a:t>"Those messages may help developers."</a:t>
            </a:r>
          </a:p>
          <a:p>
            <a:endParaRPr lang="en-US" dirty="0"/>
          </a:p>
          <a:p>
            <a:r>
              <a:rPr lang="en-US" dirty="0"/>
              <a:t>"They don't help users."</a:t>
            </a:r>
          </a:p>
          <a:p>
            <a:endParaRPr lang="en-US" dirty="0"/>
          </a:p>
          <a:p>
            <a:r>
              <a:rPr lang="en-US" dirty="0"/>
              <a:t>------------------------------------------------------------</a:t>
            </a:r>
          </a:p>
          <a:p>
            <a:endParaRPr lang="en-US" dirty="0"/>
          </a:p>
          <a:p>
            <a:r>
              <a:rPr lang="en-US" dirty="0"/>
              <a:t>THE RULE</a:t>
            </a:r>
          </a:p>
          <a:p>
            <a:endParaRPr lang="en-US" dirty="0"/>
          </a:p>
          <a:p>
            <a:r>
              <a:rPr lang="en-US" dirty="0"/>
              <a:t>Point to:</a:t>
            </a:r>
          </a:p>
          <a:p>
            <a:endParaRPr lang="en-US" dirty="0"/>
          </a:p>
          <a:p>
            <a:r>
              <a:rPr lang="en-US" dirty="0"/>
              <a:t>"TELL THE USER WHAT THEY CAN DO — NOT WHAT WENT WRONG TECHNICALLY."</a:t>
            </a:r>
          </a:p>
          <a:p>
            <a:endParaRPr lang="en-US" dirty="0"/>
          </a:p>
          <a:p>
            <a:r>
              <a:rPr lang="en-US" dirty="0"/>
              <a:t>Explain:</a:t>
            </a:r>
          </a:p>
          <a:p>
            <a:endParaRPr lang="en-US" dirty="0"/>
          </a:p>
          <a:p>
            <a:r>
              <a:rPr lang="en-US" dirty="0"/>
              <a:t>Users need actionable information.</a:t>
            </a:r>
          </a:p>
          <a:p>
            <a:endParaRPr lang="en-US" dirty="0"/>
          </a:p>
          <a:p>
            <a:r>
              <a:rPr lang="en-US" dirty="0"/>
              <a:t>Developers need technical information.</a:t>
            </a:r>
          </a:p>
          <a:p>
            <a:endParaRPr lang="en-US" dirty="0"/>
          </a:p>
          <a:p>
            <a:r>
              <a:rPr lang="en-US" dirty="0"/>
              <a:t>Those are not always the same thing.</a:t>
            </a:r>
          </a:p>
          <a:p>
            <a:endParaRPr lang="en-US" dirty="0"/>
          </a:p>
          <a:p>
            <a:r>
              <a:rPr lang="en-US" dirty="0"/>
              <a:t>------------------------------------------------------------</a:t>
            </a:r>
          </a:p>
          <a:p>
            <a:endParaRPr lang="en-US" dirty="0"/>
          </a:p>
          <a:p>
            <a:r>
              <a:rPr lang="en-US" dirty="0"/>
              <a:t>LOGGING</a:t>
            </a:r>
          </a:p>
          <a:p>
            <a:endParaRPr lang="en-US" dirty="0"/>
          </a:p>
          <a:p>
            <a:r>
              <a:rPr lang="en-US" dirty="0"/>
              <a:t>Briefly introduce logging.</a:t>
            </a:r>
          </a:p>
          <a:p>
            <a:endParaRPr lang="en-US" dirty="0"/>
          </a:p>
          <a:p>
            <a:r>
              <a:rPr lang="en-US" dirty="0"/>
              <a:t>Say:</a:t>
            </a:r>
          </a:p>
          <a:p>
            <a:endParaRPr lang="en-US" dirty="0"/>
          </a:p>
          <a:p>
            <a:r>
              <a:rPr lang="en-US" dirty="0"/>
              <a:t>"If something unexpected happens..."</a:t>
            </a:r>
          </a:p>
          <a:p>
            <a:endParaRPr lang="en-US" dirty="0"/>
          </a:p>
          <a:p>
            <a:r>
              <a:rPr lang="en-US" dirty="0"/>
              <a:t>"We still need to know what happened."</a:t>
            </a:r>
          </a:p>
          <a:p>
            <a:endParaRPr lang="en-US" dirty="0"/>
          </a:p>
          <a:p>
            <a:r>
              <a:rPr lang="en-US" dirty="0"/>
              <a:t>"The application should log useful technical information."</a:t>
            </a:r>
          </a:p>
          <a:p>
            <a:endParaRPr lang="en-US" dirty="0"/>
          </a:p>
          <a:p>
            <a:r>
              <a:rPr lang="en-US" dirty="0"/>
              <a:t>The user might see:</a:t>
            </a:r>
          </a:p>
          <a:p>
            <a:endParaRPr lang="en-US" dirty="0"/>
          </a:p>
          <a:p>
            <a:r>
              <a:rPr lang="en-US" dirty="0"/>
              <a:t>"Unable to save the task. Please try again."</a:t>
            </a:r>
          </a:p>
          <a:p>
            <a:endParaRPr lang="en-US" dirty="0"/>
          </a:p>
          <a:p>
            <a:r>
              <a:rPr lang="en-US" dirty="0"/>
              <a:t>The developer's log might contain:</a:t>
            </a:r>
          </a:p>
          <a:p>
            <a:endParaRPr lang="en-US" dirty="0"/>
          </a:p>
          <a:p>
            <a:r>
              <a:rPr lang="en-US" dirty="0"/>
              <a:t>Database operation failed.</a:t>
            </a:r>
          </a:p>
          <a:p>
            <a:endParaRPr lang="en-US" dirty="0"/>
          </a:p>
          <a:p>
            <a:r>
              <a:rPr lang="en-US" dirty="0"/>
              <a:t>Connection problem.</a:t>
            </a:r>
          </a:p>
          <a:p>
            <a:endParaRPr lang="en-US" dirty="0"/>
          </a:p>
          <a:p>
            <a:r>
              <a:rPr lang="en-US" dirty="0"/>
              <a:t>Exception details.</a:t>
            </a:r>
          </a:p>
          <a:p>
            <a:endParaRPr lang="en-US" dirty="0"/>
          </a:p>
          <a:p>
            <a:r>
              <a:rPr lang="en-US" dirty="0"/>
              <a:t>Explain:</a:t>
            </a:r>
          </a:p>
          <a:p>
            <a:endParaRPr lang="en-US" dirty="0"/>
          </a:p>
          <a:p>
            <a:r>
              <a:rPr lang="en-US" dirty="0"/>
              <a:t>"The user gets a safe message."</a:t>
            </a:r>
          </a:p>
          <a:p>
            <a:endParaRPr lang="en-US" dirty="0"/>
          </a:p>
          <a:p>
            <a:r>
              <a:rPr lang="en-US" dirty="0"/>
              <a:t>"The developer gets the technical details."</a:t>
            </a:r>
          </a:p>
          <a:p>
            <a:endParaRPr lang="en-US" dirty="0"/>
          </a:p>
          <a:p>
            <a:r>
              <a:rPr lang="en-US" dirty="0"/>
              <a:t>------------------------------------------------------------</a:t>
            </a:r>
          </a:p>
          <a:p>
            <a:endParaRPr lang="en-US" dirty="0"/>
          </a:p>
          <a:p>
            <a:r>
              <a:rPr lang="en-US" dirty="0"/>
              <a:t>EXPECTED VS UNEXPECTED ERRORS</a:t>
            </a:r>
          </a:p>
          <a:p>
            <a:endParaRPr lang="en-US" dirty="0"/>
          </a:p>
          <a:p>
            <a:r>
              <a:rPr lang="en-US" dirty="0"/>
              <a:t>Explain:</a:t>
            </a:r>
          </a:p>
          <a:p>
            <a:endParaRPr lang="en-US" dirty="0"/>
          </a:p>
          <a:p>
            <a:r>
              <a:rPr lang="en-US" dirty="0"/>
              <a:t>"Some problems are expected."</a:t>
            </a:r>
          </a:p>
          <a:p>
            <a:endParaRPr lang="en-US" dirty="0"/>
          </a:p>
          <a:p>
            <a:r>
              <a:rPr lang="en-US" dirty="0"/>
              <a:t>Examples:</a:t>
            </a:r>
          </a:p>
          <a:p>
            <a:endParaRPr lang="en-US" dirty="0"/>
          </a:p>
          <a:p>
            <a:r>
              <a:rPr lang="en-US" dirty="0"/>
              <a:t>Missing required field.</a:t>
            </a:r>
          </a:p>
          <a:p>
            <a:endParaRPr lang="en-US" dirty="0"/>
          </a:p>
          <a:p>
            <a:r>
              <a:rPr lang="en-US" dirty="0"/>
              <a:t>Invalid date.</a:t>
            </a:r>
          </a:p>
          <a:p>
            <a:endParaRPr lang="en-US" dirty="0"/>
          </a:p>
          <a:p>
            <a:r>
              <a:rPr lang="en-US" dirty="0"/>
              <a:t>Invalid range.</a:t>
            </a:r>
          </a:p>
          <a:p>
            <a:endParaRPr lang="en-US" dirty="0"/>
          </a:p>
          <a:p>
            <a:r>
              <a:rPr lang="en-US" dirty="0"/>
              <a:t>These can be handled directly.</a:t>
            </a:r>
          </a:p>
          <a:p>
            <a:endParaRPr lang="en-US" dirty="0"/>
          </a:p>
          <a:p>
            <a:r>
              <a:rPr lang="en-US" dirty="0"/>
              <a:t>Other problems are unexpected:</a:t>
            </a:r>
          </a:p>
          <a:p>
            <a:endParaRPr lang="en-US" dirty="0"/>
          </a:p>
          <a:p>
            <a:r>
              <a:rPr lang="en-US" dirty="0"/>
              <a:t>Database unavailable.</a:t>
            </a:r>
          </a:p>
          <a:p>
            <a:endParaRPr lang="en-US" dirty="0"/>
          </a:p>
          <a:p>
            <a:r>
              <a:rPr lang="en-US" dirty="0"/>
              <a:t>Network failure.</a:t>
            </a:r>
          </a:p>
          <a:p>
            <a:endParaRPr lang="en-US" dirty="0"/>
          </a:p>
          <a:p>
            <a:r>
              <a:rPr lang="en-US" dirty="0"/>
              <a:t>Unexpected application exception.</a:t>
            </a:r>
          </a:p>
          <a:p>
            <a:endParaRPr lang="en-US" dirty="0"/>
          </a:p>
          <a:p>
            <a:r>
              <a:rPr lang="en-US" dirty="0"/>
              <a:t>Those require error handling.</a:t>
            </a:r>
          </a:p>
          <a:p>
            <a:endParaRPr lang="en-US" dirty="0"/>
          </a:p>
          <a:p>
            <a:r>
              <a:rPr lang="en-US" dirty="0"/>
              <a:t>------------------------------------------------------------</a:t>
            </a:r>
          </a:p>
          <a:p>
            <a:endParaRPr lang="en-US" dirty="0"/>
          </a:p>
          <a:p>
            <a:r>
              <a:rPr lang="en-US" dirty="0"/>
              <a:t>THE ERROR HANDLING FLOW</a:t>
            </a:r>
          </a:p>
          <a:p>
            <a:endParaRPr lang="en-US" dirty="0"/>
          </a:p>
          <a:p>
            <a:r>
              <a:rPr lang="en-US" dirty="0"/>
              <a:t>Walk through:</a:t>
            </a:r>
          </a:p>
          <a:p>
            <a:endParaRPr lang="en-US" dirty="0"/>
          </a:p>
          <a:p>
            <a:r>
              <a:rPr lang="en-US" dirty="0"/>
              <a:t>USER</a:t>
            </a:r>
          </a:p>
          <a:p>
            <a:endParaRPr lang="en-US" dirty="0"/>
          </a:p>
          <a:p>
            <a:r>
              <a:rPr lang="en-US" dirty="0"/>
              <a:t>↓</a:t>
            </a:r>
          </a:p>
          <a:p>
            <a:endParaRPr lang="en-US" dirty="0"/>
          </a:p>
          <a:p>
            <a:r>
              <a:rPr lang="en-US" dirty="0"/>
              <a:t>APPLICATION</a:t>
            </a:r>
          </a:p>
          <a:p>
            <a:endParaRPr lang="en-US" dirty="0"/>
          </a:p>
          <a:p>
            <a:r>
              <a:rPr lang="en-US" dirty="0"/>
              <a:t>↓</a:t>
            </a:r>
          </a:p>
          <a:p>
            <a:endParaRPr lang="en-US" dirty="0"/>
          </a:p>
          <a:p>
            <a:r>
              <a:rPr lang="en-US" dirty="0"/>
              <a:t>ERROR OCCURS</a:t>
            </a:r>
          </a:p>
          <a:p>
            <a:endParaRPr lang="en-US" dirty="0"/>
          </a:p>
          <a:p>
            <a:r>
              <a:rPr lang="en-US" dirty="0"/>
              <a:t>↓</a:t>
            </a:r>
          </a:p>
          <a:p>
            <a:endParaRPr lang="en-US" dirty="0"/>
          </a:p>
          <a:p>
            <a:r>
              <a:rPr lang="en-US" dirty="0"/>
              <a:t>APPLICATION HANDLES ERROR</a:t>
            </a:r>
          </a:p>
          <a:p>
            <a:endParaRPr lang="en-US" dirty="0"/>
          </a:p>
          <a:p>
            <a:r>
              <a:rPr lang="en-US" dirty="0"/>
              <a:t>↓</a:t>
            </a:r>
          </a:p>
          <a:p>
            <a:endParaRPr lang="en-US" dirty="0"/>
          </a:p>
          <a:p>
            <a:r>
              <a:rPr lang="en-US" dirty="0"/>
              <a:t>LOG TECHNICAL DETAILS</a:t>
            </a:r>
          </a:p>
          <a:p>
            <a:endParaRPr lang="en-US" dirty="0"/>
          </a:p>
          <a:p>
            <a:r>
              <a:rPr lang="en-US" dirty="0"/>
              <a:t>↓</a:t>
            </a:r>
          </a:p>
          <a:p>
            <a:endParaRPr lang="en-US" dirty="0"/>
          </a:p>
          <a:p>
            <a:r>
              <a:rPr lang="en-US" dirty="0"/>
              <a:t>SHOW USER-FRIENDLY MESSAGE</a:t>
            </a:r>
          </a:p>
          <a:p>
            <a:endParaRPr lang="en-US" dirty="0"/>
          </a:p>
          <a:p>
            <a:r>
              <a:rPr lang="en-US" dirty="0"/>
              <a:t>Explain:</a:t>
            </a:r>
          </a:p>
          <a:p>
            <a:endParaRPr lang="en-US" dirty="0"/>
          </a:p>
          <a:p>
            <a:r>
              <a:rPr lang="en-US" dirty="0"/>
              <a:t>"An error shouldn't automatically mean the application crashes."</a:t>
            </a:r>
          </a:p>
          <a:p>
            <a:endParaRPr lang="en-US" dirty="0"/>
          </a:p>
          <a:p>
            <a:r>
              <a:rPr lang="en-US" dirty="0"/>
              <a:t>"Good applications respond."</a:t>
            </a:r>
          </a:p>
          <a:p>
            <a:endParaRPr lang="en-US" dirty="0"/>
          </a:p>
          <a:p>
            <a:r>
              <a:rPr lang="en-US" dirty="0"/>
              <a:t>------------------------------------------------------------</a:t>
            </a:r>
          </a:p>
          <a:p>
            <a:endParaRPr lang="en-US" dirty="0"/>
          </a:p>
          <a:p>
            <a:r>
              <a:rPr lang="en-US" dirty="0"/>
              <a:t>WHY THIS MATTERS</a:t>
            </a:r>
          </a:p>
          <a:p>
            <a:endParaRPr lang="en-US" dirty="0"/>
          </a:p>
          <a:p>
            <a:r>
              <a:rPr lang="en-US" dirty="0"/>
              <a:t>Point to:</a:t>
            </a:r>
          </a:p>
          <a:p>
            <a:endParaRPr lang="en-US" dirty="0"/>
          </a:p>
          <a:p>
            <a:r>
              <a:rPr lang="en-US" dirty="0"/>
              <a:t>"Reliable apps build user trust."</a:t>
            </a:r>
          </a:p>
          <a:p>
            <a:endParaRPr lang="en-US" dirty="0"/>
          </a:p>
          <a:p>
            <a:r>
              <a:rPr lang="en-US" dirty="0"/>
              <a:t>Ask:</a:t>
            </a:r>
          </a:p>
          <a:p>
            <a:endParaRPr lang="en-US" dirty="0"/>
          </a:p>
          <a:p>
            <a:r>
              <a:rPr lang="en-US" dirty="0"/>
              <a:t>"Which application would you rather use?"</a:t>
            </a:r>
          </a:p>
          <a:p>
            <a:endParaRPr lang="en-US" dirty="0"/>
          </a:p>
          <a:p>
            <a:r>
              <a:rPr lang="en-US" dirty="0"/>
              <a:t>Application A:</a:t>
            </a:r>
          </a:p>
          <a:p>
            <a:endParaRPr lang="en-US" dirty="0"/>
          </a:p>
          <a:p>
            <a:r>
              <a:rPr lang="en-US" dirty="0"/>
              <a:t>Crashes when you enter bad information.</a:t>
            </a:r>
          </a:p>
          <a:p>
            <a:endParaRPr lang="en-US" dirty="0"/>
          </a:p>
          <a:p>
            <a:r>
              <a:rPr lang="en-US" dirty="0"/>
              <a:t>Application B:</a:t>
            </a:r>
          </a:p>
          <a:p>
            <a:endParaRPr lang="en-US" dirty="0"/>
          </a:p>
          <a:p>
            <a:r>
              <a:rPr lang="en-US" dirty="0"/>
              <a:t>Explains what went wrong and tells you how to fix it.</a:t>
            </a:r>
          </a:p>
          <a:p>
            <a:endParaRPr lang="en-US" dirty="0"/>
          </a:p>
          <a:p>
            <a:r>
              <a:rPr lang="en-US" dirty="0"/>
              <a:t>Students will choose B.</a:t>
            </a:r>
          </a:p>
          <a:p>
            <a:endParaRPr lang="en-US" dirty="0"/>
          </a:p>
          <a:p>
            <a:r>
              <a:rPr lang="en-US" dirty="0"/>
              <a:t>Say:</a:t>
            </a:r>
          </a:p>
          <a:p>
            <a:endParaRPr lang="en-US" dirty="0"/>
          </a:p>
          <a:p>
            <a:r>
              <a:rPr lang="en-US" dirty="0"/>
              <a:t>"That's reliability."</a:t>
            </a:r>
          </a:p>
          <a:p>
            <a:endParaRPr lang="en-US" dirty="0"/>
          </a:p>
          <a:p>
            <a:r>
              <a:rPr lang="en-US" dirty="0"/>
              <a:t>------------------------------------------------------------</a:t>
            </a:r>
          </a:p>
          <a:p>
            <a:endParaRPr lang="en-US" dirty="0"/>
          </a:p>
          <a:p>
            <a:r>
              <a:rPr lang="en-US" dirty="0"/>
              <a:t>BUILD CHALLENGE</a:t>
            </a:r>
          </a:p>
          <a:p>
            <a:endParaRPr lang="en-US" dirty="0"/>
          </a:p>
          <a:p>
            <a:r>
              <a:rPr lang="en-US" dirty="0"/>
              <a:t>Have students intentionally break their Task form.</a:t>
            </a:r>
          </a:p>
          <a:p>
            <a:endParaRPr lang="en-US" dirty="0"/>
          </a:p>
          <a:p>
            <a:r>
              <a:rPr lang="en-US" dirty="0"/>
              <a:t>Test:</a:t>
            </a:r>
          </a:p>
          <a:p>
            <a:endParaRPr lang="en-US" dirty="0"/>
          </a:p>
          <a:p>
            <a:r>
              <a:rPr lang="en-US" dirty="0"/>
              <a:t>1. Empty title.</a:t>
            </a:r>
          </a:p>
          <a:p>
            <a:endParaRPr lang="en-US" dirty="0"/>
          </a:p>
          <a:p>
            <a:r>
              <a:rPr lang="en-US" dirty="0"/>
              <a:t>2. Excessively long title.</a:t>
            </a:r>
          </a:p>
          <a:p>
            <a:endParaRPr lang="en-US" dirty="0"/>
          </a:p>
          <a:p>
            <a:r>
              <a:rPr lang="en-US" dirty="0"/>
              <a:t>3. Invalid date.</a:t>
            </a:r>
          </a:p>
          <a:p>
            <a:endParaRPr lang="en-US" dirty="0"/>
          </a:p>
          <a:p>
            <a:r>
              <a:rPr lang="en-US" dirty="0"/>
              <a:t>4. Invalid status.</a:t>
            </a:r>
          </a:p>
          <a:p>
            <a:endParaRPr lang="en-US" dirty="0"/>
          </a:p>
          <a:p>
            <a:r>
              <a:rPr lang="en-US" dirty="0"/>
              <a:t>5. Missing required information.</a:t>
            </a:r>
          </a:p>
          <a:p>
            <a:endParaRPr lang="en-US" dirty="0"/>
          </a:p>
          <a:p>
            <a:r>
              <a:rPr lang="en-US" dirty="0"/>
              <a:t>Then ask:</a:t>
            </a:r>
          </a:p>
          <a:p>
            <a:endParaRPr lang="en-US" dirty="0"/>
          </a:p>
          <a:p>
            <a:r>
              <a:rPr lang="en-US" dirty="0"/>
              <a:t>"What happens?"</a:t>
            </a:r>
          </a:p>
          <a:p>
            <a:endParaRPr lang="en-US" dirty="0"/>
          </a:p>
          <a:p>
            <a:r>
              <a:rPr lang="en-US" dirty="0"/>
              <a:t>Students should document:</a:t>
            </a:r>
          </a:p>
          <a:p>
            <a:endParaRPr lang="en-US" dirty="0"/>
          </a:p>
          <a:p>
            <a:r>
              <a:rPr lang="en-US" dirty="0"/>
              <a:t>What they entered.</a:t>
            </a:r>
          </a:p>
          <a:p>
            <a:endParaRPr lang="en-US" dirty="0"/>
          </a:p>
          <a:p>
            <a:r>
              <a:rPr lang="en-US" dirty="0"/>
              <a:t>What happened.</a:t>
            </a:r>
          </a:p>
          <a:p>
            <a:endParaRPr lang="en-US" dirty="0"/>
          </a:p>
          <a:p>
            <a:r>
              <a:rPr lang="en-US" dirty="0"/>
              <a:t>What message appeared.</a:t>
            </a:r>
          </a:p>
          <a:p>
            <a:endParaRPr lang="en-US" dirty="0"/>
          </a:p>
          <a:p>
            <a:r>
              <a:rPr lang="en-US" dirty="0"/>
              <a:t>What they expected.</a:t>
            </a:r>
          </a:p>
          <a:p>
            <a:endParaRPr lang="en-US" dirty="0"/>
          </a:p>
          <a:p>
            <a:r>
              <a:rPr lang="en-US" dirty="0"/>
              <a:t>------------------------------------------------------------</a:t>
            </a:r>
          </a:p>
          <a:p>
            <a:endParaRPr lang="en-US" dirty="0"/>
          </a:p>
          <a:p>
            <a:r>
              <a:rPr lang="en-US" dirty="0"/>
              <a:t>ERROR TESTING</a:t>
            </a:r>
          </a:p>
          <a:p>
            <a:endParaRPr lang="en-US" dirty="0"/>
          </a:p>
          <a:p>
            <a:r>
              <a:rPr lang="en-US" dirty="0"/>
              <a:t>Next, simulate an application failure if practical.</a:t>
            </a:r>
          </a:p>
          <a:p>
            <a:endParaRPr lang="en-US" dirty="0"/>
          </a:p>
          <a:p>
            <a:r>
              <a:rPr lang="en-US" dirty="0"/>
              <a:t>For example:</a:t>
            </a:r>
          </a:p>
          <a:p>
            <a:endParaRPr lang="en-US" dirty="0"/>
          </a:p>
          <a:p>
            <a:r>
              <a:rPr lang="en-US" dirty="0"/>
              <a:t>Temporarily make the database unavailable.</a:t>
            </a:r>
          </a:p>
          <a:p>
            <a:endParaRPr lang="en-US" dirty="0"/>
          </a:p>
          <a:p>
            <a:r>
              <a:rPr lang="en-US" dirty="0"/>
              <a:t>Then attempt to save a task.</a:t>
            </a:r>
          </a:p>
          <a:p>
            <a:endParaRPr lang="en-US" dirty="0"/>
          </a:p>
          <a:p>
            <a:r>
              <a:rPr lang="en-US" dirty="0"/>
              <a:t>Ask:</a:t>
            </a:r>
          </a:p>
          <a:p>
            <a:endParaRPr lang="en-US" dirty="0"/>
          </a:p>
          <a:p>
            <a:r>
              <a:rPr lang="en-US" dirty="0"/>
              <a:t>"What happened?"</a:t>
            </a:r>
          </a:p>
          <a:p>
            <a:endParaRPr lang="en-US" dirty="0"/>
          </a:p>
          <a:p>
            <a:r>
              <a:rPr lang="en-US" dirty="0"/>
              <a:t>"Did the application crash?"</a:t>
            </a:r>
          </a:p>
          <a:p>
            <a:endParaRPr lang="en-US" dirty="0"/>
          </a:p>
          <a:p>
            <a:r>
              <a:rPr lang="en-US" dirty="0"/>
              <a:t>"What did the user see?"</a:t>
            </a:r>
          </a:p>
          <a:p>
            <a:endParaRPr lang="en-US" dirty="0"/>
          </a:p>
          <a:p>
            <a:r>
              <a:rPr lang="en-US" dirty="0"/>
              <a:t>"What would a better message look like?"</a:t>
            </a:r>
          </a:p>
          <a:p>
            <a:endParaRPr lang="en-US" dirty="0"/>
          </a:p>
          <a:p>
            <a:r>
              <a:rPr lang="en-US" dirty="0"/>
              <a:t>------------------------------------------------------------</a:t>
            </a:r>
          </a:p>
          <a:p>
            <a:endParaRPr lang="en-US" dirty="0"/>
          </a:p>
          <a:p>
            <a:r>
              <a:rPr lang="en-US" dirty="0"/>
              <a:t>ENGINEERING MINDSET</a:t>
            </a:r>
          </a:p>
          <a:p>
            <a:endParaRPr lang="en-US" dirty="0"/>
          </a:p>
          <a:p>
            <a:r>
              <a:rPr lang="en-US" dirty="0"/>
              <a:t>Say:</a:t>
            </a:r>
          </a:p>
          <a:p>
            <a:endParaRPr lang="en-US" dirty="0"/>
          </a:p>
          <a:p>
            <a:r>
              <a:rPr lang="en-US" dirty="0"/>
              <a:t>"Engineers don't only test the happy path."</a:t>
            </a:r>
          </a:p>
          <a:p>
            <a:endParaRPr lang="en-US" dirty="0"/>
          </a:p>
          <a:p>
            <a:r>
              <a:rPr lang="en-US" dirty="0"/>
              <a:t>Explain:</a:t>
            </a:r>
          </a:p>
          <a:p>
            <a:endParaRPr lang="en-US" dirty="0"/>
          </a:p>
          <a:p>
            <a:r>
              <a:rPr lang="en-US" dirty="0"/>
              <a:t>"The happy path is when everything goes right."</a:t>
            </a:r>
          </a:p>
          <a:p>
            <a:endParaRPr lang="en-US" dirty="0"/>
          </a:p>
          <a:p>
            <a:r>
              <a:rPr lang="en-US" dirty="0"/>
              <a:t>Professional testing also asks:</a:t>
            </a:r>
          </a:p>
          <a:p>
            <a:endParaRPr lang="en-US" dirty="0"/>
          </a:p>
          <a:p>
            <a:r>
              <a:rPr lang="en-US" dirty="0"/>
              <a:t>"What if the user makes a mistake?"</a:t>
            </a:r>
          </a:p>
          <a:p>
            <a:endParaRPr lang="en-US" dirty="0"/>
          </a:p>
          <a:p>
            <a:r>
              <a:rPr lang="en-US" dirty="0"/>
              <a:t>"What if the network fails?"</a:t>
            </a:r>
          </a:p>
          <a:p>
            <a:endParaRPr lang="en-US" dirty="0"/>
          </a:p>
          <a:p>
            <a:r>
              <a:rPr lang="en-US" dirty="0"/>
              <a:t>"What if the database is unavailable?"</a:t>
            </a:r>
          </a:p>
          <a:p>
            <a:endParaRPr lang="en-US" dirty="0"/>
          </a:p>
          <a:p>
            <a:r>
              <a:rPr lang="en-US" dirty="0"/>
              <a:t>"What if something unexpected happens?"</a:t>
            </a:r>
          </a:p>
          <a:p>
            <a:endParaRPr lang="en-US" dirty="0"/>
          </a:p>
          <a:p>
            <a:r>
              <a:rPr lang="en-US" dirty="0"/>
              <a:t>------------------------------------------------------------</a:t>
            </a:r>
          </a:p>
          <a:p>
            <a:endParaRPr lang="en-US" dirty="0"/>
          </a:p>
          <a:p>
            <a:r>
              <a:rPr lang="en-US" dirty="0"/>
              <a:t>CONNECT TO SPRINT 5</a:t>
            </a:r>
          </a:p>
          <a:p>
            <a:endParaRPr lang="en-US" dirty="0"/>
          </a:p>
          <a:p>
            <a:r>
              <a:rPr lang="en-US" dirty="0"/>
              <a:t>Point to:</a:t>
            </a:r>
          </a:p>
          <a:p>
            <a:endParaRPr lang="en-US" dirty="0"/>
          </a:p>
          <a:p>
            <a:r>
              <a:rPr lang="en-US" dirty="0"/>
              <a:t>REMEMBER IT.</a:t>
            </a:r>
          </a:p>
          <a:p>
            <a:endParaRPr lang="en-US" dirty="0"/>
          </a:p>
          <a:p>
            <a:r>
              <a:rPr lang="en-US" dirty="0"/>
              <a:t>Say:</a:t>
            </a:r>
          </a:p>
          <a:p>
            <a:endParaRPr lang="en-US" dirty="0"/>
          </a:p>
          <a:p>
            <a:r>
              <a:rPr lang="en-US" dirty="0"/>
              <a:t>"We've taught Atlas how to remember."</a:t>
            </a:r>
          </a:p>
          <a:p>
            <a:endParaRPr lang="en-US" dirty="0"/>
          </a:p>
          <a:p>
            <a:r>
              <a:rPr lang="en-US" dirty="0"/>
              <a:t>"But now we're teaching Atlas how to protect the quality of what it</a:t>
            </a:r>
          </a:p>
          <a:p>
            <a:r>
              <a:rPr lang="en-US" dirty="0"/>
              <a:t>remembers."</a:t>
            </a:r>
          </a:p>
          <a:p>
            <a:endParaRPr lang="en-US" dirty="0"/>
          </a:p>
          <a:p>
            <a:r>
              <a:rPr lang="en-US" dirty="0"/>
              <a:t>Bad data becomes bad application behavior.</a:t>
            </a:r>
          </a:p>
          <a:p>
            <a:endParaRPr lang="en-US" dirty="0"/>
          </a:p>
          <a:p>
            <a:r>
              <a:rPr lang="en-US" dirty="0"/>
              <a:t>Good validation protects the data.</a:t>
            </a:r>
          </a:p>
          <a:p>
            <a:endParaRPr lang="en-US" dirty="0"/>
          </a:p>
          <a:p>
            <a:r>
              <a:rPr lang="en-US" dirty="0"/>
              <a:t>Good error handling protects the user experience.</a:t>
            </a:r>
          </a:p>
          <a:p>
            <a:endParaRPr lang="en-US" dirty="0"/>
          </a:p>
          <a:p>
            <a:r>
              <a:rPr lang="en-US" dirty="0"/>
              <a:t>------------------------------------------------------------</a:t>
            </a:r>
          </a:p>
          <a:p>
            <a:endParaRPr lang="en-US" dirty="0"/>
          </a:p>
          <a:p>
            <a:r>
              <a:rPr lang="en-US" dirty="0"/>
              <a:t>SPRINT 6 PREVIEW</a:t>
            </a:r>
          </a:p>
          <a:p>
            <a:endParaRPr lang="en-US" dirty="0"/>
          </a:p>
          <a:p>
            <a:r>
              <a:rPr lang="en-US" dirty="0"/>
              <a:t>Briefly point toward:</a:t>
            </a:r>
          </a:p>
          <a:p>
            <a:endParaRPr lang="en-US" dirty="0"/>
          </a:p>
          <a:p>
            <a:r>
              <a:rPr lang="en-US" dirty="0"/>
              <a:t>PROTECT IT.</a:t>
            </a:r>
          </a:p>
          <a:p>
            <a:endParaRPr lang="en-US" dirty="0"/>
          </a:p>
          <a:p>
            <a:r>
              <a:rPr lang="en-US" dirty="0"/>
              <a:t>Say:</a:t>
            </a:r>
          </a:p>
          <a:p>
            <a:endParaRPr lang="en-US" dirty="0"/>
          </a:p>
          <a:p>
            <a:r>
              <a:rPr lang="en-US" dirty="0"/>
              <a:t>"Notice something."</a:t>
            </a:r>
          </a:p>
          <a:p>
            <a:endParaRPr lang="en-US" dirty="0"/>
          </a:p>
          <a:p>
            <a:r>
              <a:rPr lang="en-US" dirty="0"/>
              <a:t>"Validation is part of building trustworthy software."</a:t>
            </a:r>
          </a:p>
          <a:p>
            <a:endParaRPr lang="en-US" dirty="0"/>
          </a:p>
          <a:p>
            <a:r>
              <a:rPr lang="en-US" dirty="0"/>
              <a:t>"Next sprint, we're going to take that idea further."</a:t>
            </a:r>
          </a:p>
          <a:p>
            <a:endParaRPr lang="en-US" dirty="0"/>
          </a:p>
          <a:p>
            <a:r>
              <a:rPr lang="en-US" dirty="0"/>
              <a:t>"We'll start talking about protecting users and their information."</a:t>
            </a:r>
          </a:p>
          <a:p>
            <a:endParaRPr lang="en-US" dirty="0"/>
          </a:p>
          <a:p>
            <a:r>
              <a:rPr lang="en-US" dirty="0"/>
              <a:t>Don't teach security yet.</a:t>
            </a:r>
          </a:p>
          <a:p>
            <a:endParaRPr lang="en-US" dirty="0"/>
          </a:p>
          <a:p>
            <a:r>
              <a:rPr lang="en-US" dirty="0"/>
              <a:t>Just create the connection.</a:t>
            </a:r>
          </a:p>
          <a:p>
            <a:endParaRPr lang="en-US" dirty="0"/>
          </a:p>
          <a:p>
            <a:r>
              <a:rPr lang="en-US" dirty="0"/>
              <a:t>------------------------------------------------------------</a:t>
            </a:r>
          </a:p>
          <a:p>
            <a:endParaRPr lang="en-US" dirty="0"/>
          </a:p>
          <a:p>
            <a:r>
              <a:rPr lang="en-US" dirty="0"/>
              <a:t>LOOKING AHEAD</a:t>
            </a:r>
          </a:p>
          <a:p>
            <a:endParaRPr lang="en-US" dirty="0"/>
          </a:p>
          <a:p>
            <a:r>
              <a:rPr lang="en-US" dirty="0"/>
              <a:t>Point to the final Sprint 5 artifact.</a:t>
            </a:r>
          </a:p>
          <a:p>
            <a:endParaRPr lang="en-US" dirty="0"/>
          </a:p>
          <a:p>
            <a:r>
              <a:rPr lang="en-US" dirty="0"/>
              <a:t>"Making </a:t>
            </a:r>
            <a:r>
              <a:rPr lang="en-US" dirty="0" err="1"/>
              <a:t>TaskFlow</a:t>
            </a:r>
            <a:r>
              <a:rPr lang="en-US" dirty="0"/>
              <a:t> Persistent."</a:t>
            </a:r>
          </a:p>
          <a:p>
            <a:endParaRPr lang="en-US" dirty="0"/>
          </a:p>
          <a:p>
            <a:r>
              <a:rPr lang="en-US" dirty="0"/>
              <a:t>Explain:</a:t>
            </a:r>
          </a:p>
          <a:p>
            <a:endParaRPr lang="en-US" dirty="0"/>
          </a:p>
          <a:p>
            <a:r>
              <a:rPr lang="en-US" dirty="0"/>
              <a:t>"Now we're going to prove everything works."</a:t>
            </a:r>
          </a:p>
          <a:p>
            <a:endParaRPr lang="en-US" dirty="0"/>
          </a:p>
          <a:p>
            <a:r>
              <a:rPr lang="en-US" dirty="0"/>
              <a:t>Students will demonstrate:</a:t>
            </a:r>
          </a:p>
          <a:p>
            <a:endParaRPr lang="en-US" dirty="0"/>
          </a:p>
          <a:p>
            <a:r>
              <a:rPr lang="en-US" dirty="0"/>
              <a:t>Create.</a:t>
            </a:r>
          </a:p>
          <a:p>
            <a:endParaRPr lang="en-US" dirty="0"/>
          </a:p>
          <a:p>
            <a:r>
              <a:rPr lang="en-US" dirty="0"/>
              <a:t>Save.</a:t>
            </a:r>
          </a:p>
          <a:p>
            <a:endParaRPr lang="en-US" dirty="0"/>
          </a:p>
          <a:p>
            <a:r>
              <a:rPr lang="en-US" dirty="0"/>
              <a:t>Close.</a:t>
            </a:r>
          </a:p>
          <a:p>
            <a:endParaRPr lang="en-US" dirty="0"/>
          </a:p>
          <a:p>
            <a:r>
              <a:rPr lang="en-US" dirty="0"/>
              <a:t>Reopen.</a:t>
            </a:r>
          </a:p>
          <a:p>
            <a:endParaRPr lang="en-US" dirty="0"/>
          </a:p>
          <a:p>
            <a:r>
              <a:rPr lang="en-US" dirty="0"/>
              <a:t>Retrieve.</a:t>
            </a:r>
          </a:p>
          <a:p>
            <a:endParaRPr lang="en-US" dirty="0"/>
          </a:p>
          <a:p>
            <a:r>
              <a:rPr lang="en-US" dirty="0"/>
              <a:t>Update.</a:t>
            </a:r>
          </a:p>
          <a:p>
            <a:endParaRPr lang="en-US" dirty="0"/>
          </a:p>
          <a:p>
            <a:r>
              <a:rPr lang="en-US" dirty="0"/>
              <a:t>Delete.</a:t>
            </a:r>
          </a:p>
          <a:p>
            <a:endParaRPr lang="en-US" dirty="0"/>
          </a:p>
          <a:p>
            <a:r>
              <a:rPr lang="en-US" dirty="0"/>
              <a:t>Handle invalid input.</a:t>
            </a:r>
          </a:p>
          <a:p>
            <a:endParaRPr lang="en-US" dirty="0"/>
          </a:p>
          <a:p>
            <a:r>
              <a:rPr lang="en-US" dirty="0"/>
              <a:t>Then reflect on the sprint.</a:t>
            </a:r>
          </a:p>
          <a:p>
            <a:endParaRPr lang="en-US" dirty="0"/>
          </a:p>
          <a:p>
            <a:r>
              <a:rPr lang="en-US" dirty="0"/>
              <a:t>------------------------------------------------------------</a:t>
            </a:r>
          </a:p>
          <a:p>
            <a:endParaRPr lang="en-US" dirty="0"/>
          </a:p>
          <a:p>
            <a:r>
              <a:rPr lang="en-US" dirty="0"/>
              <a:t>CLOSING</a:t>
            </a:r>
          </a:p>
          <a:p>
            <a:endParaRPr lang="en-US" dirty="0"/>
          </a:p>
          <a:p>
            <a:r>
              <a:rPr lang="en-US" dirty="0"/>
              <a:t>Say:</a:t>
            </a:r>
          </a:p>
          <a:p>
            <a:endParaRPr lang="en-US" dirty="0"/>
          </a:p>
          <a:p>
            <a:r>
              <a:rPr lang="en-US" dirty="0"/>
              <a:t>"Engineers..."</a:t>
            </a:r>
          </a:p>
          <a:p>
            <a:endParaRPr lang="en-US" dirty="0"/>
          </a:p>
          <a:p>
            <a:r>
              <a:rPr lang="en-US" dirty="0"/>
              <a:t>"Good software doesn't assume users will always do the right thing."</a:t>
            </a:r>
          </a:p>
          <a:p>
            <a:endParaRPr lang="en-US" dirty="0"/>
          </a:p>
          <a:p>
            <a:r>
              <a:rPr lang="en-US" dirty="0"/>
              <a:t>"Good software anticipates problems."</a:t>
            </a:r>
          </a:p>
          <a:p>
            <a:endParaRPr lang="en-US" dirty="0"/>
          </a:p>
          <a:p>
            <a:r>
              <a:rPr lang="en-US" dirty="0"/>
              <a:t>"Good software protects its data."</a:t>
            </a:r>
          </a:p>
          <a:p>
            <a:endParaRPr lang="en-US" dirty="0"/>
          </a:p>
          <a:p>
            <a:r>
              <a:rPr lang="en-US" dirty="0"/>
              <a:t>"Good software helps its users recover."</a:t>
            </a:r>
          </a:p>
          <a:p>
            <a:endParaRPr lang="en-US" dirty="0"/>
          </a:p>
          <a:p>
            <a:r>
              <a:rPr lang="en-US" dirty="0"/>
              <a:t>Pause.</a:t>
            </a:r>
          </a:p>
          <a:p>
            <a:endParaRPr lang="en-US" dirty="0"/>
          </a:p>
          <a:p>
            <a:r>
              <a:rPr lang="en-US" dirty="0"/>
              <a:t>"That's what reliability looks like."</a:t>
            </a:r>
          </a:p>
          <a:p>
            <a:endParaRPr lang="en-US" dirty="0"/>
          </a:p>
          <a:p>
            <a:r>
              <a:rPr lang="en-US" dirty="0"/>
              <a:t>============================================================</a:t>
            </a:r>
          </a:p>
          <a:p>
            <a:endParaRPr lang="en-US" dirty="0"/>
          </a:p>
          <a:p>
            <a:r>
              <a:rPr lang="en-US" dirty="0"/>
              <a:t>ESTIMATED TIME</a:t>
            </a:r>
          </a:p>
          <a:p>
            <a:endParaRPr lang="en-US" dirty="0"/>
          </a:p>
          <a:p>
            <a:r>
              <a:rPr lang="en-US" dirty="0"/>
              <a:t>Opening &amp; Discussion..................8 minutes</a:t>
            </a:r>
          </a:p>
          <a:p>
            <a:endParaRPr lang="en-US" dirty="0"/>
          </a:p>
          <a:p>
            <a:r>
              <a:rPr lang="en-US" dirty="0"/>
              <a:t>Validation Concept....................10 minutes</a:t>
            </a:r>
          </a:p>
          <a:p>
            <a:endParaRPr lang="en-US" dirty="0"/>
          </a:p>
          <a:p>
            <a:r>
              <a:rPr lang="en-US" dirty="0"/>
              <a:t>Client vs Server Validation...........10 minutes</a:t>
            </a:r>
          </a:p>
          <a:p>
            <a:endParaRPr lang="en-US" dirty="0"/>
          </a:p>
          <a:p>
            <a:r>
              <a:rPr lang="en-US" dirty="0"/>
              <a:t>Error Handling........................10 minutes</a:t>
            </a:r>
          </a:p>
          <a:p>
            <a:endParaRPr lang="en-US" dirty="0"/>
          </a:p>
          <a:p>
            <a:r>
              <a:rPr lang="en-US" dirty="0"/>
              <a:t>Logging &amp; User Messages.................7 minutes</a:t>
            </a:r>
          </a:p>
          <a:p>
            <a:endParaRPr lang="en-US" dirty="0"/>
          </a:p>
          <a:p>
            <a:r>
              <a:rPr lang="en-US" dirty="0"/>
              <a:t>Build Challenge........................12 minutes</a:t>
            </a:r>
          </a:p>
          <a:p>
            <a:endParaRPr lang="en-US" dirty="0"/>
          </a:p>
          <a:p>
            <a:r>
              <a:rPr lang="en-US" dirty="0"/>
              <a:t>Testing &amp; Discussion...................8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Keep this lesson practical.</a:t>
            </a:r>
          </a:p>
          <a:p>
            <a:endParaRPr lang="en-US" dirty="0"/>
          </a:p>
          <a:p>
            <a:r>
              <a:rPr lang="en-US" dirty="0"/>
              <a:t>Use the actual Atlas </a:t>
            </a:r>
            <a:r>
              <a:rPr lang="en-US" dirty="0" err="1"/>
              <a:t>TaskFlow</a:t>
            </a:r>
            <a:r>
              <a:rPr lang="en-US" dirty="0"/>
              <a:t> forms whenever possible.</a:t>
            </a:r>
          </a:p>
          <a:p>
            <a:endParaRPr lang="en-US" dirty="0"/>
          </a:p>
          <a:p>
            <a:r>
              <a:rPr lang="en-US" dirty="0"/>
              <a:t>Students should see validation happen inside the application they have</a:t>
            </a:r>
          </a:p>
          <a:p>
            <a:r>
              <a:rPr lang="en-US" dirty="0"/>
              <a:t>been building.</a:t>
            </a:r>
          </a:p>
          <a:p>
            <a:endParaRPr lang="en-US" dirty="0"/>
          </a:p>
          <a:p>
            <a:r>
              <a:rPr lang="en-US" dirty="0"/>
              <a:t>Avoid turning this into an exception-handling lecture.</a:t>
            </a:r>
          </a:p>
          <a:p>
            <a:endParaRPr lang="en-US" dirty="0"/>
          </a:p>
          <a:p>
            <a:r>
              <a:rPr lang="en-US" dirty="0"/>
              <a:t>The goal is:</a:t>
            </a:r>
          </a:p>
          <a:p>
            <a:endParaRPr lang="en-US" dirty="0"/>
          </a:p>
          <a:p>
            <a:r>
              <a:rPr lang="en-US" dirty="0"/>
              <a:t>INPUT</a:t>
            </a:r>
          </a:p>
          <a:p>
            <a:endParaRPr lang="en-US" dirty="0"/>
          </a:p>
          <a:p>
            <a:r>
              <a:rPr lang="en-US" dirty="0"/>
              <a:t>↓</a:t>
            </a:r>
          </a:p>
          <a:p>
            <a:endParaRPr lang="en-US" dirty="0"/>
          </a:p>
          <a:p>
            <a:r>
              <a:rPr lang="en-US" dirty="0"/>
              <a:t>VALIDATE</a:t>
            </a:r>
          </a:p>
          <a:p>
            <a:endParaRPr lang="en-US" dirty="0"/>
          </a:p>
          <a:p>
            <a:r>
              <a:rPr lang="en-US" dirty="0"/>
              <a:t>↓</a:t>
            </a:r>
          </a:p>
          <a:p>
            <a:endParaRPr lang="en-US" dirty="0"/>
          </a:p>
          <a:p>
            <a:r>
              <a:rPr lang="en-US" dirty="0"/>
              <a:t>PROCESS</a:t>
            </a:r>
          </a:p>
          <a:p>
            <a:endParaRPr lang="en-US" dirty="0"/>
          </a:p>
          <a:p>
            <a:r>
              <a:rPr lang="en-US" dirty="0"/>
              <a:t>↓</a:t>
            </a:r>
          </a:p>
          <a:p>
            <a:endParaRPr lang="en-US" dirty="0"/>
          </a:p>
          <a:p>
            <a:r>
              <a:rPr lang="en-US" dirty="0"/>
              <a:t>HANDLE FAILURE</a:t>
            </a:r>
          </a:p>
          <a:p>
            <a:endParaRPr lang="en-US" dirty="0"/>
          </a:p>
          <a:p>
            <a:r>
              <a:rPr lang="en-US" dirty="0"/>
              <a:t>↓</a:t>
            </a:r>
          </a:p>
          <a:p>
            <a:endParaRPr lang="en-US" dirty="0"/>
          </a:p>
          <a:p>
            <a:r>
              <a:rPr lang="en-US" dirty="0"/>
              <a:t>RESPOND</a:t>
            </a:r>
          </a:p>
          <a:p>
            <a:endParaRPr lang="en-US" dirty="0"/>
          </a:p>
          <a:p>
            <a:r>
              <a:rPr lang="en-US" dirty="0"/>
              <a:t>------------------------------------------------------------</a:t>
            </a:r>
          </a:p>
          <a:p>
            <a:endParaRPr lang="en-US" dirty="0"/>
          </a:p>
          <a:p>
            <a:r>
              <a:rPr lang="en-US" dirty="0"/>
              <a:t>IMPORTANT DISTINCTION</a:t>
            </a:r>
          </a:p>
          <a:p>
            <a:endParaRPr lang="en-US" dirty="0"/>
          </a:p>
          <a:p>
            <a:r>
              <a:rPr lang="en-US" dirty="0"/>
              <a:t>Make sure students understand:</a:t>
            </a:r>
          </a:p>
          <a:p>
            <a:endParaRPr lang="en-US" dirty="0"/>
          </a:p>
          <a:p>
            <a:r>
              <a:rPr lang="en-US" dirty="0"/>
              <a:t>VALIDATION</a:t>
            </a:r>
          </a:p>
          <a:p>
            <a:endParaRPr lang="en-US" dirty="0"/>
          </a:p>
          <a:p>
            <a:r>
              <a:rPr lang="en-US" dirty="0"/>
              <a:t>"Is this data acceptable?"</a:t>
            </a:r>
          </a:p>
          <a:p>
            <a:endParaRPr lang="en-US" dirty="0"/>
          </a:p>
          <a:p>
            <a:r>
              <a:rPr lang="en-US" dirty="0"/>
              <a:t>ERROR HANDLING</a:t>
            </a:r>
          </a:p>
          <a:p>
            <a:endParaRPr lang="en-US" dirty="0"/>
          </a:p>
          <a:p>
            <a:r>
              <a:rPr lang="en-US" dirty="0"/>
              <a:t>"What do we do when something goes wrong?"</a:t>
            </a:r>
          </a:p>
          <a:p>
            <a:endParaRPr lang="en-US" dirty="0"/>
          </a:p>
          <a:p>
            <a:r>
              <a:rPr lang="en-US" dirty="0"/>
              <a:t>They are related, but they are not the same thing.</a:t>
            </a:r>
          </a:p>
          <a:p>
            <a:endParaRPr lang="en-US" dirty="0"/>
          </a:p>
          <a:p>
            <a:r>
              <a:rPr lang="en-US" dirty="0"/>
              <a:t>------------------------------------------------------------</a:t>
            </a:r>
          </a:p>
          <a:p>
            <a:endParaRPr lang="en-US" dirty="0"/>
          </a:p>
          <a:p>
            <a:r>
              <a:rPr lang="en-US" dirty="0"/>
              <a:t>SECURITY BOUNDARY</a:t>
            </a:r>
          </a:p>
          <a:p>
            <a:endParaRPr lang="en-US" dirty="0"/>
          </a:p>
          <a:p>
            <a:r>
              <a:rPr lang="en-US" dirty="0"/>
              <a:t>Do not go deeply into:</a:t>
            </a:r>
          </a:p>
          <a:p>
            <a:endParaRPr lang="en-US" dirty="0"/>
          </a:p>
          <a:p>
            <a:r>
              <a:rPr lang="en-US" dirty="0"/>
              <a:t>• Authentication</a:t>
            </a:r>
          </a:p>
          <a:p>
            <a:r>
              <a:rPr lang="en-US" dirty="0"/>
              <a:t>• Authorization</a:t>
            </a:r>
          </a:p>
          <a:p>
            <a:r>
              <a:rPr lang="en-US" dirty="0"/>
              <a:t>• Encryption</a:t>
            </a:r>
          </a:p>
          <a:p>
            <a:r>
              <a:rPr lang="en-US" dirty="0"/>
              <a:t>• CSRF</a:t>
            </a:r>
          </a:p>
          <a:p>
            <a:r>
              <a:rPr lang="en-US" dirty="0"/>
              <a:t>• Identity</a:t>
            </a:r>
          </a:p>
          <a:p>
            <a:r>
              <a:rPr lang="en-US" dirty="0"/>
              <a:t>• Secrets management</a:t>
            </a:r>
          </a:p>
          <a:p>
            <a:endParaRPr lang="en-US" dirty="0"/>
          </a:p>
          <a:p>
            <a:r>
              <a:rPr lang="en-US" dirty="0"/>
              <a:t>Those belong primarily in Sprint 6.</a:t>
            </a:r>
          </a:p>
          <a:p>
            <a:endParaRPr lang="en-US" dirty="0"/>
          </a:p>
          <a:p>
            <a:r>
              <a:rPr lang="en-US" dirty="0"/>
              <a:t>However, briefly mention:</a:t>
            </a:r>
          </a:p>
          <a:p>
            <a:endParaRPr lang="en-US" dirty="0"/>
          </a:p>
          <a:p>
            <a:r>
              <a:rPr lang="en-US" dirty="0"/>
              <a:t>"Server-side validation is one layer of application protection."</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VALIDATE EARLY.</a:t>
            </a:r>
          </a:p>
          <a:p>
            <a:endParaRPr lang="en-US" dirty="0"/>
          </a:p>
          <a:p>
            <a:r>
              <a:rPr lang="en-US" dirty="0"/>
              <a:t>VALIDATE OFTEN.</a:t>
            </a:r>
          </a:p>
          <a:p>
            <a:endParaRPr lang="en-US" dirty="0"/>
          </a:p>
          <a:p>
            <a:r>
              <a:rPr lang="en-US" dirty="0"/>
              <a:t>HANDLE ERRORS.</a:t>
            </a:r>
          </a:p>
          <a:p>
            <a:endParaRPr lang="en-US" dirty="0"/>
          </a:p>
          <a:p>
            <a:r>
              <a:rPr lang="en-US" dirty="0"/>
              <a:t>HELP THE USER.</a:t>
            </a:r>
          </a:p>
          <a:p>
            <a:endParaRPr lang="en-US" dirty="0"/>
          </a:p>
          <a:p>
            <a:r>
              <a:rPr lang="en-US" dirty="0"/>
              <a:t>LOG THE DETAILS.</a:t>
            </a:r>
          </a:p>
          <a:p>
            <a:endParaRPr lang="en-US" dirty="0"/>
          </a:p>
          <a:p>
            <a:r>
              <a:rPr lang="en-US" dirty="0"/>
              <a:t>Then:</a:t>
            </a:r>
          </a:p>
          <a:p>
            <a:endParaRPr lang="en-US" dirty="0"/>
          </a:p>
          <a:p>
            <a:r>
              <a:rPr lang="en-US" dirty="0"/>
              <a:t>"Reliable software expects problems."</a:t>
            </a:r>
          </a:p>
          <a:p>
            <a:endParaRPr lang="en-US" dirty="0"/>
          </a:p>
          <a:p>
            <a:r>
              <a:rPr lang="en-US" dirty="0"/>
              <a:t>------------------------------------------------------------</a:t>
            </a:r>
          </a:p>
          <a:p>
            <a:endParaRPr lang="en-US" dirty="0"/>
          </a:p>
          <a:p>
            <a:r>
              <a:rPr lang="en-US" dirty="0"/>
              <a:t>FINAL STATEMENT</a:t>
            </a:r>
          </a:p>
          <a:p>
            <a:endParaRPr lang="en-US" dirty="0"/>
          </a:p>
          <a:p>
            <a:r>
              <a:rPr lang="en-US" dirty="0"/>
              <a:t>"Engineers..."</a:t>
            </a:r>
          </a:p>
          <a:p>
            <a:endParaRPr lang="en-US" dirty="0"/>
          </a:p>
          <a:p>
            <a:r>
              <a:rPr lang="en-US" dirty="0"/>
              <a:t>"Atlas can remember."</a:t>
            </a:r>
          </a:p>
          <a:p>
            <a:endParaRPr lang="en-US" dirty="0"/>
          </a:p>
          <a:p>
            <a:r>
              <a:rPr lang="en-US" dirty="0"/>
              <a:t>"Now Atlas knows how to reject bad information and respond when things</a:t>
            </a:r>
          </a:p>
          <a:p>
            <a:r>
              <a:rPr lang="en-US" dirty="0"/>
              <a:t>go wrong."</a:t>
            </a:r>
          </a:p>
          <a:p>
            <a:endParaRPr lang="en-US" dirty="0"/>
          </a:p>
          <a:p>
            <a:r>
              <a:rPr lang="en-US" dirty="0"/>
              <a:t>"One final step remains."</a:t>
            </a:r>
          </a:p>
          <a:p>
            <a:endParaRPr lang="en-US" dirty="0"/>
          </a:p>
          <a:p>
            <a:r>
              <a:rPr lang="en-US" dirty="0"/>
              <a:t>"We need to prove that everything we've built actually works."</a:t>
            </a:r>
          </a:p>
          <a:p>
            <a:endParaRPr lang="en-US" dirty="0"/>
          </a:p>
          <a:p>
            <a:r>
              <a:rPr lang="en-US" dirty="0"/>
              <a:t>============================================================</a:t>
            </a:r>
          </a:p>
        </p:txBody>
      </p:sp>
      <p:sp>
        <p:nvSpPr>
          <p:cNvPr id="4" name="Slide Number Placeholder 3"/>
          <p:cNvSpPr>
            <a:spLocks noGrp="1"/>
          </p:cNvSpPr>
          <p:nvPr>
            <p:ph type="sldNum" sz="quarter" idx="5"/>
          </p:nvPr>
        </p:nvSpPr>
        <p:spPr/>
        <p:txBody>
          <a:bodyPr/>
          <a:lstStyle/>
          <a:p>
            <a:fld id="{BFAFFB2A-FA1B-453E-A83D-1533B3FE308E}" type="slidenum">
              <a:rPr lang="en-US" smtClean="0"/>
              <a:t>7</a:t>
            </a:fld>
            <a:endParaRPr lang="en-US"/>
          </a:p>
        </p:txBody>
      </p:sp>
    </p:spTree>
    <p:extLst>
      <p:ext uri="{BB962C8B-B14F-4D97-AF65-F5344CB8AC3E}">
        <p14:creationId xmlns:p14="http://schemas.microsoft.com/office/powerpoint/2010/main" val="2556208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r>
              <a:rPr lang="en-US" dirty="0"/>
              <a:t>SPRINT 5</a:t>
            </a:r>
          </a:p>
          <a:p>
            <a:endParaRPr lang="en-US" dirty="0"/>
          </a:p>
          <a:p>
            <a:r>
              <a:rPr lang="en-US" dirty="0"/>
              <a:t>MAKING TASKFLOW PERSISTENT</a:t>
            </a:r>
          </a:p>
          <a:p>
            <a:endParaRPr lang="en-US" dirty="0"/>
          </a:p>
          <a:p>
            <a:r>
              <a:rPr lang="en-US" dirty="0"/>
              <a:t>"Prove that Atlas </a:t>
            </a:r>
            <a:r>
              <a:rPr lang="en-US" dirty="0" err="1"/>
              <a:t>TaskFlow</a:t>
            </a:r>
            <a:r>
              <a:rPr lang="en-US" dirty="0"/>
              <a:t> remembers."</a:t>
            </a:r>
          </a:p>
          <a:p>
            <a:endParaRPr lang="en-US" dirty="0"/>
          </a:p>
          <a:p>
            <a:r>
              <a:rPr lang="en-US" dirty="0"/>
              <a:t>============================================================</a:t>
            </a:r>
          </a:p>
          <a:p>
            <a:endParaRPr lang="en-US" dirty="0"/>
          </a:p>
          <a:p>
            <a:r>
              <a:rPr lang="en-US" dirty="0"/>
              <a:t>SLIDE PURPOSE</a:t>
            </a:r>
          </a:p>
          <a:p>
            <a:endParaRPr lang="en-US" dirty="0"/>
          </a:p>
          <a:p>
            <a:r>
              <a:rPr lang="en-US" dirty="0"/>
              <a:t>Bring Sprint 5 together by having students demonstrate that Atlas</a:t>
            </a:r>
          </a:p>
          <a:p>
            <a:r>
              <a:rPr lang="en-US" dirty="0" err="1"/>
              <a:t>TaskFlow</a:t>
            </a:r>
            <a:r>
              <a:rPr lang="en-US" dirty="0"/>
              <a:t> can reliably store, retrieve, update, and delete persistent</a:t>
            </a:r>
          </a:p>
          <a:p>
            <a:r>
              <a:rPr lang="en-US" dirty="0"/>
              <a:t>data.</a:t>
            </a:r>
          </a:p>
          <a:p>
            <a:endParaRPr lang="en-US" dirty="0"/>
          </a:p>
          <a:p>
            <a:r>
              <a:rPr lang="en-US" dirty="0"/>
              <a:t>Students should demonstrate that data survives beyond the current</a:t>
            </a:r>
          </a:p>
          <a:p>
            <a:r>
              <a:rPr lang="en-US" dirty="0"/>
              <a:t>browser session and that validation and error handling work as</a:t>
            </a:r>
          </a:p>
          <a:p>
            <a:r>
              <a:rPr lang="en-US" dirty="0"/>
              <a:t>expected.</a:t>
            </a:r>
          </a:p>
          <a:p>
            <a:endParaRPr lang="en-US" dirty="0"/>
          </a:p>
          <a:p>
            <a:r>
              <a:rPr lang="en-US" dirty="0"/>
              <a:t>The second purpose of this lesson is reflection.</a:t>
            </a:r>
          </a:p>
          <a:p>
            <a:endParaRPr lang="en-US" dirty="0"/>
          </a:p>
          <a:p>
            <a:r>
              <a:rPr lang="en-US" dirty="0"/>
              <a:t>Students should be able to explain:</a:t>
            </a:r>
          </a:p>
          <a:p>
            <a:endParaRPr lang="en-US" dirty="0"/>
          </a:p>
          <a:p>
            <a:r>
              <a:rPr lang="en-US" dirty="0"/>
              <a:t>• What they built</a:t>
            </a:r>
          </a:p>
          <a:p>
            <a:r>
              <a:rPr lang="en-US" dirty="0"/>
              <a:t>• Why they built it</a:t>
            </a:r>
          </a:p>
          <a:p>
            <a:r>
              <a:rPr lang="en-US" dirty="0"/>
              <a:t>• What problems they solved</a:t>
            </a:r>
          </a:p>
          <a:p>
            <a:r>
              <a:rPr lang="en-US" dirty="0"/>
              <a:t>• What they learned</a:t>
            </a:r>
          </a:p>
          <a:p>
            <a:r>
              <a:rPr lang="en-US" dirty="0"/>
              <a:t>• How Atlas </a:t>
            </a:r>
            <a:r>
              <a:rPr lang="en-US" dirty="0" err="1"/>
              <a:t>TaskFlow</a:t>
            </a:r>
            <a:r>
              <a:rPr lang="en-US" dirty="0"/>
              <a:t> changed during Sprint 5</a:t>
            </a:r>
          </a:p>
          <a:p>
            <a:endParaRPr lang="en-US" dirty="0"/>
          </a:p>
          <a:p>
            <a:r>
              <a:rPr lang="en-US" dirty="0"/>
              <a:t>This is both a technical verification and an engineering retrospective.</a:t>
            </a:r>
          </a:p>
          <a:p>
            <a:endParaRPr lang="en-US" dirty="0"/>
          </a:p>
          <a:p>
            <a:r>
              <a:rPr lang="en-US" dirty="0"/>
              <a:t>------------------------------------------------------------</a:t>
            </a:r>
          </a:p>
          <a:p>
            <a:endParaRPr lang="en-US" dirty="0"/>
          </a:p>
          <a:p>
            <a:r>
              <a:rPr lang="en-US" dirty="0"/>
              <a:t>OPENING</a:t>
            </a:r>
          </a:p>
          <a:p>
            <a:endParaRPr lang="en-US" dirty="0"/>
          </a:p>
          <a:p>
            <a:r>
              <a:rPr lang="en-US" dirty="0"/>
              <a:t>"Engineers..."</a:t>
            </a:r>
          </a:p>
          <a:p>
            <a:endParaRPr lang="en-US" dirty="0"/>
          </a:p>
          <a:p>
            <a:r>
              <a:rPr lang="en-US" dirty="0"/>
              <a:t>"We've spent this entire sprint teaching Atlas </a:t>
            </a:r>
            <a:r>
              <a:rPr lang="en-US" dirty="0" err="1"/>
              <a:t>TaskFlow</a:t>
            </a:r>
            <a:r>
              <a:rPr lang="en-US" dirty="0"/>
              <a:t> one thing."</a:t>
            </a:r>
          </a:p>
          <a:p>
            <a:endParaRPr lang="en-US" dirty="0"/>
          </a:p>
          <a:p>
            <a:r>
              <a:rPr lang="en-US" dirty="0"/>
              <a:t>Pause.</a:t>
            </a:r>
          </a:p>
          <a:p>
            <a:endParaRPr lang="en-US" dirty="0"/>
          </a:p>
          <a:p>
            <a:r>
              <a:rPr lang="en-US" dirty="0"/>
              <a:t>"How to remember."</a:t>
            </a:r>
          </a:p>
          <a:p>
            <a:endParaRPr lang="en-US" dirty="0"/>
          </a:p>
          <a:p>
            <a:r>
              <a:rPr lang="en-US" dirty="0"/>
              <a:t>Point to the title.</a:t>
            </a:r>
          </a:p>
          <a:p>
            <a:endParaRPr lang="en-US" dirty="0"/>
          </a:p>
          <a:p>
            <a:r>
              <a:rPr lang="en-US" dirty="0"/>
              <a:t>"Today..."</a:t>
            </a:r>
          </a:p>
          <a:p>
            <a:endParaRPr lang="en-US" dirty="0"/>
          </a:p>
          <a:p>
            <a:r>
              <a:rPr lang="en-US" dirty="0"/>
              <a:t>"We're going to prove that it does."</a:t>
            </a:r>
          </a:p>
          <a:p>
            <a:endParaRPr lang="en-US" dirty="0"/>
          </a:p>
          <a:p>
            <a:r>
              <a:rPr lang="en-US" dirty="0"/>
              <a:t>------------------------------------------------------------</a:t>
            </a:r>
          </a:p>
          <a:p>
            <a:endParaRPr lang="en-US" dirty="0"/>
          </a:p>
          <a:p>
            <a:r>
              <a:rPr lang="en-US" dirty="0"/>
              <a:t>THE SPRINT 5 MISSION</a:t>
            </a:r>
          </a:p>
          <a:p>
            <a:endParaRPr lang="en-US" dirty="0"/>
          </a:p>
          <a:p>
            <a:r>
              <a:rPr lang="en-US" dirty="0"/>
              <a:t>Point to the mission.</a:t>
            </a:r>
          </a:p>
          <a:p>
            <a:endParaRPr lang="en-US" dirty="0"/>
          </a:p>
          <a:p>
            <a:r>
              <a:rPr lang="en-US" dirty="0"/>
              <a:t>"Verify that Atlas </a:t>
            </a:r>
            <a:r>
              <a:rPr lang="en-US" dirty="0" err="1"/>
              <a:t>TaskFlow</a:t>
            </a:r>
            <a:r>
              <a:rPr lang="en-US" dirty="0"/>
              <a:t> can store, retrieve, update, and delete</a:t>
            </a:r>
          </a:p>
          <a:p>
            <a:r>
              <a:rPr lang="en-US" dirty="0"/>
              <a:t>data reliably—even after the application is closed and reopened."</a:t>
            </a:r>
          </a:p>
          <a:p>
            <a:endParaRPr lang="en-US" dirty="0"/>
          </a:p>
          <a:p>
            <a:r>
              <a:rPr lang="en-US" dirty="0"/>
              <a:t>Read it.</a:t>
            </a:r>
          </a:p>
          <a:p>
            <a:endParaRPr lang="en-US" dirty="0"/>
          </a:p>
          <a:p>
            <a:r>
              <a:rPr lang="en-US" dirty="0"/>
              <a:t>Then ask:</a:t>
            </a:r>
          </a:p>
          <a:p>
            <a:endParaRPr lang="en-US" dirty="0"/>
          </a:p>
          <a:p>
            <a:r>
              <a:rPr lang="en-US" dirty="0"/>
              <a:t>"What would prove that our application actually remembers?"</a:t>
            </a:r>
          </a:p>
          <a:p>
            <a:endParaRPr lang="en-US" dirty="0"/>
          </a:p>
          <a:p>
            <a:r>
              <a:rPr lang="en-US" dirty="0"/>
              <a:t>Allow responses.</a:t>
            </a:r>
          </a:p>
          <a:p>
            <a:endParaRPr lang="en-US" dirty="0"/>
          </a:p>
          <a:p>
            <a:r>
              <a:rPr lang="en-US" dirty="0"/>
              <a:t>Possible answers:</a:t>
            </a:r>
          </a:p>
          <a:p>
            <a:endParaRPr lang="en-US" dirty="0"/>
          </a:p>
          <a:p>
            <a:r>
              <a:rPr lang="en-US" dirty="0"/>
              <a:t>"The data is still there."</a:t>
            </a:r>
          </a:p>
          <a:p>
            <a:endParaRPr lang="en-US" dirty="0"/>
          </a:p>
          <a:p>
            <a:r>
              <a:rPr lang="en-US" dirty="0"/>
              <a:t>"We can retrieve it."</a:t>
            </a:r>
          </a:p>
          <a:p>
            <a:endParaRPr lang="en-US" dirty="0"/>
          </a:p>
          <a:p>
            <a:r>
              <a:rPr lang="en-US" dirty="0"/>
              <a:t>"It survives closing the application."</a:t>
            </a:r>
          </a:p>
          <a:p>
            <a:endParaRPr lang="en-US" dirty="0"/>
          </a:p>
          <a:p>
            <a:r>
              <a:rPr lang="en-US" dirty="0"/>
              <a:t>"CRUD works."</a:t>
            </a:r>
          </a:p>
          <a:p>
            <a:endParaRPr lang="en-US" dirty="0"/>
          </a:p>
          <a:p>
            <a:r>
              <a:rPr lang="en-US" dirty="0"/>
              <a:t>"Validation works."</a:t>
            </a:r>
          </a:p>
          <a:p>
            <a:endParaRPr lang="en-US" dirty="0"/>
          </a:p>
          <a:p>
            <a:r>
              <a:rPr lang="en-US" dirty="0"/>
              <a:t>Exactly.</a:t>
            </a:r>
          </a:p>
          <a:p>
            <a:endParaRPr lang="en-US" dirty="0"/>
          </a:p>
          <a:p>
            <a:r>
              <a:rPr lang="en-US" dirty="0"/>
              <a:t>------------------------------------------------------------</a:t>
            </a:r>
          </a:p>
          <a:p>
            <a:endParaRPr lang="en-US" dirty="0"/>
          </a:p>
          <a:p>
            <a:r>
              <a:rPr lang="en-US" dirty="0"/>
              <a:t>THE DIFFERENCE BETWEEN WORKING AND PROVEN</a:t>
            </a:r>
          </a:p>
          <a:p>
            <a:endParaRPr lang="en-US" dirty="0"/>
          </a:p>
          <a:p>
            <a:r>
              <a:rPr lang="en-US" dirty="0"/>
              <a:t>Say:</a:t>
            </a:r>
          </a:p>
          <a:p>
            <a:endParaRPr lang="en-US" dirty="0"/>
          </a:p>
          <a:p>
            <a:r>
              <a:rPr lang="en-US" dirty="0"/>
              <a:t>"There's an important engineering distinction here."</a:t>
            </a:r>
          </a:p>
          <a:p>
            <a:endParaRPr lang="en-US" dirty="0"/>
          </a:p>
          <a:p>
            <a:r>
              <a:rPr lang="en-US" dirty="0"/>
              <a:t>"Something working once doesn't prove that it's reliable."</a:t>
            </a:r>
          </a:p>
          <a:p>
            <a:endParaRPr lang="en-US" dirty="0"/>
          </a:p>
          <a:p>
            <a:r>
              <a:rPr lang="en-US" dirty="0"/>
              <a:t>Pause.</a:t>
            </a:r>
          </a:p>
          <a:p>
            <a:endParaRPr lang="en-US" dirty="0"/>
          </a:p>
          <a:p>
            <a:r>
              <a:rPr lang="en-US" dirty="0"/>
              <a:t>"We need to test it."</a:t>
            </a:r>
          </a:p>
          <a:p>
            <a:endParaRPr lang="en-US" dirty="0"/>
          </a:p>
          <a:p>
            <a:r>
              <a:rPr lang="en-US" dirty="0"/>
              <a:t>"We need to repeat it."</a:t>
            </a:r>
          </a:p>
          <a:p>
            <a:endParaRPr lang="en-US" dirty="0"/>
          </a:p>
          <a:p>
            <a:r>
              <a:rPr lang="en-US" dirty="0"/>
              <a:t>"We need to verify the result."</a:t>
            </a:r>
          </a:p>
          <a:p>
            <a:endParaRPr lang="en-US" dirty="0"/>
          </a:p>
          <a:p>
            <a:r>
              <a:rPr lang="en-US" dirty="0"/>
              <a:t>This is an important connection to Sprint 4.</a:t>
            </a:r>
          </a:p>
          <a:p>
            <a:endParaRPr lang="en-US" dirty="0"/>
          </a:p>
          <a:p>
            <a:r>
              <a:rPr lang="en-US" dirty="0"/>
              <a:t>------------------------------------------------------------</a:t>
            </a:r>
          </a:p>
          <a:p>
            <a:endParaRPr lang="en-US" dirty="0"/>
          </a:p>
          <a:p>
            <a:r>
              <a:rPr lang="en-US" dirty="0"/>
              <a:t>THE PERSISTENCE DEMO</a:t>
            </a:r>
          </a:p>
          <a:p>
            <a:endParaRPr lang="en-US" dirty="0"/>
          </a:p>
          <a:p>
            <a:r>
              <a:rPr lang="en-US" dirty="0"/>
              <a:t>Point to the six-step flow.</a:t>
            </a:r>
          </a:p>
          <a:p>
            <a:endParaRPr lang="en-US" dirty="0"/>
          </a:p>
          <a:p>
            <a:r>
              <a:rPr lang="en-US" dirty="0"/>
              <a:t>1. CREATE</a:t>
            </a:r>
          </a:p>
          <a:p>
            <a:endParaRPr lang="en-US" dirty="0"/>
          </a:p>
          <a:p>
            <a:r>
              <a:rPr lang="en-US" dirty="0"/>
              <a:t>2. PERSIST</a:t>
            </a:r>
          </a:p>
          <a:p>
            <a:endParaRPr lang="en-US" dirty="0"/>
          </a:p>
          <a:p>
            <a:r>
              <a:rPr lang="en-US" dirty="0"/>
              <a:t>3. CLOSE</a:t>
            </a:r>
          </a:p>
          <a:p>
            <a:endParaRPr lang="en-US" dirty="0"/>
          </a:p>
          <a:p>
            <a:r>
              <a:rPr lang="en-US" dirty="0"/>
              <a:t>4. REOPEN</a:t>
            </a:r>
          </a:p>
          <a:p>
            <a:endParaRPr lang="en-US" dirty="0"/>
          </a:p>
          <a:p>
            <a:r>
              <a:rPr lang="en-US" dirty="0"/>
              <a:t>5. RETRIEVE</a:t>
            </a:r>
          </a:p>
          <a:p>
            <a:endParaRPr lang="en-US" dirty="0"/>
          </a:p>
          <a:p>
            <a:r>
              <a:rPr lang="en-US" dirty="0"/>
              <a:t>6. SUCCESS</a:t>
            </a:r>
          </a:p>
          <a:p>
            <a:endParaRPr lang="en-US" dirty="0"/>
          </a:p>
          <a:p>
            <a:r>
              <a:rPr lang="en-US" dirty="0"/>
              <a:t>Say:</a:t>
            </a:r>
          </a:p>
          <a:p>
            <a:endParaRPr lang="en-US" dirty="0"/>
          </a:p>
          <a:p>
            <a:r>
              <a:rPr lang="en-US" dirty="0"/>
              <a:t>"This is our primary Sprint 5 demonstration."</a:t>
            </a:r>
          </a:p>
          <a:p>
            <a:endParaRPr lang="en-US" dirty="0"/>
          </a:p>
          <a:p>
            <a:r>
              <a:rPr lang="en-US" dirty="0"/>
              <a:t>------------------------------------------------------------</a:t>
            </a:r>
          </a:p>
          <a:p>
            <a:endParaRPr lang="en-US" dirty="0"/>
          </a:p>
          <a:p>
            <a:r>
              <a:rPr lang="en-US" dirty="0"/>
              <a:t>STEP 1 — CREATE</a:t>
            </a:r>
          </a:p>
          <a:p>
            <a:endParaRPr lang="en-US" dirty="0"/>
          </a:p>
          <a:p>
            <a:r>
              <a:rPr lang="en-US" dirty="0"/>
              <a:t>Open Atlas </a:t>
            </a:r>
            <a:r>
              <a:rPr lang="en-US" dirty="0" err="1"/>
              <a:t>TaskFlow</a:t>
            </a:r>
            <a:r>
              <a:rPr lang="en-US" dirty="0"/>
              <a:t>.</a:t>
            </a:r>
          </a:p>
          <a:p>
            <a:endParaRPr lang="en-US" dirty="0"/>
          </a:p>
          <a:p>
            <a:r>
              <a:rPr lang="en-US" dirty="0"/>
              <a:t>Navigate to the task creation page.</a:t>
            </a:r>
          </a:p>
          <a:p>
            <a:endParaRPr lang="en-US" dirty="0"/>
          </a:p>
          <a:p>
            <a:r>
              <a:rPr lang="en-US" dirty="0"/>
              <a:t>Create a new task.</a:t>
            </a:r>
          </a:p>
          <a:p>
            <a:endParaRPr lang="en-US" dirty="0"/>
          </a:p>
          <a:p>
            <a:r>
              <a:rPr lang="en-US" dirty="0"/>
              <a:t>Use realistic data.</a:t>
            </a:r>
          </a:p>
          <a:p>
            <a:endParaRPr lang="en-US" dirty="0"/>
          </a:p>
          <a:p>
            <a:r>
              <a:rPr lang="en-US" dirty="0"/>
              <a:t>For example:</a:t>
            </a:r>
          </a:p>
          <a:p>
            <a:endParaRPr lang="en-US" dirty="0"/>
          </a:p>
          <a:p>
            <a:r>
              <a:rPr lang="en-US" dirty="0"/>
              <a:t>Title:</a:t>
            </a:r>
          </a:p>
          <a:p>
            <a:r>
              <a:rPr lang="en-US" dirty="0"/>
              <a:t>Build Sprint 5 Dashboard</a:t>
            </a:r>
          </a:p>
          <a:p>
            <a:endParaRPr lang="en-US" dirty="0"/>
          </a:p>
          <a:p>
            <a:r>
              <a:rPr lang="en-US" dirty="0"/>
              <a:t>Description:</a:t>
            </a:r>
          </a:p>
          <a:p>
            <a:r>
              <a:rPr lang="en-US" dirty="0"/>
              <a:t>Complete the </a:t>
            </a:r>
            <a:r>
              <a:rPr lang="en-US" dirty="0" err="1"/>
              <a:t>TaskFlow</a:t>
            </a:r>
            <a:r>
              <a:rPr lang="en-US" dirty="0"/>
              <a:t> dashboard implementation.</a:t>
            </a:r>
          </a:p>
          <a:p>
            <a:endParaRPr lang="en-US" dirty="0"/>
          </a:p>
          <a:p>
            <a:r>
              <a:rPr lang="en-US" dirty="0"/>
              <a:t>Status:</a:t>
            </a:r>
          </a:p>
          <a:p>
            <a:r>
              <a:rPr lang="en-US" dirty="0"/>
              <a:t>To Do</a:t>
            </a:r>
          </a:p>
          <a:p>
            <a:endParaRPr lang="en-US" dirty="0"/>
          </a:p>
          <a:p>
            <a:r>
              <a:rPr lang="en-US" dirty="0"/>
              <a:t>Due Date:</a:t>
            </a:r>
          </a:p>
          <a:p>
            <a:r>
              <a:rPr lang="en-US" dirty="0"/>
              <a:t>Future date</a:t>
            </a:r>
          </a:p>
          <a:p>
            <a:endParaRPr lang="en-US" dirty="0"/>
          </a:p>
          <a:p>
            <a:r>
              <a:rPr lang="en-US" dirty="0"/>
              <a:t>Click:</a:t>
            </a:r>
          </a:p>
          <a:p>
            <a:endParaRPr lang="en-US" dirty="0"/>
          </a:p>
          <a:p>
            <a:r>
              <a:rPr lang="en-US" dirty="0"/>
              <a:t>SAVE</a:t>
            </a:r>
          </a:p>
          <a:p>
            <a:endParaRPr lang="en-US" dirty="0"/>
          </a:p>
          <a:p>
            <a:r>
              <a:rPr lang="en-US" dirty="0"/>
              <a:t>Explain:</a:t>
            </a:r>
          </a:p>
          <a:p>
            <a:endParaRPr lang="en-US" dirty="0"/>
          </a:p>
          <a:p>
            <a:r>
              <a:rPr lang="en-US" dirty="0"/>
              <a:t>"The user has created information."</a:t>
            </a:r>
          </a:p>
          <a:p>
            <a:endParaRPr lang="en-US" dirty="0"/>
          </a:p>
          <a:p>
            <a:r>
              <a:rPr lang="en-US" dirty="0"/>
              <a:t>------------------------------------------------------------</a:t>
            </a:r>
          </a:p>
          <a:p>
            <a:endParaRPr lang="en-US" dirty="0"/>
          </a:p>
          <a:p>
            <a:r>
              <a:rPr lang="en-US" dirty="0"/>
              <a:t>STEP 2 — PERSIST</a:t>
            </a:r>
          </a:p>
          <a:p>
            <a:endParaRPr lang="en-US" dirty="0"/>
          </a:p>
          <a:p>
            <a:r>
              <a:rPr lang="en-US" dirty="0"/>
              <a:t>Explain what should happen behind the scenes.</a:t>
            </a:r>
          </a:p>
          <a:p>
            <a:endParaRPr lang="en-US" dirty="0"/>
          </a:p>
          <a:p>
            <a:r>
              <a:rPr lang="en-US" dirty="0"/>
              <a:t>The application creates the Task object.</a:t>
            </a:r>
          </a:p>
          <a:p>
            <a:endParaRPr lang="en-US" dirty="0"/>
          </a:p>
          <a:p>
            <a:r>
              <a:rPr lang="en-US" dirty="0"/>
              <a:t>EF Core tracks the change.</a:t>
            </a:r>
          </a:p>
          <a:p>
            <a:endParaRPr lang="en-US" dirty="0"/>
          </a:p>
          <a:p>
            <a:r>
              <a:rPr lang="en-US" dirty="0" err="1"/>
              <a:t>SaveChangesAsync</a:t>
            </a:r>
            <a:r>
              <a:rPr lang="en-US" dirty="0"/>
              <a:t>() persists the information.</a:t>
            </a:r>
          </a:p>
          <a:p>
            <a:endParaRPr lang="en-US" dirty="0"/>
          </a:p>
          <a:p>
            <a:r>
              <a:rPr lang="en-US" dirty="0"/>
              <a:t>The database stores the record.</a:t>
            </a:r>
          </a:p>
          <a:p>
            <a:endParaRPr lang="en-US" dirty="0"/>
          </a:p>
          <a:p>
            <a:r>
              <a:rPr lang="en-US" dirty="0"/>
              <a:t>Say:</a:t>
            </a:r>
          </a:p>
          <a:p>
            <a:endParaRPr lang="en-US" dirty="0"/>
          </a:p>
          <a:p>
            <a:r>
              <a:rPr lang="en-US" dirty="0"/>
              <a:t>"This is the moment the information becomes persistent."</a:t>
            </a:r>
          </a:p>
          <a:p>
            <a:endParaRPr lang="en-US" dirty="0"/>
          </a:p>
          <a:p>
            <a:r>
              <a:rPr lang="en-US" dirty="0"/>
              <a:t>Pause.</a:t>
            </a:r>
          </a:p>
          <a:p>
            <a:endParaRPr lang="en-US" dirty="0"/>
          </a:p>
          <a:p>
            <a:r>
              <a:rPr lang="en-US" dirty="0"/>
              <a:t>"It no longer exists only in our application."</a:t>
            </a:r>
          </a:p>
          <a:p>
            <a:endParaRPr lang="en-US" dirty="0"/>
          </a:p>
          <a:p>
            <a:r>
              <a:rPr lang="en-US" dirty="0"/>
              <a:t>"It now exists in our database."</a:t>
            </a:r>
          </a:p>
          <a:p>
            <a:endParaRPr lang="en-US" dirty="0"/>
          </a:p>
          <a:p>
            <a:r>
              <a:rPr lang="en-US" dirty="0"/>
              <a:t>------------------------------------------------------------</a:t>
            </a:r>
          </a:p>
          <a:p>
            <a:endParaRPr lang="en-US" dirty="0"/>
          </a:p>
          <a:p>
            <a:r>
              <a:rPr lang="en-US" dirty="0"/>
              <a:t>STEP 3 — CLOSE</a:t>
            </a:r>
          </a:p>
          <a:p>
            <a:endParaRPr lang="en-US" dirty="0"/>
          </a:p>
          <a:p>
            <a:r>
              <a:rPr lang="en-US" dirty="0"/>
              <a:t>Now close the browser.</a:t>
            </a:r>
          </a:p>
          <a:p>
            <a:endParaRPr lang="en-US" dirty="0"/>
          </a:p>
          <a:p>
            <a:r>
              <a:rPr lang="en-US" dirty="0"/>
              <a:t>You can also stop and restart the application if appropriate.</a:t>
            </a:r>
          </a:p>
          <a:p>
            <a:endParaRPr lang="en-US" dirty="0"/>
          </a:p>
          <a:p>
            <a:r>
              <a:rPr lang="en-US" dirty="0"/>
              <a:t>Say:</a:t>
            </a:r>
          </a:p>
          <a:p>
            <a:endParaRPr lang="en-US" dirty="0"/>
          </a:p>
          <a:p>
            <a:r>
              <a:rPr lang="en-US" dirty="0"/>
              <a:t>"Here's the test."</a:t>
            </a:r>
          </a:p>
          <a:p>
            <a:endParaRPr lang="en-US" dirty="0"/>
          </a:p>
          <a:p>
            <a:r>
              <a:rPr lang="en-US" dirty="0"/>
              <a:t>"If the application only remembered the task temporarily..."</a:t>
            </a:r>
          </a:p>
          <a:p>
            <a:endParaRPr lang="en-US" dirty="0"/>
          </a:p>
          <a:p>
            <a:r>
              <a:rPr lang="en-US" dirty="0"/>
              <a:t>"It should be gone."</a:t>
            </a:r>
          </a:p>
          <a:p>
            <a:endParaRPr lang="en-US" dirty="0"/>
          </a:p>
          <a:p>
            <a:r>
              <a:rPr lang="en-US" dirty="0"/>
              <a:t>Pause.</a:t>
            </a:r>
          </a:p>
          <a:p>
            <a:endParaRPr lang="en-US" dirty="0"/>
          </a:p>
          <a:p>
            <a:r>
              <a:rPr lang="en-US" dirty="0"/>
              <a:t>"We're about to find out."</a:t>
            </a:r>
          </a:p>
          <a:p>
            <a:endParaRPr lang="en-US" dirty="0"/>
          </a:p>
          <a:p>
            <a:r>
              <a:rPr lang="en-US" dirty="0"/>
              <a:t>------------------------------------------------------------</a:t>
            </a:r>
          </a:p>
          <a:p>
            <a:endParaRPr lang="en-US" dirty="0"/>
          </a:p>
          <a:p>
            <a:r>
              <a:rPr lang="en-US" dirty="0"/>
              <a:t>STEP 4 — REOPEN</a:t>
            </a:r>
          </a:p>
          <a:p>
            <a:endParaRPr lang="en-US" dirty="0"/>
          </a:p>
          <a:p>
            <a:r>
              <a:rPr lang="en-US" dirty="0"/>
              <a:t>Open Atlas </a:t>
            </a:r>
            <a:r>
              <a:rPr lang="en-US" dirty="0" err="1"/>
              <a:t>TaskFlow</a:t>
            </a:r>
            <a:r>
              <a:rPr lang="en-US" dirty="0"/>
              <a:t> again.</a:t>
            </a:r>
          </a:p>
          <a:p>
            <a:endParaRPr lang="en-US" dirty="0"/>
          </a:p>
          <a:p>
            <a:r>
              <a:rPr lang="en-US" dirty="0"/>
              <a:t>Navigate back to the Tasks page.</a:t>
            </a:r>
          </a:p>
          <a:p>
            <a:endParaRPr lang="en-US" dirty="0"/>
          </a:p>
          <a:p>
            <a:r>
              <a:rPr lang="en-US" dirty="0"/>
              <a:t>Say:</a:t>
            </a:r>
          </a:p>
          <a:p>
            <a:endParaRPr lang="en-US" dirty="0"/>
          </a:p>
          <a:p>
            <a:r>
              <a:rPr lang="en-US" dirty="0"/>
              <a:t>"Atlas doesn't know we're testing it."</a:t>
            </a:r>
          </a:p>
          <a:p>
            <a:endParaRPr lang="en-US" dirty="0"/>
          </a:p>
          <a:p>
            <a:r>
              <a:rPr lang="en-US" dirty="0"/>
              <a:t>"This is just another user session."</a:t>
            </a:r>
          </a:p>
          <a:p>
            <a:endParaRPr lang="en-US" dirty="0"/>
          </a:p>
          <a:p>
            <a:r>
              <a:rPr lang="en-US" dirty="0"/>
              <a:t>------------------------------------------------------------</a:t>
            </a:r>
          </a:p>
          <a:p>
            <a:endParaRPr lang="en-US" dirty="0"/>
          </a:p>
          <a:p>
            <a:r>
              <a:rPr lang="en-US" dirty="0"/>
              <a:t>STEP 5 — RETRIEVE</a:t>
            </a:r>
          </a:p>
          <a:p>
            <a:endParaRPr lang="en-US" dirty="0"/>
          </a:p>
          <a:p>
            <a:r>
              <a:rPr lang="en-US" dirty="0"/>
              <a:t>The application loads the tasks.</a:t>
            </a:r>
          </a:p>
          <a:p>
            <a:endParaRPr lang="en-US" dirty="0"/>
          </a:p>
          <a:p>
            <a:r>
              <a:rPr lang="en-US" dirty="0"/>
              <a:t>EF Core queries the database.</a:t>
            </a:r>
          </a:p>
          <a:p>
            <a:endParaRPr lang="en-US" dirty="0"/>
          </a:p>
          <a:p>
            <a:r>
              <a:rPr lang="en-US" dirty="0"/>
              <a:t>The database returns the record.</a:t>
            </a:r>
          </a:p>
          <a:p>
            <a:endParaRPr lang="en-US" dirty="0"/>
          </a:p>
          <a:p>
            <a:r>
              <a:rPr lang="en-US" dirty="0"/>
              <a:t>The application displays it.</a:t>
            </a:r>
          </a:p>
          <a:p>
            <a:endParaRPr lang="en-US" dirty="0"/>
          </a:p>
          <a:p>
            <a:r>
              <a:rPr lang="en-US" dirty="0"/>
              <a:t>Ask:</a:t>
            </a:r>
          </a:p>
          <a:p>
            <a:endParaRPr lang="en-US" dirty="0"/>
          </a:p>
          <a:p>
            <a:r>
              <a:rPr lang="en-US" dirty="0"/>
              <a:t>"Is our task still there?"</a:t>
            </a:r>
          </a:p>
          <a:p>
            <a:endParaRPr lang="en-US" dirty="0"/>
          </a:p>
          <a:p>
            <a:r>
              <a:rPr lang="en-US" dirty="0"/>
              <a:t>Students:</a:t>
            </a:r>
          </a:p>
          <a:p>
            <a:endParaRPr lang="en-US" dirty="0"/>
          </a:p>
          <a:p>
            <a:r>
              <a:rPr lang="en-US" dirty="0"/>
              <a:t>"Yes."</a:t>
            </a:r>
          </a:p>
          <a:p>
            <a:endParaRPr lang="en-US" dirty="0"/>
          </a:p>
          <a:p>
            <a:r>
              <a:rPr lang="en-US" dirty="0"/>
              <a:t>Pause.</a:t>
            </a:r>
          </a:p>
          <a:p>
            <a:endParaRPr lang="en-US" dirty="0"/>
          </a:p>
          <a:p>
            <a:r>
              <a:rPr lang="en-US" dirty="0"/>
              <a:t>"That's persistence."</a:t>
            </a:r>
          </a:p>
          <a:p>
            <a:endParaRPr lang="en-US" dirty="0"/>
          </a:p>
          <a:p>
            <a:r>
              <a:rPr lang="en-US" dirty="0"/>
              <a:t>------------------------------------------------------------</a:t>
            </a:r>
          </a:p>
          <a:p>
            <a:endParaRPr lang="en-US" dirty="0"/>
          </a:p>
          <a:p>
            <a:r>
              <a:rPr lang="en-US" dirty="0"/>
              <a:t>STEP 6 — SUCCESS</a:t>
            </a:r>
          </a:p>
          <a:p>
            <a:endParaRPr lang="en-US" dirty="0"/>
          </a:p>
          <a:p>
            <a:r>
              <a:rPr lang="en-US" dirty="0"/>
              <a:t>Point to the green check.</a:t>
            </a:r>
          </a:p>
          <a:p>
            <a:endParaRPr lang="en-US" dirty="0"/>
          </a:p>
          <a:p>
            <a:r>
              <a:rPr lang="en-US" dirty="0"/>
              <a:t>Say:</a:t>
            </a:r>
          </a:p>
          <a:p>
            <a:endParaRPr lang="en-US" dirty="0"/>
          </a:p>
          <a:p>
            <a:r>
              <a:rPr lang="en-US" dirty="0"/>
              <a:t>"Atlas remembered."</a:t>
            </a:r>
          </a:p>
          <a:p>
            <a:endParaRPr lang="en-US" dirty="0"/>
          </a:p>
          <a:p>
            <a:r>
              <a:rPr lang="en-US" dirty="0"/>
              <a:t>This is the Sprint 5 milestone.</a:t>
            </a:r>
          </a:p>
          <a:p>
            <a:endParaRPr lang="en-US" dirty="0"/>
          </a:p>
          <a:p>
            <a:r>
              <a:rPr lang="en-US" dirty="0"/>
              <a:t>------------------------------------------------------------</a:t>
            </a:r>
          </a:p>
          <a:p>
            <a:endParaRPr lang="en-US" dirty="0"/>
          </a:p>
          <a:p>
            <a:r>
              <a:rPr lang="en-US" dirty="0"/>
              <a:t>THE BIGGER ARCHITECTURE</a:t>
            </a:r>
          </a:p>
          <a:p>
            <a:endParaRPr lang="en-US" dirty="0"/>
          </a:p>
          <a:p>
            <a:r>
              <a:rPr lang="en-US" dirty="0"/>
              <a:t>Point to the flow.</a:t>
            </a:r>
          </a:p>
          <a:p>
            <a:endParaRPr lang="en-US" dirty="0"/>
          </a:p>
          <a:p>
            <a:r>
              <a:rPr lang="en-US" dirty="0"/>
              <a:t>USER</a:t>
            </a:r>
          </a:p>
          <a:p>
            <a:endParaRPr lang="en-US" dirty="0"/>
          </a:p>
          <a:p>
            <a:r>
              <a:rPr lang="en-US" dirty="0"/>
              <a:t>↓</a:t>
            </a:r>
          </a:p>
          <a:p>
            <a:endParaRPr lang="en-US" dirty="0"/>
          </a:p>
          <a:p>
            <a:r>
              <a:rPr lang="en-US" dirty="0"/>
              <a:t>BROWSER</a:t>
            </a:r>
          </a:p>
          <a:p>
            <a:endParaRPr lang="en-US" dirty="0"/>
          </a:p>
          <a:p>
            <a:r>
              <a:rPr lang="en-US" dirty="0"/>
              <a:t>↓</a:t>
            </a:r>
          </a:p>
          <a:p>
            <a:endParaRPr lang="en-US" dirty="0"/>
          </a:p>
          <a:p>
            <a:r>
              <a:rPr lang="en-US" dirty="0"/>
              <a:t>MVC APPLICATION</a:t>
            </a:r>
          </a:p>
          <a:p>
            <a:endParaRPr lang="en-US" dirty="0"/>
          </a:p>
          <a:p>
            <a:r>
              <a:rPr lang="en-US" dirty="0"/>
              <a:t>↓</a:t>
            </a:r>
          </a:p>
          <a:p>
            <a:endParaRPr lang="en-US" dirty="0"/>
          </a:p>
          <a:p>
            <a:r>
              <a:rPr lang="en-US" dirty="0"/>
              <a:t>EF CORE</a:t>
            </a:r>
          </a:p>
          <a:p>
            <a:endParaRPr lang="en-US" dirty="0"/>
          </a:p>
          <a:p>
            <a:r>
              <a:rPr lang="en-US" dirty="0"/>
              <a:t>↓</a:t>
            </a:r>
          </a:p>
          <a:p>
            <a:endParaRPr lang="en-US" dirty="0"/>
          </a:p>
          <a:p>
            <a:r>
              <a:rPr lang="en-US" dirty="0"/>
              <a:t>DATABASE</a:t>
            </a:r>
          </a:p>
          <a:p>
            <a:endParaRPr lang="en-US" dirty="0"/>
          </a:p>
          <a:p>
            <a:r>
              <a:rPr lang="en-US" dirty="0"/>
              <a:t>Then say:</a:t>
            </a:r>
          </a:p>
          <a:p>
            <a:endParaRPr lang="en-US" dirty="0"/>
          </a:p>
          <a:p>
            <a:r>
              <a:rPr lang="en-US" dirty="0"/>
              <a:t>"Every piece we've built this sprint contributed to this moment."</a:t>
            </a:r>
          </a:p>
          <a:p>
            <a:endParaRPr lang="en-US" dirty="0"/>
          </a:p>
          <a:p>
            <a:r>
              <a:rPr lang="en-US" dirty="0"/>
              <a:t>The user creates the information.</a:t>
            </a:r>
          </a:p>
          <a:p>
            <a:endParaRPr lang="en-US" dirty="0"/>
          </a:p>
          <a:p>
            <a:r>
              <a:rPr lang="en-US" dirty="0"/>
              <a:t>The MVC application processes the request.</a:t>
            </a:r>
          </a:p>
          <a:p>
            <a:endParaRPr lang="en-US" dirty="0"/>
          </a:p>
          <a:p>
            <a:r>
              <a:rPr lang="en-US" dirty="0"/>
              <a:t>EF Core communicates with the database.</a:t>
            </a:r>
          </a:p>
          <a:p>
            <a:endParaRPr lang="en-US" dirty="0"/>
          </a:p>
          <a:p>
            <a:r>
              <a:rPr lang="en-US" dirty="0"/>
              <a:t>The database stores the information.</a:t>
            </a:r>
          </a:p>
          <a:p>
            <a:endParaRPr lang="en-US" dirty="0"/>
          </a:p>
          <a:p>
            <a:r>
              <a:rPr lang="en-US" dirty="0"/>
              <a:t>The application retrieves it later.</a:t>
            </a:r>
          </a:p>
          <a:p>
            <a:endParaRPr lang="en-US" dirty="0"/>
          </a:p>
          <a:p>
            <a:r>
              <a:rPr lang="en-US" dirty="0"/>
              <a:t>------------------------------------------------------------</a:t>
            </a:r>
          </a:p>
          <a:p>
            <a:endParaRPr lang="en-US" dirty="0"/>
          </a:p>
          <a:p>
            <a:r>
              <a:rPr lang="en-US" dirty="0"/>
              <a:t>CRUD VERIFICATION</a:t>
            </a:r>
          </a:p>
          <a:p>
            <a:endParaRPr lang="en-US" dirty="0"/>
          </a:p>
          <a:p>
            <a:r>
              <a:rPr lang="en-US" dirty="0"/>
              <a:t>Move to the CRUD checklist.</a:t>
            </a:r>
          </a:p>
          <a:p>
            <a:endParaRPr lang="en-US" dirty="0"/>
          </a:p>
          <a:p>
            <a:r>
              <a:rPr lang="en-US" dirty="0"/>
              <a:t>Now demonstrate:</a:t>
            </a:r>
          </a:p>
          <a:p>
            <a:endParaRPr lang="en-US" dirty="0"/>
          </a:p>
          <a:p>
            <a:r>
              <a:rPr lang="en-US" dirty="0"/>
              <a:t>CREATE</a:t>
            </a:r>
          </a:p>
          <a:p>
            <a:endParaRPr lang="en-US" dirty="0"/>
          </a:p>
          <a:p>
            <a:r>
              <a:rPr lang="en-US" dirty="0"/>
              <a:t>Create a task.</a:t>
            </a:r>
          </a:p>
          <a:p>
            <a:endParaRPr lang="en-US" dirty="0"/>
          </a:p>
          <a:p>
            <a:r>
              <a:rPr lang="en-US" dirty="0"/>
              <a:t>READ</a:t>
            </a:r>
          </a:p>
          <a:p>
            <a:endParaRPr lang="en-US" dirty="0"/>
          </a:p>
          <a:p>
            <a:r>
              <a:rPr lang="en-US" dirty="0"/>
              <a:t>Retrieve the task.</a:t>
            </a:r>
          </a:p>
          <a:p>
            <a:endParaRPr lang="en-US" dirty="0"/>
          </a:p>
          <a:p>
            <a:r>
              <a:rPr lang="en-US" dirty="0"/>
              <a:t>UPDATE</a:t>
            </a:r>
          </a:p>
          <a:p>
            <a:endParaRPr lang="en-US" dirty="0"/>
          </a:p>
          <a:p>
            <a:r>
              <a:rPr lang="en-US" dirty="0"/>
              <a:t>Change the task.</a:t>
            </a:r>
          </a:p>
          <a:p>
            <a:endParaRPr lang="en-US" dirty="0"/>
          </a:p>
          <a:p>
            <a:r>
              <a:rPr lang="en-US" dirty="0"/>
              <a:t>DELETE</a:t>
            </a:r>
          </a:p>
          <a:p>
            <a:endParaRPr lang="en-US" dirty="0"/>
          </a:p>
          <a:p>
            <a:r>
              <a:rPr lang="en-US" dirty="0"/>
              <a:t>Remove the task.</a:t>
            </a:r>
          </a:p>
          <a:p>
            <a:endParaRPr lang="en-US" dirty="0"/>
          </a:p>
          <a:p>
            <a:r>
              <a:rPr lang="en-US" dirty="0"/>
              <a:t>Explain:</a:t>
            </a:r>
          </a:p>
          <a:p>
            <a:endParaRPr lang="en-US" dirty="0"/>
          </a:p>
          <a:p>
            <a:r>
              <a:rPr lang="en-US" dirty="0"/>
              <a:t>"We aren't just proving that the database exists."</a:t>
            </a:r>
          </a:p>
          <a:p>
            <a:endParaRPr lang="en-US" dirty="0"/>
          </a:p>
          <a:p>
            <a:r>
              <a:rPr lang="en-US" dirty="0"/>
              <a:t>"We're proving that the application can manage its data."</a:t>
            </a:r>
          </a:p>
          <a:p>
            <a:endParaRPr lang="en-US" dirty="0"/>
          </a:p>
          <a:p>
            <a:r>
              <a:rPr lang="en-US" dirty="0"/>
              <a:t>------------------------------------------------------------</a:t>
            </a:r>
          </a:p>
          <a:p>
            <a:endParaRPr lang="en-US" dirty="0"/>
          </a:p>
          <a:p>
            <a:r>
              <a:rPr lang="en-US" dirty="0"/>
              <a:t>CREATE CHECK</a:t>
            </a:r>
          </a:p>
          <a:p>
            <a:endParaRPr lang="en-US" dirty="0"/>
          </a:p>
          <a:p>
            <a:r>
              <a:rPr lang="en-US" dirty="0"/>
              <a:t>Ask:</a:t>
            </a:r>
          </a:p>
          <a:p>
            <a:endParaRPr lang="en-US" dirty="0"/>
          </a:p>
          <a:p>
            <a:r>
              <a:rPr lang="en-US" dirty="0"/>
              <a:t>"Can we create a task?"</a:t>
            </a:r>
          </a:p>
          <a:p>
            <a:endParaRPr lang="en-US" dirty="0"/>
          </a:p>
          <a:p>
            <a:r>
              <a:rPr lang="en-US" dirty="0"/>
              <a:t>Verify:</a:t>
            </a:r>
          </a:p>
          <a:p>
            <a:endParaRPr lang="en-US" dirty="0"/>
          </a:p>
          <a:p>
            <a:r>
              <a:rPr lang="en-US" dirty="0"/>
              <a:t>✓ Form works.</a:t>
            </a:r>
          </a:p>
          <a:p>
            <a:endParaRPr lang="en-US" dirty="0"/>
          </a:p>
          <a:p>
            <a:r>
              <a:rPr lang="en-US" dirty="0"/>
              <a:t>✓ Valid information is accepted.</a:t>
            </a:r>
          </a:p>
          <a:p>
            <a:endParaRPr lang="en-US" dirty="0"/>
          </a:p>
          <a:p>
            <a:r>
              <a:rPr lang="en-US" dirty="0"/>
              <a:t>✓ Task appears in the list.</a:t>
            </a:r>
          </a:p>
          <a:p>
            <a:endParaRPr lang="en-US" dirty="0"/>
          </a:p>
          <a:p>
            <a:r>
              <a:rPr lang="en-US" dirty="0"/>
              <a:t>✓ Record exists in the database.</a:t>
            </a:r>
          </a:p>
          <a:p>
            <a:endParaRPr lang="en-US" dirty="0"/>
          </a:p>
          <a:p>
            <a:r>
              <a:rPr lang="en-US" dirty="0"/>
              <a:t>------------------------------------------------------------</a:t>
            </a:r>
          </a:p>
          <a:p>
            <a:endParaRPr lang="en-US" dirty="0"/>
          </a:p>
          <a:p>
            <a:r>
              <a:rPr lang="en-US" dirty="0"/>
              <a:t>READ CHECK</a:t>
            </a:r>
          </a:p>
          <a:p>
            <a:endParaRPr lang="en-US" dirty="0"/>
          </a:p>
          <a:p>
            <a:r>
              <a:rPr lang="en-US" dirty="0"/>
              <a:t>Ask:</a:t>
            </a:r>
          </a:p>
          <a:p>
            <a:endParaRPr lang="en-US" dirty="0"/>
          </a:p>
          <a:p>
            <a:r>
              <a:rPr lang="en-US" dirty="0"/>
              <a:t>"Can we retrieve the task?"</a:t>
            </a:r>
          </a:p>
          <a:p>
            <a:endParaRPr lang="en-US" dirty="0"/>
          </a:p>
          <a:p>
            <a:r>
              <a:rPr lang="en-US" dirty="0"/>
              <a:t>Verify:</a:t>
            </a:r>
          </a:p>
          <a:p>
            <a:endParaRPr lang="en-US" dirty="0"/>
          </a:p>
          <a:p>
            <a:r>
              <a:rPr lang="en-US" dirty="0"/>
              <a:t>✓ Task appears.</a:t>
            </a:r>
          </a:p>
          <a:p>
            <a:endParaRPr lang="en-US" dirty="0"/>
          </a:p>
          <a:p>
            <a:r>
              <a:rPr lang="en-US" dirty="0"/>
              <a:t>✓ Information is correct.</a:t>
            </a:r>
          </a:p>
          <a:p>
            <a:endParaRPr lang="en-US" dirty="0"/>
          </a:p>
          <a:p>
            <a:r>
              <a:rPr lang="en-US" dirty="0"/>
              <a:t>✓ Data loads without errors.</a:t>
            </a:r>
          </a:p>
          <a:p>
            <a:endParaRPr lang="en-US" dirty="0"/>
          </a:p>
          <a:p>
            <a:r>
              <a:rPr lang="en-US" dirty="0"/>
              <a:t>------------------------------------------------------------</a:t>
            </a:r>
          </a:p>
          <a:p>
            <a:endParaRPr lang="en-US" dirty="0"/>
          </a:p>
          <a:p>
            <a:r>
              <a:rPr lang="en-US" dirty="0"/>
              <a:t>UPDATE CHECK</a:t>
            </a:r>
          </a:p>
          <a:p>
            <a:endParaRPr lang="en-US" dirty="0"/>
          </a:p>
          <a:p>
            <a:r>
              <a:rPr lang="en-US" dirty="0"/>
              <a:t>Ask:</a:t>
            </a:r>
          </a:p>
          <a:p>
            <a:endParaRPr lang="en-US" dirty="0"/>
          </a:p>
          <a:p>
            <a:r>
              <a:rPr lang="en-US" dirty="0"/>
              <a:t>"Can we change the task?"</a:t>
            </a:r>
          </a:p>
          <a:p>
            <a:endParaRPr lang="en-US" dirty="0"/>
          </a:p>
          <a:p>
            <a:r>
              <a:rPr lang="en-US" dirty="0"/>
              <a:t>Change something obvious.</a:t>
            </a:r>
          </a:p>
          <a:p>
            <a:endParaRPr lang="en-US" dirty="0"/>
          </a:p>
          <a:p>
            <a:r>
              <a:rPr lang="en-US" dirty="0"/>
              <a:t>For example:</a:t>
            </a:r>
          </a:p>
          <a:p>
            <a:endParaRPr lang="en-US" dirty="0"/>
          </a:p>
          <a:p>
            <a:r>
              <a:rPr lang="en-US" dirty="0"/>
              <a:t>Status:</a:t>
            </a:r>
          </a:p>
          <a:p>
            <a:endParaRPr lang="en-US" dirty="0"/>
          </a:p>
          <a:p>
            <a:r>
              <a:rPr lang="en-US" dirty="0"/>
              <a:t>To Do</a:t>
            </a:r>
          </a:p>
          <a:p>
            <a:endParaRPr lang="en-US" dirty="0"/>
          </a:p>
          <a:p>
            <a:r>
              <a:rPr lang="en-US" dirty="0"/>
              <a:t>↓</a:t>
            </a:r>
          </a:p>
          <a:p>
            <a:endParaRPr lang="en-US" dirty="0"/>
          </a:p>
          <a:p>
            <a:r>
              <a:rPr lang="en-US" dirty="0"/>
              <a:t>In Progress</a:t>
            </a:r>
          </a:p>
          <a:p>
            <a:endParaRPr lang="en-US" dirty="0"/>
          </a:p>
          <a:p>
            <a:r>
              <a:rPr lang="en-US" dirty="0"/>
              <a:t>Save.</a:t>
            </a:r>
          </a:p>
          <a:p>
            <a:endParaRPr lang="en-US" dirty="0"/>
          </a:p>
          <a:p>
            <a:r>
              <a:rPr lang="en-US" dirty="0"/>
              <a:t>Refresh.</a:t>
            </a:r>
          </a:p>
          <a:p>
            <a:endParaRPr lang="en-US" dirty="0"/>
          </a:p>
          <a:p>
            <a:r>
              <a:rPr lang="en-US" dirty="0"/>
              <a:t>Verify:</a:t>
            </a:r>
          </a:p>
          <a:p>
            <a:endParaRPr lang="en-US" dirty="0"/>
          </a:p>
          <a:p>
            <a:r>
              <a:rPr lang="en-US" dirty="0"/>
              <a:t>"The updated value should remain."</a:t>
            </a:r>
          </a:p>
          <a:p>
            <a:endParaRPr lang="en-US" dirty="0"/>
          </a:p>
          <a:p>
            <a:r>
              <a:rPr lang="en-US" dirty="0"/>
              <a:t>------------------------------------------------------------</a:t>
            </a:r>
          </a:p>
          <a:p>
            <a:endParaRPr lang="en-US" dirty="0"/>
          </a:p>
          <a:p>
            <a:r>
              <a:rPr lang="en-US" dirty="0"/>
              <a:t>DELETE CHECK</a:t>
            </a:r>
          </a:p>
          <a:p>
            <a:endParaRPr lang="en-US" dirty="0"/>
          </a:p>
          <a:p>
            <a:r>
              <a:rPr lang="en-US" dirty="0"/>
              <a:t>Ask:</a:t>
            </a:r>
          </a:p>
          <a:p>
            <a:endParaRPr lang="en-US" dirty="0"/>
          </a:p>
          <a:p>
            <a:r>
              <a:rPr lang="en-US" dirty="0"/>
              <a:t>"Can we remove the task?"</a:t>
            </a:r>
          </a:p>
          <a:p>
            <a:endParaRPr lang="en-US" dirty="0"/>
          </a:p>
          <a:p>
            <a:r>
              <a:rPr lang="en-US" dirty="0"/>
              <a:t>Delete it.</a:t>
            </a:r>
          </a:p>
          <a:p>
            <a:endParaRPr lang="en-US" dirty="0"/>
          </a:p>
          <a:p>
            <a:r>
              <a:rPr lang="en-US" dirty="0"/>
              <a:t>Refresh.</a:t>
            </a:r>
          </a:p>
          <a:p>
            <a:endParaRPr lang="en-US" dirty="0"/>
          </a:p>
          <a:p>
            <a:r>
              <a:rPr lang="en-US" dirty="0"/>
              <a:t>Verify:</a:t>
            </a:r>
          </a:p>
          <a:p>
            <a:endParaRPr lang="en-US" dirty="0"/>
          </a:p>
          <a:p>
            <a:r>
              <a:rPr lang="en-US" dirty="0"/>
              <a:t>"The task should no longer appear."</a:t>
            </a:r>
          </a:p>
          <a:p>
            <a:endParaRPr lang="en-US" dirty="0"/>
          </a:p>
          <a:p>
            <a:r>
              <a:rPr lang="en-US" dirty="0"/>
              <a:t>Explain:</a:t>
            </a:r>
          </a:p>
          <a:p>
            <a:endParaRPr lang="en-US" dirty="0"/>
          </a:p>
          <a:p>
            <a:r>
              <a:rPr lang="en-US" dirty="0"/>
              <a:t>"The database should reflect what the user sees."</a:t>
            </a:r>
          </a:p>
          <a:p>
            <a:endParaRPr lang="en-US" dirty="0"/>
          </a:p>
          <a:p>
            <a:r>
              <a:rPr lang="en-US" dirty="0"/>
              <a:t>------------------------------------------------------------</a:t>
            </a:r>
          </a:p>
          <a:p>
            <a:endParaRPr lang="en-US" dirty="0"/>
          </a:p>
          <a:p>
            <a:r>
              <a:rPr lang="en-US" dirty="0"/>
              <a:t>PERSISTENCE CHECK</a:t>
            </a:r>
          </a:p>
          <a:p>
            <a:endParaRPr lang="en-US" dirty="0"/>
          </a:p>
          <a:p>
            <a:r>
              <a:rPr lang="en-US" dirty="0"/>
              <a:t>Now perform the important test again.</a:t>
            </a:r>
          </a:p>
          <a:p>
            <a:endParaRPr lang="en-US" dirty="0"/>
          </a:p>
          <a:p>
            <a:r>
              <a:rPr lang="en-US" dirty="0"/>
              <a:t>Create a task.</a:t>
            </a:r>
          </a:p>
          <a:p>
            <a:endParaRPr lang="en-US" dirty="0"/>
          </a:p>
          <a:p>
            <a:r>
              <a:rPr lang="en-US" dirty="0"/>
              <a:t>Close the application.</a:t>
            </a:r>
          </a:p>
          <a:p>
            <a:endParaRPr lang="en-US" dirty="0"/>
          </a:p>
          <a:p>
            <a:r>
              <a:rPr lang="en-US" dirty="0"/>
              <a:t>Reopen it.</a:t>
            </a:r>
          </a:p>
          <a:p>
            <a:endParaRPr lang="en-US" dirty="0"/>
          </a:p>
          <a:p>
            <a:r>
              <a:rPr lang="en-US" dirty="0"/>
              <a:t>Retrieve the task.</a:t>
            </a:r>
          </a:p>
          <a:p>
            <a:endParaRPr lang="en-US" dirty="0"/>
          </a:p>
          <a:p>
            <a:r>
              <a:rPr lang="en-US" dirty="0"/>
              <a:t>Explain:</a:t>
            </a:r>
          </a:p>
          <a:p>
            <a:endParaRPr lang="en-US" dirty="0"/>
          </a:p>
          <a:p>
            <a:r>
              <a:rPr lang="en-US" dirty="0"/>
              <a:t>"This is the test that separates temporary information from persistent</a:t>
            </a:r>
          </a:p>
          <a:p>
            <a:r>
              <a:rPr lang="en-US" dirty="0"/>
              <a:t>information."</a:t>
            </a:r>
          </a:p>
          <a:p>
            <a:endParaRPr lang="en-US" dirty="0"/>
          </a:p>
          <a:p>
            <a:r>
              <a:rPr lang="en-US" dirty="0"/>
              <a:t>------------------------------------------------------------</a:t>
            </a:r>
          </a:p>
          <a:p>
            <a:endParaRPr lang="en-US" dirty="0"/>
          </a:p>
          <a:p>
            <a:r>
              <a:rPr lang="en-US" dirty="0"/>
              <a:t>VALIDATION CHECK</a:t>
            </a:r>
          </a:p>
          <a:p>
            <a:endParaRPr lang="en-US" dirty="0"/>
          </a:p>
          <a:p>
            <a:r>
              <a:rPr lang="en-US" dirty="0"/>
              <a:t>Move to Validate &amp; Handle.</a:t>
            </a:r>
          </a:p>
          <a:p>
            <a:endParaRPr lang="en-US" dirty="0"/>
          </a:p>
          <a:p>
            <a:r>
              <a:rPr lang="en-US" dirty="0"/>
              <a:t>Intentionally enter invalid data.</a:t>
            </a:r>
          </a:p>
          <a:p>
            <a:endParaRPr lang="en-US" dirty="0"/>
          </a:p>
          <a:p>
            <a:r>
              <a:rPr lang="en-US" dirty="0"/>
              <a:t>Examples:</a:t>
            </a:r>
          </a:p>
          <a:p>
            <a:endParaRPr lang="en-US" dirty="0"/>
          </a:p>
          <a:p>
            <a:r>
              <a:rPr lang="en-US" dirty="0"/>
              <a:t>Blank title.</a:t>
            </a:r>
          </a:p>
          <a:p>
            <a:endParaRPr lang="en-US" dirty="0"/>
          </a:p>
          <a:p>
            <a:r>
              <a:rPr lang="en-US" dirty="0"/>
              <a:t>Invalid date.</a:t>
            </a:r>
          </a:p>
          <a:p>
            <a:endParaRPr lang="en-US" dirty="0"/>
          </a:p>
          <a:p>
            <a:r>
              <a:rPr lang="en-US" dirty="0"/>
              <a:t>Invalid value.</a:t>
            </a:r>
          </a:p>
          <a:p>
            <a:endParaRPr lang="en-US" dirty="0"/>
          </a:p>
          <a:p>
            <a:r>
              <a:rPr lang="en-US" dirty="0"/>
              <a:t>Submit.</a:t>
            </a:r>
          </a:p>
          <a:p>
            <a:endParaRPr lang="en-US" dirty="0"/>
          </a:p>
          <a:p>
            <a:r>
              <a:rPr lang="en-US" dirty="0"/>
              <a:t>Ask:</a:t>
            </a:r>
          </a:p>
          <a:p>
            <a:endParaRPr lang="en-US" dirty="0"/>
          </a:p>
          <a:p>
            <a:r>
              <a:rPr lang="en-US" dirty="0"/>
              <a:t>"What should happen?"</a:t>
            </a:r>
          </a:p>
          <a:p>
            <a:endParaRPr lang="en-US" dirty="0"/>
          </a:p>
          <a:p>
            <a:r>
              <a:rPr lang="en-US" dirty="0"/>
              <a:t>Students:</a:t>
            </a:r>
          </a:p>
          <a:p>
            <a:endParaRPr lang="en-US" dirty="0"/>
          </a:p>
          <a:p>
            <a:r>
              <a:rPr lang="en-US" dirty="0"/>
              <a:t>"The application should reject the data."</a:t>
            </a:r>
          </a:p>
          <a:p>
            <a:endParaRPr lang="en-US" dirty="0"/>
          </a:p>
          <a:p>
            <a:r>
              <a:rPr lang="en-US" dirty="0"/>
              <a:t>"An appropriate message should appear."</a:t>
            </a:r>
          </a:p>
          <a:p>
            <a:endParaRPr lang="en-US" dirty="0"/>
          </a:p>
          <a:p>
            <a:r>
              <a:rPr lang="en-US" dirty="0"/>
              <a:t>Exactly.</a:t>
            </a:r>
          </a:p>
          <a:p>
            <a:endParaRPr lang="en-US" dirty="0"/>
          </a:p>
          <a:p>
            <a:r>
              <a:rPr lang="en-US" dirty="0"/>
              <a:t>------------------------------------------------------------</a:t>
            </a:r>
          </a:p>
          <a:p>
            <a:endParaRPr lang="en-US" dirty="0"/>
          </a:p>
          <a:p>
            <a:r>
              <a:rPr lang="en-US" dirty="0"/>
              <a:t>ERROR HANDLING CHECK</a:t>
            </a:r>
          </a:p>
          <a:p>
            <a:endParaRPr lang="en-US" dirty="0"/>
          </a:p>
          <a:p>
            <a:r>
              <a:rPr lang="en-US" dirty="0"/>
              <a:t>If practical, simulate an application/database problem.</a:t>
            </a:r>
          </a:p>
          <a:p>
            <a:endParaRPr lang="en-US" dirty="0"/>
          </a:p>
          <a:p>
            <a:r>
              <a:rPr lang="en-US" dirty="0"/>
              <a:t>Ask:</a:t>
            </a:r>
          </a:p>
          <a:p>
            <a:endParaRPr lang="en-US" dirty="0"/>
          </a:p>
          <a:p>
            <a:r>
              <a:rPr lang="en-US" dirty="0"/>
              <a:t>"What happens when something unexpected occurs?"</a:t>
            </a:r>
          </a:p>
          <a:p>
            <a:endParaRPr lang="en-US" dirty="0"/>
          </a:p>
          <a:p>
            <a:r>
              <a:rPr lang="en-US" dirty="0"/>
              <a:t>The application should:</a:t>
            </a:r>
          </a:p>
          <a:p>
            <a:endParaRPr lang="en-US" dirty="0"/>
          </a:p>
          <a:p>
            <a:r>
              <a:rPr lang="en-US" dirty="0"/>
              <a:t>Handle the problem.</a:t>
            </a:r>
          </a:p>
          <a:p>
            <a:endParaRPr lang="en-US" dirty="0"/>
          </a:p>
          <a:p>
            <a:r>
              <a:rPr lang="en-US" dirty="0"/>
              <a:t>Avoid exposing raw technical details.</a:t>
            </a:r>
          </a:p>
          <a:p>
            <a:endParaRPr lang="en-US" dirty="0"/>
          </a:p>
          <a:p>
            <a:r>
              <a:rPr lang="en-US" dirty="0"/>
              <a:t>Provide a useful message.</a:t>
            </a:r>
          </a:p>
          <a:p>
            <a:endParaRPr lang="en-US" dirty="0"/>
          </a:p>
          <a:p>
            <a:r>
              <a:rPr lang="en-US" dirty="0"/>
              <a:t>Log technical information when appropriate.</a:t>
            </a:r>
          </a:p>
          <a:p>
            <a:endParaRPr lang="en-US" dirty="0"/>
          </a:p>
          <a:p>
            <a:r>
              <a:rPr lang="en-US" dirty="0"/>
              <a:t>Explain:</a:t>
            </a:r>
          </a:p>
          <a:p>
            <a:endParaRPr lang="en-US" dirty="0"/>
          </a:p>
          <a:p>
            <a:r>
              <a:rPr lang="en-US" dirty="0"/>
              <a:t>"Reliable software doesn't pretend errors don't exist."</a:t>
            </a:r>
          </a:p>
          <a:p>
            <a:endParaRPr lang="en-US" dirty="0"/>
          </a:p>
          <a:p>
            <a:r>
              <a:rPr lang="en-US" dirty="0"/>
              <a:t>"It knows how to respond to them."</a:t>
            </a:r>
          </a:p>
          <a:p>
            <a:endParaRPr lang="en-US" dirty="0"/>
          </a:p>
          <a:p>
            <a:r>
              <a:rPr lang="en-US" dirty="0"/>
              <a:t>------------------------------------------------------------</a:t>
            </a:r>
          </a:p>
          <a:p>
            <a:endParaRPr lang="en-US" dirty="0"/>
          </a:p>
          <a:p>
            <a:r>
              <a:rPr lang="en-US" dirty="0"/>
              <a:t>END-TO-END THINKING</a:t>
            </a:r>
          </a:p>
          <a:p>
            <a:endParaRPr lang="en-US" dirty="0"/>
          </a:p>
          <a:p>
            <a:r>
              <a:rPr lang="en-US" dirty="0"/>
              <a:t>Point to:</a:t>
            </a:r>
          </a:p>
          <a:p>
            <a:endParaRPr lang="en-US" dirty="0"/>
          </a:p>
          <a:p>
            <a:r>
              <a:rPr lang="en-US" dirty="0"/>
              <a:t>Requirements</a:t>
            </a:r>
          </a:p>
          <a:p>
            <a:endParaRPr lang="en-US" dirty="0"/>
          </a:p>
          <a:p>
            <a:r>
              <a:rPr lang="en-US" dirty="0"/>
              <a:t>↓</a:t>
            </a:r>
          </a:p>
          <a:p>
            <a:endParaRPr lang="en-US" dirty="0"/>
          </a:p>
          <a:p>
            <a:r>
              <a:rPr lang="en-US" dirty="0"/>
              <a:t>Data Model</a:t>
            </a:r>
          </a:p>
          <a:p>
            <a:endParaRPr lang="en-US" dirty="0"/>
          </a:p>
          <a:p>
            <a:r>
              <a:rPr lang="en-US" dirty="0"/>
              <a:t>↓</a:t>
            </a:r>
          </a:p>
          <a:p>
            <a:endParaRPr lang="en-US" dirty="0"/>
          </a:p>
          <a:p>
            <a:r>
              <a:rPr lang="en-US" dirty="0"/>
              <a:t>Code</a:t>
            </a:r>
          </a:p>
          <a:p>
            <a:endParaRPr lang="en-US" dirty="0"/>
          </a:p>
          <a:p>
            <a:r>
              <a:rPr lang="en-US" dirty="0"/>
              <a:t>↓</a:t>
            </a:r>
          </a:p>
          <a:p>
            <a:endParaRPr lang="en-US" dirty="0"/>
          </a:p>
          <a:p>
            <a:r>
              <a:rPr lang="en-US" dirty="0"/>
              <a:t>Database</a:t>
            </a:r>
          </a:p>
          <a:p>
            <a:endParaRPr lang="en-US" dirty="0"/>
          </a:p>
          <a:p>
            <a:r>
              <a:rPr lang="en-US" dirty="0"/>
              <a:t>↓</a:t>
            </a:r>
          </a:p>
          <a:p>
            <a:endParaRPr lang="en-US" dirty="0"/>
          </a:p>
          <a:p>
            <a:r>
              <a:rPr lang="en-US" dirty="0"/>
              <a:t>Validation</a:t>
            </a:r>
          </a:p>
          <a:p>
            <a:endParaRPr lang="en-US" dirty="0"/>
          </a:p>
          <a:p>
            <a:r>
              <a:rPr lang="en-US" dirty="0"/>
              <a:t>↓</a:t>
            </a:r>
          </a:p>
          <a:p>
            <a:endParaRPr lang="en-US" dirty="0"/>
          </a:p>
          <a:p>
            <a:r>
              <a:rPr lang="en-US" dirty="0"/>
              <a:t>Reliability</a:t>
            </a:r>
          </a:p>
          <a:p>
            <a:endParaRPr lang="en-US" dirty="0"/>
          </a:p>
          <a:p>
            <a:r>
              <a:rPr lang="en-US" dirty="0"/>
              <a:t>Explain:</a:t>
            </a:r>
          </a:p>
          <a:p>
            <a:endParaRPr lang="en-US" dirty="0"/>
          </a:p>
          <a:p>
            <a:r>
              <a:rPr lang="en-US" dirty="0"/>
              <a:t>"This is the entire engineering chain."</a:t>
            </a:r>
          </a:p>
          <a:p>
            <a:endParaRPr lang="en-US" dirty="0"/>
          </a:p>
          <a:p>
            <a:r>
              <a:rPr lang="en-US" dirty="0"/>
              <a:t>"Nothing we built this sprint exists in isolation."</a:t>
            </a:r>
          </a:p>
          <a:p>
            <a:endParaRPr lang="en-US" dirty="0"/>
          </a:p>
          <a:p>
            <a:r>
              <a:rPr lang="en-US" dirty="0"/>
              <a:t>------------------------------------------------------------</a:t>
            </a:r>
          </a:p>
          <a:p>
            <a:endParaRPr lang="en-US" dirty="0"/>
          </a:p>
          <a:p>
            <a:r>
              <a:rPr lang="en-US" dirty="0"/>
              <a:t>WHAT WE ACCOMPLISHED</a:t>
            </a:r>
          </a:p>
          <a:p>
            <a:endParaRPr lang="en-US" dirty="0"/>
          </a:p>
          <a:p>
            <a:r>
              <a:rPr lang="en-US" dirty="0"/>
              <a:t>Read through the accomplishment list.</a:t>
            </a:r>
          </a:p>
          <a:p>
            <a:endParaRPr lang="en-US" dirty="0"/>
          </a:p>
          <a:p>
            <a:r>
              <a:rPr lang="en-US" dirty="0"/>
              <a:t>"We gave Atlas a memory."</a:t>
            </a:r>
          </a:p>
          <a:p>
            <a:endParaRPr lang="en-US" dirty="0"/>
          </a:p>
          <a:p>
            <a:r>
              <a:rPr lang="en-US" dirty="0"/>
              <a:t>"We connected it to a real database."</a:t>
            </a:r>
          </a:p>
          <a:p>
            <a:endParaRPr lang="en-US" dirty="0"/>
          </a:p>
          <a:p>
            <a:r>
              <a:rPr lang="en-US" dirty="0"/>
              <a:t>"We implemented CRUD."</a:t>
            </a:r>
          </a:p>
          <a:p>
            <a:endParaRPr lang="en-US" dirty="0"/>
          </a:p>
          <a:p>
            <a:r>
              <a:rPr lang="en-US" dirty="0"/>
              <a:t>"We protected the quality of our data."</a:t>
            </a:r>
          </a:p>
          <a:p>
            <a:endParaRPr lang="en-US" dirty="0"/>
          </a:p>
          <a:p>
            <a:r>
              <a:rPr lang="en-US" dirty="0"/>
              <a:t>"We handled problems."</a:t>
            </a:r>
          </a:p>
          <a:p>
            <a:endParaRPr lang="en-US" dirty="0"/>
          </a:p>
          <a:p>
            <a:r>
              <a:rPr lang="en-US" dirty="0"/>
              <a:t>"We built a more reliable application."</a:t>
            </a:r>
          </a:p>
          <a:p>
            <a:endParaRPr lang="en-US" dirty="0"/>
          </a:p>
          <a:p>
            <a:r>
              <a:rPr lang="en-US" dirty="0"/>
              <a:t>Pause.</a:t>
            </a:r>
          </a:p>
          <a:p>
            <a:endParaRPr lang="en-US" dirty="0"/>
          </a:p>
          <a:p>
            <a:r>
              <a:rPr lang="en-US" dirty="0"/>
              <a:t>"That's a lot of engineering in one sprint."</a:t>
            </a:r>
          </a:p>
          <a:p>
            <a:endParaRPr lang="en-US" dirty="0"/>
          </a:p>
          <a:p>
            <a:r>
              <a:rPr lang="en-US" dirty="0"/>
              <a:t>------------------------------------------------------------</a:t>
            </a:r>
          </a:p>
          <a:p>
            <a:endParaRPr lang="en-US" dirty="0"/>
          </a:p>
          <a:p>
            <a:r>
              <a:rPr lang="en-US" dirty="0"/>
              <a:t>SPRINT 5 REFLECTION</a:t>
            </a:r>
          </a:p>
          <a:p>
            <a:endParaRPr lang="en-US" dirty="0"/>
          </a:p>
          <a:p>
            <a:r>
              <a:rPr lang="en-US" dirty="0"/>
              <a:t>Point to the reflection questions.</a:t>
            </a:r>
          </a:p>
          <a:p>
            <a:endParaRPr lang="en-US" dirty="0"/>
          </a:p>
          <a:p>
            <a:r>
              <a:rPr lang="en-US" dirty="0"/>
              <a:t>Ask students to answer these individually.</a:t>
            </a:r>
          </a:p>
          <a:p>
            <a:endParaRPr lang="en-US" dirty="0"/>
          </a:p>
          <a:p>
            <a:r>
              <a:rPr lang="en-US" dirty="0"/>
              <a:t>1. What did you learn during this sprint?</a:t>
            </a:r>
          </a:p>
          <a:p>
            <a:endParaRPr lang="en-US" dirty="0"/>
          </a:p>
          <a:p>
            <a:r>
              <a:rPr lang="en-US" dirty="0"/>
              <a:t>2. What problem did you solve?</a:t>
            </a:r>
          </a:p>
          <a:p>
            <a:endParaRPr lang="en-US" dirty="0"/>
          </a:p>
          <a:p>
            <a:r>
              <a:rPr lang="en-US" dirty="0"/>
              <a:t>3. What was the most challenging part?</a:t>
            </a:r>
          </a:p>
          <a:p>
            <a:endParaRPr lang="en-US" dirty="0"/>
          </a:p>
          <a:p>
            <a:r>
              <a:rPr lang="en-US" dirty="0"/>
              <a:t>4. What are you most proud of?</a:t>
            </a:r>
          </a:p>
          <a:p>
            <a:endParaRPr lang="en-US" dirty="0"/>
          </a:p>
          <a:p>
            <a:r>
              <a:rPr lang="en-US" dirty="0"/>
              <a:t>5. How has Atlas </a:t>
            </a:r>
            <a:r>
              <a:rPr lang="en-US" dirty="0" err="1"/>
              <a:t>TaskFlow</a:t>
            </a:r>
            <a:r>
              <a:rPr lang="en-US" dirty="0"/>
              <a:t> changed?</a:t>
            </a:r>
          </a:p>
          <a:p>
            <a:endParaRPr lang="en-US" dirty="0"/>
          </a:p>
          <a:p>
            <a:r>
              <a:rPr lang="en-US" dirty="0"/>
              <a:t>Give students time to write.</a:t>
            </a:r>
          </a:p>
          <a:p>
            <a:endParaRPr lang="en-US" dirty="0"/>
          </a:p>
          <a:p>
            <a:r>
              <a:rPr lang="en-US" dirty="0"/>
              <a:t>------------------------------------------------------------</a:t>
            </a:r>
          </a:p>
          <a:p>
            <a:endParaRPr lang="en-US" dirty="0"/>
          </a:p>
          <a:p>
            <a:r>
              <a:rPr lang="en-US" dirty="0"/>
              <a:t>REFLECTION QUESTION #1</a:t>
            </a:r>
          </a:p>
          <a:p>
            <a:endParaRPr lang="en-US" dirty="0"/>
          </a:p>
          <a:p>
            <a:r>
              <a:rPr lang="en-US" dirty="0"/>
              <a:t>"What did you learn?"</a:t>
            </a:r>
          </a:p>
          <a:p>
            <a:endParaRPr lang="en-US" dirty="0"/>
          </a:p>
          <a:p>
            <a:r>
              <a:rPr lang="en-US" dirty="0"/>
              <a:t>Encourage students to move beyond:</a:t>
            </a:r>
          </a:p>
          <a:p>
            <a:endParaRPr lang="en-US" dirty="0"/>
          </a:p>
          <a:p>
            <a:r>
              <a:rPr lang="en-US" dirty="0"/>
              <a:t>"I learned EF Core."</a:t>
            </a:r>
          </a:p>
          <a:p>
            <a:endParaRPr lang="en-US" dirty="0"/>
          </a:p>
          <a:p>
            <a:r>
              <a:rPr lang="en-US" dirty="0"/>
              <a:t>Ask:</a:t>
            </a:r>
          </a:p>
          <a:p>
            <a:endParaRPr lang="en-US" dirty="0"/>
          </a:p>
          <a:p>
            <a:r>
              <a:rPr lang="en-US" dirty="0"/>
              <a:t>"What can your application do now that it couldn't do before?"</a:t>
            </a:r>
          </a:p>
          <a:p>
            <a:endParaRPr lang="en-US" dirty="0"/>
          </a:p>
          <a:p>
            <a:r>
              <a:rPr lang="en-US" dirty="0"/>
              <a:t>That's a stronger engineering reflection.</a:t>
            </a:r>
          </a:p>
          <a:p>
            <a:endParaRPr lang="en-US" dirty="0"/>
          </a:p>
          <a:p>
            <a:r>
              <a:rPr lang="en-US" dirty="0"/>
              <a:t>------------------------------------------------------------</a:t>
            </a:r>
          </a:p>
          <a:p>
            <a:endParaRPr lang="en-US" dirty="0"/>
          </a:p>
          <a:p>
            <a:r>
              <a:rPr lang="en-US" dirty="0"/>
              <a:t>REFLECTION QUESTION #2</a:t>
            </a:r>
          </a:p>
          <a:p>
            <a:endParaRPr lang="en-US" dirty="0"/>
          </a:p>
          <a:p>
            <a:r>
              <a:rPr lang="en-US" dirty="0"/>
              <a:t>"What problem did you solve?"</a:t>
            </a:r>
          </a:p>
          <a:p>
            <a:endParaRPr lang="en-US" dirty="0"/>
          </a:p>
          <a:p>
            <a:r>
              <a:rPr lang="en-US" dirty="0"/>
              <a:t>Possible answer:</a:t>
            </a:r>
          </a:p>
          <a:p>
            <a:endParaRPr lang="en-US" dirty="0"/>
          </a:p>
          <a:p>
            <a:r>
              <a:rPr lang="en-US" dirty="0"/>
              <a:t>"Atlas couldn't save information."</a:t>
            </a:r>
          </a:p>
          <a:p>
            <a:endParaRPr lang="en-US" dirty="0"/>
          </a:p>
          <a:p>
            <a:r>
              <a:rPr lang="en-US" dirty="0"/>
              <a:t>But push further:</a:t>
            </a:r>
          </a:p>
          <a:p>
            <a:endParaRPr lang="en-US" dirty="0"/>
          </a:p>
          <a:p>
            <a:r>
              <a:rPr lang="en-US" dirty="0"/>
              <a:t>"How did you solve it?"</a:t>
            </a:r>
          </a:p>
          <a:p>
            <a:endParaRPr lang="en-US" dirty="0"/>
          </a:p>
          <a:p>
            <a:r>
              <a:rPr lang="en-US" dirty="0"/>
              <a:t>Students should identify:</a:t>
            </a:r>
          </a:p>
          <a:p>
            <a:endParaRPr lang="en-US" dirty="0"/>
          </a:p>
          <a:p>
            <a:r>
              <a:rPr lang="en-US" dirty="0"/>
              <a:t>Database.</a:t>
            </a:r>
          </a:p>
          <a:p>
            <a:endParaRPr lang="en-US" dirty="0"/>
          </a:p>
          <a:p>
            <a:r>
              <a:rPr lang="en-US" dirty="0"/>
              <a:t>Data model.</a:t>
            </a:r>
          </a:p>
          <a:p>
            <a:endParaRPr lang="en-US" dirty="0"/>
          </a:p>
          <a:p>
            <a:r>
              <a:rPr lang="en-US" dirty="0"/>
              <a:t>EF Core.</a:t>
            </a:r>
          </a:p>
          <a:p>
            <a:endParaRPr lang="en-US" dirty="0"/>
          </a:p>
          <a:p>
            <a:r>
              <a:rPr lang="en-US" dirty="0"/>
              <a:t>CRUD.</a:t>
            </a:r>
          </a:p>
          <a:p>
            <a:endParaRPr lang="en-US" dirty="0"/>
          </a:p>
          <a:p>
            <a:r>
              <a:rPr lang="en-US" dirty="0"/>
              <a:t>Persistence.</a:t>
            </a:r>
          </a:p>
          <a:p>
            <a:endParaRPr lang="en-US" dirty="0"/>
          </a:p>
          <a:p>
            <a:r>
              <a:rPr lang="en-US" dirty="0"/>
              <a:t>------------------------------------------------------------</a:t>
            </a:r>
          </a:p>
          <a:p>
            <a:endParaRPr lang="en-US" dirty="0"/>
          </a:p>
          <a:p>
            <a:r>
              <a:rPr lang="en-US" dirty="0"/>
              <a:t>REFLECTION QUESTION #3</a:t>
            </a:r>
          </a:p>
          <a:p>
            <a:endParaRPr lang="en-US" dirty="0"/>
          </a:p>
          <a:p>
            <a:r>
              <a:rPr lang="en-US" dirty="0"/>
              <a:t>"What was the most challenging part?"</a:t>
            </a:r>
          </a:p>
          <a:p>
            <a:endParaRPr lang="en-US" dirty="0"/>
          </a:p>
          <a:p>
            <a:r>
              <a:rPr lang="en-US" dirty="0"/>
              <a:t>Normalize the answer.</a:t>
            </a:r>
          </a:p>
          <a:p>
            <a:endParaRPr lang="en-US" dirty="0"/>
          </a:p>
          <a:p>
            <a:r>
              <a:rPr lang="en-US" dirty="0"/>
              <a:t>Debugging database connections.</a:t>
            </a:r>
          </a:p>
          <a:p>
            <a:endParaRPr lang="en-US" dirty="0"/>
          </a:p>
          <a:p>
            <a:r>
              <a:rPr lang="en-US" dirty="0"/>
              <a:t>Understanding EF Core.</a:t>
            </a:r>
          </a:p>
          <a:p>
            <a:endParaRPr lang="en-US" dirty="0"/>
          </a:p>
          <a:p>
            <a:r>
              <a:rPr lang="en-US" dirty="0"/>
              <a:t>Model relationships.</a:t>
            </a:r>
          </a:p>
          <a:p>
            <a:endParaRPr lang="en-US" dirty="0"/>
          </a:p>
          <a:p>
            <a:r>
              <a:rPr lang="en-US" dirty="0"/>
              <a:t>Validation.</a:t>
            </a:r>
          </a:p>
          <a:p>
            <a:endParaRPr lang="en-US" dirty="0"/>
          </a:p>
          <a:p>
            <a:r>
              <a:rPr lang="en-US" dirty="0"/>
              <a:t>CRUD.</a:t>
            </a:r>
          </a:p>
          <a:p>
            <a:endParaRPr lang="en-US" dirty="0"/>
          </a:p>
          <a:p>
            <a:r>
              <a:rPr lang="en-US" dirty="0"/>
              <a:t>Configuration.</a:t>
            </a:r>
          </a:p>
          <a:p>
            <a:endParaRPr lang="en-US" dirty="0"/>
          </a:p>
          <a:p>
            <a:r>
              <a:rPr lang="en-US" dirty="0"/>
              <a:t>Explain:</a:t>
            </a:r>
          </a:p>
          <a:p>
            <a:endParaRPr lang="en-US" dirty="0"/>
          </a:p>
          <a:p>
            <a:r>
              <a:rPr lang="en-US" dirty="0"/>
              <a:t>"Challenges are part of engineering."</a:t>
            </a:r>
          </a:p>
          <a:p>
            <a:endParaRPr lang="en-US" dirty="0"/>
          </a:p>
          <a:p>
            <a:r>
              <a:rPr lang="en-US" dirty="0"/>
              <a:t>"The goal isn't to avoid every problem."</a:t>
            </a:r>
          </a:p>
          <a:p>
            <a:endParaRPr lang="en-US" dirty="0"/>
          </a:p>
          <a:p>
            <a:r>
              <a:rPr lang="en-US" dirty="0"/>
              <a:t>"The goal is to learn how to solve problems."</a:t>
            </a:r>
          </a:p>
          <a:p>
            <a:endParaRPr lang="en-US" dirty="0"/>
          </a:p>
          <a:p>
            <a:r>
              <a:rPr lang="en-US" dirty="0"/>
              <a:t>------------------------------------------------------------</a:t>
            </a:r>
          </a:p>
          <a:p>
            <a:endParaRPr lang="en-US" dirty="0"/>
          </a:p>
          <a:p>
            <a:r>
              <a:rPr lang="en-US" dirty="0"/>
              <a:t>REFLECTION QUESTION #4</a:t>
            </a:r>
          </a:p>
          <a:p>
            <a:endParaRPr lang="en-US" dirty="0"/>
          </a:p>
          <a:p>
            <a:r>
              <a:rPr lang="en-US" dirty="0"/>
              <a:t>"What are you most proud of?"</a:t>
            </a:r>
          </a:p>
          <a:p>
            <a:endParaRPr lang="en-US" dirty="0"/>
          </a:p>
          <a:p>
            <a:r>
              <a:rPr lang="en-US" dirty="0"/>
              <a:t>This one is intentionally personal.</a:t>
            </a:r>
          </a:p>
          <a:p>
            <a:endParaRPr lang="en-US" dirty="0"/>
          </a:p>
          <a:p>
            <a:r>
              <a:rPr lang="en-US" dirty="0"/>
              <a:t>Students might say:</a:t>
            </a:r>
          </a:p>
          <a:p>
            <a:endParaRPr lang="en-US" dirty="0"/>
          </a:p>
          <a:p>
            <a:r>
              <a:rPr lang="en-US" dirty="0"/>
              <a:t>"My first database."</a:t>
            </a:r>
          </a:p>
          <a:p>
            <a:endParaRPr lang="en-US" dirty="0"/>
          </a:p>
          <a:p>
            <a:r>
              <a:rPr lang="en-US" dirty="0"/>
              <a:t>"My first working MVC application."</a:t>
            </a:r>
          </a:p>
          <a:p>
            <a:endParaRPr lang="en-US" dirty="0"/>
          </a:p>
          <a:p>
            <a:r>
              <a:rPr lang="en-US" dirty="0"/>
              <a:t>"Getting CRUD working."</a:t>
            </a:r>
          </a:p>
          <a:p>
            <a:endParaRPr lang="en-US" dirty="0"/>
          </a:p>
          <a:p>
            <a:r>
              <a:rPr lang="en-US" dirty="0"/>
              <a:t>"Deploying to Azure."</a:t>
            </a:r>
          </a:p>
          <a:p>
            <a:endParaRPr lang="en-US" dirty="0"/>
          </a:p>
          <a:p>
            <a:r>
              <a:rPr lang="en-US" dirty="0"/>
              <a:t>"Making the app remember."</a:t>
            </a:r>
          </a:p>
          <a:p>
            <a:endParaRPr lang="en-US" dirty="0"/>
          </a:p>
          <a:p>
            <a:r>
              <a:rPr lang="en-US" dirty="0"/>
              <a:t>Allow students to recognize their progress.</a:t>
            </a:r>
          </a:p>
          <a:p>
            <a:endParaRPr lang="en-US" dirty="0"/>
          </a:p>
          <a:p>
            <a:r>
              <a:rPr lang="en-US" dirty="0"/>
              <a:t>------------------------------------------------------------</a:t>
            </a:r>
          </a:p>
          <a:p>
            <a:endParaRPr lang="en-US" dirty="0"/>
          </a:p>
          <a:p>
            <a:r>
              <a:rPr lang="en-US" dirty="0"/>
              <a:t>REFLECTION QUESTION #5</a:t>
            </a:r>
          </a:p>
          <a:p>
            <a:endParaRPr lang="en-US" dirty="0"/>
          </a:p>
          <a:p>
            <a:r>
              <a:rPr lang="en-US" dirty="0"/>
              <a:t>"How has Atlas </a:t>
            </a:r>
            <a:r>
              <a:rPr lang="en-US" dirty="0" err="1"/>
              <a:t>TaskFlow</a:t>
            </a:r>
            <a:r>
              <a:rPr lang="en-US" dirty="0"/>
              <a:t> changed?"</a:t>
            </a:r>
          </a:p>
          <a:p>
            <a:endParaRPr lang="en-US" dirty="0"/>
          </a:p>
          <a:p>
            <a:r>
              <a:rPr lang="en-US" dirty="0"/>
              <a:t>Have students compare:</a:t>
            </a:r>
          </a:p>
          <a:p>
            <a:endParaRPr lang="en-US" dirty="0"/>
          </a:p>
          <a:p>
            <a:r>
              <a:rPr lang="en-US" dirty="0"/>
              <a:t>SPRINT 4</a:t>
            </a:r>
          </a:p>
          <a:p>
            <a:endParaRPr lang="en-US" dirty="0"/>
          </a:p>
          <a:p>
            <a:r>
              <a:rPr lang="en-US" dirty="0"/>
              <a:t>Atlas was:</a:t>
            </a:r>
          </a:p>
          <a:p>
            <a:endParaRPr lang="en-US" dirty="0"/>
          </a:p>
          <a:p>
            <a:r>
              <a:rPr lang="en-US" dirty="0"/>
              <a:t>Cloud-hosted.</a:t>
            </a:r>
          </a:p>
          <a:p>
            <a:endParaRPr lang="en-US" dirty="0"/>
          </a:p>
          <a:p>
            <a:r>
              <a:rPr lang="en-US" dirty="0"/>
              <a:t>Navigable.</a:t>
            </a:r>
          </a:p>
          <a:p>
            <a:endParaRPr lang="en-US" dirty="0"/>
          </a:p>
          <a:p>
            <a:r>
              <a:rPr lang="en-US" dirty="0"/>
              <a:t>Functional.</a:t>
            </a:r>
          </a:p>
          <a:p>
            <a:endParaRPr lang="en-US" dirty="0"/>
          </a:p>
          <a:p>
            <a:r>
              <a:rPr lang="en-US" dirty="0"/>
              <a:t>But had no persistent application data.</a:t>
            </a:r>
          </a:p>
          <a:p>
            <a:endParaRPr lang="en-US" dirty="0"/>
          </a:p>
          <a:p>
            <a:r>
              <a:rPr lang="en-US" dirty="0"/>
              <a:t>SPRINT 5</a:t>
            </a:r>
          </a:p>
          <a:p>
            <a:endParaRPr lang="en-US" dirty="0"/>
          </a:p>
          <a:p>
            <a:r>
              <a:rPr lang="en-US" dirty="0"/>
              <a:t>Atlas is now:</a:t>
            </a:r>
          </a:p>
          <a:p>
            <a:endParaRPr lang="en-US" dirty="0"/>
          </a:p>
          <a:p>
            <a:r>
              <a:rPr lang="en-US" dirty="0"/>
              <a:t>Cloud-hosted.</a:t>
            </a:r>
          </a:p>
          <a:p>
            <a:endParaRPr lang="en-US" dirty="0"/>
          </a:p>
          <a:p>
            <a:r>
              <a:rPr lang="en-US" dirty="0"/>
              <a:t>Data-driven.</a:t>
            </a:r>
          </a:p>
          <a:p>
            <a:endParaRPr lang="en-US" dirty="0"/>
          </a:p>
          <a:p>
            <a:r>
              <a:rPr lang="en-US" dirty="0"/>
              <a:t>Persistent.</a:t>
            </a:r>
          </a:p>
          <a:p>
            <a:endParaRPr lang="en-US" dirty="0"/>
          </a:p>
          <a:p>
            <a:r>
              <a:rPr lang="en-US" dirty="0"/>
              <a:t>CRUD-enabled.</a:t>
            </a:r>
          </a:p>
          <a:p>
            <a:endParaRPr lang="en-US" dirty="0"/>
          </a:p>
          <a:p>
            <a:r>
              <a:rPr lang="en-US" dirty="0"/>
              <a:t>Validated.</a:t>
            </a:r>
          </a:p>
          <a:p>
            <a:endParaRPr lang="en-US" dirty="0"/>
          </a:p>
          <a:p>
            <a:r>
              <a:rPr lang="en-US" dirty="0"/>
              <a:t>More reliable.</a:t>
            </a:r>
          </a:p>
          <a:p>
            <a:endParaRPr lang="en-US" dirty="0"/>
          </a:p>
          <a:p>
            <a:r>
              <a:rPr lang="en-US" dirty="0"/>
              <a:t>------------------------------------------------------------</a:t>
            </a:r>
          </a:p>
          <a:p>
            <a:endParaRPr lang="en-US" dirty="0"/>
          </a:p>
          <a:p>
            <a:r>
              <a:rPr lang="en-US" dirty="0"/>
              <a:t>ENGINEERING MINDSET</a:t>
            </a:r>
          </a:p>
          <a:p>
            <a:endParaRPr lang="en-US" dirty="0"/>
          </a:p>
          <a:p>
            <a:r>
              <a:rPr lang="en-US" dirty="0"/>
              <a:t>Point to the Engineering Mindset.</a:t>
            </a:r>
          </a:p>
          <a:p>
            <a:endParaRPr lang="en-US" dirty="0"/>
          </a:p>
          <a:p>
            <a:r>
              <a:rPr lang="en-US" dirty="0"/>
              <a:t>"Good engineers build systems that work today and keep working</a:t>
            </a:r>
          </a:p>
          <a:p>
            <a:r>
              <a:rPr lang="en-US" dirty="0"/>
              <a:t>tomorrow."</a:t>
            </a:r>
          </a:p>
          <a:p>
            <a:endParaRPr lang="en-US" dirty="0"/>
          </a:p>
          <a:p>
            <a:r>
              <a:rPr lang="en-US" dirty="0"/>
              <a:t>Explain:</a:t>
            </a:r>
          </a:p>
          <a:p>
            <a:endParaRPr lang="en-US" dirty="0"/>
          </a:p>
          <a:p>
            <a:r>
              <a:rPr lang="en-US" dirty="0"/>
              <a:t>"That's what persistence and reliability are about."</a:t>
            </a:r>
          </a:p>
          <a:p>
            <a:endParaRPr lang="en-US" dirty="0"/>
          </a:p>
          <a:p>
            <a:r>
              <a:rPr lang="en-US" dirty="0"/>
              <a:t>"We aren't just making something that works during a demonstration."</a:t>
            </a:r>
          </a:p>
          <a:p>
            <a:endParaRPr lang="en-US" dirty="0"/>
          </a:p>
          <a:p>
            <a:r>
              <a:rPr lang="en-US" dirty="0"/>
              <a:t>"We're making something that behaves consistently."</a:t>
            </a:r>
          </a:p>
          <a:p>
            <a:endParaRPr lang="en-US" dirty="0"/>
          </a:p>
          <a:p>
            <a:r>
              <a:rPr lang="en-US" dirty="0"/>
              <a:t>------------------------------------------------------------</a:t>
            </a:r>
          </a:p>
          <a:p>
            <a:endParaRPr lang="en-US" dirty="0"/>
          </a:p>
          <a:p>
            <a:r>
              <a:rPr lang="en-US" dirty="0"/>
              <a:t>THE SPRINT 5 TRANSFORMATION</a:t>
            </a:r>
          </a:p>
          <a:p>
            <a:endParaRPr lang="en-US" dirty="0"/>
          </a:p>
          <a:p>
            <a:r>
              <a:rPr lang="en-US" dirty="0"/>
              <a:t>Say:</a:t>
            </a:r>
          </a:p>
          <a:p>
            <a:endParaRPr lang="en-US" dirty="0"/>
          </a:p>
          <a:p>
            <a:r>
              <a:rPr lang="en-US" dirty="0"/>
              <a:t>"Let's look at where we started."</a:t>
            </a:r>
          </a:p>
          <a:p>
            <a:endParaRPr lang="en-US" dirty="0"/>
          </a:p>
          <a:p>
            <a:r>
              <a:rPr lang="en-US" dirty="0"/>
              <a:t>Sprint 4:</a:t>
            </a:r>
          </a:p>
          <a:p>
            <a:endParaRPr lang="en-US" dirty="0"/>
          </a:p>
          <a:p>
            <a:r>
              <a:rPr lang="en-US" dirty="0"/>
              <a:t>"Atlas was live."</a:t>
            </a:r>
          </a:p>
          <a:p>
            <a:endParaRPr lang="en-US" dirty="0"/>
          </a:p>
          <a:p>
            <a:r>
              <a:rPr lang="en-US" dirty="0"/>
              <a:t>Then:</a:t>
            </a:r>
          </a:p>
          <a:p>
            <a:endParaRPr lang="en-US" dirty="0"/>
          </a:p>
          <a:p>
            <a:r>
              <a:rPr lang="en-US" dirty="0"/>
              <a:t>"What was missing?"</a:t>
            </a:r>
          </a:p>
          <a:p>
            <a:endParaRPr lang="en-US" dirty="0"/>
          </a:p>
          <a:p>
            <a:r>
              <a:rPr lang="en-US" dirty="0"/>
              <a:t>Students:</a:t>
            </a:r>
          </a:p>
          <a:p>
            <a:endParaRPr lang="en-US" dirty="0"/>
          </a:p>
          <a:p>
            <a:r>
              <a:rPr lang="en-US" dirty="0"/>
              <a:t>"Memory."</a:t>
            </a:r>
          </a:p>
          <a:p>
            <a:endParaRPr lang="en-US" dirty="0"/>
          </a:p>
          <a:p>
            <a:r>
              <a:rPr lang="en-US" dirty="0"/>
              <a:t>Now:</a:t>
            </a:r>
          </a:p>
          <a:p>
            <a:endParaRPr lang="en-US" dirty="0"/>
          </a:p>
          <a:p>
            <a:r>
              <a:rPr lang="en-US" dirty="0"/>
              <a:t>"Atlas is live..."</a:t>
            </a:r>
          </a:p>
          <a:p>
            <a:endParaRPr lang="en-US" dirty="0"/>
          </a:p>
          <a:p>
            <a:r>
              <a:rPr lang="en-US" dirty="0"/>
              <a:t>"...and it remembers."</a:t>
            </a:r>
          </a:p>
          <a:p>
            <a:endParaRPr lang="en-US" dirty="0"/>
          </a:p>
          <a:p>
            <a:r>
              <a:rPr lang="en-US" dirty="0"/>
              <a:t>------------------------------------------------------------</a:t>
            </a:r>
          </a:p>
          <a:p>
            <a:endParaRPr lang="en-US" dirty="0"/>
          </a:p>
          <a:p>
            <a:r>
              <a:rPr lang="en-US" dirty="0"/>
              <a:t>THE ROADMAP</a:t>
            </a:r>
          </a:p>
          <a:p>
            <a:endParaRPr lang="en-US" dirty="0"/>
          </a:p>
          <a:p>
            <a:r>
              <a:rPr lang="en-US" dirty="0"/>
              <a:t>Point to the Sprint Roadmap.</a:t>
            </a:r>
          </a:p>
          <a:p>
            <a:endParaRPr lang="en-US" dirty="0"/>
          </a:p>
          <a:p>
            <a:r>
              <a:rPr lang="en-US" dirty="0"/>
              <a:t>1. Plan It</a:t>
            </a:r>
          </a:p>
          <a:p>
            <a:endParaRPr lang="en-US" dirty="0"/>
          </a:p>
          <a:p>
            <a:r>
              <a:rPr lang="en-US" dirty="0"/>
              <a:t>2. Design It</a:t>
            </a:r>
          </a:p>
          <a:p>
            <a:endParaRPr lang="en-US" dirty="0"/>
          </a:p>
          <a:p>
            <a:r>
              <a:rPr lang="en-US" dirty="0"/>
              <a:t>3. Build It</a:t>
            </a:r>
          </a:p>
          <a:p>
            <a:endParaRPr lang="en-US" dirty="0"/>
          </a:p>
          <a:p>
            <a:r>
              <a:rPr lang="en-US" dirty="0"/>
              <a:t>4. Deploy It</a:t>
            </a:r>
          </a:p>
          <a:p>
            <a:endParaRPr lang="en-US" dirty="0"/>
          </a:p>
          <a:p>
            <a:r>
              <a:rPr lang="en-US" dirty="0"/>
              <a:t>5. REMEMBER IT</a:t>
            </a:r>
          </a:p>
          <a:p>
            <a:endParaRPr lang="en-US" dirty="0"/>
          </a:p>
          <a:p>
            <a:r>
              <a:rPr lang="en-US" dirty="0"/>
              <a:t>Point specifically to #5.</a:t>
            </a:r>
          </a:p>
          <a:p>
            <a:endParaRPr lang="en-US" dirty="0"/>
          </a:p>
          <a:p>
            <a:r>
              <a:rPr lang="en-US" dirty="0"/>
              <a:t>Say:</a:t>
            </a:r>
          </a:p>
          <a:p>
            <a:endParaRPr lang="en-US" dirty="0"/>
          </a:p>
          <a:p>
            <a:r>
              <a:rPr lang="en-US" dirty="0"/>
              <a:t>"This is where we are."</a:t>
            </a:r>
          </a:p>
          <a:p>
            <a:endParaRPr lang="en-US" dirty="0"/>
          </a:p>
          <a:p>
            <a:r>
              <a:rPr lang="en-US" dirty="0"/>
              <a:t>"Remember It is complete."</a:t>
            </a:r>
          </a:p>
          <a:p>
            <a:endParaRPr lang="en-US" dirty="0"/>
          </a:p>
          <a:p>
            <a:r>
              <a:rPr lang="en-US" dirty="0"/>
              <a:t>Pause.</a:t>
            </a:r>
          </a:p>
          <a:p>
            <a:endParaRPr lang="en-US" dirty="0"/>
          </a:p>
          <a:p>
            <a:r>
              <a:rPr lang="en-US" dirty="0"/>
              <a:t>"We're ready for the next engineering problem."</a:t>
            </a:r>
          </a:p>
          <a:p>
            <a:endParaRPr lang="en-US" dirty="0"/>
          </a:p>
          <a:p>
            <a:r>
              <a:rPr lang="en-US" dirty="0"/>
              <a:t>------------------------------------------------------------</a:t>
            </a:r>
          </a:p>
          <a:p>
            <a:endParaRPr lang="en-US" dirty="0"/>
          </a:p>
          <a:p>
            <a:r>
              <a:rPr lang="en-US" dirty="0"/>
              <a:t>SPRINT 6 PREVIEW</a:t>
            </a:r>
          </a:p>
          <a:p>
            <a:endParaRPr lang="en-US" dirty="0"/>
          </a:p>
          <a:p>
            <a:r>
              <a:rPr lang="en-US" dirty="0"/>
              <a:t>Point to:</a:t>
            </a:r>
          </a:p>
          <a:p>
            <a:endParaRPr lang="en-US" dirty="0"/>
          </a:p>
          <a:p>
            <a:r>
              <a:rPr lang="en-US" dirty="0"/>
              <a:t>PROTECT IT</a:t>
            </a:r>
          </a:p>
          <a:p>
            <a:endParaRPr lang="en-US" dirty="0"/>
          </a:p>
          <a:p>
            <a:r>
              <a:rPr lang="en-US" dirty="0"/>
              <a:t>Say:</a:t>
            </a:r>
          </a:p>
          <a:p>
            <a:endParaRPr lang="en-US" dirty="0"/>
          </a:p>
          <a:p>
            <a:r>
              <a:rPr lang="en-US" dirty="0"/>
              <a:t>"But now that Atlas remembers information..."</a:t>
            </a:r>
          </a:p>
          <a:p>
            <a:endParaRPr lang="en-US" dirty="0"/>
          </a:p>
          <a:p>
            <a:r>
              <a:rPr lang="en-US" dirty="0"/>
              <a:t>"We have a responsibility."</a:t>
            </a:r>
          </a:p>
          <a:p>
            <a:endParaRPr lang="en-US" dirty="0"/>
          </a:p>
          <a:p>
            <a:r>
              <a:rPr lang="en-US" dirty="0"/>
              <a:t>"We need to protect it."</a:t>
            </a:r>
          </a:p>
          <a:p>
            <a:endParaRPr lang="en-US" dirty="0"/>
          </a:p>
          <a:p>
            <a:r>
              <a:rPr lang="en-US" dirty="0"/>
              <a:t>Ask:</a:t>
            </a:r>
          </a:p>
          <a:p>
            <a:endParaRPr lang="en-US" dirty="0"/>
          </a:p>
          <a:p>
            <a:r>
              <a:rPr lang="en-US" dirty="0"/>
              <a:t>"What kinds of information might need protection?"</a:t>
            </a:r>
          </a:p>
          <a:p>
            <a:endParaRPr lang="en-US" dirty="0"/>
          </a:p>
          <a:p>
            <a:r>
              <a:rPr lang="en-US" dirty="0"/>
              <a:t>Students may identify:</a:t>
            </a:r>
          </a:p>
          <a:p>
            <a:endParaRPr lang="en-US" dirty="0"/>
          </a:p>
          <a:p>
            <a:r>
              <a:rPr lang="en-US" dirty="0"/>
              <a:t>User information.</a:t>
            </a:r>
          </a:p>
          <a:p>
            <a:endParaRPr lang="en-US" dirty="0"/>
          </a:p>
          <a:p>
            <a:r>
              <a:rPr lang="en-US" dirty="0"/>
              <a:t>Passwords.</a:t>
            </a:r>
          </a:p>
          <a:p>
            <a:endParaRPr lang="en-US" dirty="0"/>
          </a:p>
          <a:p>
            <a:r>
              <a:rPr lang="en-US" dirty="0"/>
              <a:t>Tasks.</a:t>
            </a:r>
          </a:p>
          <a:p>
            <a:endParaRPr lang="en-US" dirty="0"/>
          </a:p>
          <a:p>
            <a:r>
              <a:rPr lang="en-US" dirty="0"/>
              <a:t>Projects.</a:t>
            </a:r>
          </a:p>
          <a:p>
            <a:endParaRPr lang="en-US" dirty="0"/>
          </a:p>
          <a:p>
            <a:r>
              <a:rPr lang="en-US" dirty="0"/>
              <a:t>Private data.</a:t>
            </a:r>
          </a:p>
          <a:p>
            <a:endParaRPr lang="en-US" dirty="0"/>
          </a:p>
          <a:p>
            <a:r>
              <a:rPr lang="en-US" dirty="0"/>
              <a:t>Explain:</a:t>
            </a:r>
          </a:p>
          <a:p>
            <a:endParaRPr lang="en-US" dirty="0"/>
          </a:p>
          <a:p>
            <a:r>
              <a:rPr lang="en-US" dirty="0"/>
              <a:t>"Next sprint, we're going to start thinking about security."</a:t>
            </a:r>
          </a:p>
          <a:p>
            <a:endParaRPr lang="en-US" dirty="0"/>
          </a:p>
          <a:p>
            <a:r>
              <a:rPr lang="en-US" dirty="0"/>
              <a:t>------------------------------------------------------------</a:t>
            </a:r>
          </a:p>
          <a:p>
            <a:endParaRPr lang="en-US" dirty="0"/>
          </a:p>
          <a:p>
            <a:r>
              <a:rPr lang="en-US" dirty="0"/>
              <a:t>FINAL SPRINT 5 STATEMENT</a:t>
            </a:r>
          </a:p>
          <a:p>
            <a:endParaRPr lang="en-US" dirty="0"/>
          </a:p>
          <a:p>
            <a:r>
              <a:rPr lang="en-US" dirty="0"/>
              <a:t>Say this slowly:</a:t>
            </a:r>
          </a:p>
          <a:p>
            <a:endParaRPr lang="en-US" dirty="0"/>
          </a:p>
          <a:p>
            <a:r>
              <a:rPr lang="en-US" dirty="0"/>
              <a:t>"Atlas </a:t>
            </a:r>
            <a:r>
              <a:rPr lang="en-US" dirty="0" err="1"/>
              <a:t>TaskFlow</a:t>
            </a:r>
            <a:r>
              <a:rPr lang="en-US" dirty="0"/>
              <a:t> doesn't just work."</a:t>
            </a:r>
          </a:p>
          <a:p>
            <a:endParaRPr lang="en-US" dirty="0"/>
          </a:p>
          <a:p>
            <a:r>
              <a:rPr lang="en-US" dirty="0"/>
              <a:t>"Atlas </a:t>
            </a:r>
            <a:r>
              <a:rPr lang="en-US" dirty="0" err="1"/>
              <a:t>TaskFlow</a:t>
            </a:r>
            <a:r>
              <a:rPr lang="en-US" dirty="0"/>
              <a:t> remembers."</a:t>
            </a:r>
          </a:p>
          <a:p>
            <a:endParaRPr lang="en-US" dirty="0"/>
          </a:p>
          <a:p>
            <a:r>
              <a:rPr lang="en-US" dirty="0"/>
              <a:t>Pause.</a:t>
            </a:r>
          </a:p>
          <a:p>
            <a:endParaRPr lang="en-US" dirty="0"/>
          </a:p>
          <a:p>
            <a:r>
              <a:rPr lang="en-US" dirty="0"/>
              <a:t>"And now..."</a:t>
            </a:r>
          </a:p>
          <a:p>
            <a:endParaRPr lang="en-US" dirty="0"/>
          </a:p>
          <a:p>
            <a:r>
              <a:rPr lang="en-US" dirty="0"/>
              <a:t>"We have to protect what it remembers."</a:t>
            </a:r>
          </a:p>
          <a:p>
            <a:endParaRPr lang="en-US" dirty="0"/>
          </a:p>
          <a:p>
            <a:r>
              <a:rPr lang="en-US" dirty="0"/>
              <a:t>============================================================</a:t>
            </a:r>
          </a:p>
          <a:p>
            <a:endParaRPr lang="en-US" dirty="0"/>
          </a:p>
          <a:p>
            <a:r>
              <a:rPr lang="en-US" dirty="0"/>
              <a:t>ESTIMATED TIME</a:t>
            </a:r>
          </a:p>
          <a:p>
            <a:endParaRPr lang="en-US" dirty="0"/>
          </a:p>
          <a:p>
            <a:r>
              <a:rPr lang="en-US" dirty="0"/>
              <a:t>Persistence Demonstration.............15 minutes</a:t>
            </a:r>
          </a:p>
          <a:p>
            <a:endParaRPr lang="en-US" dirty="0"/>
          </a:p>
          <a:p>
            <a:r>
              <a:rPr lang="en-US" dirty="0"/>
              <a:t>CRUD Verification.....................15 minutes</a:t>
            </a:r>
          </a:p>
          <a:p>
            <a:endParaRPr lang="en-US" dirty="0"/>
          </a:p>
          <a:p>
            <a:r>
              <a:rPr lang="en-US" dirty="0"/>
              <a:t>Validation &amp; Error Testing............10 minutes</a:t>
            </a:r>
          </a:p>
          <a:p>
            <a:endParaRPr lang="en-US" dirty="0"/>
          </a:p>
          <a:p>
            <a:r>
              <a:rPr lang="en-US" dirty="0"/>
              <a:t>Sprint Accomplishments.................5 minutes</a:t>
            </a:r>
          </a:p>
          <a:p>
            <a:endParaRPr lang="en-US" dirty="0"/>
          </a:p>
          <a:p>
            <a:r>
              <a:rPr lang="en-US" dirty="0"/>
              <a:t>Reflection............................15 minutes</a:t>
            </a:r>
          </a:p>
          <a:p>
            <a:endParaRPr lang="en-US" dirty="0"/>
          </a:p>
          <a:p>
            <a:r>
              <a:rPr lang="en-US" dirty="0"/>
              <a:t>Sprint 6 Preview.......................5 minutes</a:t>
            </a:r>
          </a:p>
          <a:p>
            <a:endParaRPr lang="en-US" dirty="0"/>
          </a:p>
          <a:p>
            <a:r>
              <a:rPr lang="en-US" dirty="0"/>
              <a:t>TOTAL................................65 minutes</a:t>
            </a:r>
          </a:p>
          <a:p>
            <a:endParaRPr lang="en-US" dirty="0"/>
          </a:p>
          <a:p>
            <a:r>
              <a:rPr lang="en-US" dirty="0"/>
              <a:t>============================================================</a:t>
            </a:r>
          </a:p>
          <a:p>
            <a:endParaRPr lang="en-US" dirty="0"/>
          </a:p>
          <a:p>
            <a:r>
              <a:rPr lang="en-US" dirty="0"/>
              <a:t>INSTRUCTOR NOTES</a:t>
            </a:r>
          </a:p>
          <a:p>
            <a:endParaRPr lang="en-US" dirty="0"/>
          </a:p>
          <a:p>
            <a:r>
              <a:rPr lang="en-US" dirty="0"/>
              <a:t>This should feel different from the previous Learning Posters.</a:t>
            </a:r>
          </a:p>
          <a:p>
            <a:endParaRPr lang="en-US" dirty="0"/>
          </a:p>
          <a:p>
            <a:r>
              <a:rPr lang="en-US" dirty="0"/>
              <a:t>This is a demonstration and retrospective.</a:t>
            </a:r>
          </a:p>
          <a:p>
            <a:endParaRPr lang="en-US" dirty="0"/>
          </a:p>
          <a:p>
            <a:r>
              <a:rPr lang="en-US" dirty="0"/>
              <a:t>Do not spend the entire class lecturing.</a:t>
            </a:r>
          </a:p>
          <a:p>
            <a:endParaRPr lang="en-US" dirty="0"/>
          </a:p>
          <a:p>
            <a:r>
              <a:rPr lang="en-US" dirty="0"/>
              <a:t>Let students demonstrate their own applications.</a:t>
            </a:r>
          </a:p>
          <a:p>
            <a:endParaRPr lang="en-US" dirty="0"/>
          </a:p>
          <a:p>
            <a:r>
              <a:rPr lang="en-US" dirty="0"/>
              <a:t>------------------------------------------------------------</a:t>
            </a:r>
          </a:p>
          <a:p>
            <a:endParaRPr lang="en-US" dirty="0"/>
          </a:p>
          <a:p>
            <a:r>
              <a:rPr lang="en-US" dirty="0"/>
              <a:t>STUDENT DEMONSTRATION FORMAT</a:t>
            </a:r>
          </a:p>
          <a:p>
            <a:endParaRPr lang="en-US" dirty="0"/>
          </a:p>
          <a:p>
            <a:r>
              <a:rPr lang="en-US" dirty="0"/>
              <a:t>Each student/team should demonstrate:</a:t>
            </a:r>
          </a:p>
          <a:p>
            <a:endParaRPr lang="en-US" dirty="0"/>
          </a:p>
          <a:p>
            <a:r>
              <a:rPr lang="en-US" dirty="0"/>
              <a:t>1. Create a task.</a:t>
            </a:r>
          </a:p>
          <a:p>
            <a:endParaRPr lang="en-US" dirty="0"/>
          </a:p>
          <a:p>
            <a:r>
              <a:rPr lang="en-US" dirty="0"/>
              <a:t>2. Save it.</a:t>
            </a:r>
          </a:p>
          <a:p>
            <a:endParaRPr lang="en-US" dirty="0"/>
          </a:p>
          <a:p>
            <a:r>
              <a:rPr lang="en-US" dirty="0"/>
              <a:t>3. Show that it appears.</a:t>
            </a:r>
          </a:p>
          <a:p>
            <a:endParaRPr lang="en-US" dirty="0"/>
          </a:p>
          <a:p>
            <a:r>
              <a:rPr lang="en-US" dirty="0"/>
              <a:t>4. Close/restart the application.</a:t>
            </a:r>
          </a:p>
          <a:p>
            <a:endParaRPr lang="en-US" dirty="0"/>
          </a:p>
          <a:p>
            <a:r>
              <a:rPr lang="en-US" dirty="0"/>
              <a:t>5. Reopen it.</a:t>
            </a:r>
          </a:p>
          <a:p>
            <a:endParaRPr lang="en-US" dirty="0"/>
          </a:p>
          <a:p>
            <a:r>
              <a:rPr lang="en-US" dirty="0"/>
              <a:t>6. Retrieve the task.</a:t>
            </a:r>
          </a:p>
          <a:p>
            <a:endParaRPr lang="en-US" dirty="0"/>
          </a:p>
          <a:p>
            <a:r>
              <a:rPr lang="en-US" dirty="0"/>
              <a:t>7. Update the task.</a:t>
            </a:r>
          </a:p>
          <a:p>
            <a:endParaRPr lang="en-US" dirty="0"/>
          </a:p>
          <a:p>
            <a:r>
              <a:rPr lang="en-US" dirty="0"/>
              <a:t>8. Verify the update.</a:t>
            </a:r>
          </a:p>
          <a:p>
            <a:endParaRPr lang="en-US" dirty="0"/>
          </a:p>
          <a:p>
            <a:r>
              <a:rPr lang="en-US" dirty="0"/>
              <a:t>9. Delete the task.</a:t>
            </a:r>
          </a:p>
          <a:p>
            <a:endParaRPr lang="en-US" dirty="0"/>
          </a:p>
          <a:p>
            <a:r>
              <a:rPr lang="en-US" dirty="0"/>
              <a:t>10. Verify the deletion.</a:t>
            </a:r>
          </a:p>
          <a:p>
            <a:endParaRPr lang="en-US" dirty="0"/>
          </a:p>
          <a:p>
            <a:r>
              <a:rPr lang="en-US" dirty="0"/>
              <a:t>11. Demonstrate validation.</a:t>
            </a:r>
          </a:p>
          <a:p>
            <a:endParaRPr lang="en-US" dirty="0"/>
          </a:p>
          <a:p>
            <a:r>
              <a:rPr lang="en-US" dirty="0"/>
              <a:t>12. Explain one error-handling scenario.</a:t>
            </a:r>
          </a:p>
          <a:p>
            <a:endParaRPr lang="en-US" dirty="0"/>
          </a:p>
          <a:p>
            <a:r>
              <a:rPr lang="en-US" dirty="0"/>
              <a:t>------------------------------------------------------------</a:t>
            </a:r>
          </a:p>
          <a:p>
            <a:endParaRPr lang="en-US" dirty="0"/>
          </a:p>
          <a:p>
            <a:r>
              <a:rPr lang="en-US" dirty="0"/>
              <a:t>RECOMMENDED DEMONSTRATION QUESTION</a:t>
            </a:r>
          </a:p>
          <a:p>
            <a:endParaRPr lang="en-US" dirty="0"/>
          </a:p>
          <a:p>
            <a:r>
              <a:rPr lang="en-US" dirty="0"/>
              <a:t>Ask:</a:t>
            </a:r>
          </a:p>
          <a:p>
            <a:endParaRPr lang="en-US" dirty="0"/>
          </a:p>
          <a:p>
            <a:r>
              <a:rPr lang="en-US" dirty="0"/>
              <a:t>"Show me the moment your application proves that the data persisted."</a:t>
            </a:r>
          </a:p>
          <a:p>
            <a:endParaRPr lang="en-US" dirty="0"/>
          </a:p>
          <a:p>
            <a:r>
              <a:rPr lang="en-US" dirty="0"/>
              <a:t>This forces students to demonstrate the actual requirement rather than</a:t>
            </a:r>
          </a:p>
          <a:p>
            <a:r>
              <a:rPr lang="en-US" dirty="0"/>
              <a:t>simply showing a working interface.</a:t>
            </a:r>
          </a:p>
          <a:p>
            <a:endParaRPr lang="en-US" dirty="0"/>
          </a:p>
          <a:p>
            <a:r>
              <a:rPr lang="en-US" dirty="0"/>
              <a:t>------------------------------------------------------------</a:t>
            </a:r>
          </a:p>
          <a:p>
            <a:endParaRPr lang="en-US" dirty="0"/>
          </a:p>
          <a:p>
            <a:r>
              <a:rPr lang="en-US" dirty="0"/>
              <a:t>REFLECTION SUBMISSION</a:t>
            </a:r>
          </a:p>
          <a:p>
            <a:endParaRPr lang="en-US" dirty="0"/>
          </a:p>
          <a:p>
            <a:r>
              <a:rPr lang="en-US" dirty="0"/>
              <a:t>Students should submit their responses to the five reflection</a:t>
            </a:r>
          </a:p>
          <a:p>
            <a:r>
              <a:rPr lang="en-US" dirty="0"/>
              <a:t>questions.</a:t>
            </a:r>
          </a:p>
          <a:p>
            <a:endParaRPr lang="en-US" dirty="0"/>
          </a:p>
          <a:p>
            <a:r>
              <a:rPr lang="en-US" dirty="0"/>
              <a:t>Encourage complete answers.</a:t>
            </a:r>
          </a:p>
          <a:p>
            <a:endParaRPr lang="en-US" dirty="0"/>
          </a:p>
          <a:p>
            <a:r>
              <a:rPr lang="en-US" dirty="0"/>
              <a:t>Avoid accepting:</a:t>
            </a:r>
          </a:p>
          <a:p>
            <a:endParaRPr lang="en-US" dirty="0"/>
          </a:p>
          <a:p>
            <a:r>
              <a:rPr lang="en-US" dirty="0"/>
              <a:t>"It worked."</a:t>
            </a:r>
          </a:p>
          <a:p>
            <a:endParaRPr lang="en-US" dirty="0"/>
          </a:p>
          <a:p>
            <a:r>
              <a:rPr lang="en-US" dirty="0"/>
              <a:t>"It was hard."</a:t>
            </a:r>
          </a:p>
          <a:p>
            <a:endParaRPr lang="en-US" dirty="0"/>
          </a:p>
          <a:p>
            <a:r>
              <a:rPr lang="en-US" dirty="0"/>
              <a:t>"I learned databases."</a:t>
            </a:r>
          </a:p>
          <a:p>
            <a:endParaRPr lang="en-US" dirty="0"/>
          </a:p>
          <a:p>
            <a:r>
              <a:rPr lang="en-US" dirty="0"/>
              <a:t>Ask students to explain:</a:t>
            </a:r>
          </a:p>
          <a:p>
            <a:endParaRPr lang="en-US" dirty="0"/>
          </a:p>
          <a:p>
            <a:r>
              <a:rPr lang="en-US" dirty="0"/>
              <a:t>WHAT</a:t>
            </a:r>
          </a:p>
          <a:p>
            <a:endParaRPr lang="en-US" dirty="0"/>
          </a:p>
          <a:p>
            <a:r>
              <a:rPr lang="en-US" dirty="0"/>
              <a:t>WHY</a:t>
            </a:r>
          </a:p>
          <a:p>
            <a:endParaRPr lang="en-US" dirty="0"/>
          </a:p>
          <a:p>
            <a:r>
              <a:rPr lang="en-US" dirty="0"/>
              <a:t>HOW</a:t>
            </a:r>
          </a:p>
          <a:p>
            <a:endParaRPr lang="en-US" dirty="0"/>
          </a:p>
          <a:p>
            <a:r>
              <a:rPr lang="en-US" dirty="0"/>
              <a:t>WHAT CHANGED</a:t>
            </a:r>
          </a:p>
          <a:p>
            <a:endParaRPr lang="en-US" dirty="0"/>
          </a:p>
          <a:p>
            <a:r>
              <a:rPr lang="en-US" dirty="0"/>
              <a:t>------------------------------------------------------------</a:t>
            </a:r>
          </a:p>
          <a:p>
            <a:endParaRPr lang="en-US" dirty="0"/>
          </a:p>
          <a:p>
            <a:r>
              <a:rPr lang="en-US" dirty="0"/>
              <a:t>ASSESSMENT EMPHASIS</a:t>
            </a:r>
          </a:p>
          <a:p>
            <a:endParaRPr lang="en-US" dirty="0"/>
          </a:p>
          <a:p>
            <a:r>
              <a:rPr lang="en-US" dirty="0"/>
              <a:t>Students should be evaluated primarily on:</a:t>
            </a:r>
          </a:p>
          <a:p>
            <a:endParaRPr lang="en-US" dirty="0"/>
          </a:p>
          <a:p>
            <a:r>
              <a:rPr lang="en-US" dirty="0"/>
              <a:t>✓ Functional persistence</a:t>
            </a:r>
          </a:p>
          <a:p>
            <a:endParaRPr lang="en-US" dirty="0"/>
          </a:p>
          <a:p>
            <a:r>
              <a:rPr lang="en-US" dirty="0"/>
              <a:t>✓ Correct CRUD behavior</a:t>
            </a:r>
          </a:p>
          <a:p>
            <a:endParaRPr lang="en-US" dirty="0"/>
          </a:p>
          <a:p>
            <a:r>
              <a:rPr lang="en-US" dirty="0"/>
              <a:t>✓ Data validation</a:t>
            </a:r>
          </a:p>
          <a:p>
            <a:endParaRPr lang="en-US" dirty="0"/>
          </a:p>
          <a:p>
            <a:r>
              <a:rPr lang="en-US" dirty="0"/>
              <a:t>✓ Error handling</a:t>
            </a:r>
          </a:p>
          <a:p>
            <a:endParaRPr lang="en-US" dirty="0"/>
          </a:p>
          <a:p>
            <a:r>
              <a:rPr lang="en-US" dirty="0"/>
              <a:t>✓ Understanding of the architecture</a:t>
            </a:r>
          </a:p>
          <a:p>
            <a:endParaRPr lang="en-US" dirty="0"/>
          </a:p>
          <a:p>
            <a:r>
              <a:rPr lang="en-US" dirty="0"/>
              <a:t>✓ Ability to explain what they built</a:t>
            </a:r>
          </a:p>
          <a:p>
            <a:endParaRPr lang="en-US" dirty="0"/>
          </a:p>
          <a:p>
            <a:r>
              <a:rPr lang="en-US" dirty="0"/>
              <a:t>Not simply:</a:t>
            </a:r>
          </a:p>
          <a:p>
            <a:endParaRPr lang="en-US" dirty="0"/>
          </a:p>
          <a:p>
            <a:r>
              <a:rPr lang="en-US" dirty="0"/>
              <a:t>"Did the code compile?"</a:t>
            </a:r>
          </a:p>
          <a:p>
            <a:endParaRPr lang="en-US" dirty="0"/>
          </a:p>
          <a:p>
            <a:r>
              <a:rPr lang="en-US" dirty="0"/>
              <a:t>------------------------------------------------------------</a:t>
            </a:r>
          </a:p>
          <a:p>
            <a:endParaRPr lang="en-US" dirty="0"/>
          </a:p>
          <a:p>
            <a:r>
              <a:rPr lang="en-US" dirty="0"/>
              <a:t>IMPORTANT ENGINEERING LESSON</a:t>
            </a:r>
          </a:p>
          <a:p>
            <a:endParaRPr lang="en-US" dirty="0"/>
          </a:p>
          <a:p>
            <a:r>
              <a:rPr lang="en-US" dirty="0"/>
              <a:t>Remind students:</a:t>
            </a:r>
          </a:p>
          <a:p>
            <a:endParaRPr lang="en-US" dirty="0"/>
          </a:p>
          <a:p>
            <a:r>
              <a:rPr lang="en-US" dirty="0"/>
              <a:t>"A successful build is not the same thing as a successful application."</a:t>
            </a:r>
          </a:p>
          <a:p>
            <a:endParaRPr lang="en-US" dirty="0"/>
          </a:p>
          <a:p>
            <a:r>
              <a:rPr lang="en-US" dirty="0"/>
              <a:t>The application must:</a:t>
            </a:r>
          </a:p>
          <a:p>
            <a:endParaRPr lang="en-US" dirty="0"/>
          </a:p>
          <a:p>
            <a:r>
              <a:rPr lang="en-US" dirty="0"/>
              <a:t>Work.</a:t>
            </a:r>
          </a:p>
          <a:p>
            <a:endParaRPr lang="en-US" dirty="0"/>
          </a:p>
          <a:p>
            <a:r>
              <a:rPr lang="en-US" dirty="0"/>
              <a:t>Persist.</a:t>
            </a:r>
          </a:p>
          <a:p>
            <a:endParaRPr lang="en-US" dirty="0"/>
          </a:p>
          <a:p>
            <a:r>
              <a:rPr lang="en-US" dirty="0"/>
              <a:t>Handle invalid input.</a:t>
            </a:r>
          </a:p>
          <a:p>
            <a:endParaRPr lang="en-US" dirty="0"/>
          </a:p>
          <a:p>
            <a:r>
              <a:rPr lang="en-US" dirty="0"/>
              <a:t>Recover from problems.</a:t>
            </a:r>
          </a:p>
          <a:p>
            <a:endParaRPr lang="en-US" dirty="0"/>
          </a:p>
          <a:p>
            <a:r>
              <a:rPr lang="en-US" dirty="0"/>
              <a:t>Produce expected results.</a:t>
            </a:r>
          </a:p>
          <a:p>
            <a:endParaRPr lang="en-US" dirty="0"/>
          </a:p>
          <a:p>
            <a:r>
              <a:rPr lang="en-US" dirty="0"/>
              <a:t>------------------------------------------------------------</a:t>
            </a:r>
          </a:p>
          <a:p>
            <a:endParaRPr lang="en-US" dirty="0"/>
          </a:p>
          <a:p>
            <a:r>
              <a:rPr lang="en-US" dirty="0"/>
              <a:t>KEY TAKEAWAY</a:t>
            </a:r>
          </a:p>
          <a:p>
            <a:endParaRPr lang="en-US" dirty="0"/>
          </a:p>
          <a:p>
            <a:r>
              <a:rPr lang="en-US" dirty="0"/>
              <a:t>Write this on the board:</a:t>
            </a:r>
          </a:p>
          <a:p>
            <a:endParaRPr lang="en-US" dirty="0"/>
          </a:p>
          <a:p>
            <a:r>
              <a:rPr lang="en-US" dirty="0"/>
              <a:t>SPRINT 4</a:t>
            </a:r>
          </a:p>
          <a:p>
            <a:endParaRPr lang="en-US" dirty="0"/>
          </a:p>
          <a:p>
            <a:r>
              <a:rPr lang="en-US" dirty="0"/>
              <a:t>BUILD + DEPLOY</a:t>
            </a:r>
          </a:p>
          <a:p>
            <a:endParaRPr lang="en-US" dirty="0"/>
          </a:p>
          <a:p>
            <a:r>
              <a:rPr lang="en-US" dirty="0"/>
              <a:t>↓</a:t>
            </a:r>
          </a:p>
          <a:p>
            <a:endParaRPr lang="en-US" dirty="0"/>
          </a:p>
          <a:p>
            <a:r>
              <a:rPr lang="en-US" dirty="0"/>
              <a:t>SPRINT 5</a:t>
            </a:r>
          </a:p>
          <a:p>
            <a:endParaRPr lang="en-US" dirty="0"/>
          </a:p>
          <a:p>
            <a:r>
              <a:rPr lang="en-US" dirty="0"/>
              <a:t>REMEMBER + VERIFY</a:t>
            </a:r>
          </a:p>
          <a:p>
            <a:endParaRPr lang="en-US" dirty="0"/>
          </a:p>
          <a:p>
            <a:r>
              <a:rPr lang="en-US" dirty="0"/>
              <a:t>Then:</a:t>
            </a:r>
          </a:p>
          <a:p>
            <a:endParaRPr lang="en-US" dirty="0"/>
          </a:p>
          <a:p>
            <a:r>
              <a:rPr lang="en-US" dirty="0"/>
              <a:t>SPRINT 6</a:t>
            </a:r>
          </a:p>
          <a:p>
            <a:endParaRPr lang="en-US" dirty="0"/>
          </a:p>
          <a:p>
            <a:r>
              <a:rPr lang="en-US" dirty="0"/>
              <a:t>PROTECT</a:t>
            </a:r>
          </a:p>
          <a:p>
            <a:endParaRPr lang="en-US" dirty="0"/>
          </a:p>
          <a:p>
            <a:r>
              <a:rPr lang="en-US" dirty="0"/>
              <a:t>------------------------------------------------------------</a:t>
            </a:r>
          </a:p>
          <a:p>
            <a:endParaRPr lang="en-US" dirty="0"/>
          </a:p>
          <a:p>
            <a:r>
              <a:rPr lang="en-US" dirty="0"/>
              <a:t>FINAL CLOSING</a:t>
            </a:r>
          </a:p>
          <a:p>
            <a:endParaRPr lang="en-US" dirty="0"/>
          </a:p>
          <a:p>
            <a:r>
              <a:rPr lang="en-US" dirty="0"/>
              <a:t>"Three weeks ago..."</a:t>
            </a:r>
          </a:p>
          <a:p>
            <a:endParaRPr lang="en-US" dirty="0"/>
          </a:p>
          <a:p>
            <a:r>
              <a:rPr lang="en-US" dirty="0"/>
              <a:t>"You were given a problem."</a:t>
            </a:r>
          </a:p>
          <a:p>
            <a:endParaRPr lang="en-US" dirty="0"/>
          </a:p>
          <a:p>
            <a:r>
              <a:rPr lang="en-US" dirty="0"/>
              <a:t>"You gathered requirements."</a:t>
            </a:r>
          </a:p>
          <a:p>
            <a:endParaRPr lang="en-US" dirty="0"/>
          </a:p>
          <a:p>
            <a:r>
              <a:rPr lang="en-US" dirty="0"/>
              <a:t>"You designed a solution."</a:t>
            </a:r>
          </a:p>
          <a:p>
            <a:endParaRPr lang="en-US" dirty="0"/>
          </a:p>
          <a:p>
            <a:r>
              <a:rPr lang="en-US" dirty="0"/>
              <a:t>"You built it."</a:t>
            </a:r>
          </a:p>
          <a:p>
            <a:endParaRPr lang="en-US" dirty="0"/>
          </a:p>
          <a:p>
            <a:r>
              <a:rPr lang="en-US" dirty="0"/>
              <a:t>"You deployed it."</a:t>
            </a:r>
          </a:p>
          <a:p>
            <a:endParaRPr lang="en-US" dirty="0"/>
          </a:p>
          <a:p>
            <a:r>
              <a:rPr lang="en-US" dirty="0"/>
              <a:t>"And now..."</a:t>
            </a:r>
          </a:p>
          <a:p>
            <a:endParaRPr lang="en-US" dirty="0"/>
          </a:p>
          <a:p>
            <a:r>
              <a:rPr lang="en-US" dirty="0"/>
              <a:t>"Atlas </a:t>
            </a:r>
            <a:r>
              <a:rPr lang="en-US" dirty="0" err="1"/>
              <a:t>TaskFlow</a:t>
            </a:r>
            <a:r>
              <a:rPr lang="en-US" dirty="0"/>
              <a:t> remembers."</a:t>
            </a:r>
          </a:p>
          <a:p>
            <a:endParaRPr lang="en-US" dirty="0"/>
          </a:p>
          <a:p>
            <a:r>
              <a:rPr lang="en-US" dirty="0"/>
              <a:t>Pause.</a:t>
            </a:r>
          </a:p>
          <a:p>
            <a:endParaRPr lang="en-US" dirty="0"/>
          </a:p>
          <a:p>
            <a:r>
              <a:rPr lang="en-US" dirty="0"/>
              <a:t>"That's software engineering."</a:t>
            </a:r>
          </a:p>
          <a:p>
            <a:endParaRPr lang="en-US" dirty="0"/>
          </a:p>
          <a:p>
            <a:r>
              <a:rPr lang="en-US" dirty="0"/>
              <a:t>============================================================</a:t>
            </a:r>
          </a:p>
        </p:txBody>
      </p:sp>
      <p:sp>
        <p:nvSpPr>
          <p:cNvPr id="4" name="Slide Number Placeholder 3"/>
          <p:cNvSpPr>
            <a:spLocks noGrp="1"/>
          </p:cNvSpPr>
          <p:nvPr>
            <p:ph type="sldNum" sz="quarter" idx="5"/>
          </p:nvPr>
        </p:nvSpPr>
        <p:spPr/>
        <p:txBody>
          <a:bodyPr/>
          <a:lstStyle/>
          <a:p>
            <a:fld id="{BFAFFB2A-FA1B-453E-A83D-1533B3FE308E}" type="slidenum">
              <a:rPr lang="en-US" smtClean="0"/>
              <a:t>8</a:t>
            </a:fld>
            <a:endParaRPr lang="en-US"/>
          </a:p>
        </p:txBody>
      </p:sp>
    </p:spTree>
    <p:extLst>
      <p:ext uri="{BB962C8B-B14F-4D97-AF65-F5344CB8AC3E}">
        <p14:creationId xmlns:p14="http://schemas.microsoft.com/office/powerpoint/2010/main" val="553145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6665-57EE-B875-E088-9200626313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275022-15B7-A845-13D8-810DE02A51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019D73-5059-E484-904D-DDD8800791C5}"/>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5" name="Footer Placeholder 4">
            <a:extLst>
              <a:ext uri="{FF2B5EF4-FFF2-40B4-BE49-F238E27FC236}">
                <a16:creationId xmlns:a16="http://schemas.microsoft.com/office/drawing/2014/main" id="{835087AA-B475-F3D0-EB1B-CA798D6DD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BFFD2-A1A2-8CF3-5B4F-95B1CA7E8A2E}"/>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2888968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E29B-B403-E711-4DCF-920BD1232B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FD0419-1707-A30E-5A71-767A30ED18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B15B1-ABFF-8758-0778-192DB89C72B8}"/>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5" name="Footer Placeholder 4">
            <a:extLst>
              <a:ext uri="{FF2B5EF4-FFF2-40B4-BE49-F238E27FC236}">
                <a16:creationId xmlns:a16="http://schemas.microsoft.com/office/drawing/2014/main" id="{620C5636-E69A-4279-3BD3-92010CCED2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29D7B-FA73-055A-F882-D67B11931928}"/>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189664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E79D3-2ED2-B9C4-0B86-EA0F7E6F7F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F49A37-4E40-3874-DEAB-D02C51C141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797330-088C-7D75-E801-D17F268F3FFD}"/>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5" name="Footer Placeholder 4">
            <a:extLst>
              <a:ext uri="{FF2B5EF4-FFF2-40B4-BE49-F238E27FC236}">
                <a16:creationId xmlns:a16="http://schemas.microsoft.com/office/drawing/2014/main" id="{DA491720-31B8-3832-FB98-2AC5F86772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285143-6ACD-ECBF-8840-1E4D9C390590}"/>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785927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4D011-C7EE-1B40-5D4C-4C3A873C3A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84CA3E-81DA-6F8E-43C1-AFE94FFF35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067558-1FF3-969F-005F-B1E23040DA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46304F-D427-53FE-F410-9662D7049CB7}"/>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6" name="Footer Placeholder 5">
            <a:extLst>
              <a:ext uri="{FF2B5EF4-FFF2-40B4-BE49-F238E27FC236}">
                <a16:creationId xmlns:a16="http://schemas.microsoft.com/office/drawing/2014/main" id="{24F07F4B-B89F-7244-C439-D4CB7EA15E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8D83D-C3F4-2070-BDBB-DB001415C477}"/>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442025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D4D80-4F69-1841-92EE-AB17D2BCD3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9D4FFC-4C5E-03DA-4BE7-5C867DBFAB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F8CBE6-BEC6-B560-5079-8E4BCF8F81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422728-7512-2263-A5B3-CCF17D2F8C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43B7E5-650F-1F31-ADC7-B6E6A672D2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08AD3C-CC88-A1AA-CF06-ADBDEFEB05F2}"/>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8" name="Footer Placeholder 7">
            <a:extLst>
              <a:ext uri="{FF2B5EF4-FFF2-40B4-BE49-F238E27FC236}">
                <a16:creationId xmlns:a16="http://schemas.microsoft.com/office/drawing/2014/main" id="{AE37CE86-E4AB-85A7-416B-6AD8879003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2822D1-5C59-418D-6751-9DCF0D97E295}"/>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1179550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ED2EA-C325-7652-9010-B694A701E7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54BFA3-CEE1-3B24-26A0-03A2D8B64F64}"/>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4" name="Footer Placeholder 3">
            <a:extLst>
              <a:ext uri="{FF2B5EF4-FFF2-40B4-BE49-F238E27FC236}">
                <a16:creationId xmlns:a16="http://schemas.microsoft.com/office/drawing/2014/main" id="{C980A482-F04E-D1EC-3907-384E1D0F70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610346-CA1E-F0A8-145D-34B4E5394FD0}"/>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3712841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715BF-2B4C-996F-34AA-D3F715B0D7D0}"/>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3" name="Footer Placeholder 2">
            <a:extLst>
              <a:ext uri="{FF2B5EF4-FFF2-40B4-BE49-F238E27FC236}">
                <a16:creationId xmlns:a16="http://schemas.microsoft.com/office/drawing/2014/main" id="{155B3EE9-C208-385A-973A-8A1BD5DC90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B4A45B-CF92-1056-511F-FE286FCF1116}"/>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117961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63C9C-6F6D-A8E2-4786-AAC97B8396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0A95E8-9632-4D19-0066-90B84CE812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3C178B-F336-DD98-B4FB-15AB16687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FFDEB-9215-314B-B6C7-2A2AE4709A54}"/>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6" name="Footer Placeholder 5">
            <a:extLst>
              <a:ext uri="{FF2B5EF4-FFF2-40B4-BE49-F238E27FC236}">
                <a16:creationId xmlns:a16="http://schemas.microsoft.com/office/drawing/2014/main" id="{5013B3EB-7DFB-A7F2-7BAC-02A1E827D4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3497C-D485-2AD5-88C8-E6AE80AA4D20}"/>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1440241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14E0-83E7-D88E-7468-B03A3C12E0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19D5EB-0B60-E75C-5CE1-79367F1BAD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CAB6FD-23A3-CCBB-D450-E439D1440A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DDDB3C-2BF1-9E56-5419-7385E5708AB9}"/>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6" name="Footer Placeholder 5">
            <a:extLst>
              <a:ext uri="{FF2B5EF4-FFF2-40B4-BE49-F238E27FC236}">
                <a16:creationId xmlns:a16="http://schemas.microsoft.com/office/drawing/2014/main" id="{BB5825B2-9CEA-DB45-5411-A6F95228B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F81D4-5B85-6881-6AB1-FC8A1ADFCCD3}"/>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607991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BAEAB-C24A-8C08-8415-5C23F1CA7A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7F3C28-F8EC-37D2-C2DE-AAF7B4BCD7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23D010-1D53-9B93-5041-9B69597A9B67}"/>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5" name="Footer Placeholder 4">
            <a:extLst>
              <a:ext uri="{FF2B5EF4-FFF2-40B4-BE49-F238E27FC236}">
                <a16:creationId xmlns:a16="http://schemas.microsoft.com/office/drawing/2014/main" id="{1E7A995B-B08F-0897-A9AB-B9FCD5EC9D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AF9A59-9395-C940-8C57-CF6F8A9B55E6}"/>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1664300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748264-9233-B51C-0B35-8F9AFC6220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0DBD52-ADC9-9C8D-32BA-D00D16EE6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F915C-7A60-6036-F5E0-5A92B827BE1A}"/>
              </a:ext>
            </a:extLst>
          </p:cNvPr>
          <p:cNvSpPr>
            <a:spLocks noGrp="1"/>
          </p:cNvSpPr>
          <p:nvPr>
            <p:ph type="dt" sz="half" idx="10"/>
          </p:nvPr>
        </p:nvSpPr>
        <p:spPr/>
        <p:txBody>
          <a:bodyPr/>
          <a:lstStyle/>
          <a:p>
            <a:fld id="{935B4AD3-DD7B-44E7-8522-7061295FE40F}" type="datetimeFigureOut">
              <a:rPr lang="en-US" smtClean="0"/>
              <a:t>8/13/2026</a:t>
            </a:fld>
            <a:endParaRPr lang="en-US"/>
          </a:p>
        </p:txBody>
      </p:sp>
      <p:sp>
        <p:nvSpPr>
          <p:cNvPr id="5" name="Footer Placeholder 4">
            <a:extLst>
              <a:ext uri="{FF2B5EF4-FFF2-40B4-BE49-F238E27FC236}">
                <a16:creationId xmlns:a16="http://schemas.microsoft.com/office/drawing/2014/main" id="{13DFCD5C-D9A0-3B94-2DE4-17FB85274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FF4C3-E667-C5A2-66E1-AACE9CB6D57F}"/>
              </a:ext>
            </a:extLst>
          </p:cNvPr>
          <p:cNvSpPr>
            <a:spLocks noGrp="1"/>
          </p:cNvSpPr>
          <p:nvPr>
            <p:ph type="sldNum" sz="quarter" idx="12"/>
          </p:nvPr>
        </p:nvSpPr>
        <p:spPr/>
        <p:txBody>
          <a:bodyPr/>
          <a:lstStyle/>
          <a:p>
            <a:fld id="{399B56AC-44FF-4ADE-846B-F004D42BA0FC}" type="slidenum">
              <a:rPr lang="en-US" smtClean="0"/>
              <a:t>‹#›</a:t>
            </a:fld>
            <a:endParaRPr lang="en-US"/>
          </a:p>
        </p:txBody>
      </p:sp>
    </p:spTree>
    <p:extLst>
      <p:ext uri="{BB962C8B-B14F-4D97-AF65-F5344CB8AC3E}">
        <p14:creationId xmlns:p14="http://schemas.microsoft.com/office/powerpoint/2010/main" val="3167448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1DC2D4-0C51-681F-AB18-B1763B8CE7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2EFD5F6-F748-8A78-7395-34FA7100E9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91F7B-9BC9-92D3-8435-42EBD9ED0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5B4AD3-DD7B-44E7-8522-7061295FE40F}" type="datetimeFigureOut">
              <a:rPr lang="en-US" smtClean="0"/>
              <a:t>8/13/2026</a:t>
            </a:fld>
            <a:endParaRPr lang="en-US"/>
          </a:p>
        </p:txBody>
      </p:sp>
      <p:sp>
        <p:nvSpPr>
          <p:cNvPr id="5" name="Footer Placeholder 4">
            <a:extLst>
              <a:ext uri="{FF2B5EF4-FFF2-40B4-BE49-F238E27FC236}">
                <a16:creationId xmlns:a16="http://schemas.microsoft.com/office/drawing/2014/main" id="{5E6DA8D8-27D6-3FC3-8F77-1E665307F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8696C4-6EF3-F228-36BB-A9248F400E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9B56AC-44FF-4ADE-846B-F004D42BA0FC}" type="slidenum">
              <a:rPr lang="en-US" smtClean="0"/>
              <a:t>‹#›</a:t>
            </a:fld>
            <a:endParaRPr lang="en-US"/>
          </a:p>
        </p:txBody>
      </p:sp>
    </p:spTree>
    <p:extLst>
      <p:ext uri="{BB962C8B-B14F-4D97-AF65-F5344CB8AC3E}">
        <p14:creationId xmlns:p14="http://schemas.microsoft.com/office/powerpoint/2010/main" val="4143110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0E14-3784-C25C-906C-638070CF80F0}"/>
              </a:ext>
            </a:extLst>
          </p:cNvPr>
          <p:cNvSpPr>
            <a:spLocks noGrp="1"/>
          </p:cNvSpPr>
          <p:nvPr>
            <p:ph type="ctrTitle"/>
          </p:nvPr>
        </p:nvSpPr>
        <p:spPr/>
        <p:txBody>
          <a:bodyPr/>
          <a:lstStyle/>
          <a:p>
            <a:r>
              <a:rPr lang="en-US" dirty="0"/>
              <a:t>5-01</a:t>
            </a:r>
          </a:p>
        </p:txBody>
      </p:sp>
      <p:sp>
        <p:nvSpPr>
          <p:cNvPr id="3" name="Subtitle 2">
            <a:extLst>
              <a:ext uri="{FF2B5EF4-FFF2-40B4-BE49-F238E27FC236}">
                <a16:creationId xmlns:a16="http://schemas.microsoft.com/office/drawing/2014/main" id="{4658E97F-AAAC-2C87-0EF4-A838C4835519}"/>
              </a:ext>
            </a:extLst>
          </p:cNvPr>
          <p:cNvSpPr>
            <a:spLocks noGrp="1"/>
          </p:cNvSpPr>
          <p:nvPr>
            <p:ph type="subTitle" idx="1"/>
          </p:nvPr>
        </p:nvSpPr>
        <p:spPr/>
        <p:txBody>
          <a:bodyPr/>
          <a:lstStyle/>
          <a:p>
            <a:endParaRPr lang="en-US"/>
          </a:p>
        </p:txBody>
      </p:sp>
      <p:pic>
        <p:nvPicPr>
          <p:cNvPr id="7" name="Picture 6" descr="A detailed infographic explaining Atlas TaskFlow Sprint 5, focusing on how the application stores, retrieves, and manages data by adding memory capabilities. It includes a comparison chart of current versus post-sprint functionality, key concepts like persistence and CRUD operations, a roadmap, architecture overview, and future goals, using color-coded sections with icons and labeled diagrams.&#10;&#10;">
            <a:extLst>
              <a:ext uri="{FF2B5EF4-FFF2-40B4-BE49-F238E27FC236}">
                <a16:creationId xmlns:a16="http://schemas.microsoft.com/office/drawing/2014/main" id="{05B4FF8D-1380-FB06-BD1D-1E728C62CBF1}"/>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38673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937D-43C0-BE8F-503A-999C24760EA6}"/>
              </a:ext>
            </a:extLst>
          </p:cNvPr>
          <p:cNvSpPr>
            <a:spLocks noGrp="1"/>
          </p:cNvSpPr>
          <p:nvPr>
            <p:ph type="title"/>
          </p:nvPr>
        </p:nvSpPr>
        <p:spPr/>
        <p:txBody>
          <a:bodyPr/>
          <a:lstStyle/>
          <a:p>
            <a:r>
              <a:rPr lang="en-US" dirty="0"/>
              <a:t>5-02</a:t>
            </a:r>
          </a:p>
        </p:txBody>
      </p:sp>
      <p:sp>
        <p:nvSpPr>
          <p:cNvPr id="3" name="Content Placeholder 2">
            <a:extLst>
              <a:ext uri="{FF2B5EF4-FFF2-40B4-BE49-F238E27FC236}">
                <a16:creationId xmlns:a16="http://schemas.microsoft.com/office/drawing/2014/main" id="{6DCADE1D-01AD-BD54-451E-67047DA5CE77}"/>
              </a:ext>
            </a:extLst>
          </p:cNvPr>
          <p:cNvSpPr>
            <a:spLocks noGrp="1"/>
          </p:cNvSpPr>
          <p:nvPr>
            <p:ph idx="1"/>
          </p:nvPr>
        </p:nvSpPr>
        <p:spPr/>
        <p:txBody>
          <a:bodyPr/>
          <a:lstStyle/>
          <a:p>
            <a:endParaRPr lang="en-US"/>
          </a:p>
        </p:txBody>
      </p:sp>
      <p:pic>
        <p:nvPicPr>
          <p:cNvPr id="5" name="Picture 4" descr="Infographic showing a comparison of Atlas Taskflow before and after Sprint 5, highlighting improvements in memory persistence for a SaaS application. It includes a flowchart with color-coded sections (red for current state, green for post-sprint), key concepts, architecture evolution, and a roadmap outlining goals and next steps for enhancing data storage and retrieval.&#10;">
            <a:extLst>
              <a:ext uri="{FF2B5EF4-FFF2-40B4-BE49-F238E27FC236}">
                <a16:creationId xmlns:a16="http://schemas.microsoft.com/office/drawing/2014/main" id="{22653F8F-58E4-77E9-30D8-D52DE9BAFFD9}"/>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09629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4660-581F-F6C9-0FA9-23C3F4753F54}"/>
              </a:ext>
            </a:extLst>
          </p:cNvPr>
          <p:cNvSpPr>
            <a:spLocks noGrp="1"/>
          </p:cNvSpPr>
          <p:nvPr>
            <p:ph type="title"/>
          </p:nvPr>
        </p:nvSpPr>
        <p:spPr/>
        <p:txBody>
          <a:bodyPr/>
          <a:lstStyle/>
          <a:p>
            <a:r>
              <a:rPr lang="en-US" dirty="0"/>
              <a:t>5-03</a:t>
            </a:r>
          </a:p>
        </p:txBody>
      </p:sp>
      <p:sp>
        <p:nvSpPr>
          <p:cNvPr id="3" name="Content Placeholder 2">
            <a:extLst>
              <a:ext uri="{FF2B5EF4-FFF2-40B4-BE49-F238E27FC236}">
                <a16:creationId xmlns:a16="http://schemas.microsoft.com/office/drawing/2014/main" id="{9DBDE4FA-0578-9DF3-74DC-539F0A92E58D}"/>
              </a:ext>
            </a:extLst>
          </p:cNvPr>
          <p:cNvSpPr>
            <a:spLocks noGrp="1"/>
          </p:cNvSpPr>
          <p:nvPr>
            <p:ph idx="1"/>
          </p:nvPr>
        </p:nvSpPr>
        <p:spPr/>
        <p:txBody>
          <a:bodyPr/>
          <a:lstStyle/>
          <a:p>
            <a:endParaRPr lang="en-US"/>
          </a:p>
        </p:txBody>
      </p:sp>
      <p:pic>
        <p:nvPicPr>
          <p:cNvPr id="5" name="Picture 4" descr="A colorful educational poster explaining the Atlas TaskFlow data model with sections on problem-solving, data model definition, engineering insights, and key design principles. It includes an entity relationship diagram with labeled tables (User, Project, Task, Status, Category), example data, relationship types, and next steps for implementation.&#10;&#10;">
            <a:extLst>
              <a:ext uri="{FF2B5EF4-FFF2-40B4-BE49-F238E27FC236}">
                <a16:creationId xmlns:a16="http://schemas.microsoft.com/office/drawing/2014/main" id="{7EE41AA3-B827-ACDC-9BAD-56308EA6F5A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524283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1A868-DF54-2C50-4303-9388FFC95BD6}"/>
              </a:ext>
            </a:extLst>
          </p:cNvPr>
          <p:cNvSpPr>
            <a:spLocks noGrp="1"/>
          </p:cNvSpPr>
          <p:nvPr>
            <p:ph type="title"/>
          </p:nvPr>
        </p:nvSpPr>
        <p:spPr/>
        <p:txBody>
          <a:bodyPr/>
          <a:lstStyle/>
          <a:p>
            <a:r>
              <a:rPr lang="en-US" dirty="0"/>
              <a:t>5-04</a:t>
            </a:r>
          </a:p>
        </p:txBody>
      </p:sp>
      <p:sp>
        <p:nvSpPr>
          <p:cNvPr id="3" name="Content Placeholder 2">
            <a:extLst>
              <a:ext uri="{FF2B5EF4-FFF2-40B4-BE49-F238E27FC236}">
                <a16:creationId xmlns:a16="http://schemas.microsoft.com/office/drawing/2014/main" id="{A72CA622-F587-D703-8D58-EBA8EECF9A6A}"/>
              </a:ext>
            </a:extLst>
          </p:cNvPr>
          <p:cNvSpPr>
            <a:spLocks noGrp="1"/>
          </p:cNvSpPr>
          <p:nvPr>
            <p:ph idx="1"/>
          </p:nvPr>
        </p:nvSpPr>
        <p:spPr/>
        <p:txBody>
          <a:bodyPr/>
          <a:lstStyle/>
          <a:p>
            <a:endParaRPr lang="en-US"/>
          </a:p>
        </p:txBody>
      </p:sp>
      <p:pic>
        <p:nvPicPr>
          <p:cNvPr id="5" name="Picture 4" descr="Infographic poster explaining Entity Framework Core as a bridge between C# applications and databases, highlighting its role in translating C# requests into database operations. Features sections on CRUD operations with color-coded boxes (green for Create, blue for Read, orange for Update, red for Delete), a diagram showing flow from C# app to database, and key concepts like EF Core as an object-relational mapper and benefits such as reduced repetitive code.&#10;&#10;">
            <a:extLst>
              <a:ext uri="{FF2B5EF4-FFF2-40B4-BE49-F238E27FC236}">
                <a16:creationId xmlns:a16="http://schemas.microsoft.com/office/drawing/2014/main" id="{6263DA07-6AC0-920C-47B0-43867948A73F}"/>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422503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1148D-DA5A-7F21-EDB5-05962FBA040F}"/>
              </a:ext>
            </a:extLst>
          </p:cNvPr>
          <p:cNvSpPr>
            <a:spLocks noGrp="1"/>
          </p:cNvSpPr>
          <p:nvPr>
            <p:ph type="title"/>
          </p:nvPr>
        </p:nvSpPr>
        <p:spPr/>
        <p:txBody>
          <a:bodyPr/>
          <a:lstStyle/>
          <a:p>
            <a:r>
              <a:rPr lang="en-US" dirty="0"/>
              <a:t>5-05</a:t>
            </a:r>
          </a:p>
        </p:txBody>
      </p:sp>
      <p:sp>
        <p:nvSpPr>
          <p:cNvPr id="3" name="Content Placeholder 2">
            <a:extLst>
              <a:ext uri="{FF2B5EF4-FFF2-40B4-BE49-F238E27FC236}">
                <a16:creationId xmlns:a16="http://schemas.microsoft.com/office/drawing/2014/main" id="{3C64ED6A-712F-1159-7814-370ED53044D4}"/>
              </a:ext>
            </a:extLst>
          </p:cNvPr>
          <p:cNvSpPr>
            <a:spLocks noGrp="1"/>
          </p:cNvSpPr>
          <p:nvPr>
            <p:ph idx="1"/>
          </p:nvPr>
        </p:nvSpPr>
        <p:spPr/>
        <p:txBody>
          <a:bodyPr/>
          <a:lstStyle/>
          <a:p>
            <a:endParaRPr lang="en-US"/>
          </a:p>
        </p:txBody>
      </p:sp>
      <p:pic>
        <p:nvPicPr>
          <p:cNvPr id="5" name="Picture 4" descr="Infographic poster explaining how to connect Atlas TaskFlow to a database for data-powered applications, featuring a step-by-step connection flow with labeled icons and code snippets for each stage. It highlights key concepts like connection string, DbContext, and DbSet, alongside common connection options and future updates, using a color scheme of blue, white, and orange for clarity.&#10;&#10;">
            <a:extLst>
              <a:ext uri="{FF2B5EF4-FFF2-40B4-BE49-F238E27FC236}">
                <a16:creationId xmlns:a16="http://schemas.microsoft.com/office/drawing/2014/main" id="{D8A13E02-31C1-350C-9D0F-7AFF167C03CE}"/>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409458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45830-3FE8-ED3A-2E13-93225A645E94}"/>
              </a:ext>
            </a:extLst>
          </p:cNvPr>
          <p:cNvSpPr>
            <a:spLocks noGrp="1"/>
          </p:cNvSpPr>
          <p:nvPr>
            <p:ph type="title"/>
          </p:nvPr>
        </p:nvSpPr>
        <p:spPr/>
        <p:txBody>
          <a:bodyPr/>
          <a:lstStyle/>
          <a:p>
            <a:r>
              <a:rPr lang="en-US" dirty="0"/>
              <a:t>5-06</a:t>
            </a:r>
          </a:p>
        </p:txBody>
      </p:sp>
      <p:sp>
        <p:nvSpPr>
          <p:cNvPr id="3" name="Content Placeholder 2">
            <a:extLst>
              <a:ext uri="{FF2B5EF4-FFF2-40B4-BE49-F238E27FC236}">
                <a16:creationId xmlns:a16="http://schemas.microsoft.com/office/drawing/2014/main" id="{FB634282-4DB5-220E-7CC2-77305074D25E}"/>
              </a:ext>
            </a:extLst>
          </p:cNvPr>
          <p:cNvSpPr>
            <a:spLocks noGrp="1"/>
          </p:cNvSpPr>
          <p:nvPr>
            <p:ph idx="1"/>
          </p:nvPr>
        </p:nvSpPr>
        <p:spPr/>
        <p:txBody>
          <a:bodyPr/>
          <a:lstStyle/>
          <a:p>
            <a:endParaRPr lang="en-US"/>
          </a:p>
        </p:txBody>
      </p:sp>
      <p:pic>
        <p:nvPicPr>
          <p:cNvPr id="5" name="Picture 4" descr="Infographic explaining CRUD operations in Atlas TaskFlow, detailing Create, Read, Update, and Delete functions with corresponding icons, code snippets, and database interactions. It includes sections on problem context, solution overview, best practices, common tools, and real-world examples, using color-coded boxes and arrows to organize information clearly.&#10;">
            <a:extLst>
              <a:ext uri="{FF2B5EF4-FFF2-40B4-BE49-F238E27FC236}">
                <a16:creationId xmlns:a16="http://schemas.microsoft.com/office/drawing/2014/main" id="{AC55BFAD-716A-5FCA-B913-B118ACDEACB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139802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B2A83-F320-ADE5-5D07-C1ED8BC43E17}"/>
              </a:ext>
            </a:extLst>
          </p:cNvPr>
          <p:cNvSpPr>
            <a:spLocks noGrp="1"/>
          </p:cNvSpPr>
          <p:nvPr>
            <p:ph type="title"/>
          </p:nvPr>
        </p:nvSpPr>
        <p:spPr/>
        <p:txBody>
          <a:bodyPr/>
          <a:lstStyle/>
          <a:p>
            <a:r>
              <a:rPr lang="en-US" dirty="0"/>
              <a:t>5-07</a:t>
            </a:r>
          </a:p>
        </p:txBody>
      </p:sp>
      <p:sp>
        <p:nvSpPr>
          <p:cNvPr id="3" name="Content Placeholder 2">
            <a:extLst>
              <a:ext uri="{FF2B5EF4-FFF2-40B4-BE49-F238E27FC236}">
                <a16:creationId xmlns:a16="http://schemas.microsoft.com/office/drawing/2014/main" id="{5C0F4BB3-0770-EF6E-7219-B5C029D3C21E}"/>
              </a:ext>
            </a:extLst>
          </p:cNvPr>
          <p:cNvSpPr>
            <a:spLocks noGrp="1"/>
          </p:cNvSpPr>
          <p:nvPr>
            <p:ph idx="1"/>
          </p:nvPr>
        </p:nvSpPr>
        <p:spPr/>
        <p:txBody>
          <a:bodyPr/>
          <a:lstStyle/>
          <a:p>
            <a:endParaRPr lang="en-US"/>
          </a:p>
        </p:txBody>
      </p:sp>
      <p:pic>
        <p:nvPicPr>
          <p:cNvPr id="5" name="Picture 4" descr="A detailed learning poster titled &quot;Data Validation &amp; Error Handling&quot; from Atlas TaskFlow, designed to educate users on preventing and managing data errors in workflows. It includes sections on problem identification, solutions, validation examples, error handling code snippets, best practices, common error types, user-friendly messages, and future development tips, using color-coded boxes, icons, and clear headings for easy navigation.&#10;&#10;">
            <a:extLst>
              <a:ext uri="{FF2B5EF4-FFF2-40B4-BE49-F238E27FC236}">
                <a16:creationId xmlns:a16="http://schemas.microsoft.com/office/drawing/2014/main" id="{DFDA5241-2093-4D28-9A14-F46E52F3B879}"/>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417928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15204-0F0A-5995-6277-4B10907BCBD5}"/>
              </a:ext>
            </a:extLst>
          </p:cNvPr>
          <p:cNvSpPr>
            <a:spLocks noGrp="1"/>
          </p:cNvSpPr>
          <p:nvPr>
            <p:ph type="title"/>
          </p:nvPr>
        </p:nvSpPr>
        <p:spPr/>
        <p:txBody>
          <a:bodyPr/>
          <a:lstStyle/>
          <a:p>
            <a:r>
              <a:rPr lang="en-US" dirty="0"/>
              <a:t>5-08</a:t>
            </a:r>
          </a:p>
        </p:txBody>
      </p:sp>
      <p:sp>
        <p:nvSpPr>
          <p:cNvPr id="3" name="Content Placeholder 2">
            <a:extLst>
              <a:ext uri="{FF2B5EF4-FFF2-40B4-BE49-F238E27FC236}">
                <a16:creationId xmlns:a16="http://schemas.microsoft.com/office/drawing/2014/main" id="{E24D542B-D13C-5657-5DF0-BF791D1EECB6}"/>
              </a:ext>
            </a:extLst>
          </p:cNvPr>
          <p:cNvSpPr>
            <a:spLocks noGrp="1"/>
          </p:cNvSpPr>
          <p:nvPr>
            <p:ph idx="1"/>
          </p:nvPr>
        </p:nvSpPr>
        <p:spPr/>
        <p:txBody>
          <a:bodyPr/>
          <a:lstStyle/>
          <a:p>
            <a:endParaRPr lang="en-US"/>
          </a:p>
        </p:txBody>
      </p:sp>
      <p:pic>
        <p:nvPicPr>
          <p:cNvPr id="5" name="Picture 4" descr="A detailed infographic poster titled &quot;Making Taskflow Persistent&quot; explains how Atlas TaskFlow maintains data across sessions during Sprint 5. It includes a persistence demo flow with six steps, verification checklists for each step, best practices, sprint reflection questions, and engineering tips, all organized with color-coded sections and icons for clarity.&#10;&#10;">
            <a:extLst>
              <a:ext uri="{FF2B5EF4-FFF2-40B4-BE49-F238E27FC236}">
                <a16:creationId xmlns:a16="http://schemas.microsoft.com/office/drawing/2014/main" id="{D6704279-A466-469F-40B1-7DCDB9B5D59A}"/>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4163142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15675</Words>
  <Application>Microsoft Office PowerPoint</Application>
  <PresentationFormat>Widescreen</PresentationFormat>
  <Paragraphs>6788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5-01</vt:lpstr>
      <vt:lpstr>5-02</vt:lpstr>
      <vt:lpstr>5-03</vt:lpstr>
      <vt:lpstr>5-04</vt:lpstr>
      <vt:lpstr>5-05</vt:lpstr>
      <vt:lpstr>5-06</vt:lpstr>
      <vt:lpstr>5-07</vt:lpstr>
      <vt:lpstr>5-08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CT Thompson</dc:creator>
  <cp:lastModifiedBy>CT THOMPSON</cp:lastModifiedBy>
  <cp:revision>3</cp:revision>
  <dcterms:created xsi:type="dcterms:W3CDTF">2026-08-11T16:12:47Z</dcterms:created>
  <dcterms:modified xsi:type="dcterms:W3CDTF">2026-08-13T18:09:46Z</dcterms:modified>
</cp:coreProperties>
</file>