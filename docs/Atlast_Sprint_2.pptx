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7" r:id="rId2"/>
    <p:sldId id="258" r:id="rId3"/>
    <p:sldId id="259" r:id="rId4"/>
    <p:sldId id="260" r:id="rId5"/>
    <p:sldId id="263" r:id="rId6"/>
    <p:sldId id="261" r:id="rId7"/>
    <p:sldId id="262" r:id="rId8"/>
    <p:sldId id="264" r:id="rId9"/>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67" autoAdjust="0"/>
    <p:restoredTop sz="86441" autoAdjust="0"/>
  </p:normalViewPr>
  <p:slideViewPr>
    <p:cSldViewPr snapToGrid="0">
      <p:cViewPr varScale="1">
        <p:scale>
          <a:sx n="78" d="100"/>
          <a:sy n="78" d="100"/>
        </p:scale>
        <p:origin x="120" y="480"/>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EAA2E6-B0A6-40D3-AD91-A054F9C94408}" type="datetimeFigureOut">
              <a:rPr lang="en-US" smtClean="0"/>
              <a:t>8/13/2026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3464B6-418B-4A24-AB2E-F540793FE320}" type="slidenum">
              <a:rPr lang="en-US" smtClean="0"/>
              <a:t>‹#›</a:t>
            </a:fld>
            <a:endParaRPr lang="en-US"/>
          </a:p>
        </p:txBody>
      </p:sp>
    </p:spTree>
    <p:extLst>
      <p:ext uri="{BB962C8B-B14F-4D97-AF65-F5344CB8AC3E}">
        <p14:creationId xmlns:p14="http://schemas.microsoft.com/office/powerpoint/2010/main" val="34542078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ARTIFACT XXIV</a:t>
            </a:r>
          </a:p>
          <a:p>
            <a:endParaRPr lang="en-US" dirty="0"/>
          </a:p>
          <a:p>
            <a:r>
              <a:rPr lang="en-US" dirty="0"/>
              <a:t>SPRINT 2 ENGINEERING BRIEF</a:t>
            </a:r>
          </a:p>
          <a:p>
            <a:endParaRPr lang="en-US" dirty="0"/>
          </a:p>
          <a:p>
            <a:r>
              <a:rPr lang="en-US" dirty="0"/>
              <a:t>============================================================</a:t>
            </a:r>
          </a:p>
          <a:p>
            <a:endParaRPr lang="en-US" dirty="0"/>
          </a:p>
          <a:p>
            <a:r>
              <a:rPr lang="en-US" dirty="0"/>
              <a:t>SLIDE PURPOSE</a:t>
            </a:r>
          </a:p>
          <a:p>
            <a:endParaRPr lang="en-US" dirty="0"/>
          </a:p>
          <a:p>
            <a:r>
              <a:rPr lang="en-US" dirty="0"/>
              <a:t>Welcome students to Sprint 2 and establish the theme for the next phase</a:t>
            </a:r>
          </a:p>
          <a:p>
            <a:r>
              <a:rPr lang="en-US" dirty="0"/>
              <a:t>of their engineering journey.</a:t>
            </a:r>
          </a:p>
          <a:p>
            <a:endParaRPr lang="en-US" dirty="0"/>
          </a:p>
          <a:p>
            <a:r>
              <a:rPr lang="en-US" dirty="0"/>
              <a:t>Students should understand that Sprint 1 focused on becoming engineers.</a:t>
            </a:r>
          </a:p>
          <a:p>
            <a:endParaRPr lang="en-US" dirty="0"/>
          </a:p>
          <a:p>
            <a:r>
              <a:rPr lang="en-US" dirty="0"/>
              <a:t>Sprint 2 shifts their focus toward understanding why Software as a</a:t>
            </a:r>
          </a:p>
          <a:p>
            <a:r>
              <a:rPr lang="en-US" dirty="0"/>
              <a:t>Service transformed the software industry.</a:t>
            </a:r>
          </a:p>
          <a:p>
            <a:endParaRPr lang="en-US" dirty="0"/>
          </a:p>
          <a:p>
            <a:r>
              <a:rPr lang="en-US" dirty="0"/>
              <a:t>By the end of this sprint, students should see cloud computing not as a</a:t>
            </a:r>
          </a:p>
          <a:p>
            <a:r>
              <a:rPr lang="en-US" dirty="0"/>
              <a:t>technology trend, but as the foundation of modern software development.</a:t>
            </a:r>
          </a:p>
          <a:p>
            <a:endParaRPr lang="en-US" dirty="0"/>
          </a:p>
          <a:p>
            <a:r>
              <a:rPr lang="en-US" dirty="0"/>
              <a:t>------------------------------------------------------------</a:t>
            </a:r>
          </a:p>
          <a:p>
            <a:endParaRPr lang="en-US" dirty="0"/>
          </a:p>
          <a:p>
            <a:r>
              <a:rPr lang="en-US" dirty="0"/>
              <a:t>OPENING</a:t>
            </a:r>
          </a:p>
          <a:p>
            <a:endParaRPr lang="en-US" dirty="0"/>
          </a:p>
          <a:p>
            <a:r>
              <a:rPr lang="en-US" dirty="0"/>
              <a:t>"Congratulations."</a:t>
            </a:r>
          </a:p>
          <a:p>
            <a:endParaRPr lang="en-US" dirty="0"/>
          </a:p>
          <a:p>
            <a:r>
              <a:rPr lang="en-US" dirty="0"/>
              <a:t>"You've officially completed your first engineering sprint."</a:t>
            </a:r>
          </a:p>
          <a:p>
            <a:endParaRPr lang="en-US" dirty="0"/>
          </a:p>
          <a:p>
            <a:r>
              <a:rPr lang="en-US" dirty="0"/>
              <a:t>"Last week, you built your engineering workstation."</a:t>
            </a:r>
          </a:p>
          <a:p>
            <a:endParaRPr lang="en-US" dirty="0"/>
          </a:p>
          <a:p>
            <a:r>
              <a:rPr lang="en-US" dirty="0"/>
              <a:t>"You created your first GitHub repository."</a:t>
            </a:r>
          </a:p>
          <a:p>
            <a:endParaRPr lang="en-US" dirty="0"/>
          </a:p>
          <a:p>
            <a:r>
              <a:rPr lang="en-US" dirty="0"/>
              <a:t>"You made your first commit."</a:t>
            </a:r>
          </a:p>
          <a:p>
            <a:endParaRPr lang="en-US" dirty="0"/>
          </a:p>
          <a:p>
            <a:r>
              <a:rPr lang="en-US" dirty="0"/>
              <a:t>"You completed your first engineering ticket."</a:t>
            </a:r>
          </a:p>
          <a:p>
            <a:endParaRPr lang="en-US" dirty="0"/>
          </a:p>
          <a:p>
            <a:r>
              <a:rPr lang="en-US" dirty="0"/>
              <a:t>"Today..."</a:t>
            </a:r>
          </a:p>
          <a:p>
            <a:endParaRPr lang="en-US" dirty="0"/>
          </a:p>
          <a:p>
            <a:r>
              <a:rPr lang="en-US" dirty="0"/>
              <a:t>"We begin understanding the technology that powers almost every modern</a:t>
            </a:r>
          </a:p>
          <a:p>
            <a:r>
              <a:rPr lang="en-US" dirty="0"/>
              <a:t>application you use."</a:t>
            </a:r>
          </a:p>
          <a:p>
            <a:endParaRPr lang="en-US" dirty="0"/>
          </a:p>
          <a:p>
            <a:r>
              <a:rPr lang="en-US" dirty="0"/>
              <a:t>"Welcome to Sprint 2."</a:t>
            </a:r>
          </a:p>
          <a:p>
            <a:endParaRPr lang="en-US" dirty="0"/>
          </a:p>
          <a:p>
            <a:r>
              <a:rPr lang="en-US" dirty="0"/>
              <a:t>------------------------------------------------------------</a:t>
            </a:r>
          </a:p>
          <a:p>
            <a:endParaRPr lang="en-US" dirty="0"/>
          </a:p>
          <a:p>
            <a:r>
              <a:rPr lang="en-US" dirty="0"/>
              <a:t>SPRINT RECAP</a:t>
            </a:r>
          </a:p>
          <a:p>
            <a:endParaRPr lang="en-US" dirty="0"/>
          </a:p>
          <a:p>
            <a:r>
              <a:rPr lang="en-US" dirty="0"/>
              <a:t>Before we move forward, let's remember where we came from.</a:t>
            </a:r>
          </a:p>
          <a:p>
            <a:endParaRPr lang="en-US" dirty="0"/>
          </a:p>
          <a:p>
            <a:r>
              <a:rPr lang="en-US" dirty="0"/>
              <a:t>Sprint 1 was about becoming an engineer.</a:t>
            </a:r>
          </a:p>
          <a:p>
            <a:endParaRPr lang="en-US" dirty="0"/>
          </a:p>
          <a:p>
            <a:r>
              <a:rPr lang="en-US" dirty="0"/>
              <a:t>You learned:</a:t>
            </a:r>
          </a:p>
          <a:p>
            <a:endParaRPr lang="en-US" dirty="0"/>
          </a:p>
          <a:p>
            <a:r>
              <a:rPr lang="en-US" dirty="0"/>
              <a:t>• Professional development tools</a:t>
            </a:r>
          </a:p>
          <a:p>
            <a:endParaRPr lang="en-US" dirty="0"/>
          </a:p>
          <a:p>
            <a:r>
              <a:rPr lang="en-US" dirty="0"/>
              <a:t>• Git</a:t>
            </a:r>
          </a:p>
          <a:p>
            <a:endParaRPr lang="en-US" dirty="0"/>
          </a:p>
          <a:p>
            <a:r>
              <a:rPr lang="en-US" dirty="0"/>
              <a:t>• GitHub</a:t>
            </a:r>
          </a:p>
          <a:p>
            <a:endParaRPr lang="en-US" dirty="0"/>
          </a:p>
          <a:p>
            <a:r>
              <a:rPr lang="en-US" dirty="0"/>
              <a:t>• Azure</a:t>
            </a:r>
          </a:p>
          <a:p>
            <a:endParaRPr lang="en-US" dirty="0"/>
          </a:p>
          <a:p>
            <a:r>
              <a:rPr lang="en-US" dirty="0"/>
              <a:t>• Documentation</a:t>
            </a:r>
          </a:p>
          <a:p>
            <a:endParaRPr lang="en-US" dirty="0"/>
          </a:p>
          <a:p>
            <a:r>
              <a:rPr lang="en-US" dirty="0"/>
              <a:t>• Version control</a:t>
            </a:r>
          </a:p>
          <a:p>
            <a:endParaRPr lang="en-US" dirty="0"/>
          </a:p>
          <a:p>
            <a:r>
              <a:rPr lang="en-US" dirty="0"/>
              <a:t>Those tools prepared you to build software professionally.</a:t>
            </a:r>
          </a:p>
          <a:p>
            <a:endParaRPr lang="en-US" dirty="0"/>
          </a:p>
          <a:p>
            <a:r>
              <a:rPr lang="en-US" dirty="0"/>
              <a:t>Now it's time to understand what you're building.</a:t>
            </a:r>
          </a:p>
          <a:p>
            <a:endParaRPr lang="en-US" dirty="0"/>
          </a:p>
          <a:p>
            <a:r>
              <a:rPr lang="en-US" dirty="0"/>
              <a:t>------------------------------------------------------------</a:t>
            </a:r>
          </a:p>
          <a:p>
            <a:endParaRPr lang="en-US" dirty="0"/>
          </a:p>
          <a:p>
            <a:r>
              <a:rPr lang="en-US" dirty="0"/>
              <a:t>MISSION</a:t>
            </a:r>
          </a:p>
          <a:p>
            <a:endParaRPr lang="en-US" dirty="0"/>
          </a:p>
          <a:p>
            <a:r>
              <a:rPr lang="en-US" dirty="0"/>
              <a:t>Read the mission statement.</a:t>
            </a:r>
          </a:p>
          <a:p>
            <a:endParaRPr lang="en-US" dirty="0"/>
          </a:p>
          <a:p>
            <a:r>
              <a:rPr lang="en-US" dirty="0"/>
              <a:t>"Our mission for Sprint 2 is simple."</a:t>
            </a:r>
          </a:p>
          <a:p>
            <a:endParaRPr lang="en-US" dirty="0"/>
          </a:p>
          <a:p>
            <a:r>
              <a:rPr lang="en-US" dirty="0"/>
              <a:t>"We're going to understand why the software industry changed forever."</a:t>
            </a:r>
          </a:p>
          <a:p>
            <a:endParaRPr lang="en-US" dirty="0"/>
          </a:p>
          <a:p>
            <a:r>
              <a:rPr lang="en-US" dirty="0"/>
              <a:t>"This sprint isn't about memorizing definitions."</a:t>
            </a:r>
          </a:p>
          <a:p>
            <a:endParaRPr lang="en-US" dirty="0"/>
          </a:p>
          <a:p>
            <a:r>
              <a:rPr lang="en-US" dirty="0"/>
              <a:t>"It's about understanding the biggest shift in software development over</a:t>
            </a:r>
          </a:p>
          <a:p>
            <a:r>
              <a:rPr lang="en-US" dirty="0"/>
              <a:t>the last twenty years."</a:t>
            </a:r>
          </a:p>
          <a:p>
            <a:endParaRPr lang="en-US" dirty="0"/>
          </a:p>
          <a:p>
            <a:r>
              <a:rPr lang="en-US" dirty="0"/>
              <a:t>------------------------------------------------------------</a:t>
            </a:r>
          </a:p>
          <a:p>
            <a:endParaRPr lang="en-US" dirty="0"/>
          </a:p>
          <a:p>
            <a:r>
              <a:rPr lang="en-US" dirty="0"/>
              <a:t>LEARNING OBJECTIVES</a:t>
            </a:r>
          </a:p>
          <a:p>
            <a:endParaRPr lang="en-US" dirty="0"/>
          </a:p>
          <a:p>
            <a:r>
              <a:rPr lang="en-US" dirty="0"/>
              <a:t>Walk through each learning outcome.</a:t>
            </a:r>
          </a:p>
          <a:p>
            <a:endParaRPr lang="en-US" dirty="0"/>
          </a:p>
          <a:p>
            <a:r>
              <a:rPr lang="en-US" dirty="0"/>
              <a:t>Explain the SaaS business model.</a:t>
            </a:r>
          </a:p>
          <a:p>
            <a:endParaRPr lang="en-US" dirty="0"/>
          </a:p>
          <a:p>
            <a:r>
              <a:rPr lang="en-US" dirty="0"/>
              <a:t>Compare SaaS, PaaS, and IaaS.</a:t>
            </a:r>
          </a:p>
          <a:p>
            <a:endParaRPr lang="en-US" dirty="0"/>
          </a:p>
          <a:p>
            <a:r>
              <a:rPr lang="en-US" dirty="0"/>
              <a:t>Recognize SaaS characteristics.</a:t>
            </a:r>
          </a:p>
          <a:p>
            <a:endParaRPr lang="en-US" dirty="0"/>
          </a:p>
          <a:p>
            <a:r>
              <a:rPr lang="en-US" dirty="0"/>
              <a:t>Understand cloud architecture.</a:t>
            </a:r>
          </a:p>
          <a:p>
            <a:endParaRPr lang="en-US" dirty="0"/>
          </a:p>
          <a:p>
            <a:r>
              <a:rPr lang="en-US" dirty="0"/>
              <a:t>Analyze successful SaaS companies.</a:t>
            </a:r>
          </a:p>
          <a:p>
            <a:endParaRPr lang="en-US" dirty="0"/>
          </a:p>
          <a:p>
            <a:r>
              <a:rPr lang="en-US" dirty="0"/>
              <a:t>Build your first simple SaaS application.</a:t>
            </a:r>
          </a:p>
          <a:p>
            <a:endParaRPr lang="en-US" dirty="0"/>
          </a:p>
          <a:p>
            <a:r>
              <a:rPr lang="en-US" dirty="0"/>
              <a:t>Explain how cloud computing transformed software development.</a:t>
            </a:r>
          </a:p>
          <a:p>
            <a:endParaRPr lang="en-US" dirty="0"/>
          </a:p>
          <a:p>
            <a:r>
              <a:rPr lang="en-US" dirty="0"/>
              <a:t>Pause after each objective.</a:t>
            </a:r>
          </a:p>
          <a:p>
            <a:endParaRPr lang="en-US" dirty="0"/>
          </a:p>
          <a:p>
            <a:r>
              <a:rPr lang="en-US" dirty="0"/>
              <a:t>Briefly explain why it matters professionally.</a:t>
            </a:r>
          </a:p>
          <a:p>
            <a:endParaRPr lang="en-US" dirty="0"/>
          </a:p>
          <a:p>
            <a:r>
              <a:rPr lang="en-US" dirty="0"/>
              <a:t>------------------------------------------------------------</a:t>
            </a:r>
          </a:p>
          <a:p>
            <a:endParaRPr lang="en-US" dirty="0"/>
          </a:p>
          <a:p>
            <a:r>
              <a:rPr lang="en-US" dirty="0"/>
              <a:t>THE BIG QUESTION</a:t>
            </a:r>
          </a:p>
          <a:p>
            <a:endParaRPr lang="en-US" dirty="0"/>
          </a:p>
          <a:p>
            <a:r>
              <a:rPr lang="en-US" dirty="0"/>
              <a:t>Ask the class:</a:t>
            </a:r>
          </a:p>
          <a:p>
            <a:endParaRPr lang="en-US" dirty="0"/>
          </a:p>
          <a:p>
            <a:r>
              <a:rPr lang="en-US" dirty="0"/>
              <a:t>"How many software applications did you install this morning?"</a:t>
            </a:r>
          </a:p>
          <a:p>
            <a:endParaRPr lang="en-US" dirty="0"/>
          </a:p>
          <a:p>
            <a:r>
              <a:rPr lang="en-US" dirty="0"/>
              <a:t>(Pause.)</a:t>
            </a:r>
          </a:p>
          <a:p>
            <a:endParaRPr lang="en-US" dirty="0"/>
          </a:p>
          <a:p>
            <a:r>
              <a:rPr lang="en-US" dirty="0"/>
              <a:t>Most students will answer:</a:t>
            </a:r>
          </a:p>
          <a:p>
            <a:endParaRPr lang="en-US" dirty="0"/>
          </a:p>
          <a:p>
            <a:r>
              <a:rPr lang="en-US" dirty="0"/>
              <a:t>"None."</a:t>
            </a:r>
          </a:p>
          <a:p>
            <a:endParaRPr lang="en-US" dirty="0"/>
          </a:p>
          <a:p>
            <a:r>
              <a:rPr lang="en-US" dirty="0"/>
              <a:t>Then ask:</a:t>
            </a:r>
          </a:p>
          <a:p>
            <a:endParaRPr lang="en-US" dirty="0"/>
          </a:p>
          <a:p>
            <a:r>
              <a:rPr lang="en-US" dirty="0"/>
              <a:t>"How many did you use?"</a:t>
            </a:r>
          </a:p>
          <a:p>
            <a:endParaRPr lang="en-US" dirty="0"/>
          </a:p>
          <a:p>
            <a:r>
              <a:rPr lang="en-US" dirty="0"/>
              <a:t>Students will begin listing:</a:t>
            </a:r>
          </a:p>
          <a:p>
            <a:endParaRPr lang="en-US" dirty="0"/>
          </a:p>
          <a:p>
            <a:r>
              <a:rPr lang="en-US" dirty="0"/>
              <a:t>Microsoft Teams</a:t>
            </a:r>
          </a:p>
          <a:p>
            <a:endParaRPr lang="en-US" dirty="0"/>
          </a:p>
          <a:p>
            <a:r>
              <a:rPr lang="en-US" dirty="0"/>
              <a:t>ChatGPT</a:t>
            </a:r>
          </a:p>
          <a:p>
            <a:endParaRPr lang="en-US" dirty="0"/>
          </a:p>
          <a:p>
            <a:r>
              <a:rPr lang="en-US" dirty="0"/>
              <a:t>Spotify</a:t>
            </a:r>
          </a:p>
          <a:p>
            <a:endParaRPr lang="en-US" dirty="0"/>
          </a:p>
          <a:p>
            <a:r>
              <a:rPr lang="en-US" dirty="0"/>
              <a:t>Netflix</a:t>
            </a:r>
          </a:p>
          <a:p>
            <a:endParaRPr lang="en-US" dirty="0"/>
          </a:p>
          <a:p>
            <a:r>
              <a:rPr lang="en-US" dirty="0"/>
              <a:t>Discord</a:t>
            </a:r>
          </a:p>
          <a:p>
            <a:endParaRPr lang="en-US" dirty="0"/>
          </a:p>
          <a:p>
            <a:r>
              <a:rPr lang="en-US" dirty="0"/>
              <a:t>Google Docs</a:t>
            </a:r>
          </a:p>
          <a:p>
            <a:endParaRPr lang="en-US" dirty="0"/>
          </a:p>
          <a:p>
            <a:r>
              <a:rPr lang="en-US" dirty="0"/>
              <a:t>Canvas</a:t>
            </a:r>
          </a:p>
          <a:p>
            <a:endParaRPr lang="en-US" dirty="0"/>
          </a:p>
          <a:p>
            <a:r>
              <a:rPr lang="en-US" dirty="0"/>
              <a:t>Microsoft 365</a:t>
            </a:r>
          </a:p>
          <a:p>
            <a:endParaRPr lang="en-US" dirty="0"/>
          </a:p>
          <a:p>
            <a:r>
              <a:rPr lang="en-US" dirty="0"/>
              <a:t>D2L</a:t>
            </a:r>
          </a:p>
          <a:p>
            <a:endParaRPr lang="en-US" dirty="0"/>
          </a:p>
          <a:p>
            <a:r>
              <a:rPr lang="en-US" dirty="0"/>
              <a:t>Now smile.</a:t>
            </a:r>
          </a:p>
          <a:p>
            <a:endParaRPr lang="en-US" dirty="0"/>
          </a:p>
          <a:p>
            <a:r>
              <a:rPr lang="en-US" dirty="0"/>
              <a:t>"You used software all morning."</a:t>
            </a:r>
          </a:p>
          <a:p>
            <a:endParaRPr lang="en-US" dirty="0"/>
          </a:p>
          <a:p>
            <a:r>
              <a:rPr lang="en-US" dirty="0"/>
              <a:t>"You just didn't install any of it."</a:t>
            </a:r>
          </a:p>
          <a:p>
            <a:endParaRPr lang="en-US" dirty="0"/>
          </a:p>
          <a:p>
            <a:r>
              <a:rPr lang="en-US" dirty="0"/>
              <a:t>"That's the SaaS Revolution."</a:t>
            </a:r>
          </a:p>
          <a:p>
            <a:endParaRPr lang="en-US" dirty="0"/>
          </a:p>
          <a:p>
            <a:r>
              <a:rPr lang="en-US" dirty="0"/>
              <a:t>Pause.</a:t>
            </a:r>
          </a:p>
          <a:p>
            <a:endParaRPr lang="en-US" dirty="0"/>
          </a:p>
          <a:p>
            <a:r>
              <a:rPr lang="en-US" dirty="0"/>
              <a:t>Allow that realization to settle.</a:t>
            </a:r>
          </a:p>
          <a:p>
            <a:endParaRPr lang="en-US" dirty="0"/>
          </a:p>
          <a:p>
            <a:r>
              <a:rPr lang="en-US" dirty="0"/>
              <a:t>------------------------------------------------------------</a:t>
            </a:r>
          </a:p>
          <a:p>
            <a:endParaRPr lang="en-US" dirty="0"/>
          </a:p>
          <a:p>
            <a:r>
              <a:rPr lang="en-US" dirty="0"/>
              <a:t>ENGINEERING TICKET</a:t>
            </a:r>
          </a:p>
          <a:p>
            <a:endParaRPr lang="en-US" dirty="0"/>
          </a:p>
          <a:p>
            <a:r>
              <a:rPr lang="en-US" dirty="0"/>
              <a:t>Introduce SAAS-101.</a:t>
            </a:r>
          </a:p>
          <a:p>
            <a:endParaRPr lang="en-US" dirty="0"/>
          </a:p>
          <a:p>
            <a:r>
              <a:rPr lang="en-US" dirty="0"/>
              <a:t>Explain that this sprint's ticket is different.</a:t>
            </a:r>
          </a:p>
          <a:p>
            <a:endParaRPr lang="en-US" dirty="0"/>
          </a:p>
          <a:p>
            <a:r>
              <a:rPr lang="en-US" dirty="0"/>
              <a:t>Last sprint focused on setup.</a:t>
            </a:r>
          </a:p>
          <a:p>
            <a:endParaRPr lang="en-US" dirty="0"/>
          </a:p>
          <a:p>
            <a:r>
              <a:rPr lang="en-US" dirty="0"/>
              <a:t>This sprint focuses on understanding.</a:t>
            </a:r>
          </a:p>
          <a:p>
            <a:endParaRPr lang="en-US" dirty="0"/>
          </a:p>
          <a:p>
            <a:r>
              <a:rPr lang="en-US" dirty="0"/>
              <a:t>Students will investigate:</a:t>
            </a:r>
          </a:p>
          <a:p>
            <a:endParaRPr lang="en-US" dirty="0"/>
          </a:p>
          <a:p>
            <a:r>
              <a:rPr lang="en-US" dirty="0"/>
              <a:t>How SaaS works.</a:t>
            </a:r>
          </a:p>
          <a:p>
            <a:endParaRPr lang="en-US" dirty="0"/>
          </a:p>
          <a:p>
            <a:r>
              <a:rPr lang="en-US" dirty="0"/>
              <a:t>Why businesses adopted it.</a:t>
            </a:r>
          </a:p>
          <a:p>
            <a:endParaRPr lang="en-US" dirty="0"/>
          </a:p>
          <a:p>
            <a:r>
              <a:rPr lang="en-US" dirty="0"/>
              <a:t>How cloud applications are built.</a:t>
            </a:r>
          </a:p>
          <a:p>
            <a:endParaRPr lang="en-US" dirty="0"/>
          </a:p>
          <a:p>
            <a:r>
              <a:rPr lang="en-US" dirty="0"/>
              <a:t>Why subscriptions replaced software boxes.</a:t>
            </a:r>
          </a:p>
          <a:p>
            <a:endParaRPr lang="en-US" dirty="0"/>
          </a:p>
          <a:p>
            <a:r>
              <a:rPr lang="en-US" dirty="0"/>
              <a:t>------------------------------------------------------------</a:t>
            </a:r>
          </a:p>
          <a:p>
            <a:endParaRPr lang="en-US" dirty="0"/>
          </a:p>
          <a:p>
            <a:r>
              <a:rPr lang="en-US" dirty="0"/>
              <a:t>ENGINEERING STORY</a:t>
            </a:r>
          </a:p>
          <a:p>
            <a:endParaRPr lang="en-US" dirty="0"/>
          </a:p>
          <a:p>
            <a:r>
              <a:rPr lang="en-US" dirty="0"/>
              <a:t>Tell the story of software before the cloud.</a:t>
            </a:r>
          </a:p>
          <a:p>
            <a:endParaRPr lang="en-US" dirty="0"/>
          </a:p>
          <a:p>
            <a:r>
              <a:rPr lang="en-US" dirty="0"/>
              <a:t>Ask:</a:t>
            </a:r>
          </a:p>
          <a:p>
            <a:endParaRPr lang="en-US" dirty="0"/>
          </a:p>
          <a:p>
            <a:r>
              <a:rPr lang="en-US" dirty="0"/>
              <a:t>"How many of you remember buying software in a store?"</a:t>
            </a:r>
          </a:p>
          <a:p>
            <a:endParaRPr lang="en-US" dirty="0"/>
          </a:p>
          <a:p>
            <a:r>
              <a:rPr lang="en-US" dirty="0"/>
              <a:t>Describe:</a:t>
            </a:r>
          </a:p>
          <a:p>
            <a:endParaRPr lang="en-US" dirty="0"/>
          </a:p>
          <a:p>
            <a:r>
              <a:rPr lang="en-US" dirty="0"/>
              <a:t>Buying Microsoft Office on CDs.</a:t>
            </a:r>
          </a:p>
          <a:p>
            <a:endParaRPr lang="en-US" dirty="0"/>
          </a:p>
          <a:p>
            <a:r>
              <a:rPr lang="en-US" dirty="0"/>
              <a:t>Installing software.</a:t>
            </a:r>
          </a:p>
          <a:p>
            <a:endParaRPr lang="en-US" dirty="0"/>
          </a:p>
          <a:p>
            <a:r>
              <a:rPr lang="en-US" dirty="0"/>
              <a:t>Entering license keys.</a:t>
            </a:r>
          </a:p>
          <a:p>
            <a:endParaRPr lang="en-US" dirty="0"/>
          </a:p>
          <a:p>
            <a:r>
              <a:rPr lang="en-US" dirty="0"/>
              <a:t>Waiting for updates.</a:t>
            </a:r>
          </a:p>
          <a:p>
            <a:endParaRPr lang="en-US" dirty="0"/>
          </a:p>
          <a:p>
            <a:r>
              <a:rPr lang="en-US" dirty="0"/>
              <a:t>Explain how frustrating software deployment used to be.</a:t>
            </a:r>
          </a:p>
          <a:p>
            <a:endParaRPr lang="en-US" dirty="0"/>
          </a:p>
          <a:p>
            <a:r>
              <a:rPr lang="en-US" dirty="0"/>
              <a:t>Then compare that to opening a browser today.</a:t>
            </a:r>
          </a:p>
          <a:p>
            <a:endParaRPr lang="en-US" dirty="0"/>
          </a:p>
          <a:p>
            <a:r>
              <a:rPr lang="en-US" dirty="0"/>
              <a:t>No installation.</a:t>
            </a:r>
          </a:p>
          <a:p>
            <a:endParaRPr lang="en-US" dirty="0"/>
          </a:p>
          <a:p>
            <a:r>
              <a:rPr lang="en-US" dirty="0"/>
              <a:t>No updates.</a:t>
            </a:r>
          </a:p>
          <a:p>
            <a:endParaRPr lang="en-US" dirty="0"/>
          </a:p>
          <a:p>
            <a:r>
              <a:rPr lang="en-US" dirty="0"/>
              <a:t>No maintenance.</a:t>
            </a:r>
          </a:p>
          <a:p>
            <a:endParaRPr lang="en-US" dirty="0"/>
          </a:p>
          <a:p>
            <a:r>
              <a:rPr lang="en-US" dirty="0"/>
              <a:t>Only access.</a:t>
            </a:r>
          </a:p>
          <a:p>
            <a:endParaRPr lang="en-US" dirty="0"/>
          </a:p>
          <a:p>
            <a:r>
              <a:rPr lang="en-US" dirty="0"/>
              <a:t>That's why SaaS won.</a:t>
            </a:r>
          </a:p>
          <a:p>
            <a:endParaRPr lang="en-US" dirty="0"/>
          </a:p>
          <a:p>
            <a:r>
              <a:rPr lang="en-US" dirty="0"/>
              <a:t>------------------------------------------------------------</a:t>
            </a:r>
          </a:p>
          <a:p>
            <a:endParaRPr lang="en-US" dirty="0"/>
          </a:p>
          <a:p>
            <a:r>
              <a:rPr lang="en-US" dirty="0"/>
              <a:t>ENGINEERING LESSON</a:t>
            </a:r>
          </a:p>
          <a:p>
            <a:endParaRPr lang="en-US" dirty="0"/>
          </a:p>
          <a:p>
            <a:r>
              <a:rPr lang="en-US" dirty="0"/>
              <a:t>Technology evolves because it solves problems.</a:t>
            </a:r>
          </a:p>
          <a:p>
            <a:endParaRPr lang="en-US" dirty="0"/>
          </a:p>
          <a:p>
            <a:r>
              <a:rPr lang="en-US" dirty="0"/>
              <a:t>SaaS wasn't created because it was exciting.</a:t>
            </a:r>
          </a:p>
          <a:p>
            <a:endParaRPr lang="en-US" dirty="0"/>
          </a:p>
          <a:p>
            <a:r>
              <a:rPr lang="en-US" dirty="0"/>
              <a:t>It succeeded because it removed friction.</a:t>
            </a:r>
          </a:p>
          <a:p>
            <a:endParaRPr lang="en-US" dirty="0"/>
          </a:p>
          <a:p>
            <a:r>
              <a:rPr lang="en-US" dirty="0"/>
              <a:t>It made software easier to deliver.</a:t>
            </a:r>
          </a:p>
          <a:p>
            <a:endParaRPr lang="en-US" dirty="0"/>
          </a:p>
          <a:p>
            <a:r>
              <a:rPr lang="en-US" dirty="0"/>
              <a:t>Easier to update.</a:t>
            </a:r>
          </a:p>
          <a:p>
            <a:endParaRPr lang="en-US" dirty="0"/>
          </a:p>
          <a:p>
            <a:r>
              <a:rPr lang="en-US" dirty="0"/>
              <a:t>Easier to scale.</a:t>
            </a:r>
          </a:p>
          <a:p>
            <a:endParaRPr lang="en-US" dirty="0"/>
          </a:p>
          <a:p>
            <a:r>
              <a:rPr lang="en-US" dirty="0"/>
              <a:t>Easier to maintain.</a:t>
            </a:r>
          </a:p>
          <a:p>
            <a:endParaRPr lang="en-US" dirty="0"/>
          </a:p>
          <a:p>
            <a:r>
              <a:rPr lang="en-US" dirty="0"/>
              <a:t>Professional engineers solve problems.</a:t>
            </a:r>
          </a:p>
          <a:p>
            <a:endParaRPr lang="en-US" dirty="0"/>
          </a:p>
          <a:p>
            <a:r>
              <a:rPr lang="en-US" dirty="0"/>
              <a:t>SaaS solved one of the biggest problems software ever had.</a:t>
            </a:r>
          </a:p>
          <a:p>
            <a:endParaRPr lang="en-US" dirty="0"/>
          </a:p>
          <a:p>
            <a:r>
              <a:rPr lang="en-US" dirty="0"/>
              <a:t>------------------------------------------------------------</a:t>
            </a:r>
          </a:p>
          <a:p>
            <a:endParaRPr lang="en-US" dirty="0"/>
          </a:p>
          <a:p>
            <a:r>
              <a:rPr lang="en-US" dirty="0"/>
              <a:t>CLASS DISCUSSION</a:t>
            </a:r>
          </a:p>
          <a:p>
            <a:endParaRPr lang="en-US" dirty="0"/>
          </a:p>
          <a:p>
            <a:r>
              <a:rPr lang="en-US" dirty="0"/>
              <a:t>Ask the room:</a:t>
            </a:r>
          </a:p>
          <a:p>
            <a:endParaRPr lang="en-US" dirty="0"/>
          </a:p>
          <a:p>
            <a:r>
              <a:rPr lang="en-US" dirty="0"/>
              <a:t>"What SaaS applications do you use every day?"</a:t>
            </a:r>
          </a:p>
          <a:p>
            <a:endParaRPr lang="en-US" dirty="0"/>
          </a:p>
          <a:p>
            <a:r>
              <a:rPr lang="en-US" dirty="0"/>
              <a:t>Create a list on the board.</a:t>
            </a:r>
          </a:p>
          <a:p>
            <a:endParaRPr lang="en-US" dirty="0"/>
          </a:p>
          <a:p>
            <a:r>
              <a:rPr lang="en-US" dirty="0"/>
              <a:t>Then ask:</a:t>
            </a:r>
          </a:p>
          <a:p>
            <a:endParaRPr lang="en-US" dirty="0"/>
          </a:p>
          <a:p>
            <a:r>
              <a:rPr lang="en-US" dirty="0"/>
              <a:t>"What do all of these applications have in common?"</a:t>
            </a:r>
          </a:p>
          <a:p>
            <a:endParaRPr lang="en-US" dirty="0"/>
          </a:p>
          <a:p>
            <a:r>
              <a:rPr lang="en-US" dirty="0"/>
              <a:t>Guide students toward answers like:</a:t>
            </a:r>
          </a:p>
          <a:p>
            <a:endParaRPr lang="en-US" dirty="0"/>
          </a:p>
          <a:p>
            <a:r>
              <a:rPr lang="en-US" dirty="0"/>
              <a:t>Browser</a:t>
            </a:r>
          </a:p>
          <a:p>
            <a:endParaRPr lang="en-US" dirty="0"/>
          </a:p>
          <a:p>
            <a:r>
              <a:rPr lang="en-US" dirty="0"/>
              <a:t>Internet</a:t>
            </a:r>
          </a:p>
          <a:p>
            <a:endParaRPr lang="en-US" dirty="0"/>
          </a:p>
          <a:p>
            <a:r>
              <a:rPr lang="en-US" dirty="0"/>
              <a:t>Subscriptions</a:t>
            </a:r>
          </a:p>
          <a:p>
            <a:endParaRPr lang="en-US" dirty="0"/>
          </a:p>
          <a:p>
            <a:r>
              <a:rPr lang="en-US" dirty="0"/>
              <a:t>Automatic updates</a:t>
            </a:r>
          </a:p>
          <a:p>
            <a:endParaRPr lang="en-US" dirty="0"/>
          </a:p>
          <a:p>
            <a:r>
              <a:rPr lang="en-US" dirty="0"/>
              <a:t>Cloud</a:t>
            </a:r>
          </a:p>
          <a:p>
            <a:endParaRPr lang="en-US" dirty="0"/>
          </a:p>
          <a:p>
            <a:r>
              <a:rPr lang="en-US" dirty="0"/>
              <a:t>Accessibility</a:t>
            </a:r>
          </a:p>
          <a:p>
            <a:endParaRPr lang="en-US" dirty="0"/>
          </a:p>
          <a:p>
            <a:r>
              <a:rPr lang="en-US" dirty="0"/>
              <a:t>------------------------------------------------------------</a:t>
            </a:r>
          </a:p>
          <a:p>
            <a:endParaRPr lang="en-US" dirty="0"/>
          </a:p>
          <a:p>
            <a:r>
              <a:rPr lang="en-US" dirty="0"/>
              <a:t>TRANSITION</a:t>
            </a:r>
          </a:p>
          <a:p>
            <a:endParaRPr lang="en-US" dirty="0"/>
          </a:p>
          <a:p>
            <a:r>
              <a:rPr lang="en-US" dirty="0"/>
              <a:t>"Now that we've established why software changed..."</a:t>
            </a:r>
          </a:p>
          <a:p>
            <a:endParaRPr lang="en-US" dirty="0"/>
          </a:p>
          <a:p>
            <a:r>
              <a:rPr lang="en-US" dirty="0"/>
              <a:t>"Let's discover exactly what Software as a Service really means."</a:t>
            </a:r>
          </a:p>
          <a:p>
            <a:endParaRPr lang="en-US" dirty="0"/>
          </a:p>
          <a:p>
            <a:r>
              <a:rPr lang="en-US" dirty="0"/>
              <a:t>"Welcome to the SaaS Revolution."</a:t>
            </a:r>
          </a:p>
          <a:p>
            <a:endParaRPr lang="en-US" dirty="0"/>
          </a:p>
          <a:p>
            <a:r>
              <a:rPr lang="en-US" dirty="0"/>
              <a:t>------------------------------------------------------------</a:t>
            </a:r>
          </a:p>
          <a:p>
            <a:endParaRPr lang="en-US" dirty="0"/>
          </a:p>
          <a:p>
            <a:r>
              <a:rPr lang="en-US" dirty="0"/>
              <a:t>ESTIMATED TIME</a:t>
            </a:r>
          </a:p>
          <a:p>
            <a:endParaRPr lang="en-US" dirty="0"/>
          </a:p>
          <a:p>
            <a:r>
              <a:rPr lang="en-US" dirty="0"/>
              <a:t>Opening......................3 minutes</a:t>
            </a:r>
          </a:p>
          <a:p>
            <a:endParaRPr lang="en-US" dirty="0"/>
          </a:p>
          <a:p>
            <a:r>
              <a:rPr lang="en-US" dirty="0"/>
              <a:t>Sprint Review................3 minutes</a:t>
            </a:r>
          </a:p>
          <a:p>
            <a:endParaRPr lang="en-US" dirty="0"/>
          </a:p>
          <a:p>
            <a:r>
              <a:rPr lang="en-US" dirty="0"/>
              <a:t>Mission......................2 minutes</a:t>
            </a:r>
          </a:p>
          <a:p>
            <a:endParaRPr lang="en-US" dirty="0"/>
          </a:p>
          <a:p>
            <a:r>
              <a:rPr lang="en-US" dirty="0"/>
              <a:t>Objectives...................5 minutes</a:t>
            </a:r>
          </a:p>
          <a:p>
            <a:endParaRPr lang="en-US" dirty="0"/>
          </a:p>
          <a:p>
            <a:r>
              <a:rPr lang="en-US" dirty="0"/>
              <a:t>Class Discussion.............8 minutes</a:t>
            </a:r>
          </a:p>
          <a:p>
            <a:endParaRPr lang="en-US" dirty="0"/>
          </a:p>
          <a:p>
            <a:r>
              <a:rPr lang="en-US" dirty="0"/>
              <a:t>Engineering Story............5 minutes</a:t>
            </a:r>
          </a:p>
          <a:p>
            <a:endParaRPr lang="en-US" dirty="0"/>
          </a:p>
          <a:p>
            <a:r>
              <a:rPr lang="en-US" dirty="0"/>
              <a:t>Transition...................2 minutes</a:t>
            </a:r>
          </a:p>
          <a:p>
            <a:endParaRPr lang="en-US" dirty="0"/>
          </a:p>
          <a:p>
            <a:r>
              <a:rPr lang="en-US" dirty="0"/>
              <a:t>Total........................28 minutes</a:t>
            </a:r>
          </a:p>
          <a:p>
            <a:endParaRPr lang="en-US" dirty="0"/>
          </a:p>
          <a:p>
            <a:r>
              <a:rPr lang="en-US" dirty="0"/>
              <a:t>------------------------------------------------------------</a:t>
            </a:r>
          </a:p>
          <a:p>
            <a:endParaRPr lang="en-US" dirty="0"/>
          </a:p>
          <a:p>
            <a:r>
              <a:rPr lang="en-US" dirty="0"/>
              <a:t>INSTRUCTOR NOTES</a:t>
            </a:r>
          </a:p>
          <a:p>
            <a:endParaRPr lang="en-US" dirty="0"/>
          </a:p>
          <a:p>
            <a:r>
              <a:rPr lang="en-US" dirty="0"/>
              <a:t>This is not a technical lecture.</a:t>
            </a:r>
          </a:p>
          <a:p>
            <a:endParaRPr lang="en-US" dirty="0"/>
          </a:p>
          <a:p>
            <a:r>
              <a:rPr lang="en-US" dirty="0"/>
              <a:t>Do not begin with definitions.</a:t>
            </a:r>
          </a:p>
          <a:p>
            <a:endParaRPr lang="en-US" dirty="0"/>
          </a:p>
          <a:p>
            <a:r>
              <a:rPr lang="en-US" dirty="0"/>
              <a:t>Begin with experiences.</a:t>
            </a:r>
          </a:p>
          <a:p>
            <a:endParaRPr lang="en-US" dirty="0"/>
          </a:p>
          <a:p>
            <a:r>
              <a:rPr lang="en-US" dirty="0"/>
              <a:t>Students already understand SaaS.</a:t>
            </a:r>
          </a:p>
          <a:p>
            <a:endParaRPr lang="en-US" dirty="0"/>
          </a:p>
          <a:p>
            <a:r>
              <a:rPr lang="en-US" dirty="0"/>
              <a:t>They simply don't know the name yet.</a:t>
            </a:r>
          </a:p>
          <a:p>
            <a:endParaRPr lang="en-US" dirty="0"/>
          </a:p>
          <a:p>
            <a:r>
              <a:rPr lang="en-US" dirty="0"/>
              <a:t>Keep asking questions.</a:t>
            </a:r>
          </a:p>
          <a:p>
            <a:endParaRPr lang="en-US" dirty="0"/>
          </a:p>
          <a:p>
            <a:r>
              <a:rPr lang="en-US" dirty="0"/>
              <a:t>Encourage discussion.</a:t>
            </a:r>
          </a:p>
          <a:p>
            <a:endParaRPr lang="en-US" dirty="0"/>
          </a:p>
          <a:p>
            <a:r>
              <a:rPr lang="en-US" dirty="0"/>
              <a:t>Allow students to discover the concept before you define it.</a:t>
            </a:r>
          </a:p>
          <a:p>
            <a:endParaRPr lang="en-US" dirty="0"/>
          </a:p>
          <a:p>
            <a:r>
              <a:rPr lang="en-US" dirty="0"/>
              <a:t>Close with:</a:t>
            </a:r>
          </a:p>
          <a:p>
            <a:endParaRPr lang="en-US" dirty="0"/>
          </a:p>
          <a:p>
            <a:r>
              <a:rPr lang="en-US" dirty="0"/>
              <a:t>"By the end of this sprint, you'll never look at software the same way</a:t>
            </a:r>
          </a:p>
          <a:p>
            <a:r>
              <a:rPr lang="en-US" dirty="0"/>
              <a:t>again."</a:t>
            </a:r>
          </a:p>
          <a:p>
            <a:endParaRPr lang="en-US" dirty="0"/>
          </a:p>
          <a:p>
            <a:r>
              <a:rPr lang="en-US" dirty="0"/>
              <a:t>============================================================</a:t>
            </a:r>
          </a:p>
          <a:p>
            <a:r>
              <a:rPr lang="en-US" dirty="0"/>
              <a:t>This is where I would add </a:t>
            </a:r>
            <a:r>
              <a:rPr lang="en-US" b="1" dirty="0"/>
              <a:t>your own experience</a:t>
            </a:r>
            <a:r>
              <a:rPr lang="en-US" dirty="0"/>
              <a:t>.</a:t>
            </a:r>
          </a:p>
          <a:p>
            <a:r>
              <a:rPr lang="en-US" dirty="0"/>
              <a:t>Tell students about the first time you realized software had fundamentally changed.</a:t>
            </a:r>
          </a:p>
          <a:p>
            <a:r>
              <a:rPr lang="en-US" dirty="0"/>
              <a:t>Maybe it was:</a:t>
            </a:r>
          </a:p>
          <a:p>
            <a:pPr lvl="0"/>
            <a:r>
              <a:rPr lang="en-US" dirty="0"/>
              <a:t>The first time you deployed a web application instead of installing one. </a:t>
            </a:r>
          </a:p>
          <a:p>
            <a:pPr lvl="0"/>
            <a:r>
              <a:rPr lang="en-US" dirty="0"/>
              <a:t>The first time you used Azure to publish an application. </a:t>
            </a:r>
          </a:p>
          <a:p>
            <a:pPr lvl="0"/>
            <a:r>
              <a:rPr lang="en-US" dirty="0"/>
              <a:t>The first time you realized you no longer needed installation media. </a:t>
            </a:r>
          </a:p>
          <a:p>
            <a:pPr lvl="0"/>
            <a:r>
              <a:rPr lang="en-US" dirty="0"/>
              <a:t>The first time you collaborated through GitHub instead of emailing ZIP files. </a:t>
            </a:r>
          </a:p>
          <a:p>
            <a:r>
              <a:rPr lang="en-US" dirty="0"/>
              <a:t>Keep it to 2–3 minutes. The goal is to connect the historical shift to your own career.</a:t>
            </a:r>
          </a:p>
          <a:p>
            <a:endParaRPr lang="en-US" dirty="0"/>
          </a:p>
        </p:txBody>
      </p:sp>
      <p:sp>
        <p:nvSpPr>
          <p:cNvPr id="4" name="Slide Number Placeholder 3"/>
          <p:cNvSpPr>
            <a:spLocks noGrp="1"/>
          </p:cNvSpPr>
          <p:nvPr>
            <p:ph type="sldNum" sz="quarter" idx="5"/>
          </p:nvPr>
        </p:nvSpPr>
        <p:spPr/>
        <p:txBody>
          <a:bodyPr/>
          <a:lstStyle/>
          <a:p>
            <a:fld id="{D23464B6-418B-4A24-AB2E-F540793FE320}" type="slidenum">
              <a:rPr lang="en-US" smtClean="0"/>
              <a:t>1</a:t>
            </a:fld>
            <a:endParaRPr lang="en-US"/>
          </a:p>
        </p:txBody>
      </p:sp>
    </p:spTree>
    <p:extLst>
      <p:ext uri="{BB962C8B-B14F-4D97-AF65-F5344CB8AC3E}">
        <p14:creationId xmlns:p14="http://schemas.microsoft.com/office/powerpoint/2010/main" val="1240633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ARTIFACT XXV</a:t>
            </a:r>
          </a:p>
          <a:p>
            <a:endParaRPr lang="en-US" dirty="0"/>
          </a:p>
          <a:p>
            <a:r>
              <a:rPr lang="en-US" dirty="0"/>
              <a:t>THE SAAS REVOLUTION</a:t>
            </a:r>
          </a:p>
          <a:p>
            <a:endParaRPr lang="en-US" dirty="0"/>
          </a:p>
          <a:p>
            <a:r>
              <a:rPr lang="en-US" dirty="0"/>
              <a:t>============================================================</a:t>
            </a:r>
          </a:p>
          <a:p>
            <a:endParaRPr lang="en-US" dirty="0"/>
          </a:p>
          <a:p>
            <a:r>
              <a:rPr lang="en-US" dirty="0"/>
              <a:t>SLIDE PURPOSE</a:t>
            </a:r>
          </a:p>
          <a:p>
            <a:endParaRPr lang="en-US" dirty="0"/>
          </a:p>
          <a:p>
            <a:r>
              <a:rPr lang="en-US" dirty="0"/>
              <a:t>Introduce students to the historical shift from traditional desktop</a:t>
            </a:r>
          </a:p>
          <a:p>
            <a:r>
              <a:rPr lang="en-US" dirty="0"/>
              <a:t>software to Software as a Service (SaaS).</a:t>
            </a:r>
          </a:p>
          <a:p>
            <a:endParaRPr lang="en-US" dirty="0"/>
          </a:p>
          <a:p>
            <a:r>
              <a:rPr lang="en-US" dirty="0"/>
              <a:t>Students should understand that SaaS was not simply a new technology.</a:t>
            </a:r>
          </a:p>
          <a:p>
            <a:r>
              <a:rPr lang="en-US" dirty="0"/>
              <a:t>It was a fundamental change in how software is developed, delivered,</a:t>
            </a:r>
          </a:p>
          <a:p>
            <a:r>
              <a:rPr lang="en-US" dirty="0"/>
              <a:t>maintained, purchased, and experienced.</a:t>
            </a:r>
          </a:p>
          <a:p>
            <a:endParaRPr lang="en-US" dirty="0"/>
          </a:p>
          <a:p>
            <a:r>
              <a:rPr lang="en-US" dirty="0"/>
              <a:t>By the end of this lecture students should understand WHY SaaS became</a:t>
            </a:r>
          </a:p>
          <a:p>
            <a:r>
              <a:rPr lang="en-US" dirty="0"/>
              <a:t>the dominant software model.</a:t>
            </a:r>
          </a:p>
          <a:p>
            <a:endParaRPr lang="en-US" dirty="0"/>
          </a:p>
          <a:p>
            <a:r>
              <a:rPr lang="en-US" dirty="0"/>
              <a:t>------------------------------------------------------------</a:t>
            </a:r>
          </a:p>
          <a:p>
            <a:endParaRPr lang="en-US" dirty="0"/>
          </a:p>
          <a:p>
            <a:r>
              <a:rPr lang="en-US" dirty="0"/>
              <a:t>OPENING</a:t>
            </a:r>
          </a:p>
          <a:p>
            <a:endParaRPr lang="en-US" dirty="0"/>
          </a:p>
          <a:p>
            <a:r>
              <a:rPr lang="en-US" dirty="0"/>
              <a:t>"I want you to imagine it's 1998."</a:t>
            </a:r>
          </a:p>
          <a:p>
            <a:endParaRPr lang="en-US" dirty="0"/>
          </a:p>
          <a:p>
            <a:r>
              <a:rPr lang="en-US" dirty="0"/>
              <a:t>"You need Microsoft Office."</a:t>
            </a:r>
          </a:p>
          <a:p>
            <a:endParaRPr lang="en-US" dirty="0"/>
          </a:p>
          <a:p>
            <a:r>
              <a:rPr lang="en-US" dirty="0"/>
              <a:t>"What do you do?"</a:t>
            </a:r>
          </a:p>
          <a:p>
            <a:endParaRPr lang="en-US" dirty="0"/>
          </a:p>
          <a:p>
            <a:r>
              <a:rPr lang="en-US" dirty="0"/>
              <a:t>Wait for answers.</a:t>
            </a:r>
          </a:p>
          <a:p>
            <a:endParaRPr lang="en-US" dirty="0"/>
          </a:p>
          <a:p>
            <a:r>
              <a:rPr lang="en-US" dirty="0"/>
              <a:t>Students may say:</a:t>
            </a:r>
          </a:p>
          <a:p>
            <a:endParaRPr lang="en-US" dirty="0"/>
          </a:p>
          <a:p>
            <a:r>
              <a:rPr lang="en-US" dirty="0"/>
              <a:t>• Go to Best Buy</a:t>
            </a:r>
          </a:p>
          <a:p>
            <a:r>
              <a:rPr lang="en-US" dirty="0"/>
              <a:t>• Buy a CD</a:t>
            </a:r>
          </a:p>
          <a:p>
            <a:r>
              <a:rPr lang="en-US" dirty="0"/>
              <a:t>• Install it</a:t>
            </a:r>
          </a:p>
          <a:p>
            <a:r>
              <a:rPr lang="en-US" dirty="0"/>
              <a:t>• Enter a product key</a:t>
            </a:r>
          </a:p>
          <a:p>
            <a:endParaRPr lang="en-US" dirty="0"/>
          </a:p>
          <a:p>
            <a:r>
              <a:rPr lang="en-US" dirty="0"/>
              <a:t>Exactly.</a:t>
            </a:r>
          </a:p>
          <a:p>
            <a:endParaRPr lang="en-US" dirty="0"/>
          </a:p>
          <a:p>
            <a:r>
              <a:rPr lang="en-US" dirty="0"/>
              <a:t>Now ask:</a:t>
            </a:r>
          </a:p>
          <a:p>
            <a:endParaRPr lang="en-US" dirty="0"/>
          </a:p>
          <a:p>
            <a:r>
              <a:rPr lang="en-US" dirty="0"/>
              <a:t>"How many of you installed ChatGPT?"</a:t>
            </a:r>
          </a:p>
          <a:p>
            <a:endParaRPr lang="en-US" dirty="0"/>
          </a:p>
          <a:p>
            <a:r>
              <a:rPr lang="en-US" dirty="0"/>
              <a:t>(Pause.)</a:t>
            </a:r>
          </a:p>
          <a:p>
            <a:endParaRPr lang="en-US" dirty="0"/>
          </a:p>
          <a:p>
            <a:r>
              <a:rPr lang="en-US" dirty="0"/>
              <a:t>"How many of you installed Microsoft 365?"</a:t>
            </a:r>
          </a:p>
          <a:p>
            <a:endParaRPr lang="en-US" dirty="0"/>
          </a:p>
          <a:p>
            <a:r>
              <a:rPr lang="en-US" dirty="0"/>
              <a:t>"Spotify?"</a:t>
            </a:r>
          </a:p>
          <a:p>
            <a:endParaRPr lang="en-US" dirty="0"/>
          </a:p>
          <a:p>
            <a:r>
              <a:rPr lang="en-US" dirty="0"/>
              <a:t>"Google Docs?"</a:t>
            </a:r>
          </a:p>
          <a:p>
            <a:endParaRPr lang="en-US" dirty="0"/>
          </a:p>
          <a:p>
            <a:r>
              <a:rPr lang="en-US" dirty="0"/>
              <a:t>"Canvas?"</a:t>
            </a:r>
          </a:p>
          <a:p>
            <a:endParaRPr lang="en-US" dirty="0"/>
          </a:p>
          <a:p>
            <a:r>
              <a:rPr lang="en-US" dirty="0"/>
              <a:t>Most students will answer...</a:t>
            </a:r>
          </a:p>
          <a:p>
            <a:endParaRPr lang="en-US" dirty="0"/>
          </a:p>
          <a:p>
            <a:r>
              <a:rPr lang="en-US" dirty="0"/>
              <a:t>"I didn't."</a:t>
            </a:r>
          </a:p>
          <a:p>
            <a:endParaRPr lang="en-US" dirty="0"/>
          </a:p>
          <a:p>
            <a:r>
              <a:rPr lang="en-US" dirty="0"/>
              <a:t>Smile.</a:t>
            </a:r>
          </a:p>
          <a:p>
            <a:endParaRPr lang="en-US" dirty="0"/>
          </a:p>
          <a:p>
            <a:r>
              <a:rPr lang="en-US" dirty="0"/>
              <a:t>"Exactly."</a:t>
            </a:r>
          </a:p>
          <a:p>
            <a:endParaRPr lang="en-US" dirty="0"/>
          </a:p>
          <a:p>
            <a:r>
              <a:rPr lang="en-US" dirty="0"/>
              <a:t>"You still used the software."</a:t>
            </a:r>
          </a:p>
          <a:p>
            <a:endParaRPr lang="en-US" dirty="0"/>
          </a:p>
          <a:p>
            <a:r>
              <a:rPr lang="en-US" dirty="0"/>
              <a:t>"You just didn't own it."</a:t>
            </a:r>
          </a:p>
          <a:p>
            <a:endParaRPr lang="en-US" dirty="0"/>
          </a:p>
          <a:p>
            <a:r>
              <a:rPr lang="en-US" dirty="0"/>
              <a:t>"That's the SaaS Revolution."</a:t>
            </a:r>
          </a:p>
          <a:p>
            <a:endParaRPr lang="en-US" dirty="0"/>
          </a:p>
          <a:p>
            <a:r>
              <a:rPr lang="en-US" dirty="0"/>
              <a:t>Pause.</a:t>
            </a:r>
          </a:p>
          <a:p>
            <a:endParaRPr lang="en-US" dirty="0"/>
          </a:p>
          <a:p>
            <a:r>
              <a:rPr lang="en-US" dirty="0"/>
              <a:t>Let that sink in.</a:t>
            </a:r>
          </a:p>
          <a:p>
            <a:endParaRPr lang="en-US" dirty="0"/>
          </a:p>
          <a:p>
            <a:r>
              <a:rPr lang="en-US" dirty="0"/>
              <a:t>------------------------------------------------------------</a:t>
            </a:r>
          </a:p>
          <a:p>
            <a:endParaRPr lang="en-US" dirty="0"/>
          </a:p>
          <a:p>
            <a:r>
              <a:rPr lang="en-US" dirty="0"/>
              <a:t>THE BIG IDEA</a:t>
            </a:r>
          </a:p>
          <a:p>
            <a:endParaRPr lang="en-US" dirty="0"/>
          </a:p>
          <a:p>
            <a:r>
              <a:rPr lang="en-US" dirty="0"/>
              <a:t>Point to the Hero Statement.</a:t>
            </a:r>
          </a:p>
          <a:p>
            <a:endParaRPr lang="en-US" dirty="0"/>
          </a:p>
          <a:p>
            <a:r>
              <a:rPr lang="en-US" dirty="0"/>
              <a:t>Read it slowly.</a:t>
            </a:r>
          </a:p>
          <a:p>
            <a:endParaRPr lang="en-US" dirty="0"/>
          </a:p>
          <a:p>
            <a:r>
              <a:rPr lang="en-US" dirty="0"/>
              <a:t>"Software stopped being a product."</a:t>
            </a:r>
          </a:p>
          <a:p>
            <a:endParaRPr lang="en-US" dirty="0"/>
          </a:p>
          <a:p>
            <a:r>
              <a:rPr lang="en-US" dirty="0"/>
              <a:t>"It became a service."</a:t>
            </a:r>
          </a:p>
          <a:p>
            <a:endParaRPr lang="en-US" dirty="0"/>
          </a:p>
          <a:p>
            <a:r>
              <a:rPr lang="en-US" dirty="0"/>
              <a:t>This single sentence summarizes the biggest change in software</a:t>
            </a:r>
          </a:p>
          <a:p>
            <a:r>
              <a:rPr lang="en-US" dirty="0"/>
              <a:t>development over the last twenty years.</a:t>
            </a:r>
          </a:p>
          <a:p>
            <a:endParaRPr lang="en-US" dirty="0"/>
          </a:p>
          <a:p>
            <a:r>
              <a:rPr lang="en-US" dirty="0"/>
              <a:t>------------------------------------------------------------</a:t>
            </a:r>
          </a:p>
          <a:p>
            <a:endParaRPr lang="en-US" dirty="0"/>
          </a:p>
          <a:p>
            <a:r>
              <a:rPr lang="en-US" dirty="0"/>
              <a:t>THE TIMELINE</a:t>
            </a:r>
          </a:p>
          <a:p>
            <a:endParaRPr lang="en-US" dirty="0"/>
          </a:p>
          <a:p>
            <a:r>
              <a:rPr lang="en-US" dirty="0"/>
              <a:t>Walk through each era.</a:t>
            </a:r>
          </a:p>
          <a:p>
            <a:endParaRPr lang="en-US" dirty="0"/>
          </a:p>
          <a:p>
            <a:r>
              <a:rPr lang="en-US" dirty="0"/>
              <a:t>1990s</a:t>
            </a:r>
          </a:p>
          <a:p>
            <a:endParaRPr lang="en-US" dirty="0"/>
          </a:p>
          <a:p>
            <a:r>
              <a:rPr lang="en-US" dirty="0"/>
              <a:t>Desktop Software</a:t>
            </a:r>
          </a:p>
          <a:p>
            <a:endParaRPr lang="en-US" dirty="0"/>
          </a:p>
          <a:p>
            <a:r>
              <a:rPr lang="en-US" dirty="0"/>
              <a:t>Software lived on your computer.</a:t>
            </a:r>
          </a:p>
          <a:p>
            <a:endParaRPr lang="en-US" dirty="0"/>
          </a:p>
          <a:p>
            <a:r>
              <a:rPr lang="en-US" dirty="0"/>
              <a:t>You bought it once.</a:t>
            </a:r>
          </a:p>
          <a:p>
            <a:endParaRPr lang="en-US" dirty="0"/>
          </a:p>
          <a:p>
            <a:r>
              <a:rPr lang="en-US" dirty="0"/>
              <a:t>Installed it yourself.</a:t>
            </a:r>
          </a:p>
          <a:p>
            <a:endParaRPr lang="en-US" dirty="0"/>
          </a:p>
          <a:p>
            <a:r>
              <a:rPr lang="en-US" dirty="0"/>
              <a:t>Updates were manual.</a:t>
            </a:r>
          </a:p>
          <a:p>
            <a:endParaRPr lang="en-US" dirty="0"/>
          </a:p>
          <a:p>
            <a:r>
              <a:rPr lang="en-US" dirty="0"/>
              <a:t>If your computer died...</a:t>
            </a:r>
          </a:p>
          <a:p>
            <a:endParaRPr lang="en-US" dirty="0"/>
          </a:p>
          <a:p>
            <a:r>
              <a:rPr lang="en-US" dirty="0"/>
              <a:t>Your software disappeared.</a:t>
            </a:r>
          </a:p>
          <a:p>
            <a:endParaRPr lang="en-US" dirty="0"/>
          </a:p>
          <a:p>
            <a:r>
              <a:rPr lang="en-US" dirty="0"/>
              <a:t>------------------------------------------------------------</a:t>
            </a:r>
          </a:p>
          <a:p>
            <a:endParaRPr lang="en-US" dirty="0"/>
          </a:p>
          <a:p>
            <a:r>
              <a:rPr lang="en-US" dirty="0"/>
              <a:t>2000s</a:t>
            </a:r>
          </a:p>
          <a:p>
            <a:endParaRPr lang="en-US" dirty="0"/>
          </a:p>
          <a:p>
            <a:r>
              <a:rPr lang="en-US" dirty="0"/>
              <a:t>Web Applications</a:t>
            </a:r>
          </a:p>
          <a:p>
            <a:endParaRPr lang="en-US" dirty="0"/>
          </a:p>
          <a:p>
            <a:r>
              <a:rPr lang="en-US" dirty="0"/>
              <a:t>The Internet changed everything.</a:t>
            </a:r>
          </a:p>
          <a:p>
            <a:endParaRPr lang="en-US" dirty="0"/>
          </a:p>
          <a:p>
            <a:r>
              <a:rPr lang="en-US" dirty="0"/>
              <a:t>Software moved into browsers.</a:t>
            </a:r>
          </a:p>
          <a:p>
            <a:endParaRPr lang="en-US" dirty="0"/>
          </a:p>
          <a:p>
            <a:r>
              <a:rPr lang="en-US" dirty="0"/>
              <a:t>Companies no longer needed to distribute CDs.</a:t>
            </a:r>
          </a:p>
          <a:p>
            <a:endParaRPr lang="en-US" dirty="0"/>
          </a:p>
          <a:p>
            <a:r>
              <a:rPr lang="en-US" dirty="0"/>
              <a:t>Updates became easier.</a:t>
            </a:r>
          </a:p>
          <a:p>
            <a:endParaRPr lang="en-US" dirty="0"/>
          </a:p>
          <a:p>
            <a:r>
              <a:rPr lang="en-US" dirty="0"/>
              <a:t>Users could access applications from multiple devices.</a:t>
            </a:r>
          </a:p>
          <a:p>
            <a:endParaRPr lang="en-US" dirty="0"/>
          </a:p>
          <a:p>
            <a:r>
              <a:rPr lang="en-US" dirty="0"/>
              <a:t>------------------------------------------------------------</a:t>
            </a:r>
          </a:p>
          <a:p>
            <a:endParaRPr lang="en-US" dirty="0"/>
          </a:p>
          <a:p>
            <a:r>
              <a:rPr lang="en-US" dirty="0"/>
              <a:t>2010s</a:t>
            </a:r>
          </a:p>
          <a:p>
            <a:endParaRPr lang="en-US" dirty="0"/>
          </a:p>
          <a:p>
            <a:r>
              <a:rPr lang="en-US" dirty="0"/>
              <a:t>Cloud Computing</a:t>
            </a:r>
          </a:p>
          <a:p>
            <a:endParaRPr lang="en-US" dirty="0"/>
          </a:p>
          <a:p>
            <a:r>
              <a:rPr lang="en-US" dirty="0"/>
              <a:t>Infrastructure became virtual.</a:t>
            </a:r>
          </a:p>
          <a:p>
            <a:endParaRPr lang="en-US" dirty="0"/>
          </a:p>
          <a:p>
            <a:r>
              <a:rPr lang="en-US" dirty="0"/>
              <a:t>Servers moved into data centers.</a:t>
            </a:r>
          </a:p>
          <a:p>
            <a:endParaRPr lang="en-US" dirty="0"/>
          </a:p>
          <a:p>
            <a:r>
              <a:rPr lang="en-US" dirty="0"/>
              <a:t>Businesses stopped purchasing hardware.</a:t>
            </a:r>
          </a:p>
          <a:p>
            <a:endParaRPr lang="en-US" dirty="0"/>
          </a:p>
          <a:p>
            <a:r>
              <a:rPr lang="en-US" dirty="0"/>
              <a:t>Cloud providers handled scaling,</a:t>
            </a:r>
          </a:p>
          <a:p>
            <a:r>
              <a:rPr lang="en-US" dirty="0"/>
              <a:t>storage,</a:t>
            </a:r>
          </a:p>
          <a:p>
            <a:r>
              <a:rPr lang="en-US" dirty="0"/>
              <a:t>security,</a:t>
            </a:r>
          </a:p>
          <a:p>
            <a:r>
              <a:rPr lang="en-US" dirty="0"/>
              <a:t>and availability.</a:t>
            </a:r>
          </a:p>
          <a:p>
            <a:endParaRPr lang="en-US" dirty="0"/>
          </a:p>
          <a:p>
            <a:r>
              <a:rPr lang="en-US" dirty="0"/>
              <a:t>Software became easier to build.</a:t>
            </a:r>
          </a:p>
          <a:p>
            <a:endParaRPr lang="en-US" dirty="0"/>
          </a:p>
          <a:p>
            <a:r>
              <a:rPr lang="en-US" dirty="0"/>
              <a:t>------------------------------------------------------------</a:t>
            </a:r>
          </a:p>
          <a:p>
            <a:endParaRPr lang="en-US" dirty="0"/>
          </a:p>
          <a:p>
            <a:r>
              <a:rPr lang="en-US" dirty="0"/>
              <a:t>Today</a:t>
            </a:r>
          </a:p>
          <a:p>
            <a:endParaRPr lang="en-US" dirty="0"/>
          </a:p>
          <a:p>
            <a:r>
              <a:rPr lang="en-US" dirty="0"/>
              <a:t>Software as a Service</a:t>
            </a:r>
          </a:p>
          <a:p>
            <a:endParaRPr lang="en-US" dirty="0"/>
          </a:p>
          <a:p>
            <a:r>
              <a:rPr lang="en-US" dirty="0"/>
              <a:t>Software is always available.</a:t>
            </a:r>
          </a:p>
          <a:p>
            <a:endParaRPr lang="en-US" dirty="0"/>
          </a:p>
          <a:p>
            <a:r>
              <a:rPr lang="en-US" dirty="0"/>
              <a:t>Always updated.</a:t>
            </a:r>
          </a:p>
          <a:p>
            <a:endParaRPr lang="en-US" dirty="0"/>
          </a:p>
          <a:p>
            <a:r>
              <a:rPr lang="en-US" dirty="0"/>
              <a:t>Always improving.</a:t>
            </a:r>
          </a:p>
          <a:p>
            <a:endParaRPr lang="en-US" dirty="0"/>
          </a:p>
          <a:p>
            <a:r>
              <a:rPr lang="en-US" dirty="0"/>
              <a:t>Customers subscribe instead of purchasing.</a:t>
            </a:r>
          </a:p>
          <a:p>
            <a:endParaRPr lang="en-US" dirty="0"/>
          </a:p>
          <a:p>
            <a:r>
              <a:rPr lang="en-US" dirty="0"/>
              <a:t>Applications scale to millions of users.</a:t>
            </a:r>
          </a:p>
          <a:p>
            <a:endParaRPr lang="en-US" dirty="0"/>
          </a:p>
          <a:p>
            <a:r>
              <a:rPr lang="en-US" dirty="0"/>
              <a:t>Software became an ongoing relationship instead of a one-time sale.</a:t>
            </a:r>
          </a:p>
          <a:p>
            <a:endParaRPr lang="en-US" dirty="0"/>
          </a:p>
          <a:p>
            <a:r>
              <a:rPr lang="en-US" dirty="0"/>
              <a:t>------------------------------------------------------------</a:t>
            </a:r>
          </a:p>
          <a:p>
            <a:endParaRPr lang="en-US" dirty="0"/>
          </a:p>
          <a:p>
            <a:r>
              <a:rPr lang="en-US" dirty="0"/>
              <a:t>THE IMPACT PANEL</a:t>
            </a:r>
          </a:p>
          <a:p>
            <a:endParaRPr lang="en-US" dirty="0"/>
          </a:p>
          <a:p>
            <a:r>
              <a:rPr lang="en-US" dirty="0"/>
              <a:t>Walk through each item.</a:t>
            </a:r>
          </a:p>
          <a:p>
            <a:endParaRPr lang="en-US" dirty="0"/>
          </a:p>
          <a:p>
            <a:r>
              <a:rPr lang="en-US" dirty="0"/>
              <a:t>Global Access</a:t>
            </a:r>
          </a:p>
          <a:p>
            <a:endParaRPr lang="en-US" dirty="0"/>
          </a:p>
          <a:p>
            <a:r>
              <a:rPr lang="en-US" dirty="0"/>
              <a:t>Anyone with an internet connection can use software.</a:t>
            </a:r>
          </a:p>
          <a:p>
            <a:endParaRPr lang="en-US" dirty="0"/>
          </a:p>
          <a:p>
            <a:r>
              <a:rPr lang="en-US" dirty="0"/>
              <a:t>Instant Delivery</a:t>
            </a:r>
          </a:p>
          <a:p>
            <a:endParaRPr lang="en-US" dirty="0"/>
          </a:p>
          <a:p>
            <a:r>
              <a:rPr lang="en-US" dirty="0"/>
              <a:t>No installation.</a:t>
            </a:r>
          </a:p>
          <a:p>
            <a:endParaRPr lang="en-US" dirty="0"/>
          </a:p>
          <a:p>
            <a:r>
              <a:rPr lang="en-US" dirty="0"/>
              <a:t>No waiting.</a:t>
            </a:r>
          </a:p>
          <a:p>
            <a:endParaRPr lang="en-US" dirty="0"/>
          </a:p>
          <a:p>
            <a:r>
              <a:rPr lang="en-US" dirty="0"/>
              <a:t>Create an account.</a:t>
            </a:r>
          </a:p>
          <a:p>
            <a:endParaRPr lang="en-US" dirty="0"/>
          </a:p>
          <a:p>
            <a:r>
              <a:rPr lang="en-US" dirty="0"/>
              <a:t>Start working.</a:t>
            </a:r>
          </a:p>
          <a:p>
            <a:endParaRPr lang="en-US" dirty="0"/>
          </a:p>
          <a:p>
            <a:r>
              <a:rPr lang="en-US" dirty="0"/>
              <a:t>Always Updated</a:t>
            </a:r>
          </a:p>
          <a:p>
            <a:endParaRPr lang="en-US" dirty="0"/>
          </a:p>
          <a:p>
            <a:r>
              <a:rPr lang="en-US" dirty="0"/>
              <a:t>Developers deploy improvements continuously.</a:t>
            </a:r>
          </a:p>
          <a:p>
            <a:endParaRPr lang="en-US" dirty="0"/>
          </a:p>
          <a:p>
            <a:r>
              <a:rPr lang="en-US" dirty="0"/>
              <a:t>Users receive new features automatically.</a:t>
            </a:r>
          </a:p>
          <a:p>
            <a:endParaRPr lang="en-US" dirty="0"/>
          </a:p>
          <a:p>
            <a:r>
              <a:rPr lang="en-US" dirty="0"/>
              <a:t>Infinite Scale</a:t>
            </a:r>
          </a:p>
          <a:p>
            <a:endParaRPr lang="en-US" dirty="0"/>
          </a:p>
          <a:p>
            <a:r>
              <a:rPr lang="en-US" dirty="0"/>
              <a:t>Applications can grow from</a:t>
            </a:r>
          </a:p>
          <a:p>
            <a:r>
              <a:rPr lang="en-US" dirty="0"/>
              <a:t>100 users</a:t>
            </a:r>
          </a:p>
          <a:p>
            <a:endParaRPr lang="en-US" dirty="0"/>
          </a:p>
          <a:p>
            <a:r>
              <a:rPr lang="en-US" dirty="0"/>
              <a:t>to</a:t>
            </a:r>
          </a:p>
          <a:p>
            <a:endParaRPr lang="en-US" dirty="0"/>
          </a:p>
          <a:p>
            <a:r>
              <a:rPr lang="en-US" dirty="0"/>
              <a:t>100 million users.</a:t>
            </a:r>
          </a:p>
          <a:p>
            <a:endParaRPr lang="en-US" dirty="0"/>
          </a:p>
          <a:p>
            <a:r>
              <a:rPr lang="en-US" dirty="0"/>
              <a:t>Outcome Over Ownership</a:t>
            </a:r>
          </a:p>
          <a:p>
            <a:endParaRPr lang="en-US" dirty="0"/>
          </a:p>
          <a:p>
            <a:r>
              <a:rPr lang="en-US" dirty="0"/>
              <a:t>Customers care less about owning software.</a:t>
            </a:r>
          </a:p>
          <a:p>
            <a:endParaRPr lang="en-US" dirty="0"/>
          </a:p>
          <a:p>
            <a:r>
              <a:rPr lang="en-US" dirty="0"/>
              <a:t>They care about solving problems.</a:t>
            </a:r>
          </a:p>
          <a:p>
            <a:endParaRPr lang="en-US" dirty="0"/>
          </a:p>
          <a:p>
            <a:r>
              <a:rPr lang="en-US" dirty="0"/>
              <a:t>------------------------------------------------------------</a:t>
            </a:r>
          </a:p>
          <a:p>
            <a:endParaRPr lang="en-US" dirty="0"/>
          </a:p>
          <a:p>
            <a:r>
              <a:rPr lang="en-US" dirty="0"/>
              <a:t>ENGINEERING STORY</a:t>
            </a:r>
          </a:p>
          <a:p>
            <a:endParaRPr lang="en-US" dirty="0"/>
          </a:p>
          <a:p>
            <a:r>
              <a:rPr lang="en-US" dirty="0"/>
              <a:t>Tell your own story.</a:t>
            </a:r>
          </a:p>
          <a:p>
            <a:endParaRPr lang="en-US" dirty="0"/>
          </a:p>
          <a:p>
            <a:r>
              <a:rPr lang="en-US" dirty="0"/>
              <a:t>Possible examples:</a:t>
            </a:r>
          </a:p>
          <a:p>
            <a:endParaRPr lang="en-US" dirty="0"/>
          </a:p>
          <a:p>
            <a:r>
              <a:rPr lang="en-US" dirty="0"/>
              <a:t>Buying software from Office Depot.</a:t>
            </a:r>
          </a:p>
          <a:p>
            <a:endParaRPr lang="en-US" dirty="0"/>
          </a:p>
          <a:p>
            <a:r>
              <a:rPr lang="en-US" dirty="0"/>
              <a:t>Installing Windows from CDs.</a:t>
            </a:r>
          </a:p>
          <a:p>
            <a:endParaRPr lang="en-US" dirty="0"/>
          </a:p>
          <a:p>
            <a:r>
              <a:rPr lang="en-US" dirty="0"/>
              <a:t>Scratching installation discs.</a:t>
            </a:r>
          </a:p>
          <a:p>
            <a:endParaRPr lang="en-US" dirty="0"/>
          </a:p>
          <a:p>
            <a:r>
              <a:rPr lang="en-US" dirty="0"/>
              <a:t>Searching for serial numbers.</a:t>
            </a:r>
          </a:p>
          <a:p>
            <a:endParaRPr lang="en-US" dirty="0"/>
          </a:p>
          <a:p>
            <a:r>
              <a:rPr lang="en-US" dirty="0"/>
              <a:t>Downloading service packs.</a:t>
            </a:r>
          </a:p>
          <a:p>
            <a:endParaRPr lang="en-US" dirty="0"/>
          </a:p>
          <a:p>
            <a:r>
              <a:rPr lang="en-US" dirty="0"/>
              <a:t>Waiting hours for updates.</a:t>
            </a:r>
          </a:p>
          <a:p>
            <a:endParaRPr lang="en-US" dirty="0"/>
          </a:p>
          <a:p>
            <a:r>
              <a:rPr lang="en-US" dirty="0"/>
              <a:t>Then compare that experience with opening a browser today.</a:t>
            </a:r>
          </a:p>
          <a:p>
            <a:endParaRPr lang="en-US" dirty="0"/>
          </a:p>
          <a:p>
            <a:r>
              <a:rPr lang="en-US" dirty="0"/>
              <a:t>Ask:</a:t>
            </a:r>
          </a:p>
          <a:p>
            <a:endParaRPr lang="en-US" dirty="0"/>
          </a:p>
          <a:p>
            <a:r>
              <a:rPr lang="en-US" dirty="0"/>
              <a:t>"Which experience would you rather have?"</a:t>
            </a:r>
          </a:p>
          <a:p>
            <a:endParaRPr lang="en-US" dirty="0"/>
          </a:p>
          <a:p>
            <a:r>
              <a:rPr lang="en-US" dirty="0"/>
              <a:t>------------------------------------------------------------</a:t>
            </a:r>
          </a:p>
          <a:p>
            <a:endParaRPr lang="en-US" dirty="0"/>
          </a:p>
          <a:p>
            <a:r>
              <a:rPr lang="en-US" dirty="0"/>
              <a:t>ENGINEERING LESSON</a:t>
            </a:r>
          </a:p>
          <a:p>
            <a:endParaRPr lang="en-US" dirty="0"/>
          </a:p>
          <a:p>
            <a:r>
              <a:rPr lang="en-US" dirty="0"/>
              <a:t>Technology evolves when it removes friction.</a:t>
            </a:r>
          </a:p>
          <a:p>
            <a:endParaRPr lang="en-US" dirty="0"/>
          </a:p>
          <a:p>
            <a:r>
              <a:rPr lang="en-US" dirty="0"/>
              <a:t>SaaS removed almost every frustration users experienced with traditional</a:t>
            </a:r>
          </a:p>
          <a:p>
            <a:r>
              <a:rPr lang="en-US" dirty="0"/>
              <a:t>software.</a:t>
            </a:r>
          </a:p>
          <a:p>
            <a:endParaRPr lang="en-US" dirty="0"/>
          </a:p>
          <a:p>
            <a:r>
              <a:rPr lang="en-US" dirty="0"/>
              <a:t>Professional engineers solve problems.</a:t>
            </a:r>
          </a:p>
          <a:p>
            <a:endParaRPr lang="en-US" dirty="0"/>
          </a:p>
          <a:p>
            <a:r>
              <a:rPr lang="en-US" dirty="0"/>
              <a:t>SaaS solved one of the biggest problems software ever had:</a:t>
            </a:r>
          </a:p>
          <a:p>
            <a:endParaRPr lang="en-US" dirty="0"/>
          </a:p>
          <a:p>
            <a:r>
              <a:rPr lang="en-US" dirty="0"/>
              <a:t>Software distribution.</a:t>
            </a:r>
          </a:p>
          <a:p>
            <a:endParaRPr lang="en-US" dirty="0"/>
          </a:p>
          <a:p>
            <a:r>
              <a:rPr lang="en-US" dirty="0"/>
              <a:t>------------------------------------------------------------</a:t>
            </a:r>
          </a:p>
          <a:p>
            <a:endParaRPr lang="en-US" dirty="0"/>
          </a:p>
          <a:p>
            <a:r>
              <a:rPr lang="en-US" dirty="0"/>
              <a:t>CLASS DISCUSSION</a:t>
            </a:r>
          </a:p>
          <a:p>
            <a:endParaRPr lang="en-US" dirty="0"/>
          </a:p>
          <a:p>
            <a:r>
              <a:rPr lang="en-US" dirty="0"/>
              <a:t>Ask:</a:t>
            </a:r>
          </a:p>
          <a:p>
            <a:endParaRPr lang="en-US" dirty="0"/>
          </a:p>
          <a:p>
            <a:r>
              <a:rPr lang="en-US" dirty="0"/>
              <a:t>"What software do you use every day?"</a:t>
            </a:r>
          </a:p>
          <a:p>
            <a:endParaRPr lang="en-US" dirty="0"/>
          </a:p>
          <a:p>
            <a:r>
              <a:rPr lang="en-US" dirty="0"/>
              <a:t>Write answers on the board.</a:t>
            </a:r>
          </a:p>
          <a:p>
            <a:endParaRPr lang="en-US" dirty="0"/>
          </a:p>
          <a:p>
            <a:r>
              <a:rPr lang="en-US" dirty="0"/>
              <a:t>Then ask:</a:t>
            </a:r>
          </a:p>
          <a:p>
            <a:endParaRPr lang="en-US" dirty="0"/>
          </a:p>
          <a:p>
            <a:r>
              <a:rPr lang="en-US" dirty="0"/>
              <a:t>"Which of these did you install?"</a:t>
            </a:r>
          </a:p>
          <a:p>
            <a:endParaRPr lang="en-US" dirty="0"/>
          </a:p>
          <a:p>
            <a:r>
              <a:rPr lang="en-US" dirty="0"/>
              <a:t>Most students will realize...</a:t>
            </a:r>
          </a:p>
          <a:p>
            <a:endParaRPr lang="en-US" dirty="0"/>
          </a:p>
          <a:p>
            <a:r>
              <a:rPr lang="en-US" dirty="0"/>
              <a:t>Almost none.</a:t>
            </a:r>
          </a:p>
          <a:p>
            <a:endParaRPr lang="en-US" dirty="0"/>
          </a:p>
          <a:p>
            <a:r>
              <a:rPr lang="en-US" dirty="0"/>
              <a:t>Then ask:</a:t>
            </a:r>
          </a:p>
          <a:p>
            <a:endParaRPr lang="en-US" dirty="0"/>
          </a:p>
          <a:p>
            <a:r>
              <a:rPr lang="en-US" dirty="0"/>
              <a:t>"Why do you think companies prefer subscriptions instead of selling</a:t>
            </a:r>
          </a:p>
          <a:p>
            <a:r>
              <a:rPr lang="en-US" dirty="0"/>
              <a:t>software once?"</a:t>
            </a:r>
          </a:p>
          <a:p>
            <a:endParaRPr lang="en-US" dirty="0"/>
          </a:p>
          <a:p>
            <a:r>
              <a:rPr lang="en-US" dirty="0"/>
              <a:t>Guide discussion toward:</a:t>
            </a:r>
          </a:p>
          <a:p>
            <a:endParaRPr lang="en-US" dirty="0"/>
          </a:p>
          <a:p>
            <a:r>
              <a:rPr lang="en-US" dirty="0"/>
              <a:t>Predictable revenue</a:t>
            </a:r>
          </a:p>
          <a:p>
            <a:endParaRPr lang="en-US" dirty="0"/>
          </a:p>
          <a:p>
            <a:r>
              <a:rPr lang="en-US" dirty="0"/>
              <a:t>Automatic updates</a:t>
            </a:r>
          </a:p>
          <a:p>
            <a:endParaRPr lang="en-US" dirty="0"/>
          </a:p>
          <a:p>
            <a:r>
              <a:rPr lang="en-US" dirty="0"/>
              <a:t>Continuous improvement</a:t>
            </a:r>
          </a:p>
          <a:p>
            <a:endParaRPr lang="en-US" dirty="0"/>
          </a:p>
          <a:p>
            <a:r>
              <a:rPr lang="en-US" dirty="0"/>
              <a:t>Customer retention</a:t>
            </a:r>
          </a:p>
          <a:p>
            <a:endParaRPr lang="en-US" dirty="0"/>
          </a:p>
          <a:p>
            <a:r>
              <a:rPr lang="en-US" dirty="0"/>
              <a:t>Lower support costs</a:t>
            </a:r>
          </a:p>
          <a:p>
            <a:endParaRPr lang="en-US" dirty="0"/>
          </a:p>
          <a:p>
            <a:r>
              <a:rPr lang="en-US" dirty="0"/>
              <a:t>------------------------------------------------------------</a:t>
            </a:r>
          </a:p>
          <a:p>
            <a:endParaRPr lang="en-US" dirty="0"/>
          </a:p>
          <a:p>
            <a:r>
              <a:rPr lang="en-US" dirty="0"/>
              <a:t>REAL-WORLD EXAMPLES</a:t>
            </a:r>
          </a:p>
          <a:p>
            <a:endParaRPr lang="en-US" dirty="0"/>
          </a:p>
          <a:p>
            <a:r>
              <a:rPr lang="en-US" dirty="0"/>
              <a:t>Discuss applications students already know.</a:t>
            </a:r>
          </a:p>
          <a:p>
            <a:endParaRPr lang="en-US" dirty="0"/>
          </a:p>
          <a:p>
            <a:r>
              <a:rPr lang="en-US" dirty="0"/>
              <a:t>Microsoft 365</a:t>
            </a:r>
          </a:p>
          <a:p>
            <a:endParaRPr lang="en-US" dirty="0"/>
          </a:p>
          <a:p>
            <a:r>
              <a:rPr lang="en-US" dirty="0"/>
              <a:t>Netflix</a:t>
            </a:r>
          </a:p>
          <a:p>
            <a:endParaRPr lang="en-US" dirty="0"/>
          </a:p>
          <a:p>
            <a:r>
              <a:rPr lang="en-US" dirty="0"/>
              <a:t>Spotify</a:t>
            </a:r>
          </a:p>
          <a:p>
            <a:endParaRPr lang="en-US" dirty="0"/>
          </a:p>
          <a:p>
            <a:r>
              <a:rPr lang="en-US" dirty="0"/>
              <a:t>Salesforce</a:t>
            </a:r>
          </a:p>
          <a:p>
            <a:endParaRPr lang="en-US" dirty="0"/>
          </a:p>
          <a:p>
            <a:r>
              <a:rPr lang="en-US" dirty="0"/>
              <a:t>Adobe Creative Cloud</a:t>
            </a:r>
          </a:p>
          <a:p>
            <a:endParaRPr lang="en-US" dirty="0"/>
          </a:p>
          <a:p>
            <a:r>
              <a:rPr lang="en-US" dirty="0"/>
              <a:t>Google Workspace</a:t>
            </a:r>
          </a:p>
          <a:p>
            <a:endParaRPr lang="en-US" dirty="0"/>
          </a:p>
          <a:p>
            <a:r>
              <a:rPr lang="en-US" dirty="0"/>
              <a:t>GitHub</a:t>
            </a:r>
          </a:p>
          <a:p>
            <a:endParaRPr lang="en-US" dirty="0"/>
          </a:p>
          <a:p>
            <a:r>
              <a:rPr lang="en-US" dirty="0"/>
              <a:t>ChatGPT</a:t>
            </a:r>
          </a:p>
          <a:p>
            <a:endParaRPr lang="en-US" dirty="0"/>
          </a:p>
          <a:p>
            <a:r>
              <a:rPr lang="en-US" dirty="0"/>
              <a:t>Discord</a:t>
            </a:r>
          </a:p>
          <a:p>
            <a:endParaRPr lang="en-US" dirty="0"/>
          </a:p>
          <a:p>
            <a:r>
              <a:rPr lang="en-US" dirty="0"/>
              <a:t>Zoom</a:t>
            </a:r>
          </a:p>
          <a:p>
            <a:endParaRPr lang="en-US" dirty="0"/>
          </a:p>
          <a:p>
            <a:r>
              <a:rPr lang="en-US" dirty="0"/>
              <a:t>Canvas</a:t>
            </a:r>
          </a:p>
          <a:p>
            <a:endParaRPr lang="en-US" dirty="0"/>
          </a:p>
          <a:p>
            <a:r>
              <a:rPr lang="en-US" dirty="0"/>
              <a:t>D2L</a:t>
            </a:r>
          </a:p>
          <a:p>
            <a:endParaRPr lang="en-US" dirty="0"/>
          </a:p>
          <a:p>
            <a:r>
              <a:rPr lang="en-US" dirty="0"/>
              <a:t>Ask:</a:t>
            </a:r>
          </a:p>
          <a:p>
            <a:endParaRPr lang="en-US" dirty="0"/>
          </a:p>
          <a:p>
            <a:r>
              <a:rPr lang="en-US" dirty="0"/>
              <a:t>"What do all of these have in common?"</a:t>
            </a:r>
          </a:p>
          <a:p>
            <a:endParaRPr lang="en-US" dirty="0"/>
          </a:p>
          <a:p>
            <a:r>
              <a:rPr lang="en-US" dirty="0"/>
              <a:t>------------------------------------------------------------</a:t>
            </a:r>
          </a:p>
          <a:p>
            <a:endParaRPr lang="en-US" dirty="0"/>
          </a:p>
          <a:p>
            <a:r>
              <a:rPr lang="en-US" dirty="0"/>
              <a:t>TRANSITION</a:t>
            </a:r>
          </a:p>
          <a:p>
            <a:endParaRPr lang="en-US" dirty="0"/>
          </a:p>
          <a:p>
            <a:r>
              <a:rPr lang="en-US" dirty="0"/>
              <a:t>"Now that we understand why software changed..."</a:t>
            </a:r>
          </a:p>
          <a:p>
            <a:endParaRPr lang="en-US" dirty="0"/>
          </a:p>
          <a:p>
            <a:r>
              <a:rPr lang="en-US" dirty="0"/>
              <a:t>"Let's discover why businesses embraced this model so quickly."</a:t>
            </a:r>
          </a:p>
          <a:p>
            <a:endParaRPr lang="en-US" dirty="0"/>
          </a:p>
          <a:p>
            <a:r>
              <a:rPr lang="en-US" dirty="0"/>
              <a:t>"Our next topic..."</a:t>
            </a:r>
          </a:p>
          <a:p>
            <a:endParaRPr lang="en-US" dirty="0"/>
          </a:p>
          <a:p>
            <a:r>
              <a:rPr lang="en-US" dirty="0"/>
              <a:t>"Why SaaS Won."</a:t>
            </a:r>
          </a:p>
          <a:p>
            <a:endParaRPr lang="en-US" dirty="0"/>
          </a:p>
          <a:p>
            <a:r>
              <a:rPr lang="en-US" dirty="0"/>
              <a:t>------------------------------------------------------------</a:t>
            </a:r>
          </a:p>
          <a:p>
            <a:endParaRPr lang="en-US" dirty="0"/>
          </a:p>
          <a:p>
            <a:r>
              <a:rPr lang="en-US" dirty="0"/>
              <a:t>ESTIMATED TIME</a:t>
            </a:r>
          </a:p>
          <a:p>
            <a:endParaRPr lang="en-US" dirty="0"/>
          </a:p>
          <a:p>
            <a:r>
              <a:rPr lang="en-US" dirty="0"/>
              <a:t>Opening........................5 minutes</a:t>
            </a:r>
          </a:p>
          <a:p>
            <a:endParaRPr lang="en-US" dirty="0"/>
          </a:p>
          <a:p>
            <a:r>
              <a:rPr lang="en-US" dirty="0"/>
              <a:t>Timeline.......................10 minutes</a:t>
            </a:r>
          </a:p>
          <a:p>
            <a:endParaRPr lang="en-US" dirty="0"/>
          </a:p>
          <a:p>
            <a:r>
              <a:rPr lang="en-US" dirty="0"/>
              <a:t>Impact.........................5 minutes</a:t>
            </a:r>
          </a:p>
          <a:p>
            <a:endParaRPr lang="en-US" dirty="0"/>
          </a:p>
          <a:p>
            <a:r>
              <a:rPr lang="en-US" dirty="0"/>
              <a:t>Engineering Story..............5 minutes</a:t>
            </a:r>
          </a:p>
          <a:p>
            <a:endParaRPr lang="en-US" dirty="0"/>
          </a:p>
          <a:p>
            <a:r>
              <a:rPr lang="en-US" dirty="0"/>
              <a:t>Discussion.....................8 minutes</a:t>
            </a:r>
          </a:p>
          <a:p>
            <a:endParaRPr lang="en-US" dirty="0"/>
          </a:p>
          <a:p>
            <a:r>
              <a:rPr lang="en-US" dirty="0"/>
              <a:t>Transition.....................2 minutes</a:t>
            </a:r>
          </a:p>
          <a:p>
            <a:endParaRPr lang="en-US" dirty="0"/>
          </a:p>
          <a:p>
            <a:r>
              <a:rPr lang="en-US" dirty="0"/>
              <a:t>Total..........................35 minutes</a:t>
            </a:r>
          </a:p>
          <a:p>
            <a:endParaRPr lang="en-US" dirty="0"/>
          </a:p>
          <a:p>
            <a:r>
              <a:rPr lang="en-US" dirty="0"/>
              <a:t>------------------------------------------------------------</a:t>
            </a:r>
          </a:p>
          <a:p>
            <a:endParaRPr lang="en-US" dirty="0"/>
          </a:p>
          <a:p>
            <a:r>
              <a:rPr lang="en-US" dirty="0"/>
              <a:t>INSTRUCTOR NOTES</a:t>
            </a:r>
          </a:p>
          <a:p>
            <a:endParaRPr lang="en-US" dirty="0"/>
          </a:p>
          <a:p>
            <a:r>
              <a:rPr lang="en-US" dirty="0"/>
              <a:t>This lecture is about perspective.</a:t>
            </a:r>
          </a:p>
          <a:p>
            <a:endParaRPr lang="en-US" dirty="0"/>
          </a:p>
          <a:p>
            <a:r>
              <a:rPr lang="en-US" dirty="0"/>
              <a:t>Avoid jumping into technical definitions.</a:t>
            </a:r>
          </a:p>
          <a:p>
            <a:endParaRPr lang="en-US" dirty="0"/>
          </a:p>
          <a:p>
            <a:r>
              <a:rPr lang="en-US" dirty="0"/>
              <a:t>Keep the conversation historical.</a:t>
            </a:r>
          </a:p>
          <a:p>
            <a:endParaRPr lang="en-US" dirty="0"/>
          </a:p>
          <a:p>
            <a:r>
              <a:rPr lang="en-US" dirty="0"/>
              <a:t>Students should discover the advantages naturally.</a:t>
            </a:r>
          </a:p>
          <a:p>
            <a:endParaRPr lang="en-US" dirty="0"/>
          </a:p>
          <a:p>
            <a:r>
              <a:rPr lang="en-US" dirty="0"/>
              <a:t>Use plenty of questions.</a:t>
            </a:r>
          </a:p>
          <a:p>
            <a:endParaRPr lang="en-US" dirty="0"/>
          </a:p>
          <a:p>
            <a:r>
              <a:rPr lang="en-US" dirty="0"/>
              <a:t>Use real products they already use every day.</a:t>
            </a:r>
          </a:p>
          <a:p>
            <a:endParaRPr lang="en-US" dirty="0"/>
          </a:p>
          <a:p>
            <a:r>
              <a:rPr lang="en-US" dirty="0"/>
              <a:t>The goal is for students to realize that SaaS isn't the future.</a:t>
            </a:r>
          </a:p>
          <a:p>
            <a:endParaRPr lang="en-US" dirty="0"/>
          </a:p>
          <a:p>
            <a:r>
              <a:rPr lang="en-US" dirty="0"/>
              <a:t>It's already their everyday reality.</a:t>
            </a:r>
          </a:p>
          <a:p>
            <a:endParaRPr lang="en-US" dirty="0"/>
          </a:p>
          <a:p>
            <a:r>
              <a:rPr lang="en-US" dirty="0"/>
              <a:t>Close with:</a:t>
            </a:r>
          </a:p>
          <a:p>
            <a:endParaRPr lang="en-US" dirty="0"/>
          </a:p>
          <a:p>
            <a:r>
              <a:rPr lang="en-US" dirty="0"/>
              <a:t>"The software industry didn't simply invent a better product.</a:t>
            </a:r>
          </a:p>
          <a:p>
            <a:endParaRPr lang="en-US" dirty="0"/>
          </a:p>
          <a:p>
            <a:r>
              <a:rPr lang="en-US" dirty="0"/>
              <a:t>It invented a better way to deliver value.</a:t>
            </a:r>
          </a:p>
          <a:p>
            <a:endParaRPr lang="en-US" dirty="0"/>
          </a:p>
          <a:p>
            <a:r>
              <a:rPr lang="en-US" dirty="0"/>
              <a:t>That's why the SaaS Revolution changed everything."</a:t>
            </a:r>
          </a:p>
          <a:p>
            <a:endParaRPr lang="en-US" dirty="0"/>
          </a:p>
          <a:p>
            <a:r>
              <a:rPr lang="en-US" dirty="0"/>
              <a:t>============================================================</a:t>
            </a:r>
          </a:p>
          <a:p>
            <a:r>
              <a:rPr lang="en-US" b="1" dirty="0"/>
              <a:t>🎤 Personal Story Opportunity</a:t>
            </a:r>
          </a:p>
          <a:p>
            <a:r>
              <a:rPr lang="en-US" dirty="0"/>
              <a:t>This is where I would tell students about buying software in the late 1990s or early 2000s—going to a store, bringing home a box, installing from CDs, entering a product key, and hunting for updates. Then contrast that with opening a browser today and immediately using Microsoft 365, GitHub, or ChatGPT.</a:t>
            </a:r>
          </a:p>
          <a:p>
            <a:r>
              <a:rPr lang="en-US" dirty="0"/>
              <a:t>That comparison is something many students have never experienced, which makes the shift feel real instead of abstract.</a:t>
            </a:r>
          </a:p>
          <a:p>
            <a:endParaRPr lang="en-US" dirty="0"/>
          </a:p>
        </p:txBody>
      </p:sp>
      <p:sp>
        <p:nvSpPr>
          <p:cNvPr id="4" name="Slide Number Placeholder 3"/>
          <p:cNvSpPr>
            <a:spLocks noGrp="1"/>
          </p:cNvSpPr>
          <p:nvPr>
            <p:ph type="sldNum" sz="quarter" idx="5"/>
          </p:nvPr>
        </p:nvSpPr>
        <p:spPr/>
        <p:txBody>
          <a:bodyPr/>
          <a:lstStyle/>
          <a:p>
            <a:fld id="{D23464B6-418B-4A24-AB2E-F540793FE320}" type="slidenum">
              <a:rPr lang="en-US" smtClean="0"/>
              <a:t>2</a:t>
            </a:fld>
            <a:endParaRPr lang="en-US"/>
          </a:p>
        </p:txBody>
      </p:sp>
    </p:spTree>
    <p:extLst>
      <p:ext uri="{BB962C8B-B14F-4D97-AF65-F5344CB8AC3E}">
        <p14:creationId xmlns:p14="http://schemas.microsoft.com/office/powerpoint/2010/main" val="4853501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ARTIFACT XXVI</a:t>
            </a:r>
          </a:p>
          <a:p>
            <a:endParaRPr lang="en-US" dirty="0"/>
          </a:p>
          <a:p>
            <a:r>
              <a:rPr lang="en-US" dirty="0"/>
              <a:t>WHY SAAS WON</a:t>
            </a:r>
          </a:p>
          <a:p>
            <a:endParaRPr lang="en-US" dirty="0"/>
          </a:p>
          <a:p>
            <a:r>
              <a:rPr lang="en-US" dirty="0"/>
              <a:t>============================================================</a:t>
            </a:r>
          </a:p>
          <a:p>
            <a:endParaRPr lang="en-US" dirty="0"/>
          </a:p>
          <a:p>
            <a:r>
              <a:rPr lang="en-US" dirty="0"/>
              <a:t>SLIDE PURPOSE</a:t>
            </a:r>
          </a:p>
          <a:p>
            <a:endParaRPr lang="en-US" dirty="0"/>
          </a:p>
          <a:p>
            <a:r>
              <a:rPr lang="en-US" dirty="0"/>
              <a:t>Help students understand why Software as a Service became the dominant</a:t>
            </a:r>
          </a:p>
          <a:p>
            <a:r>
              <a:rPr lang="en-US" dirty="0"/>
              <a:t>software delivery model.</a:t>
            </a:r>
          </a:p>
          <a:p>
            <a:endParaRPr lang="en-US" dirty="0"/>
          </a:p>
          <a:p>
            <a:r>
              <a:rPr lang="en-US" dirty="0"/>
              <a:t>Students should recognize that SaaS did not win because it was newer.</a:t>
            </a:r>
          </a:p>
          <a:p>
            <a:endParaRPr lang="en-US" dirty="0"/>
          </a:p>
          <a:p>
            <a:r>
              <a:rPr lang="en-US" dirty="0"/>
              <a:t>It won because it solved real problems for customers, businesses,</a:t>
            </a:r>
          </a:p>
          <a:p>
            <a:r>
              <a:rPr lang="en-US" dirty="0"/>
              <a:t>developers, and IT departments.</a:t>
            </a:r>
          </a:p>
          <a:p>
            <a:endParaRPr lang="en-US" dirty="0"/>
          </a:p>
          <a:p>
            <a:r>
              <a:rPr lang="en-US" dirty="0"/>
              <a:t>By the end of this lecture students should understand that SaaS changed</a:t>
            </a:r>
          </a:p>
          <a:p>
            <a:r>
              <a:rPr lang="en-US" dirty="0"/>
              <a:t>both technology AND business.</a:t>
            </a:r>
          </a:p>
          <a:p>
            <a:endParaRPr lang="en-US" dirty="0"/>
          </a:p>
          <a:p>
            <a:r>
              <a:rPr lang="en-US" dirty="0"/>
              <a:t>------------------------------------------------------------</a:t>
            </a:r>
          </a:p>
          <a:p>
            <a:endParaRPr lang="en-US" dirty="0"/>
          </a:p>
          <a:p>
            <a:r>
              <a:rPr lang="en-US" dirty="0"/>
              <a:t>OPENING</a:t>
            </a:r>
          </a:p>
          <a:p>
            <a:endParaRPr lang="en-US" dirty="0"/>
          </a:p>
          <a:p>
            <a:r>
              <a:rPr lang="en-US" dirty="0"/>
              <a:t>"I have another question for you."</a:t>
            </a:r>
          </a:p>
          <a:p>
            <a:endParaRPr lang="en-US" dirty="0"/>
          </a:p>
          <a:p>
            <a:r>
              <a:rPr lang="en-US" dirty="0"/>
              <a:t>"If you had to choose between these two options..."</a:t>
            </a:r>
          </a:p>
          <a:p>
            <a:endParaRPr lang="en-US" dirty="0"/>
          </a:p>
          <a:p>
            <a:r>
              <a:rPr lang="en-US" dirty="0"/>
              <a:t>Option A</a:t>
            </a:r>
          </a:p>
          <a:p>
            <a:endParaRPr lang="en-US" dirty="0"/>
          </a:p>
          <a:p>
            <a:r>
              <a:rPr lang="en-US" dirty="0"/>
              <a:t>Pay $900 today.</a:t>
            </a:r>
          </a:p>
          <a:p>
            <a:endParaRPr lang="en-US" dirty="0"/>
          </a:p>
          <a:p>
            <a:r>
              <a:rPr lang="en-US" dirty="0"/>
              <a:t>Install software yourself.</a:t>
            </a:r>
          </a:p>
          <a:p>
            <a:endParaRPr lang="en-US" dirty="0"/>
          </a:p>
          <a:p>
            <a:r>
              <a:rPr lang="en-US" dirty="0"/>
              <a:t>Maintain it yourself.</a:t>
            </a:r>
          </a:p>
          <a:p>
            <a:endParaRPr lang="en-US" dirty="0"/>
          </a:p>
          <a:p>
            <a:r>
              <a:rPr lang="en-US" dirty="0"/>
              <a:t>Upgrade it yourself.</a:t>
            </a:r>
          </a:p>
          <a:p>
            <a:endParaRPr lang="en-US" dirty="0"/>
          </a:p>
          <a:p>
            <a:r>
              <a:rPr lang="en-US" dirty="0"/>
              <a:t>Hope your computer never crashes.</a:t>
            </a:r>
          </a:p>
          <a:p>
            <a:endParaRPr lang="en-US" dirty="0"/>
          </a:p>
          <a:p>
            <a:r>
              <a:rPr lang="en-US" dirty="0"/>
              <a:t>OR...</a:t>
            </a:r>
          </a:p>
          <a:p>
            <a:endParaRPr lang="en-US" dirty="0"/>
          </a:p>
          <a:p>
            <a:r>
              <a:rPr lang="en-US" dirty="0"/>
              <a:t>Option B</a:t>
            </a:r>
          </a:p>
          <a:p>
            <a:endParaRPr lang="en-US" dirty="0"/>
          </a:p>
          <a:p>
            <a:r>
              <a:rPr lang="en-US" dirty="0"/>
              <a:t>Pay $15 a month.</a:t>
            </a:r>
          </a:p>
          <a:p>
            <a:endParaRPr lang="en-US" dirty="0"/>
          </a:p>
          <a:p>
            <a:r>
              <a:rPr lang="en-US" dirty="0"/>
              <a:t>Open your browser.</a:t>
            </a:r>
          </a:p>
          <a:p>
            <a:endParaRPr lang="en-US" dirty="0"/>
          </a:p>
          <a:p>
            <a:r>
              <a:rPr lang="en-US" dirty="0"/>
              <a:t>Start working.</a:t>
            </a:r>
          </a:p>
          <a:p>
            <a:endParaRPr lang="en-US" dirty="0"/>
          </a:p>
          <a:p>
            <a:r>
              <a:rPr lang="en-US" dirty="0"/>
              <a:t>Which would you choose?"</a:t>
            </a:r>
          </a:p>
          <a:p>
            <a:endParaRPr lang="en-US" dirty="0"/>
          </a:p>
          <a:p>
            <a:r>
              <a:rPr lang="en-US" dirty="0"/>
              <a:t>(Pause.)</a:t>
            </a:r>
          </a:p>
          <a:p>
            <a:endParaRPr lang="en-US" dirty="0"/>
          </a:p>
          <a:p>
            <a:r>
              <a:rPr lang="en-US" dirty="0"/>
              <a:t>Almost everyone chooses Option B.</a:t>
            </a:r>
          </a:p>
          <a:p>
            <a:endParaRPr lang="en-US" dirty="0"/>
          </a:p>
          <a:p>
            <a:r>
              <a:rPr lang="en-US" dirty="0"/>
              <a:t>Smile.</a:t>
            </a:r>
          </a:p>
          <a:p>
            <a:endParaRPr lang="en-US" dirty="0"/>
          </a:p>
          <a:p>
            <a:r>
              <a:rPr lang="en-US" dirty="0"/>
              <a:t>"That's exactly why SaaS won."</a:t>
            </a:r>
          </a:p>
          <a:p>
            <a:endParaRPr lang="en-US" dirty="0"/>
          </a:p>
          <a:p>
            <a:r>
              <a:rPr lang="en-US" dirty="0"/>
              <a:t>------------------------------------------------------------</a:t>
            </a:r>
          </a:p>
          <a:p>
            <a:endParaRPr lang="en-US" dirty="0"/>
          </a:p>
          <a:p>
            <a:r>
              <a:rPr lang="en-US" dirty="0"/>
              <a:t>THE BIG IDEA</a:t>
            </a:r>
          </a:p>
          <a:p>
            <a:endParaRPr lang="en-US" dirty="0"/>
          </a:p>
          <a:p>
            <a:r>
              <a:rPr lang="en-US" dirty="0"/>
              <a:t>Read the Hero Statement.</a:t>
            </a:r>
          </a:p>
          <a:p>
            <a:endParaRPr lang="en-US" dirty="0"/>
          </a:p>
          <a:p>
            <a:r>
              <a:rPr lang="en-US" dirty="0"/>
              <a:t>"Customers don't buy software anymore."</a:t>
            </a:r>
          </a:p>
          <a:p>
            <a:endParaRPr lang="en-US" dirty="0"/>
          </a:p>
          <a:p>
            <a:r>
              <a:rPr lang="en-US" dirty="0"/>
              <a:t>"They subscribe to outcomes."</a:t>
            </a:r>
          </a:p>
          <a:p>
            <a:endParaRPr lang="en-US" dirty="0"/>
          </a:p>
          <a:p>
            <a:r>
              <a:rPr lang="en-US" dirty="0"/>
              <a:t>Pause.</a:t>
            </a:r>
          </a:p>
          <a:p>
            <a:endParaRPr lang="en-US" dirty="0"/>
          </a:p>
          <a:p>
            <a:r>
              <a:rPr lang="en-US" dirty="0"/>
              <a:t>Ask:</a:t>
            </a:r>
          </a:p>
          <a:p>
            <a:endParaRPr lang="en-US" dirty="0"/>
          </a:p>
          <a:p>
            <a:r>
              <a:rPr lang="en-US" dirty="0"/>
              <a:t>"What outcome are people buying from Netflix?"</a:t>
            </a:r>
          </a:p>
          <a:p>
            <a:endParaRPr lang="en-US" dirty="0"/>
          </a:p>
          <a:p>
            <a:r>
              <a:rPr lang="en-US" dirty="0"/>
              <a:t>Entertainment.</a:t>
            </a:r>
          </a:p>
          <a:p>
            <a:endParaRPr lang="en-US" dirty="0"/>
          </a:p>
          <a:p>
            <a:r>
              <a:rPr lang="en-US" dirty="0"/>
              <a:t>"What outcome are people buying from Spotify?"</a:t>
            </a:r>
          </a:p>
          <a:p>
            <a:endParaRPr lang="en-US" dirty="0"/>
          </a:p>
          <a:p>
            <a:r>
              <a:rPr lang="en-US" dirty="0"/>
              <a:t>Music.</a:t>
            </a:r>
          </a:p>
          <a:p>
            <a:endParaRPr lang="en-US" dirty="0"/>
          </a:p>
          <a:p>
            <a:r>
              <a:rPr lang="en-US" dirty="0"/>
              <a:t>"What outcome are people buying from Microsoft 365?"</a:t>
            </a:r>
          </a:p>
          <a:p>
            <a:endParaRPr lang="en-US" dirty="0"/>
          </a:p>
          <a:p>
            <a:r>
              <a:rPr lang="en-US" dirty="0"/>
              <a:t>Productivity.</a:t>
            </a:r>
          </a:p>
          <a:p>
            <a:endParaRPr lang="en-US" dirty="0"/>
          </a:p>
          <a:p>
            <a:r>
              <a:rPr lang="en-US" dirty="0"/>
              <a:t>"What outcome are people buying from ChatGPT?"</a:t>
            </a:r>
          </a:p>
          <a:p>
            <a:endParaRPr lang="en-US" dirty="0"/>
          </a:p>
          <a:p>
            <a:r>
              <a:rPr lang="en-US" dirty="0"/>
              <a:t>Intelligence and assistance.</a:t>
            </a:r>
          </a:p>
          <a:p>
            <a:endParaRPr lang="en-US" dirty="0"/>
          </a:p>
          <a:p>
            <a:r>
              <a:rPr lang="en-US" dirty="0"/>
              <a:t>People aren't buying software.</a:t>
            </a:r>
          </a:p>
          <a:p>
            <a:endParaRPr lang="en-US" dirty="0"/>
          </a:p>
          <a:p>
            <a:r>
              <a:rPr lang="en-US" dirty="0"/>
              <a:t>They're buying solutions.</a:t>
            </a:r>
          </a:p>
          <a:p>
            <a:endParaRPr lang="en-US" dirty="0"/>
          </a:p>
          <a:p>
            <a:r>
              <a:rPr lang="en-US" dirty="0"/>
              <a:t>------------------------------------------------------------</a:t>
            </a:r>
          </a:p>
          <a:p>
            <a:endParaRPr lang="en-US" dirty="0"/>
          </a:p>
          <a:p>
            <a:r>
              <a:rPr lang="en-US" dirty="0"/>
              <a:t>THE COMPARISON TABLE</a:t>
            </a:r>
          </a:p>
          <a:p>
            <a:endParaRPr lang="en-US" dirty="0"/>
          </a:p>
          <a:p>
            <a:r>
              <a:rPr lang="en-US" dirty="0"/>
              <a:t>Walk through each row slowly.</a:t>
            </a:r>
          </a:p>
          <a:p>
            <a:endParaRPr lang="en-US" dirty="0"/>
          </a:p>
          <a:p>
            <a:r>
              <a:rPr lang="en-US" dirty="0"/>
              <a:t>Do not rush.</a:t>
            </a:r>
          </a:p>
          <a:p>
            <a:endParaRPr lang="en-US" dirty="0"/>
          </a:p>
          <a:p>
            <a:r>
              <a:rPr lang="en-US" dirty="0"/>
              <a:t>Cost Model</a:t>
            </a:r>
          </a:p>
          <a:p>
            <a:endParaRPr lang="en-US" dirty="0"/>
          </a:p>
          <a:p>
            <a:r>
              <a:rPr lang="en-US" dirty="0"/>
              <a:t>Traditional Software</a:t>
            </a:r>
          </a:p>
          <a:p>
            <a:endParaRPr lang="en-US" dirty="0"/>
          </a:p>
          <a:p>
            <a:r>
              <a:rPr lang="en-US" dirty="0"/>
              <a:t>Buy once.</a:t>
            </a:r>
          </a:p>
          <a:p>
            <a:endParaRPr lang="en-US" dirty="0"/>
          </a:p>
          <a:p>
            <a:r>
              <a:rPr lang="en-US" dirty="0"/>
              <a:t>Large upfront investment.</a:t>
            </a:r>
          </a:p>
          <a:p>
            <a:endParaRPr lang="en-US" dirty="0"/>
          </a:p>
          <a:p>
            <a:r>
              <a:rPr lang="en-US" dirty="0"/>
              <a:t>SaaS</a:t>
            </a:r>
          </a:p>
          <a:p>
            <a:endParaRPr lang="en-US" dirty="0"/>
          </a:p>
          <a:p>
            <a:r>
              <a:rPr lang="en-US" dirty="0"/>
              <a:t>Small recurring payments.</a:t>
            </a:r>
          </a:p>
          <a:p>
            <a:endParaRPr lang="en-US" dirty="0"/>
          </a:p>
          <a:p>
            <a:r>
              <a:rPr lang="en-US" dirty="0"/>
              <a:t>Lower barrier to entry.</a:t>
            </a:r>
          </a:p>
          <a:p>
            <a:endParaRPr lang="en-US" dirty="0"/>
          </a:p>
          <a:p>
            <a:r>
              <a:rPr lang="en-US" dirty="0"/>
              <a:t>Deployment</a:t>
            </a:r>
          </a:p>
          <a:p>
            <a:endParaRPr lang="en-US" dirty="0"/>
          </a:p>
          <a:p>
            <a:r>
              <a:rPr lang="en-US" dirty="0"/>
              <a:t>Traditional</a:t>
            </a:r>
          </a:p>
          <a:p>
            <a:endParaRPr lang="en-US" dirty="0"/>
          </a:p>
          <a:p>
            <a:r>
              <a:rPr lang="en-US" dirty="0"/>
              <a:t>Install software.</a:t>
            </a:r>
          </a:p>
          <a:p>
            <a:endParaRPr lang="en-US" dirty="0"/>
          </a:p>
          <a:p>
            <a:r>
              <a:rPr lang="en-US" dirty="0"/>
              <a:t>Configure computers.</a:t>
            </a:r>
          </a:p>
          <a:p>
            <a:endParaRPr lang="en-US" dirty="0"/>
          </a:p>
          <a:p>
            <a:r>
              <a:rPr lang="en-US" dirty="0"/>
              <a:t>Manage licenses.</a:t>
            </a:r>
          </a:p>
          <a:p>
            <a:endParaRPr lang="en-US" dirty="0"/>
          </a:p>
          <a:p>
            <a:r>
              <a:rPr lang="en-US" dirty="0"/>
              <a:t>SaaS</a:t>
            </a:r>
          </a:p>
          <a:p>
            <a:endParaRPr lang="en-US" dirty="0"/>
          </a:p>
          <a:p>
            <a:r>
              <a:rPr lang="en-US" dirty="0"/>
              <a:t>Open browser.</a:t>
            </a:r>
          </a:p>
          <a:p>
            <a:endParaRPr lang="en-US" dirty="0"/>
          </a:p>
          <a:p>
            <a:r>
              <a:rPr lang="en-US" dirty="0"/>
              <a:t>Log in.</a:t>
            </a:r>
          </a:p>
          <a:p>
            <a:endParaRPr lang="en-US" dirty="0"/>
          </a:p>
          <a:p>
            <a:r>
              <a:rPr lang="en-US" dirty="0"/>
              <a:t>Start working.</a:t>
            </a:r>
          </a:p>
          <a:p>
            <a:endParaRPr lang="en-US" dirty="0"/>
          </a:p>
          <a:p>
            <a:r>
              <a:rPr lang="en-US" dirty="0"/>
              <a:t>Updates</a:t>
            </a:r>
          </a:p>
          <a:p>
            <a:endParaRPr lang="en-US" dirty="0"/>
          </a:p>
          <a:p>
            <a:r>
              <a:rPr lang="en-US" dirty="0"/>
              <a:t>Traditional</a:t>
            </a:r>
          </a:p>
          <a:p>
            <a:endParaRPr lang="en-US" dirty="0"/>
          </a:p>
          <a:p>
            <a:r>
              <a:rPr lang="en-US" dirty="0"/>
              <a:t>Manual patches.</a:t>
            </a:r>
          </a:p>
          <a:p>
            <a:endParaRPr lang="en-US" dirty="0"/>
          </a:p>
          <a:p>
            <a:r>
              <a:rPr lang="en-US" dirty="0"/>
              <a:t>Service packs.</a:t>
            </a:r>
          </a:p>
          <a:p>
            <a:endParaRPr lang="en-US" dirty="0"/>
          </a:p>
          <a:p>
            <a:r>
              <a:rPr lang="en-US" dirty="0"/>
              <a:t>Version upgrades.</a:t>
            </a:r>
          </a:p>
          <a:p>
            <a:endParaRPr lang="en-US" dirty="0"/>
          </a:p>
          <a:p>
            <a:r>
              <a:rPr lang="en-US" dirty="0"/>
              <a:t>SaaS</a:t>
            </a:r>
          </a:p>
          <a:p>
            <a:endParaRPr lang="en-US" dirty="0"/>
          </a:p>
          <a:p>
            <a:r>
              <a:rPr lang="en-US" dirty="0"/>
              <a:t>Continuous deployment.</a:t>
            </a:r>
          </a:p>
          <a:p>
            <a:endParaRPr lang="en-US" dirty="0"/>
          </a:p>
          <a:p>
            <a:r>
              <a:rPr lang="en-US" dirty="0"/>
              <a:t>Automatic updates.</a:t>
            </a:r>
          </a:p>
          <a:p>
            <a:endParaRPr lang="en-US" dirty="0"/>
          </a:p>
          <a:p>
            <a:r>
              <a:rPr lang="en-US" dirty="0"/>
              <a:t>Users always have the latest version.</a:t>
            </a:r>
          </a:p>
          <a:p>
            <a:endParaRPr lang="en-US" dirty="0"/>
          </a:p>
          <a:p>
            <a:r>
              <a:rPr lang="en-US" dirty="0"/>
              <a:t>Scalability</a:t>
            </a:r>
          </a:p>
          <a:p>
            <a:endParaRPr lang="en-US" dirty="0"/>
          </a:p>
          <a:p>
            <a:r>
              <a:rPr lang="en-US" dirty="0"/>
              <a:t>Traditional</a:t>
            </a:r>
          </a:p>
          <a:p>
            <a:endParaRPr lang="en-US" dirty="0"/>
          </a:p>
          <a:p>
            <a:r>
              <a:rPr lang="en-US" dirty="0"/>
              <a:t>Buy larger servers.</a:t>
            </a:r>
          </a:p>
          <a:p>
            <a:endParaRPr lang="en-US" dirty="0"/>
          </a:p>
          <a:p>
            <a:r>
              <a:rPr lang="en-US" dirty="0"/>
              <a:t>Purchase more hardware.</a:t>
            </a:r>
          </a:p>
          <a:p>
            <a:endParaRPr lang="en-US" dirty="0"/>
          </a:p>
          <a:p>
            <a:r>
              <a:rPr lang="en-US" dirty="0"/>
              <a:t>SaaS</a:t>
            </a:r>
          </a:p>
          <a:p>
            <a:endParaRPr lang="en-US" dirty="0"/>
          </a:p>
          <a:p>
            <a:r>
              <a:rPr lang="en-US" dirty="0"/>
              <a:t>Scale instantly.</a:t>
            </a:r>
          </a:p>
          <a:p>
            <a:endParaRPr lang="en-US" dirty="0"/>
          </a:p>
          <a:p>
            <a:r>
              <a:rPr lang="en-US" dirty="0"/>
              <a:t>Add users in minutes.</a:t>
            </a:r>
          </a:p>
          <a:p>
            <a:endParaRPr lang="en-US" dirty="0"/>
          </a:p>
          <a:p>
            <a:r>
              <a:rPr lang="en-US" dirty="0"/>
              <a:t>Maintenance</a:t>
            </a:r>
          </a:p>
          <a:p>
            <a:endParaRPr lang="en-US" dirty="0"/>
          </a:p>
          <a:p>
            <a:r>
              <a:rPr lang="en-US" dirty="0"/>
              <a:t>Traditional</a:t>
            </a:r>
          </a:p>
          <a:p>
            <a:endParaRPr lang="en-US" dirty="0"/>
          </a:p>
          <a:p>
            <a:r>
              <a:rPr lang="en-US" dirty="0"/>
              <a:t>Your IT department owns maintenance.</a:t>
            </a:r>
          </a:p>
          <a:p>
            <a:endParaRPr lang="en-US" dirty="0"/>
          </a:p>
          <a:p>
            <a:r>
              <a:rPr lang="en-US" dirty="0"/>
              <a:t>SaaS</a:t>
            </a:r>
          </a:p>
          <a:p>
            <a:endParaRPr lang="en-US" dirty="0"/>
          </a:p>
          <a:p>
            <a:r>
              <a:rPr lang="en-US" dirty="0"/>
              <a:t>The provider manages infrastructure.</a:t>
            </a:r>
          </a:p>
          <a:p>
            <a:endParaRPr lang="en-US" dirty="0"/>
          </a:p>
          <a:p>
            <a:r>
              <a:rPr lang="en-US" dirty="0"/>
              <a:t>Collaboration</a:t>
            </a:r>
          </a:p>
          <a:p>
            <a:endParaRPr lang="en-US" dirty="0"/>
          </a:p>
          <a:p>
            <a:r>
              <a:rPr lang="en-US" dirty="0"/>
              <a:t>Traditional</a:t>
            </a:r>
          </a:p>
          <a:p>
            <a:endParaRPr lang="en-US" dirty="0"/>
          </a:p>
          <a:p>
            <a:r>
              <a:rPr lang="en-US" dirty="0"/>
              <a:t>Email files.</a:t>
            </a:r>
          </a:p>
          <a:p>
            <a:endParaRPr lang="en-US" dirty="0"/>
          </a:p>
          <a:p>
            <a:r>
              <a:rPr lang="en-US" dirty="0"/>
              <a:t>USB drives.</a:t>
            </a:r>
          </a:p>
          <a:p>
            <a:endParaRPr lang="en-US" dirty="0"/>
          </a:p>
          <a:p>
            <a:r>
              <a:rPr lang="en-US" dirty="0"/>
              <a:t>Shared folders.</a:t>
            </a:r>
          </a:p>
          <a:p>
            <a:endParaRPr lang="en-US" dirty="0"/>
          </a:p>
          <a:p>
            <a:r>
              <a:rPr lang="en-US" dirty="0"/>
              <a:t>SaaS</a:t>
            </a:r>
          </a:p>
          <a:p>
            <a:endParaRPr lang="en-US" dirty="0"/>
          </a:p>
          <a:p>
            <a:r>
              <a:rPr lang="en-US" dirty="0"/>
              <a:t>Real-time collaboration.</a:t>
            </a:r>
          </a:p>
          <a:p>
            <a:endParaRPr lang="en-US" dirty="0"/>
          </a:p>
          <a:p>
            <a:r>
              <a:rPr lang="en-US" dirty="0"/>
              <a:t>Everyone works together.</a:t>
            </a:r>
          </a:p>
          <a:p>
            <a:endParaRPr lang="en-US" dirty="0"/>
          </a:p>
          <a:p>
            <a:r>
              <a:rPr lang="en-US" dirty="0"/>
              <a:t>Business Model</a:t>
            </a:r>
          </a:p>
          <a:p>
            <a:endParaRPr lang="en-US" dirty="0"/>
          </a:p>
          <a:p>
            <a:r>
              <a:rPr lang="en-US" dirty="0"/>
              <a:t>Traditional</a:t>
            </a:r>
          </a:p>
          <a:p>
            <a:endParaRPr lang="en-US" dirty="0"/>
          </a:p>
          <a:p>
            <a:r>
              <a:rPr lang="en-US" dirty="0"/>
              <a:t>One-time transaction.</a:t>
            </a:r>
          </a:p>
          <a:p>
            <a:endParaRPr lang="en-US" dirty="0"/>
          </a:p>
          <a:p>
            <a:r>
              <a:rPr lang="en-US" dirty="0"/>
              <a:t>SaaS</a:t>
            </a:r>
          </a:p>
          <a:p>
            <a:endParaRPr lang="en-US" dirty="0"/>
          </a:p>
          <a:p>
            <a:r>
              <a:rPr lang="en-US" dirty="0"/>
              <a:t>Long-term customer relationship.</a:t>
            </a:r>
          </a:p>
          <a:p>
            <a:endParaRPr lang="en-US" dirty="0"/>
          </a:p>
          <a:p>
            <a:r>
              <a:rPr lang="en-US" dirty="0"/>
              <a:t>Focus</a:t>
            </a:r>
          </a:p>
          <a:p>
            <a:endParaRPr lang="en-US" dirty="0"/>
          </a:p>
          <a:p>
            <a:r>
              <a:rPr lang="en-US" dirty="0"/>
              <a:t>Traditional</a:t>
            </a:r>
          </a:p>
          <a:p>
            <a:endParaRPr lang="en-US" dirty="0"/>
          </a:p>
          <a:p>
            <a:r>
              <a:rPr lang="en-US" dirty="0"/>
              <a:t>Selling software.</a:t>
            </a:r>
          </a:p>
          <a:p>
            <a:endParaRPr lang="en-US" dirty="0"/>
          </a:p>
          <a:p>
            <a:r>
              <a:rPr lang="en-US" dirty="0"/>
              <a:t>SaaS</a:t>
            </a:r>
          </a:p>
          <a:p>
            <a:endParaRPr lang="en-US" dirty="0"/>
          </a:p>
          <a:p>
            <a:r>
              <a:rPr lang="en-US" dirty="0"/>
              <a:t>Delivering value continuously.</a:t>
            </a:r>
          </a:p>
          <a:p>
            <a:endParaRPr lang="en-US" dirty="0"/>
          </a:p>
          <a:p>
            <a:r>
              <a:rPr lang="en-US" dirty="0"/>
              <a:t>------------------------------------------------------------</a:t>
            </a:r>
          </a:p>
          <a:p>
            <a:endParaRPr lang="en-US" dirty="0"/>
          </a:p>
          <a:p>
            <a:r>
              <a:rPr lang="en-US" dirty="0"/>
              <a:t>THE BUSINESS IMPACT</a:t>
            </a:r>
          </a:p>
          <a:p>
            <a:endParaRPr lang="en-US" dirty="0"/>
          </a:p>
          <a:p>
            <a:r>
              <a:rPr lang="en-US" dirty="0"/>
              <a:t>Discuss each business benefit.</a:t>
            </a:r>
          </a:p>
          <a:p>
            <a:endParaRPr lang="en-US" dirty="0"/>
          </a:p>
          <a:p>
            <a:r>
              <a:rPr lang="en-US" dirty="0"/>
              <a:t>Global Reach</a:t>
            </a:r>
          </a:p>
          <a:p>
            <a:endParaRPr lang="en-US" dirty="0"/>
          </a:p>
          <a:p>
            <a:r>
              <a:rPr lang="en-US" dirty="0"/>
              <a:t>Your customers can work from anywhere.</a:t>
            </a:r>
          </a:p>
          <a:p>
            <a:endParaRPr lang="en-US" dirty="0"/>
          </a:p>
          <a:p>
            <a:r>
              <a:rPr lang="en-US" dirty="0"/>
              <a:t>Faster Time to Value</a:t>
            </a:r>
          </a:p>
          <a:p>
            <a:endParaRPr lang="en-US" dirty="0"/>
          </a:p>
          <a:p>
            <a:r>
              <a:rPr lang="en-US" dirty="0"/>
              <a:t>Customers begin benefiting immediately.</a:t>
            </a:r>
          </a:p>
          <a:p>
            <a:endParaRPr lang="en-US" dirty="0"/>
          </a:p>
          <a:p>
            <a:r>
              <a:rPr lang="en-US" dirty="0"/>
              <a:t>Predictable Revenue</a:t>
            </a:r>
          </a:p>
          <a:p>
            <a:endParaRPr lang="en-US" dirty="0"/>
          </a:p>
          <a:p>
            <a:r>
              <a:rPr lang="en-US" dirty="0"/>
              <a:t>Subscriptions provide stable income.</a:t>
            </a:r>
          </a:p>
          <a:p>
            <a:endParaRPr lang="en-US" dirty="0"/>
          </a:p>
          <a:p>
            <a:r>
              <a:rPr lang="en-US" dirty="0"/>
              <a:t>Higher Customer Retention</a:t>
            </a:r>
          </a:p>
          <a:p>
            <a:endParaRPr lang="en-US" dirty="0"/>
          </a:p>
          <a:p>
            <a:r>
              <a:rPr lang="en-US" dirty="0"/>
              <a:t>Satisfied customers continue subscribing.</a:t>
            </a:r>
          </a:p>
          <a:p>
            <a:endParaRPr lang="en-US" dirty="0"/>
          </a:p>
          <a:p>
            <a:r>
              <a:rPr lang="en-US" dirty="0"/>
              <a:t>Lower Total Cost of Ownership</a:t>
            </a:r>
          </a:p>
          <a:p>
            <a:endParaRPr lang="en-US" dirty="0"/>
          </a:p>
          <a:p>
            <a:r>
              <a:rPr lang="en-US" dirty="0"/>
              <a:t>Businesses avoid expensive infrastructure</a:t>
            </a:r>
          </a:p>
          <a:p>
            <a:r>
              <a:rPr lang="en-US" dirty="0"/>
              <a:t>and maintenance costs.</a:t>
            </a:r>
          </a:p>
          <a:p>
            <a:endParaRPr lang="en-US" dirty="0"/>
          </a:p>
          <a:p>
            <a:r>
              <a:rPr lang="en-US" dirty="0"/>
              <a:t>------------------------------------------------------------</a:t>
            </a:r>
          </a:p>
          <a:p>
            <a:endParaRPr lang="en-US" dirty="0"/>
          </a:p>
          <a:p>
            <a:r>
              <a:rPr lang="en-US" dirty="0"/>
              <a:t>REAL-WORLD EXAMPLES</a:t>
            </a:r>
          </a:p>
          <a:p>
            <a:endParaRPr lang="en-US" dirty="0"/>
          </a:p>
          <a:p>
            <a:r>
              <a:rPr lang="en-US" dirty="0"/>
              <a:t>Point to each logo.</a:t>
            </a:r>
          </a:p>
          <a:p>
            <a:endParaRPr lang="en-US" dirty="0"/>
          </a:p>
          <a:p>
            <a:r>
              <a:rPr lang="en-US" dirty="0"/>
              <a:t>Microsoft 365</a:t>
            </a:r>
          </a:p>
          <a:p>
            <a:endParaRPr lang="en-US" dirty="0"/>
          </a:p>
          <a:p>
            <a:r>
              <a:rPr lang="en-US" dirty="0"/>
              <a:t>Salesforce</a:t>
            </a:r>
          </a:p>
          <a:p>
            <a:endParaRPr lang="en-US" dirty="0"/>
          </a:p>
          <a:p>
            <a:r>
              <a:rPr lang="en-US" dirty="0"/>
              <a:t>Netflix</a:t>
            </a:r>
          </a:p>
          <a:p>
            <a:endParaRPr lang="en-US" dirty="0"/>
          </a:p>
          <a:p>
            <a:r>
              <a:rPr lang="en-US" dirty="0"/>
              <a:t>Spotify</a:t>
            </a:r>
          </a:p>
          <a:p>
            <a:endParaRPr lang="en-US" dirty="0"/>
          </a:p>
          <a:p>
            <a:r>
              <a:rPr lang="en-US" dirty="0"/>
              <a:t>Adobe Creative Cloud</a:t>
            </a:r>
          </a:p>
          <a:p>
            <a:endParaRPr lang="en-US" dirty="0"/>
          </a:p>
          <a:p>
            <a:r>
              <a:rPr lang="en-US" dirty="0"/>
              <a:t>GitHub</a:t>
            </a:r>
          </a:p>
          <a:p>
            <a:endParaRPr lang="en-US" dirty="0"/>
          </a:p>
          <a:p>
            <a:r>
              <a:rPr lang="en-US" dirty="0"/>
              <a:t>Ask:</a:t>
            </a:r>
          </a:p>
          <a:p>
            <a:endParaRPr lang="en-US" dirty="0"/>
          </a:p>
          <a:p>
            <a:r>
              <a:rPr lang="en-US" dirty="0"/>
              <a:t>"What do these companies all have in common?"</a:t>
            </a:r>
          </a:p>
          <a:p>
            <a:endParaRPr lang="en-US" dirty="0"/>
          </a:p>
          <a:p>
            <a:r>
              <a:rPr lang="en-US" dirty="0"/>
              <a:t>Guide students toward:</a:t>
            </a:r>
          </a:p>
          <a:p>
            <a:endParaRPr lang="en-US" dirty="0"/>
          </a:p>
          <a:p>
            <a:r>
              <a:rPr lang="en-US" dirty="0"/>
              <a:t>Subscriptions</a:t>
            </a:r>
          </a:p>
          <a:p>
            <a:endParaRPr lang="en-US" dirty="0"/>
          </a:p>
          <a:p>
            <a:r>
              <a:rPr lang="en-US" dirty="0"/>
              <a:t>Automatic updates</a:t>
            </a:r>
          </a:p>
          <a:p>
            <a:endParaRPr lang="en-US" dirty="0"/>
          </a:p>
          <a:p>
            <a:r>
              <a:rPr lang="en-US" dirty="0"/>
              <a:t>Cloud access</a:t>
            </a:r>
          </a:p>
          <a:p>
            <a:endParaRPr lang="en-US" dirty="0"/>
          </a:p>
          <a:p>
            <a:r>
              <a:rPr lang="en-US" dirty="0"/>
              <a:t>Continuous improvement</a:t>
            </a:r>
          </a:p>
          <a:p>
            <a:endParaRPr lang="en-US" dirty="0"/>
          </a:p>
          <a:p>
            <a:r>
              <a:rPr lang="en-US" dirty="0"/>
              <a:t>Customer accounts</a:t>
            </a:r>
          </a:p>
          <a:p>
            <a:endParaRPr lang="en-US" dirty="0"/>
          </a:p>
          <a:p>
            <a:r>
              <a:rPr lang="en-US" dirty="0"/>
              <a:t>Scalability</a:t>
            </a:r>
          </a:p>
          <a:p>
            <a:endParaRPr lang="en-US" dirty="0"/>
          </a:p>
          <a:p>
            <a:r>
              <a:rPr lang="en-US" dirty="0"/>
              <a:t>------------------------------------------------------------</a:t>
            </a:r>
          </a:p>
          <a:p>
            <a:endParaRPr lang="en-US" dirty="0"/>
          </a:p>
          <a:p>
            <a:r>
              <a:rPr lang="en-US" dirty="0"/>
              <a:t>ENGINEERING STORY</a:t>
            </a:r>
          </a:p>
          <a:p>
            <a:endParaRPr lang="en-US" dirty="0"/>
          </a:p>
          <a:p>
            <a:r>
              <a:rPr lang="en-US" dirty="0"/>
              <a:t>Share your own experience.</a:t>
            </a:r>
          </a:p>
          <a:p>
            <a:endParaRPr lang="en-US" dirty="0"/>
          </a:p>
          <a:p>
            <a:r>
              <a:rPr lang="en-US" dirty="0"/>
              <a:t>Possible ideas:</a:t>
            </a:r>
          </a:p>
          <a:p>
            <a:endParaRPr lang="en-US" dirty="0"/>
          </a:p>
          <a:p>
            <a:r>
              <a:rPr lang="en-US" dirty="0"/>
              <a:t>Installing Microsoft Office from CDs.</a:t>
            </a:r>
          </a:p>
          <a:p>
            <a:endParaRPr lang="en-US" dirty="0"/>
          </a:p>
          <a:p>
            <a:r>
              <a:rPr lang="en-US" dirty="0"/>
              <a:t>Buying Adobe Photoshop once every few years.</a:t>
            </a:r>
          </a:p>
          <a:p>
            <a:endParaRPr lang="en-US" dirty="0"/>
          </a:p>
          <a:p>
            <a:r>
              <a:rPr lang="en-US" dirty="0"/>
              <a:t>Managing software licenses.</a:t>
            </a:r>
          </a:p>
          <a:p>
            <a:endParaRPr lang="en-US" dirty="0"/>
          </a:p>
          <a:p>
            <a:r>
              <a:rPr lang="en-US" dirty="0"/>
              <a:t>Waiting hours for updates.</a:t>
            </a:r>
          </a:p>
          <a:p>
            <a:endParaRPr lang="en-US" dirty="0"/>
          </a:p>
          <a:p>
            <a:r>
              <a:rPr lang="en-US" dirty="0"/>
              <a:t>Then compare that experience to using</a:t>
            </a:r>
          </a:p>
          <a:p>
            <a:r>
              <a:rPr lang="en-US" dirty="0"/>
              <a:t>Microsoft 365 today.</a:t>
            </a:r>
          </a:p>
          <a:p>
            <a:endParaRPr lang="en-US" dirty="0"/>
          </a:p>
          <a:p>
            <a:r>
              <a:rPr lang="en-US" dirty="0"/>
              <a:t>Ask:</a:t>
            </a:r>
          </a:p>
          <a:p>
            <a:endParaRPr lang="en-US" dirty="0"/>
          </a:p>
          <a:p>
            <a:r>
              <a:rPr lang="en-US" dirty="0"/>
              <a:t>"Which model would you rather support as an engineer?"</a:t>
            </a:r>
          </a:p>
          <a:p>
            <a:endParaRPr lang="en-US" dirty="0"/>
          </a:p>
          <a:p>
            <a:r>
              <a:rPr lang="en-US" dirty="0"/>
              <a:t>------------------------------------------------------------</a:t>
            </a:r>
          </a:p>
          <a:p>
            <a:endParaRPr lang="en-US" dirty="0"/>
          </a:p>
          <a:p>
            <a:r>
              <a:rPr lang="en-US" dirty="0"/>
              <a:t>ENGINEERING LESSON</a:t>
            </a:r>
          </a:p>
          <a:p>
            <a:endParaRPr lang="en-US" dirty="0"/>
          </a:p>
          <a:p>
            <a:r>
              <a:rPr lang="en-US" dirty="0"/>
              <a:t>Technology wins when it removes friction.</a:t>
            </a:r>
          </a:p>
          <a:p>
            <a:endParaRPr lang="en-US" dirty="0"/>
          </a:p>
          <a:p>
            <a:r>
              <a:rPr lang="en-US" dirty="0"/>
              <a:t>Business wins when customers receive value faster.</a:t>
            </a:r>
          </a:p>
          <a:p>
            <a:endParaRPr lang="en-US" dirty="0"/>
          </a:p>
          <a:p>
            <a:r>
              <a:rPr lang="en-US" dirty="0"/>
              <a:t>SaaS accomplished both.</a:t>
            </a:r>
          </a:p>
          <a:p>
            <a:endParaRPr lang="en-US" dirty="0"/>
          </a:p>
          <a:p>
            <a:r>
              <a:rPr lang="en-US" dirty="0"/>
              <a:t>That's why it became the dominant model.</a:t>
            </a:r>
          </a:p>
          <a:p>
            <a:endParaRPr lang="en-US" dirty="0"/>
          </a:p>
          <a:p>
            <a:r>
              <a:rPr lang="en-US" dirty="0"/>
              <a:t>------------------------------------------------------------</a:t>
            </a:r>
          </a:p>
          <a:p>
            <a:endParaRPr lang="en-US" dirty="0"/>
          </a:p>
          <a:p>
            <a:r>
              <a:rPr lang="en-US" dirty="0"/>
              <a:t>CLASS DISCUSSION</a:t>
            </a:r>
          </a:p>
          <a:p>
            <a:endParaRPr lang="en-US" dirty="0"/>
          </a:p>
          <a:p>
            <a:r>
              <a:rPr lang="en-US" dirty="0"/>
              <a:t>Ask the class:</a:t>
            </a:r>
          </a:p>
          <a:p>
            <a:endParaRPr lang="en-US" dirty="0"/>
          </a:p>
          <a:p>
            <a:r>
              <a:rPr lang="en-US" dirty="0"/>
              <a:t>"If you started a software company tomorrow..."</a:t>
            </a:r>
          </a:p>
          <a:p>
            <a:endParaRPr lang="en-US" dirty="0"/>
          </a:p>
          <a:p>
            <a:r>
              <a:rPr lang="en-US" dirty="0"/>
              <a:t>"Would you sell software once..."</a:t>
            </a:r>
          </a:p>
          <a:p>
            <a:endParaRPr lang="en-US" dirty="0"/>
          </a:p>
          <a:p>
            <a:r>
              <a:rPr lang="en-US" dirty="0"/>
              <a:t>"...or would you build a SaaS product?"</a:t>
            </a:r>
          </a:p>
          <a:p>
            <a:endParaRPr lang="en-US" dirty="0"/>
          </a:p>
          <a:p>
            <a:r>
              <a:rPr lang="en-US" dirty="0"/>
              <a:t>Why?</a:t>
            </a:r>
          </a:p>
          <a:p>
            <a:endParaRPr lang="en-US" dirty="0"/>
          </a:p>
          <a:p>
            <a:r>
              <a:rPr lang="en-US" dirty="0"/>
              <a:t>Allow discussion.</a:t>
            </a:r>
          </a:p>
          <a:p>
            <a:endParaRPr lang="en-US" dirty="0"/>
          </a:p>
          <a:p>
            <a:r>
              <a:rPr lang="en-US" dirty="0"/>
              <a:t>Students usually begin thinking like entrepreneurs.</a:t>
            </a:r>
          </a:p>
          <a:p>
            <a:endParaRPr lang="en-US" dirty="0"/>
          </a:p>
          <a:p>
            <a:r>
              <a:rPr lang="en-US" dirty="0"/>
              <a:t>------------------------------------------------------------</a:t>
            </a:r>
          </a:p>
          <a:p>
            <a:endParaRPr lang="en-US" dirty="0"/>
          </a:p>
          <a:p>
            <a:r>
              <a:rPr lang="en-US" dirty="0"/>
              <a:t>REAL-WORLD CHALLENGE</a:t>
            </a:r>
          </a:p>
          <a:p>
            <a:endParaRPr lang="en-US" dirty="0"/>
          </a:p>
          <a:p>
            <a:r>
              <a:rPr lang="en-US" dirty="0"/>
              <a:t>Present this scenario.</a:t>
            </a:r>
          </a:p>
          <a:p>
            <a:endParaRPr lang="en-US" dirty="0"/>
          </a:p>
          <a:p>
            <a:r>
              <a:rPr lang="en-US" dirty="0"/>
              <a:t>Imagine you own a company with 500 employees.</a:t>
            </a:r>
          </a:p>
          <a:p>
            <a:endParaRPr lang="en-US" dirty="0"/>
          </a:p>
          <a:p>
            <a:r>
              <a:rPr lang="en-US" dirty="0"/>
              <a:t>Would you rather:</a:t>
            </a:r>
          </a:p>
          <a:p>
            <a:endParaRPr lang="en-US" dirty="0"/>
          </a:p>
          <a:p>
            <a:r>
              <a:rPr lang="en-US" dirty="0"/>
              <a:t>Install software on 500 computers?</a:t>
            </a:r>
          </a:p>
          <a:p>
            <a:endParaRPr lang="en-US" dirty="0"/>
          </a:p>
          <a:p>
            <a:r>
              <a:rPr lang="en-US" dirty="0"/>
              <a:t>Or...</a:t>
            </a:r>
          </a:p>
          <a:p>
            <a:endParaRPr lang="en-US" dirty="0"/>
          </a:p>
          <a:p>
            <a:r>
              <a:rPr lang="en-US" dirty="0"/>
              <a:t>Give everyone a login?</a:t>
            </a:r>
          </a:p>
          <a:p>
            <a:endParaRPr lang="en-US" dirty="0"/>
          </a:p>
          <a:p>
            <a:r>
              <a:rPr lang="en-US" dirty="0"/>
              <a:t>Which option is easier?</a:t>
            </a:r>
          </a:p>
          <a:p>
            <a:endParaRPr lang="en-US" dirty="0"/>
          </a:p>
          <a:p>
            <a:r>
              <a:rPr lang="en-US" dirty="0"/>
              <a:t>Why?</a:t>
            </a:r>
          </a:p>
          <a:p>
            <a:endParaRPr lang="en-US" dirty="0"/>
          </a:p>
          <a:p>
            <a:r>
              <a:rPr lang="en-US" dirty="0"/>
              <a:t>------------------------------------------------------------</a:t>
            </a:r>
          </a:p>
          <a:p>
            <a:endParaRPr lang="en-US" dirty="0"/>
          </a:p>
          <a:p>
            <a:r>
              <a:rPr lang="en-US" dirty="0"/>
              <a:t>TRANSITION</a:t>
            </a:r>
          </a:p>
          <a:p>
            <a:endParaRPr lang="en-US" dirty="0"/>
          </a:p>
          <a:p>
            <a:r>
              <a:rPr lang="en-US" dirty="0"/>
              <a:t>"Now that we understand WHY SaaS became successful..."</a:t>
            </a:r>
          </a:p>
          <a:p>
            <a:endParaRPr lang="en-US" dirty="0"/>
          </a:p>
          <a:p>
            <a:r>
              <a:rPr lang="en-US" dirty="0"/>
              <a:t>"It's time to understand the cloud services that make it possible."</a:t>
            </a:r>
          </a:p>
          <a:p>
            <a:endParaRPr lang="en-US" dirty="0"/>
          </a:p>
          <a:p>
            <a:r>
              <a:rPr lang="en-US" dirty="0"/>
              <a:t>"Our next topic..."</a:t>
            </a:r>
          </a:p>
          <a:p>
            <a:endParaRPr lang="en-US" dirty="0"/>
          </a:p>
          <a:p>
            <a:r>
              <a:rPr lang="en-US" dirty="0"/>
              <a:t>"SaaS vs. PaaS vs. IaaS."</a:t>
            </a:r>
          </a:p>
          <a:p>
            <a:endParaRPr lang="en-US" dirty="0"/>
          </a:p>
          <a:p>
            <a:r>
              <a:rPr lang="en-US" dirty="0"/>
              <a:t>------------------------------------------------------------</a:t>
            </a:r>
          </a:p>
          <a:p>
            <a:endParaRPr lang="en-US" dirty="0"/>
          </a:p>
          <a:p>
            <a:r>
              <a:rPr lang="en-US" dirty="0"/>
              <a:t>ESTIMATED TIME</a:t>
            </a:r>
          </a:p>
          <a:p>
            <a:endParaRPr lang="en-US" dirty="0"/>
          </a:p>
          <a:p>
            <a:r>
              <a:rPr lang="en-US" dirty="0"/>
              <a:t>Opening......................4 minutes</a:t>
            </a:r>
          </a:p>
          <a:p>
            <a:endParaRPr lang="en-US" dirty="0"/>
          </a:p>
          <a:p>
            <a:r>
              <a:rPr lang="en-US" dirty="0"/>
              <a:t>Comparison Table............12 minutes</a:t>
            </a:r>
          </a:p>
          <a:p>
            <a:endParaRPr lang="en-US" dirty="0"/>
          </a:p>
          <a:p>
            <a:r>
              <a:rPr lang="en-US" dirty="0"/>
              <a:t>Business Impact..............6 minutes</a:t>
            </a:r>
          </a:p>
          <a:p>
            <a:endParaRPr lang="en-US" dirty="0"/>
          </a:p>
          <a:p>
            <a:r>
              <a:rPr lang="en-US" dirty="0"/>
              <a:t>Engineering Story............5 minutes</a:t>
            </a:r>
          </a:p>
          <a:p>
            <a:endParaRPr lang="en-US" dirty="0"/>
          </a:p>
          <a:p>
            <a:r>
              <a:rPr lang="en-US" dirty="0"/>
              <a:t>Discussion...................8 minutes</a:t>
            </a:r>
          </a:p>
          <a:p>
            <a:endParaRPr lang="en-US" dirty="0"/>
          </a:p>
          <a:p>
            <a:r>
              <a:rPr lang="en-US" dirty="0"/>
              <a:t>Transition...................2 minutes</a:t>
            </a:r>
          </a:p>
          <a:p>
            <a:endParaRPr lang="en-US" dirty="0"/>
          </a:p>
          <a:p>
            <a:r>
              <a:rPr lang="en-US" dirty="0"/>
              <a:t>Total........................37 minutes</a:t>
            </a:r>
          </a:p>
          <a:p>
            <a:endParaRPr lang="en-US" dirty="0"/>
          </a:p>
          <a:p>
            <a:r>
              <a:rPr lang="en-US" dirty="0"/>
              <a:t>------------------------------------------------------------</a:t>
            </a:r>
          </a:p>
          <a:p>
            <a:endParaRPr lang="en-US" dirty="0"/>
          </a:p>
          <a:p>
            <a:r>
              <a:rPr lang="en-US" dirty="0"/>
              <a:t>INSTRUCTOR NOTES</a:t>
            </a:r>
          </a:p>
          <a:p>
            <a:endParaRPr lang="en-US" dirty="0"/>
          </a:p>
          <a:p>
            <a:r>
              <a:rPr lang="en-US" dirty="0"/>
              <a:t>This is not a feature comparison.</a:t>
            </a:r>
          </a:p>
          <a:p>
            <a:endParaRPr lang="en-US" dirty="0"/>
          </a:p>
          <a:p>
            <a:r>
              <a:rPr lang="en-US" dirty="0"/>
              <a:t>It is a discussion about value.</a:t>
            </a:r>
          </a:p>
          <a:p>
            <a:endParaRPr lang="en-US" dirty="0"/>
          </a:p>
          <a:p>
            <a:r>
              <a:rPr lang="en-US" dirty="0"/>
              <a:t>Keep asking "Why?"</a:t>
            </a:r>
          </a:p>
          <a:p>
            <a:endParaRPr lang="en-US" dirty="0"/>
          </a:p>
          <a:p>
            <a:r>
              <a:rPr lang="en-US" dirty="0"/>
              <a:t>Why do customers like subscriptions?</a:t>
            </a:r>
          </a:p>
          <a:p>
            <a:endParaRPr lang="en-US" dirty="0"/>
          </a:p>
          <a:p>
            <a:r>
              <a:rPr lang="en-US" dirty="0"/>
              <a:t>Why do businesses like subscriptions?</a:t>
            </a:r>
          </a:p>
          <a:p>
            <a:endParaRPr lang="en-US" dirty="0"/>
          </a:p>
          <a:p>
            <a:r>
              <a:rPr lang="en-US" dirty="0"/>
              <a:t>Why do developers like continuous deployment?</a:t>
            </a:r>
          </a:p>
          <a:p>
            <a:endParaRPr lang="en-US" dirty="0"/>
          </a:p>
          <a:p>
            <a:r>
              <a:rPr lang="en-US" dirty="0"/>
              <a:t>Why do investors like recurring revenue?</a:t>
            </a:r>
          </a:p>
          <a:p>
            <a:endParaRPr lang="en-US" dirty="0"/>
          </a:p>
          <a:p>
            <a:r>
              <a:rPr lang="en-US" dirty="0"/>
              <a:t>Help students discover that SaaS succeeded because everyone</a:t>
            </a:r>
          </a:p>
          <a:p>
            <a:r>
              <a:rPr lang="en-US" dirty="0"/>
              <a:t>benefited.</a:t>
            </a:r>
          </a:p>
          <a:p>
            <a:endParaRPr lang="en-US" dirty="0"/>
          </a:p>
          <a:p>
            <a:r>
              <a:rPr lang="en-US" dirty="0"/>
              <a:t>Close with:</a:t>
            </a:r>
          </a:p>
          <a:p>
            <a:endParaRPr lang="en-US" dirty="0"/>
          </a:p>
          <a:p>
            <a:r>
              <a:rPr lang="en-US" dirty="0"/>
              <a:t>"SaaS didn't win because it was newer.</a:t>
            </a:r>
          </a:p>
          <a:p>
            <a:endParaRPr lang="en-US" dirty="0"/>
          </a:p>
          <a:p>
            <a:r>
              <a:rPr lang="en-US" dirty="0"/>
              <a:t>It won because it created a better experience for everyone."</a:t>
            </a:r>
          </a:p>
          <a:p>
            <a:endParaRPr lang="en-US" dirty="0"/>
          </a:p>
          <a:p>
            <a:r>
              <a:rPr lang="en-US" dirty="0"/>
              <a:t>============================================================</a:t>
            </a:r>
          </a:p>
        </p:txBody>
      </p:sp>
      <p:sp>
        <p:nvSpPr>
          <p:cNvPr id="4" name="Slide Number Placeholder 3"/>
          <p:cNvSpPr>
            <a:spLocks noGrp="1"/>
          </p:cNvSpPr>
          <p:nvPr>
            <p:ph type="sldNum" sz="quarter" idx="5"/>
          </p:nvPr>
        </p:nvSpPr>
        <p:spPr/>
        <p:txBody>
          <a:bodyPr/>
          <a:lstStyle/>
          <a:p>
            <a:fld id="{D23464B6-418B-4A24-AB2E-F540793FE320}" type="slidenum">
              <a:rPr lang="en-US" smtClean="0"/>
              <a:t>3</a:t>
            </a:fld>
            <a:endParaRPr lang="en-US"/>
          </a:p>
        </p:txBody>
      </p:sp>
    </p:spTree>
    <p:extLst>
      <p:ext uri="{BB962C8B-B14F-4D97-AF65-F5344CB8AC3E}">
        <p14:creationId xmlns:p14="http://schemas.microsoft.com/office/powerpoint/2010/main" val="6145752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ARTIFACT XXVII</a:t>
            </a:r>
          </a:p>
          <a:p>
            <a:endParaRPr lang="en-US" dirty="0"/>
          </a:p>
          <a:p>
            <a:r>
              <a:rPr lang="en-US" dirty="0"/>
              <a:t>SAAS vs. PAAS vs. IAAS</a:t>
            </a:r>
          </a:p>
          <a:p>
            <a:endParaRPr lang="en-US" dirty="0"/>
          </a:p>
          <a:p>
            <a:r>
              <a:rPr lang="en-US" dirty="0"/>
              <a:t>============================================================</a:t>
            </a:r>
          </a:p>
          <a:p>
            <a:endParaRPr lang="en-US" dirty="0"/>
          </a:p>
          <a:p>
            <a:r>
              <a:rPr lang="en-US" dirty="0"/>
              <a:t>SLIDE PURPOSE</a:t>
            </a:r>
          </a:p>
          <a:p>
            <a:endParaRPr lang="en-US" dirty="0"/>
          </a:p>
          <a:p>
            <a:r>
              <a:rPr lang="en-US" dirty="0"/>
              <a:t>Introduce the three primary cloud service models and help students</a:t>
            </a:r>
          </a:p>
          <a:p>
            <a:r>
              <a:rPr lang="en-US" dirty="0"/>
              <a:t>understand the differences between Software as a Service (SaaS),</a:t>
            </a:r>
          </a:p>
          <a:p>
            <a:r>
              <a:rPr lang="en-US" dirty="0"/>
              <a:t>Platform as a Service (PaaS), and Infrastructure as a Service (IaaS).</a:t>
            </a:r>
          </a:p>
          <a:p>
            <a:endParaRPr lang="en-US" dirty="0"/>
          </a:p>
          <a:p>
            <a:r>
              <a:rPr lang="en-US" dirty="0"/>
              <a:t>Students should leave understanding that the models are not competing</a:t>
            </a:r>
          </a:p>
          <a:p>
            <a:r>
              <a:rPr lang="en-US" dirty="0"/>
              <a:t>technologies—they are different levels of responsibility within the</a:t>
            </a:r>
          </a:p>
          <a:p>
            <a:r>
              <a:rPr lang="en-US" dirty="0"/>
              <a:t>same cloud ecosystem.</a:t>
            </a:r>
          </a:p>
          <a:p>
            <a:endParaRPr lang="en-US" dirty="0"/>
          </a:p>
          <a:p>
            <a:r>
              <a:rPr lang="en-US" dirty="0"/>
              <a:t>The key lesson:</a:t>
            </a:r>
          </a:p>
          <a:p>
            <a:endParaRPr lang="en-US" dirty="0"/>
          </a:p>
          <a:p>
            <a:r>
              <a:rPr lang="en-US" dirty="0"/>
              <a:t>The more control you want, the more responsibility you have.</a:t>
            </a:r>
          </a:p>
          <a:p>
            <a:endParaRPr lang="en-US" dirty="0"/>
          </a:p>
          <a:p>
            <a:r>
              <a:rPr lang="en-US" dirty="0"/>
              <a:t>------------------------------------------------------------</a:t>
            </a:r>
          </a:p>
          <a:p>
            <a:endParaRPr lang="en-US" dirty="0"/>
          </a:p>
          <a:p>
            <a:r>
              <a:rPr lang="en-US" dirty="0"/>
              <a:t>OPENING</a:t>
            </a:r>
          </a:p>
          <a:p>
            <a:endParaRPr lang="en-US" dirty="0"/>
          </a:p>
          <a:p>
            <a:r>
              <a:rPr lang="en-US" dirty="0"/>
              <a:t>"I have a question."</a:t>
            </a:r>
          </a:p>
          <a:p>
            <a:endParaRPr lang="en-US" dirty="0"/>
          </a:p>
          <a:p>
            <a:r>
              <a:rPr lang="en-US" dirty="0"/>
              <a:t>"Who has ever rented an apartment?"</a:t>
            </a:r>
          </a:p>
          <a:p>
            <a:endParaRPr lang="en-US" dirty="0"/>
          </a:p>
          <a:p>
            <a:r>
              <a:rPr lang="en-US" dirty="0"/>
              <a:t>(Pause.)</a:t>
            </a:r>
          </a:p>
          <a:p>
            <a:endParaRPr lang="en-US" dirty="0"/>
          </a:p>
          <a:p>
            <a:r>
              <a:rPr lang="en-US" dirty="0"/>
              <a:t>"When something breaks..."</a:t>
            </a:r>
          </a:p>
          <a:p>
            <a:endParaRPr lang="en-US" dirty="0"/>
          </a:p>
          <a:p>
            <a:r>
              <a:rPr lang="en-US" dirty="0"/>
              <a:t>"Who fixes it?"</a:t>
            </a:r>
          </a:p>
          <a:p>
            <a:endParaRPr lang="en-US" dirty="0"/>
          </a:p>
          <a:p>
            <a:r>
              <a:rPr lang="en-US" dirty="0"/>
              <a:t>(The landlord.)</a:t>
            </a:r>
          </a:p>
          <a:p>
            <a:endParaRPr lang="en-US" dirty="0"/>
          </a:p>
          <a:p>
            <a:r>
              <a:rPr lang="en-US" dirty="0"/>
              <a:t>"Now imagine you buy a house."</a:t>
            </a:r>
          </a:p>
          <a:p>
            <a:endParaRPr lang="en-US" dirty="0"/>
          </a:p>
          <a:p>
            <a:r>
              <a:rPr lang="en-US" dirty="0"/>
              <a:t>"When the roof leaks..."</a:t>
            </a:r>
          </a:p>
          <a:p>
            <a:endParaRPr lang="en-US" dirty="0"/>
          </a:p>
          <a:p>
            <a:r>
              <a:rPr lang="en-US" dirty="0"/>
              <a:t>"Who fixes it?"</a:t>
            </a:r>
          </a:p>
          <a:p>
            <a:endParaRPr lang="en-US" dirty="0"/>
          </a:p>
          <a:p>
            <a:r>
              <a:rPr lang="en-US" dirty="0"/>
              <a:t>(You.)</a:t>
            </a:r>
          </a:p>
          <a:p>
            <a:endParaRPr lang="en-US" dirty="0"/>
          </a:p>
          <a:p>
            <a:r>
              <a:rPr lang="en-US" dirty="0"/>
              <a:t>"Cloud computing works exactly the same way."</a:t>
            </a:r>
          </a:p>
          <a:p>
            <a:endParaRPr lang="en-US" dirty="0"/>
          </a:p>
          <a:p>
            <a:r>
              <a:rPr lang="en-US" dirty="0"/>
              <a:t>"The more you own..."</a:t>
            </a:r>
          </a:p>
          <a:p>
            <a:endParaRPr lang="en-US" dirty="0"/>
          </a:p>
          <a:p>
            <a:r>
              <a:rPr lang="en-US" dirty="0"/>
              <a:t>"The more you're responsible for."</a:t>
            </a:r>
          </a:p>
          <a:p>
            <a:endParaRPr lang="en-US" dirty="0"/>
          </a:p>
          <a:p>
            <a:r>
              <a:rPr lang="en-US" dirty="0"/>
              <a:t>"Today we're going to learn the three different ways companies use the</a:t>
            </a:r>
          </a:p>
          <a:p>
            <a:r>
              <a:rPr lang="en-US" dirty="0"/>
              <a:t>cloud."</a:t>
            </a:r>
          </a:p>
          <a:p>
            <a:endParaRPr lang="en-US" dirty="0"/>
          </a:p>
          <a:p>
            <a:r>
              <a:rPr lang="en-US" dirty="0"/>
              <a:t>------------------------------------------------------------</a:t>
            </a:r>
          </a:p>
          <a:p>
            <a:endParaRPr lang="en-US" dirty="0"/>
          </a:p>
          <a:p>
            <a:r>
              <a:rPr lang="en-US" dirty="0"/>
              <a:t>THE BIG IDEA</a:t>
            </a:r>
          </a:p>
          <a:p>
            <a:endParaRPr lang="en-US" dirty="0"/>
          </a:p>
          <a:p>
            <a:r>
              <a:rPr lang="en-US" dirty="0"/>
              <a:t>Point to the title.</a:t>
            </a:r>
          </a:p>
          <a:p>
            <a:endParaRPr lang="en-US" dirty="0"/>
          </a:p>
          <a:p>
            <a:r>
              <a:rPr lang="en-US" dirty="0"/>
              <a:t>"SaaS."</a:t>
            </a:r>
          </a:p>
          <a:p>
            <a:endParaRPr lang="en-US" dirty="0"/>
          </a:p>
          <a:p>
            <a:r>
              <a:rPr lang="en-US" dirty="0"/>
              <a:t>"PaaS."</a:t>
            </a:r>
          </a:p>
          <a:p>
            <a:endParaRPr lang="en-US" dirty="0"/>
          </a:p>
          <a:p>
            <a:r>
              <a:rPr lang="en-US" dirty="0"/>
              <a:t>"IaaS."</a:t>
            </a:r>
          </a:p>
          <a:p>
            <a:endParaRPr lang="en-US" dirty="0"/>
          </a:p>
          <a:p>
            <a:r>
              <a:rPr lang="en-US" dirty="0"/>
              <a:t>"They're all cloud computing."</a:t>
            </a:r>
          </a:p>
          <a:p>
            <a:endParaRPr lang="en-US" dirty="0"/>
          </a:p>
          <a:p>
            <a:r>
              <a:rPr lang="en-US" dirty="0"/>
              <a:t>"They simply divide responsibilities differently."</a:t>
            </a:r>
          </a:p>
          <a:p>
            <a:endParaRPr lang="en-US" dirty="0"/>
          </a:p>
          <a:p>
            <a:r>
              <a:rPr lang="en-US" dirty="0"/>
              <a:t>Professional engineers choose the model that best fits the problem they</a:t>
            </a:r>
          </a:p>
          <a:p>
            <a:r>
              <a:rPr lang="en-US" dirty="0"/>
              <a:t>are trying to solve.</a:t>
            </a:r>
          </a:p>
          <a:p>
            <a:endParaRPr lang="en-US" dirty="0"/>
          </a:p>
          <a:p>
            <a:r>
              <a:rPr lang="en-US" dirty="0"/>
              <a:t>------------------------------------------------------------</a:t>
            </a:r>
          </a:p>
          <a:p>
            <a:endParaRPr lang="en-US" dirty="0"/>
          </a:p>
          <a:p>
            <a:r>
              <a:rPr lang="en-US" dirty="0"/>
              <a:t>THE RESPONSIBILITY STACK</a:t>
            </a:r>
          </a:p>
          <a:p>
            <a:endParaRPr lang="en-US" dirty="0"/>
          </a:p>
          <a:p>
            <a:r>
              <a:rPr lang="en-US" dirty="0"/>
              <a:t>Point to the stacked diagrams.</a:t>
            </a:r>
          </a:p>
          <a:p>
            <a:endParaRPr lang="en-US" dirty="0"/>
          </a:p>
          <a:p>
            <a:r>
              <a:rPr lang="en-US" dirty="0"/>
              <a:t>Explain that every application is built on layers.</a:t>
            </a:r>
          </a:p>
          <a:p>
            <a:endParaRPr lang="en-US" dirty="0"/>
          </a:p>
          <a:p>
            <a:r>
              <a:rPr lang="en-US" dirty="0"/>
              <a:t>Applications</a:t>
            </a:r>
          </a:p>
          <a:p>
            <a:endParaRPr lang="en-US" dirty="0"/>
          </a:p>
          <a:p>
            <a:r>
              <a:rPr lang="en-US" dirty="0"/>
              <a:t>Data</a:t>
            </a:r>
          </a:p>
          <a:p>
            <a:endParaRPr lang="en-US" dirty="0"/>
          </a:p>
          <a:p>
            <a:r>
              <a:rPr lang="en-US" dirty="0"/>
              <a:t>Runtime</a:t>
            </a:r>
          </a:p>
          <a:p>
            <a:endParaRPr lang="en-US" dirty="0"/>
          </a:p>
          <a:p>
            <a:r>
              <a:rPr lang="en-US" dirty="0"/>
              <a:t>Middleware</a:t>
            </a:r>
          </a:p>
          <a:p>
            <a:endParaRPr lang="en-US" dirty="0"/>
          </a:p>
          <a:p>
            <a:r>
              <a:rPr lang="en-US" dirty="0"/>
              <a:t>Operating System</a:t>
            </a:r>
          </a:p>
          <a:p>
            <a:endParaRPr lang="en-US" dirty="0"/>
          </a:p>
          <a:p>
            <a:r>
              <a:rPr lang="en-US" dirty="0"/>
              <a:t>Servers</a:t>
            </a:r>
          </a:p>
          <a:p>
            <a:endParaRPr lang="en-US" dirty="0"/>
          </a:p>
          <a:p>
            <a:r>
              <a:rPr lang="en-US" dirty="0"/>
              <a:t>Storage</a:t>
            </a:r>
          </a:p>
          <a:p>
            <a:endParaRPr lang="en-US" dirty="0"/>
          </a:p>
          <a:p>
            <a:r>
              <a:rPr lang="en-US" dirty="0"/>
              <a:t>Networking</a:t>
            </a:r>
          </a:p>
          <a:p>
            <a:endParaRPr lang="en-US" dirty="0"/>
          </a:p>
          <a:p>
            <a:r>
              <a:rPr lang="en-US" dirty="0"/>
              <a:t>Data Centers</a:t>
            </a:r>
          </a:p>
          <a:p>
            <a:endParaRPr lang="en-US" dirty="0"/>
          </a:p>
          <a:p>
            <a:r>
              <a:rPr lang="en-US" dirty="0"/>
              <a:t>Every cloud service manages these layers differently.</a:t>
            </a:r>
          </a:p>
          <a:p>
            <a:endParaRPr lang="en-US" dirty="0"/>
          </a:p>
          <a:p>
            <a:r>
              <a:rPr lang="en-US" dirty="0"/>
              <a:t>------------------------------------------------------------</a:t>
            </a:r>
          </a:p>
          <a:p>
            <a:endParaRPr lang="en-US" dirty="0"/>
          </a:p>
          <a:p>
            <a:r>
              <a:rPr lang="en-US" dirty="0"/>
              <a:t>SAAS</a:t>
            </a:r>
          </a:p>
          <a:p>
            <a:endParaRPr lang="en-US" dirty="0"/>
          </a:p>
          <a:p>
            <a:r>
              <a:rPr lang="en-US" dirty="0"/>
              <a:t>Read the definition.</a:t>
            </a:r>
          </a:p>
          <a:p>
            <a:endParaRPr lang="en-US" dirty="0"/>
          </a:p>
          <a:p>
            <a:r>
              <a:rPr lang="en-US" dirty="0"/>
              <a:t>"Software as a Service."</a:t>
            </a:r>
          </a:p>
          <a:p>
            <a:endParaRPr lang="en-US" dirty="0"/>
          </a:p>
          <a:p>
            <a:r>
              <a:rPr lang="en-US" dirty="0"/>
              <a:t>You use the application.</a:t>
            </a:r>
          </a:p>
          <a:p>
            <a:endParaRPr lang="en-US" dirty="0"/>
          </a:p>
          <a:p>
            <a:r>
              <a:rPr lang="en-US" dirty="0"/>
              <a:t>You do not manage the infrastructure.</a:t>
            </a:r>
          </a:p>
          <a:p>
            <a:endParaRPr lang="en-US" dirty="0"/>
          </a:p>
          <a:p>
            <a:r>
              <a:rPr lang="en-US" dirty="0"/>
              <a:t>Examples:</a:t>
            </a:r>
          </a:p>
          <a:p>
            <a:endParaRPr lang="en-US" dirty="0"/>
          </a:p>
          <a:p>
            <a:r>
              <a:rPr lang="en-US" dirty="0"/>
              <a:t>Microsoft 365</a:t>
            </a:r>
          </a:p>
          <a:p>
            <a:endParaRPr lang="en-US" dirty="0"/>
          </a:p>
          <a:p>
            <a:r>
              <a:rPr lang="en-US" dirty="0"/>
              <a:t>Google Workspace</a:t>
            </a:r>
          </a:p>
          <a:p>
            <a:endParaRPr lang="en-US" dirty="0"/>
          </a:p>
          <a:p>
            <a:r>
              <a:rPr lang="en-US" dirty="0"/>
              <a:t>Salesforce</a:t>
            </a:r>
          </a:p>
          <a:p>
            <a:endParaRPr lang="en-US" dirty="0"/>
          </a:p>
          <a:p>
            <a:r>
              <a:rPr lang="en-US" dirty="0"/>
              <a:t>Netflix</a:t>
            </a:r>
          </a:p>
          <a:p>
            <a:endParaRPr lang="en-US" dirty="0"/>
          </a:p>
          <a:p>
            <a:r>
              <a:rPr lang="en-US" dirty="0"/>
              <a:t>Spotify</a:t>
            </a:r>
          </a:p>
          <a:p>
            <a:endParaRPr lang="en-US" dirty="0"/>
          </a:p>
          <a:p>
            <a:r>
              <a:rPr lang="en-US" dirty="0"/>
              <a:t>GitHub</a:t>
            </a:r>
          </a:p>
          <a:p>
            <a:endParaRPr lang="en-US" dirty="0"/>
          </a:p>
          <a:p>
            <a:r>
              <a:rPr lang="en-US" dirty="0"/>
              <a:t>ChatGPT</a:t>
            </a:r>
          </a:p>
          <a:p>
            <a:endParaRPr lang="en-US" dirty="0"/>
          </a:p>
          <a:p>
            <a:r>
              <a:rPr lang="en-US" dirty="0"/>
              <a:t>Explain:</a:t>
            </a:r>
          </a:p>
          <a:p>
            <a:endParaRPr lang="en-US" dirty="0"/>
          </a:p>
          <a:p>
            <a:r>
              <a:rPr lang="en-US" dirty="0"/>
              <a:t>You simply sign in and begin working.</a:t>
            </a:r>
          </a:p>
          <a:p>
            <a:endParaRPr lang="en-US" dirty="0"/>
          </a:p>
          <a:p>
            <a:r>
              <a:rPr lang="en-US" dirty="0"/>
              <a:t>Microsoft manages everything behind the scenes.</a:t>
            </a:r>
          </a:p>
          <a:p>
            <a:endParaRPr lang="en-US" dirty="0"/>
          </a:p>
          <a:p>
            <a:r>
              <a:rPr lang="en-US" dirty="0"/>
              <a:t>Analogy:</a:t>
            </a:r>
          </a:p>
          <a:p>
            <a:endParaRPr lang="en-US" dirty="0"/>
          </a:p>
          <a:p>
            <a:r>
              <a:rPr lang="en-US" dirty="0"/>
              <a:t>Living in an apartment.</a:t>
            </a:r>
          </a:p>
          <a:p>
            <a:endParaRPr lang="en-US" dirty="0"/>
          </a:p>
          <a:p>
            <a:r>
              <a:rPr lang="en-US" dirty="0"/>
              <a:t>You enjoy the space.</a:t>
            </a:r>
          </a:p>
          <a:p>
            <a:endParaRPr lang="en-US" dirty="0"/>
          </a:p>
          <a:p>
            <a:r>
              <a:rPr lang="en-US" dirty="0"/>
              <a:t>Someone else maintains the building.</a:t>
            </a:r>
          </a:p>
          <a:p>
            <a:endParaRPr lang="en-US" dirty="0"/>
          </a:p>
          <a:p>
            <a:r>
              <a:rPr lang="en-US" dirty="0"/>
              <a:t>------------------------------------------------------------</a:t>
            </a:r>
          </a:p>
          <a:p>
            <a:endParaRPr lang="en-US" dirty="0"/>
          </a:p>
          <a:p>
            <a:r>
              <a:rPr lang="en-US" dirty="0"/>
              <a:t>PAAS</a:t>
            </a:r>
          </a:p>
          <a:p>
            <a:endParaRPr lang="en-US" dirty="0"/>
          </a:p>
          <a:p>
            <a:r>
              <a:rPr lang="en-US" dirty="0"/>
              <a:t>Read the definition.</a:t>
            </a:r>
          </a:p>
          <a:p>
            <a:endParaRPr lang="en-US" dirty="0"/>
          </a:p>
          <a:p>
            <a:r>
              <a:rPr lang="en-US" dirty="0"/>
              <a:t>"Platform as a Service."</a:t>
            </a:r>
          </a:p>
          <a:p>
            <a:endParaRPr lang="en-US" dirty="0"/>
          </a:p>
          <a:p>
            <a:r>
              <a:rPr lang="en-US" dirty="0"/>
              <a:t>You build applications.</a:t>
            </a:r>
          </a:p>
          <a:p>
            <a:endParaRPr lang="en-US" dirty="0"/>
          </a:p>
          <a:p>
            <a:r>
              <a:rPr lang="en-US" dirty="0"/>
              <a:t>The cloud provider manages the platform.</a:t>
            </a:r>
          </a:p>
          <a:p>
            <a:endParaRPr lang="en-US" dirty="0"/>
          </a:p>
          <a:p>
            <a:r>
              <a:rPr lang="en-US" dirty="0"/>
              <a:t>Examples:</a:t>
            </a:r>
          </a:p>
          <a:p>
            <a:endParaRPr lang="en-US" dirty="0"/>
          </a:p>
          <a:p>
            <a:r>
              <a:rPr lang="en-US" dirty="0"/>
              <a:t>Azure App Service</a:t>
            </a:r>
          </a:p>
          <a:p>
            <a:endParaRPr lang="en-US" dirty="0"/>
          </a:p>
          <a:p>
            <a:r>
              <a:rPr lang="en-US" dirty="0"/>
              <a:t>Google App Engine</a:t>
            </a:r>
          </a:p>
          <a:p>
            <a:endParaRPr lang="en-US" dirty="0"/>
          </a:p>
          <a:p>
            <a:r>
              <a:rPr lang="en-US" dirty="0"/>
              <a:t>Heroku</a:t>
            </a:r>
          </a:p>
          <a:p>
            <a:endParaRPr lang="en-US" dirty="0"/>
          </a:p>
          <a:p>
            <a:r>
              <a:rPr lang="en-US" dirty="0"/>
              <a:t>Render</a:t>
            </a:r>
          </a:p>
          <a:p>
            <a:endParaRPr lang="en-US" dirty="0"/>
          </a:p>
          <a:p>
            <a:r>
              <a:rPr lang="en-US" dirty="0"/>
              <a:t>Explain:</a:t>
            </a:r>
          </a:p>
          <a:p>
            <a:endParaRPr lang="en-US" dirty="0"/>
          </a:p>
          <a:p>
            <a:r>
              <a:rPr lang="en-US" dirty="0"/>
              <a:t>You write code.</a:t>
            </a:r>
          </a:p>
          <a:p>
            <a:endParaRPr lang="en-US" dirty="0"/>
          </a:p>
          <a:p>
            <a:r>
              <a:rPr lang="en-US" dirty="0"/>
              <a:t>Deploy your application.</a:t>
            </a:r>
          </a:p>
          <a:p>
            <a:endParaRPr lang="en-US" dirty="0"/>
          </a:p>
          <a:p>
            <a:r>
              <a:rPr lang="en-US" dirty="0"/>
              <a:t>The provider manages operating systems,</a:t>
            </a:r>
          </a:p>
          <a:p>
            <a:r>
              <a:rPr lang="en-US" dirty="0"/>
              <a:t>servers,</a:t>
            </a:r>
          </a:p>
          <a:p>
            <a:r>
              <a:rPr lang="en-US" dirty="0"/>
              <a:t>storage,</a:t>
            </a:r>
          </a:p>
          <a:p>
            <a:r>
              <a:rPr lang="en-US" dirty="0"/>
              <a:t>networking,</a:t>
            </a:r>
          </a:p>
          <a:p>
            <a:r>
              <a:rPr lang="en-US" dirty="0"/>
              <a:t>and much of the runtime environment.</a:t>
            </a:r>
          </a:p>
          <a:p>
            <a:endParaRPr lang="en-US" dirty="0"/>
          </a:p>
          <a:p>
            <a:r>
              <a:rPr lang="en-US" dirty="0"/>
              <a:t>Analogy:</a:t>
            </a:r>
          </a:p>
          <a:p>
            <a:endParaRPr lang="en-US" dirty="0"/>
          </a:p>
          <a:p>
            <a:r>
              <a:rPr lang="en-US" dirty="0"/>
              <a:t>Owning a food truck.</a:t>
            </a:r>
          </a:p>
          <a:p>
            <a:endParaRPr lang="en-US" dirty="0"/>
          </a:p>
          <a:p>
            <a:r>
              <a:rPr lang="en-US" dirty="0"/>
              <a:t>You prepare the food.</a:t>
            </a:r>
          </a:p>
          <a:p>
            <a:endParaRPr lang="en-US" dirty="0"/>
          </a:p>
          <a:p>
            <a:r>
              <a:rPr lang="en-US" dirty="0"/>
              <a:t>Someone else maintains the parking lot,</a:t>
            </a:r>
          </a:p>
          <a:p>
            <a:r>
              <a:rPr lang="en-US" dirty="0"/>
              <a:t>utilities,</a:t>
            </a:r>
          </a:p>
          <a:p>
            <a:r>
              <a:rPr lang="en-US" dirty="0"/>
              <a:t>and infrastructure.</a:t>
            </a:r>
          </a:p>
          <a:p>
            <a:endParaRPr lang="en-US" dirty="0"/>
          </a:p>
          <a:p>
            <a:r>
              <a:rPr lang="en-US" dirty="0"/>
              <a:t>------------------------------------------------------------</a:t>
            </a:r>
          </a:p>
          <a:p>
            <a:endParaRPr lang="en-US" dirty="0"/>
          </a:p>
          <a:p>
            <a:r>
              <a:rPr lang="en-US" dirty="0"/>
              <a:t>IAAS</a:t>
            </a:r>
          </a:p>
          <a:p>
            <a:endParaRPr lang="en-US" dirty="0"/>
          </a:p>
          <a:p>
            <a:r>
              <a:rPr lang="en-US" dirty="0"/>
              <a:t>Read the definition.</a:t>
            </a:r>
          </a:p>
          <a:p>
            <a:endParaRPr lang="en-US" dirty="0"/>
          </a:p>
          <a:p>
            <a:r>
              <a:rPr lang="en-US" dirty="0"/>
              <a:t>"Infrastructure as a Service."</a:t>
            </a:r>
          </a:p>
          <a:p>
            <a:endParaRPr lang="en-US" dirty="0"/>
          </a:p>
          <a:p>
            <a:r>
              <a:rPr lang="en-US" dirty="0"/>
              <a:t>You provision virtual machines.</a:t>
            </a:r>
          </a:p>
          <a:p>
            <a:endParaRPr lang="en-US" dirty="0"/>
          </a:p>
          <a:p>
            <a:r>
              <a:rPr lang="en-US" dirty="0"/>
              <a:t>You manage almost everything yourself.</a:t>
            </a:r>
          </a:p>
          <a:p>
            <a:endParaRPr lang="en-US" dirty="0"/>
          </a:p>
          <a:p>
            <a:r>
              <a:rPr lang="en-US" dirty="0"/>
              <a:t>Examples:</a:t>
            </a:r>
          </a:p>
          <a:p>
            <a:endParaRPr lang="en-US" dirty="0"/>
          </a:p>
          <a:p>
            <a:r>
              <a:rPr lang="en-US" dirty="0"/>
              <a:t>Amazon EC2</a:t>
            </a:r>
          </a:p>
          <a:p>
            <a:endParaRPr lang="en-US" dirty="0"/>
          </a:p>
          <a:p>
            <a:r>
              <a:rPr lang="en-US" dirty="0"/>
              <a:t>Azure Virtual Machines</a:t>
            </a:r>
          </a:p>
          <a:p>
            <a:endParaRPr lang="en-US" dirty="0"/>
          </a:p>
          <a:p>
            <a:r>
              <a:rPr lang="en-US" dirty="0"/>
              <a:t>Google Compute Engine</a:t>
            </a:r>
          </a:p>
          <a:p>
            <a:endParaRPr lang="en-US" dirty="0"/>
          </a:p>
          <a:p>
            <a:r>
              <a:rPr lang="en-US" dirty="0"/>
              <a:t>Explain:</a:t>
            </a:r>
          </a:p>
          <a:p>
            <a:endParaRPr lang="en-US" dirty="0"/>
          </a:p>
          <a:p>
            <a:r>
              <a:rPr lang="en-US" dirty="0"/>
              <a:t>You choose the operating system.</a:t>
            </a:r>
          </a:p>
          <a:p>
            <a:endParaRPr lang="en-US" dirty="0"/>
          </a:p>
          <a:p>
            <a:r>
              <a:rPr lang="en-US" dirty="0"/>
              <a:t>Install software.</a:t>
            </a:r>
          </a:p>
          <a:p>
            <a:endParaRPr lang="en-US" dirty="0"/>
          </a:p>
          <a:p>
            <a:r>
              <a:rPr lang="en-US" dirty="0"/>
              <a:t>Configure security.</a:t>
            </a:r>
          </a:p>
          <a:p>
            <a:endParaRPr lang="en-US" dirty="0"/>
          </a:p>
          <a:p>
            <a:r>
              <a:rPr lang="en-US" dirty="0"/>
              <a:t>Maintain updates.</a:t>
            </a:r>
          </a:p>
          <a:p>
            <a:endParaRPr lang="en-US" dirty="0"/>
          </a:p>
          <a:p>
            <a:r>
              <a:rPr lang="en-US" dirty="0"/>
              <a:t>Manage storage.</a:t>
            </a:r>
          </a:p>
          <a:p>
            <a:endParaRPr lang="en-US" dirty="0"/>
          </a:p>
          <a:p>
            <a:r>
              <a:rPr lang="en-US" dirty="0"/>
              <a:t>Scale resources.</a:t>
            </a:r>
          </a:p>
          <a:p>
            <a:endParaRPr lang="en-US" dirty="0"/>
          </a:p>
          <a:p>
            <a:r>
              <a:rPr lang="en-US" dirty="0"/>
              <a:t>Maximum flexibility.</a:t>
            </a:r>
          </a:p>
          <a:p>
            <a:endParaRPr lang="en-US" dirty="0"/>
          </a:p>
          <a:p>
            <a:r>
              <a:rPr lang="en-US" dirty="0"/>
              <a:t>Maximum responsibility.</a:t>
            </a:r>
          </a:p>
          <a:p>
            <a:endParaRPr lang="en-US" dirty="0"/>
          </a:p>
          <a:p>
            <a:r>
              <a:rPr lang="en-US" dirty="0"/>
              <a:t>Analogy:</a:t>
            </a:r>
          </a:p>
          <a:p>
            <a:endParaRPr lang="en-US" dirty="0"/>
          </a:p>
          <a:p>
            <a:r>
              <a:rPr lang="en-US" dirty="0"/>
              <a:t>Buying land and building your own house.</a:t>
            </a:r>
          </a:p>
          <a:p>
            <a:endParaRPr lang="en-US" dirty="0"/>
          </a:p>
          <a:p>
            <a:r>
              <a:rPr lang="en-US" dirty="0"/>
              <a:t>Everything belongs to you.</a:t>
            </a:r>
          </a:p>
          <a:p>
            <a:endParaRPr lang="en-US" dirty="0"/>
          </a:p>
          <a:p>
            <a:r>
              <a:rPr lang="en-US" dirty="0"/>
              <a:t>Everything is your responsibility.</a:t>
            </a:r>
          </a:p>
          <a:p>
            <a:endParaRPr lang="en-US" dirty="0"/>
          </a:p>
          <a:p>
            <a:r>
              <a:rPr lang="en-US" dirty="0"/>
              <a:t>------------------------------------------------------------</a:t>
            </a:r>
          </a:p>
          <a:p>
            <a:endParaRPr lang="en-US" dirty="0"/>
          </a:p>
          <a:p>
            <a:r>
              <a:rPr lang="en-US" dirty="0"/>
              <a:t>REAL-WORLD EXAMPLES</a:t>
            </a:r>
          </a:p>
          <a:p>
            <a:endParaRPr lang="en-US" dirty="0"/>
          </a:p>
          <a:p>
            <a:r>
              <a:rPr lang="en-US" dirty="0"/>
              <a:t>Walk through each example.</a:t>
            </a:r>
          </a:p>
          <a:p>
            <a:endParaRPr lang="en-US" dirty="0"/>
          </a:p>
          <a:p>
            <a:r>
              <a:rPr lang="en-US" dirty="0"/>
              <a:t>Microsoft 365</a:t>
            </a:r>
          </a:p>
          <a:p>
            <a:endParaRPr lang="en-US" dirty="0"/>
          </a:p>
          <a:p>
            <a:r>
              <a:rPr lang="en-US" dirty="0"/>
              <a:t>Use the application.</a:t>
            </a:r>
          </a:p>
          <a:p>
            <a:endParaRPr lang="en-US" dirty="0"/>
          </a:p>
          <a:p>
            <a:r>
              <a:rPr lang="en-US" dirty="0"/>
              <a:t>Azure App Service</a:t>
            </a:r>
          </a:p>
          <a:p>
            <a:endParaRPr lang="en-US" dirty="0"/>
          </a:p>
          <a:p>
            <a:r>
              <a:rPr lang="en-US" dirty="0"/>
              <a:t>Deploy applications without managing servers.</a:t>
            </a:r>
          </a:p>
          <a:p>
            <a:endParaRPr lang="en-US" dirty="0"/>
          </a:p>
          <a:p>
            <a:r>
              <a:rPr lang="en-US" dirty="0"/>
              <a:t>Amazon EC2</a:t>
            </a:r>
          </a:p>
          <a:p>
            <a:endParaRPr lang="en-US" dirty="0"/>
          </a:p>
          <a:p>
            <a:r>
              <a:rPr lang="en-US" dirty="0"/>
              <a:t>Build and configure everything yourself.</a:t>
            </a:r>
          </a:p>
          <a:p>
            <a:endParaRPr lang="en-US" dirty="0"/>
          </a:p>
          <a:p>
            <a:r>
              <a:rPr lang="en-US" dirty="0"/>
              <a:t>Ask:</a:t>
            </a:r>
          </a:p>
          <a:p>
            <a:endParaRPr lang="en-US" dirty="0"/>
          </a:p>
          <a:p>
            <a:r>
              <a:rPr lang="en-US" dirty="0"/>
              <a:t>"Which one sounds easiest?"</a:t>
            </a:r>
          </a:p>
          <a:p>
            <a:endParaRPr lang="en-US" dirty="0"/>
          </a:p>
          <a:p>
            <a:r>
              <a:rPr lang="en-US" dirty="0"/>
              <a:t>Most students answer SaaS.</a:t>
            </a:r>
          </a:p>
          <a:p>
            <a:endParaRPr lang="en-US" dirty="0"/>
          </a:p>
          <a:p>
            <a:r>
              <a:rPr lang="en-US" dirty="0"/>
              <a:t>Then ask:</a:t>
            </a:r>
          </a:p>
          <a:p>
            <a:endParaRPr lang="en-US" dirty="0"/>
          </a:p>
          <a:p>
            <a:r>
              <a:rPr lang="en-US" dirty="0"/>
              <a:t>"Which one gives you the most flexibility?"</a:t>
            </a:r>
          </a:p>
          <a:p>
            <a:endParaRPr lang="en-US" dirty="0"/>
          </a:p>
          <a:p>
            <a:r>
              <a:rPr lang="en-US" dirty="0"/>
              <a:t>Students answer IaaS.</a:t>
            </a:r>
          </a:p>
          <a:p>
            <a:endParaRPr lang="en-US" dirty="0"/>
          </a:p>
          <a:p>
            <a:r>
              <a:rPr lang="en-US" dirty="0"/>
              <a:t>Then explain:</a:t>
            </a:r>
          </a:p>
          <a:p>
            <a:endParaRPr lang="en-US" dirty="0"/>
          </a:p>
          <a:p>
            <a:r>
              <a:rPr lang="en-US" dirty="0"/>
              <a:t>"There is no universally better option."</a:t>
            </a:r>
          </a:p>
          <a:p>
            <a:endParaRPr lang="en-US" dirty="0"/>
          </a:p>
          <a:p>
            <a:r>
              <a:rPr lang="en-US" dirty="0"/>
              <a:t>"There is only the right option for the problem."</a:t>
            </a:r>
          </a:p>
          <a:p>
            <a:endParaRPr lang="en-US" dirty="0"/>
          </a:p>
          <a:p>
            <a:r>
              <a:rPr lang="en-US" dirty="0"/>
              <a:t>------------------------------------------------------------</a:t>
            </a:r>
          </a:p>
          <a:p>
            <a:endParaRPr lang="en-US" dirty="0"/>
          </a:p>
          <a:p>
            <a:r>
              <a:rPr lang="en-US" dirty="0"/>
              <a:t>THE CHOOSE THE RIGHT MODEL PANEL</a:t>
            </a:r>
          </a:p>
          <a:p>
            <a:endParaRPr lang="en-US" dirty="0"/>
          </a:p>
          <a:p>
            <a:r>
              <a:rPr lang="en-US" dirty="0"/>
              <a:t>Review each scenario.</a:t>
            </a:r>
          </a:p>
          <a:p>
            <a:endParaRPr lang="en-US" dirty="0"/>
          </a:p>
          <a:p>
            <a:r>
              <a:rPr lang="en-US" dirty="0"/>
              <a:t>Need software quickly?</a:t>
            </a:r>
          </a:p>
          <a:p>
            <a:endParaRPr lang="en-US" dirty="0"/>
          </a:p>
          <a:p>
            <a:r>
              <a:rPr lang="en-US" dirty="0"/>
              <a:t>Choose SaaS.</a:t>
            </a:r>
          </a:p>
          <a:p>
            <a:endParaRPr lang="en-US" dirty="0"/>
          </a:p>
          <a:p>
            <a:r>
              <a:rPr lang="en-US" dirty="0"/>
              <a:t>Building applications?</a:t>
            </a:r>
          </a:p>
          <a:p>
            <a:endParaRPr lang="en-US" dirty="0"/>
          </a:p>
          <a:p>
            <a:r>
              <a:rPr lang="en-US" dirty="0"/>
              <a:t>Choose PaaS.</a:t>
            </a:r>
          </a:p>
          <a:p>
            <a:endParaRPr lang="en-US" dirty="0"/>
          </a:p>
          <a:p>
            <a:r>
              <a:rPr lang="en-US" dirty="0"/>
              <a:t>Need complete infrastructure control?</a:t>
            </a:r>
          </a:p>
          <a:p>
            <a:endParaRPr lang="en-US" dirty="0"/>
          </a:p>
          <a:p>
            <a:r>
              <a:rPr lang="en-US" dirty="0"/>
              <a:t>Choose IaaS.</a:t>
            </a:r>
          </a:p>
          <a:p>
            <a:endParaRPr lang="en-US" dirty="0"/>
          </a:p>
          <a:p>
            <a:r>
              <a:rPr lang="en-US" dirty="0"/>
              <a:t>Discuss why.</a:t>
            </a:r>
          </a:p>
          <a:p>
            <a:endParaRPr lang="en-US" dirty="0"/>
          </a:p>
          <a:p>
            <a:r>
              <a:rPr lang="en-US" dirty="0"/>
              <a:t>------------------------------------------------------------</a:t>
            </a:r>
          </a:p>
          <a:p>
            <a:endParaRPr lang="en-US" dirty="0"/>
          </a:p>
          <a:p>
            <a:r>
              <a:rPr lang="en-US" dirty="0"/>
              <a:t>ENGINEERING STORY</a:t>
            </a:r>
          </a:p>
          <a:p>
            <a:endParaRPr lang="en-US" dirty="0"/>
          </a:p>
          <a:p>
            <a:r>
              <a:rPr lang="en-US" dirty="0"/>
              <a:t>Share a personal experience.</a:t>
            </a:r>
          </a:p>
          <a:p>
            <a:endParaRPr lang="en-US" dirty="0"/>
          </a:p>
          <a:p>
            <a:r>
              <a:rPr lang="en-US" dirty="0"/>
              <a:t>Example:</a:t>
            </a:r>
          </a:p>
          <a:p>
            <a:endParaRPr lang="en-US" dirty="0"/>
          </a:p>
          <a:p>
            <a:r>
              <a:rPr lang="en-US" dirty="0"/>
              <a:t>"When I first started developing software, I thought I needed complete</a:t>
            </a:r>
          </a:p>
          <a:p>
            <a:r>
              <a:rPr lang="en-US" dirty="0"/>
              <a:t>control over everything."</a:t>
            </a:r>
          </a:p>
          <a:p>
            <a:endParaRPr lang="en-US" dirty="0"/>
          </a:p>
          <a:p>
            <a:r>
              <a:rPr lang="en-US" dirty="0"/>
              <a:t>"I eventually realized that managing servers wasn't helping me build</a:t>
            </a:r>
          </a:p>
          <a:p>
            <a:r>
              <a:rPr lang="en-US" dirty="0"/>
              <a:t>better software."</a:t>
            </a:r>
          </a:p>
          <a:p>
            <a:endParaRPr lang="en-US" dirty="0"/>
          </a:p>
          <a:p>
            <a:r>
              <a:rPr lang="en-US" dirty="0"/>
              <a:t>"When I moved to Azure App Service, I spent less time maintaining</a:t>
            </a:r>
          </a:p>
          <a:p>
            <a:r>
              <a:rPr lang="en-US" dirty="0"/>
              <a:t>infrastructure and more time writing code."</a:t>
            </a:r>
          </a:p>
          <a:p>
            <a:endParaRPr lang="en-US" dirty="0"/>
          </a:p>
          <a:p>
            <a:r>
              <a:rPr lang="en-US" dirty="0"/>
              <a:t>Lesson Learned:</a:t>
            </a:r>
          </a:p>
          <a:p>
            <a:endParaRPr lang="en-US" dirty="0"/>
          </a:p>
          <a:p>
            <a:r>
              <a:rPr lang="en-US" dirty="0"/>
              <a:t>Great engineers don't manage complexity they don't need.</a:t>
            </a:r>
          </a:p>
          <a:p>
            <a:endParaRPr lang="en-US" dirty="0"/>
          </a:p>
          <a:p>
            <a:r>
              <a:rPr lang="en-US" dirty="0"/>
              <a:t>------------------------------------------------------------</a:t>
            </a:r>
          </a:p>
          <a:p>
            <a:endParaRPr lang="en-US" dirty="0"/>
          </a:p>
          <a:p>
            <a:r>
              <a:rPr lang="en-US" dirty="0"/>
              <a:t>ENGINEERING LESSON</a:t>
            </a:r>
          </a:p>
          <a:p>
            <a:endParaRPr lang="en-US" dirty="0"/>
          </a:p>
          <a:p>
            <a:r>
              <a:rPr lang="en-US" dirty="0"/>
              <a:t>The cloud isn't one thing.</a:t>
            </a:r>
          </a:p>
          <a:p>
            <a:endParaRPr lang="en-US" dirty="0"/>
          </a:p>
          <a:p>
            <a:r>
              <a:rPr lang="en-US" dirty="0"/>
              <a:t>It's a collection of services.</a:t>
            </a:r>
          </a:p>
          <a:p>
            <a:endParaRPr lang="en-US" dirty="0"/>
          </a:p>
          <a:p>
            <a:r>
              <a:rPr lang="en-US" dirty="0"/>
              <a:t>Professional engineers understand which layer they should own...</a:t>
            </a:r>
          </a:p>
          <a:p>
            <a:endParaRPr lang="en-US" dirty="0"/>
          </a:p>
          <a:p>
            <a:r>
              <a:rPr lang="en-US" dirty="0"/>
              <a:t>...and which layer they should allow the cloud provider to manage.</a:t>
            </a:r>
          </a:p>
          <a:p>
            <a:endParaRPr lang="en-US" dirty="0"/>
          </a:p>
          <a:p>
            <a:r>
              <a:rPr lang="en-US" dirty="0"/>
              <a:t>Choosing the correct service model saves time,</a:t>
            </a:r>
          </a:p>
          <a:p>
            <a:r>
              <a:rPr lang="en-US" dirty="0"/>
              <a:t>reduces cost,</a:t>
            </a:r>
          </a:p>
          <a:p>
            <a:r>
              <a:rPr lang="en-US" dirty="0"/>
              <a:t>improves reliability,</a:t>
            </a:r>
          </a:p>
          <a:p>
            <a:r>
              <a:rPr lang="en-US" dirty="0"/>
              <a:t>and allows teams to focus on delivering value.</a:t>
            </a:r>
          </a:p>
          <a:p>
            <a:endParaRPr lang="en-US" dirty="0"/>
          </a:p>
          <a:p>
            <a:r>
              <a:rPr lang="en-US" dirty="0"/>
              <a:t>------------------------------------------------------------</a:t>
            </a:r>
          </a:p>
          <a:p>
            <a:endParaRPr lang="en-US" dirty="0"/>
          </a:p>
          <a:p>
            <a:r>
              <a:rPr lang="en-US" dirty="0"/>
              <a:t>CLASS DISCUSSION</a:t>
            </a:r>
          </a:p>
          <a:p>
            <a:endParaRPr lang="en-US" dirty="0"/>
          </a:p>
          <a:p>
            <a:r>
              <a:rPr lang="en-US" dirty="0"/>
              <a:t>Ask the room:</a:t>
            </a:r>
          </a:p>
          <a:p>
            <a:endParaRPr lang="en-US" dirty="0"/>
          </a:p>
          <a:p>
            <a:r>
              <a:rPr lang="en-US" dirty="0"/>
              <a:t>"If you wanted to build the next Spotify..."</a:t>
            </a:r>
          </a:p>
          <a:p>
            <a:endParaRPr lang="en-US" dirty="0"/>
          </a:p>
          <a:p>
            <a:r>
              <a:rPr lang="en-US" dirty="0"/>
              <a:t>"Which cloud model would you choose?"</a:t>
            </a:r>
          </a:p>
          <a:p>
            <a:endParaRPr lang="en-US" dirty="0"/>
          </a:p>
          <a:p>
            <a:r>
              <a:rPr lang="en-US" dirty="0"/>
              <a:t>Why?</a:t>
            </a:r>
          </a:p>
          <a:p>
            <a:endParaRPr lang="en-US" dirty="0"/>
          </a:p>
          <a:p>
            <a:r>
              <a:rPr lang="en-US" dirty="0"/>
              <a:t>Then ask:</a:t>
            </a:r>
          </a:p>
          <a:p>
            <a:endParaRPr lang="en-US" dirty="0"/>
          </a:p>
          <a:p>
            <a:r>
              <a:rPr lang="en-US" dirty="0"/>
              <a:t>"If you wanted to create your own operating system..."</a:t>
            </a:r>
          </a:p>
          <a:p>
            <a:endParaRPr lang="en-US" dirty="0"/>
          </a:p>
          <a:p>
            <a:r>
              <a:rPr lang="en-US" dirty="0"/>
              <a:t>"Would SaaS still work?"</a:t>
            </a:r>
          </a:p>
          <a:p>
            <a:endParaRPr lang="en-US" dirty="0"/>
          </a:p>
          <a:p>
            <a:r>
              <a:rPr lang="en-US" dirty="0"/>
              <a:t>Guide students toward understanding that different problems require</a:t>
            </a:r>
          </a:p>
          <a:p>
            <a:r>
              <a:rPr lang="en-US" dirty="0"/>
              <a:t>different levels of control.</a:t>
            </a:r>
          </a:p>
          <a:p>
            <a:endParaRPr lang="en-US" dirty="0"/>
          </a:p>
          <a:p>
            <a:r>
              <a:rPr lang="en-US" dirty="0"/>
              <a:t>------------------------------------------------------------</a:t>
            </a:r>
          </a:p>
          <a:p>
            <a:endParaRPr lang="en-US" dirty="0"/>
          </a:p>
          <a:p>
            <a:r>
              <a:rPr lang="en-US" dirty="0"/>
              <a:t>REAL-WORLD CHALLENGE</a:t>
            </a:r>
          </a:p>
          <a:p>
            <a:endParaRPr lang="en-US" dirty="0"/>
          </a:p>
          <a:p>
            <a:r>
              <a:rPr lang="en-US" dirty="0"/>
              <a:t>Scenario:</a:t>
            </a:r>
          </a:p>
          <a:p>
            <a:endParaRPr lang="en-US" dirty="0"/>
          </a:p>
          <a:p>
            <a:r>
              <a:rPr lang="en-US" dirty="0"/>
              <a:t>A startup has five developers.</a:t>
            </a:r>
          </a:p>
          <a:p>
            <a:endParaRPr lang="en-US" dirty="0"/>
          </a:p>
          <a:p>
            <a:r>
              <a:rPr lang="en-US" dirty="0"/>
              <a:t>They need to launch quickly.</a:t>
            </a:r>
          </a:p>
          <a:p>
            <a:endParaRPr lang="en-US" dirty="0"/>
          </a:p>
          <a:p>
            <a:r>
              <a:rPr lang="en-US" dirty="0"/>
              <a:t>Would you recommend:</a:t>
            </a:r>
          </a:p>
          <a:p>
            <a:endParaRPr lang="en-US" dirty="0"/>
          </a:p>
          <a:p>
            <a:r>
              <a:rPr lang="en-US" dirty="0"/>
              <a:t>SaaS</a:t>
            </a:r>
          </a:p>
          <a:p>
            <a:endParaRPr lang="en-US" dirty="0"/>
          </a:p>
          <a:p>
            <a:r>
              <a:rPr lang="en-US" dirty="0"/>
              <a:t>PaaS</a:t>
            </a:r>
          </a:p>
          <a:p>
            <a:endParaRPr lang="en-US" dirty="0"/>
          </a:p>
          <a:p>
            <a:r>
              <a:rPr lang="en-US" dirty="0"/>
              <a:t>or</a:t>
            </a:r>
          </a:p>
          <a:p>
            <a:endParaRPr lang="en-US" dirty="0"/>
          </a:p>
          <a:p>
            <a:r>
              <a:rPr lang="en-US" dirty="0"/>
              <a:t>IaaS?</a:t>
            </a:r>
          </a:p>
          <a:p>
            <a:endParaRPr lang="en-US" dirty="0"/>
          </a:p>
          <a:p>
            <a:r>
              <a:rPr lang="en-US" dirty="0"/>
              <a:t>Why?</a:t>
            </a:r>
          </a:p>
          <a:p>
            <a:endParaRPr lang="en-US" dirty="0"/>
          </a:p>
          <a:p>
            <a:r>
              <a:rPr lang="en-US" dirty="0"/>
              <a:t>Allow discussion.</a:t>
            </a:r>
          </a:p>
          <a:p>
            <a:endParaRPr lang="en-US" dirty="0"/>
          </a:p>
          <a:p>
            <a:r>
              <a:rPr lang="en-US" dirty="0"/>
              <a:t>Most students should conclude that PaaS is the best balance.</a:t>
            </a:r>
          </a:p>
          <a:p>
            <a:endParaRPr lang="en-US" dirty="0"/>
          </a:p>
          <a:p>
            <a:r>
              <a:rPr lang="en-US" dirty="0"/>
              <a:t>------------------------------------------------------------</a:t>
            </a:r>
          </a:p>
          <a:p>
            <a:endParaRPr lang="en-US" dirty="0"/>
          </a:p>
          <a:p>
            <a:r>
              <a:rPr lang="en-US" dirty="0"/>
              <a:t>TRANSITION</a:t>
            </a:r>
          </a:p>
          <a:p>
            <a:endParaRPr lang="en-US" dirty="0"/>
          </a:p>
          <a:p>
            <a:r>
              <a:rPr lang="en-US" dirty="0"/>
              <a:t>"Now that we understand the cloud service models..."</a:t>
            </a:r>
          </a:p>
          <a:p>
            <a:endParaRPr lang="en-US" dirty="0"/>
          </a:p>
          <a:p>
            <a:r>
              <a:rPr lang="en-US" dirty="0"/>
              <a:t>"It's time to see how they work together."</a:t>
            </a:r>
          </a:p>
          <a:p>
            <a:endParaRPr lang="en-US" dirty="0"/>
          </a:p>
          <a:p>
            <a:r>
              <a:rPr lang="en-US" dirty="0"/>
              <a:t>"Our next topic..."</a:t>
            </a:r>
          </a:p>
          <a:p>
            <a:endParaRPr lang="en-US" dirty="0"/>
          </a:p>
          <a:p>
            <a:r>
              <a:rPr lang="en-US" dirty="0"/>
              <a:t>"Modern SaaS Architecture."</a:t>
            </a:r>
          </a:p>
          <a:p>
            <a:endParaRPr lang="en-US" dirty="0"/>
          </a:p>
          <a:p>
            <a:r>
              <a:rPr lang="en-US" dirty="0"/>
              <a:t>"We're finally going to look behind the browser and see what powers the</a:t>
            </a:r>
          </a:p>
          <a:p>
            <a:r>
              <a:rPr lang="en-US" dirty="0"/>
              <a:t>applications we use every day."</a:t>
            </a:r>
          </a:p>
          <a:p>
            <a:endParaRPr lang="en-US" dirty="0"/>
          </a:p>
          <a:p>
            <a:r>
              <a:rPr lang="en-US" dirty="0"/>
              <a:t>------------------------------------------------------------</a:t>
            </a:r>
          </a:p>
          <a:p>
            <a:endParaRPr lang="en-US" dirty="0"/>
          </a:p>
          <a:p>
            <a:r>
              <a:rPr lang="en-US" dirty="0"/>
              <a:t>ESTIMATED TIME</a:t>
            </a:r>
          </a:p>
          <a:p>
            <a:endParaRPr lang="en-US" dirty="0"/>
          </a:p>
          <a:p>
            <a:r>
              <a:rPr lang="en-US" dirty="0"/>
              <a:t>Opening......................5 minutes</a:t>
            </a:r>
          </a:p>
          <a:p>
            <a:endParaRPr lang="en-US" dirty="0"/>
          </a:p>
          <a:p>
            <a:r>
              <a:rPr lang="en-US" dirty="0"/>
              <a:t>Cloud Stack.................10 minutes</a:t>
            </a:r>
          </a:p>
          <a:p>
            <a:endParaRPr lang="en-US" dirty="0"/>
          </a:p>
          <a:p>
            <a:r>
              <a:rPr lang="en-US" dirty="0"/>
              <a:t>Service Models..............15 minutes</a:t>
            </a:r>
          </a:p>
          <a:p>
            <a:endParaRPr lang="en-US" dirty="0"/>
          </a:p>
          <a:p>
            <a:r>
              <a:rPr lang="en-US" dirty="0"/>
              <a:t>Discussion...................8 minutes</a:t>
            </a:r>
          </a:p>
          <a:p>
            <a:endParaRPr lang="en-US" dirty="0"/>
          </a:p>
          <a:p>
            <a:r>
              <a:rPr lang="en-US" dirty="0"/>
              <a:t>Engineering Story............4 minutes</a:t>
            </a:r>
          </a:p>
          <a:p>
            <a:endParaRPr lang="en-US" dirty="0"/>
          </a:p>
          <a:p>
            <a:r>
              <a:rPr lang="en-US" dirty="0"/>
              <a:t>Transition...................2 minutes</a:t>
            </a:r>
          </a:p>
          <a:p>
            <a:endParaRPr lang="en-US" dirty="0"/>
          </a:p>
          <a:p>
            <a:r>
              <a:rPr lang="en-US" dirty="0"/>
              <a:t>Total........................44 minutes</a:t>
            </a:r>
          </a:p>
          <a:p>
            <a:endParaRPr lang="en-US" dirty="0"/>
          </a:p>
          <a:p>
            <a:r>
              <a:rPr lang="en-US" dirty="0"/>
              <a:t>------------------------------------------------------------</a:t>
            </a:r>
          </a:p>
          <a:p>
            <a:endParaRPr lang="en-US" dirty="0"/>
          </a:p>
          <a:p>
            <a:r>
              <a:rPr lang="en-US" dirty="0"/>
              <a:t>INSTRUCTOR NOTES</a:t>
            </a:r>
          </a:p>
          <a:p>
            <a:endParaRPr lang="en-US" dirty="0"/>
          </a:p>
          <a:p>
            <a:r>
              <a:rPr lang="en-US" dirty="0"/>
              <a:t>Do not teach this as three separate definitions.</a:t>
            </a:r>
          </a:p>
          <a:p>
            <a:endParaRPr lang="en-US" dirty="0"/>
          </a:p>
          <a:p>
            <a:r>
              <a:rPr lang="en-US" dirty="0"/>
              <a:t>Teach it as one continuum.</a:t>
            </a:r>
          </a:p>
          <a:p>
            <a:endParaRPr lang="en-US" dirty="0"/>
          </a:p>
          <a:p>
            <a:r>
              <a:rPr lang="en-US" dirty="0"/>
              <a:t>Keep returning to the central idea:</a:t>
            </a:r>
          </a:p>
          <a:p>
            <a:endParaRPr lang="en-US" dirty="0"/>
          </a:p>
          <a:p>
            <a:r>
              <a:rPr lang="en-US" dirty="0"/>
              <a:t>More control = More responsibility.</a:t>
            </a:r>
          </a:p>
          <a:p>
            <a:endParaRPr lang="en-US" dirty="0"/>
          </a:p>
          <a:p>
            <a:r>
              <a:rPr lang="en-US" dirty="0"/>
              <a:t>Use the apartment, food truck, and house analogies throughout the</a:t>
            </a:r>
          </a:p>
          <a:p>
            <a:r>
              <a:rPr lang="en-US" dirty="0"/>
              <a:t>lecture.</a:t>
            </a:r>
          </a:p>
          <a:p>
            <a:endParaRPr lang="en-US" dirty="0"/>
          </a:p>
          <a:p>
            <a:r>
              <a:rPr lang="en-US" dirty="0"/>
              <a:t>Ask students questions frequently.</a:t>
            </a:r>
          </a:p>
          <a:p>
            <a:endParaRPr lang="en-US" dirty="0"/>
          </a:p>
          <a:p>
            <a:r>
              <a:rPr lang="en-US" dirty="0"/>
              <a:t>Encourage them to explain their reasoning.</a:t>
            </a:r>
          </a:p>
          <a:p>
            <a:endParaRPr lang="en-US" dirty="0"/>
          </a:p>
          <a:p>
            <a:r>
              <a:rPr lang="en-US" dirty="0"/>
              <a:t>This lecture is successful when students can confidently recommend the</a:t>
            </a:r>
          </a:p>
          <a:p>
            <a:r>
              <a:rPr lang="en-US" dirty="0"/>
              <a:t>appropriate cloud model for a real-world scenario.</a:t>
            </a:r>
          </a:p>
          <a:p>
            <a:endParaRPr lang="en-US" dirty="0"/>
          </a:p>
          <a:p>
            <a:r>
              <a:rPr lang="en-US" dirty="0"/>
              <a:t>Close with:</a:t>
            </a:r>
          </a:p>
          <a:p>
            <a:endParaRPr lang="en-US" dirty="0"/>
          </a:p>
          <a:p>
            <a:r>
              <a:rPr lang="en-US" dirty="0"/>
              <a:t>"The cloud gives us choices.</a:t>
            </a:r>
          </a:p>
          <a:p>
            <a:endParaRPr lang="en-US" dirty="0"/>
          </a:p>
          <a:p>
            <a:r>
              <a:rPr lang="en-US" dirty="0"/>
              <a:t>Great engineers know which choice is right for the problem they are</a:t>
            </a:r>
          </a:p>
          <a:p>
            <a:r>
              <a:rPr lang="en-US" dirty="0"/>
              <a:t>solving."</a:t>
            </a:r>
          </a:p>
          <a:p>
            <a:endParaRPr lang="en-US" dirty="0"/>
          </a:p>
          <a:p>
            <a:r>
              <a:rPr lang="en-US" dirty="0"/>
              <a:t>============================================================</a:t>
            </a:r>
          </a:p>
          <a:p>
            <a:r>
              <a:rPr lang="en-US" dirty="0"/>
              <a:t>⭐ Atlas Teaching Tip</a:t>
            </a:r>
          </a:p>
          <a:p>
            <a:r>
              <a:rPr lang="en-US" dirty="0"/>
              <a:t>I think this slide should end with one sentence that students will remember:</a:t>
            </a:r>
          </a:p>
          <a:p>
            <a:r>
              <a:rPr lang="en-US" b="1" dirty="0"/>
              <a:t>"SaaS lets you use software. PaaS lets you build software. IaaS lets you build the foundation that software runs on."</a:t>
            </a:r>
            <a:endParaRPr lang="en-US" dirty="0"/>
          </a:p>
          <a:p>
            <a:endParaRPr lang="en-US" dirty="0"/>
          </a:p>
        </p:txBody>
      </p:sp>
      <p:sp>
        <p:nvSpPr>
          <p:cNvPr id="4" name="Slide Number Placeholder 3"/>
          <p:cNvSpPr>
            <a:spLocks noGrp="1"/>
          </p:cNvSpPr>
          <p:nvPr>
            <p:ph type="sldNum" sz="quarter" idx="5"/>
          </p:nvPr>
        </p:nvSpPr>
        <p:spPr/>
        <p:txBody>
          <a:bodyPr/>
          <a:lstStyle/>
          <a:p>
            <a:fld id="{D23464B6-418B-4A24-AB2E-F540793FE320}" type="slidenum">
              <a:rPr lang="en-US" smtClean="0"/>
              <a:t>4</a:t>
            </a:fld>
            <a:endParaRPr lang="en-US"/>
          </a:p>
        </p:txBody>
      </p:sp>
    </p:spTree>
    <p:extLst>
      <p:ext uri="{BB962C8B-B14F-4D97-AF65-F5344CB8AC3E}">
        <p14:creationId xmlns:p14="http://schemas.microsoft.com/office/powerpoint/2010/main" val="34519729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ARTIFACT XXVIII</a:t>
            </a:r>
          </a:p>
          <a:p>
            <a:endParaRPr lang="en-US" dirty="0"/>
          </a:p>
          <a:p>
            <a:r>
              <a:rPr lang="en-US" dirty="0"/>
              <a:t>MODERN SAAS ARCHITECTURE</a:t>
            </a:r>
          </a:p>
          <a:p>
            <a:endParaRPr lang="en-US" dirty="0"/>
          </a:p>
          <a:p>
            <a:r>
              <a:rPr lang="en-US" dirty="0"/>
              <a:t>============================================================</a:t>
            </a:r>
          </a:p>
          <a:p>
            <a:endParaRPr lang="en-US" dirty="0"/>
          </a:p>
          <a:p>
            <a:r>
              <a:rPr lang="en-US" dirty="0"/>
              <a:t>SLIDE PURPOSE</a:t>
            </a:r>
          </a:p>
          <a:p>
            <a:endParaRPr lang="en-US" dirty="0"/>
          </a:p>
          <a:p>
            <a:r>
              <a:rPr lang="en-US" dirty="0"/>
              <a:t>Introduce students to the high-level architecture of a modern Software</a:t>
            </a:r>
          </a:p>
          <a:p>
            <a:r>
              <a:rPr lang="en-US" dirty="0"/>
              <a:t>as a Service (SaaS) application.</a:t>
            </a:r>
          </a:p>
          <a:p>
            <a:endParaRPr lang="en-US" dirty="0"/>
          </a:p>
          <a:p>
            <a:r>
              <a:rPr lang="en-US" dirty="0"/>
              <a:t>Students should understand that cloud applications are not a single</a:t>
            </a:r>
          </a:p>
          <a:p>
            <a:r>
              <a:rPr lang="en-US" dirty="0"/>
              <a:t>program running on one computer. Instead, they are composed of multiple</a:t>
            </a:r>
          </a:p>
          <a:p>
            <a:r>
              <a:rPr lang="en-US" dirty="0"/>
              <a:t>services working together to provide a reliable, secure, and scalable</a:t>
            </a:r>
          </a:p>
          <a:p>
            <a:r>
              <a:rPr lang="en-US" dirty="0"/>
              <a:t>experience.</a:t>
            </a:r>
          </a:p>
          <a:p>
            <a:endParaRPr lang="en-US" dirty="0"/>
          </a:p>
          <a:p>
            <a:r>
              <a:rPr lang="en-US" dirty="0"/>
              <a:t>By the end of this lesson, students should be able to describe the</a:t>
            </a:r>
          </a:p>
          <a:p>
            <a:r>
              <a:rPr lang="en-US" dirty="0"/>
              <a:t>journey of a user request from a browser through the cloud and back</a:t>
            </a:r>
          </a:p>
          <a:p>
            <a:r>
              <a:rPr lang="en-US" dirty="0"/>
              <a:t>again.</a:t>
            </a:r>
          </a:p>
          <a:p>
            <a:endParaRPr lang="en-US" dirty="0"/>
          </a:p>
          <a:p>
            <a:r>
              <a:rPr lang="en-US" dirty="0"/>
              <a:t>------------------------------------------------------------</a:t>
            </a:r>
          </a:p>
          <a:p>
            <a:endParaRPr lang="en-US" dirty="0"/>
          </a:p>
          <a:p>
            <a:r>
              <a:rPr lang="en-US" dirty="0"/>
              <a:t>OPENING</a:t>
            </a:r>
          </a:p>
          <a:p>
            <a:endParaRPr lang="en-US" dirty="0"/>
          </a:p>
          <a:p>
            <a:r>
              <a:rPr lang="en-US" dirty="0"/>
              <a:t>"I'd like everyone to imagine something."</a:t>
            </a:r>
          </a:p>
          <a:p>
            <a:endParaRPr lang="en-US" dirty="0"/>
          </a:p>
          <a:p>
            <a:r>
              <a:rPr lang="en-US" dirty="0"/>
              <a:t>"You open your browser."</a:t>
            </a:r>
          </a:p>
          <a:p>
            <a:endParaRPr lang="en-US" dirty="0"/>
          </a:p>
          <a:p>
            <a:r>
              <a:rPr lang="en-US" dirty="0"/>
              <a:t>"You navigate to GitHub."</a:t>
            </a:r>
          </a:p>
          <a:p>
            <a:endParaRPr lang="en-US" dirty="0"/>
          </a:p>
          <a:p>
            <a:r>
              <a:rPr lang="en-US" dirty="0"/>
              <a:t>"You sign into Microsoft Teams."</a:t>
            </a:r>
          </a:p>
          <a:p>
            <a:endParaRPr lang="en-US" dirty="0"/>
          </a:p>
          <a:p>
            <a:r>
              <a:rPr lang="en-US" dirty="0"/>
              <a:t>"You ask ChatGPT a question."</a:t>
            </a:r>
          </a:p>
          <a:p>
            <a:endParaRPr lang="en-US" dirty="0"/>
          </a:p>
          <a:p>
            <a:r>
              <a:rPr lang="en-US" dirty="0"/>
              <a:t>"Or maybe you watch a movie on Netflix."</a:t>
            </a:r>
          </a:p>
          <a:p>
            <a:endParaRPr lang="en-US" dirty="0"/>
          </a:p>
          <a:p>
            <a:r>
              <a:rPr lang="en-US" dirty="0"/>
              <a:t>Pause.</a:t>
            </a:r>
          </a:p>
          <a:p>
            <a:endParaRPr lang="en-US" dirty="0"/>
          </a:p>
          <a:p>
            <a:r>
              <a:rPr lang="en-US" dirty="0"/>
              <a:t>"Have you ever wondered what actually happens after you press Enter?"</a:t>
            </a:r>
          </a:p>
          <a:p>
            <a:endParaRPr lang="en-US" dirty="0"/>
          </a:p>
          <a:p>
            <a:r>
              <a:rPr lang="en-US" dirty="0"/>
              <a:t>"Today we're going behind the curtain."</a:t>
            </a:r>
          </a:p>
          <a:p>
            <a:endParaRPr lang="en-US" dirty="0"/>
          </a:p>
          <a:p>
            <a:r>
              <a:rPr lang="en-US" dirty="0"/>
              <a:t>"We're going to follow a request through a modern SaaS application."</a:t>
            </a:r>
          </a:p>
          <a:p>
            <a:endParaRPr lang="en-US" dirty="0"/>
          </a:p>
          <a:p>
            <a:r>
              <a:rPr lang="en-US" dirty="0"/>
              <a:t>------------------------------------------------------------</a:t>
            </a:r>
          </a:p>
          <a:p>
            <a:endParaRPr lang="en-US" dirty="0"/>
          </a:p>
          <a:p>
            <a:r>
              <a:rPr lang="en-US" dirty="0"/>
              <a:t>THE BIG IDEA</a:t>
            </a:r>
          </a:p>
          <a:p>
            <a:endParaRPr lang="en-US" dirty="0"/>
          </a:p>
          <a:p>
            <a:r>
              <a:rPr lang="en-US" dirty="0"/>
              <a:t>Read the hero statement.</a:t>
            </a:r>
          </a:p>
          <a:p>
            <a:endParaRPr lang="en-US" dirty="0"/>
          </a:p>
          <a:p>
            <a:r>
              <a:rPr lang="en-US" dirty="0"/>
              <a:t>"Modern SaaS applications are designed to be scalable, secure, and</a:t>
            </a:r>
          </a:p>
          <a:p>
            <a:r>
              <a:rPr lang="en-US" dirty="0"/>
              <a:t>reliable."</a:t>
            </a:r>
          </a:p>
          <a:p>
            <a:endParaRPr lang="en-US" dirty="0"/>
          </a:p>
          <a:p>
            <a:r>
              <a:rPr lang="en-US" dirty="0"/>
              <a:t>Explain that these applications are built from layers.</a:t>
            </a:r>
          </a:p>
          <a:p>
            <a:endParaRPr lang="en-US" dirty="0"/>
          </a:p>
          <a:p>
            <a:r>
              <a:rPr lang="en-US" dirty="0"/>
              <a:t>Each layer has a specific responsibility.</a:t>
            </a:r>
          </a:p>
          <a:p>
            <a:endParaRPr lang="en-US" dirty="0"/>
          </a:p>
          <a:p>
            <a:r>
              <a:rPr lang="en-US" dirty="0"/>
              <a:t>Together, those layers create the experience users enjoy every day.</a:t>
            </a:r>
          </a:p>
          <a:p>
            <a:endParaRPr lang="en-US" dirty="0"/>
          </a:p>
          <a:p>
            <a:r>
              <a:rPr lang="en-US" dirty="0"/>
              <a:t>------------------------------------------------------------</a:t>
            </a:r>
          </a:p>
          <a:p>
            <a:endParaRPr lang="en-US" dirty="0"/>
          </a:p>
          <a:p>
            <a:r>
              <a:rPr lang="en-US" dirty="0"/>
              <a:t>CLIENT LAYER</a:t>
            </a:r>
          </a:p>
          <a:p>
            <a:endParaRPr lang="en-US" dirty="0"/>
          </a:p>
          <a:p>
            <a:r>
              <a:rPr lang="en-US" dirty="0"/>
              <a:t>Begin at the top.</a:t>
            </a:r>
          </a:p>
          <a:p>
            <a:endParaRPr lang="en-US" dirty="0"/>
          </a:p>
          <a:p>
            <a:r>
              <a:rPr lang="en-US" dirty="0"/>
              <a:t>Everything starts with the user.</a:t>
            </a:r>
          </a:p>
          <a:p>
            <a:endParaRPr lang="en-US" dirty="0"/>
          </a:p>
          <a:p>
            <a:r>
              <a:rPr lang="en-US" dirty="0"/>
              <a:t>Desktop computers.</a:t>
            </a:r>
          </a:p>
          <a:p>
            <a:endParaRPr lang="en-US" dirty="0"/>
          </a:p>
          <a:p>
            <a:r>
              <a:rPr lang="en-US" dirty="0"/>
              <a:t>Laptops.</a:t>
            </a:r>
          </a:p>
          <a:p>
            <a:endParaRPr lang="en-US" dirty="0"/>
          </a:p>
          <a:p>
            <a:r>
              <a:rPr lang="en-US" dirty="0"/>
              <a:t>Phones.</a:t>
            </a:r>
          </a:p>
          <a:p>
            <a:endParaRPr lang="en-US" dirty="0"/>
          </a:p>
          <a:p>
            <a:r>
              <a:rPr lang="en-US" dirty="0"/>
              <a:t>Tablets.</a:t>
            </a:r>
          </a:p>
          <a:p>
            <a:endParaRPr lang="en-US" dirty="0"/>
          </a:p>
          <a:p>
            <a:r>
              <a:rPr lang="en-US" dirty="0"/>
              <a:t>Web browsers.</a:t>
            </a:r>
          </a:p>
          <a:p>
            <a:endParaRPr lang="en-US" dirty="0"/>
          </a:p>
          <a:p>
            <a:r>
              <a:rPr lang="en-US" dirty="0"/>
              <a:t>Native mobile applications.</a:t>
            </a:r>
          </a:p>
          <a:p>
            <a:endParaRPr lang="en-US" dirty="0"/>
          </a:p>
          <a:p>
            <a:r>
              <a:rPr lang="en-US" dirty="0"/>
              <a:t>API clients.</a:t>
            </a:r>
          </a:p>
          <a:p>
            <a:endParaRPr lang="en-US" dirty="0"/>
          </a:p>
          <a:p>
            <a:r>
              <a:rPr lang="en-US" dirty="0"/>
              <a:t>Explain:</a:t>
            </a:r>
          </a:p>
          <a:p>
            <a:endParaRPr lang="en-US" dirty="0"/>
          </a:p>
          <a:p>
            <a:r>
              <a:rPr lang="en-US" dirty="0"/>
              <a:t>No matter what device someone uses...</a:t>
            </a:r>
          </a:p>
          <a:p>
            <a:endParaRPr lang="en-US" dirty="0"/>
          </a:p>
          <a:p>
            <a:r>
              <a:rPr lang="en-US" dirty="0"/>
              <a:t>Every request begins here.</a:t>
            </a:r>
          </a:p>
          <a:p>
            <a:endParaRPr lang="en-US" dirty="0"/>
          </a:p>
          <a:p>
            <a:r>
              <a:rPr lang="en-US" dirty="0"/>
              <a:t>------------------------------------------------------------</a:t>
            </a:r>
          </a:p>
          <a:p>
            <a:endParaRPr lang="en-US" dirty="0"/>
          </a:p>
          <a:p>
            <a:r>
              <a:rPr lang="en-US" dirty="0"/>
              <a:t>EDGE / DELIVERY LAYER</a:t>
            </a:r>
          </a:p>
          <a:p>
            <a:endParaRPr lang="en-US" dirty="0"/>
          </a:p>
          <a:p>
            <a:r>
              <a:rPr lang="en-US" dirty="0"/>
              <a:t>Now move to the next layer.</a:t>
            </a:r>
          </a:p>
          <a:p>
            <a:endParaRPr lang="en-US" dirty="0"/>
          </a:p>
          <a:p>
            <a:r>
              <a:rPr lang="en-US" dirty="0"/>
              <a:t>This is responsible for getting requests into the application.</a:t>
            </a:r>
          </a:p>
          <a:p>
            <a:endParaRPr lang="en-US" dirty="0"/>
          </a:p>
          <a:p>
            <a:r>
              <a:rPr lang="en-US" dirty="0"/>
              <a:t>Discuss:</a:t>
            </a:r>
          </a:p>
          <a:p>
            <a:endParaRPr lang="en-US" dirty="0"/>
          </a:p>
          <a:p>
            <a:r>
              <a:rPr lang="en-US" dirty="0"/>
              <a:t>Content Delivery Networks (CDNs)</a:t>
            </a:r>
          </a:p>
          <a:p>
            <a:endParaRPr lang="en-US" dirty="0"/>
          </a:p>
          <a:p>
            <a:r>
              <a:rPr lang="en-US" dirty="0"/>
              <a:t>DNS</a:t>
            </a:r>
          </a:p>
          <a:p>
            <a:endParaRPr lang="en-US" dirty="0"/>
          </a:p>
          <a:p>
            <a:r>
              <a:rPr lang="en-US" dirty="0"/>
              <a:t>Load Balancers</a:t>
            </a:r>
          </a:p>
          <a:p>
            <a:endParaRPr lang="en-US" dirty="0"/>
          </a:p>
          <a:p>
            <a:r>
              <a:rPr lang="en-US" dirty="0"/>
              <a:t>Web Application Firewalls (WAF)</a:t>
            </a:r>
          </a:p>
          <a:p>
            <a:endParaRPr lang="en-US" dirty="0"/>
          </a:p>
          <a:p>
            <a:r>
              <a:rPr lang="en-US" dirty="0"/>
              <a:t>Explain each briefly.</a:t>
            </a:r>
          </a:p>
          <a:p>
            <a:endParaRPr lang="en-US" dirty="0"/>
          </a:p>
          <a:p>
            <a:r>
              <a:rPr lang="en-US" dirty="0"/>
              <a:t>CDN</a:t>
            </a:r>
          </a:p>
          <a:p>
            <a:endParaRPr lang="en-US" dirty="0"/>
          </a:p>
          <a:p>
            <a:r>
              <a:rPr lang="en-US" dirty="0"/>
              <a:t>Delivers content closer to users.</a:t>
            </a:r>
          </a:p>
          <a:p>
            <a:endParaRPr lang="en-US" dirty="0"/>
          </a:p>
          <a:p>
            <a:r>
              <a:rPr lang="en-US" dirty="0"/>
              <a:t>DNS</a:t>
            </a:r>
          </a:p>
          <a:p>
            <a:endParaRPr lang="en-US" dirty="0"/>
          </a:p>
          <a:p>
            <a:r>
              <a:rPr lang="en-US" dirty="0"/>
              <a:t>Finds the application.</a:t>
            </a:r>
          </a:p>
          <a:p>
            <a:endParaRPr lang="en-US" dirty="0"/>
          </a:p>
          <a:p>
            <a:r>
              <a:rPr lang="en-US" dirty="0"/>
              <a:t>Load Balancer</a:t>
            </a:r>
          </a:p>
          <a:p>
            <a:endParaRPr lang="en-US" dirty="0"/>
          </a:p>
          <a:p>
            <a:r>
              <a:rPr lang="en-US" dirty="0"/>
              <a:t>Distributes traffic across servers.</a:t>
            </a:r>
          </a:p>
          <a:p>
            <a:endParaRPr lang="en-US" dirty="0"/>
          </a:p>
          <a:p>
            <a:r>
              <a:rPr lang="en-US" dirty="0"/>
              <a:t>WAF</a:t>
            </a:r>
          </a:p>
          <a:p>
            <a:endParaRPr lang="en-US" dirty="0"/>
          </a:p>
          <a:p>
            <a:r>
              <a:rPr lang="en-US" dirty="0"/>
              <a:t>Protects the application from malicious traffic.</a:t>
            </a:r>
          </a:p>
          <a:p>
            <a:endParaRPr lang="en-US" dirty="0"/>
          </a:p>
          <a:p>
            <a:r>
              <a:rPr lang="en-US" dirty="0"/>
              <a:t>Analogy:</a:t>
            </a:r>
          </a:p>
          <a:p>
            <a:endParaRPr lang="en-US" dirty="0"/>
          </a:p>
          <a:p>
            <a:r>
              <a:rPr lang="en-US" dirty="0"/>
              <a:t>Think of this as the highway system leading customers to your business.</a:t>
            </a:r>
          </a:p>
          <a:p>
            <a:endParaRPr lang="en-US" dirty="0"/>
          </a:p>
          <a:p>
            <a:r>
              <a:rPr lang="en-US" dirty="0"/>
              <a:t>------------------------------------------------------------</a:t>
            </a:r>
          </a:p>
          <a:p>
            <a:endParaRPr lang="en-US" dirty="0"/>
          </a:p>
          <a:p>
            <a:r>
              <a:rPr lang="en-US" dirty="0"/>
              <a:t>APPLICATION LAYER</a:t>
            </a:r>
          </a:p>
          <a:p>
            <a:endParaRPr lang="en-US" dirty="0"/>
          </a:p>
          <a:p>
            <a:r>
              <a:rPr lang="en-US" dirty="0"/>
              <a:t>This is where software engineers spend much of their time.</a:t>
            </a:r>
          </a:p>
          <a:p>
            <a:endParaRPr lang="en-US" dirty="0"/>
          </a:p>
          <a:p>
            <a:r>
              <a:rPr lang="en-US" dirty="0"/>
              <a:t>Business Logic</a:t>
            </a:r>
          </a:p>
          <a:p>
            <a:endParaRPr lang="en-US" dirty="0"/>
          </a:p>
          <a:p>
            <a:r>
              <a:rPr lang="en-US" dirty="0"/>
              <a:t>APIs</a:t>
            </a:r>
          </a:p>
          <a:p>
            <a:endParaRPr lang="en-US" dirty="0"/>
          </a:p>
          <a:p>
            <a:r>
              <a:rPr lang="en-US" dirty="0"/>
              <a:t>Microservices</a:t>
            </a:r>
          </a:p>
          <a:p>
            <a:endParaRPr lang="en-US" dirty="0"/>
          </a:p>
          <a:p>
            <a:r>
              <a:rPr lang="en-US" dirty="0"/>
              <a:t>Background Jobs</a:t>
            </a:r>
          </a:p>
          <a:p>
            <a:endParaRPr lang="en-US" dirty="0"/>
          </a:p>
          <a:p>
            <a:r>
              <a:rPr lang="en-US" dirty="0"/>
              <a:t>Notifications</a:t>
            </a:r>
          </a:p>
          <a:p>
            <a:endParaRPr lang="en-US" dirty="0"/>
          </a:p>
          <a:p>
            <a:r>
              <a:rPr lang="en-US" dirty="0"/>
              <a:t>Explain:</a:t>
            </a:r>
          </a:p>
          <a:p>
            <a:endParaRPr lang="en-US" dirty="0"/>
          </a:p>
          <a:p>
            <a:r>
              <a:rPr lang="en-US" dirty="0"/>
              <a:t>This is where your code lives.</a:t>
            </a:r>
          </a:p>
          <a:p>
            <a:endParaRPr lang="en-US" dirty="0"/>
          </a:p>
          <a:p>
            <a:r>
              <a:rPr lang="en-US" dirty="0"/>
              <a:t>Every feature users interact with eventually reaches this layer.</a:t>
            </a:r>
          </a:p>
          <a:p>
            <a:endParaRPr lang="en-US" dirty="0"/>
          </a:p>
          <a:p>
            <a:r>
              <a:rPr lang="en-US" dirty="0"/>
              <a:t>Shopping carts.</a:t>
            </a:r>
          </a:p>
          <a:p>
            <a:endParaRPr lang="en-US" dirty="0"/>
          </a:p>
          <a:p>
            <a:r>
              <a:rPr lang="en-US" dirty="0"/>
              <a:t>Student records.</a:t>
            </a:r>
          </a:p>
          <a:p>
            <a:endParaRPr lang="en-US" dirty="0"/>
          </a:p>
          <a:p>
            <a:r>
              <a:rPr lang="en-US" dirty="0"/>
              <a:t>Messaging.</a:t>
            </a:r>
          </a:p>
          <a:p>
            <a:endParaRPr lang="en-US" dirty="0"/>
          </a:p>
          <a:p>
            <a:r>
              <a:rPr lang="en-US" dirty="0"/>
              <a:t>Scheduling.</a:t>
            </a:r>
          </a:p>
          <a:p>
            <a:endParaRPr lang="en-US" dirty="0"/>
          </a:p>
          <a:p>
            <a:r>
              <a:rPr lang="en-US" dirty="0"/>
              <a:t>Inventory.</a:t>
            </a:r>
          </a:p>
          <a:p>
            <a:endParaRPr lang="en-US" dirty="0"/>
          </a:p>
          <a:p>
            <a:r>
              <a:rPr lang="en-US" dirty="0"/>
              <a:t>Authentication.</a:t>
            </a:r>
          </a:p>
          <a:p>
            <a:endParaRPr lang="en-US" dirty="0"/>
          </a:p>
          <a:p>
            <a:r>
              <a:rPr lang="en-US" dirty="0"/>
              <a:t>These are all implemented here.</a:t>
            </a:r>
          </a:p>
          <a:p>
            <a:endParaRPr lang="en-US" dirty="0"/>
          </a:p>
          <a:p>
            <a:r>
              <a:rPr lang="en-US" dirty="0"/>
              <a:t>------------------------------------------------------------</a:t>
            </a:r>
          </a:p>
          <a:p>
            <a:endParaRPr lang="en-US" dirty="0"/>
          </a:p>
          <a:p>
            <a:r>
              <a:rPr lang="en-US" dirty="0"/>
              <a:t>DATA LAYER</a:t>
            </a:r>
          </a:p>
          <a:p>
            <a:endParaRPr lang="en-US" dirty="0"/>
          </a:p>
          <a:p>
            <a:r>
              <a:rPr lang="en-US" dirty="0"/>
              <a:t>Applications need information.</a:t>
            </a:r>
          </a:p>
          <a:p>
            <a:endParaRPr lang="en-US" dirty="0"/>
          </a:p>
          <a:p>
            <a:r>
              <a:rPr lang="en-US" dirty="0"/>
              <a:t>Discuss:</a:t>
            </a:r>
          </a:p>
          <a:p>
            <a:endParaRPr lang="en-US" dirty="0"/>
          </a:p>
          <a:p>
            <a:r>
              <a:rPr lang="en-US" dirty="0"/>
              <a:t>Relational Databases</a:t>
            </a:r>
          </a:p>
          <a:p>
            <a:endParaRPr lang="en-US" dirty="0"/>
          </a:p>
          <a:p>
            <a:r>
              <a:rPr lang="en-US" dirty="0"/>
              <a:t>NoSQL Databases</a:t>
            </a:r>
          </a:p>
          <a:p>
            <a:endParaRPr lang="en-US" dirty="0"/>
          </a:p>
          <a:p>
            <a:r>
              <a:rPr lang="en-US" dirty="0"/>
              <a:t>Caching</a:t>
            </a:r>
          </a:p>
          <a:p>
            <a:endParaRPr lang="en-US" dirty="0"/>
          </a:p>
          <a:p>
            <a:r>
              <a:rPr lang="en-US" dirty="0"/>
              <a:t>Object Storage</a:t>
            </a:r>
          </a:p>
          <a:p>
            <a:endParaRPr lang="en-US" dirty="0"/>
          </a:p>
          <a:p>
            <a:r>
              <a:rPr lang="en-US" dirty="0"/>
              <a:t>Explain:</a:t>
            </a:r>
          </a:p>
          <a:p>
            <a:endParaRPr lang="en-US" dirty="0"/>
          </a:p>
          <a:p>
            <a:r>
              <a:rPr lang="en-US" dirty="0"/>
              <a:t>Different types of information require different storage solutions.</a:t>
            </a:r>
          </a:p>
          <a:p>
            <a:endParaRPr lang="en-US" dirty="0"/>
          </a:p>
          <a:p>
            <a:r>
              <a:rPr lang="en-US" dirty="0"/>
              <a:t>Structured data belongs in databases.</a:t>
            </a:r>
          </a:p>
          <a:p>
            <a:endParaRPr lang="en-US" dirty="0"/>
          </a:p>
          <a:p>
            <a:r>
              <a:rPr lang="en-US" dirty="0"/>
              <a:t>Images and files belong in object storage.</a:t>
            </a:r>
          </a:p>
          <a:p>
            <a:endParaRPr lang="en-US" dirty="0"/>
          </a:p>
          <a:p>
            <a:r>
              <a:rPr lang="en-US" dirty="0"/>
              <a:t>Frequently used data belongs in cache.</a:t>
            </a:r>
          </a:p>
          <a:p>
            <a:endParaRPr lang="en-US" dirty="0"/>
          </a:p>
          <a:p>
            <a:r>
              <a:rPr lang="en-US" dirty="0"/>
              <a:t>The goal is speed and reliability.</a:t>
            </a:r>
          </a:p>
          <a:p>
            <a:endParaRPr lang="en-US" dirty="0"/>
          </a:p>
          <a:p>
            <a:r>
              <a:rPr lang="en-US" dirty="0"/>
              <a:t>------------------------------------------------------------</a:t>
            </a:r>
          </a:p>
          <a:p>
            <a:endParaRPr lang="en-US" dirty="0"/>
          </a:p>
          <a:p>
            <a:r>
              <a:rPr lang="en-US" dirty="0"/>
              <a:t>INFRASTRUCTURE LAYER</a:t>
            </a:r>
          </a:p>
          <a:p>
            <a:endParaRPr lang="en-US" dirty="0"/>
          </a:p>
          <a:p>
            <a:r>
              <a:rPr lang="en-US" dirty="0"/>
              <a:t>Everything ultimately runs on infrastructure.</a:t>
            </a:r>
          </a:p>
          <a:p>
            <a:endParaRPr lang="en-US" dirty="0"/>
          </a:p>
          <a:p>
            <a:r>
              <a:rPr lang="en-US" dirty="0"/>
              <a:t>Compute</a:t>
            </a:r>
          </a:p>
          <a:p>
            <a:endParaRPr lang="en-US" dirty="0"/>
          </a:p>
          <a:p>
            <a:r>
              <a:rPr lang="en-US" dirty="0"/>
              <a:t>Storage</a:t>
            </a:r>
          </a:p>
          <a:p>
            <a:endParaRPr lang="en-US" dirty="0"/>
          </a:p>
          <a:p>
            <a:r>
              <a:rPr lang="en-US" dirty="0"/>
              <a:t>Networking</a:t>
            </a:r>
          </a:p>
          <a:p>
            <a:endParaRPr lang="en-US" dirty="0"/>
          </a:p>
          <a:p>
            <a:r>
              <a:rPr lang="en-US" dirty="0"/>
              <a:t>Monitoring</a:t>
            </a:r>
          </a:p>
          <a:p>
            <a:endParaRPr lang="en-US" dirty="0"/>
          </a:p>
          <a:p>
            <a:r>
              <a:rPr lang="en-US" dirty="0"/>
              <a:t>Explain:</a:t>
            </a:r>
          </a:p>
          <a:p>
            <a:endParaRPr lang="en-US" dirty="0"/>
          </a:p>
          <a:p>
            <a:r>
              <a:rPr lang="en-US" dirty="0"/>
              <a:t>Cloud providers such as Azure, AWS, and Google Cloud provide these</a:t>
            </a:r>
          </a:p>
          <a:p>
            <a:r>
              <a:rPr lang="en-US" dirty="0"/>
              <a:t>resources.</a:t>
            </a:r>
          </a:p>
          <a:p>
            <a:endParaRPr lang="en-US" dirty="0"/>
          </a:p>
          <a:p>
            <a:r>
              <a:rPr lang="en-US" dirty="0"/>
              <a:t>As engineers, we build applications on top of this foundation.</a:t>
            </a:r>
          </a:p>
          <a:p>
            <a:endParaRPr lang="en-US" dirty="0"/>
          </a:p>
          <a:p>
            <a:r>
              <a:rPr lang="en-US" dirty="0"/>
              <a:t>------------------------------------------------------------</a:t>
            </a:r>
          </a:p>
          <a:p>
            <a:endParaRPr lang="en-US" dirty="0"/>
          </a:p>
          <a:p>
            <a:r>
              <a:rPr lang="en-US" dirty="0"/>
              <a:t>EXTERNAL INTEGRATIONS</a:t>
            </a:r>
          </a:p>
          <a:p>
            <a:endParaRPr lang="en-US" dirty="0"/>
          </a:p>
          <a:p>
            <a:r>
              <a:rPr lang="en-US" dirty="0"/>
              <a:t>Modern applications rarely work alone.</a:t>
            </a:r>
          </a:p>
          <a:p>
            <a:endParaRPr lang="en-US" dirty="0"/>
          </a:p>
          <a:p>
            <a:r>
              <a:rPr lang="en-US" dirty="0"/>
              <a:t>Identity Providers</a:t>
            </a:r>
          </a:p>
          <a:p>
            <a:endParaRPr lang="en-US" dirty="0"/>
          </a:p>
          <a:p>
            <a:r>
              <a:rPr lang="en-US" dirty="0"/>
              <a:t>Payment Gateways</a:t>
            </a:r>
          </a:p>
          <a:p>
            <a:endParaRPr lang="en-US" dirty="0"/>
          </a:p>
          <a:p>
            <a:r>
              <a:rPr lang="en-US" dirty="0"/>
              <a:t>Email Services</a:t>
            </a:r>
          </a:p>
          <a:p>
            <a:endParaRPr lang="en-US" dirty="0"/>
          </a:p>
          <a:p>
            <a:r>
              <a:rPr lang="en-US" dirty="0"/>
              <a:t>Analytics Platforms</a:t>
            </a:r>
          </a:p>
          <a:p>
            <a:endParaRPr lang="en-US" dirty="0"/>
          </a:p>
          <a:p>
            <a:r>
              <a:rPr lang="en-US" dirty="0"/>
              <a:t>Artificial Intelligence Services</a:t>
            </a:r>
          </a:p>
          <a:p>
            <a:endParaRPr lang="en-US" dirty="0"/>
          </a:p>
          <a:p>
            <a:r>
              <a:rPr lang="en-US" dirty="0"/>
              <a:t>Explain:</a:t>
            </a:r>
          </a:p>
          <a:p>
            <a:endParaRPr lang="en-US" dirty="0"/>
          </a:p>
          <a:p>
            <a:r>
              <a:rPr lang="en-US" dirty="0"/>
              <a:t>Professional software connects to many other systems.</a:t>
            </a:r>
          </a:p>
          <a:p>
            <a:endParaRPr lang="en-US" dirty="0"/>
          </a:p>
          <a:p>
            <a:r>
              <a:rPr lang="en-US" dirty="0"/>
              <a:t>We don't reinvent every capability.</a:t>
            </a:r>
          </a:p>
          <a:p>
            <a:endParaRPr lang="en-US" dirty="0"/>
          </a:p>
          <a:p>
            <a:r>
              <a:rPr lang="en-US" dirty="0"/>
              <a:t>We integrate existing services whenever appropriate.</a:t>
            </a:r>
          </a:p>
          <a:p>
            <a:endParaRPr lang="en-US" dirty="0"/>
          </a:p>
          <a:p>
            <a:r>
              <a:rPr lang="en-US" dirty="0"/>
              <a:t>------------------------------------------------------------</a:t>
            </a:r>
          </a:p>
          <a:p>
            <a:endParaRPr lang="en-US" dirty="0"/>
          </a:p>
          <a:p>
            <a:r>
              <a:rPr lang="en-US" dirty="0"/>
              <a:t>KEY CHARACTERISTICS</a:t>
            </a:r>
          </a:p>
          <a:p>
            <a:endParaRPr lang="en-US" dirty="0"/>
          </a:p>
          <a:p>
            <a:r>
              <a:rPr lang="en-US" dirty="0"/>
              <a:t>Review the five principles.</a:t>
            </a:r>
          </a:p>
          <a:p>
            <a:endParaRPr lang="en-US" dirty="0"/>
          </a:p>
          <a:p>
            <a:r>
              <a:rPr lang="en-US" dirty="0"/>
              <a:t>Multi-Tenant by Design</a:t>
            </a:r>
          </a:p>
          <a:p>
            <a:endParaRPr lang="en-US" dirty="0"/>
          </a:p>
          <a:p>
            <a:r>
              <a:rPr lang="en-US" dirty="0"/>
              <a:t>One application.</a:t>
            </a:r>
          </a:p>
          <a:p>
            <a:endParaRPr lang="en-US" dirty="0"/>
          </a:p>
          <a:p>
            <a:r>
              <a:rPr lang="en-US" dirty="0"/>
              <a:t>Many customers.</a:t>
            </a:r>
          </a:p>
          <a:p>
            <a:endParaRPr lang="en-US" dirty="0"/>
          </a:p>
          <a:p>
            <a:r>
              <a:rPr lang="en-US" dirty="0"/>
              <a:t>Tenant Isolation</a:t>
            </a:r>
          </a:p>
          <a:p>
            <a:endParaRPr lang="en-US" dirty="0"/>
          </a:p>
          <a:p>
            <a:r>
              <a:rPr lang="en-US" dirty="0"/>
              <a:t>Each customer's data remains private.</a:t>
            </a:r>
          </a:p>
          <a:p>
            <a:endParaRPr lang="en-US" dirty="0"/>
          </a:p>
          <a:p>
            <a:r>
              <a:rPr lang="en-US" dirty="0"/>
              <a:t>Elastic Scalability</a:t>
            </a:r>
          </a:p>
          <a:p>
            <a:endParaRPr lang="en-US" dirty="0"/>
          </a:p>
          <a:p>
            <a:r>
              <a:rPr lang="en-US" dirty="0"/>
              <a:t>Resources expand and contract automatically.</a:t>
            </a:r>
          </a:p>
          <a:p>
            <a:endParaRPr lang="en-US" dirty="0"/>
          </a:p>
          <a:p>
            <a:r>
              <a:rPr lang="en-US" dirty="0"/>
              <a:t>High Availability</a:t>
            </a:r>
          </a:p>
          <a:p>
            <a:endParaRPr lang="en-US" dirty="0"/>
          </a:p>
          <a:p>
            <a:r>
              <a:rPr lang="en-US" dirty="0"/>
              <a:t>Applications stay online.</a:t>
            </a:r>
          </a:p>
          <a:p>
            <a:endParaRPr lang="en-US" dirty="0"/>
          </a:p>
          <a:p>
            <a:r>
              <a:rPr lang="en-US" dirty="0"/>
              <a:t>Continuous Delivery</a:t>
            </a:r>
          </a:p>
          <a:p>
            <a:endParaRPr lang="en-US" dirty="0"/>
          </a:p>
          <a:p>
            <a:r>
              <a:rPr lang="en-US" dirty="0"/>
              <a:t>Software improves constantly.</a:t>
            </a:r>
          </a:p>
          <a:p>
            <a:endParaRPr lang="en-US" dirty="0"/>
          </a:p>
          <a:p>
            <a:r>
              <a:rPr lang="en-US" dirty="0"/>
              <a:t>Explain:</a:t>
            </a:r>
          </a:p>
          <a:p>
            <a:endParaRPr lang="en-US" dirty="0"/>
          </a:p>
          <a:p>
            <a:r>
              <a:rPr lang="en-US" dirty="0"/>
              <a:t>These characteristics distinguish SaaS from traditional desktop</a:t>
            </a:r>
          </a:p>
          <a:p>
            <a:r>
              <a:rPr lang="en-US" dirty="0"/>
              <a:t>software.</a:t>
            </a:r>
          </a:p>
          <a:p>
            <a:endParaRPr lang="en-US" dirty="0"/>
          </a:p>
          <a:p>
            <a:r>
              <a:rPr lang="en-US" dirty="0"/>
              <a:t>------------------------------------------------------------</a:t>
            </a:r>
          </a:p>
          <a:p>
            <a:endParaRPr lang="en-US" dirty="0"/>
          </a:p>
          <a:p>
            <a:r>
              <a:rPr lang="en-US" dirty="0"/>
              <a:t>ENGINEERING INSIGHT</a:t>
            </a:r>
          </a:p>
          <a:p>
            <a:endParaRPr lang="en-US" dirty="0"/>
          </a:p>
          <a:p>
            <a:r>
              <a:rPr lang="en-US" dirty="0"/>
              <a:t>Read the Engineering Insight.</a:t>
            </a:r>
          </a:p>
          <a:p>
            <a:endParaRPr lang="en-US" dirty="0"/>
          </a:p>
          <a:p>
            <a:r>
              <a:rPr lang="en-US" dirty="0"/>
              <a:t>"Modern SaaS architecture allows a small engineering team to build</a:t>
            </a:r>
          </a:p>
          <a:p>
            <a:r>
              <a:rPr lang="en-US" dirty="0"/>
              <a:t>software that can serve thousands—or even millions—of users."</a:t>
            </a:r>
          </a:p>
          <a:p>
            <a:endParaRPr lang="en-US" dirty="0"/>
          </a:p>
          <a:p>
            <a:r>
              <a:rPr lang="en-US" dirty="0"/>
              <a:t>Explain:</a:t>
            </a:r>
          </a:p>
          <a:p>
            <a:endParaRPr lang="en-US" dirty="0"/>
          </a:p>
          <a:p>
            <a:r>
              <a:rPr lang="en-US" dirty="0"/>
              <a:t>Architecture isn't just about technology.</a:t>
            </a:r>
          </a:p>
          <a:p>
            <a:endParaRPr lang="en-US" dirty="0"/>
          </a:p>
          <a:p>
            <a:r>
              <a:rPr lang="en-US" dirty="0"/>
              <a:t>It's about making software dependable, maintainable, and scalable.</a:t>
            </a:r>
          </a:p>
          <a:p>
            <a:endParaRPr lang="en-US" dirty="0"/>
          </a:p>
          <a:p>
            <a:r>
              <a:rPr lang="en-US" dirty="0"/>
              <a:t>------------------------------------------------------------</a:t>
            </a:r>
          </a:p>
          <a:p>
            <a:endParaRPr lang="en-US" dirty="0"/>
          </a:p>
          <a:p>
            <a:r>
              <a:rPr lang="en-US" dirty="0"/>
              <a:t>REAL-WORLD EXAMPLES</a:t>
            </a:r>
          </a:p>
          <a:p>
            <a:endParaRPr lang="en-US" dirty="0"/>
          </a:p>
          <a:p>
            <a:r>
              <a:rPr lang="en-US" dirty="0"/>
              <a:t>Point to the examples.</a:t>
            </a:r>
          </a:p>
          <a:p>
            <a:endParaRPr lang="en-US" dirty="0"/>
          </a:p>
          <a:p>
            <a:r>
              <a:rPr lang="en-US" dirty="0"/>
              <a:t>Microsoft 365</a:t>
            </a:r>
          </a:p>
          <a:p>
            <a:endParaRPr lang="en-US" dirty="0"/>
          </a:p>
          <a:p>
            <a:r>
              <a:rPr lang="en-US" dirty="0"/>
              <a:t>Salesforce</a:t>
            </a:r>
          </a:p>
          <a:p>
            <a:endParaRPr lang="en-US" dirty="0"/>
          </a:p>
          <a:p>
            <a:r>
              <a:rPr lang="en-US" dirty="0"/>
              <a:t>Slack</a:t>
            </a:r>
          </a:p>
          <a:p>
            <a:endParaRPr lang="en-US" dirty="0"/>
          </a:p>
          <a:p>
            <a:r>
              <a:rPr lang="en-US" dirty="0"/>
              <a:t>Ask:</a:t>
            </a:r>
          </a:p>
          <a:p>
            <a:endParaRPr lang="en-US" dirty="0"/>
          </a:p>
          <a:p>
            <a:r>
              <a:rPr lang="en-US" dirty="0"/>
              <a:t>"What architectural components do you think these companies have in</a:t>
            </a:r>
          </a:p>
          <a:p>
            <a:r>
              <a:rPr lang="en-US" dirty="0"/>
              <a:t>common?"</a:t>
            </a:r>
          </a:p>
          <a:p>
            <a:endParaRPr lang="en-US" dirty="0"/>
          </a:p>
          <a:p>
            <a:r>
              <a:rPr lang="en-US" dirty="0"/>
              <a:t>Guide discussion.</a:t>
            </a:r>
          </a:p>
          <a:p>
            <a:endParaRPr lang="en-US" dirty="0"/>
          </a:p>
          <a:p>
            <a:r>
              <a:rPr lang="en-US" dirty="0"/>
              <a:t>Students should recognize:</a:t>
            </a:r>
          </a:p>
          <a:p>
            <a:endParaRPr lang="en-US" dirty="0"/>
          </a:p>
          <a:p>
            <a:r>
              <a:rPr lang="en-US" dirty="0"/>
              <a:t>Authentication</a:t>
            </a:r>
          </a:p>
          <a:p>
            <a:endParaRPr lang="en-US" dirty="0"/>
          </a:p>
          <a:p>
            <a:r>
              <a:rPr lang="en-US" dirty="0"/>
              <a:t>Databases</a:t>
            </a:r>
          </a:p>
          <a:p>
            <a:endParaRPr lang="en-US" dirty="0"/>
          </a:p>
          <a:p>
            <a:r>
              <a:rPr lang="en-US" dirty="0"/>
              <a:t>APIs</a:t>
            </a:r>
          </a:p>
          <a:p>
            <a:endParaRPr lang="en-US" dirty="0"/>
          </a:p>
          <a:p>
            <a:r>
              <a:rPr lang="en-US" dirty="0"/>
              <a:t>Load balancing</a:t>
            </a:r>
          </a:p>
          <a:p>
            <a:endParaRPr lang="en-US" dirty="0"/>
          </a:p>
          <a:p>
            <a:r>
              <a:rPr lang="en-US" dirty="0"/>
              <a:t>Cloud infrastructure</a:t>
            </a:r>
          </a:p>
          <a:p>
            <a:endParaRPr lang="en-US" dirty="0"/>
          </a:p>
          <a:p>
            <a:r>
              <a:rPr lang="en-US" dirty="0"/>
              <a:t>Monitoring</a:t>
            </a:r>
          </a:p>
          <a:p>
            <a:endParaRPr lang="en-US" dirty="0"/>
          </a:p>
          <a:p>
            <a:r>
              <a:rPr lang="en-US" dirty="0"/>
              <a:t>------------------------------------------------------------</a:t>
            </a:r>
          </a:p>
          <a:p>
            <a:endParaRPr lang="en-US" dirty="0"/>
          </a:p>
          <a:p>
            <a:r>
              <a:rPr lang="en-US" dirty="0"/>
              <a:t>ENGINEERING STORY</a:t>
            </a:r>
          </a:p>
          <a:p>
            <a:endParaRPr lang="en-US" dirty="0"/>
          </a:p>
          <a:p>
            <a:r>
              <a:rPr lang="en-US" dirty="0"/>
              <a:t>Share one of your own deployment experiences.</a:t>
            </a:r>
          </a:p>
          <a:p>
            <a:endParaRPr lang="en-US" dirty="0"/>
          </a:p>
          <a:p>
            <a:r>
              <a:rPr lang="en-US" dirty="0"/>
              <a:t>Example:</a:t>
            </a:r>
          </a:p>
          <a:p>
            <a:endParaRPr lang="en-US" dirty="0"/>
          </a:p>
          <a:p>
            <a:r>
              <a:rPr lang="en-US" dirty="0"/>
              <a:t>"The first time I published a web application..."</a:t>
            </a:r>
          </a:p>
          <a:p>
            <a:endParaRPr lang="en-US" dirty="0"/>
          </a:p>
          <a:p>
            <a:r>
              <a:rPr lang="en-US" dirty="0"/>
              <a:t>"I thought the web server WAS the application."</a:t>
            </a:r>
          </a:p>
          <a:p>
            <a:endParaRPr lang="en-US" dirty="0"/>
          </a:p>
          <a:p>
            <a:r>
              <a:rPr lang="en-US" dirty="0"/>
              <a:t>"I quickly discovered there were databases, authentication services,</a:t>
            </a:r>
          </a:p>
          <a:p>
            <a:r>
              <a:rPr lang="en-US" dirty="0"/>
              <a:t>logging, monitoring, backups, and cloud infrastructure working together</a:t>
            </a:r>
          </a:p>
          <a:p>
            <a:r>
              <a:rPr lang="en-US" dirty="0"/>
              <a:t>behind the scenes."</a:t>
            </a:r>
          </a:p>
          <a:p>
            <a:endParaRPr lang="en-US" dirty="0"/>
          </a:p>
          <a:p>
            <a:r>
              <a:rPr lang="en-US" dirty="0"/>
              <a:t>Explain that understanding architecture changes how engineers think</a:t>
            </a:r>
          </a:p>
          <a:p>
            <a:r>
              <a:rPr lang="en-US" dirty="0"/>
              <a:t>about software.</a:t>
            </a:r>
          </a:p>
          <a:p>
            <a:endParaRPr lang="en-US" dirty="0"/>
          </a:p>
          <a:p>
            <a:r>
              <a:rPr lang="en-US" dirty="0"/>
              <a:t>------------------------------------------------------------</a:t>
            </a:r>
          </a:p>
          <a:p>
            <a:endParaRPr lang="en-US" dirty="0"/>
          </a:p>
          <a:p>
            <a:r>
              <a:rPr lang="en-US" dirty="0"/>
              <a:t>ENGINEERING LESSON</a:t>
            </a:r>
          </a:p>
          <a:p>
            <a:endParaRPr lang="en-US" dirty="0"/>
          </a:p>
          <a:p>
            <a:r>
              <a:rPr lang="en-US" dirty="0"/>
              <a:t>Professional software isn't just code.</a:t>
            </a:r>
          </a:p>
          <a:p>
            <a:endParaRPr lang="en-US" dirty="0"/>
          </a:p>
          <a:p>
            <a:r>
              <a:rPr lang="en-US" dirty="0"/>
              <a:t>It's a system.</a:t>
            </a:r>
          </a:p>
          <a:p>
            <a:endParaRPr lang="en-US" dirty="0"/>
          </a:p>
          <a:p>
            <a:r>
              <a:rPr lang="en-US" dirty="0"/>
              <a:t>Every layer contributes to the user experience.</a:t>
            </a:r>
          </a:p>
          <a:p>
            <a:endParaRPr lang="en-US" dirty="0"/>
          </a:p>
          <a:p>
            <a:r>
              <a:rPr lang="en-US" dirty="0"/>
              <a:t>The better we understand those layers...</a:t>
            </a:r>
          </a:p>
          <a:p>
            <a:endParaRPr lang="en-US" dirty="0"/>
          </a:p>
          <a:p>
            <a:r>
              <a:rPr lang="en-US" dirty="0"/>
              <a:t>The better software we build.</a:t>
            </a:r>
          </a:p>
          <a:p>
            <a:endParaRPr lang="en-US" dirty="0"/>
          </a:p>
          <a:p>
            <a:r>
              <a:rPr lang="en-US" dirty="0"/>
              <a:t>------------------------------------------------------------</a:t>
            </a:r>
          </a:p>
          <a:p>
            <a:endParaRPr lang="en-US" dirty="0"/>
          </a:p>
          <a:p>
            <a:r>
              <a:rPr lang="en-US" dirty="0"/>
              <a:t>CLASS DISCUSSION</a:t>
            </a:r>
          </a:p>
          <a:p>
            <a:endParaRPr lang="en-US" dirty="0"/>
          </a:p>
          <a:p>
            <a:r>
              <a:rPr lang="en-US" dirty="0"/>
              <a:t>Ask:</a:t>
            </a:r>
          </a:p>
          <a:p>
            <a:endParaRPr lang="en-US" dirty="0"/>
          </a:p>
          <a:p>
            <a:r>
              <a:rPr lang="en-US" dirty="0"/>
              <a:t>"If one of these layers failed..."</a:t>
            </a:r>
          </a:p>
          <a:p>
            <a:endParaRPr lang="en-US" dirty="0"/>
          </a:p>
          <a:p>
            <a:r>
              <a:rPr lang="en-US" dirty="0"/>
              <a:t>"What would users experience?"</a:t>
            </a:r>
          </a:p>
          <a:p>
            <a:endParaRPr lang="en-US" dirty="0"/>
          </a:p>
          <a:p>
            <a:r>
              <a:rPr lang="en-US" dirty="0"/>
              <a:t>Examples:</a:t>
            </a:r>
          </a:p>
          <a:p>
            <a:endParaRPr lang="en-US" dirty="0"/>
          </a:p>
          <a:p>
            <a:r>
              <a:rPr lang="en-US" dirty="0"/>
              <a:t>No Database?</a:t>
            </a:r>
          </a:p>
          <a:p>
            <a:endParaRPr lang="en-US" dirty="0"/>
          </a:p>
          <a:p>
            <a:r>
              <a:rPr lang="en-US" dirty="0"/>
              <a:t>No user information.</a:t>
            </a:r>
          </a:p>
          <a:p>
            <a:endParaRPr lang="en-US" dirty="0"/>
          </a:p>
          <a:p>
            <a:r>
              <a:rPr lang="en-US" dirty="0"/>
              <a:t>No Load Balancer?</a:t>
            </a:r>
          </a:p>
          <a:p>
            <a:endParaRPr lang="en-US" dirty="0"/>
          </a:p>
          <a:p>
            <a:r>
              <a:rPr lang="en-US" dirty="0"/>
              <a:t>Slow performance.</a:t>
            </a:r>
          </a:p>
          <a:p>
            <a:endParaRPr lang="en-US" dirty="0"/>
          </a:p>
          <a:p>
            <a:r>
              <a:rPr lang="en-US" dirty="0"/>
              <a:t>No Authentication?</a:t>
            </a:r>
          </a:p>
          <a:p>
            <a:endParaRPr lang="en-US" dirty="0"/>
          </a:p>
          <a:p>
            <a:r>
              <a:rPr lang="en-US" dirty="0"/>
              <a:t>Security risks.</a:t>
            </a:r>
          </a:p>
          <a:p>
            <a:endParaRPr lang="en-US" dirty="0"/>
          </a:p>
          <a:p>
            <a:r>
              <a:rPr lang="en-US" dirty="0"/>
              <a:t>No CDN?</a:t>
            </a:r>
          </a:p>
          <a:p>
            <a:endParaRPr lang="en-US" dirty="0"/>
          </a:p>
          <a:p>
            <a:r>
              <a:rPr lang="en-US" dirty="0"/>
              <a:t>Longer loading times.</a:t>
            </a:r>
          </a:p>
          <a:p>
            <a:endParaRPr lang="en-US" dirty="0"/>
          </a:p>
          <a:p>
            <a:r>
              <a:rPr lang="en-US" dirty="0"/>
              <a:t>Help students recognize that every component has a purpose.</a:t>
            </a:r>
          </a:p>
          <a:p>
            <a:endParaRPr lang="en-US" dirty="0"/>
          </a:p>
          <a:p>
            <a:r>
              <a:rPr lang="en-US" dirty="0"/>
              <a:t>------------------------------------------------------------</a:t>
            </a:r>
          </a:p>
          <a:p>
            <a:endParaRPr lang="en-US" dirty="0"/>
          </a:p>
          <a:p>
            <a:r>
              <a:rPr lang="en-US" dirty="0"/>
              <a:t>TRANSITION</a:t>
            </a:r>
          </a:p>
          <a:p>
            <a:endParaRPr lang="en-US" dirty="0"/>
          </a:p>
          <a:p>
            <a:r>
              <a:rPr lang="en-US" dirty="0"/>
              <a:t>"We've now seen how a modern SaaS application is built."</a:t>
            </a:r>
          </a:p>
          <a:p>
            <a:endParaRPr lang="en-US" dirty="0"/>
          </a:p>
          <a:p>
            <a:r>
              <a:rPr lang="en-US" dirty="0"/>
              <a:t>"But who actually provides all of this infrastructure?"</a:t>
            </a:r>
          </a:p>
          <a:p>
            <a:endParaRPr lang="en-US" dirty="0"/>
          </a:p>
          <a:p>
            <a:r>
              <a:rPr lang="en-US" dirty="0"/>
              <a:t>"Our next topic introduces the companies that make cloud computing</a:t>
            </a:r>
          </a:p>
          <a:p>
            <a:r>
              <a:rPr lang="en-US" dirty="0"/>
              <a:t>possible."</a:t>
            </a:r>
          </a:p>
          <a:p>
            <a:endParaRPr lang="en-US" dirty="0"/>
          </a:p>
          <a:p>
            <a:r>
              <a:rPr lang="en-US" dirty="0"/>
              <a:t>"The Cloud Providers."</a:t>
            </a:r>
          </a:p>
          <a:p>
            <a:endParaRPr lang="en-US" dirty="0"/>
          </a:p>
          <a:p>
            <a:r>
              <a:rPr lang="en-US" dirty="0"/>
              <a:t>------------------------------------------------------------</a:t>
            </a:r>
          </a:p>
          <a:p>
            <a:endParaRPr lang="en-US" dirty="0"/>
          </a:p>
          <a:p>
            <a:r>
              <a:rPr lang="en-US" dirty="0"/>
              <a:t>ESTIMATED TIME</a:t>
            </a:r>
          </a:p>
          <a:p>
            <a:endParaRPr lang="en-US" dirty="0"/>
          </a:p>
          <a:p>
            <a:r>
              <a:rPr lang="en-US" dirty="0"/>
              <a:t>Opening......................4 minutes</a:t>
            </a:r>
          </a:p>
          <a:p>
            <a:endParaRPr lang="en-US" dirty="0"/>
          </a:p>
          <a:p>
            <a:r>
              <a:rPr lang="en-US" dirty="0"/>
              <a:t>Architecture Overview........15 minutes</a:t>
            </a:r>
          </a:p>
          <a:p>
            <a:endParaRPr lang="en-US" dirty="0"/>
          </a:p>
          <a:p>
            <a:r>
              <a:rPr lang="en-US" dirty="0"/>
              <a:t>Layer Walkthrough............15 minutes</a:t>
            </a:r>
          </a:p>
          <a:p>
            <a:endParaRPr lang="en-US" dirty="0"/>
          </a:p>
          <a:p>
            <a:r>
              <a:rPr lang="en-US" dirty="0"/>
              <a:t>Engineering Story............5 minutes</a:t>
            </a:r>
          </a:p>
          <a:p>
            <a:endParaRPr lang="en-US" dirty="0"/>
          </a:p>
          <a:p>
            <a:r>
              <a:rPr lang="en-US" dirty="0"/>
              <a:t>Discussion...................8 minutes</a:t>
            </a:r>
          </a:p>
          <a:p>
            <a:endParaRPr lang="en-US" dirty="0"/>
          </a:p>
          <a:p>
            <a:r>
              <a:rPr lang="en-US" dirty="0"/>
              <a:t>Transition...................3 minutes</a:t>
            </a:r>
          </a:p>
          <a:p>
            <a:endParaRPr lang="en-US" dirty="0"/>
          </a:p>
          <a:p>
            <a:r>
              <a:rPr lang="en-US" dirty="0"/>
              <a:t>Total........................50 minutes</a:t>
            </a:r>
          </a:p>
          <a:p>
            <a:endParaRPr lang="en-US" dirty="0"/>
          </a:p>
          <a:p>
            <a:r>
              <a:rPr lang="en-US" dirty="0"/>
              <a:t>------------------------------------------------------------</a:t>
            </a:r>
          </a:p>
          <a:p>
            <a:endParaRPr lang="en-US" dirty="0"/>
          </a:p>
          <a:p>
            <a:r>
              <a:rPr lang="en-US" dirty="0"/>
              <a:t>INSTRUCTOR NOTES</a:t>
            </a:r>
          </a:p>
          <a:p>
            <a:endParaRPr lang="en-US" dirty="0"/>
          </a:p>
          <a:p>
            <a:r>
              <a:rPr lang="en-US" dirty="0"/>
              <a:t>Keep the lecture conceptual.</a:t>
            </a:r>
          </a:p>
          <a:p>
            <a:endParaRPr lang="en-US" dirty="0"/>
          </a:p>
          <a:p>
            <a:r>
              <a:rPr lang="en-US" dirty="0"/>
              <a:t>Do not focus on implementation details.</a:t>
            </a:r>
          </a:p>
          <a:p>
            <a:endParaRPr lang="en-US" dirty="0"/>
          </a:p>
          <a:p>
            <a:r>
              <a:rPr lang="en-US" dirty="0"/>
              <a:t>Instead, help students understand how the layers work together.</a:t>
            </a:r>
          </a:p>
          <a:p>
            <a:endParaRPr lang="en-US" dirty="0"/>
          </a:p>
          <a:p>
            <a:r>
              <a:rPr lang="en-US" dirty="0"/>
              <a:t>Use the architecture diagram repeatedly.</a:t>
            </a:r>
          </a:p>
          <a:p>
            <a:endParaRPr lang="en-US" dirty="0"/>
          </a:p>
          <a:p>
            <a:r>
              <a:rPr lang="en-US" dirty="0"/>
              <a:t>Ask students to follow the flow of a request from the client to the</a:t>
            </a:r>
          </a:p>
          <a:p>
            <a:r>
              <a:rPr lang="en-US" dirty="0"/>
              <a:t>database and back.</a:t>
            </a:r>
          </a:p>
          <a:p>
            <a:endParaRPr lang="en-US" dirty="0"/>
          </a:p>
          <a:p>
            <a:r>
              <a:rPr lang="en-US" dirty="0"/>
              <a:t>Students should leave class thinking:</a:t>
            </a:r>
          </a:p>
          <a:p>
            <a:endParaRPr lang="en-US" dirty="0"/>
          </a:p>
          <a:p>
            <a:r>
              <a:rPr lang="en-US" dirty="0"/>
              <a:t>"Software isn't one program."</a:t>
            </a:r>
          </a:p>
          <a:p>
            <a:endParaRPr lang="en-US" dirty="0"/>
          </a:p>
          <a:p>
            <a:r>
              <a:rPr lang="en-US" dirty="0"/>
              <a:t>"It's an ecosystem of services working together."</a:t>
            </a:r>
          </a:p>
          <a:p>
            <a:endParaRPr lang="en-US" dirty="0"/>
          </a:p>
          <a:p>
            <a:r>
              <a:rPr lang="en-US" dirty="0"/>
              <a:t>Close with:</a:t>
            </a:r>
          </a:p>
          <a:p>
            <a:endParaRPr lang="en-US" dirty="0"/>
          </a:p>
          <a:p>
            <a:r>
              <a:rPr lang="en-US" dirty="0"/>
              <a:t>"The best software architecture is almost invisible.</a:t>
            </a:r>
          </a:p>
          <a:p>
            <a:endParaRPr lang="en-US" dirty="0"/>
          </a:p>
          <a:p>
            <a:r>
              <a:rPr lang="en-US" dirty="0"/>
              <a:t>When everything works together, users simply click a button—and it just</a:t>
            </a:r>
          </a:p>
          <a:p>
            <a:r>
              <a:rPr lang="en-US" dirty="0"/>
              <a:t>works.</a:t>
            </a:r>
          </a:p>
          <a:p>
            <a:endParaRPr lang="en-US" dirty="0"/>
          </a:p>
          <a:p>
            <a:r>
              <a:rPr lang="en-US" dirty="0"/>
              <a:t>As software engineers, that's exactly what we're building."</a:t>
            </a:r>
          </a:p>
          <a:p>
            <a:endParaRPr lang="en-US" dirty="0"/>
          </a:p>
          <a:p>
            <a:r>
              <a:rPr lang="en-US" dirty="0"/>
              <a:t>============================================================</a:t>
            </a:r>
          </a:p>
        </p:txBody>
      </p:sp>
      <p:sp>
        <p:nvSpPr>
          <p:cNvPr id="4" name="Slide Number Placeholder 3"/>
          <p:cNvSpPr>
            <a:spLocks noGrp="1"/>
          </p:cNvSpPr>
          <p:nvPr>
            <p:ph type="sldNum" sz="quarter" idx="5"/>
          </p:nvPr>
        </p:nvSpPr>
        <p:spPr/>
        <p:txBody>
          <a:bodyPr/>
          <a:lstStyle/>
          <a:p>
            <a:fld id="{D23464B6-418B-4A24-AB2E-F540793FE320}" type="slidenum">
              <a:rPr lang="en-US" smtClean="0"/>
              <a:t>5</a:t>
            </a:fld>
            <a:endParaRPr lang="en-US"/>
          </a:p>
        </p:txBody>
      </p:sp>
    </p:spTree>
    <p:extLst>
      <p:ext uri="{BB962C8B-B14F-4D97-AF65-F5344CB8AC3E}">
        <p14:creationId xmlns:p14="http://schemas.microsoft.com/office/powerpoint/2010/main" val="31278430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ARTIFACT XXIX</a:t>
            </a:r>
          </a:p>
          <a:p>
            <a:endParaRPr lang="en-US" dirty="0"/>
          </a:p>
          <a:p>
            <a:r>
              <a:rPr lang="en-US" dirty="0"/>
              <a:t>THE CLOUD PROVIDERS</a:t>
            </a:r>
          </a:p>
          <a:p>
            <a:endParaRPr lang="en-US" dirty="0"/>
          </a:p>
          <a:p>
            <a:r>
              <a:rPr lang="en-US" dirty="0"/>
              <a:t>============================================================</a:t>
            </a:r>
          </a:p>
          <a:p>
            <a:endParaRPr lang="en-US" dirty="0"/>
          </a:p>
          <a:p>
            <a:r>
              <a:rPr lang="en-US" dirty="0"/>
              <a:t>SLIDE PURPOSE</a:t>
            </a:r>
          </a:p>
          <a:p>
            <a:endParaRPr lang="en-US" dirty="0"/>
          </a:p>
          <a:p>
            <a:r>
              <a:rPr lang="en-US" dirty="0"/>
              <a:t>Introduce students to the major cloud providers that power modern SaaS</a:t>
            </a:r>
          </a:p>
          <a:p>
            <a:r>
              <a:rPr lang="en-US" dirty="0"/>
              <a:t>applications.</a:t>
            </a:r>
          </a:p>
          <a:p>
            <a:endParaRPr lang="en-US" dirty="0"/>
          </a:p>
          <a:p>
            <a:r>
              <a:rPr lang="en-US" dirty="0"/>
              <a:t>Students should understand that Azure, Amazon Web Services (AWS), and</a:t>
            </a:r>
          </a:p>
          <a:p>
            <a:r>
              <a:rPr lang="en-US" dirty="0"/>
              <a:t>Google Cloud all provide similar foundational cloud services while</a:t>
            </a:r>
          </a:p>
          <a:p>
            <a:r>
              <a:rPr lang="en-US" dirty="0"/>
              <a:t>differing in strengths, ecosystems, and target markets.</a:t>
            </a:r>
          </a:p>
          <a:p>
            <a:endParaRPr lang="en-US" dirty="0"/>
          </a:p>
          <a:p>
            <a:r>
              <a:rPr lang="en-US" dirty="0"/>
              <a:t>By the end of this lecture students should understand that cloud</a:t>
            </a:r>
          </a:p>
          <a:p>
            <a:r>
              <a:rPr lang="en-US" dirty="0"/>
              <a:t>providers supply the infrastructure that enables software engineers to</a:t>
            </a:r>
          </a:p>
          <a:p>
            <a:r>
              <a:rPr lang="en-US" dirty="0"/>
              <a:t>build scalable, secure, globally available applications.</a:t>
            </a:r>
          </a:p>
          <a:p>
            <a:endParaRPr lang="en-US" dirty="0"/>
          </a:p>
          <a:p>
            <a:r>
              <a:rPr lang="en-US" dirty="0"/>
              <a:t>------------------------------------------------------------</a:t>
            </a:r>
          </a:p>
          <a:p>
            <a:endParaRPr lang="en-US" dirty="0"/>
          </a:p>
          <a:p>
            <a:r>
              <a:rPr lang="en-US" dirty="0"/>
              <a:t>OPENING</a:t>
            </a:r>
          </a:p>
          <a:p>
            <a:endParaRPr lang="en-US" dirty="0"/>
          </a:p>
          <a:p>
            <a:r>
              <a:rPr lang="en-US" dirty="0"/>
              <a:t>"I have a question."</a:t>
            </a:r>
          </a:p>
          <a:p>
            <a:endParaRPr lang="en-US" dirty="0"/>
          </a:p>
          <a:p>
            <a:r>
              <a:rPr lang="en-US" dirty="0"/>
              <a:t>"When you watch Netflix..."</a:t>
            </a:r>
          </a:p>
          <a:p>
            <a:endParaRPr lang="en-US" dirty="0"/>
          </a:p>
          <a:p>
            <a:r>
              <a:rPr lang="en-US" dirty="0"/>
              <a:t>"Where does the movie actually come from?"</a:t>
            </a:r>
          </a:p>
          <a:p>
            <a:endParaRPr lang="en-US" dirty="0"/>
          </a:p>
          <a:p>
            <a:r>
              <a:rPr lang="en-US" dirty="0"/>
              <a:t>(Pause.)</a:t>
            </a:r>
          </a:p>
          <a:p>
            <a:endParaRPr lang="en-US" dirty="0"/>
          </a:p>
          <a:p>
            <a:r>
              <a:rPr lang="en-US" dirty="0"/>
              <a:t>"When you open GitHub..."</a:t>
            </a:r>
          </a:p>
          <a:p>
            <a:endParaRPr lang="en-US" dirty="0"/>
          </a:p>
          <a:p>
            <a:r>
              <a:rPr lang="en-US" dirty="0"/>
              <a:t>"Where does GitHub actually live?"</a:t>
            </a:r>
          </a:p>
          <a:p>
            <a:endParaRPr lang="en-US" dirty="0"/>
          </a:p>
          <a:p>
            <a:r>
              <a:rPr lang="en-US" dirty="0"/>
              <a:t>"When you ask ChatGPT a question..."</a:t>
            </a:r>
          </a:p>
          <a:p>
            <a:endParaRPr lang="en-US" dirty="0"/>
          </a:p>
          <a:p>
            <a:r>
              <a:rPr lang="en-US" dirty="0"/>
              <a:t>"Where is it running?"</a:t>
            </a:r>
          </a:p>
          <a:p>
            <a:endParaRPr lang="en-US" dirty="0"/>
          </a:p>
          <a:p>
            <a:r>
              <a:rPr lang="en-US" dirty="0"/>
              <a:t>Students usually answer...</a:t>
            </a:r>
          </a:p>
          <a:p>
            <a:endParaRPr lang="en-US" dirty="0"/>
          </a:p>
          <a:p>
            <a:r>
              <a:rPr lang="en-US" dirty="0"/>
              <a:t>"The cloud."</a:t>
            </a:r>
          </a:p>
          <a:p>
            <a:endParaRPr lang="en-US" dirty="0"/>
          </a:p>
          <a:p>
            <a:r>
              <a:rPr lang="en-US" dirty="0"/>
              <a:t>Smile.</a:t>
            </a:r>
          </a:p>
          <a:p>
            <a:endParaRPr lang="en-US" dirty="0"/>
          </a:p>
          <a:p>
            <a:r>
              <a:rPr lang="en-US" dirty="0"/>
              <a:t>"That's true."</a:t>
            </a:r>
          </a:p>
          <a:p>
            <a:endParaRPr lang="en-US" dirty="0"/>
          </a:p>
          <a:p>
            <a:r>
              <a:rPr lang="en-US" dirty="0"/>
              <a:t>"But today we're going to learn who actually builds that cloud."</a:t>
            </a:r>
          </a:p>
          <a:p>
            <a:endParaRPr lang="en-US" dirty="0"/>
          </a:p>
          <a:p>
            <a:r>
              <a:rPr lang="en-US" dirty="0"/>
              <a:t>------------------------------------------------------------</a:t>
            </a:r>
          </a:p>
          <a:p>
            <a:endParaRPr lang="en-US" dirty="0"/>
          </a:p>
          <a:p>
            <a:r>
              <a:rPr lang="en-US" dirty="0"/>
              <a:t>THE BIG IDEA</a:t>
            </a:r>
          </a:p>
          <a:p>
            <a:endParaRPr lang="en-US" dirty="0"/>
          </a:p>
          <a:p>
            <a:r>
              <a:rPr lang="en-US" dirty="0"/>
              <a:t>Point to the opening statement.</a:t>
            </a:r>
          </a:p>
          <a:p>
            <a:endParaRPr lang="en-US" dirty="0"/>
          </a:p>
          <a:p>
            <a:r>
              <a:rPr lang="en-US" dirty="0"/>
              <a:t>"Cloud providers build and operate the global infrastructure that makes</a:t>
            </a:r>
          </a:p>
          <a:p>
            <a:r>
              <a:rPr lang="en-US" dirty="0"/>
              <a:t>modern software possible."</a:t>
            </a:r>
          </a:p>
          <a:p>
            <a:endParaRPr lang="en-US" dirty="0"/>
          </a:p>
          <a:p>
            <a:r>
              <a:rPr lang="en-US" dirty="0"/>
              <a:t>"They own the data centers."</a:t>
            </a:r>
          </a:p>
          <a:p>
            <a:endParaRPr lang="en-US" dirty="0"/>
          </a:p>
          <a:p>
            <a:r>
              <a:rPr lang="en-US" dirty="0"/>
              <a:t>"They manage the hardware."</a:t>
            </a:r>
          </a:p>
          <a:p>
            <a:endParaRPr lang="en-US" dirty="0"/>
          </a:p>
          <a:p>
            <a:r>
              <a:rPr lang="en-US" dirty="0"/>
              <a:t>"They maintain the networks."</a:t>
            </a:r>
          </a:p>
          <a:p>
            <a:endParaRPr lang="en-US" dirty="0"/>
          </a:p>
          <a:p>
            <a:r>
              <a:rPr lang="en-US" dirty="0"/>
              <a:t>"They provide the services."</a:t>
            </a:r>
          </a:p>
          <a:p>
            <a:endParaRPr lang="en-US" dirty="0"/>
          </a:p>
          <a:p>
            <a:r>
              <a:rPr lang="en-US" dirty="0"/>
              <a:t>"We build applications on top of everything they provide."</a:t>
            </a:r>
          </a:p>
          <a:p>
            <a:endParaRPr lang="en-US" dirty="0"/>
          </a:p>
          <a:p>
            <a:r>
              <a:rPr lang="en-US" dirty="0"/>
              <a:t>------------------------------------------------------------</a:t>
            </a:r>
          </a:p>
          <a:p>
            <a:endParaRPr lang="en-US" dirty="0"/>
          </a:p>
          <a:p>
            <a:r>
              <a:rPr lang="en-US" dirty="0"/>
              <a:t>MICROSOFT AZURE</a:t>
            </a:r>
          </a:p>
          <a:p>
            <a:endParaRPr lang="en-US" dirty="0"/>
          </a:p>
          <a:p>
            <a:r>
              <a:rPr lang="en-US" dirty="0"/>
              <a:t>Introduce Azure.</a:t>
            </a:r>
          </a:p>
          <a:p>
            <a:endParaRPr lang="en-US" dirty="0"/>
          </a:p>
          <a:p>
            <a:r>
              <a:rPr lang="en-US" dirty="0"/>
              <a:t>Explain that Azure is Microsoft's cloud platform.</a:t>
            </a:r>
          </a:p>
          <a:p>
            <a:endParaRPr lang="en-US" dirty="0"/>
          </a:p>
          <a:p>
            <a:r>
              <a:rPr lang="en-US" dirty="0"/>
              <a:t>Discuss its strengths.</a:t>
            </a:r>
          </a:p>
          <a:p>
            <a:endParaRPr lang="en-US" dirty="0"/>
          </a:p>
          <a:p>
            <a:r>
              <a:rPr lang="en-US" dirty="0"/>
              <a:t>Enterprise integration</a:t>
            </a:r>
          </a:p>
          <a:p>
            <a:endParaRPr lang="en-US" dirty="0"/>
          </a:p>
          <a:p>
            <a:r>
              <a:rPr lang="en-US" dirty="0"/>
              <a:t>Identity management</a:t>
            </a:r>
          </a:p>
          <a:p>
            <a:endParaRPr lang="en-US" dirty="0"/>
          </a:p>
          <a:p>
            <a:r>
              <a:rPr lang="en-US" dirty="0"/>
              <a:t>Hybrid cloud</a:t>
            </a:r>
          </a:p>
          <a:p>
            <a:endParaRPr lang="en-US" dirty="0"/>
          </a:p>
          <a:p>
            <a:r>
              <a:rPr lang="en-US" dirty="0"/>
              <a:t>Strong security</a:t>
            </a:r>
          </a:p>
          <a:p>
            <a:endParaRPr lang="en-US" dirty="0"/>
          </a:p>
          <a:p>
            <a:r>
              <a:rPr lang="en-US" dirty="0"/>
              <a:t>Excellent integration with Windows and Microsoft 365</a:t>
            </a:r>
          </a:p>
          <a:p>
            <a:endParaRPr lang="en-US" dirty="0"/>
          </a:p>
          <a:p>
            <a:r>
              <a:rPr lang="en-US" dirty="0"/>
              <a:t>Explain why Atlas uses Azure.</a:t>
            </a:r>
          </a:p>
          <a:p>
            <a:endParaRPr lang="en-US" dirty="0"/>
          </a:p>
          <a:p>
            <a:r>
              <a:rPr lang="en-US" dirty="0"/>
              <a:t>It integrates well with Visual Studio.</a:t>
            </a:r>
          </a:p>
          <a:p>
            <a:endParaRPr lang="en-US" dirty="0"/>
          </a:p>
          <a:p>
            <a:r>
              <a:rPr lang="en-US" dirty="0"/>
              <a:t>Azure for Students provides free resources.</a:t>
            </a:r>
          </a:p>
          <a:p>
            <a:endParaRPr lang="en-US" dirty="0"/>
          </a:p>
          <a:p>
            <a:r>
              <a:rPr lang="en-US" dirty="0"/>
              <a:t>It aligns with many enterprise environments students may encounter after</a:t>
            </a:r>
          </a:p>
          <a:p>
            <a:r>
              <a:rPr lang="en-US" dirty="0"/>
              <a:t>graduation.</a:t>
            </a:r>
          </a:p>
          <a:p>
            <a:endParaRPr lang="en-US" dirty="0"/>
          </a:p>
          <a:p>
            <a:r>
              <a:rPr lang="en-US" dirty="0"/>
              <a:t>------------------------------------------------------------</a:t>
            </a:r>
          </a:p>
          <a:p>
            <a:endParaRPr lang="en-US" dirty="0"/>
          </a:p>
          <a:p>
            <a:r>
              <a:rPr lang="en-US" dirty="0"/>
              <a:t>AMAZON WEB SERVICES (AWS)</a:t>
            </a:r>
          </a:p>
          <a:p>
            <a:endParaRPr lang="en-US" dirty="0"/>
          </a:p>
          <a:p>
            <a:r>
              <a:rPr lang="en-US" dirty="0"/>
              <a:t>Explain that AWS was the first major cloud provider.</a:t>
            </a:r>
          </a:p>
          <a:p>
            <a:endParaRPr lang="en-US" dirty="0"/>
          </a:p>
          <a:p>
            <a:r>
              <a:rPr lang="en-US" dirty="0"/>
              <a:t>Discuss strengths.</a:t>
            </a:r>
          </a:p>
          <a:p>
            <a:endParaRPr lang="en-US" dirty="0"/>
          </a:p>
          <a:p>
            <a:r>
              <a:rPr lang="en-US" dirty="0"/>
              <a:t>Largest collection of cloud services</a:t>
            </a:r>
          </a:p>
          <a:p>
            <a:endParaRPr lang="en-US" dirty="0"/>
          </a:p>
          <a:p>
            <a:r>
              <a:rPr lang="en-US" dirty="0"/>
              <a:t>Strong global infrastructure</a:t>
            </a:r>
          </a:p>
          <a:p>
            <a:endParaRPr lang="en-US" dirty="0"/>
          </a:p>
          <a:p>
            <a:r>
              <a:rPr lang="en-US" dirty="0"/>
              <a:t>Excellent scalability</a:t>
            </a:r>
          </a:p>
          <a:p>
            <a:endParaRPr lang="en-US" dirty="0"/>
          </a:p>
          <a:p>
            <a:r>
              <a:rPr lang="en-US" dirty="0"/>
              <a:t>Extensive documentation</a:t>
            </a:r>
          </a:p>
          <a:p>
            <a:endParaRPr lang="en-US" dirty="0"/>
          </a:p>
          <a:p>
            <a:r>
              <a:rPr lang="en-US" dirty="0"/>
              <a:t>Large market share</a:t>
            </a:r>
          </a:p>
          <a:p>
            <a:endParaRPr lang="en-US" dirty="0"/>
          </a:p>
          <a:p>
            <a:r>
              <a:rPr lang="en-US" dirty="0"/>
              <a:t>Mention that many startups and large technology companies rely on AWS.</a:t>
            </a:r>
          </a:p>
          <a:p>
            <a:endParaRPr lang="en-US" dirty="0"/>
          </a:p>
          <a:p>
            <a:r>
              <a:rPr lang="en-US" dirty="0"/>
              <a:t>------------------------------------------------------------</a:t>
            </a:r>
          </a:p>
          <a:p>
            <a:endParaRPr lang="en-US" dirty="0"/>
          </a:p>
          <a:p>
            <a:r>
              <a:rPr lang="en-US" dirty="0"/>
              <a:t>GOOGLE CLOUD</a:t>
            </a:r>
          </a:p>
          <a:p>
            <a:endParaRPr lang="en-US" dirty="0"/>
          </a:p>
          <a:p>
            <a:r>
              <a:rPr lang="en-US" dirty="0"/>
              <a:t>Introduce Google Cloud.</a:t>
            </a:r>
          </a:p>
          <a:p>
            <a:endParaRPr lang="en-US" dirty="0"/>
          </a:p>
          <a:p>
            <a:r>
              <a:rPr lang="en-US" dirty="0"/>
              <a:t>Discuss strengths.</a:t>
            </a:r>
          </a:p>
          <a:p>
            <a:endParaRPr lang="en-US" dirty="0"/>
          </a:p>
          <a:p>
            <a:r>
              <a:rPr lang="en-US" dirty="0"/>
              <a:t>Artificial intelligence</a:t>
            </a:r>
          </a:p>
          <a:p>
            <a:endParaRPr lang="en-US" dirty="0"/>
          </a:p>
          <a:p>
            <a:r>
              <a:rPr lang="en-US" dirty="0"/>
              <a:t>Machine learning</a:t>
            </a:r>
          </a:p>
          <a:p>
            <a:endParaRPr lang="en-US" dirty="0"/>
          </a:p>
          <a:p>
            <a:r>
              <a:rPr lang="en-US" dirty="0"/>
              <a:t>Data analytics</a:t>
            </a:r>
          </a:p>
          <a:p>
            <a:endParaRPr lang="en-US" dirty="0"/>
          </a:p>
          <a:p>
            <a:r>
              <a:rPr lang="en-US" dirty="0"/>
              <a:t>Networking</a:t>
            </a:r>
          </a:p>
          <a:p>
            <a:endParaRPr lang="en-US" dirty="0"/>
          </a:p>
          <a:p>
            <a:r>
              <a:rPr lang="en-US" dirty="0"/>
              <a:t>Kubernetes leadership</a:t>
            </a:r>
          </a:p>
          <a:p>
            <a:endParaRPr lang="en-US" dirty="0"/>
          </a:p>
          <a:p>
            <a:r>
              <a:rPr lang="en-US" dirty="0"/>
              <a:t>Explain that Google applies its experience operating products like</a:t>
            </a:r>
          </a:p>
          <a:p>
            <a:r>
              <a:rPr lang="en-US" dirty="0"/>
              <a:t>Search, Gmail, and YouTube to its cloud platform.</a:t>
            </a:r>
          </a:p>
          <a:p>
            <a:endParaRPr lang="en-US" dirty="0"/>
          </a:p>
          <a:p>
            <a:r>
              <a:rPr lang="en-US" dirty="0"/>
              <a:t>------------------------------------------------------------</a:t>
            </a:r>
          </a:p>
          <a:p>
            <a:endParaRPr lang="en-US" dirty="0"/>
          </a:p>
          <a:p>
            <a:r>
              <a:rPr lang="en-US" dirty="0"/>
              <a:t>COMMON SERVICES</a:t>
            </a:r>
          </a:p>
          <a:p>
            <a:endParaRPr lang="en-US" dirty="0"/>
          </a:p>
          <a:p>
            <a:r>
              <a:rPr lang="en-US" dirty="0"/>
              <a:t>Walk through the services all providers offer.</a:t>
            </a:r>
          </a:p>
          <a:p>
            <a:endParaRPr lang="en-US" dirty="0"/>
          </a:p>
          <a:p>
            <a:r>
              <a:rPr lang="en-US" dirty="0"/>
              <a:t>Compute</a:t>
            </a:r>
          </a:p>
          <a:p>
            <a:endParaRPr lang="en-US" dirty="0"/>
          </a:p>
          <a:p>
            <a:r>
              <a:rPr lang="en-US" dirty="0"/>
              <a:t>Virtual machines</a:t>
            </a:r>
          </a:p>
          <a:p>
            <a:endParaRPr lang="en-US" dirty="0"/>
          </a:p>
          <a:p>
            <a:r>
              <a:rPr lang="en-US" dirty="0"/>
              <a:t>Containers</a:t>
            </a:r>
          </a:p>
          <a:p>
            <a:endParaRPr lang="en-US" dirty="0"/>
          </a:p>
          <a:p>
            <a:r>
              <a:rPr lang="en-US" dirty="0"/>
              <a:t>Serverless computing</a:t>
            </a:r>
          </a:p>
          <a:p>
            <a:endParaRPr lang="en-US" dirty="0"/>
          </a:p>
          <a:p>
            <a:r>
              <a:rPr lang="en-US" dirty="0"/>
              <a:t>Storage</a:t>
            </a:r>
          </a:p>
          <a:p>
            <a:endParaRPr lang="en-US" dirty="0"/>
          </a:p>
          <a:p>
            <a:r>
              <a:rPr lang="en-US" dirty="0"/>
              <a:t>Databases</a:t>
            </a:r>
          </a:p>
          <a:p>
            <a:endParaRPr lang="en-US" dirty="0"/>
          </a:p>
          <a:p>
            <a:r>
              <a:rPr lang="en-US" dirty="0"/>
              <a:t>Object storage</a:t>
            </a:r>
          </a:p>
          <a:p>
            <a:endParaRPr lang="en-US" dirty="0"/>
          </a:p>
          <a:p>
            <a:r>
              <a:rPr lang="en-US" dirty="0"/>
              <a:t>File storage</a:t>
            </a:r>
          </a:p>
          <a:p>
            <a:endParaRPr lang="en-US" dirty="0"/>
          </a:p>
          <a:p>
            <a:r>
              <a:rPr lang="en-US" dirty="0"/>
              <a:t>Networking</a:t>
            </a:r>
          </a:p>
          <a:p>
            <a:endParaRPr lang="en-US" dirty="0"/>
          </a:p>
          <a:p>
            <a:r>
              <a:rPr lang="en-US" dirty="0"/>
              <a:t>Load balancers</a:t>
            </a:r>
          </a:p>
          <a:p>
            <a:endParaRPr lang="en-US" dirty="0"/>
          </a:p>
          <a:p>
            <a:r>
              <a:rPr lang="en-US" dirty="0"/>
              <a:t>Virtual networks</a:t>
            </a:r>
          </a:p>
          <a:p>
            <a:endParaRPr lang="en-US" dirty="0"/>
          </a:p>
          <a:p>
            <a:r>
              <a:rPr lang="en-US" dirty="0"/>
              <a:t>DNS</a:t>
            </a:r>
          </a:p>
          <a:p>
            <a:endParaRPr lang="en-US" dirty="0"/>
          </a:p>
          <a:p>
            <a:r>
              <a:rPr lang="en-US" dirty="0"/>
              <a:t>Security</a:t>
            </a:r>
          </a:p>
          <a:p>
            <a:endParaRPr lang="en-US" dirty="0"/>
          </a:p>
          <a:p>
            <a:r>
              <a:rPr lang="en-US" dirty="0"/>
              <a:t>Identity</a:t>
            </a:r>
          </a:p>
          <a:p>
            <a:endParaRPr lang="en-US" dirty="0"/>
          </a:p>
          <a:p>
            <a:r>
              <a:rPr lang="en-US" dirty="0"/>
              <a:t>Encryption</a:t>
            </a:r>
          </a:p>
          <a:p>
            <a:endParaRPr lang="en-US" dirty="0"/>
          </a:p>
          <a:p>
            <a:r>
              <a:rPr lang="en-US" dirty="0"/>
              <a:t>Threat protection</a:t>
            </a:r>
          </a:p>
          <a:p>
            <a:endParaRPr lang="en-US" dirty="0"/>
          </a:p>
          <a:p>
            <a:r>
              <a:rPr lang="en-US" dirty="0"/>
              <a:t>Developer Tools</a:t>
            </a:r>
          </a:p>
          <a:p>
            <a:endParaRPr lang="en-US" dirty="0"/>
          </a:p>
          <a:p>
            <a:r>
              <a:rPr lang="en-US" dirty="0"/>
              <a:t>CI/CD</a:t>
            </a:r>
          </a:p>
          <a:p>
            <a:endParaRPr lang="en-US" dirty="0"/>
          </a:p>
          <a:p>
            <a:r>
              <a:rPr lang="en-US" dirty="0"/>
              <a:t>Logging</a:t>
            </a:r>
          </a:p>
          <a:p>
            <a:endParaRPr lang="en-US" dirty="0"/>
          </a:p>
          <a:p>
            <a:r>
              <a:rPr lang="en-US" dirty="0"/>
              <a:t>Monitoring</a:t>
            </a:r>
          </a:p>
          <a:p>
            <a:endParaRPr lang="en-US" dirty="0"/>
          </a:p>
          <a:p>
            <a:r>
              <a:rPr lang="en-US" dirty="0"/>
              <a:t>APIs</a:t>
            </a:r>
          </a:p>
          <a:p>
            <a:endParaRPr lang="en-US" dirty="0"/>
          </a:p>
          <a:p>
            <a:r>
              <a:rPr lang="en-US" dirty="0"/>
              <a:t>Analytics</a:t>
            </a:r>
          </a:p>
          <a:p>
            <a:endParaRPr lang="en-US" dirty="0"/>
          </a:p>
          <a:p>
            <a:r>
              <a:rPr lang="en-US" dirty="0"/>
              <a:t>Artificial intelligence</a:t>
            </a:r>
          </a:p>
          <a:p>
            <a:endParaRPr lang="en-US" dirty="0"/>
          </a:p>
          <a:p>
            <a:r>
              <a:rPr lang="en-US" dirty="0"/>
              <a:t>Explain:</a:t>
            </a:r>
          </a:p>
          <a:p>
            <a:endParaRPr lang="en-US" dirty="0"/>
          </a:p>
          <a:p>
            <a:r>
              <a:rPr lang="en-US" dirty="0"/>
              <a:t>"The names may change."</a:t>
            </a:r>
          </a:p>
          <a:p>
            <a:endParaRPr lang="en-US" dirty="0"/>
          </a:p>
          <a:p>
            <a:r>
              <a:rPr lang="en-US" dirty="0"/>
              <a:t>"The concepts stay the same."</a:t>
            </a:r>
          </a:p>
          <a:p>
            <a:endParaRPr lang="en-US" dirty="0"/>
          </a:p>
          <a:p>
            <a:r>
              <a:rPr lang="en-US" dirty="0"/>
              <a:t>------------------------------------------------------------</a:t>
            </a:r>
          </a:p>
          <a:p>
            <a:endParaRPr lang="en-US" dirty="0"/>
          </a:p>
          <a:p>
            <a:r>
              <a:rPr lang="en-US" dirty="0"/>
              <a:t>THE SHARED FOUNDATION</a:t>
            </a:r>
          </a:p>
          <a:p>
            <a:endParaRPr lang="en-US" dirty="0"/>
          </a:p>
          <a:p>
            <a:r>
              <a:rPr lang="en-US" dirty="0"/>
              <a:t>Point to the bottom panel.</a:t>
            </a:r>
          </a:p>
          <a:p>
            <a:endParaRPr lang="en-US" dirty="0"/>
          </a:p>
          <a:p>
            <a:r>
              <a:rPr lang="en-US" dirty="0"/>
              <a:t>Global Data Centers</a:t>
            </a:r>
          </a:p>
          <a:p>
            <a:endParaRPr lang="en-US" dirty="0"/>
          </a:p>
          <a:p>
            <a:r>
              <a:rPr lang="en-US" dirty="0"/>
              <a:t>High Availability</a:t>
            </a:r>
          </a:p>
          <a:p>
            <a:endParaRPr lang="en-US" dirty="0"/>
          </a:p>
          <a:p>
            <a:r>
              <a:rPr lang="en-US" dirty="0"/>
              <a:t>Scalability</a:t>
            </a:r>
          </a:p>
          <a:p>
            <a:endParaRPr lang="en-US" dirty="0"/>
          </a:p>
          <a:p>
            <a:r>
              <a:rPr lang="en-US" dirty="0"/>
              <a:t>Security</a:t>
            </a:r>
          </a:p>
          <a:p>
            <a:endParaRPr lang="en-US" dirty="0"/>
          </a:p>
          <a:p>
            <a:r>
              <a:rPr lang="en-US" dirty="0"/>
              <a:t>Performance</a:t>
            </a:r>
          </a:p>
          <a:p>
            <a:endParaRPr lang="en-US" dirty="0"/>
          </a:p>
          <a:p>
            <a:r>
              <a:rPr lang="en-US" dirty="0"/>
              <a:t>Continuous Innovation</a:t>
            </a:r>
          </a:p>
          <a:p>
            <a:endParaRPr lang="en-US" dirty="0"/>
          </a:p>
          <a:p>
            <a:r>
              <a:rPr lang="en-US" dirty="0"/>
              <a:t>Explain:</a:t>
            </a:r>
          </a:p>
          <a:p>
            <a:endParaRPr lang="en-US" dirty="0"/>
          </a:p>
          <a:p>
            <a:r>
              <a:rPr lang="en-US" dirty="0"/>
              <a:t>No matter which provider you choose...</a:t>
            </a:r>
          </a:p>
          <a:p>
            <a:endParaRPr lang="en-US" dirty="0"/>
          </a:p>
          <a:p>
            <a:r>
              <a:rPr lang="en-US" dirty="0"/>
              <a:t>These are the capabilities they all strive to deliver.</a:t>
            </a:r>
          </a:p>
          <a:p>
            <a:endParaRPr lang="en-US" dirty="0"/>
          </a:p>
          <a:p>
            <a:r>
              <a:rPr lang="en-US" dirty="0"/>
              <a:t>------------------------------------------------------------</a:t>
            </a:r>
          </a:p>
          <a:p>
            <a:endParaRPr lang="en-US" dirty="0"/>
          </a:p>
          <a:p>
            <a:r>
              <a:rPr lang="en-US" dirty="0"/>
              <a:t>ENGINEERING STORY</a:t>
            </a:r>
          </a:p>
          <a:p>
            <a:endParaRPr lang="en-US" dirty="0"/>
          </a:p>
          <a:p>
            <a:r>
              <a:rPr lang="en-US" dirty="0"/>
              <a:t>Share a personal experience.</a:t>
            </a:r>
          </a:p>
          <a:p>
            <a:endParaRPr lang="en-US" dirty="0"/>
          </a:p>
          <a:p>
            <a:r>
              <a:rPr lang="en-US" dirty="0"/>
              <a:t>Example:</a:t>
            </a:r>
          </a:p>
          <a:p>
            <a:endParaRPr lang="en-US" dirty="0"/>
          </a:p>
          <a:p>
            <a:r>
              <a:rPr lang="en-US" dirty="0"/>
              <a:t>"The first time I deployed an application to Azure..."</a:t>
            </a:r>
          </a:p>
          <a:p>
            <a:endParaRPr lang="en-US" dirty="0"/>
          </a:p>
          <a:p>
            <a:r>
              <a:rPr lang="en-US" dirty="0"/>
              <a:t>"I realized I wasn't buying a server."</a:t>
            </a:r>
          </a:p>
          <a:p>
            <a:endParaRPr lang="en-US" dirty="0"/>
          </a:p>
          <a:p>
            <a:r>
              <a:rPr lang="en-US" dirty="0"/>
              <a:t>"I was renting exactly the resources I needed."</a:t>
            </a:r>
          </a:p>
          <a:p>
            <a:endParaRPr lang="en-US" dirty="0"/>
          </a:p>
          <a:p>
            <a:r>
              <a:rPr lang="en-US" dirty="0"/>
              <a:t>"As my application grew..."</a:t>
            </a:r>
          </a:p>
          <a:p>
            <a:endParaRPr lang="en-US" dirty="0"/>
          </a:p>
          <a:p>
            <a:r>
              <a:rPr lang="en-US" dirty="0"/>
              <a:t>"So did the cloud resources."</a:t>
            </a:r>
          </a:p>
          <a:p>
            <a:endParaRPr lang="en-US" dirty="0"/>
          </a:p>
          <a:p>
            <a:r>
              <a:rPr lang="en-US" dirty="0"/>
              <a:t>"I didn't have to purchase new hardware."</a:t>
            </a:r>
          </a:p>
          <a:p>
            <a:endParaRPr lang="en-US" dirty="0"/>
          </a:p>
          <a:p>
            <a:r>
              <a:rPr lang="en-US" dirty="0"/>
              <a:t>"The cloud grew with me."</a:t>
            </a:r>
          </a:p>
          <a:p>
            <a:endParaRPr lang="en-US" dirty="0"/>
          </a:p>
          <a:p>
            <a:r>
              <a:rPr lang="en-US" dirty="0"/>
              <a:t>------------------------------------------------------------</a:t>
            </a:r>
          </a:p>
          <a:p>
            <a:endParaRPr lang="en-US" dirty="0"/>
          </a:p>
          <a:p>
            <a:r>
              <a:rPr lang="en-US" dirty="0"/>
              <a:t>ENGINEERING LESSON</a:t>
            </a:r>
          </a:p>
          <a:p>
            <a:endParaRPr lang="en-US" dirty="0"/>
          </a:p>
          <a:p>
            <a:r>
              <a:rPr lang="en-US" dirty="0"/>
              <a:t>Software engineers build applications.</a:t>
            </a:r>
          </a:p>
          <a:p>
            <a:endParaRPr lang="en-US" dirty="0"/>
          </a:p>
          <a:p>
            <a:r>
              <a:rPr lang="en-US" dirty="0"/>
              <a:t>Cloud providers build platforms.</a:t>
            </a:r>
          </a:p>
          <a:p>
            <a:endParaRPr lang="en-US" dirty="0"/>
          </a:p>
          <a:p>
            <a:r>
              <a:rPr lang="en-US" dirty="0"/>
              <a:t>Understanding that relationship is one of the most important concepts in</a:t>
            </a:r>
          </a:p>
          <a:p>
            <a:r>
              <a:rPr lang="en-US" dirty="0"/>
              <a:t>modern software engineering.</a:t>
            </a:r>
          </a:p>
          <a:p>
            <a:endParaRPr lang="en-US" dirty="0"/>
          </a:p>
          <a:p>
            <a:r>
              <a:rPr lang="en-US" dirty="0"/>
              <a:t>The cloud allows us to focus on solving customer problems instead of</a:t>
            </a:r>
          </a:p>
          <a:p>
            <a:r>
              <a:rPr lang="en-US" dirty="0"/>
              <a:t>building and maintaining data centers.</a:t>
            </a:r>
          </a:p>
          <a:p>
            <a:endParaRPr lang="en-US" dirty="0"/>
          </a:p>
          <a:p>
            <a:r>
              <a:rPr lang="en-US" dirty="0"/>
              <a:t>------------------------------------------------------------</a:t>
            </a:r>
          </a:p>
          <a:p>
            <a:endParaRPr lang="en-US" dirty="0"/>
          </a:p>
          <a:p>
            <a:r>
              <a:rPr lang="en-US" dirty="0"/>
              <a:t>CLASS DISCUSSION</a:t>
            </a:r>
          </a:p>
          <a:p>
            <a:endParaRPr lang="en-US" dirty="0"/>
          </a:p>
          <a:p>
            <a:r>
              <a:rPr lang="en-US" dirty="0"/>
              <a:t>Ask the room:</a:t>
            </a:r>
          </a:p>
          <a:p>
            <a:endParaRPr lang="en-US" dirty="0"/>
          </a:p>
          <a:p>
            <a:r>
              <a:rPr lang="en-US" dirty="0"/>
              <a:t>"If you started a software company tomorrow..."</a:t>
            </a:r>
          </a:p>
          <a:p>
            <a:endParaRPr lang="en-US" dirty="0"/>
          </a:p>
          <a:p>
            <a:r>
              <a:rPr lang="en-US" dirty="0"/>
              <a:t>"Would you build your own data center..."</a:t>
            </a:r>
          </a:p>
          <a:p>
            <a:endParaRPr lang="en-US" dirty="0"/>
          </a:p>
          <a:p>
            <a:r>
              <a:rPr lang="en-US" dirty="0"/>
              <a:t>"...or rent cloud resources?"</a:t>
            </a:r>
          </a:p>
          <a:p>
            <a:endParaRPr lang="en-US" dirty="0"/>
          </a:p>
          <a:p>
            <a:r>
              <a:rPr lang="en-US" dirty="0"/>
              <a:t>Why?</a:t>
            </a:r>
          </a:p>
          <a:p>
            <a:endParaRPr lang="en-US" dirty="0"/>
          </a:p>
          <a:p>
            <a:r>
              <a:rPr lang="en-US" dirty="0"/>
              <a:t>Guide discussion toward:</a:t>
            </a:r>
          </a:p>
          <a:p>
            <a:endParaRPr lang="en-US" dirty="0"/>
          </a:p>
          <a:p>
            <a:r>
              <a:rPr lang="en-US" dirty="0"/>
              <a:t>Cost</a:t>
            </a:r>
          </a:p>
          <a:p>
            <a:endParaRPr lang="en-US" dirty="0"/>
          </a:p>
          <a:p>
            <a:r>
              <a:rPr lang="en-US" dirty="0"/>
              <a:t>Scalability</a:t>
            </a:r>
          </a:p>
          <a:p>
            <a:endParaRPr lang="en-US" dirty="0"/>
          </a:p>
          <a:p>
            <a:r>
              <a:rPr lang="en-US" dirty="0"/>
              <a:t>Maintenance</a:t>
            </a:r>
          </a:p>
          <a:p>
            <a:endParaRPr lang="en-US" dirty="0"/>
          </a:p>
          <a:p>
            <a:r>
              <a:rPr lang="en-US" dirty="0"/>
              <a:t>Security</a:t>
            </a:r>
          </a:p>
          <a:p>
            <a:endParaRPr lang="en-US" dirty="0"/>
          </a:p>
          <a:p>
            <a:r>
              <a:rPr lang="en-US" dirty="0"/>
              <a:t>Global reach</a:t>
            </a:r>
          </a:p>
          <a:p>
            <a:endParaRPr lang="en-US" dirty="0"/>
          </a:p>
          <a:p>
            <a:r>
              <a:rPr lang="en-US" dirty="0"/>
              <a:t>Reliability</a:t>
            </a:r>
          </a:p>
          <a:p>
            <a:endParaRPr lang="en-US" dirty="0"/>
          </a:p>
          <a:p>
            <a:r>
              <a:rPr lang="en-US" dirty="0"/>
              <a:t>------------------------------------------------------------</a:t>
            </a:r>
          </a:p>
          <a:p>
            <a:endParaRPr lang="en-US" dirty="0"/>
          </a:p>
          <a:p>
            <a:r>
              <a:rPr lang="en-US" dirty="0"/>
              <a:t>REAL-WORLD CHALLENGE</a:t>
            </a:r>
          </a:p>
          <a:p>
            <a:endParaRPr lang="en-US" dirty="0"/>
          </a:p>
          <a:p>
            <a:r>
              <a:rPr lang="en-US" dirty="0"/>
              <a:t>Scenario:</a:t>
            </a:r>
          </a:p>
          <a:p>
            <a:endParaRPr lang="en-US" dirty="0"/>
          </a:p>
          <a:p>
            <a:r>
              <a:rPr lang="en-US" dirty="0"/>
              <a:t>A startup launches an application.</a:t>
            </a:r>
          </a:p>
          <a:p>
            <a:endParaRPr lang="en-US" dirty="0"/>
          </a:p>
          <a:p>
            <a:r>
              <a:rPr lang="en-US" dirty="0"/>
              <a:t>It has 50 users today.</a:t>
            </a:r>
          </a:p>
          <a:p>
            <a:endParaRPr lang="en-US" dirty="0"/>
          </a:p>
          <a:p>
            <a:r>
              <a:rPr lang="en-US" dirty="0"/>
              <a:t>Six months later...</a:t>
            </a:r>
          </a:p>
          <a:p>
            <a:endParaRPr lang="en-US" dirty="0"/>
          </a:p>
          <a:p>
            <a:r>
              <a:rPr lang="en-US" dirty="0"/>
              <a:t>It has five million users.</a:t>
            </a:r>
          </a:p>
          <a:p>
            <a:endParaRPr lang="en-US" dirty="0"/>
          </a:p>
          <a:p>
            <a:r>
              <a:rPr lang="en-US" dirty="0"/>
              <a:t>Question:</a:t>
            </a:r>
          </a:p>
          <a:p>
            <a:endParaRPr lang="en-US" dirty="0"/>
          </a:p>
          <a:p>
            <a:r>
              <a:rPr lang="en-US" dirty="0"/>
              <a:t>How does cloud computing make that growth possible?</a:t>
            </a:r>
          </a:p>
          <a:p>
            <a:endParaRPr lang="en-US" dirty="0"/>
          </a:p>
          <a:p>
            <a:r>
              <a:rPr lang="en-US" dirty="0"/>
              <a:t>Allow students to discuss elasticity,</a:t>
            </a:r>
          </a:p>
          <a:p>
            <a:r>
              <a:rPr lang="en-US" dirty="0"/>
              <a:t>scaling,</a:t>
            </a:r>
          </a:p>
          <a:p>
            <a:r>
              <a:rPr lang="en-US" dirty="0"/>
              <a:t>global infrastructure,</a:t>
            </a:r>
          </a:p>
          <a:p>
            <a:r>
              <a:rPr lang="en-US" dirty="0"/>
              <a:t>and managed services.</a:t>
            </a:r>
          </a:p>
          <a:p>
            <a:endParaRPr lang="en-US" dirty="0"/>
          </a:p>
          <a:p>
            <a:r>
              <a:rPr lang="en-US" dirty="0"/>
              <a:t>------------------------------------------------------------</a:t>
            </a:r>
          </a:p>
          <a:p>
            <a:endParaRPr lang="en-US" dirty="0"/>
          </a:p>
          <a:p>
            <a:r>
              <a:rPr lang="en-US" dirty="0"/>
              <a:t>TRANSITION</a:t>
            </a:r>
          </a:p>
          <a:p>
            <a:endParaRPr lang="en-US" dirty="0"/>
          </a:p>
          <a:p>
            <a:r>
              <a:rPr lang="en-US" dirty="0"/>
              <a:t>"Now that we've met the companies powering the cloud..."</a:t>
            </a:r>
          </a:p>
          <a:p>
            <a:endParaRPr lang="en-US" dirty="0"/>
          </a:p>
          <a:p>
            <a:r>
              <a:rPr lang="en-US" dirty="0"/>
              <a:t>"It's time to stop studying cloud applications..."</a:t>
            </a:r>
          </a:p>
          <a:p>
            <a:endParaRPr lang="en-US" dirty="0"/>
          </a:p>
          <a:p>
            <a:r>
              <a:rPr lang="en-US" dirty="0"/>
              <a:t>"...and build one."</a:t>
            </a:r>
          </a:p>
          <a:p>
            <a:endParaRPr lang="en-US" dirty="0"/>
          </a:p>
          <a:p>
            <a:r>
              <a:rPr lang="en-US" dirty="0"/>
              <a:t>"Our next lesson..."</a:t>
            </a:r>
          </a:p>
          <a:p>
            <a:endParaRPr lang="en-US" dirty="0"/>
          </a:p>
          <a:p>
            <a:r>
              <a:rPr lang="en-US" dirty="0"/>
              <a:t>"Your First SaaS Application."</a:t>
            </a:r>
          </a:p>
          <a:p>
            <a:endParaRPr lang="en-US" dirty="0"/>
          </a:p>
          <a:p>
            <a:r>
              <a:rPr lang="en-US" dirty="0"/>
              <a:t>------------------------------------------------------------</a:t>
            </a:r>
          </a:p>
          <a:p>
            <a:endParaRPr lang="en-US" dirty="0"/>
          </a:p>
          <a:p>
            <a:r>
              <a:rPr lang="en-US" dirty="0"/>
              <a:t>ESTIMATED TIME</a:t>
            </a:r>
          </a:p>
          <a:p>
            <a:endParaRPr lang="en-US" dirty="0"/>
          </a:p>
          <a:p>
            <a:r>
              <a:rPr lang="en-US" dirty="0"/>
              <a:t>Opening......................4 minutes</a:t>
            </a:r>
          </a:p>
          <a:p>
            <a:endParaRPr lang="en-US" dirty="0"/>
          </a:p>
          <a:p>
            <a:r>
              <a:rPr lang="en-US" dirty="0"/>
              <a:t>Provider Overview...........15 minutes</a:t>
            </a:r>
          </a:p>
          <a:p>
            <a:endParaRPr lang="en-US" dirty="0"/>
          </a:p>
          <a:p>
            <a:r>
              <a:rPr lang="en-US" dirty="0"/>
              <a:t>Shared Services............10 minutes</a:t>
            </a:r>
          </a:p>
          <a:p>
            <a:endParaRPr lang="en-US" dirty="0"/>
          </a:p>
          <a:p>
            <a:r>
              <a:rPr lang="en-US" dirty="0"/>
              <a:t>Engineering Story...........5 minutes</a:t>
            </a:r>
          </a:p>
          <a:p>
            <a:endParaRPr lang="en-US" dirty="0"/>
          </a:p>
          <a:p>
            <a:r>
              <a:rPr lang="en-US" dirty="0"/>
              <a:t>Discussion...................8 minutes</a:t>
            </a:r>
          </a:p>
          <a:p>
            <a:endParaRPr lang="en-US" dirty="0"/>
          </a:p>
          <a:p>
            <a:r>
              <a:rPr lang="en-US" dirty="0"/>
              <a:t>Transition...................3 minutes</a:t>
            </a:r>
          </a:p>
          <a:p>
            <a:endParaRPr lang="en-US" dirty="0"/>
          </a:p>
          <a:p>
            <a:r>
              <a:rPr lang="en-US" dirty="0"/>
              <a:t>Total........................45 minutes</a:t>
            </a:r>
          </a:p>
          <a:p>
            <a:endParaRPr lang="en-US" dirty="0"/>
          </a:p>
          <a:p>
            <a:r>
              <a:rPr lang="en-US" dirty="0"/>
              <a:t>------------------------------------------------------------</a:t>
            </a:r>
          </a:p>
          <a:p>
            <a:endParaRPr lang="en-US" dirty="0"/>
          </a:p>
          <a:p>
            <a:r>
              <a:rPr lang="en-US" dirty="0"/>
              <a:t>INSTRUCTOR NOTES</a:t>
            </a:r>
          </a:p>
          <a:p>
            <a:endParaRPr lang="en-US" dirty="0"/>
          </a:p>
          <a:p>
            <a:r>
              <a:rPr lang="en-US" dirty="0"/>
              <a:t>Avoid turning this into a feature comparison.</a:t>
            </a:r>
          </a:p>
          <a:p>
            <a:endParaRPr lang="en-US" dirty="0"/>
          </a:p>
          <a:p>
            <a:r>
              <a:rPr lang="en-US" dirty="0"/>
              <a:t>Students do not need to memorize which provider offers which service.</a:t>
            </a:r>
          </a:p>
          <a:p>
            <a:endParaRPr lang="en-US" dirty="0"/>
          </a:p>
          <a:p>
            <a:r>
              <a:rPr lang="en-US" dirty="0"/>
              <a:t>Instead, emphasize the shared concepts.</a:t>
            </a:r>
          </a:p>
          <a:p>
            <a:endParaRPr lang="en-US" dirty="0"/>
          </a:p>
          <a:p>
            <a:r>
              <a:rPr lang="en-US" dirty="0"/>
              <a:t>Cloud providers solve the same fundamental problems:</a:t>
            </a:r>
          </a:p>
          <a:p>
            <a:endParaRPr lang="en-US" dirty="0"/>
          </a:p>
          <a:p>
            <a:r>
              <a:rPr lang="en-US" dirty="0"/>
              <a:t>Compute</a:t>
            </a:r>
          </a:p>
          <a:p>
            <a:endParaRPr lang="en-US" dirty="0"/>
          </a:p>
          <a:p>
            <a:r>
              <a:rPr lang="en-US" dirty="0"/>
              <a:t>Storage</a:t>
            </a:r>
          </a:p>
          <a:p>
            <a:endParaRPr lang="en-US" dirty="0"/>
          </a:p>
          <a:p>
            <a:r>
              <a:rPr lang="en-US" dirty="0"/>
              <a:t>Networking</a:t>
            </a:r>
          </a:p>
          <a:p>
            <a:endParaRPr lang="en-US" dirty="0"/>
          </a:p>
          <a:p>
            <a:r>
              <a:rPr lang="en-US" dirty="0"/>
              <a:t>Security</a:t>
            </a:r>
          </a:p>
          <a:p>
            <a:endParaRPr lang="en-US" dirty="0"/>
          </a:p>
          <a:p>
            <a:r>
              <a:rPr lang="en-US" dirty="0"/>
              <a:t>Scalability</a:t>
            </a:r>
          </a:p>
          <a:p>
            <a:endParaRPr lang="en-US" dirty="0"/>
          </a:p>
          <a:p>
            <a:r>
              <a:rPr lang="en-US" dirty="0"/>
              <a:t>Availability</a:t>
            </a:r>
          </a:p>
          <a:p>
            <a:endParaRPr lang="en-US" dirty="0"/>
          </a:p>
          <a:p>
            <a:r>
              <a:rPr lang="en-US" dirty="0"/>
              <a:t>Innovation</a:t>
            </a:r>
          </a:p>
          <a:p>
            <a:endParaRPr lang="en-US" dirty="0"/>
          </a:p>
          <a:p>
            <a:r>
              <a:rPr lang="en-US" dirty="0"/>
              <a:t>Keep returning to one central message:</a:t>
            </a:r>
          </a:p>
          <a:p>
            <a:endParaRPr lang="en-US" dirty="0"/>
          </a:p>
          <a:p>
            <a:r>
              <a:rPr lang="en-US" dirty="0"/>
              <a:t>The provider manages the infrastructure.</a:t>
            </a:r>
          </a:p>
          <a:p>
            <a:endParaRPr lang="en-US" dirty="0"/>
          </a:p>
          <a:p>
            <a:r>
              <a:rPr lang="en-US" dirty="0"/>
              <a:t>Engineers build the solutions.</a:t>
            </a:r>
          </a:p>
          <a:p>
            <a:endParaRPr lang="en-US" dirty="0"/>
          </a:p>
          <a:p>
            <a:r>
              <a:rPr lang="en-US" dirty="0"/>
              <a:t>Close with:</a:t>
            </a:r>
          </a:p>
          <a:p>
            <a:endParaRPr lang="en-US" dirty="0"/>
          </a:p>
          <a:p>
            <a:r>
              <a:rPr lang="en-US" dirty="0"/>
              <a:t>"The cloud isn't magic.</a:t>
            </a:r>
          </a:p>
          <a:p>
            <a:endParaRPr lang="en-US" dirty="0"/>
          </a:p>
          <a:p>
            <a:r>
              <a:rPr lang="en-US" dirty="0"/>
              <a:t>It's millions of computers working together so your software can reach</a:t>
            </a:r>
          </a:p>
          <a:p>
            <a:r>
              <a:rPr lang="en-US" dirty="0"/>
              <a:t>millions of people.</a:t>
            </a:r>
          </a:p>
          <a:p>
            <a:endParaRPr lang="en-US" dirty="0"/>
          </a:p>
          <a:p>
            <a:r>
              <a:rPr lang="en-US" dirty="0"/>
              <a:t>As software engineers, we don't build the cloud.</a:t>
            </a:r>
          </a:p>
          <a:p>
            <a:endParaRPr lang="en-US" dirty="0"/>
          </a:p>
          <a:p>
            <a:r>
              <a:rPr lang="en-US" dirty="0"/>
              <a:t>We build what the cloud makes possible."</a:t>
            </a:r>
          </a:p>
          <a:p>
            <a:endParaRPr lang="en-US" dirty="0"/>
          </a:p>
          <a:p>
            <a:r>
              <a:rPr lang="en-US" dirty="0"/>
              <a:t>============================================================</a:t>
            </a:r>
          </a:p>
        </p:txBody>
      </p:sp>
      <p:sp>
        <p:nvSpPr>
          <p:cNvPr id="4" name="Slide Number Placeholder 3"/>
          <p:cNvSpPr>
            <a:spLocks noGrp="1"/>
          </p:cNvSpPr>
          <p:nvPr>
            <p:ph type="sldNum" sz="quarter" idx="5"/>
          </p:nvPr>
        </p:nvSpPr>
        <p:spPr/>
        <p:txBody>
          <a:bodyPr/>
          <a:lstStyle/>
          <a:p>
            <a:fld id="{D23464B6-418B-4A24-AB2E-F540793FE320}" type="slidenum">
              <a:rPr lang="en-US" smtClean="0"/>
              <a:t>6</a:t>
            </a:fld>
            <a:endParaRPr lang="en-US"/>
          </a:p>
        </p:txBody>
      </p:sp>
    </p:spTree>
    <p:extLst>
      <p:ext uri="{BB962C8B-B14F-4D97-AF65-F5344CB8AC3E}">
        <p14:creationId xmlns:p14="http://schemas.microsoft.com/office/powerpoint/2010/main" val="56944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ARTIFACT XXX</a:t>
            </a:r>
          </a:p>
          <a:p>
            <a:endParaRPr lang="en-US" dirty="0"/>
          </a:p>
          <a:p>
            <a:r>
              <a:rPr lang="en-US" dirty="0"/>
              <a:t>YOUR FIRST SAAS APPLICATION</a:t>
            </a:r>
          </a:p>
          <a:p>
            <a:endParaRPr lang="en-US" dirty="0"/>
          </a:p>
          <a:p>
            <a:r>
              <a:rPr lang="en-US" dirty="0"/>
              <a:t>============================================================</a:t>
            </a:r>
          </a:p>
          <a:p>
            <a:endParaRPr lang="en-US" dirty="0"/>
          </a:p>
          <a:p>
            <a:r>
              <a:rPr lang="en-US" dirty="0"/>
              <a:t>SLIDE PURPOSE</a:t>
            </a:r>
          </a:p>
          <a:p>
            <a:endParaRPr lang="en-US" dirty="0"/>
          </a:p>
          <a:p>
            <a:r>
              <a:rPr lang="en-US" dirty="0"/>
              <a:t>Transition students from understanding Software as a Service to</a:t>
            </a:r>
          </a:p>
          <a:p>
            <a:r>
              <a:rPr lang="en-US" dirty="0"/>
              <a:t>thinking like SaaS developers.</a:t>
            </a:r>
          </a:p>
          <a:p>
            <a:endParaRPr lang="en-US" dirty="0"/>
          </a:p>
          <a:p>
            <a:r>
              <a:rPr lang="en-US" dirty="0"/>
              <a:t>Students should realize they already possess the foundational knowledge</a:t>
            </a:r>
          </a:p>
          <a:p>
            <a:r>
              <a:rPr lang="en-US" dirty="0"/>
              <a:t>needed to begin building cloud applications.</a:t>
            </a:r>
          </a:p>
          <a:p>
            <a:endParaRPr lang="en-US" dirty="0"/>
          </a:p>
          <a:p>
            <a:r>
              <a:rPr lang="en-US" dirty="0"/>
              <a:t>The emphasis is not on building a large system.</a:t>
            </a:r>
          </a:p>
          <a:p>
            <a:endParaRPr lang="en-US" dirty="0"/>
          </a:p>
          <a:p>
            <a:r>
              <a:rPr lang="en-US" dirty="0"/>
              <a:t>The emphasis is on taking the first step.</a:t>
            </a:r>
          </a:p>
          <a:p>
            <a:endParaRPr lang="en-US" dirty="0"/>
          </a:p>
          <a:p>
            <a:r>
              <a:rPr lang="en-US" dirty="0"/>
              <a:t>------------------------------------------------------------</a:t>
            </a:r>
          </a:p>
          <a:p>
            <a:endParaRPr lang="en-US" dirty="0"/>
          </a:p>
          <a:p>
            <a:r>
              <a:rPr lang="en-US" dirty="0"/>
              <a:t>OPENING</a:t>
            </a:r>
          </a:p>
          <a:p>
            <a:endParaRPr lang="en-US" dirty="0"/>
          </a:p>
          <a:p>
            <a:r>
              <a:rPr lang="en-US" dirty="0"/>
              <a:t>"I want to ask you a question."</a:t>
            </a:r>
          </a:p>
          <a:p>
            <a:endParaRPr lang="en-US" dirty="0"/>
          </a:p>
          <a:p>
            <a:r>
              <a:rPr lang="en-US" dirty="0"/>
              <a:t>"How many of you think companies like Spotify,</a:t>
            </a:r>
          </a:p>
          <a:p>
            <a:r>
              <a:rPr lang="en-US" dirty="0"/>
              <a:t>Netflix,</a:t>
            </a:r>
          </a:p>
          <a:p>
            <a:r>
              <a:rPr lang="en-US" dirty="0"/>
              <a:t>or Slack started with millions of users?"</a:t>
            </a:r>
          </a:p>
          <a:p>
            <a:endParaRPr lang="en-US" dirty="0"/>
          </a:p>
          <a:p>
            <a:r>
              <a:rPr lang="en-US" dirty="0"/>
              <a:t>(Pause.)</a:t>
            </a:r>
          </a:p>
          <a:p>
            <a:endParaRPr lang="en-US" dirty="0"/>
          </a:p>
          <a:p>
            <a:r>
              <a:rPr lang="en-US" dirty="0"/>
              <a:t>"They didn't."</a:t>
            </a:r>
          </a:p>
          <a:p>
            <a:endParaRPr lang="en-US" dirty="0"/>
          </a:p>
          <a:p>
            <a:r>
              <a:rPr lang="en-US" dirty="0"/>
              <a:t>"They started with one idea."</a:t>
            </a:r>
          </a:p>
          <a:p>
            <a:endParaRPr lang="en-US" dirty="0"/>
          </a:p>
          <a:p>
            <a:r>
              <a:rPr lang="en-US" dirty="0"/>
              <a:t>"One small application."</a:t>
            </a:r>
          </a:p>
          <a:p>
            <a:endParaRPr lang="en-US" dirty="0"/>
          </a:p>
          <a:p>
            <a:r>
              <a:rPr lang="en-US" dirty="0"/>
              <a:t>"One team."</a:t>
            </a:r>
          </a:p>
          <a:p>
            <a:endParaRPr lang="en-US" dirty="0"/>
          </a:p>
          <a:p>
            <a:r>
              <a:rPr lang="en-US" dirty="0"/>
              <a:t>"One first version."</a:t>
            </a:r>
          </a:p>
          <a:p>
            <a:endParaRPr lang="en-US" dirty="0"/>
          </a:p>
          <a:p>
            <a:r>
              <a:rPr lang="en-US" dirty="0"/>
              <a:t>"Today, you're beginning that same journey."</a:t>
            </a:r>
          </a:p>
          <a:p>
            <a:endParaRPr lang="en-US" dirty="0"/>
          </a:p>
          <a:p>
            <a:r>
              <a:rPr lang="en-US" dirty="0"/>
              <a:t>------------------------------------------------------------</a:t>
            </a:r>
          </a:p>
          <a:p>
            <a:endParaRPr lang="en-US" dirty="0"/>
          </a:p>
          <a:p>
            <a:r>
              <a:rPr lang="en-US" dirty="0"/>
              <a:t>THE BIG IDEA</a:t>
            </a:r>
          </a:p>
          <a:p>
            <a:endParaRPr lang="en-US" dirty="0"/>
          </a:p>
          <a:p>
            <a:r>
              <a:rPr lang="en-US" dirty="0"/>
              <a:t>Read the Hero Statement.</a:t>
            </a:r>
          </a:p>
          <a:p>
            <a:endParaRPr lang="en-US" dirty="0"/>
          </a:p>
          <a:p>
            <a:r>
              <a:rPr lang="en-US" dirty="0"/>
              <a:t>"You don't need a billion-dollar company to build SaaS."</a:t>
            </a:r>
          </a:p>
          <a:p>
            <a:endParaRPr lang="en-US" dirty="0"/>
          </a:p>
          <a:p>
            <a:r>
              <a:rPr lang="en-US" dirty="0"/>
              <a:t>"You need a real problem worth solving."</a:t>
            </a:r>
          </a:p>
          <a:p>
            <a:endParaRPr lang="en-US" dirty="0"/>
          </a:p>
          <a:p>
            <a:r>
              <a:rPr lang="en-US" dirty="0"/>
              <a:t>Pause.</a:t>
            </a:r>
          </a:p>
          <a:p>
            <a:endParaRPr lang="en-US" dirty="0"/>
          </a:p>
          <a:p>
            <a:r>
              <a:rPr lang="en-US" dirty="0"/>
              <a:t>Continue.</a:t>
            </a:r>
          </a:p>
          <a:p>
            <a:endParaRPr lang="en-US" dirty="0"/>
          </a:p>
          <a:p>
            <a:r>
              <a:rPr lang="en-US" dirty="0"/>
              <a:t>"The greatest software products didn't begin as finished systems."</a:t>
            </a:r>
          </a:p>
          <a:p>
            <a:endParaRPr lang="en-US" dirty="0"/>
          </a:p>
          <a:p>
            <a:r>
              <a:rPr lang="en-US" dirty="0"/>
              <a:t>"They began as simple solutions to real problems."</a:t>
            </a:r>
          </a:p>
          <a:p>
            <a:endParaRPr lang="en-US" dirty="0"/>
          </a:p>
          <a:p>
            <a:r>
              <a:rPr lang="en-US" dirty="0"/>
              <a:t>------------------------------------------------------------</a:t>
            </a:r>
          </a:p>
          <a:p>
            <a:endParaRPr lang="en-US" dirty="0"/>
          </a:p>
          <a:p>
            <a:r>
              <a:rPr lang="en-US" dirty="0"/>
              <a:t>THE SAAS DEVELOPMENT JOURNEY</a:t>
            </a:r>
          </a:p>
          <a:p>
            <a:endParaRPr lang="en-US" dirty="0"/>
          </a:p>
          <a:p>
            <a:r>
              <a:rPr lang="en-US" dirty="0"/>
              <a:t>Walk through each stage.</a:t>
            </a:r>
          </a:p>
          <a:p>
            <a:endParaRPr lang="en-US" dirty="0"/>
          </a:p>
          <a:p>
            <a:r>
              <a:rPr lang="en-US" dirty="0"/>
              <a:t>STEP 1</a:t>
            </a:r>
          </a:p>
          <a:p>
            <a:endParaRPr lang="en-US" dirty="0"/>
          </a:p>
          <a:p>
            <a:r>
              <a:rPr lang="en-US" dirty="0"/>
              <a:t>Find the Problem</a:t>
            </a:r>
          </a:p>
          <a:p>
            <a:endParaRPr lang="en-US" dirty="0"/>
          </a:p>
          <a:p>
            <a:r>
              <a:rPr lang="en-US" dirty="0"/>
              <a:t>Every successful SaaS product begins with understanding people.</a:t>
            </a:r>
          </a:p>
          <a:p>
            <a:endParaRPr lang="en-US" dirty="0"/>
          </a:p>
          <a:p>
            <a:r>
              <a:rPr lang="en-US" dirty="0"/>
              <a:t>Don't build software because it's interesting.</a:t>
            </a:r>
          </a:p>
          <a:p>
            <a:endParaRPr lang="en-US" dirty="0"/>
          </a:p>
          <a:p>
            <a:r>
              <a:rPr lang="en-US" dirty="0"/>
              <a:t>Build software because it solves a problem.</a:t>
            </a:r>
          </a:p>
          <a:p>
            <a:endParaRPr lang="en-US" dirty="0"/>
          </a:p>
          <a:p>
            <a:r>
              <a:rPr lang="en-US" dirty="0"/>
              <a:t>Examples:</a:t>
            </a:r>
          </a:p>
          <a:p>
            <a:endParaRPr lang="en-US" dirty="0"/>
          </a:p>
          <a:p>
            <a:r>
              <a:rPr lang="en-US" dirty="0"/>
              <a:t>Scheduling</a:t>
            </a:r>
          </a:p>
          <a:p>
            <a:endParaRPr lang="en-US" dirty="0"/>
          </a:p>
          <a:p>
            <a:r>
              <a:rPr lang="en-US" dirty="0"/>
              <a:t>Inventory</a:t>
            </a:r>
          </a:p>
          <a:p>
            <a:endParaRPr lang="en-US" dirty="0"/>
          </a:p>
          <a:p>
            <a:r>
              <a:rPr lang="en-US" dirty="0"/>
              <a:t>Homework tracking</a:t>
            </a:r>
          </a:p>
          <a:p>
            <a:endParaRPr lang="en-US" dirty="0"/>
          </a:p>
          <a:p>
            <a:r>
              <a:rPr lang="en-US" dirty="0"/>
              <a:t>Fitness</a:t>
            </a:r>
          </a:p>
          <a:p>
            <a:endParaRPr lang="en-US" dirty="0"/>
          </a:p>
          <a:p>
            <a:r>
              <a:rPr lang="en-US" dirty="0"/>
              <a:t>Budgeting</a:t>
            </a:r>
          </a:p>
          <a:p>
            <a:endParaRPr lang="en-US" dirty="0"/>
          </a:p>
          <a:p>
            <a:r>
              <a:rPr lang="en-US" dirty="0"/>
              <a:t>Communication</a:t>
            </a:r>
          </a:p>
          <a:p>
            <a:endParaRPr lang="en-US" dirty="0"/>
          </a:p>
          <a:p>
            <a:r>
              <a:rPr lang="en-US" dirty="0"/>
              <a:t>------------------------------------------------------------</a:t>
            </a:r>
          </a:p>
          <a:p>
            <a:endParaRPr lang="en-US" dirty="0"/>
          </a:p>
          <a:p>
            <a:r>
              <a:rPr lang="en-US" dirty="0"/>
              <a:t>STEP 2</a:t>
            </a:r>
          </a:p>
          <a:p>
            <a:endParaRPr lang="en-US" dirty="0"/>
          </a:p>
          <a:p>
            <a:r>
              <a:rPr lang="en-US" dirty="0"/>
              <a:t>Design the Solution</a:t>
            </a:r>
          </a:p>
          <a:p>
            <a:endParaRPr lang="en-US" dirty="0"/>
          </a:p>
          <a:p>
            <a:r>
              <a:rPr lang="en-US" dirty="0"/>
              <a:t>Ask:</a:t>
            </a:r>
          </a:p>
          <a:p>
            <a:endParaRPr lang="en-US" dirty="0"/>
          </a:p>
          <a:p>
            <a:r>
              <a:rPr lang="en-US" dirty="0"/>
              <a:t>"What is the smallest version that delivers value?"</a:t>
            </a:r>
          </a:p>
          <a:p>
            <a:endParaRPr lang="en-US" dirty="0"/>
          </a:p>
          <a:p>
            <a:r>
              <a:rPr lang="en-US" dirty="0"/>
              <a:t>Introduce the idea of the MVP.</a:t>
            </a:r>
          </a:p>
          <a:p>
            <a:endParaRPr lang="en-US" dirty="0"/>
          </a:p>
          <a:p>
            <a:r>
              <a:rPr lang="en-US" dirty="0"/>
              <a:t>Minimum Viable Product.</a:t>
            </a:r>
          </a:p>
          <a:p>
            <a:endParaRPr lang="en-US" dirty="0"/>
          </a:p>
          <a:p>
            <a:r>
              <a:rPr lang="en-US" dirty="0"/>
              <a:t>Keep it simple.</a:t>
            </a:r>
          </a:p>
          <a:p>
            <a:endParaRPr lang="en-US" dirty="0"/>
          </a:p>
          <a:p>
            <a:r>
              <a:rPr lang="en-US" dirty="0"/>
              <a:t>Focus on solving one problem well.</a:t>
            </a:r>
          </a:p>
          <a:p>
            <a:endParaRPr lang="en-US" dirty="0"/>
          </a:p>
          <a:p>
            <a:r>
              <a:rPr lang="en-US" dirty="0"/>
              <a:t>------------------------------------------------------------</a:t>
            </a:r>
          </a:p>
          <a:p>
            <a:endParaRPr lang="en-US" dirty="0"/>
          </a:p>
          <a:p>
            <a:r>
              <a:rPr lang="en-US" dirty="0"/>
              <a:t>STEP 3</a:t>
            </a:r>
          </a:p>
          <a:p>
            <a:endParaRPr lang="en-US" dirty="0"/>
          </a:p>
          <a:p>
            <a:r>
              <a:rPr lang="en-US" dirty="0"/>
              <a:t>Build the MVP</a:t>
            </a:r>
          </a:p>
          <a:p>
            <a:endParaRPr lang="en-US" dirty="0"/>
          </a:p>
          <a:p>
            <a:r>
              <a:rPr lang="en-US" dirty="0"/>
              <a:t>Write the code.</a:t>
            </a:r>
          </a:p>
          <a:p>
            <a:endParaRPr lang="en-US" dirty="0"/>
          </a:p>
          <a:p>
            <a:r>
              <a:rPr lang="en-US" dirty="0"/>
              <a:t>Connect the database.</a:t>
            </a:r>
          </a:p>
          <a:p>
            <a:endParaRPr lang="en-US" dirty="0"/>
          </a:p>
          <a:p>
            <a:r>
              <a:rPr lang="en-US" dirty="0"/>
              <a:t>Create the interface.</a:t>
            </a:r>
          </a:p>
          <a:p>
            <a:endParaRPr lang="en-US" dirty="0"/>
          </a:p>
          <a:p>
            <a:r>
              <a:rPr lang="en-US" dirty="0"/>
              <a:t>Remember:</a:t>
            </a:r>
          </a:p>
          <a:p>
            <a:endParaRPr lang="en-US" dirty="0"/>
          </a:p>
          <a:p>
            <a:r>
              <a:rPr lang="en-US" dirty="0"/>
              <a:t>Perfection is not the goal.</a:t>
            </a:r>
          </a:p>
          <a:p>
            <a:endParaRPr lang="en-US" dirty="0"/>
          </a:p>
          <a:p>
            <a:r>
              <a:rPr lang="en-US" dirty="0"/>
              <a:t>Progress is.</a:t>
            </a:r>
          </a:p>
          <a:p>
            <a:endParaRPr lang="en-US" dirty="0"/>
          </a:p>
          <a:p>
            <a:r>
              <a:rPr lang="en-US" dirty="0"/>
              <a:t>------------------------------------------------------------</a:t>
            </a:r>
          </a:p>
          <a:p>
            <a:endParaRPr lang="en-US" dirty="0"/>
          </a:p>
          <a:p>
            <a:r>
              <a:rPr lang="en-US" dirty="0"/>
              <a:t>STEP 4</a:t>
            </a:r>
          </a:p>
          <a:p>
            <a:endParaRPr lang="en-US" dirty="0"/>
          </a:p>
          <a:p>
            <a:r>
              <a:rPr lang="en-US" dirty="0"/>
              <a:t>Deploy and Deliver</a:t>
            </a:r>
          </a:p>
          <a:p>
            <a:endParaRPr lang="en-US" dirty="0"/>
          </a:p>
          <a:p>
            <a:r>
              <a:rPr lang="en-US" dirty="0"/>
              <a:t>Now your application leaves your computer.</a:t>
            </a:r>
          </a:p>
          <a:p>
            <a:endParaRPr lang="en-US" dirty="0"/>
          </a:p>
          <a:p>
            <a:r>
              <a:rPr lang="en-US" dirty="0"/>
              <a:t>Deploy it.</a:t>
            </a:r>
          </a:p>
          <a:p>
            <a:endParaRPr lang="en-US" dirty="0"/>
          </a:p>
          <a:p>
            <a:r>
              <a:rPr lang="en-US" dirty="0"/>
              <a:t>Test it.</a:t>
            </a:r>
          </a:p>
          <a:p>
            <a:endParaRPr lang="en-US" dirty="0"/>
          </a:p>
          <a:p>
            <a:r>
              <a:rPr lang="en-US" dirty="0"/>
              <a:t>Share it.</a:t>
            </a:r>
          </a:p>
          <a:p>
            <a:endParaRPr lang="en-US" dirty="0"/>
          </a:p>
          <a:p>
            <a:r>
              <a:rPr lang="en-US" dirty="0"/>
              <a:t>Collect feedback.</a:t>
            </a:r>
          </a:p>
          <a:p>
            <a:endParaRPr lang="en-US" dirty="0"/>
          </a:p>
          <a:p>
            <a:r>
              <a:rPr lang="en-US" dirty="0"/>
              <a:t>Explain:</a:t>
            </a:r>
          </a:p>
          <a:p>
            <a:endParaRPr lang="en-US" dirty="0"/>
          </a:p>
          <a:p>
            <a:r>
              <a:rPr lang="en-US" dirty="0"/>
              <a:t>"If users can't access your software..."</a:t>
            </a:r>
          </a:p>
          <a:p>
            <a:endParaRPr lang="en-US" dirty="0"/>
          </a:p>
          <a:p>
            <a:r>
              <a:rPr lang="en-US" dirty="0"/>
              <a:t>"It isn't really a SaaS application."</a:t>
            </a:r>
          </a:p>
          <a:p>
            <a:endParaRPr lang="en-US" dirty="0"/>
          </a:p>
          <a:p>
            <a:r>
              <a:rPr lang="en-US" dirty="0"/>
              <a:t>------------------------------------------------------------</a:t>
            </a:r>
          </a:p>
          <a:p>
            <a:endParaRPr lang="en-US" dirty="0"/>
          </a:p>
          <a:p>
            <a:r>
              <a:rPr lang="en-US" dirty="0"/>
              <a:t>STEP 5</a:t>
            </a:r>
          </a:p>
          <a:p>
            <a:endParaRPr lang="en-US" dirty="0"/>
          </a:p>
          <a:p>
            <a:r>
              <a:rPr lang="en-US" dirty="0"/>
              <a:t>Get Users and Feedback</a:t>
            </a:r>
          </a:p>
          <a:p>
            <a:endParaRPr lang="en-US" dirty="0"/>
          </a:p>
          <a:p>
            <a:r>
              <a:rPr lang="en-US" dirty="0"/>
              <a:t>Great software is shaped by users.</a:t>
            </a:r>
          </a:p>
          <a:p>
            <a:endParaRPr lang="en-US" dirty="0"/>
          </a:p>
          <a:p>
            <a:r>
              <a:rPr lang="en-US" dirty="0"/>
              <a:t>Listen.</a:t>
            </a:r>
          </a:p>
          <a:p>
            <a:endParaRPr lang="en-US" dirty="0"/>
          </a:p>
          <a:p>
            <a:r>
              <a:rPr lang="en-US" dirty="0"/>
              <a:t>Observe.</a:t>
            </a:r>
          </a:p>
          <a:p>
            <a:endParaRPr lang="en-US" dirty="0"/>
          </a:p>
          <a:p>
            <a:r>
              <a:rPr lang="en-US" dirty="0"/>
              <a:t>Improve.</a:t>
            </a:r>
          </a:p>
          <a:p>
            <a:endParaRPr lang="en-US" dirty="0"/>
          </a:p>
          <a:p>
            <a:r>
              <a:rPr lang="en-US" dirty="0"/>
              <a:t>Students should understand:</a:t>
            </a:r>
          </a:p>
          <a:p>
            <a:endParaRPr lang="en-US" dirty="0"/>
          </a:p>
          <a:p>
            <a:r>
              <a:rPr lang="en-US" dirty="0"/>
              <a:t>Real engineering continues after deployment.</a:t>
            </a:r>
          </a:p>
          <a:p>
            <a:endParaRPr lang="en-US" dirty="0"/>
          </a:p>
          <a:p>
            <a:r>
              <a:rPr lang="en-US" dirty="0"/>
              <a:t>------------------------------------------------------------</a:t>
            </a:r>
          </a:p>
          <a:p>
            <a:endParaRPr lang="en-US" dirty="0"/>
          </a:p>
          <a:p>
            <a:r>
              <a:rPr lang="en-US" dirty="0"/>
              <a:t>STEP 6</a:t>
            </a:r>
          </a:p>
          <a:p>
            <a:endParaRPr lang="en-US" dirty="0"/>
          </a:p>
          <a:p>
            <a:r>
              <a:rPr lang="en-US" dirty="0"/>
              <a:t>Iterate and Scale</a:t>
            </a:r>
          </a:p>
          <a:p>
            <a:endParaRPr lang="en-US" dirty="0"/>
          </a:p>
          <a:p>
            <a:r>
              <a:rPr lang="en-US" dirty="0"/>
              <a:t>Software is never finished.</a:t>
            </a:r>
          </a:p>
          <a:p>
            <a:endParaRPr lang="en-US" dirty="0"/>
          </a:p>
          <a:p>
            <a:r>
              <a:rPr lang="en-US" dirty="0"/>
              <a:t>Every release makes it better.</a:t>
            </a:r>
          </a:p>
          <a:p>
            <a:endParaRPr lang="en-US" dirty="0"/>
          </a:p>
          <a:p>
            <a:r>
              <a:rPr lang="en-US" dirty="0"/>
              <a:t>Every sprint improves the product.</a:t>
            </a:r>
          </a:p>
          <a:p>
            <a:endParaRPr lang="en-US" dirty="0"/>
          </a:p>
          <a:p>
            <a:r>
              <a:rPr lang="en-US" dirty="0"/>
              <a:t>Connect this back to Agile.</a:t>
            </a:r>
          </a:p>
          <a:p>
            <a:endParaRPr lang="en-US" dirty="0"/>
          </a:p>
          <a:p>
            <a:r>
              <a:rPr lang="en-US" dirty="0"/>
              <a:t>This is why companies release continuously.</a:t>
            </a:r>
          </a:p>
          <a:p>
            <a:endParaRPr lang="en-US" dirty="0"/>
          </a:p>
          <a:p>
            <a:r>
              <a:rPr lang="en-US" dirty="0"/>
              <a:t>------------------------------------------------------------</a:t>
            </a:r>
          </a:p>
          <a:p>
            <a:endParaRPr lang="en-US" dirty="0"/>
          </a:p>
          <a:p>
            <a:r>
              <a:rPr lang="en-US" dirty="0"/>
              <a:t>SAAS BUILT DIFFERENT</a:t>
            </a:r>
          </a:p>
          <a:p>
            <a:endParaRPr lang="en-US" dirty="0"/>
          </a:p>
          <a:p>
            <a:r>
              <a:rPr lang="en-US" dirty="0"/>
              <a:t>Review the four principles.</a:t>
            </a:r>
          </a:p>
          <a:p>
            <a:endParaRPr lang="en-US" dirty="0"/>
          </a:p>
          <a:p>
            <a:r>
              <a:rPr lang="en-US" dirty="0"/>
              <a:t>Multi-Tenant</a:t>
            </a:r>
          </a:p>
          <a:p>
            <a:endParaRPr lang="en-US" dirty="0"/>
          </a:p>
          <a:p>
            <a:r>
              <a:rPr lang="en-US" dirty="0"/>
              <a:t>One application.</a:t>
            </a:r>
          </a:p>
          <a:p>
            <a:endParaRPr lang="en-US" dirty="0"/>
          </a:p>
          <a:p>
            <a:r>
              <a:rPr lang="en-US" dirty="0"/>
              <a:t>Many customers.</a:t>
            </a:r>
          </a:p>
          <a:p>
            <a:endParaRPr lang="en-US" dirty="0"/>
          </a:p>
          <a:p>
            <a:r>
              <a:rPr lang="en-US" dirty="0"/>
              <a:t>Subscription Model</a:t>
            </a:r>
          </a:p>
          <a:p>
            <a:endParaRPr lang="en-US" dirty="0"/>
          </a:p>
          <a:p>
            <a:r>
              <a:rPr lang="en-US" dirty="0"/>
              <a:t>Recurring value.</a:t>
            </a:r>
          </a:p>
          <a:p>
            <a:endParaRPr lang="en-US" dirty="0"/>
          </a:p>
          <a:p>
            <a:r>
              <a:rPr lang="en-US" dirty="0"/>
              <a:t>Long-term relationships.</a:t>
            </a:r>
          </a:p>
          <a:p>
            <a:endParaRPr lang="en-US" dirty="0"/>
          </a:p>
          <a:p>
            <a:r>
              <a:rPr lang="en-US" dirty="0"/>
              <a:t>Always Available</a:t>
            </a:r>
          </a:p>
          <a:p>
            <a:endParaRPr lang="en-US" dirty="0"/>
          </a:p>
          <a:p>
            <a:r>
              <a:rPr lang="en-US" dirty="0"/>
              <a:t>Cloud-first thinking.</a:t>
            </a:r>
          </a:p>
          <a:p>
            <a:endParaRPr lang="en-US" dirty="0"/>
          </a:p>
          <a:p>
            <a:r>
              <a:rPr lang="en-US" dirty="0"/>
              <a:t>Global accessibility.</a:t>
            </a:r>
          </a:p>
          <a:p>
            <a:endParaRPr lang="en-US" dirty="0"/>
          </a:p>
          <a:p>
            <a:r>
              <a:rPr lang="en-US" dirty="0"/>
              <a:t>Iterate and Improve</a:t>
            </a:r>
          </a:p>
          <a:p>
            <a:endParaRPr lang="en-US" dirty="0"/>
          </a:p>
          <a:p>
            <a:r>
              <a:rPr lang="en-US" dirty="0"/>
              <a:t>Ship.</a:t>
            </a:r>
          </a:p>
          <a:p>
            <a:endParaRPr lang="en-US" dirty="0"/>
          </a:p>
          <a:p>
            <a:r>
              <a:rPr lang="en-US" dirty="0"/>
              <a:t>Learn.</a:t>
            </a:r>
          </a:p>
          <a:p>
            <a:endParaRPr lang="en-US" dirty="0"/>
          </a:p>
          <a:p>
            <a:r>
              <a:rPr lang="en-US" dirty="0"/>
              <a:t>Improve.</a:t>
            </a:r>
          </a:p>
          <a:p>
            <a:endParaRPr lang="en-US" dirty="0"/>
          </a:p>
          <a:p>
            <a:r>
              <a:rPr lang="en-US" dirty="0"/>
              <a:t>Repeat.</a:t>
            </a:r>
          </a:p>
          <a:p>
            <a:endParaRPr lang="en-US" dirty="0"/>
          </a:p>
          <a:p>
            <a:r>
              <a:rPr lang="en-US" dirty="0"/>
              <a:t>------------------------------------------------------------</a:t>
            </a:r>
          </a:p>
          <a:p>
            <a:endParaRPr lang="en-US" dirty="0"/>
          </a:p>
          <a:p>
            <a:r>
              <a:rPr lang="en-US" dirty="0"/>
              <a:t>SAAS STARTER TOOLKIT</a:t>
            </a:r>
          </a:p>
          <a:p>
            <a:endParaRPr lang="en-US" dirty="0"/>
          </a:p>
          <a:p>
            <a:r>
              <a:rPr lang="en-US" dirty="0"/>
              <a:t>Point out each tool.</a:t>
            </a:r>
          </a:p>
          <a:p>
            <a:endParaRPr lang="en-US" dirty="0"/>
          </a:p>
          <a:p>
            <a:r>
              <a:rPr lang="en-US" dirty="0"/>
              <a:t>Cloud Platform</a:t>
            </a:r>
          </a:p>
          <a:p>
            <a:endParaRPr lang="en-US" dirty="0"/>
          </a:p>
          <a:p>
            <a:r>
              <a:rPr lang="en-US" dirty="0"/>
              <a:t>Azure</a:t>
            </a:r>
          </a:p>
          <a:p>
            <a:endParaRPr lang="en-US" dirty="0"/>
          </a:p>
          <a:p>
            <a:r>
              <a:rPr lang="en-US" dirty="0"/>
              <a:t>AWS</a:t>
            </a:r>
          </a:p>
          <a:p>
            <a:endParaRPr lang="en-US" dirty="0"/>
          </a:p>
          <a:p>
            <a:r>
              <a:rPr lang="en-US" dirty="0"/>
              <a:t>Google Cloud</a:t>
            </a:r>
          </a:p>
          <a:p>
            <a:endParaRPr lang="en-US" dirty="0"/>
          </a:p>
          <a:p>
            <a:r>
              <a:rPr lang="en-US" dirty="0"/>
              <a:t>Frontend</a:t>
            </a:r>
          </a:p>
          <a:p>
            <a:endParaRPr lang="en-US" dirty="0"/>
          </a:p>
          <a:p>
            <a:r>
              <a:rPr lang="en-US" dirty="0"/>
              <a:t>React</a:t>
            </a:r>
          </a:p>
          <a:p>
            <a:endParaRPr lang="en-US" dirty="0"/>
          </a:p>
          <a:p>
            <a:r>
              <a:rPr lang="en-US" dirty="0"/>
              <a:t>Angular</a:t>
            </a:r>
          </a:p>
          <a:p>
            <a:endParaRPr lang="en-US" dirty="0"/>
          </a:p>
          <a:p>
            <a:r>
              <a:rPr lang="en-US" dirty="0"/>
              <a:t>Vue</a:t>
            </a:r>
          </a:p>
          <a:p>
            <a:endParaRPr lang="en-US" dirty="0"/>
          </a:p>
          <a:p>
            <a:r>
              <a:rPr lang="en-US" dirty="0"/>
              <a:t>Backend</a:t>
            </a:r>
          </a:p>
          <a:p>
            <a:endParaRPr lang="en-US" dirty="0"/>
          </a:p>
          <a:p>
            <a:r>
              <a:rPr lang="en-US" dirty="0"/>
              <a:t>.NET</a:t>
            </a:r>
          </a:p>
          <a:p>
            <a:endParaRPr lang="en-US" dirty="0"/>
          </a:p>
          <a:p>
            <a:r>
              <a:rPr lang="en-US" dirty="0"/>
              <a:t>Python</a:t>
            </a:r>
          </a:p>
          <a:p>
            <a:endParaRPr lang="en-US" dirty="0"/>
          </a:p>
          <a:p>
            <a:r>
              <a:rPr lang="en-US" dirty="0"/>
              <a:t>Node.js</a:t>
            </a:r>
          </a:p>
          <a:p>
            <a:endParaRPr lang="en-US" dirty="0"/>
          </a:p>
          <a:p>
            <a:r>
              <a:rPr lang="en-US" dirty="0"/>
              <a:t>Database</a:t>
            </a:r>
          </a:p>
          <a:p>
            <a:endParaRPr lang="en-US" dirty="0"/>
          </a:p>
          <a:p>
            <a:r>
              <a:rPr lang="en-US" dirty="0"/>
              <a:t>SQL</a:t>
            </a:r>
          </a:p>
          <a:p>
            <a:endParaRPr lang="en-US" dirty="0"/>
          </a:p>
          <a:p>
            <a:r>
              <a:rPr lang="en-US" dirty="0"/>
              <a:t>NoSQL</a:t>
            </a:r>
          </a:p>
          <a:p>
            <a:endParaRPr lang="en-US" dirty="0"/>
          </a:p>
          <a:p>
            <a:r>
              <a:rPr lang="en-US" dirty="0"/>
              <a:t>Authentication</a:t>
            </a:r>
          </a:p>
          <a:p>
            <a:endParaRPr lang="en-US" dirty="0"/>
          </a:p>
          <a:p>
            <a:r>
              <a:rPr lang="en-US" dirty="0"/>
              <a:t>Identity providers</a:t>
            </a:r>
          </a:p>
          <a:p>
            <a:endParaRPr lang="en-US" dirty="0"/>
          </a:p>
          <a:p>
            <a:r>
              <a:rPr lang="en-US" dirty="0"/>
              <a:t>Analytics</a:t>
            </a:r>
          </a:p>
          <a:p>
            <a:endParaRPr lang="en-US" dirty="0"/>
          </a:p>
          <a:p>
            <a:r>
              <a:rPr lang="en-US" dirty="0"/>
              <a:t>Measure everything.</a:t>
            </a:r>
          </a:p>
          <a:p>
            <a:endParaRPr lang="en-US" dirty="0"/>
          </a:p>
          <a:p>
            <a:r>
              <a:rPr lang="en-US" dirty="0"/>
              <a:t>Explain:</a:t>
            </a:r>
          </a:p>
          <a:p>
            <a:endParaRPr lang="en-US" dirty="0"/>
          </a:p>
          <a:p>
            <a:r>
              <a:rPr lang="en-US" dirty="0"/>
              <a:t>"You don't need every tool."</a:t>
            </a:r>
          </a:p>
          <a:p>
            <a:endParaRPr lang="en-US" dirty="0"/>
          </a:p>
          <a:p>
            <a:r>
              <a:rPr lang="en-US" dirty="0"/>
              <a:t>"You need the right tool."</a:t>
            </a:r>
          </a:p>
          <a:p>
            <a:endParaRPr lang="en-US" dirty="0"/>
          </a:p>
          <a:p>
            <a:r>
              <a:rPr lang="en-US" dirty="0"/>
              <a:t>------------------------------------------------------------</a:t>
            </a:r>
          </a:p>
          <a:p>
            <a:endParaRPr lang="en-US" dirty="0"/>
          </a:p>
          <a:p>
            <a:r>
              <a:rPr lang="en-US" dirty="0"/>
              <a:t>EXAMPLES THAT INSPIRE</a:t>
            </a:r>
          </a:p>
          <a:p>
            <a:endParaRPr lang="en-US" dirty="0"/>
          </a:p>
          <a:p>
            <a:r>
              <a:rPr lang="en-US" dirty="0"/>
              <a:t>Point to each company.</a:t>
            </a:r>
          </a:p>
          <a:p>
            <a:endParaRPr lang="en-US" dirty="0"/>
          </a:p>
          <a:p>
            <a:r>
              <a:rPr lang="en-US" dirty="0"/>
              <a:t>Slack</a:t>
            </a:r>
          </a:p>
          <a:p>
            <a:endParaRPr lang="en-US" dirty="0"/>
          </a:p>
          <a:p>
            <a:r>
              <a:rPr lang="en-US" dirty="0"/>
              <a:t>Notion</a:t>
            </a:r>
          </a:p>
          <a:p>
            <a:endParaRPr lang="en-US" dirty="0"/>
          </a:p>
          <a:p>
            <a:r>
              <a:rPr lang="en-US" dirty="0"/>
              <a:t>Zoom</a:t>
            </a:r>
          </a:p>
          <a:p>
            <a:endParaRPr lang="en-US" dirty="0"/>
          </a:p>
          <a:p>
            <a:r>
              <a:rPr lang="en-US" dirty="0"/>
              <a:t>Canva</a:t>
            </a:r>
          </a:p>
          <a:p>
            <a:endParaRPr lang="en-US" dirty="0"/>
          </a:p>
          <a:p>
            <a:r>
              <a:rPr lang="en-US" dirty="0"/>
              <a:t>Ask:</a:t>
            </a:r>
          </a:p>
          <a:p>
            <a:endParaRPr lang="en-US" dirty="0"/>
          </a:p>
          <a:p>
            <a:r>
              <a:rPr lang="en-US" dirty="0"/>
              <a:t>"What problem did this company solve?"</a:t>
            </a:r>
          </a:p>
          <a:p>
            <a:endParaRPr lang="en-US" dirty="0"/>
          </a:p>
          <a:p>
            <a:r>
              <a:rPr lang="en-US" dirty="0"/>
              <a:t>Guide discussion.</a:t>
            </a:r>
          </a:p>
          <a:p>
            <a:endParaRPr lang="en-US" dirty="0"/>
          </a:p>
          <a:p>
            <a:r>
              <a:rPr lang="en-US" dirty="0"/>
              <a:t>Students should begin thinking about problems instead of technology.</a:t>
            </a:r>
          </a:p>
          <a:p>
            <a:endParaRPr lang="en-US" dirty="0"/>
          </a:p>
          <a:p>
            <a:r>
              <a:rPr lang="en-US" dirty="0"/>
              <a:t>------------------------------------------------------------</a:t>
            </a:r>
          </a:p>
          <a:p>
            <a:endParaRPr lang="en-US" dirty="0"/>
          </a:p>
          <a:p>
            <a:r>
              <a:rPr lang="en-US" dirty="0"/>
              <a:t>ENGINEERING STORY</a:t>
            </a:r>
          </a:p>
          <a:p>
            <a:endParaRPr lang="en-US" dirty="0"/>
          </a:p>
          <a:p>
            <a:r>
              <a:rPr lang="en-US" dirty="0"/>
              <a:t>Share one of your own projects.</a:t>
            </a:r>
          </a:p>
          <a:p>
            <a:endParaRPr lang="en-US" dirty="0"/>
          </a:p>
          <a:p>
            <a:r>
              <a:rPr lang="en-US" dirty="0"/>
              <a:t>Talk about a project that started small.</a:t>
            </a:r>
          </a:p>
          <a:p>
            <a:endParaRPr lang="en-US" dirty="0"/>
          </a:p>
          <a:p>
            <a:r>
              <a:rPr lang="en-US" dirty="0"/>
              <a:t>Perhaps a classroom assignment...</a:t>
            </a:r>
          </a:p>
          <a:p>
            <a:endParaRPr lang="en-US" dirty="0"/>
          </a:p>
          <a:p>
            <a:r>
              <a:rPr lang="en-US" dirty="0"/>
              <a:t>A personal project...</a:t>
            </a:r>
          </a:p>
          <a:p>
            <a:endParaRPr lang="en-US" dirty="0"/>
          </a:p>
          <a:p>
            <a:r>
              <a:rPr lang="en-US" dirty="0"/>
              <a:t>Or your food pantry application.</a:t>
            </a:r>
          </a:p>
          <a:p>
            <a:endParaRPr lang="en-US" dirty="0"/>
          </a:p>
          <a:p>
            <a:r>
              <a:rPr lang="en-US" dirty="0"/>
              <a:t>Explain:</a:t>
            </a:r>
          </a:p>
          <a:p>
            <a:endParaRPr lang="en-US" dirty="0"/>
          </a:p>
          <a:p>
            <a:r>
              <a:rPr lang="en-US" dirty="0"/>
              <a:t>"It wasn't perfect."</a:t>
            </a:r>
          </a:p>
          <a:p>
            <a:endParaRPr lang="en-US" dirty="0"/>
          </a:p>
          <a:p>
            <a:r>
              <a:rPr lang="en-US" dirty="0"/>
              <a:t>"But it solved a real problem."</a:t>
            </a:r>
          </a:p>
          <a:p>
            <a:endParaRPr lang="en-US" dirty="0"/>
          </a:p>
          <a:p>
            <a:r>
              <a:rPr lang="en-US" dirty="0"/>
              <a:t>"And that's what mattered."</a:t>
            </a:r>
          </a:p>
          <a:p>
            <a:endParaRPr lang="en-US" dirty="0"/>
          </a:p>
          <a:p>
            <a:r>
              <a:rPr lang="en-US" dirty="0"/>
              <a:t>------------------------------------------------------------</a:t>
            </a:r>
          </a:p>
          <a:p>
            <a:endParaRPr lang="en-US" dirty="0"/>
          </a:p>
          <a:p>
            <a:r>
              <a:rPr lang="en-US" dirty="0"/>
              <a:t>ENGINEERING LESSON</a:t>
            </a:r>
          </a:p>
          <a:p>
            <a:endParaRPr lang="en-US" dirty="0"/>
          </a:p>
          <a:p>
            <a:r>
              <a:rPr lang="en-US" dirty="0"/>
              <a:t>Every successful SaaS application begins the same way.</a:t>
            </a:r>
          </a:p>
          <a:p>
            <a:endParaRPr lang="en-US" dirty="0"/>
          </a:p>
          <a:p>
            <a:r>
              <a:rPr lang="en-US" dirty="0"/>
              <a:t>Someone notices a problem.</a:t>
            </a:r>
          </a:p>
          <a:p>
            <a:endParaRPr lang="en-US" dirty="0"/>
          </a:p>
          <a:p>
            <a:r>
              <a:rPr lang="en-US" dirty="0"/>
              <a:t>Someone builds a solution.</a:t>
            </a:r>
          </a:p>
          <a:p>
            <a:endParaRPr lang="en-US" dirty="0"/>
          </a:p>
          <a:p>
            <a:r>
              <a:rPr lang="en-US" dirty="0"/>
              <a:t>Someone improves it over time.</a:t>
            </a:r>
          </a:p>
          <a:p>
            <a:endParaRPr lang="en-US" dirty="0"/>
          </a:p>
          <a:p>
            <a:r>
              <a:rPr lang="en-US" dirty="0"/>
              <a:t>Professional software engineering is not about writing the most code.</a:t>
            </a:r>
          </a:p>
          <a:p>
            <a:endParaRPr lang="en-US" dirty="0"/>
          </a:p>
          <a:p>
            <a:r>
              <a:rPr lang="en-US" dirty="0"/>
              <a:t>It's about creating the most value.</a:t>
            </a:r>
          </a:p>
          <a:p>
            <a:endParaRPr lang="en-US" dirty="0"/>
          </a:p>
          <a:p>
            <a:r>
              <a:rPr lang="en-US" dirty="0"/>
              <a:t>------------------------------------------------------------</a:t>
            </a:r>
          </a:p>
          <a:p>
            <a:endParaRPr lang="en-US" dirty="0"/>
          </a:p>
          <a:p>
            <a:r>
              <a:rPr lang="en-US" dirty="0"/>
              <a:t>CLASS DISCUSSION</a:t>
            </a:r>
          </a:p>
          <a:p>
            <a:endParaRPr lang="en-US" dirty="0"/>
          </a:p>
          <a:p>
            <a:r>
              <a:rPr lang="en-US" dirty="0"/>
              <a:t>Ask the room:</a:t>
            </a:r>
          </a:p>
          <a:p>
            <a:endParaRPr lang="en-US" dirty="0"/>
          </a:p>
          <a:p>
            <a:r>
              <a:rPr lang="en-US" dirty="0"/>
              <a:t>"If you could build one SaaS application today..."</a:t>
            </a:r>
          </a:p>
          <a:p>
            <a:endParaRPr lang="en-US" dirty="0"/>
          </a:p>
          <a:p>
            <a:r>
              <a:rPr lang="en-US" dirty="0"/>
              <a:t>"What problem would it solve?"</a:t>
            </a:r>
          </a:p>
          <a:p>
            <a:endParaRPr lang="en-US" dirty="0"/>
          </a:p>
          <a:p>
            <a:r>
              <a:rPr lang="en-US" dirty="0"/>
              <a:t>Give students a minute to think.</a:t>
            </a:r>
          </a:p>
          <a:p>
            <a:endParaRPr lang="en-US" dirty="0"/>
          </a:p>
          <a:p>
            <a:r>
              <a:rPr lang="en-US" dirty="0"/>
              <a:t>Invite several to share.</a:t>
            </a:r>
          </a:p>
          <a:p>
            <a:endParaRPr lang="en-US" dirty="0"/>
          </a:p>
          <a:p>
            <a:r>
              <a:rPr lang="en-US" dirty="0"/>
              <a:t>Write their ideas on the board.</a:t>
            </a:r>
          </a:p>
          <a:p>
            <a:endParaRPr lang="en-US" dirty="0"/>
          </a:p>
          <a:p>
            <a:r>
              <a:rPr lang="en-US" dirty="0"/>
              <a:t>This is often where future capstone ideas begin.</a:t>
            </a:r>
          </a:p>
          <a:p>
            <a:endParaRPr lang="en-US" dirty="0"/>
          </a:p>
          <a:p>
            <a:r>
              <a:rPr lang="en-US" dirty="0"/>
              <a:t>------------------------------------------------------------</a:t>
            </a:r>
          </a:p>
          <a:p>
            <a:endParaRPr lang="en-US" dirty="0"/>
          </a:p>
          <a:p>
            <a:r>
              <a:rPr lang="en-US" dirty="0"/>
              <a:t>REAL-WORLD CHALLENGE</a:t>
            </a:r>
          </a:p>
          <a:p>
            <a:endParaRPr lang="en-US" dirty="0"/>
          </a:p>
          <a:p>
            <a:r>
              <a:rPr lang="en-US" dirty="0"/>
              <a:t>Challenge students.</a:t>
            </a:r>
          </a:p>
          <a:p>
            <a:endParaRPr lang="en-US" dirty="0"/>
          </a:p>
          <a:p>
            <a:r>
              <a:rPr lang="en-US" dirty="0"/>
              <a:t>Before next class...</a:t>
            </a:r>
          </a:p>
          <a:p>
            <a:endParaRPr lang="en-US" dirty="0"/>
          </a:p>
          <a:p>
            <a:r>
              <a:rPr lang="en-US" dirty="0"/>
              <a:t>Write down three problems you experience every week.</a:t>
            </a:r>
          </a:p>
          <a:p>
            <a:endParaRPr lang="en-US" dirty="0"/>
          </a:p>
          <a:p>
            <a:r>
              <a:rPr lang="en-US" dirty="0"/>
              <a:t>Don't think about technology.</a:t>
            </a:r>
          </a:p>
          <a:p>
            <a:endParaRPr lang="en-US" dirty="0"/>
          </a:p>
          <a:p>
            <a:r>
              <a:rPr lang="en-US" dirty="0"/>
              <a:t>Think about frustration.</a:t>
            </a:r>
          </a:p>
          <a:p>
            <a:endParaRPr lang="en-US" dirty="0"/>
          </a:p>
          <a:p>
            <a:r>
              <a:rPr lang="en-US" dirty="0"/>
              <a:t>Every frustration is a potential software opportunity.</a:t>
            </a:r>
          </a:p>
          <a:p>
            <a:endParaRPr lang="en-US" dirty="0"/>
          </a:p>
          <a:p>
            <a:r>
              <a:rPr lang="en-US" dirty="0"/>
              <a:t>------------------------------------------------------------</a:t>
            </a:r>
          </a:p>
          <a:p>
            <a:endParaRPr lang="en-US" dirty="0"/>
          </a:p>
          <a:p>
            <a:r>
              <a:rPr lang="en-US" dirty="0"/>
              <a:t>TRANSITION</a:t>
            </a:r>
          </a:p>
          <a:p>
            <a:endParaRPr lang="en-US" dirty="0"/>
          </a:p>
          <a:p>
            <a:r>
              <a:rPr lang="en-US" dirty="0"/>
              <a:t>"We've learned why SaaS changed the world."</a:t>
            </a:r>
          </a:p>
          <a:p>
            <a:endParaRPr lang="en-US" dirty="0"/>
          </a:p>
          <a:p>
            <a:r>
              <a:rPr lang="en-US" dirty="0"/>
              <a:t>"We've learned how it works."</a:t>
            </a:r>
          </a:p>
          <a:p>
            <a:endParaRPr lang="en-US" dirty="0"/>
          </a:p>
          <a:p>
            <a:r>
              <a:rPr lang="en-US" dirty="0"/>
              <a:t>"We've met the companies that power it."</a:t>
            </a:r>
          </a:p>
          <a:p>
            <a:endParaRPr lang="en-US" dirty="0"/>
          </a:p>
          <a:p>
            <a:r>
              <a:rPr lang="en-US" dirty="0"/>
              <a:t>"Now it's your turn."</a:t>
            </a:r>
          </a:p>
          <a:p>
            <a:endParaRPr lang="en-US" dirty="0"/>
          </a:p>
          <a:p>
            <a:r>
              <a:rPr lang="en-US" dirty="0"/>
              <a:t>"Our Engineering Ticket will challenge you to think like a SaaS engineer."</a:t>
            </a:r>
          </a:p>
          <a:p>
            <a:endParaRPr lang="en-US" dirty="0"/>
          </a:p>
          <a:p>
            <a:r>
              <a:rPr lang="en-US" dirty="0"/>
              <a:t>------------------------------------------------------------</a:t>
            </a:r>
          </a:p>
          <a:p>
            <a:endParaRPr lang="en-US" dirty="0"/>
          </a:p>
          <a:p>
            <a:r>
              <a:rPr lang="en-US" dirty="0"/>
              <a:t>ESTIMATED TIME</a:t>
            </a:r>
          </a:p>
          <a:p>
            <a:endParaRPr lang="en-US" dirty="0"/>
          </a:p>
          <a:p>
            <a:r>
              <a:rPr lang="en-US" dirty="0"/>
              <a:t>Opening......................4 minutes</a:t>
            </a:r>
          </a:p>
          <a:p>
            <a:endParaRPr lang="en-US" dirty="0"/>
          </a:p>
          <a:p>
            <a:r>
              <a:rPr lang="en-US" dirty="0"/>
              <a:t>Development Journey.........15 minutes</a:t>
            </a:r>
          </a:p>
          <a:p>
            <a:endParaRPr lang="en-US" dirty="0"/>
          </a:p>
          <a:p>
            <a:r>
              <a:rPr lang="en-US" dirty="0"/>
              <a:t>Toolkit......................7 minutes</a:t>
            </a:r>
          </a:p>
          <a:p>
            <a:endParaRPr lang="en-US" dirty="0"/>
          </a:p>
          <a:p>
            <a:r>
              <a:rPr lang="en-US" dirty="0"/>
              <a:t>Examples.....................6 minutes</a:t>
            </a:r>
          </a:p>
          <a:p>
            <a:endParaRPr lang="en-US" dirty="0"/>
          </a:p>
          <a:p>
            <a:r>
              <a:rPr lang="en-US" dirty="0"/>
              <a:t>Discussion...................8 minutes</a:t>
            </a:r>
          </a:p>
          <a:p>
            <a:endParaRPr lang="en-US" dirty="0"/>
          </a:p>
          <a:p>
            <a:r>
              <a:rPr lang="en-US" dirty="0"/>
              <a:t>Challenge....................3 minutes</a:t>
            </a:r>
          </a:p>
          <a:p>
            <a:endParaRPr lang="en-US" dirty="0"/>
          </a:p>
          <a:p>
            <a:r>
              <a:rPr lang="en-US" dirty="0"/>
              <a:t>Transition...................2 minutes</a:t>
            </a:r>
          </a:p>
          <a:p>
            <a:endParaRPr lang="en-US" dirty="0"/>
          </a:p>
          <a:p>
            <a:r>
              <a:rPr lang="en-US" dirty="0"/>
              <a:t>Total........................45 minutes</a:t>
            </a:r>
          </a:p>
          <a:p>
            <a:endParaRPr lang="en-US" dirty="0"/>
          </a:p>
          <a:p>
            <a:r>
              <a:rPr lang="en-US" dirty="0"/>
              <a:t>------------------------------------------------------------</a:t>
            </a:r>
          </a:p>
          <a:p>
            <a:endParaRPr lang="en-US" dirty="0"/>
          </a:p>
          <a:p>
            <a:r>
              <a:rPr lang="en-US" dirty="0"/>
              <a:t>INSTRUCTOR NOTES</a:t>
            </a:r>
          </a:p>
          <a:p>
            <a:endParaRPr lang="en-US" dirty="0"/>
          </a:p>
          <a:p>
            <a:r>
              <a:rPr lang="en-US" dirty="0"/>
              <a:t>This lecture should inspire students.</a:t>
            </a:r>
          </a:p>
          <a:p>
            <a:endParaRPr lang="en-US" dirty="0"/>
          </a:p>
          <a:p>
            <a:r>
              <a:rPr lang="en-US" dirty="0"/>
              <a:t>Do not overwhelm them with technology.</a:t>
            </a:r>
          </a:p>
          <a:p>
            <a:endParaRPr lang="en-US" dirty="0"/>
          </a:p>
          <a:p>
            <a:r>
              <a:rPr lang="en-US" dirty="0"/>
              <a:t>Keep returning to one message:</a:t>
            </a:r>
          </a:p>
          <a:p>
            <a:endParaRPr lang="en-US" dirty="0"/>
          </a:p>
          <a:p>
            <a:r>
              <a:rPr lang="en-US" dirty="0"/>
              <a:t>Every successful SaaS application started small.</a:t>
            </a:r>
          </a:p>
          <a:p>
            <a:endParaRPr lang="en-US" dirty="0"/>
          </a:p>
          <a:p>
            <a:r>
              <a:rPr lang="en-US" dirty="0"/>
              <a:t>Celebrate progress.</a:t>
            </a:r>
          </a:p>
          <a:p>
            <a:endParaRPr lang="en-US" dirty="0"/>
          </a:p>
          <a:p>
            <a:r>
              <a:rPr lang="en-US" dirty="0"/>
              <a:t>Encourage ideas.</a:t>
            </a:r>
          </a:p>
          <a:p>
            <a:endParaRPr lang="en-US" dirty="0"/>
          </a:p>
          <a:p>
            <a:r>
              <a:rPr lang="en-US" dirty="0"/>
              <a:t>Show excitement.</a:t>
            </a:r>
          </a:p>
          <a:p>
            <a:endParaRPr lang="en-US" dirty="0"/>
          </a:p>
          <a:p>
            <a:r>
              <a:rPr lang="en-US" dirty="0"/>
              <a:t>Students should leave believing:</a:t>
            </a:r>
          </a:p>
          <a:p>
            <a:endParaRPr lang="en-US" dirty="0"/>
          </a:p>
          <a:p>
            <a:r>
              <a:rPr lang="en-US" dirty="0"/>
              <a:t>"I can build something people will use."</a:t>
            </a:r>
          </a:p>
          <a:p>
            <a:endParaRPr lang="en-US" dirty="0"/>
          </a:p>
          <a:p>
            <a:r>
              <a:rPr lang="en-US" dirty="0"/>
              <a:t>Close with:</a:t>
            </a:r>
          </a:p>
          <a:p>
            <a:endParaRPr lang="en-US" dirty="0"/>
          </a:p>
          <a:p>
            <a:r>
              <a:rPr lang="en-US" dirty="0"/>
              <a:t>"The companies we admire today all started with one simple idea.</a:t>
            </a:r>
          </a:p>
          <a:p>
            <a:endParaRPr lang="en-US" dirty="0"/>
          </a:p>
          <a:p>
            <a:r>
              <a:rPr lang="en-US" dirty="0"/>
              <a:t>The next great idea could begin with one of yours."</a:t>
            </a:r>
          </a:p>
          <a:p>
            <a:endParaRPr lang="en-US" dirty="0"/>
          </a:p>
          <a:p>
            <a:r>
              <a:rPr lang="en-US" dirty="0"/>
              <a:t>============================================================</a:t>
            </a:r>
          </a:p>
        </p:txBody>
      </p:sp>
      <p:sp>
        <p:nvSpPr>
          <p:cNvPr id="4" name="Slide Number Placeholder 3"/>
          <p:cNvSpPr>
            <a:spLocks noGrp="1"/>
          </p:cNvSpPr>
          <p:nvPr>
            <p:ph type="sldNum" sz="quarter" idx="5"/>
          </p:nvPr>
        </p:nvSpPr>
        <p:spPr/>
        <p:txBody>
          <a:bodyPr/>
          <a:lstStyle/>
          <a:p>
            <a:fld id="{D23464B6-418B-4A24-AB2E-F540793FE320}" type="slidenum">
              <a:rPr lang="en-US" smtClean="0"/>
              <a:t>7</a:t>
            </a:fld>
            <a:endParaRPr lang="en-US"/>
          </a:p>
        </p:txBody>
      </p:sp>
    </p:spTree>
    <p:extLst>
      <p:ext uri="{BB962C8B-B14F-4D97-AF65-F5344CB8AC3E}">
        <p14:creationId xmlns:p14="http://schemas.microsoft.com/office/powerpoint/2010/main" val="16619936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ARTIFACT XXXI</a:t>
            </a:r>
          </a:p>
          <a:p>
            <a:endParaRPr lang="en-US" dirty="0"/>
          </a:p>
          <a:p>
            <a:r>
              <a:rPr lang="en-US" dirty="0"/>
              <a:t>SAAS-101 ENGINEERING TICKET</a:t>
            </a:r>
          </a:p>
          <a:p>
            <a:endParaRPr lang="en-US" dirty="0"/>
          </a:p>
          <a:p>
            <a:r>
              <a:rPr lang="en-US" dirty="0"/>
              <a:t>============================================================</a:t>
            </a:r>
          </a:p>
          <a:p>
            <a:endParaRPr lang="en-US" dirty="0"/>
          </a:p>
          <a:p>
            <a:r>
              <a:rPr lang="en-US" dirty="0"/>
              <a:t>SLIDE PURPOSE</a:t>
            </a:r>
          </a:p>
          <a:p>
            <a:endParaRPr lang="en-US" dirty="0"/>
          </a:p>
          <a:p>
            <a:r>
              <a:rPr lang="en-US" dirty="0"/>
              <a:t>Introduce the Sprint 2 Engineering Ticket and challenge students to</a:t>
            </a:r>
          </a:p>
          <a:p>
            <a:r>
              <a:rPr lang="en-US" dirty="0"/>
              <a:t>apply everything they have learned about Software as a Service.</a:t>
            </a:r>
          </a:p>
          <a:p>
            <a:endParaRPr lang="en-US" dirty="0"/>
          </a:p>
          <a:p>
            <a:r>
              <a:rPr lang="en-US" dirty="0"/>
              <a:t>Students are not expected to build a complete application.</a:t>
            </a:r>
          </a:p>
          <a:p>
            <a:endParaRPr lang="en-US" dirty="0"/>
          </a:p>
          <a:p>
            <a:r>
              <a:rPr lang="en-US" dirty="0"/>
              <a:t>They are expected to think like software engineers by identifying a</a:t>
            </a:r>
          </a:p>
          <a:p>
            <a:r>
              <a:rPr lang="en-US" dirty="0"/>
              <a:t>problem, designing a solution, and planning an MVP.</a:t>
            </a:r>
          </a:p>
          <a:p>
            <a:endParaRPr lang="en-US" dirty="0"/>
          </a:p>
          <a:p>
            <a:r>
              <a:rPr lang="en-US" dirty="0"/>
              <a:t>The emphasis is on engineering thinking—not implementation.</a:t>
            </a:r>
          </a:p>
          <a:p>
            <a:endParaRPr lang="en-US" dirty="0"/>
          </a:p>
          <a:p>
            <a:r>
              <a:rPr lang="en-US" dirty="0"/>
              <a:t>------------------------------------------------------------</a:t>
            </a:r>
          </a:p>
          <a:p>
            <a:endParaRPr lang="en-US" dirty="0"/>
          </a:p>
          <a:p>
            <a:r>
              <a:rPr lang="en-US" dirty="0"/>
              <a:t>OPENING</a:t>
            </a:r>
          </a:p>
          <a:p>
            <a:endParaRPr lang="en-US" dirty="0"/>
          </a:p>
          <a:p>
            <a:r>
              <a:rPr lang="en-US" dirty="0"/>
              <a:t>"Congratulations."</a:t>
            </a:r>
          </a:p>
          <a:p>
            <a:endParaRPr lang="en-US" dirty="0"/>
          </a:p>
          <a:p>
            <a:r>
              <a:rPr lang="en-US" dirty="0"/>
              <a:t>"You've completed Sprint 2."</a:t>
            </a:r>
          </a:p>
          <a:p>
            <a:endParaRPr lang="en-US" dirty="0"/>
          </a:p>
          <a:p>
            <a:r>
              <a:rPr lang="en-US" dirty="0"/>
              <a:t>"You now understand what SaaS is."</a:t>
            </a:r>
          </a:p>
          <a:p>
            <a:endParaRPr lang="en-US" dirty="0"/>
          </a:p>
          <a:p>
            <a:r>
              <a:rPr lang="en-US" dirty="0"/>
              <a:t>"You understand why it changed the software industry."</a:t>
            </a:r>
          </a:p>
          <a:p>
            <a:endParaRPr lang="en-US" dirty="0"/>
          </a:p>
          <a:p>
            <a:r>
              <a:rPr lang="en-US" dirty="0"/>
              <a:t>"You understand cloud providers."</a:t>
            </a:r>
          </a:p>
          <a:p>
            <a:endParaRPr lang="en-US" dirty="0"/>
          </a:p>
          <a:p>
            <a:r>
              <a:rPr lang="en-US" dirty="0"/>
              <a:t>"You understand modern SaaS architecture."</a:t>
            </a:r>
          </a:p>
          <a:p>
            <a:endParaRPr lang="en-US" dirty="0"/>
          </a:p>
          <a:p>
            <a:r>
              <a:rPr lang="en-US" dirty="0"/>
              <a:t>"Now it's your turn."</a:t>
            </a:r>
          </a:p>
          <a:p>
            <a:endParaRPr lang="en-US" dirty="0"/>
          </a:p>
          <a:p>
            <a:r>
              <a:rPr lang="en-US" dirty="0"/>
              <a:t>"Today, you're going to think like the founder of a software company."</a:t>
            </a:r>
          </a:p>
          <a:p>
            <a:endParaRPr lang="en-US" dirty="0"/>
          </a:p>
          <a:p>
            <a:r>
              <a:rPr lang="en-US" dirty="0"/>
              <a:t>------------------------------------------------------------</a:t>
            </a:r>
          </a:p>
          <a:p>
            <a:endParaRPr lang="en-US" dirty="0"/>
          </a:p>
          <a:p>
            <a:r>
              <a:rPr lang="en-US" dirty="0"/>
              <a:t>THE BIG IDEA</a:t>
            </a:r>
          </a:p>
          <a:p>
            <a:endParaRPr lang="en-US" dirty="0"/>
          </a:p>
          <a:p>
            <a:r>
              <a:rPr lang="en-US" dirty="0"/>
              <a:t>Read the Hero Statement.</a:t>
            </a:r>
          </a:p>
          <a:p>
            <a:endParaRPr lang="en-US" dirty="0"/>
          </a:p>
          <a:p>
            <a:r>
              <a:rPr lang="en-US" dirty="0"/>
              <a:t>"Every successful SaaS application begins by solving one real problem."</a:t>
            </a:r>
          </a:p>
          <a:p>
            <a:endParaRPr lang="en-US" dirty="0"/>
          </a:p>
          <a:p>
            <a:r>
              <a:rPr lang="en-US" dirty="0"/>
              <a:t>Pause.</a:t>
            </a:r>
          </a:p>
          <a:p>
            <a:endParaRPr lang="en-US" dirty="0"/>
          </a:p>
          <a:p>
            <a:r>
              <a:rPr lang="en-US" dirty="0"/>
              <a:t>Continue.</a:t>
            </a:r>
          </a:p>
          <a:p>
            <a:endParaRPr lang="en-US" dirty="0"/>
          </a:p>
          <a:p>
            <a:r>
              <a:rPr lang="en-US" dirty="0"/>
              <a:t>"Technology should never be the starting point."</a:t>
            </a:r>
          </a:p>
          <a:p>
            <a:endParaRPr lang="en-US" dirty="0"/>
          </a:p>
          <a:p>
            <a:r>
              <a:rPr lang="en-US" dirty="0"/>
              <a:t>"The problem always comes first."</a:t>
            </a:r>
          </a:p>
          <a:p>
            <a:endParaRPr lang="en-US" dirty="0"/>
          </a:p>
          <a:p>
            <a:r>
              <a:rPr lang="en-US" dirty="0"/>
              <a:t>"Great software engineers don't ask..."</a:t>
            </a:r>
          </a:p>
          <a:p>
            <a:endParaRPr lang="en-US" dirty="0"/>
          </a:p>
          <a:p>
            <a:r>
              <a:rPr lang="en-US" dirty="0"/>
              <a:t>'What can I build?'</a:t>
            </a:r>
          </a:p>
          <a:p>
            <a:endParaRPr lang="en-US" dirty="0"/>
          </a:p>
          <a:p>
            <a:r>
              <a:rPr lang="en-US" dirty="0"/>
              <a:t>"They ask..."</a:t>
            </a:r>
          </a:p>
          <a:p>
            <a:endParaRPr lang="en-US" dirty="0"/>
          </a:p>
          <a:p>
            <a:r>
              <a:rPr lang="en-US" dirty="0"/>
              <a:t>'What problem can I solve?'</a:t>
            </a:r>
          </a:p>
          <a:p>
            <a:endParaRPr lang="en-US" dirty="0"/>
          </a:p>
          <a:p>
            <a:r>
              <a:rPr lang="en-US" dirty="0"/>
              <a:t>------------------------------------------------------------</a:t>
            </a:r>
          </a:p>
          <a:p>
            <a:endParaRPr lang="en-US" dirty="0"/>
          </a:p>
          <a:p>
            <a:r>
              <a:rPr lang="en-US" dirty="0"/>
              <a:t>MISSION</a:t>
            </a:r>
          </a:p>
          <a:p>
            <a:endParaRPr lang="en-US" dirty="0"/>
          </a:p>
          <a:p>
            <a:r>
              <a:rPr lang="en-US" dirty="0"/>
              <a:t>Read the mission statement.</a:t>
            </a:r>
          </a:p>
          <a:p>
            <a:endParaRPr lang="en-US" dirty="0"/>
          </a:p>
          <a:p>
            <a:r>
              <a:rPr lang="en-US" dirty="0"/>
              <a:t>"As an engineer at Atlas Software Solutions..."</a:t>
            </a:r>
          </a:p>
          <a:p>
            <a:endParaRPr lang="en-US" dirty="0"/>
          </a:p>
          <a:p>
            <a:r>
              <a:rPr lang="en-US" dirty="0"/>
              <a:t>"Your mission is to identify a real-world problem and design the first</a:t>
            </a:r>
          </a:p>
          <a:p>
            <a:r>
              <a:rPr lang="en-US" dirty="0"/>
              <a:t>version of a Software as a Service application."</a:t>
            </a:r>
          </a:p>
          <a:p>
            <a:endParaRPr lang="en-US" dirty="0"/>
          </a:p>
          <a:p>
            <a:r>
              <a:rPr lang="en-US" dirty="0"/>
              <a:t>"This is not a coding assignment."</a:t>
            </a:r>
          </a:p>
          <a:p>
            <a:endParaRPr lang="en-US" dirty="0"/>
          </a:p>
          <a:p>
            <a:r>
              <a:rPr lang="en-US" dirty="0"/>
              <a:t>"This is a product design assignment."</a:t>
            </a:r>
          </a:p>
          <a:p>
            <a:endParaRPr lang="en-US" dirty="0"/>
          </a:p>
          <a:p>
            <a:r>
              <a:rPr lang="en-US" dirty="0"/>
              <a:t>------------------------------------------------------------</a:t>
            </a:r>
          </a:p>
          <a:p>
            <a:endParaRPr lang="en-US" dirty="0"/>
          </a:p>
          <a:p>
            <a:r>
              <a:rPr lang="en-US" dirty="0"/>
              <a:t>ENGINEERING OBJECTIVES</a:t>
            </a:r>
          </a:p>
          <a:p>
            <a:endParaRPr lang="en-US" dirty="0"/>
          </a:p>
          <a:p>
            <a:r>
              <a:rPr lang="en-US" dirty="0"/>
              <a:t>Walk through each objective.</a:t>
            </a:r>
          </a:p>
          <a:p>
            <a:endParaRPr lang="en-US" dirty="0"/>
          </a:p>
          <a:p>
            <a:r>
              <a:rPr lang="en-US" dirty="0"/>
              <a:t>Identify a real-world problem.</a:t>
            </a:r>
          </a:p>
          <a:p>
            <a:endParaRPr lang="en-US" dirty="0"/>
          </a:p>
          <a:p>
            <a:r>
              <a:rPr lang="en-US" dirty="0"/>
              <a:t>Define the target users.</a:t>
            </a:r>
          </a:p>
          <a:p>
            <a:endParaRPr lang="en-US" dirty="0"/>
          </a:p>
          <a:p>
            <a:r>
              <a:rPr lang="en-US" dirty="0"/>
              <a:t>Describe the SaaS solution.</a:t>
            </a:r>
          </a:p>
          <a:p>
            <a:endParaRPr lang="en-US" dirty="0"/>
          </a:p>
          <a:p>
            <a:r>
              <a:rPr lang="en-US" dirty="0"/>
              <a:t>Select a cloud provider.</a:t>
            </a:r>
          </a:p>
          <a:p>
            <a:endParaRPr lang="en-US" dirty="0"/>
          </a:p>
          <a:p>
            <a:r>
              <a:rPr lang="en-US" dirty="0"/>
              <a:t>Choose the appropriate service model.</a:t>
            </a:r>
          </a:p>
          <a:p>
            <a:endParaRPr lang="en-US" dirty="0"/>
          </a:p>
          <a:p>
            <a:r>
              <a:rPr lang="en-US" dirty="0"/>
              <a:t>Design a simple architecture.</a:t>
            </a:r>
          </a:p>
          <a:p>
            <a:endParaRPr lang="en-US" dirty="0"/>
          </a:p>
          <a:p>
            <a:r>
              <a:rPr lang="en-US" dirty="0"/>
              <a:t>Explain the business value.</a:t>
            </a:r>
          </a:p>
          <a:p>
            <a:endParaRPr lang="en-US" dirty="0"/>
          </a:p>
          <a:p>
            <a:r>
              <a:rPr lang="en-US" dirty="0"/>
              <a:t>Explain that professional software engineering always begins with</a:t>
            </a:r>
          </a:p>
          <a:p>
            <a:r>
              <a:rPr lang="en-US" dirty="0"/>
              <a:t>understanding people before writing code.</a:t>
            </a:r>
          </a:p>
          <a:p>
            <a:endParaRPr lang="en-US" dirty="0"/>
          </a:p>
          <a:p>
            <a:r>
              <a:rPr lang="en-US" dirty="0"/>
              <a:t>------------------------------------------------------------</a:t>
            </a:r>
          </a:p>
          <a:p>
            <a:endParaRPr lang="en-US" dirty="0"/>
          </a:p>
          <a:p>
            <a:r>
              <a:rPr lang="en-US" dirty="0"/>
              <a:t>DELIVERABLES</a:t>
            </a:r>
          </a:p>
          <a:p>
            <a:endParaRPr lang="en-US" dirty="0"/>
          </a:p>
          <a:p>
            <a:r>
              <a:rPr lang="en-US" dirty="0"/>
              <a:t>Review each required deliverable.</a:t>
            </a:r>
          </a:p>
          <a:p>
            <a:endParaRPr lang="en-US" dirty="0"/>
          </a:p>
          <a:p>
            <a:r>
              <a:rPr lang="en-US" dirty="0"/>
              <a:t>Problem Statement</a:t>
            </a:r>
          </a:p>
          <a:p>
            <a:endParaRPr lang="en-US" dirty="0"/>
          </a:p>
          <a:p>
            <a:r>
              <a:rPr lang="en-US" dirty="0"/>
              <a:t>Describe the problem clearly.</a:t>
            </a:r>
          </a:p>
          <a:p>
            <a:endParaRPr lang="en-US" dirty="0"/>
          </a:p>
          <a:p>
            <a:r>
              <a:rPr lang="en-US" dirty="0"/>
              <a:t>Target User</a:t>
            </a:r>
          </a:p>
          <a:p>
            <a:endParaRPr lang="en-US" dirty="0"/>
          </a:p>
          <a:p>
            <a:r>
              <a:rPr lang="en-US" dirty="0"/>
              <a:t>Who experiences this problem?</a:t>
            </a:r>
          </a:p>
          <a:p>
            <a:endParaRPr lang="en-US" dirty="0"/>
          </a:p>
          <a:p>
            <a:r>
              <a:rPr lang="en-US" dirty="0"/>
              <a:t>Cloud Provider</a:t>
            </a:r>
          </a:p>
          <a:p>
            <a:endParaRPr lang="en-US" dirty="0"/>
          </a:p>
          <a:p>
            <a:r>
              <a:rPr lang="en-US" dirty="0"/>
              <a:t>Explain why Azure, AWS, or Google Cloud is the best choice.</a:t>
            </a:r>
          </a:p>
          <a:p>
            <a:endParaRPr lang="en-US" dirty="0"/>
          </a:p>
          <a:p>
            <a:r>
              <a:rPr lang="en-US" dirty="0"/>
              <a:t>Architecture Diagram</a:t>
            </a:r>
          </a:p>
          <a:p>
            <a:endParaRPr lang="en-US" dirty="0"/>
          </a:p>
          <a:p>
            <a:r>
              <a:rPr lang="en-US" dirty="0"/>
              <a:t>Show the major components of your application.</a:t>
            </a:r>
          </a:p>
          <a:p>
            <a:endParaRPr lang="en-US" dirty="0"/>
          </a:p>
          <a:p>
            <a:r>
              <a:rPr lang="en-US" dirty="0"/>
              <a:t>MVP Feature List</a:t>
            </a:r>
          </a:p>
          <a:p>
            <a:endParaRPr lang="en-US" dirty="0"/>
          </a:p>
          <a:p>
            <a:r>
              <a:rPr lang="en-US" dirty="0"/>
              <a:t>Identify only the features needed for Version 1.</a:t>
            </a:r>
          </a:p>
          <a:p>
            <a:endParaRPr lang="en-US" dirty="0"/>
          </a:p>
          <a:p>
            <a:r>
              <a:rPr lang="en-US" dirty="0"/>
              <a:t>One-Page Proposal</a:t>
            </a:r>
          </a:p>
          <a:p>
            <a:endParaRPr lang="en-US" dirty="0"/>
          </a:p>
          <a:p>
            <a:r>
              <a:rPr lang="en-US" dirty="0"/>
              <a:t>Bring everything together into a professional summary.</a:t>
            </a:r>
          </a:p>
          <a:p>
            <a:endParaRPr lang="en-US" dirty="0"/>
          </a:p>
          <a:p>
            <a:r>
              <a:rPr lang="en-US" dirty="0"/>
              <a:t>Emphasize:</a:t>
            </a:r>
          </a:p>
          <a:p>
            <a:endParaRPr lang="en-US" dirty="0"/>
          </a:p>
          <a:p>
            <a:r>
              <a:rPr lang="en-US" dirty="0"/>
              <a:t>"Keep it simple."</a:t>
            </a:r>
          </a:p>
          <a:p>
            <a:endParaRPr lang="en-US" dirty="0"/>
          </a:p>
          <a:p>
            <a:r>
              <a:rPr lang="en-US" dirty="0"/>
              <a:t>"The best MVP solves one problem extremely well."</a:t>
            </a:r>
          </a:p>
          <a:p>
            <a:endParaRPr lang="en-US" dirty="0"/>
          </a:p>
          <a:p>
            <a:r>
              <a:rPr lang="en-US" dirty="0"/>
              <a:t>------------------------------------------------------------</a:t>
            </a:r>
          </a:p>
          <a:p>
            <a:endParaRPr lang="en-US" dirty="0"/>
          </a:p>
          <a:p>
            <a:r>
              <a:rPr lang="en-US" dirty="0"/>
              <a:t>ACCEPTANCE CRITERIA</a:t>
            </a:r>
          </a:p>
          <a:p>
            <a:endParaRPr lang="en-US" dirty="0"/>
          </a:p>
          <a:p>
            <a:r>
              <a:rPr lang="en-US" dirty="0"/>
              <a:t>Explain that engineers don't submit work hoping it is correct.</a:t>
            </a:r>
          </a:p>
          <a:p>
            <a:endParaRPr lang="en-US" dirty="0"/>
          </a:p>
          <a:p>
            <a:r>
              <a:rPr lang="en-US" dirty="0"/>
              <a:t>They build toward clearly defined success criteria.</a:t>
            </a:r>
          </a:p>
          <a:p>
            <a:endParaRPr lang="en-US" dirty="0"/>
          </a:p>
          <a:p>
            <a:r>
              <a:rPr lang="en-US" dirty="0"/>
              <a:t>Review each item.</a:t>
            </a:r>
          </a:p>
          <a:p>
            <a:endParaRPr lang="en-US" dirty="0"/>
          </a:p>
          <a:p>
            <a:r>
              <a:rPr lang="en-US" dirty="0"/>
              <a:t>Can another person understand the problem?</a:t>
            </a:r>
          </a:p>
          <a:p>
            <a:endParaRPr lang="en-US" dirty="0"/>
          </a:p>
          <a:p>
            <a:r>
              <a:rPr lang="en-US" dirty="0"/>
              <a:t>Can they identify the users?</a:t>
            </a:r>
          </a:p>
          <a:p>
            <a:endParaRPr lang="en-US" dirty="0"/>
          </a:p>
          <a:p>
            <a:r>
              <a:rPr lang="en-US" dirty="0"/>
              <a:t>Is the cloud provider justified?</a:t>
            </a:r>
          </a:p>
          <a:p>
            <a:endParaRPr lang="en-US" dirty="0"/>
          </a:p>
          <a:p>
            <a:r>
              <a:rPr lang="en-US" dirty="0"/>
              <a:t>Does the architecture make sense?</a:t>
            </a:r>
          </a:p>
          <a:p>
            <a:endParaRPr lang="en-US" dirty="0"/>
          </a:p>
          <a:p>
            <a:r>
              <a:rPr lang="en-US" dirty="0"/>
              <a:t>Are the MVP features realistic?</a:t>
            </a:r>
          </a:p>
          <a:p>
            <a:endParaRPr lang="en-US" dirty="0"/>
          </a:p>
          <a:p>
            <a:r>
              <a:rPr lang="en-US" dirty="0"/>
              <a:t>Is the proposal professional?</a:t>
            </a:r>
          </a:p>
          <a:p>
            <a:endParaRPr lang="en-US" dirty="0"/>
          </a:p>
          <a:p>
            <a:r>
              <a:rPr lang="en-US" dirty="0"/>
              <a:t>If the answer is yes...</a:t>
            </a:r>
          </a:p>
          <a:p>
            <a:endParaRPr lang="en-US" dirty="0"/>
          </a:p>
          <a:p>
            <a:r>
              <a:rPr lang="en-US" dirty="0"/>
              <a:t>The ticket is complete.</a:t>
            </a:r>
          </a:p>
          <a:p>
            <a:endParaRPr lang="en-US" dirty="0"/>
          </a:p>
          <a:p>
            <a:r>
              <a:rPr lang="en-US" dirty="0"/>
              <a:t>------------------------------------------------------------</a:t>
            </a:r>
          </a:p>
          <a:p>
            <a:endParaRPr lang="en-US" dirty="0"/>
          </a:p>
          <a:p>
            <a:r>
              <a:rPr lang="en-US" dirty="0"/>
              <a:t>DEFINITION OF DONE</a:t>
            </a:r>
          </a:p>
          <a:p>
            <a:endParaRPr lang="en-US" dirty="0"/>
          </a:p>
          <a:p>
            <a:r>
              <a:rPr lang="en-US" dirty="0"/>
              <a:t>Introduce students to an important Agile concept.</a:t>
            </a:r>
          </a:p>
          <a:p>
            <a:endParaRPr lang="en-US" dirty="0"/>
          </a:p>
          <a:p>
            <a:r>
              <a:rPr lang="en-US" dirty="0"/>
              <a:t>Professional teams don't simply finish tasks.</a:t>
            </a:r>
          </a:p>
          <a:p>
            <a:endParaRPr lang="en-US" dirty="0"/>
          </a:p>
          <a:p>
            <a:r>
              <a:rPr lang="en-US" dirty="0"/>
              <a:t>They define what "done" means before they begin.</a:t>
            </a:r>
          </a:p>
          <a:p>
            <a:endParaRPr lang="en-US" dirty="0"/>
          </a:p>
          <a:p>
            <a:r>
              <a:rPr lang="en-US" dirty="0"/>
              <a:t>Review the checklist.</a:t>
            </a:r>
          </a:p>
          <a:p>
            <a:endParaRPr lang="en-US" dirty="0"/>
          </a:p>
          <a:p>
            <a:r>
              <a:rPr lang="en-US" dirty="0"/>
              <a:t>All deliverables submitted.</a:t>
            </a:r>
          </a:p>
          <a:p>
            <a:endParaRPr lang="en-US" dirty="0"/>
          </a:p>
          <a:p>
            <a:r>
              <a:rPr lang="en-US" dirty="0"/>
              <a:t>Architecture included.</a:t>
            </a:r>
          </a:p>
          <a:p>
            <a:endParaRPr lang="en-US" dirty="0"/>
          </a:p>
          <a:p>
            <a:r>
              <a:rPr lang="en-US" dirty="0"/>
              <a:t>Cloud provider justified.</a:t>
            </a:r>
          </a:p>
          <a:p>
            <a:endParaRPr lang="en-US" dirty="0"/>
          </a:p>
          <a:p>
            <a:r>
              <a:rPr lang="en-US" dirty="0"/>
              <a:t>Service model identified.</a:t>
            </a:r>
          </a:p>
          <a:p>
            <a:endParaRPr lang="en-US" dirty="0"/>
          </a:p>
          <a:p>
            <a:r>
              <a:rPr lang="en-US" dirty="0"/>
              <a:t>Proposal complete.</a:t>
            </a:r>
          </a:p>
          <a:p>
            <a:endParaRPr lang="en-US" dirty="0"/>
          </a:p>
          <a:p>
            <a:r>
              <a:rPr lang="en-US" dirty="0"/>
              <a:t>Submitted through D2L.</a:t>
            </a:r>
          </a:p>
          <a:p>
            <a:endParaRPr lang="en-US" dirty="0"/>
          </a:p>
          <a:p>
            <a:r>
              <a:rPr lang="en-US" dirty="0"/>
              <a:t>Explain that defining "done" prevents confusion and improves quality.</a:t>
            </a:r>
          </a:p>
          <a:p>
            <a:endParaRPr lang="en-US" dirty="0"/>
          </a:p>
          <a:p>
            <a:r>
              <a:rPr lang="en-US" dirty="0"/>
              <a:t>------------------------------------------------------------</a:t>
            </a:r>
          </a:p>
          <a:p>
            <a:endParaRPr lang="en-US" dirty="0"/>
          </a:p>
          <a:p>
            <a:r>
              <a:rPr lang="en-US" dirty="0"/>
              <a:t>ENGINEERING REFLECTION</a:t>
            </a:r>
          </a:p>
          <a:p>
            <a:endParaRPr lang="en-US" dirty="0"/>
          </a:p>
          <a:p>
            <a:r>
              <a:rPr lang="en-US" dirty="0"/>
              <a:t>Ask students to answer the reflection questions honestly.</a:t>
            </a:r>
          </a:p>
          <a:p>
            <a:endParaRPr lang="en-US" dirty="0"/>
          </a:p>
          <a:p>
            <a:r>
              <a:rPr lang="en-US" dirty="0"/>
              <a:t>What inspired your idea?</a:t>
            </a:r>
          </a:p>
          <a:p>
            <a:endParaRPr lang="en-US" dirty="0"/>
          </a:p>
          <a:p>
            <a:r>
              <a:rPr lang="en-US" dirty="0"/>
              <a:t>What was the hardest design decision?</a:t>
            </a:r>
          </a:p>
          <a:p>
            <a:endParaRPr lang="en-US" dirty="0"/>
          </a:p>
          <a:p>
            <a:r>
              <a:rPr lang="en-US" dirty="0"/>
              <a:t>Why did you choose your cloud provider?</a:t>
            </a:r>
          </a:p>
          <a:p>
            <a:endParaRPr lang="en-US" dirty="0"/>
          </a:p>
          <a:p>
            <a:r>
              <a:rPr lang="en-US" dirty="0"/>
              <a:t>How might your application evolve over time?</a:t>
            </a:r>
          </a:p>
          <a:p>
            <a:endParaRPr lang="en-US" dirty="0"/>
          </a:p>
          <a:p>
            <a:r>
              <a:rPr lang="en-US" dirty="0"/>
              <a:t>Explain that reflection is part of becoming a better engineer.</a:t>
            </a:r>
          </a:p>
          <a:p>
            <a:endParaRPr lang="en-US" dirty="0"/>
          </a:p>
          <a:p>
            <a:r>
              <a:rPr lang="en-US" dirty="0"/>
              <a:t>Every sprint should end with learning.</a:t>
            </a:r>
          </a:p>
          <a:p>
            <a:endParaRPr lang="en-US" dirty="0"/>
          </a:p>
          <a:p>
            <a:r>
              <a:rPr lang="en-US" dirty="0"/>
              <a:t>------------------------------------------------------------</a:t>
            </a:r>
          </a:p>
          <a:p>
            <a:endParaRPr lang="en-US" dirty="0"/>
          </a:p>
          <a:p>
            <a:r>
              <a:rPr lang="en-US" dirty="0"/>
              <a:t>ENGINEERING STORY</a:t>
            </a:r>
          </a:p>
          <a:p>
            <a:endParaRPr lang="en-US" dirty="0"/>
          </a:p>
          <a:p>
            <a:r>
              <a:rPr lang="en-US" dirty="0"/>
              <a:t>Tell the story of one of your own projects.</a:t>
            </a:r>
          </a:p>
          <a:p>
            <a:endParaRPr lang="en-US" dirty="0"/>
          </a:p>
          <a:p>
            <a:r>
              <a:rPr lang="en-US" dirty="0"/>
              <a:t>For example, discuss the SCC Food Pantry application.</a:t>
            </a:r>
          </a:p>
          <a:p>
            <a:endParaRPr lang="en-US" dirty="0"/>
          </a:p>
          <a:p>
            <a:r>
              <a:rPr lang="en-US" dirty="0"/>
              <a:t>Explain that the project began with a simple question:</a:t>
            </a:r>
          </a:p>
          <a:p>
            <a:endParaRPr lang="en-US" dirty="0"/>
          </a:p>
          <a:p>
            <a:r>
              <a:rPr lang="en-US" dirty="0"/>
              <a:t>"How can we make inventory management easier?"</a:t>
            </a:r>
          </a:p>
          <a:p>
            <a:endParaRPr lang="en-US" dirty="0"/>
          </a:p>
          <a:p>
            <a:r>
              <a:rPr lang="en-US" dirty="0"/>
              <a:t>The first version wasn't perfect.</a:t>
            </a:r>
          </a:p>
          <a:p>
            <a:endParaRPr lang="en-US" dirty="0"/>
          </a:p>
          <a:p>
            <a:r>
              <a:rPr lang="en-US" dirty="0"/>
              <a:t>It wasn't expected to be.</a:t>
            </a:r>
          </a:p>
          <a:p>
            <a:endParaRPr lang="en-US" dirty="0"/>
          </a:p>
          <a:p>
            <a:r>
              <a:rPr lang="en-US" dirty="0"/>
              <a:t>It simply needed to solve a real problem.</a:t>
            </a:r>
          </a:p>
          <a:p>
            <a:endParaRPr lang="en-US" dirty="0"/>
          </a:p>
          <a:p>
            <a:r>
              <a:rPr lang="en-US" dirty="0"/>
              <a:t>Connect that experience to today's assignment.</a:t>
            </a:r>
          </a:p>
          <a:p>
            <a:endParaRPr lang="en-US" dirty="0"/>
          </a:p>
          <a:p>
            <a:r>
              <a:rPr lang="en-US" dirty="0"/>
              <a:t>------------------------------------------------------------</a:t>
            </a:r>
          </a:p>
          <a:p>
            <a:endParaRPr lang="en-US" dirty="0"/>
          </a:p>
          <a:p>
            <a:r>
              <a:rPr lang="en-US" dirty="0"/>
              <a:t>ENGINEERING LESSON</a:t>
            </a:r>
          </a:p>
          <a:p>
            <a:endParaRPr lang="en-US" dirty="0"/>
          </a:p>
          <a:p>
            <a:r>
              <a:rPr lang="en-US" dirty="0"/>
              <a:t>Professional software engineers solve problems.</a:t>
            </a:r>
          </a:p>
          <a:p>
            <a:endParaRPr lang="en-US" dirty="0"/>
          </a:p>
          <a:p>
            <a:r>
              <a:rPr lang="en-US" dirty="0"/>
              <a:t>They don't begin by choosing a programming language.</a:t>
            </a:r>
          </a:p>
          <a:p>
            <a:endParaRPr lang="en-US" dirty="0"/>
          </a:p>
          <a:p>
            <a:r>
              <a:rPr lang="en-US" dirty="0"/>
              <a:t>They don't begin by choosing a database.</a:t>
            </a:r>
          </a:p>
          <a:p>
            <a:endParaRPr lang="en-US" dirty="0"/>
          </a:p>
          <a:p>
            <a:r>
              <a:rPr lang="en-US" dirty="0"/>
              <a:t>They begin by understanding people.</a:t>
            </a:r>
          </a:p>
          <a:p>
            <a:endParaRPr lang="en-US" dirty="0"/>
          </a:p>
          <a:p>
            <a:r>
              <a:rPr lang="en-US" dirty="0"/>
              <a:t>Technology supports the solution.</a:t>
            </a:r>
          </a:p>
          <a:p>
            <a:endParaRPr lang="en-US" dirty="0"/>
          </a:p>
          <a:p>
            <a:r>
              <a:rPr lang="en-US" dirty="0"/>
              <a:t>It is never the solution by itself.</a:t>
            </a:r>
          </a:p>
          <a:p>
            <a:endParaRPr lang="en-US" dirty="0"/>
          </a:p>
          <a:p>
            <a:r>
              <a:rPr lang="en-US" dirty="0"/>
              <a:t>------------------------------------------------------------</a:t>
            </a:r>
          </a:p>
          <a:p>
            <a:endParaRPr lang="en-US" dirty="0"/>
          </a:p>
          <a:p>
            <a:r>
              <a:rPr lang="en-US" dirty="0"/>
              <a:t>CLASS DISCUSSION</a:t>
            </a:r>
          </a:p>
          <a:p>
            <a:endParaRPr lang="en-US" dirty="0"/>
          </a:p>
          <a:p>
            <a:r>
              <a:rPr lang="en-US" dirty="0"/>
              <a:t>Ask the class:</a:t>
            </a:r>
          </a:p>
          <a:p>
            <a:endParaRPr lang="en-US" dirty="0"/>
          </a:p>
          <a:p>
            <a:r>
              <a:rPr lang="en-US" dirty="0"/>
              <a:t>"If you could solve one frustrating problem in your everyday life..."</a:t>
            </a:r>
          </a:p>
          <a:p>
            <a:endParaRPr lang="en-US" dirty="0"/>
          </a:p>
          <a:p>
            <a:r>
              <a:rPr lang="en-US" dirty="0"/>
              <a:t>"What would it be?"</a:t>
            </a:r>
          </a:p>
          <a:p>
            <a:endParaRPr lang="en-US" dirty="0"/>
          </a:p>
          <a:p>
            <a:r>
              <a:rPr lang="en-US" dirty="0"/>
              <a:t>Allow several students to share.</a:t>
            </a:r>
          </a:p>
          <a:p>
            <a:endParaRPr lang="en-US" dirty="0"/>
          </a:p>
          <a:p>
            <a:r>
              <a:rPr lang="en-US" dirty="0"/>
              <a:t>Encourage classmates to ask questions.</a:t>
            </a:r>
          </a:p>
          <a:p>
            <a:endParaRPr lang="en-US" dirty="0"/>
          </a:p>
          <a:p>
            <a:r>
              <a:rPr lang="en-US" dirty="0"/>
              <a:t>This discussion often leads to outstanding SaaS ideas.</a:t>
            </a:r>
          </a:p>
          <a:p>
            <a:endParaRPr lang="en-US" dirty="0"/>
          </a:p>
          <a:p>
            <a:r>
              <a:rPr lang="en-US" dirty="0"/>
              <a:t>------------------------------------------------------------</a:t>
            </a:r>
          </a:p>
          <a:p>
            <a:endParaRPr lang="en-US" dirty="0"/>
          </a:p>
          <a:p>
            <a:r>
              <a:rPr lang="en-US" dirty="0"/>
              <a:t>MOTIVATION</a:t>
            </a:r>
          </a:p>
          <a:p>
            <a:endParaRPr lang="en-US" dirty="0"/>
          </a:p>
          <a:p>
            <a:r>
              <a:rPr lang="en-US" dirty="0"/>
              <a:t>Some students will believe their ideas are too small.</a:t>
            </a:r>
          </a:p>
          <a:p>
            <a:endParaRPr lang="en-US" dirty="0"/>
          </a:p>
          <a:p>
            <a:r>
              <a:rPr lang="en-US" dirty="0"/>
              <a:t>Remind them that many successful companies started with one simple idea.</a:t>
            </a:r>
          </a:p>
          <a:p>
            <a:endParaRPr lang="en-US" dirty="0"/>
          </a:p>
          <a:p>
            <a:r>
              <a:rPr lang="en-US" dirty="0"/>
              <a:t>Facebook began as a campus directory.</a:t>
            </a:r>
          </a:p>
          <a:p>
            <a:endParaRPr lang="en-US" dirty="0"/>
          </a:p>
          <a:p>
            <a:r>
              <a:rPr lang="en-US" dirty="0"/>
              <a:t>Airbnb began by renting an air mattress.</a:t>
            </a:r>
          </a:p>
          <a:p>
            <a:endParaRPr lang="en-US" dirty="0"/>
          </a:p>
          <a:p>
            <a:r>
              <a:rPr lang="en-US" dirty="0"/>
              <a:t>Dropbox began as a simple way to synchronize files.</a:t>
            </a:r>
          </a:p>
          <a:p>
            <a:endParaRPr lang="en-US" dirty="0"/>
          </a:p>
          <a:p>
            <a:r>
              <a:rPr lang="en-US" dirty="0"/>
              <a:t>Every successful SaaS company started with Version 1.</a:t>
            </a:r>
          </a:p>
          <a:p>
            <a:endParaRPr lang="en-US" dirty="0"/>
          </a:p>
          <a:p>
            <a:r>
              <a:rPr lang="en-US" dirty="0"/>
              <a:t>------------------------------------------------------------</a:t>
            </a:r>
          </a:p>
          <a:p>
            <a:endParaRPr lang="en-US" dirty="0"/>
          </a:p>
          <a:p>
            <a:r>
              <a:rPr lang="en-US" dirty="0"/>
              <a:t>CLOSING</a:t>
            </a:r>
          </a:p>
          <a:p>
            <a:endParaRPr lang="en-US" dirty="0"/>
          </a:p>
          <a:p>
            <a:r>
              <a:rPr lang="en-US" dirty="0"/>
              <a:t>Leave students with this message.</a:t>
            </a:r>
          </a:p>
          <a:p>
            <a:endParaRPr lang="en-US" dirty="0"/>
          </a:p>
          <a:p>
            <a:r>
              <a:rPr lang="en-US" dirty="0"/>
              <a:t>"Don't try to build the next billion-dollar company."</a:t>
            </a:r>
          </a:p>
          <a:p>
            <a:endParaRPr lang="en-US" dirty="0"/>
          </a:p>
          <a:p>
            <a:r>
              <a:rPr lang="en-US" dirty="0"/>
              <a:t>"Build something that genuinely helps someone."</a:t>
            </a:r>
          </a:p>
          <a:p>
            <a:endParaRPr lang="en-US" dirty="0"/>
          </a:p>
          <a:p>
            <a:r>
              <a:rPr lang="en-US" dirty="0"/>
              <a:t>"If you solve one real problem well..."</a:t>
            </a:r>
          </a:p>
          <a:p>
            <a:endParaRPr lang="en-US" dirty="0"/>
          </a:p>
          <a:p>
            <a:r>
              <a:rPr lang="en-US" dirty="0"/>
              <a:t>"You're already thinking like a software engineer."</a:t>
            </a:r>
          </a:p>
          <a:p>
            <a:endParaRPr lang="en-US" dirty="0"/>
          </a:p>
          <a:p>
            <a:r>
              <a:rPr lang="en-US" dirty="0"/>
              <a:t>------------------------------------------------------------</a:t>
            </a:r>
          </a:p>
          <a:p>
            <a:endParaRPr lang="en-US" dirty="0"/>
          </a:p>
          <a:p>
            <a:r>
              <a:rPr lang="en-US" dirty="0"/>
              <a:t>ESTIMATED TIME</a:t>
            </a:r>
          </a:p>
          <a:p>
            <a:endParaRPr lang="en-US" dirty="0"/>
          </a:p>
          <a:p>
            <a:r>
              <a:rPr lang="en-US" dirty="0"/>
              <a:t>Introduction..................5 minutes</a:t>
            </a:r>
          </a:p>
          <a:p>
            <a:endParaRPr lang="en-US" dirty="0"/>
          </a:p>
          <a:p>
            <a:r>
              <a:rPr lang="en-US" dirty="0"/>
              <a:t>Mission.......................4 minutes</a:t>
            </a:r>
          </a:p>
          <a:p>
            <a:endParaRPr lang="en-US" dirty="0"/>
          </a:p>
          <a:p>
            <a:r>
              <a:rPr lang="en-US" dirty="0"/>
              <a:t>Deliverables..................8 minutes</a:t>
            </a:r>
          </a:p>
          <a:p>
            <a:endParaRPr lang="en-US" dirty="0"/>
          </a:p>
          <a:p>
            <a:r>
              <a:rPr lang="en-US" dirty="0"/>
              <a:t>Acceptance Criteria...........5 minutes</a:t>
            </a:r>
          </a:p>
          <a:p>
            <a:endParaRPr lang="en-US" dirty="0"/>
          </a:p>
          <a:p>
            <a:r>
              <a:rPr lang="en-US" dirty="0"/>
              <a:t>Discussion....................8 minutes</a:t>
            </a:r>
          </a:p>
          <a:p>
            <a:endParaRPr lang="en-US" dirty="0"/>
          </a:p>
          <a:p>
            <a:r>
              <a:rPr lang="en-US" dirty="0"/>
              <a:t>Engineering Story.............5 minutes</a:t>
            </a:r>
          </a:p>
          <a:p>
            <a:endParaRPr lang="en-US" dirty="0"/>
          </a:p>
          <a:p>
            <a:r>
              <a:rPr lang="en-US" dirty="0"/>
              <a:t>Questions.....................5 minutes</a:t>
            </a:r>
          </a:p>
          <a:p>
            <a:endParaRPr lang="en-US" dirty="0"/>
          </a:p>
          <a:p>
            <a:r>
              <a:rPr lang="en-US" dirty="0"/>
              <a:t>Total.........................40 minutes</a:t>
            </a:r>
          </a:p>
          <a:p>
            <a:endParaRPr lang="en-US" dirty="0"/>
          </a:p>
          <a:p>
            <a:r>
              <a:rPr lang="en-US" dirty="0"/>
              <a:t>------------------------------------------------------------</a:t>
            </a:r>
          </a:p>
          <a:p>
            <a:endParaRPr lang="en-US" dirty="0"/>
          </a:p>
          <a:p>
            <a:r>
              <a:rPr lang="en-US" dirty="0"/>
              <a:t>INSTRUCTOR NOTES</a:t>
            </a:r>
          </a:p>
          <a:p>
            <a:endParaRPr lang="en-US" dirty="0"/>
          </a:p>
          <a:p>
            <a:r>
              <a:rPr lang="en-US" dirty="0"/>
              <a:t>Keep the energy positive.</a:t>
            </a:r>
          </a:p>
          <a:p>
            <a:endParaRPr lang="en-US" dirty="0"/>
          </a:p>
          <a:p>
            <a:r>
              <a:rPr lang="en-US" dirty="0"/>
              <a:t>Students may feel intimidated because they are designing something of</a:t>
            </a:r>
          </a:p>
          <a:p>
            <a:r>
              <a:rPr lang="en-US" dirty="0"/>
              <a:t>their own.</a:t>
            </a:r>
          </a:p>
          <a:p>
            <a:endParaRPr lang="en-US" dirty="0"/>
          </a:p>
          <a:p>
            <a:r>
              <a:rPr lang="en-US" dirty="0"/>
              <a:t>Reassure them that originality matters less than thoughtful problem</a:t>
            </a:r>
          </a:p>
          <a:p>
            <a:r>
              <a:rPr lang="en-US" dirty="0"/>
              <a:t>solving.</a:t>
            </a:r>
          </a:p>
          <a:p>
            <a:endParaRPr lang="en-US" dirty="0"/>
          </a:p>
          <a:p>
            <a:r>
              <a:rPr lang="en-US" dirty="0"/>
              <a:t>Celebrate creativity.</a:t>
            </a:r>
          </a:p>
          <a:p>
            <a:endParaRPr lang="en-US" dirty="0"/>
          </a:p>
          <a:p>
            <a:r>
              <a:rPr lang="en-US" dirty="0"/>
              <a:t>Encourage realistic ideas.</a:t>
            </a:r>
          </a:p>
          <a:p>
            <a:endParaRPr lang="en-US" dirty="0"/>
          </a:p>
          <a:p>
            <a:r>
              <a:rPr lang="en-US" dirty="0"/>
              <a:t>The objective is not perfection.</a:t>
            </a:r>
          </a:p>
          <a:p>
            <a:endParaRPr lang="en-US" dirty="0"/>
          </a:p>
          <a:p>
            <a:r>
              <a:rPr lang="en-US" dirty="0"/>
              <a:t>The objective is engineering thinking.</a:t>
            </a:r>
          </a:p>
          <a:p>
            <a:endParaRPr lang="en-US" dirty="0"/>
          </a:p>
          <a:p>
            <a:r>
              <a:rPr lang="en-US" dirty="0"/>
              <a:t>Close with:</a:t>
            </a:r>
          </a:p>
          <a:p>
            <a:endParaRPr lang="en-US" dirty="0"/>
          </a:p>
          <a:p>
            <a:r>
              <a:rPr lang="en-US" dirty="0"/>
              <a:t>"Every great SaaS company once existed only as an idea on a piece of</a:t>
            </a:r>
          </a:p>
          <a:p>
            <a:r>
              <a:rPr lang="en-US" dirty="0"/>
              <a:t>paper.</a:t>
            </a:r>
          </a:p>
          <a:p>
            <a:endParaRPr lang="en-US" dirty="0"/>
          </a:p>
          <a:p>
            <a:r>
              <a:rPr lang="en-US" dirty="0"/>
              <a:t>Today, you're creating yours."</a:t>
            </a:r>
          </a:p>
          <a:p>
            <a:endParaRPr lang="en-US" dirty="0"/>
          </a:p>
          <a:p>
            <a:r>
              <a:rPr lang="en-US" dirty="0"/>
              <a:t>============================================================</a:t>
            </a:r>
          </a:p>
        </p:txBody>
      </p:sp>
      <p:sp>
        <p:nvSpPr>
          <p:cNvPr id="4" name="Slide Number Placeholder 3"/>
          <p:cNvSpPr>
            <a:spLocks noGrp="1"/>
          </p:cNvSpPr>
          <p:nvPr>
            <p:ph type="sldNum" sz="quarter" idx="5"/>
          </p:nvPr>
        </p:nvSpPr>
        <p:spPr/>
        <p:txBody>
          <a:bodyPr/>
          <a:lstStyle/>
          <a:p>
            <a:fld id="{D23464B6-418B-4A24-AB2E-F540793FE320}" type="slidenum">
              <a:rPr lang="en-US" smtClean="0"/>
              <a:t>8</a:t>
            </a:fld>
            <a:endParaRPr lang="en-US"/>
          </a:p>
        </p:txBody>
      </p:sp>
    </p:spTree>
    <p:extLst>
      <p:ext uri="{BB962C8B-B14F-4D97-AF65-F5344CB8AC3E}">
        <p14:creationId xmlns:p14="http://schemas.microsoft.com/office/powerpoint/2010/main" val="10949855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ARTIFACT XXXII</a:t>
            </a:r>
          </a:p>
          <a:p>
            <a:endParaRPr lang="en-US" dirty="0"/>
          </a:p>
          <a:p>
            <a:r>
              <a:rPr lang="en-US" dirty="0"/>
              <a:t>SPRINT 2 REVIEW &amp; RETROSPECTIVE</a:t>
            </a:r>
          </a:p>
          <a:p>
            <a:endParaRPr lang="en-US" dirty="0"/>
          </a:p>
          <a:p>
            <a:r>
              <a:rPr lang="en-US" dirty="0"/>
              <a:t>============================================================</a:t>
            </a:r>
          </a:p>
          <a:p>
            <a:endParaRPr lang="en-US" dirty="0"/>
          </a:p>
          <a:p>
            <a:r>
              <a:rPr lang="en-US" dirty="0"/>
              <a:t>SLIDE PURPOSE</a:t>
            </a:r>
          </a:p>
          <a:p>
            <a:endParaRPr lang="en-US" dirty="0"/>
          </a:p>
          <a:p>
            <a:r>
              <a:rPr lang="en-US" dirty="0"/>
              <a:t>Celebrate the completion of Sprint 2 while reinforcing the major</a:t>
            </a:r>
          </a:p>
          <a:p>
            <a:r>
              <a:rPr lang="en-US" dirty="0"/>
              <a:t>concepts students learned throughout the sprint.</a:t>
            </a:r>
          </a:p>
          <a:p>
            <a:endParaRPr lang="en-US" dirty="0"/>
          </a:p>
          <a:p>
            <a:r>
              <a:rPr lang="en-US" dirty="0"/>
              <a:t>Students should recognize how each lesson connected to the next and</a:t>
            </a:r>
          </a:p>
          <a:p>
            <a:r>
              <a:rPr lang="en-US" dirty="0"/>
              <a:t>leave with confidence that they now understand the foundations of</a:t>
            </a:r>
          </a:p>
          <a:p>
            <a:r>
              <a:rPr lang="en-US" dirty="0"/>
              <a:t>Software as a Service.</a:t>
            </a:r>
          </a:p>
          <a:p>
            <a:endParaRPr lang="en-US" dirty="0"/>
          </a:p>
          <a:p>
            <a:r>
              <a:rPr lang="en-US" dirty="0"/>
              <a:t>The retrospective also prepares students for Sprint 3 by transitioning</a:t>
            </a:r>
          </a:p>
          <a:p>
            <a:r>
              <a:rPr lang="en-US" dirty="0"/>
              <a:t>from understanding SaaS to designing cloud applications.</a:t>
            </a:r>
          </a:p>
          <a:p>
            <a:endParaRPr lang="en-US" dirty="0"/>
          </a:p>
          <a:p>
            <a:r>
              <a:rPr lang="en-US" dirty="0"/>
              <a:t>------------------------------------------------------------</a:t>
            </a:r>
          </a:p>
          <a:p>
            <a:endParaRPr lang="en-US" dirty="0"/>
          </a:p>
          <a:p>
            <a:r>
              <a:rPr lang="en-US" dirty="0"/>
              <a:t>OPENING</a:t>
            </a:r>
          </a:p>
          <a:p>
            <a:endParaRPr lang="en-US" dirty="0"/>
          </a:p>
          <a:p>
            <a:r>
              <a:rPr lang="en-US" dirty="0"/>
              <a:t>"Congratulations."</a:t>
            </a:r>
          </a:p>
          <a:p>
            <a:endParaRPr lang="en-US" dirty="0"/>
          </a:p>
          <a:p>
            <a:r>
              <a:rPr lang="en-US" dirty="0"/>
              <a:t>"You've officially completed Sprint 2."</a:t>
            </a:r>
          </a:p>
          <a:p>
            <a:endParaRPr lang="en-US" dirty="0"/>
          </a:p>
          <a:p>
            <a:r>
              <a:rPr lang="en-US" dirty="0"/>
              <a:t>"Take a moment and think back to the beginning of this sprint."</a:t>
            </a:r>
          </a:p>
          <a:p>
            <a:endParaRPr lang="en-US" dirty="0"/>
          </a:p>
          <a:p>
            <a:r>
              <a:rPr lang="en-US" dirty="0"/>
              <a:t>"Most of us had heard the term SaaS..."</a:t>
            </a:r>
          </a:p>
          <a:p>
            <a:endParaRPr lang="en-US" dirty="0"/>
          </a:p>
          <a:p>
            <a:r>
              <a:rPr lang="en-US" dirty="0"/>
              <a:t>"But now..."</a:t>
            </a:r>
          </a:p>
          <a:p>
            <a:endParaRPr lang="en-US" dirty="0"/>
          </a:p>
          <a:p>
            <a:r>
              <a:rPr lang="en-US" dirty="0"/>
              <a:t>"You understand how SaaS works."</a:t>
            </a:r>
          </a:p>
          <a:p>
            <a:endParaRPr lang="en-US" dirty="0"/>
          </a:p>
          <a:p>
            <a:r>
              <a:rPr lang="en-US" dirty="0"/>
              <a:t>"You understand why it transformed the software industry."</a:t>
            </a:r>
          </a:p>
          <a:p>
            <a:endParaRPr lang="en-US" dirty="0"/>
          </a:p>
          <a:p>
            <a:r>
              <a:rPr lang="en-US" dirty="0"/>
              <a:t>"And more importantly..."</a:t>
            </a:r>
          </a:p>
          <a:p>
            <a:endParaRPr lang="en-US" dirty="0"/>
          </a:p>
          <a:p>
            <a:r>
              <a:rPr lang="en-US" dirty="0"/>
              <a:t>"You now know how engineers think about building SaaS applications."</a:t>
            </a:r>
          </a:p>
          <a:p>
            <a:endParaRPr lang="en-US" dirty="0"/>
          </a:p>
          <a:p>
            <a:r>
              <a:rPr lang="en-US" dirty="0"/>
              <a:t>Pause.</a:t>
            </a:r>
          </a:p>
          <a:p>
            <a:endParaRPr lang="en-US" dirty="0"/>
          </a:p>
          <a:p>
            <a:r>
              <a:rPr lang="en-US" dirty="0"/>
              <a:t>"This is a big milestone."</a:t>
            </a:r>
          </a:p>
          <a:p>
            <a:endParaRPr lang="en-US" dirty="0"/>
          </a:p>
          <a:p>
            <a:r>
              <a:rPr lang="en-US" dirty="0"/>
              <a:t>------------------------------------------------------------</a:t>
            </a:r>
          </a:p>
          <a:p>
            <a:endParaRPr lang="en-US" dirty="0"/>
          </a:p>
          <a:p>
            <a:r>
              <a:rPr lang="en-US" dirty="0"/>
              <a:t>SPRINT REVIEW</a:t>
            </a:r>
          </a:p>
          <a:p>
            <a:endParaRPr lang="en-US" dirty="0"/>
          </a:p>
          <a:p>
            <a:r>
              <a:rPr lang="en-US" dirty="0"/>
              <a:t>Let's remember where we started.</a:t>
            </a:r>
          </a:p>
          <a:p>
            <a:endParaRPr lang="en-US" dirty="0"/>
          </a:p>
          <a:p>
            <a:r>
              <a:rPr lang="en-US" dirty="0"/>
              <a:t>We asked one simple question.</a:t>
            </a:r>
          </a:p>
          <a:p>
            <a:endParaRPr lang="en-US" dirty="0"/>
          </a:p>
          <a:p>
            <a:r>
              <a:rPr lang="en-US" dirty="0"/>
              <a:t>"What is SaaS?"</a:t>
            </a:r>
          </a:p>
          <a:p>
            <a:endParaRPr lang="en-US" dirty="0"/>
          </a:p>
          <a:p>
            <a:r>
              <a:rPr lang="en-US" dirty="0"/>
              <a:t>Along the way we answered several more.</a:t>
            </a:r>
          </a:p>
          <a:p>
            <a:endParaRPr lang="en-US" dirty="0"/>
          </a:p>
          <a:p>
            <a:r>
              <a:rPr lang="en-US" dirty="0"/>
              <a:t>Why did software move to the cloud?</a:t>
            </a:r>
          </a:p>
          <a:p>
            <a:endParaRPr lang="en-US" dirty="0"/>
          </a:p>
          <a:p>
            <a:r>
              <a:rPr lang="en-US" dirty="0"/>
              <a:t>Why did subscriptions replace boxed software?</a:t>
            </a:r>
          </a:p>
          <a:p>
            <a:endParaRPr lang="en-US" dirty="0"/>
          </a:p>
          <a:p>
            <a:r>
              <a:rPr lang="en-US" dirty="0"/>
              <a:t>How do cloud applications actually work?</a:t>
            </a:r>
          </a:p>
          <a:p>
            <a:endParaRPr lang="en-US" dirty="0"/>
          </a:p>
          <a:p>
            <a:r>
              <a:rPr lang="en-US" dirty="0"/>
              <a:t>What is the difference between SaaS, PaaS, and IaaS?</a:t>
            </a:r>
          </a:p>
          <a:p>
            <a:endParaRPr lang="en-US" dirty="0"/>
          </a:p>
          <a:p>
            <a:r>
              <a:rPr lang="en-US" dirty="0"/>
              <a:t>Who provides the cloud?</a:t>
            </a:r>
          </a:p>
          <a:p>
            <a:endParaRPr lang="en-US" dirty="0"/>
          </a:p>
          <a:p>
            <a:r>
              <a:rPr lang="en-US" dirty="0"/>
              <a:t>How do I build my own SaaS application?</a:t>
            </a:r>
          </a:p>
          <a:p>
            <a:endParaRPr lang="en-US" dirty="0"/>
          </a:p>
          <a:p>
            <a:r>
              <a:rPr lang="en-US" dirty="0"/>
              <a:t>Every lesson answered one question and introduced the next.</a:t>
            </a:r>
          </a:p>
          <a:p>
            <a:endParaRPr lang="en-US" dirty="0"/>
          </a:p>
          <a:p>
            <a:r>
              <a:rPr lang="en-US" dirty="0"/>
              <a:t>That is how engineers learn.</a:t>
            </a:r>
          </a:p>
          <a:p>
            <a:endParaRPr lang="en-US" dirty="0"/>
          </a:p>
          <a:p>
            <a:r>
              <a:rPr lang="en-US" dirty="0"/>
              <a:t>------------------------------------------------------------</a:t>
            </a:r>
          </a:p>
          <a:p>
            <a:endParaRPr lang="en-US" dirty="0"/>
          </a:p>
          <a:p>
            <a:r>
              <a:rPr lang="en-US" dirty="0"/>
              <a:t>SPRINT 2 ACCOMPLISHMENTS</a:t>
            </a:r>
          </a:p>
          <a:p>
            <a:endParaRPr lang="en-US" dirty="0"/>
          </a:p>
          <a:p>
            <a:r>
              <a:rPr lang="en-US" dirty="0"/>
              <a:t>Review each accomplishment.</a:t>
            </a:r>
          </a:p>
          <a:p>
            <a:endParaRPr lang="en-US" dirty="0"/>
          </a:p>
          <a:p>
            <a:r>
              <a:rPr lang="en-US" dirty="0"/>
              <a:t>You learned the SaaS business model.</a:t>
            </a:r>
          </a:p>
          <a:p>
            <a:endParaRPr lang="en-US" dirty="0"/>
          </a:p>
          <a:p>
            <a:r>
              <a:rPr lang="en-US" dirty="0"/>
              <a:t>You compared SaaS, PaaS, and IaaS.</a:t>
            </a:r>
          </a:p>
          <a:p>
            <a:endParaRPr lang="en-US" dirty="0"/>
          </a:p>
          <a:p>
            <a:r>
              <a:rPr lang="en-US" dirty="0"/>
              <a:t>You explored modern cloud architecture.</a:t>
            </a:r>
          </a:p>
          <a:p>
            <a:endParaRPr lang="en-US" dirty="0"/>
          </a:p>
          <a:p>
            <a:r>
              <a:rPr lang="en-US" dirty="0"/>
              <a:t>You met the world's largest cloud providers.</a:t>
            </a:r>
          </a:p>
          <a:p>
            <a:endParaRPr lang="en-US" dirty="0"/>
          </a:p>
          <a:p>
            <a:r>
              <a:rPr lang="en-US" dirty="0"/>
              <a:t>You designed your first SaaS application.</a:t>
            </a:r>
          </a:p>
          <a:p>
            <a:endParaRPr lang="en-US" dirty="0"/>
          </a:p>
          <a:p>
            <a:r>
              <a:rPr lang="en-US" dirty="0"/>
              <a:t>You completed Engineering Ticket SAAS-101.</a:t>
            </a:r>
          </a:p>
          <a:p>
            <a:endParaRPr lang="en-US" dirty="0"/>
          </a:p>
          <a:p>
            <a:r>
              <a:rPr lang="en-US" dirty="0"/>
              <a:t>Pause after each item.</a:t>
            </a:r>
          </a:p>
          <a:p>
            <a:endParaRPr lang="en-US" dirty="0"/>
          </a:p>
          <a:p>
            <a:r>
              <a:rPr lang="en-US" dirty="0"/>
              <a:t>Remind students these are real industry concepts used every day.</a:t>
            </a:r>
          </a:p>
          <a:p>
            <a:endParaRPr lang="en-US" dirty="0"/>
          </a:p>
          <a:p>
            <a:r>
              <a:rPr lang="en-US" dirty="0"/>
              <a:t>------------------------------------------------------------</a:t>
            </a:r>
          </a:p>
          <a:p>
            <a:endParaRPr lang="en-US" dirty="0"/>
          </a:p>
          <a:p>
            <a:r>
              <a:rPr lang="en-US" dirty="0"/>
              <a:t>DEMONSTRATE YOUR WORK</a:t>
            </a:r>
          </a:p>
          <a:p>
            <a:endParaRPr lang="en-US" dirty="0"/>
          </a:p>
          <a:p>
            <a:r>
              <a:rPr lang="en-US" dirty="0"/>
              <a:t>Walk through each deliverable.</a:t>
            </a:r>
          </a:p>
          <a:p>
            <a:endParaRPr lang="en-US" dirty="0"/>
          </a:p>
          <a:p>
            <a:r>
              <a:rPr lang="en-US" dirty="0"/>
              <a:t>SaaS Idea</a:t>
            </a:r>
          </a:p>
          <a:p>
            <a:endParaRPr lang="en-US" dirty="0"/>
          </a:p>
          <a:p>
            <a:r>
              <a:rPr lang="en-US" dirty="0"/>
              <a:t>Architecture Diagram</a:t>
            </a:r>
          </a:p>
          <a:p>
            <a:endParaRPr lang="en-US" dirty="0"/>
          </a:p>
          <a:p>
            <a:r>
              <a:rPr lang="en-US" dirty="0"/>
              <a:t>Cloud Provider Selection</a:t>
            </a:r>
          </a:p>
          <a:p>
            <a:endParaRPr lang="en-US" dirty="0"/>
          </a:p>
          <a:p>
            <a:r>
              <a:rPr lang="en-US" dirty="0"/>
              <a:t>MVP Plan</a:t>
            </a:r>
          </a:p>
          <a:p>
            <a:endParaRPr lang="en-US" dirty="0"/>
          </a:p>
          <a:p>
            <a:r>
              <a:rPr lang="en-US" dirty="0"/>
              <a:t>Engineering Ticket</a:t>
            </a:r>
          </a:p>
          <a:p>
            <a:endParaRPr lang="en-US" dirty="0"/>
          </a:p>
          <a:p>
            <a:r>
              <a:rPr lang="en-US" dirty="0"/>
              <a:t>Explain:</a:t>
            </a:r>
          </a:p>
          <a:p>
            <a:endParaRPr lang="en-US" dirty="0"/>
          </a:p>
          <a:p>
            <a:r>
              <a:rPr lang="en-US" dirty="0"/>
              <a:t>"This isn't just coursework."</a:t>
            </a:r>
          </a:p>
          <a:p>
            <a:endParaRPr lang="en-US" dirty="0"/>
          </a:p>
          <a:p>
            <a:r>
              <a:rPr lang="en-US" dirty="0"/>
              <a:t>"This is the beginning of your engineering portfolio."</a:t>
            </a:r>
          </a:p>
          <a:p>
            <a:endParaRPr lang="en-US" dirty="0"/>
          </a:p>
          <a:p>
            <a:r>
              <a:rPr lang="en-US" dirty="0"/>
              <a:t>Encourage students to save their work.</a:t>
            </a:r>
          </a:p>
          <a:p>
            <a:endParaRPr lang="en-US" dirty="0"/>
          </a:p>
          <a:p>
            <a:r>
              <a:rPr lang="en-US" dirty="0"/>
              <a:t>Some of these ideas may grow into future capstone projects or personal</a:t>
            </a:r>
          </a:p>
          <a:p>
            <a:r>
              <a:rPr lang="en-US" dirty="0"/>
              <a:t>projects.</a:t>
            </a:r>
          </a:p>
          <a:p>
            <a:endParaRPr lang="en-US" dirty="0"/>
          </a:p>
          <a:p>
            <a:r>
              <a:rPr lang="en-US" dirty="0"/>
              <a:t>------------------------------------------------------------</a:t>
            </a:r>
          </a:p>
          <a:p>
            <a:endParaRPr lang="en-US" dirty="0"/>
          </a:p>
          <a:p>
            <a:r>
              <a:rPr lang="en-US" dirty="0"/>
              <a:t>THE ATLAS ENGINEER MINDSET</a:t>
            </a:r>
          </a:p>
          <a:p>
            <a:endParaRPr lang="en-US" dirty="0"/>
          </a:p>
          <a:p>
            <a:r>
              <a:rPr lang="en-US" dirty="0"/>
              <a:t>Review each principle.</a:t>
            </a:r>
          </a:p>
          <a:p>
            <a:endParaRPr lang="en-US" dirty="0"/>
          </a:p>
          <a:p>
            <a:r>
              <a:rPr lang="en-US" dirty="0"/>
              <a:t>Solve Real Problems</a:t>
            </a:r>
          </a:p>
          <a:p>
            <a:endParaRPr lang="en-US" dirty="0"/>
          </a:p>
          <a:p>
            <a:r>
              <a:rPr lang="en-US" dirty="0"/>
              <a:t>Technology exists to improve people's lives.</a:t>
            </a:r>
          </a:p>
          <a:p>
            <a:endParaRPr lang="en-US" dirty="0"/>
          </a:p>
          <a:p>
            <a:r>
              <a:rPr lang="en-US" dirty="0"/>
              <a:t>Think Like Users</a:t>
            </a:r>
          </a:p>
          <a:p>
            <a:endParaRPr lang="en-US" dirty="0"/>
          </a:p>
          <a:p>
            <a:r>
              <a:rPr lang="en-US" dirty="0"/>
              <a:t>Build for people—not for programmers.</a:t>
            </a:r>
          </a:p>
          <a:p>
            <a:endParaRPr lang="en-US" dirty="0"/>
          </a:p>
          <a:p>
            <a:r>
              <a:rPr lang="en-US" dirty="0"/>
              <a:t>Leverage the Cloud</a:t>
            </a:r>
          </a:p>
          <a:p>
            <a:endParaRPr lang="en-US" dirty="0"/>
          </a:p>
          <a:p>
            <a:r>
              <a:rPr lang="en-US" dirty="0"/>
              <a:t>Use technology to amplify your impact.</a:t>
            </a:r>
          </a:p>
          <a:p>
            <a:endParaRPr lang="en-US" dirty="0"/>
          </a:p>
          <a:p>
            <a:r>
              <a:rPr lang="en-US" dirty="0"/>
              <a:t>Iterate and Improve</a:t>
            </a:r>
          </a:p>
          <a:p>
            <a:endParaRPr lang="en-US" dirty="0"/>
          </a:p>
          <a:p>
            <a:r>
              <a:rPr lang="en-US" dirty="0"/>
              <a:t>Great software evolves continuously.</a:t>
            </a:r>
          </a:p>
          <a:p>
            <a:endParaRPr lang="en-US" dirty="0"/>
          </a:p>
          <a:p>
            <a:r>
              <a:rPr lang="en-US" dirty="0"/>
              <a:t>Deliver Value</a:t>
            </a:r>
          </a:p>
          <a:p>
            <a:endParaRPr lang="en-US" dirty="0"/>
          </a:p>
          <a:p>
            <a:r>
              <a:rPr lang="en-US" dirty="0"/>
              <a:t>Features don't matter unless they solve problems.</a:t>
            </a:r>
          </a:p>
          <a:p>
            <a:endParaRPr lang="en-US" dirty="0"/>
          </a:p>
          <a:p>
            <a:r>
              <a:rPr lang="en-US" dirty="0"/>
              <a:t>Measure and Learn</a:t>
            </a:r>
          </a:p>
          <a:p>
            <a:endParaRPr lang="en-US" dirty="0"/>
          </a:p>
          <a:p>
            <a:r>
              <a:rPr lang="en-US" dirty="0"/>
              <a:t>Listen to users.</a:t>
            </a:r>
          </a:p>
          <a:p>
            <a:endParaRPr lang="en-US" dirty="0"/>
          </a:p>
          <a:p>
            <a:r>
              <a:rPr lang="en-US" dirty="0"/>
              <a:t>Improve continuously.</a:t>
            </a:r>
          </a:p>
          <a:p>
            <a:endParaRPr lang="en-US" dirty="0"/>
          </a:p>
          <a:p>
            <a:r>
              <a:rPr lang="en-US" dirty="0"/>
              <a:t>Explain:</a:t>
            </a:r>
          </a:p>
          <a:p>
            <a:endParaRPr lang="en-US" dirty="0"/>
          </a:p>
          <a:p>
            <a:r>
              <a:rPr lang="en-US" dirty="0"/>
              <a:t>"This mindset is more important than any programming language."</a:t>
            </a:r>
          </a:p>
          <a:p>
            <a:endParaRPr lang="en-US" dirty="0"/>
          </a:p>
          <a:p>
            <a:r>
              <a:rPr lang="en-US" dirty="0"/>
              <a:t>------------------------------------------------------------</a:t>
            </a:r>
          </a:p>
          <a:p>
            <a:endParaRPr lang="en-US" dirty="0"/>
          </a:p>
          <a:p>
            <a:r>
              <a:rPr lang="en-US" dirty="0"/>
              <a:t>ENGINEERING STORY</a:t>
            </a:r>
          </a:p>
          <a:p>
            <a:endParaRPr lang="en-US" dirty="0"/>
          </a:p>
          <a:p>
            <a:r>
              <a:rPr lang="en-US" dirty="0"/>
              <a:t>Share one final Sprint 2 story.</a:t>
            </a:r>
          </a:p>
          <a:p>
            <a:endParaRPr lang="en-US" dirty="0"/>
          </a:p>
          <a:p>
            <a:r>
              <a:rPr lang="en-US" dirty="0"/>
              <a:t>Talk about a project where your original idea changed after talking to</a:t>
            </a:r>
          </a:p>
          <a:p>
            <a:r>
              <a:rPr lang="en-US" dirty="0"/>
              <a:t>users.</a:t>
            </a:r>
          </a:p>
          <a:p>
            <a:endParaRPr lang="en-US" dirty="0"/>
          </a:p>
          <a:p>
            <a:r>
              <a:rPr lang="en-US" dirty="0"/>
              <a:t>Explain that great software rarely succeeds because of the first idea.</a:t>
            </a:r>
          </a:p>
          <a:p>
            <a:endParaRPr lang="en-US" dirty="0"/>
          </a:p>
          <a:p>
            <a:r>
              <a:rPr lang="en-US" dirty="0"/>
              <a:t>It succeeds because engineers continue learning.</a:t>
            </a:r>
          </a:p>
          <a:p>
            <a:endParaRPr lang="en-US" dirty="0"/>
          </a:p>
          <a:p>
            <a:r>
              <a:rPr lang="en-US" dirty="0"/>
              <a:t>Relate this to Agile.</a:t>
            </a:r>
          </a:p>
          <a:p>
            <a:endParaRPr lang="en-US" dirty="0"/>
          </a:p>
          <a:p>
            <a:r>
              <a:rPr lang="en-US" dirty="0"/>
              <a:t>Every sprint is another opportunity to improve.</a:t>
            </a:r>
          </a:p>
          <a:p>
            <a:endParaRPr lang="en-US" dirty="0"/>
          </a:p>
          <a:p>
            <a:r>
              <a:rPr lang="en-US" dirty="0"/>
              <a:t>------------------------------------------------------------</a:t>
            </a:r>
          </a:p>
          <a:p>
            <a:endParaRPr lang="en-US" dirty="0"/>
          </a:p>
          <a:p>
            <a:r>
              <a:rPr lang="en-US" dirty="0"/>
              <a:t>REFLECTION QUESTIONS</a:t>
            </a:r>
          </a:p>
          <a:p>
            <a:endParaRPr lang="en-US" dirty="0"/>
          </a:p>
          <a:p>
            <a:r>
              <a:rPr lang="en-US" dirty="0"/>
              <a:t>Ask students to answer honestly.</a:t>
            </a:r>
          </a:p>
          <a:p>
            <a:endParaRPr lang="en-US" dirty="0"/>
          </a:p>
          <a:p>
            <a:r>
              <a:rPr lang="en-US" dirty="0"/>
              <a:t>What surprised you most about SaaS?</a:t>
            </a:r>
          </a:p>
          <a:p>
            <a:endParaRPr lang="en-US" dirty="0"/>
          </a:p>
          <a:p>
            <a:r>
              <a:rPr lang="en-US" dirty="0"/>
              <a:t>Which cloud model makes the most sense to you?</a:t>
            </a:r>
          </a:p>
          <a:p>
            <a:endParaRPr lang="en-US" dirty="0"/>
          </a:p>
          <a:p>
            <a:r>
              <a:rPr lang="en-US" dirty="0"/>
              <a:t>If you started a SaaS company tomorrow...</a:t>
            </a:r>
          </a:p>
          <a:p>
            <a:endParaRPr lang="en-US" dirty="0"/>
          </a:p>
          <a:p>
            <a:r>
              <a:rPr lang="en-US" dirty="0"/>
              <a:t>What would you build?</a:t>
            </a:r>
          </a:p>
          <a:p>
            <a:endParaRPr lang="en-US" dirty="0"/>
          </a:p>
          <a:p>
            <a:r>
              <a:rPr lang="en-US" dirty="0"/>
              <a:t>What topic do you want to learn more about?</a:t>
            </a:r>
          </a:p>
          <a:p>
            <a:endParaRPr lang="en-US" dirty="0"/>
          </a:p>
          <a:p>
            <a:r>
              <a:rPr lang="en-US" dirty="0"/>
              <a:t>What will you do differently in Sprint 3?</a:t>
            </a:r>
          </a:p>
          <a:p>
            <a:endParaRPr lang="en-US" dirty="0"/>
          </a:p>
          <a:p>
            <a:r>
              <a:rPr lang="en-US" dirty="0"/>
              <a:t>Allow students to discuss their answers.</a:t>
            </a:r>
          </a:p>
          <a:p>
            <a:endParaRPr lang="en-US" dirty="0"/>
          </a:p>
          <a:p>
            <a:r>
              <a:rPr lang="en-US" dirty="0"/>
              <a:t>------------------------------------------------------------</a:t>
            </a:r>
          </a:p>
          <a:p>
            <a:endParaRPr lang="en-US" dirty="0"/>
          </a:p>
          <a:p>
            <a:r>
              <a:rPr lang="en-US" dirty="0"/>
              <a:t>NEXT SPRINT PREVIEW</a:t>
            </a:r>
          </a:p>
          <a:p>
            <a:endParaRPr lang="en-US" dirty="0"/>
          </a:p>
          <a:p>
            <a:r>
              <a:rPr lang="en-US" dirty="0"/>
              <a:t>Read the title.</a:t>
            </a:r>
          </a:p>
          <a:p>
            <a:endParaRPr lang="en-US" dirty="0"/>
          </a:p>
          <a:p>
            <a:r>
              <a:rPr lang="en-US" dirty="0"/>
              <a:t>"Sprint 3."</a:t>
            </a:r>
          </a:p>
          <a:p>
            <a:endParaRPr lang="en-US" dirty="0"/>
          </a:p>
          <a:p>
            <a:r>
              <a:rPr lang="en-US" dirty="0"/>
              <a:t>"Cloud Application Design."</a:t>
            </a:r>
          </a:p>
          <a:p>
            <a:endParaRPr lang="en-US" dirty="0"/>
          </a:p>
          <a:p>
            <a:r>
              <a:rPr lang="en-US" dirty="0"/>
              <a:t>Explain the shift.</a:t>
            </a:r>
          </a:p>
          <a:p>
            <a:endParaRPr lang="en-US" dirty="0"/>
          </a:p>
          <a:p>
            <a:r>
              <a:rPr lang="en-US" dirty="0"/>
              <a:t>"So far..."</a:t>
            </a:r>
          </a:p>
          <a:p>
            <a:endParaRPr lang="en-US" dirty="0"/>
          </a:p>
          <a:p>
            <a:r>
              <a:rPr lang="en-US" dirty="0"/>
              <a:t>"We've learned what SaaS is."</a:t>
            </a:r>
          </a:p>
          <a:p>
            <a:endParaRPr lang="en-US" dirty="0"/>
          </a:p>
          <a:p>
            <a:r>
              <a:rPr lang="en-US" dirty="0"/>
              <a:t>"Next..."</a:t>
            </a:r>
          </a:p>
          <a:p>
            <a:endParaRPr lang="en-US" dirty="0"/>
          </a:p>
          <a:p>
            <a:r>
              <a:rPr lang="en-US" dirty="0"/>
              <a:t>"We begin designing it."</a:t>
            </a:r>
          </a:p>
          <a:p>
            <a:endParaRPr lang="en-US" dirty="0"/>
          </a:p>
          <a:p>
            <a:r>
              <a:rPr lang="en-US" dirty="0"/>
              <a:t>Students will learn:</a:t>
            </a:r>
          </a:p>
          <a:p>
            <a:endParaRPr lang="en-US" dirty="0"/>
          </a:p>
          <a:p>
            <a:r>
              <a:rPr lang="en-US" dirty="0"/>
              <a:t>Requirements gathering</a:t>
            </a:r>
          </a:p>
          <a:p>
            <a:endParaRPr lang="en-US" dirty="0"/>
          </a:p>
          <a:p>
            <a:r>
              <a:rPr lang="en-US" dirty="0"/>
              <a:t>User stories</a:t>
            </a:r>
          </a:p>
          <a:p>
            <a:endParaRPr lang="en-US" dirty="0"/>
          </a:p>
          <a:p>
            <a:r>
              <a:rPr lang="en-US" dirty="0"/>
              <a:t>Personas</a:t>
            </a:r>
          </a:p>
          <a:p>
            <a:endParaRPr lang="en-US" dirty="0"/>
          </a:p>
          <a:p>
            <a:r>
              <a:rPr lang="en-US" dirty="0"/>
              <a:t>Wireframes</a:t>
            </a:r>
          </a:p>
          <a:p>
            <a:endParaRPr lang="en-US" dirty="0"/>
          </a:p>
          <a:p>
            <a:r>
              <a:rPr lang="en-US" dirty="0"/>
              <a:t>UX design</a:t>
            </a:r>
          </a:p>
          <a:p>
            <a:endParaRPr lang="en-US" dirty="0"/>
          </a:p>
          <a:p>
            <a:r>
              <a:rPr lang="en-US" dirty="0"/>
              <a:t>Information architecture</a:t>
            </a:r>
          </a:p>
          <a:p>
            <a:endParaRPr lang="en-US" dirty="0"/>
          </a:p>
          <a:p>
            <a:r>
              <a:rPr lang="en-US" dirty="0"/>
              <a:t>Product backlogs</a:t>
            </a:r>
          </a:p>
          <a:p>
            <a:endParaRPr lang="en-US" dirty="0"/>
          </a:p>
          <a:p>
            <a:r>
              <a:rPr lang="en-US" dirty="0"/>
              <a:t>MVP planning</a:t>
            </a:r>
          </a:p>
          <a:p>
            <a:endParaRPr lang="en-US" dirty="0"/>
          </a:p>
          <a:p>
            <a:r>
              <a:rPr lang="en-US" dirty="0"/>
              <a:t>Explain:</a:t>
            </a:r>
          </a:p>
          <a:p>
            <a:endParaRPr lang="en-US" dirty="0"/>
          </a:p>
          <a:p>
            <a:r>
              <a:rPr lang="en-US" dirty="0"/>
              <a:t>"We're moving from understanding software..."</a:t>
            </a:r>
          </a:p>
          <a:p>
            <a:endParaRPr lang="en-US" dirty="0"/>
          </a:p>
          <a:p>
            <a:r>
              <a:rPr lang="en-US" dirty="0"/>
              <a:t>"...to designing software."</a:t>
            </a:r>
          </a:p>
          <a:p>
            <a:endParaRPr lang="en-US" dirty="0"/>
          </a:p>
          <a:p>
            <a:r>
              <a:rPr lang="en-US" dirty="0"/>
              <a:t>------------------------------------------------------------</a:t>
            </a:r>
          </a:p>
          <a:p>
            <a:endParaRPr lang="en-US" dirty="0"/>
          </a:p>
          <a:p>
            <a:r>
              <a:rPr lang="en-US" dirty="0"/>
              <a:t>LOOKING AHEAD</a:t>
            </a:r>
          </a:p>
          <a:p>
            <a:endParaRPr lang="en-US" dirty="0"/>
          </a:p>
          <a:p>
            <a:r>
              <a:rPr lang="en-US" dirty="0"/>
              <a:t>Point to the mountain graphic.</a:t>
            </a:r>
          </a:p>
          <a:p>
            <a:endParaRPr lang="en-US" dirty="0"/>
          </a:p>
          <a:p>
            <a:r>
              <a:rPr lang="en-US" dirty="0"/>
              <a:t>"The journey has just begun."</a:t>
            </a:r>
          </a:p>
          <a:p>
            <a:endParaRPr lang="en-US" dirty="0"/>
          </a:p>
          <a:p>
            <a:r>
              <a:rPr lang="en-US" dirty="0"/>
              <a:t>"The best software engineers never stop learning."</a:t>
            </a:r>
          </a:p>
          <a:p>
            <a:endParaRPr lang="en-US" dirty="0"/>
          </a:p>
          <a:p>
            <a:r>
              <a:rPr lang="en-US" dirty="0"/>
              <a:t>"Each sprint builds on the one before it."</a:t>
            </a:r>
          </a:p>
          <a:p>
            <a:endParaRPr lang="en-US" dirty="0"/>
          </a:p>
          <a:p>
            <a:r>
              <a:rPr lang="en-US" dirty="0"/>
              <a:t>"You've already come farther than you realize."</a:t>
            </a:r>
          </a:p>
          <a:p>
            <a:endParaRPr lang="en-US" dirty="0"/>
          </a:p>
          <a:p>
            <a:r>
              <a:rPr lang="en-US" dirty="0"/>
              <a:t>------------------------------------------------------------</a:t>
            </a:r>
          </a:p>
          <a:p>
            <a:endParaRPr lang="en-US" dirty="0"/>
          </a:p>
          <a:p>
            <a:r>
              <a:rPr lang="en-US" dirty="0"/>
              <a:t>ENGINEERING LESSON</a:t>
            </a:r>
          </a:p>
          <a:p>
            <a:endParaRPr lang="en-US" dirty="0"/>
          </a:p>
          <a:p>
            <a:r>
              <a:rPr lang="en-US" dirty="0"/>
              <a:t>Programming teaches us how to write code.</a:t>
            </a:r>
          </a:p>
          <a:p>
            <a:endParaRPr lang="en-US" dirty="0"/>
          </a:p>
          <a:p>
            <a:r>
              <a:rPr lang="en-US" dirty="0"/>
              <a:t>Software engineering teaches us how to solve problems.</a:t>
            </a:r>
          </a:p>
          <a:p>
            <a:endParaRPr lang="en-US" dirty="0"/>
          </a:p>
          <a:p>
            <a:r>
              <a:rPr lang="en-US" dirty="0"/>
              <a:t>Cloud computing teaches us how to deliver solutions at scale.</a:t>
            </a:r>
          </a:p>
          <a:p>
            <a:endParaRPr lang="en-US" dirty="0"/>
          </a:p>
          <a:p>
            <a:r>
              <a:rPr lang="en-US" dirty="0"/>
              <a:t>SaaS brings all of those ideas together.</a:t>
            </a:r>
          </a:p>
          <a:p>
            <a:endParaRPr lang="en-US" dirty="0"/>
          </a:p>
          <a:p>
            <a:r>
              <a:rPr lang="en-US" dirty="0"/>
              <a:t>Professional software engineers understand technology.</a:t>
            </a:r>
          </a:p>
          <a:p>
            <a:endParaRPr lang="en-US" dirty="0"/>
          </a:p>
          <a:p>
            <a:r>
              <a:rPr lang="en-US" dirty="0"/>
              <a:t>Great software engineers understand people.</a:t>
            </a:r>
          </a:p>
          <a:p>
            <a:endParaRPr lang="en-US" dirty="0"/>
          </a:p>
          <a:p>
            <a:r>
              <a:rPr lang="en-US" dirty="0"/>
              <a:t>------------------------------------------------------------</a:t>
            </a:r>
          </a:p>
          <a:p>
            <a:endParaRPr lang="en-US" dirty="0"/>
          </a:p>
          <a:p>
            <a:r>
              <a:rPr lang="en-US" dirty="0"/>
              <a:t>CLASS DISCUSSION</a:t>
            </a:r>
          </a:p>
          <a:p>
            <a:endParaRPr lang="en-US" dirty="0"/>
          </a:p>
          <a:p>
            <a:r>
              <a:rPr lang="en-US" dirty="0"/>
              <a:t>Ask the class:</a:t>
            </a:r>
          </a:p>
          <a:p>
            <a:endParaRPr lang="en-US" dirty="0"/>
          </a:p>
          <a:p>
            <a:r>
              <a:rPr lang="en-US" dirty="0"/>
              <a:t>"What was your biggest takeaway from Sprint 2?"</a:t>
            </a:r>
          </a:p>
          <a:p>
            <a:endParaRPr lang="en-US" dirty="0"/>
          </a:p>
          <a:p>
            <a:r>
              <a:rPr lang="en-US" dirty="0"/>
              <a:t>"What concept finally 'clicked' for you?"</a:t>
            </a:r>
          </a:p>
          <a:p>
            <a:endParaRPr lang="en-US" dirty="0"/>
          </a:p>
          <a:p>
            <a:r>
              <a:rPr lang="en-US" dirty="0"/>
              <a:t>"What topic are you most excited to explore next?"</a:t>
            </a:r>
          </a:p>
          <a:p>
            <a:endParaRPr lang="en-US" dirty="0"/>
          </a:p>
          <a:p>
            <a:r>
              <a:rPr lang="en-US" dirty="0"/>
              <a:t>Allow students to celebrate each other's progress.</a:t>
            </a:r>
          </a:p>
          <a:p>
            <a:endParaRPr lang="en-US" dirty="0"/>
          </a:p>
          <a:p>
            <a:r>
              <a:rPr lang="en-US" dirty="0"/>
              <a:t>------------------------------------------------------------</a:t>
            </a:r>
          </a:p>
          <a:p>
            <a:endParaRPr lang="en-US" dirty="0"/>
          </a:p>
          <a:p>
            <a:r>
              <a:rPr lang="en-US" dirty="0"/>
              <a:t>CLOSING</a:t>
            </a:r>
          </a:p>
          <a:p>
            <a:endParaRPr lang="en-US" dirty="0"/>
          </a:p>
          <a:p>
            <a:r>
              <a:rPr lang="en-US" dirty="0"/>
              <a:t>Leave students with this message.</a:t>
            </a:r>
          </a:p>
          <a:p>
            <a:endParaRPr lang="en-US" dirty="0"/>
          </a:p>
          <a:p>
            <a:r>
              <a:rPr lang="en-US" dirty="0"/>
              <a:t>"Two weeks ago..."</a:t>
            </a:r>
          </a:p>
          <a:p>
            <a:endParaRPr lang="en-US" dirty="0"/>
          </a:p>
          <a:p>
            <a:r>
              <a:rPr lang="en-US" dirty="0"/>
              <a:t>"You were learning about cloud computing."</a:t>
            </a:r>
          </a:p>
          <a:p>
            <a:endParaRPr lang="en-US" dirty="0"/>
          </a:p>
          <a:p>
            <a:r>
              <a:rPr lang="en-US" dirty="0"/>
              <a:t>"Today..."</a:t>
            </a:r>
          </a:p>
          <a:p>
            <a:endParaRPr lang="en-US" dirty="0"/>
          </a:p>
          <a:p>
            <a:r>
              <a:rPr lang="en-US" dirty="0"/>
              <a:t>"You're thinking like cloud engineers."</a:t>
            </a:r>
          </a:p>
          <a:p>
            <a:endParaRPr lang="en-US" dirty="0"/>
          </a:p>
          <a:p>
            <a:r>
              <a:rPr lang="en-US" dirty="0"/>
              <a:t>"That's real progress."</a:t>
            </a:r>
          </a:p>
          <a:p>
            <a:endParaRPr lang="en-US" dirty="0"/>
          </a:p>
          <a:p>
            <a:r>
              <a:rPr lang="en-US" dirty="0"/>
              <a:t>"Take pride in what you've accomplished."</a:t>
            </a:r>
          </a:p>
          <a:p>
            <a:endParaRPr lang="en-US" dirty="0"/>
          </a:p>
          <a:p>
            <a:r>
              <a:rPr lang="en-US" dirty="0"/>
              <a:t>------------------------------------------------------------</a:t>
            </a:r>
          </a:p>
          <a:p>
            <a:endParaRPr lang="en-US" dirty="0"/>
          </a:p>
          <a:p>
            <a:r>
              <a:rPr lang="en-US" dirty="0"/>
              <a:t>ESTIMATED TIME</a:t>
            </a:r>
          </a:p>
          <a:p>
            <a:endParaRPr lang="en-US" dirty="0"/>
          </a:p>
          <a:p>
            <a:r>
              <a:rPr lang="en-US" dirty="0"/>
              <a:t>Sprint Review................8 minutes</a:t>
            </a:r>
          </a:p>
          <a:p>
            <a:endParaRPr lang="en-US" dirty="0"/>
          </a:p>
          <a:p>
            <a:r>
              <a:rPr lang="en-US" dirty="0"/>
              <a:t>Accomplishments..............5 minutes</a:t>
            </a:r>
          </a:p>
          <a:p>
            <a:endParaRPr lang="en-US" dirty="0"/>
          </a:p>
          <a:p>
            <a:r>
              <a:rPr lang="en-US" dirty="0"/>
              <a:t>Student Discussion...........10 minutes</a:t>
            </a:r>
          </a:p>
          <a:p>
            <a:endParaRPr lang="en-US" dirty="0"/>
          </a:p>
          <a:p>
            <a:r>
              <a:rPr lang="en-US" dirty="0"/>
              <a:t>Sprint 3 Preview.............8 minutes</a:t>
            </a:r>
          </a:p>
          <a:p>
            <a:endParaRPr lang="en-US" dirty="0"/>
          </a:p>
          <a:p>
            <a:r>
              <a:rPr lang="en-US" dirty="0"/>
              <a:t>Closing Reflection...........5 minutes</a:t>
            </a:r>
          </a:p>
          <a:p>
            <a:endParaRPr lang="en-US" dirty="0"/>
          </a:p>
          <a:p>
            <a:r>
              <a:rPr lang="en-US" dirty="0"/>
              <a:t>Questions....................5 minutes</a:t>
            </a:r>
          </a:p>
          <a:p>
            <a:endParaRPr lang="en-US" dirty="0"/>
          </a:p>
          <a:p>
            <a:r>
              <a:rPr lang="en-US" dirty="0"/>
              <a:t>Total........................41 minutes</a:t>
            </a:r>
          </a:p>
          <a:p>
            <a:endParaRPr lang="en-US" dirty="0"/>
          </a:p>
          <a:p>
            <a:r>
              <a:rPr lang="en-US" dirty="0"/>
              <a:t>------------------------------------------------------------</a:t>
            </a:r>
          </a:p>
          <a:p>
            <a:endParaRPr lang="en-US" dirty="0"/>
          </a:p>
          <a:p>
            <a:r>
              <a:rPr lang="en-US" dirty="0"/>
              <a:t>INSTRUCTOR NOTES</a:t>
            </a:r>
          </a:p>
          <a:p>
            <a:endParaRPr lang="en-US" dirty="0"/>
          </a:p>
          <a:p>
            <a:r>
              <a:rPr lang="en-US" dirty="0"/>
              <a:t>Keep the atmosphere positive.</a:t>
            </a:r>
          </a:p>
          <a:p>
            <a:endParaRPr lang="en-US" dirty="0"/>
          </a:p>
          <a:p>
            <a:r>
              <a:rPr lang="en-US" dirty="0"/>
              <a:t>Celebrate growth.</a:t>
            </a:r>
          </a:p>
          <a:p>
            <a:endParaRPr lang="en-US" dirty="0"/>
          </a:p>
          <a:p>
            <a:r>
              <a:rPr lang="en-US" dirty="0"/>
              <a:t>Encourage students to keep every artifact they create.</a:t>
            </a:r>
          </a:p>
          <a:p>
            <a:endParaRPr lang="en-US" dirty="0"/>
          </a:p>
          <a:p>
            <a:r>
              <a:rPr lang="en-US" dirty="0"/>
              <a:t>Remind them that portfolios are built one project at a time.</a:t>
            </a:r>
          </a:p>
          <a:p>
            <a:endParaRPr lang="en-US" dirty="0"/>
          </a:p>
          <a:p>
            <a:r>
              <a:rPr lang="en-US" dirty="0"/>
              <a:t>Leave students excited—not overwhelmed—about Sprint 3.</a:t>
            </a:r>
          </a:p>
          <a:p>
            <a:endParaRPr lang="en-US" dirty="0"/>
          </a:p>
          <a:p>
            <a:r>
              <a:rPr lang="en-US" dirty="0"/>
              <a:t>Close with:</a:t>
            </a:r>
          </a:p>
          <a:p>
            <a:endParaRPr lang="en-US" dirty="0"/>
          </a:p>
          <a:p>
            <a:r>
              <a:rPr lang="en-US" dirty="0"/>
              <a:t>"Every great engineer was once a beginner who refused to stop</a:t>
            </a:r>
          </a:p>
          <a:p>
            <a:r>
              <a:rPr lang="en-US" dirty="0"/>
              <a:t>learning."</a:t>
            </a:r>
          </a:p>
          <a:p>
            <a:endParaRPr lang="en-US" dirty="0"/>
          </a:p>
          <a:p>
            <a:r>
              <a:rPr lang="en-US" dirty="0"/>
              <a:t>"And that's exactly what you're doing."</a:t>
            </a:r>
          </a:p>
          <a:p>
            <a:endParaRPr lang="en-US" dirty="0"/>
          </a:p>
          <a:p>
            <a:r>
              <a:rPr lang="en-US" dirty="0"/>
              <a:t>"Take a break."</a:t>
            </a:r>
          </a:p>
          <a:p>
            <a:endParaRPr lang="en-US" dirty="0"/>
          </a:p>
          <a:p>
            <a:r>
              <a:rPr lang="en-US" dirty="0"/>
              <a:t>"You've earned it."</a:t>
            </a:r>
          </a:p>
          <a:p>
            <a:endParaRPr lang="en-US" dirty="0"/>
          </a:p>
          <a:p>
            <a:r>
              <a:rPr lang="en-US" dirty="0"/>
              <a:t>============================================================</a:t>
            </a:r>
          </a:p>
        </p:txBody>
      </p:sp>
      <p:sp>
        <p:nvSpPr>
          <p:cNvPr id="4" name="Slide Number Placeholder 3"/>
          <p:cNvSpPr>
            <a:spLocks noGrp="1"/>
          </p:cNvSpPr>
          <p:nvPr>
            <p:ph type="sldNum" sz="quarter" idx="5"/>
          </p:nvPr>
        </p:nvSpPr>
        <p:spPr/>
        <p:txBody>
          <a:bodyPr/>
          <a:lstStyle/>
          <a:p>
            <a:fld id="{D23464B6-418B-4A24-AB2E-F540793FE320}" type="slidenum">
              <a:rPr lang="en-US" smtClean="0"/>
              <a:t>9</a:t>
            </a:fld>
            <a:endParaRPr lang="en-US"/>
          </a:p>
        </p:txBody>
      </p:sp>
    </p:spTree>
    <p:extLst>
      <p:ext uri="{BB962C8B-B14F-4D97-AF65-F5344CB8AC3E}">
        <p14:creationId xmlns:p14="http://schemas.microsoft.com/office/powerpoint/2010/main" val="29459855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6890C-EF47-4594-A85A-1C8651A7B9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5ABB73F-88F1-E660-102F-4544FF7640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1170627-DF24-26A2-C6AD-33440A01A7A5}"/>
              </a:ext>
            </a:extLst>
          </p:cNvPr>
          <p:cNvSpPr>
            <a:spLocks noGrp="1"/>
          </p:cNvSpPr>
          <p:nvPr>
            <p:ph type="dt" sz="half" idx="10"/>
          </p:nvPr>
        </p:nvSpPr>
        <p:spPr/>
        <p:txBody>
          <a:bodyPr/>
          <a:lstStyle/>
          <a:p>
            <a:fld id="{0086BB0D-1123-4638-AF5E-D76565D5479B}" type="datetimeFigureOut">
              <a:rPr lang="en-US" smtClean="0"/>
              <a:t>8/13/2026</a:t>
            </a:fld>
            <a:endParaRPr lang="en-US"/>
          </a:p>
        </p:txBody>
      </p:sp>
      <p:sp>
        <p:nvSpPr>
          <p:cNvPr id="5" name="Footer Placeholder 4">
            <a:extLst>
              <a:ext uri="{FF2B5EF4-FFF2-40B4-BE49-F238E27FC236}">
                <a16:creationId xmlns:a16="http://schemas.microsoft.com/office/drawing/2014/main" id="{22611520-B623-96E3-5CF5-2B0B69D384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8337FE-559B-DB43-7769-BF67C2366055}"/>
              </a:ext>
            </a:extLst>
          </p:cNvPr>
          <p:cNvSpPr>
            <a:spLocks noGrp="1"/>
          </p:cNvSpPr>
          <p:nvPr>
            <p:ph type="sldNum" sz="quarter" idx="12"/>
          </p:nvPr>
        </p:nvSpPr>
        <p:spPr/>
        <p:txBody>
          <a:bodyPr/>
          <a:lstStyle/>
          <a:p>
            <a:fld id="{C6C0204D-BD65-4D95-A2A6-45CE6610690A}" type="slidenum">
              <a:rPr lang="en-US" smtClean="0"/>
              <a:t>‹#›</a:t>
            </a:fld>
            <a:endParaRPr lang="en-US"/>
          </a:p>
        </p:txBody>
      </p:sp>
    </p:spTree>
    <p:extLst>
      <p:ext uri="{BB962C8B-B14F-4D97-AF65-F5344CB8AC3E}">
        <p14:creationId xmlns:p14="http://schemas.microsoft.com/office/powerpoint/2010/main" val="546316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E1563-C85A-83EE-F73E-FFEF15E5B7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5B76F52-6743-9382-FE39-9BF6B25CBD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FB16E0-BEAE-8AA5-230E-C1CD7899EC35}"/>
              </a:ext>
            </a:extLst>
          </p:cNvPr>
          <p:cNvSpPr>
            <a:spLocks noGrp="1"/>
          </p:cNvSpPr>
          <p:nvPr>
            <p:ph type="dt" sz="half" idx="10"/>
          </p:nvPr>
        </p:nvSpPr>
        <p:spPr/>
        <p:txBody>
          <a:bodyPr/>
          <a:lstStyle/>
          <a:p>
            <a:fld id="{0086BB0D-1123-4638-AF5E-D76565D5479B}" type="datetimeFigureOut">
              <a:rPr lang="en-US" smtClean="0"/>
              <a:t>8/13/2026</a:t>
            </a:fld>
            <a:endParaRPr lang="en-US"/>
          </a:p>
        </p:txBody>
      </p:sp>
      <p:sp>
        <p:nvSpPr>
          <p:cNvPr id="5" name="Footer Placeholder 4">
            <a:extLst>
              <a:ext uri="{FF2B5EF4-FFF2-40B4-BE49-F238E27FC236}">
                <a16:creationId xmlns:a16="http://schemas.microsoft.com/office/drawing/2014/main" id="{C5BB885E-21E5-441B-C260-2101DB61EE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62221A-40F9-4898-A51D-39CCCC256722}"/>
              </a:ext>
            </a:extLst>
          </p:cNvPr>
          <p:cNvSpPr>
            <a:spLocks noGrp="1"/>
          </p:cNvSpPr>
          <p:nvPr>
            <p:ph type="sldNum" sz="quarter" idx="12"/>
          </p:nvPr>
        </p:nvSpPr>
        <p:spPr/>
        <p:txBody>
          <a:bodyPr/>
          <a:lstStyle/>
          <a:p>
            <a:fld id="{C6C0204D-BD65-4D95-A2A6-45CE6610690A}" type="slidenum">
              <a:rPr lang="en-US" smtClean="0"/>
              <a:t>‹#›</a:t>
            </a:fld>
            <a:endParaRPr lang="en-US"/>
          </a:p>
        </p:txBody>
      </p:sp>
    </p:spTree>
    <p:extLst>
      <p:ext uri="{BB962C8B-B14F-4D97-AF65-F5344CB8AC3E}">
        <p14:creationId xmlns:p14="http://schemas.microsoft.com/office/powerpoint/2010/main" val="2049720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F4405-E2E1-8ACD-95AE-3EBC12C259A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5B310C5-D009-4E70-98CB-D0F44917703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64F4CC-44CB-0EC9-C6AD-E85118BCB06C}"/>
              </a:ext>
            </a:extLst>
          </p:cNvPr>
          <p:cNvSpPr>
            <a:spLocks noGrp="1"/>
          </p:cNvSpPr>
          <p:nvPr>
            <p:ph type="dt" sz="half" idx="10"/>
          </p:nvPr>
        </p:nvSpPr>
        <p:spPr/>
        <p:txBody>
          <a:bodyPr/>
          <a:lstStyle/>
          <a:p>
            <a:fld id="{0086BB0D-1123-4638-AF5E-D76565D5479B}" type="datetimeFigureOut">
              <a:rPr lang="en-US" smtClean="0"/>
              <a:t>8/13/2026</a:t>
            </a:fld>
            <a:endParaRPr lang="en-US"/>
          </a:p>
        </p:txBody>
      </p:sp>
      <p:sp>
        <p:nvSpPr>
          <p:cNvPr id="5" name="Footer Placeholder 4">
            <a:extLst>
              <a:ext uri="{FF2B5EF4-FFF2-40B4-BE49-F238E27FC236}">
                <a16:creationId xmlns:a16="http://schemas.microsoft.com/office/drawing/2014/main" id="{8F62A568-4ED1-EFB2-C9A6-E6E7E22E01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F2CCFC-A3BC-6735-8F60-E545BCE1A74B}"/>
              </a:ext>
            </a:extLst>
          </p:cNvPr>
          <p:cNvSpPr>
            <a:spLocks noGrp="1"/>
          </p:cNvSpPr>
          <p:nvPr>
            <p:ph type="sldNum" sz="quarter" idx="12"/>
          </p:nvPr>
        </p:nvSpPr>
        <p:spPr/>
        <p:txBody>
          <a:bodyPr/>
          <a:lstStyle/>
          <a:p>
            <a:fld id="{C6C0204D-BD65-4D95-A2A6-45CE6610690A}" type="slidenum">
              <a:rPr lang="en-US" smtClean="0"/>
              <a:t>‹#›</a:t>
            </a:fld>
            <a:endParaRPr lang="en-US"/>
          </a:p>
        </p:txBody>
      </p:sp>
    </p:spTree>
    <p:extLst>
      <p:ext uri="{BB962C8B-B14F-4D97-AF65-F5344CB8AC3E}">
        <p14:creationId xmlns:p14="http://schemas.microsoft.com/office/powerpoint/2010/main" val="397871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B4C2F-B14B-9944-2D19-BDB5A07D60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AD8F8B-55D7-EF6A-7F6B-468DABAE47C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1B06268-AD3B-B37F-A02D-FC06A78E481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1624640-3AA7-8464-0D70-5331F9FC36F9}"/>
              </a:ext>
            </a:extLst>
          </p:cNvPr>
          <p:cNvSpPr>
            <a:spLocks noGrp="1"/>
          </p:cNvSpPr>
          <p:nvPr>
            <p:ph type="dt" sz="half" idx="10"/>
          </p:nvPr>
        </p:nvSpPr>
        <p:spPr/>
        <p:txBody>
          <a:bodyPr/>
          <a:lstStyle/>
          <a:p>
            <a:fld id="{0086BB0D-1123-4638-AF5E-D76565D5479B}" type="datetimeFigureOut">
              <a:rPr lang="en-US" smtClean="0"/>
              <a:t>8/13/2026</a:t>
            </a:fld>
            <a:endParaRPr lang="en-US"/>
          </a:p>
        </p:txBody>
      </p:sp>
      <p:sp>
        <p:nvSpPr>
          <p:cNvPr id="6" name="Footer Placeholder 5">
            <a:extLst>
              <a:ext uri="{FF2B5EF4-FFF2-40B4-BE49-F238E27FC236}">
                <a16:creationId xmlns:a16="http://schemas.microsoft.com/office/drawing/2014/main" id="{0D32BCE9-E1C5-C9AA-34C8-0FA1336228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5385ED-9B3B-33B9-1E35-6BD579EBFC02}"/>
              </a:ext>
            </a:extLst>
          </p:cNvPr>
          <p:cNvSpPr>
            <a:spLocks noGrp="1"/>
          </p:cNvSpPr>
          <p:nvPr>
            <p:ph type="sldNum" sz="quarter" idx="12"/>
          </p:nvPr>
        </p:nvSpPr>
        <p:spPr/>
        <p:txBody>
          <a:bodyPr/>
          <a:lstStyle/>
          <a:p>
            <a:fld id="{C6C0204D-BD65-4D95-A2A6-45CE6610690A}" type="slidenum">
              <a:rPr lang="en-US" smtClean="0"/>
              <a:t>‹#›</a:t>
            </a:fld>
            <a:endParaRPr lang="en-US"/>
          </a:p>
        </p:txBody>
      </p:sp>
    </p:spTree>
    <p:extLst>
      <p:ext uri="{BB962C8B-B14F-4D97-AF65-F5344CB8AC3E}">
        <p14:creationId xmlns:p14="http://schemas.microsoft.com/office/powerpoint/2010/main" val="10083756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C0740-48F7-1591-B7DB-A8E4B7D62A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CEE7887-3791-A88D-CADE-5A593B8E48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4ACF65-6283-47BB-D6AD-7A8B2FC8CB6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66EDFEC-A296-18BF-2F16-96CAE12600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21B305F-1836-EC28-08DA-29CC4DD1A5F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A9C6ECE-27D1-5CF6-11E3-6FF379DAD1A9}"/>
              </a:ext>
            </a:extLst>
          </p:cNvPr>
          <p:cNvSpPr>
            <a:spLocks noGrp="1"/>
          </p:cNvSpPr>
          <p:nvPr>
            <p:ph type="dt" sz="half" idx="10"/>
          </p:nvPr>
        </p:nvSpPr>
        <p:spPr/>
        <p:txBody>
          <a:bodyPr/>
          <a:lstStyle/>
          <a:p>
            <a:fld id="{0086BB0D-1123-4638-AF5E-D76565D5479B}" type="datetimeFigureOut">
              <a:rPr lang="en-US" smtClean="0"/>
              <a:t>8/13/2026</a:t>
            </a:fld>
            <a:endParaRPr lang="en-US"/>
          </a:p>
        </p:txBody>
      </p:sp>
      <p:sp>
        <p:nvSpPr>
          <p:cNvPr id="8" name="Footer Placeholder 7">
            <a:extLst>
              <a:ext uri="{FF2B5EF4-FFF2-40B4-BE49-F238E27FC236}">
                <a16:creationId xmlns:a16="http://schemas.microsoft.com/office/drawing/2014/main" id="{0F37B9D7-ADA9-FD47-7D0A-2F517259F52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76BEDC1-C7B9-DBB0-84E9-F4425E51165C}"/>
              </a:ext>
            </a:extLst>
          </p:cNvPr>
          <p:cNvSpPr>
            <a:spLocks noGrp="1"/>
          </p:cNvSpPr>
          <p:nvPr>
            <p:ph type="sldNum" sz="quarter" idx="12"/>
          </p:nvPr>
        </p:nvSpPr>
        <p:spPr/>
        <p:txBody>
          <a:bodyPr/>
          <a:lstStyle/>
          <a:p>
            <a:fld id="{C6C0204D-BD65-4D95-A2A6-45CE6610690A}" type="slidenum">
              <a:rPr lang="en-US" smtClean="0"/>
              <a:t>‹#›</a:t>
            </a:fld>
            <a:endParaRPr lang="en-US"/>
          </a:p>
        </p:txBody>
      </p:sp>
    </p:spTree>
    <p:extLst>
      <p:ext uri="{BB962C8B-B14F-4D97-AF65-F5344CB8AC3E}">
        <p14:creationId xmlns:p14="http://schemas.microsoft.com/office/powerpoint/2010/main" val="1841832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4B578-FDBF-171A-95CB-BF349D69689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92F119D-BDCE-B2EA-DAFC-54CB2ECF0D49}"/>
              </a:ext>
            </a:extLst>
          </p:cNvPr>
          <p:cNvSpPr>
            <a:spLocks noGrp="1"/>
          </p:cNvSpPr>
          <p:nvPr>
            <p:ph type="dt" sz="half" idx="10"/>
          </p:nvPr>
        </p:nvSpPr>
        <p:spPr/>
        <p:txBody>
          <a:bodyPr/>
          <a:lstStyle/>
          <a:p>
            <a:fld id="{0086BB0D-1123-4638-AF5E-D76565D5479B}" type="datetimeFigureOut">
              <a:rPr lang="en-US" smtClean="0"/>
              <a:t>8/13/2026</a:t>
            </a:fld>
            <a:endParaRPr lang="en-US"/>
          </a:p>
        </p:txBody>
      </p:sp>
      <p:sp>
        <p:nvSpPr>
          <p:cNvPr id="4" name="Footer Placeholder 3">
            <a:extLst>
              <a:ext uri="{FF2B5EF4-FFF2-40B4-BE49-F238E27FC236}">
                <a16:creationId xmlns:a16="http://schemas.microsoft.com/office/drawing/2014/main" id="{73672D03-236D-4BDE-2CE9-C1A4B142F38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FBC868F-33EF-0DBB-7797-DC63A26F0705}"/>
              </a:ext>
            </a:extLst>
          </p:cNvPr>
          <p:cNvSpPr>
            <a:spLocks noGrp="1"/>
          </p:cNvSpPr>
          <p:nvPr>
            <p:ph type="sldNum" sz="quarter" idx="12"/>
          </p:nvPr>
        </p:nvSpPr>
        <p:spPr/>
        <p:txBody>
          <a:bodyPr/>
          <a:lstStyle/>
          <a:p>
            <a:fld id="{C6C0204D-BD65-4D95-A2A6-45CE6610690A}" type="slidenum">
              <a:rPr lang="en-US" smtClean="0"/>
              <a:t>‹#›</a:t>
            </a:fld>
            <a:endParaRPr lang="en-US"/>
          </a:p>
        </p:txBody>
      </p:sp>
    </p:spTree>
    <p:extLst>
      <p:ext uri="{BB962C8B-B14F-4D97-AF65-F5344CB8AC3E}">
        <p14:creationId xmlns:p14="http://schemas.microsoft.com/office/powerpoint/2010/main" val="224777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F5AB45-F3B4-6C0C-1FE4-ECD312F31C17}"/>
              </a:ext>
            </a:extLst>
          </p:cNvPr>
          <p:cNvSpPr>
            <a:spLocks noGrp="1"/>
          </p:cNvSpPr>
          <p:nvPr>
            <p:ph type="dt" sz="half" idx="10"/>
          </p:nvPr>
        </p:nvSpPr>
        <p:spPr/>
        <p:txBody>
          <a:bodyPr/>
          <a:lstStyle/>
          <a:p>
            <a:fld id="{0086BB0D-1123-4638-AF5E-D76565D5479B}" type="datetimeFigureOut">
              <a:rPr lang="en-US" smtClean="0"/>
              <a:t>8/13/2026</a:t>
            </a:fld>
            <a:endParaRPr lang="en-US"/>
          </a:p>
        </p:txBody>
      </p:sp>
      <p:sp>
        <p:nvSpPr>
          <p:cNvPr id="3" name="Footer Placeholder 2">
            <a:extLst>
              <a:ext uri="{FF2B5EF4-FFF2-40B4-BE49-F238E27FC236}">
                <a16:creationId xmlns:a16="http://schemas.microsoft.com/office/drawing/2014/main" id="{9E992CE6-62B0-1732-1A23-416AD3B7F5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72EB049-07C9-8B32-3223-4ECD47866A1E}"/>
              </a:ext>
            </a:extLst>
          </p:cNvPr>
          <p:cNvSpPr>
            <a:spLocks noGrp="1"/>
          </p:cNvSpPr>
          <p:nvPr>
            <p:ph type="sldNum" sz="quarter" idx="12"/>
          </p:nvPr>
        </p:nvSpPr>
        <p:spPr/>
        <p:txBody>
          <a:bodyPr/>
          <a:lstStyle/>
          <a:p>
            <a:fld id="{C6C0204D-BD65-4D95-A2A6-45CE6610690A}" type="slidenum">
              <a:rPr lang="en-US" smtClean="0"/>
              <a:t>‹#›</a:t>
            </a:fld>
            <a:endParaRPr lang="en-US"/>
          </a:p>
        </p:txBody>
      </p:sp>
    </p:spTree>
    <p:extLst>
      <p:ext uri="{BB962C8B-B14F-4D97-AF65-F5344CB8AC3E}">
        <p14:creationId xmlns:p14="http://schemas.microsoft.com/office/powerpoint/2010/main" val="2283439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A9227-EF4F-9BF9-A5B6-BFB8EE9143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A2F963B-D4F6-BD83-BBE5-157B637E1C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C66FB09-1806-98E5-B1DD-3DA290B7CE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63447E-5EF1-EA05-D69B-45CCA9D4443E}"/>
              </a:ext>
            </a:extLst>
          </p:cNvPr>
          <p:cNvSpPr>
            <a:spLocks noGrp="1"/>
          </p:cNvSpPr>
          <p:nvPr>
            <p:ph type="dt" sz="half" idx="10"/>
          </p:nvPr>
        </p:nvSpPr>
        <p:spPr/>
        <p:txBody>
          <a:bodyPr/>
          <a:lstStyle/>
          <a:p>
            <a:fld id="{0086BB0D-1123-4638-AF5E-D76565D5479B}" type="datetimeFigureOut">
              <a:rPr lang="en-US" smtClean="0"/>
              <a:t>8/13/2026</a:t>
            </a:fld>
            <a:endParaRPr lang="en-US"/>
          </a:p>
        </p:txBody>
      </p:sp>
      <p:sp>
        <p:nvSpPr>
          <p:cNvPr id="6" name="Footer Placeholder 5">
            <a:extLst>
              <a:ext uri="{FF2B5EF4-FFF2-40B4-BE49-F238E27FC236}">
                <a16:creationId xmlns:a16="http://schemas.microsoft.com/office/drawing/2014/main" id="{759A01F9-3806-BEA9-1EC2-E6C92F0BF6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8BD076-DFDC-57D6-47CC-EA3F3A2CAD90}"/>
              </a:ext>
            </a:extLst>
          </p:cNvPr>
          <p:cNvSpPr>
            <a:spLocks noGrp="1"/>
          </p:cNvSpPr>
          <p:nvPr>
            <p:ph type="sldNum" sz="quarter" idx="12"/>
          </p:nvPr>
        </p:nvSpPr>
        <p:spPr/>
        <p:txBody>
          <a:bodyPr/>
          <a:lstStyle/>
          <a:p>
            <a:fld id="{C6C0204D-BD65-4D95-A2A6-45CE6610690A}" type="slidenum">
              <a:rPr lang="en-US" smtClean="0"/>
              <a:t>‹#›</a:t>
            </a:fld>
            <a:endParaRPr lang="en-US"/>
          </a:p>
        </p:txBody>
      </p:sp>
    </p:spTree>
    <p:extLst>
      <p:ext uri="{BB962C8B-B14F-4D97-AF65-F5344CB8AC3E}">
        <p14:creationId xmlns:p14="http://schemas.microsoft.com/office/powerpoint/2010/main" val="38261869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F8DEE-8A1A-8193-ED1B-1B417B2ECC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6209D82-4093-8C5F-6C64-67304F5136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A1BA67F-9C2D-B8C1-9066-CDAE9ADF28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C84643-5264-64C6-BF9B-026EC9728525}"/>
              </a:ext>
            </a:extLst>
          </p:cNvPr>
          <p:cNvSpPr>
            <a:spLocks noGrp="1"/>
          </p:cNvSpPr>
          <p:nvPr>
            <p:ph type="dt" sz="half" idx="10"/>
          </p:nvPr>
        </p:nvSpPr>
        <p:spPr/>
        <p:txBody>
          <a:bodyPr/>
          <a:lstStyle/>
          <a:p>
            <a:fld id="{0086BB0D-1123-4638-AF5E-D76565D5479B}" type="datetimeFigureOut">
              <a:rPr lang="en-US" smtClean="0"/>
              <a:t>8/13/2026</a:t>
            </a:fld>
            <a:endParaRPr lang="en-US"/>
          </a:p>
        </p:txBody>
      </p:sp>
      <p:sp>
        <p:nvSpPr>
          <p:cNvPr id="6" name="Footer Placeholder 5">
            <a:extLst>
              <a:ext uri="{FF2B5EF4-FFF2-40B4-BE49-F238E27FC236}">
                <a16:creationId xmlns:a16="http://schemas.microsoft.com/office/drawing/2014/main" id="{0DCBB62F-09C6-16AF-C93B-85F1B07591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C5F527D-6B3F-B4AC-CBAE-656808523125}"/>
              </a:ext>
            </a:extLst>
          </p:cNvPr>
          <p:cNvSpPr>
            <a:spLocks noGrp="1"/>
          </p:cNvSpPr>
          <p:nvPr>
            <p:ph type="sldNum" sz="quarter" idx="12"/>
          </p:nvPr>
        </p:nvSpPr>
        <p:spPr/>
        <p:txBody>
          <a:bodyPr/>
          <a:lstStyle/>
          <a:p>
            <a:fld id="{C6C0204D-BD65-4D95-A2A6-45CE6610690A}" type="slidenum">
              <a:rPr lang="en-US" smtClean="0"/>
              <a:t>‹#›</a:t>
            </a:fld>
            <a:endParaRPr lang="en-US"/>
          </a:p>
        </p:txBody>
      </p:sp>
    </p:spTree>
    <p:extLst>
      <p:ext uri="{BB962C8B-B14F-4D97-AF65-F5344CB8AC3E}">
        <p14:creationId xmlns:p14="http://schemas.microsoft.com/office/powerpoint/2010/main" val="326204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DF3DE-6EB8-96E9-134C-5153BAFEE8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D1CC889-92C8-856E-17B8-01046B2E63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DAF6B6-F466-1D75-3DD4-96D19EFA2D46}"/>
              </a:ext>
            </a:extLst>
          </p:cNvPr>
          <p:cNvSpPr>
            <a:spLocks noGrp="1"/>
          </p:cNvSpPr>
          <p:nvPr>
            <p:ph type="dt" sz="half" idx="10"/>
          </p:nvPr>
        </p:nvSpPr>
        <p:spPr/>
        <p:txBody>
          <a:bodyPr/>
          <a:lstStyle/>
          <a:p>
            <a:fld id="{0086BB0D-1123-4638-AF5E-D76565D5479B}" type="datetimeFigureOut">
              <a:rPr lang="en-US" smtClean="0"/>
              <a:t>8/13/2026</a:t>
            </a:fld>
            <a:endParaRPr lang="en-US"/>
          </a:p>
        </p:txBody>
      </p:sp>
      <p:sp>
        <p:nvSpPr>
          <p:cNvPr id="5" name="Footer Placeholder 4">
            <a:extLst>
              <a:ext uri="{FF2B5EF4-FFF2-40B4-BE49-F238E27FC236}">
                <a16:creationId xmlns:a16="http://schemas.microsoft.com/office/drawing/2014/main" id="{023DF7E0-F777-2C9A-CBFE-937AE06E1D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E8E091-616B-76C3-B390-FE35EC487DDA}"/>
              </a:ext>
            </a:extLst>
          </p:cNvPr>
          <p:cNvSpPr>
            <a:spLocks noGrp="1"/>
          </p:cNvSpPr>
          <p:nvPr>
            <p:ph type="sldNum" sz="quarter" idx="12"/>
          </p:nvPr>
        </p:nvSpPr>
        <p:spPr/>
        <p:txBody>
          <a:bodyPr/>
          <a:lstStyle/>
          <a:p>
            <a:fld id="{C6C0204D-BD65-4D95-A2A6-45CE6610690A}" type="slidenum">
              <a:rPr lang="en-US" smtClean="0"/>
              <a:t>‹#›</a:t>
            </a:fld>
            <a:endParaRPr lang="en-US"/>
          </a:p>
        </p:txBody>
      </p:sp>
    </p:spTree>
    <p:extLst>
      <p:ext uri="{BB962C8B-B14F-4D97-AF65-F5344CB8AC3E}">
        <p14:creationId xmlns:p14="http://schemas.microsoft.com/office/powerpoint/2010/main" val="3101405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579A5A1-2B14-E8E6-D0FA-3752DFF61D2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A938096-870A-1B0E-3402-0870E8B32A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BFDD23-75EC-BA8E-ABC4-3A3697D9FF84}"/>
              </a:ext>
            </a:extLst>
          </p:cNvPr>
          <p:cNvSpPr>
            <a:spLocks noGrp="1"/>
          </p:cNvSpPr>
          <p:nvPr>
            <p:ph type="dt" sz="half" idx="10"/>
          </p:nvPr>
        </p:nvSpPr>
        <p:spPr/>
        <p:txBody>
          <a:bodyPr/>
          <a:lstStyle/>
          <a:p>
            <a:fld id="{0086BB0D-1123-4638-AF5E-D76565D5479B}" type="datetimeFigureOut">
              <a:rPr lang="en-US" smtClean="0"/>
              <a:t>8/13/2026</a:t>
            </a:fld>
            <a:endParaRPr lang="en-US"/>
          </a:p>
        </p:txBody>
      </p:sp>
      <p:sp>
        <p:nvSpPr>
          <p:cNvPr id="5" name="Footer Placeholder 4">
            <a:extLst>
              <a:ext uri="{FF2B5EF4-FFF2-40B4-BE49-F238E27FC236}">
                <a16:creationId xmlns:a16="http://schemas.microsoft.com/office/drawing/2014/main" id="{CA5F54DF-494D-50AA-3C94-79F681798C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301FFB-47B9-7239-9313-85B2CEF07AE4}"/>
              </a:ext>
            </a:extLst>
          </p:cNvPr>
          <p:cNvSpPr>
            <a:spLocks noGrp="1"/>
          </p:cNvSpPr>
          <p:nvPr>
            <p:ph type="sldNum" sz="quarter" idx="12"/>
          </p:nvPr>
        </p:nvSpPr>
        <p:spPr/>
        <p:txBody>
          <a:bodyPr/>
          <a:lstStyle/>
          <a:p>
            <a:fld id="{C6C0204D-BD65-4D95-A2A6-45CE6610690A}" type="slidenum">
              <a:rPr lang="en-US" smtClean="0"/>
              <a:t>‹#›</a:t>
            </a:fld>
            <a:endParaRPr lang="en-US"/>
          </a:p>
        </p:txBody>
      </p:sp>
    </p:spTree>
    <p:extLst>
      <p:ext uri="{BB962C8B-B14F-4D97-AF65-F5344CB8AC3E}">
        <p14:creationId xmlns:p14="http://schemas.microsoft.com/office/powerpoint/2010/main" val="30331913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7E0D733-5804-082B-BCFB-E434785434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94D92D-09A3-86FD-B4CE-0CD4E0CE06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23A4ED-3864-FCE2-C3BD-BEE1230B4EF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086BB0D-1123-4638-AF5E-D76565D5479B}" type="datetimeFigureOut">
              <a:rPr lang="en-US" smtClean="0"/>
              <a:t>8/13/2026</a:t>
            </a:fld>
            <a:endParaRPr lang="en-US"/>
          </a:p>
        </p:txBody>
      </p:sp>
      <p:sp>
        <p:nvSpPr>
          <p:cNvPr id="5" name="Footer Placeholder 4">
            <a:extLst>
              <a:ext uri="{FF2B5EF4-FFF2-40B4-BE49-F238E27FC236}">
                <a16:creationId xmlns:a16="http://schemas.microsoft.com/office/drawing/2014/main" id="{7D96BFB1-EC69-6ABC-3830-923DE340B93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DCDAA01-E123-A7AE-9BF5-F83890423C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6C0204D-BD65-4D95-A2A6-45CE6610690A}" type="slidenum">
              <a:rPr lang="en-US" smtClean="0"/>
              <a:t>‹#›</a:t>
            </a:fld>
            <a:endParaRPr lang="en-US"/>
          </a:p>
        </p:txBody>
      </p:sp>
    </p:spTree>
    <p:extLst>
      <p:ext uri="{BB962C8B-B14F-4D97-AF65-F5344CB8AC3E}">
        <p14:creationId xmlns:p14="http://schemas.microsoft.com/office/powerpoint/2010/main" val="32728960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C0220-3E6E-FC43-3F55-087B2750C165}"/>
              </a:ext>
            </a:extLst>
          </p:cNvPr>
          <p:cNvSpPr>
            <a:spLocks noGrp="1"/>
          </p:cNvSpPr>
          <p:nvPr>
            <p:ph type="title"/>
          </p:nvPr>
        </p:nvSpPr>
        <p:spPr/>
        <p:txBody>
          <a:bodyPr/>
          <a:lstStyle/>
          <a:p>
            <a:r>
              <a:rPr lang="en-US" dirty="0"/>
              <a:t>Opening slide</a:t>
            </a:r>
          </a:p>
        </p:txBody>
      </p:sp>
      <p:sp>
        <p:nvSpPr>
          <p:cNvPr id="3" name="Content Placeholder 2">
            <a:extLst>
              <a:ext uri="{FF2B5EF4-FFF2-40B4-BE49-F238E27FC236}">
                <a16:creationId xmlns:a16="http://schemas.microsoft.com/office/drawing/2014/main" id="{EBF006D4-FD9D-25AA-692B-257E691FAC95}"/>
              </a:ext>
            </a:extLst>
          </p:cNvPr>
          <p:cNvSpPr>
            <a:spLocks noGrp="1"/>
          </p:cNvSpPr>
          <p:nvPr>
            <p:ph idx="1"/>
          </p:nvPr>
        </p:nvSpPr>
        <p:spPr/>
        <p:txBody>
          <a:bodyPr/>
          <a:lstStyle/>
          <a:p>
            <a:endParaRPr lang="en-US"/>
          </a:p>
        </p:txBody>
      </p:sp>
      <p:pic>
        <p:nvPicPr>
          <p:cNvPr id="5" name="Picture 4" descr="A detailed infographic outlines Sprint 2 of Atlas Software Solutions' engineering journey, focusing on building and launching a cloud-based SaaS application called &quot;The SaaS Revolution.&quot; It features sections on mission, objectives, sprint highlights, engineering ticket tasks, and a visual of cloud infrastructure with color-coded elements and progress markers, emphasizing key milestones like exploring SaaS models and preparing for future sprints.">
            <a:extLst>
              <a:ext uri="{FF2B5EF4-FFF2-40B4-BE49-F238E27FC236}">
                <a16:creationId xmlns:a16="http://schemas.microsoft.com/office/drawing/2014/main" id="{D27E647C-4FA2-F75F-8466-82B97B96E833}"/>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38370885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946C6-4841-C107-1C39-D0BD4646CC6A}"/>
              </a:ext>
            </a:extLst>
          </p:cNvPr>
          <p:cNvSpPr>
            <a:spLocks noGrp="1"/>
          </p:cNvSpPr>
          <p:nvPr>
            <p:ph type="title"/>
          </p:nvPr>
        </p:nvSpPr>
        <p:spPr/>
        <p:txBody>
          <a:bodyPr/>
          <a:lstStyle/>
          <a:p>
            <a:r>
              <a:rPr lang="en-US" dirty="0"/>
              <a:t>Saas Revolution</a:t>
            </a:r>
          </a:p>
        </p:txBody>
      </p:sp>
      <p:sp>
        <p:nvSpPr>
          <p:cNvPr id="3" name="Content Placeholder 2">
            <a:extLst>
              <a:ext uri="{FF2B5EF4-FFF2-40B4-BE49-F238E27FC236}">
                <a16:creationId xmlns:a16="http://schemas.microsoft.com/office/drawing/2014/main" id="{85511400-BC9B-D288-0156-E5A60769B7A7}"/>
              </a:ext>
            </a:extLst>
          </p:cNvPr>
          <p:cNvSpPr>
            <a:spLocks noGrp="1"/>
          </p:cNvSpPr>
          <p:nvPr>
            <p:ph idx="1"/>
          </p:nvPr>
        </p:nvSpPr>
        <p:spPr/>
        <p:txBody>
          <a:bodyPr/>
          <a:lstStyle/>
          <a:p>
            <a:endParaRPr lang="en-US"/>
          </a:p>
        </p:txBody>
      </p:sp>
      <p:pic>
        <p:nvPicPr>
          <p:cNvPr id="5" name="Picture 4" descr="Infographic illustrating evolution of software from 1990s desktop software to today's SaaS model, highlighting key technological shifts across decades including web applications, cloud computing, and software as a service. Features timeline with icons, color-coded sections, a quote from Satya Nadella, and impact metrics such as global access, instant delivery, and scalable infrastructure emphasizing transformation in software delivery and user experience.&#10;&#10;">
            <a:extLst>
              <a:ext uri="{FF2B5EF4-FFF2-40B4-BE49-F238E27FC236}">
                <a16:creationId xmlns:a16="http://schemas.microsoft.com/office/drawing/2014/main" id="{13F3C785-131B-6054-6BD2-E9BAD33FEC38}"/>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4021811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03985-5DC9-3BFE-E457-5A90F53C28D3}"/>
              </a:ext>
            </a:extLst>
          </p:cNvPr>
          <p:cNvSpPr>
            <a:spLocks noGrp="1"/>
          </p:cNvSpPr>
          <p:nvPr>
            <p:ph type="title"/>
          </p:nvPr>
        </p:nvSpPr>
        <p:spPr/>
        <p:txBody>
          <a:bodyPr/>
          <a:lstStyle/>
          <a:p>
            <a:r>
              <a:rPr lang="en-US" dirty="0"/>
              <a:t>Why Saas Won</a:t>
            </a:r>
          </a:p>
        </p:txBody>
      </p:sp>
      <p:sp>
        <p:nvSpPr>
          <p:cNvPr id="3" name="Content Placeholder 2">
            <a:extLst>
              <a:ext uri="{FF2B5EF4-FFF2-40B4-BE49-F238E27FC236}">
                <a16:creationId xmlns:a16="http://schemas.microsoft.com/office/drawing/2014/main" id="{C6D552EE-DEED-A119-2EB0-23C84D282EF0}"/>
              </a:ext>
            </a:extLst>
          </p:cNvPr>
          <p:cNvSpPr>
            <a:spLocks noGrp="1"/>
          </p:cNvSpPr>
          <p:nvPr>
            <p:ph idx="1"/>
          </p:nvPr>
        </p:nvSpPr>
        <p:spPr/>
        <p:txBody>
          <a:bodyPr/>
          <a:lstStyle/>
          <a:p>
            <a:endParaRPr lang="en-US"/>
          </a:p>
        </p:txBody>
      </p:sp>
      <p:pic>
        <p:nvPicPr>
          <p:cNvPr id="5" name="Picture 4" descr="Infographic comparing traditional software and SaaS, explaining why SaaS won by offering better deployment, updates, scalability, cash flow, collaboration, security, business model, and focus. It highlights SaaS benefits like faster time to value, global reach, and real-world examples including Microsoft 365, Netflix, and Spotify, with a color-coded layout and key takeaways.&#10;&#10;">
            <a:extLst>
              <a:ext uri="{FF2B5EF4-FFF2-40B4-BE49-F238E27FC236}">
                <a16:creationId xmlns:a16="http://schemas.microsoft.com/office/drawing/2014/main" id="{F3031ADC-961C-0A29-FCC0-DBAF023C7DB1}"/>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12871181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9EA03-E5F8-3163-B4C2-BC8DE3D74827}"/>
              </a:ext>
            </a:extLst>
          </p:cNvPr>
          <p:cNvSpPr>
            <a:spLocks noGrp="1"/>
          </p:cNvSpPr>
          <p:nvPr>
            <p:ph type="title"/>
          </p:nvPr>
        </p:nvSpPr>
        <p:spPr/>
        <p:txBody>
          <a:bodyPr/>
          <a:lstStyle/>
          <a:p>
            <a:r>
              <a:rPr lang="en-US" dirty="0"/>
              <a:t>PAAS vs SAAS vs IAAS</a:t>
            </a:r>
          </a:p>
        </p:txBody>
      </p:sp>
      <p:sp>
        <p:nvSpPr>
          <p:cNvPr id="3" name="Content Placeholder 2">
            <a:extLst>
              <a:ext uri="{FF2B5EF4-FFF2-40B4-BE49-F238E27FC236}">
                <a16:creationId xmlns:a16="http://schemas.microsoft.com/office/drawing/2014/main" id="{623F0C0E-CE51-D85B-A2CF-46BD47A458C4}"/>
              </a:ext>
            </a:extLst>
          </p:cNvPr>
          <p:cNvSpPr>
            <a:spLocks noGrp="1"/>
          </p:cNvSpPr>
          <p:nvPr>
            <p:ph idx="1"/>
          </p:nvPr>
        </p:nvSpPr>
        <p:spPr/>
        <p:txBody>
          <a:bodyPr/>
          <a:lstStyle/>
          <a:p>
            <a:endParaRPr lang="en-US"/>
          </a:p>
        </p:txBody>
      </p:sp>
      <p:pic>
        <p:nvPicPr>
          <p:cNvPr id="11" name="Picture 10" descr="A detailed infographic comparing SaaS, PaaS, and IaaS cloud service models, highlighting their roles, responsibilities, and examples. It uses color-coded sections with labels, icons, and real-world company logos to illustrate service layers, management control, and use cases, emphasizing differences in user and provider responsibilities.&#10;&#10;">
            <a:extLst>
              <a:ext uri="{FF2B5EF4-FFF2-40B4-BE49-F238E27FC236}">
                <a16:creationId xmlns:a16="http://schemas.microsoft.com/office/drawing/2014/main" id="{54DD9BB0-6250-2447-E8AF-BFBB44EB6493}"/>
              </a:ext>
            </a:extLst>
          </p:cNvPr>
          <p:cNvPicPr>
            <a:picLocks noChangeAspect="1"/>
          </p:cNvPicPr>
          <p:nvPr/>
        </p:nvPicPr>
        <p:blipFill>
          <a:blip r:embed="rId3"/>
          <a:stretch>
            <a:fillRect/>
          </a:stretch>
        </p:blipFill>
        <p:spPr>
          <a:xfrm>
            <a:off x="952500" y="0"/>
            <a:ext cx="10287000" cy="6858000"/>
          </a:xfrm>
          <a:prstGeom prst="rect">
            <a:avLst/>
          </a:prstGeom>
        </p:spPr>
      </p:pic>
      <p:pic>
        <p:nvPicPr>
          <p:cNvPr id="13" name="Picture 12" descr="Infographic comparing SaaS, PaaS, and IaaS cloud service models, highlighting different levels of control, responsibility, and examples for each. It features a color-coded continuum from full provider management to full user control, key components like applications, runtime, middleware, and infrastructure, plus real-world examples and guidance on choosing the right model.&#10;&#10;">
            <a:extLst>
              <a:ext uri="{FF2B5EF4-FFF2-40B4-BE49-F238E27FC236}">
                <a16:creationId xmlns:a16="http://schemas.microsoft.com/office/drawing/2014/main" id="{A437F057-BCCC-2660-2452-A85DADC060EE}"/>
              </a:ext>
            </a:extLst>
          </p:cNvPr>
          <p:cNvPicPr>
            <a:picLocks noChangeAspect="1"/>
          </p:cNvPicPr>
          <p:nvPr/>
        </p:nvPicPr>
        <p:blipFill>
          <a:blip r:embed="rId4"/>
          <a:stretch>
            <a:fillRect/>
          </a:stretch>
        </p:blipFill>
        <p:spPr>
          <a:xfrm>
            <a:off x="3239" y="0"/>
            <a:ext cx="12185522" cy="6858000"/>
          </a:xfrm>
          <a:prstGeom prst="rect">
            <a:avLst/>
          </a:prstGeom>
        </p:spPr>
      </p:pic>
    </p:spTree>
    <p:extLst>
      <p:ext uri="{BB962C8B-B14F-4D97-AF65-F5344CB8AC3E}">
        <p14:creationId xmlns:p14="http://schemas.microsoft.com/office/powerpoint/2010/main" val="15570283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421FC-B398-4A1A-9E30-E5C073E3445C}"/>
              </a:ext>
            </a:extLst>
          </p:cNvPr>
          <p:cNvSpPr>
            <a:spLocks noGrp="1"/>
          </p:cNvSpPr>
          <p:nvPr>
            <p:ph type="title"/>
          </p:nvPr>
        </p:nvSpPr>
        <p:spPr/>
        <p:txBody>
          <a:bodyPr/>
          <a:lstStyle/>
          <a:p>
            <a:r>
              <a:rPr lang="en-US" dirty="0"/>
              <a:t>Layers in WEB</a:t>
            </a:r>
          </a:p>
        </p:txBody>
      </p:sp>
      <p:sp>
        <p:nvSpPr>
          <p:cNvPr id="3" name="Content Placeholder 2">
            <a:extLst>
              <a:ext uri="{FF2B5EF4-FFF2-40B4-BE49-F238E27FC236}">
                <a16:creationId xmlns:a16="http://schemas.microsoft.com/office/drawing/2014/main" id="{A29F949E-AFB2-2106-26DD-31ABA6BF3027}"/>
              </a:ext>
            </a:extLst>
          </p:cNvPr>
          <p:cNvSpPr>
            <a:spLocks noGrp="1"/>
          </p:cNvSpPr>
          <p:nvPr>
            <p:ph idx="1"/>
          </p:nvPr>
        </p:nvSpPr>
        <p:spPr/>
        <p:txBody>
          <a:bodyPr/>
          <a:lstStyle/>
          <a:p>
            <a:endParaRPr lang="en-US"/>
          </a:p>
        </p:txBody>
      </p:sp>
      <p:pic>
        <p:nvPicPr>
          <p:cNvPr id="5" name="Picture 4" descr="Diagram illustrating modern SaaS architecture with five labeled layers: Client, Edge/Delivery, Application, Data, and Infrastructure, each detailing specific components like web browsers, CDNs, APIs, databases, and networking. The diagram highlights key characteristics such as multi-tenant design, security, and scalability, alongside real-world examples and a sprint timeline for building scalable, secure, and reliable applications.&#10;&#10;">
            <a:extLst>
              <a:ext uri="{FF2B5EF4-FFF2-40B4-BE49-F238E27FC236}">
                <a16:creationId xmlns:a16="http://schemas.microsoft.com/office/drawing/2014/main" id="{E770A5F0-8FCD-36ED-FCF1-9C4586E4CDFB}"/>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24202982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6F849-1AAA-25C4-7804-4B894D4D093E}"/>
              </a:ext>
            </a:extLst>
          </p:cNvPr>
          <p:cNvSpPr>
            <a:spLocks noGrp="1"/>
          </p:cNvSpPr>
          <p:nvPr>
            <p:ph type="title"/>
          </p:nvPr>
        </p:nvSpPr>
        <p:spPr/>
        <p:txBody>
          <a:bodyPr/>
          <a:lstStyle/>
          <a:p>
            <a:r>
              <a:rPr lang="en-US" dirty="0"/>
              <a:t>The Cloud Providers</a:t>
            </a:r>
          </a:p>
        </p:txBody>
      </p:sp>
      <p:sp>
        <p:nvSpPr>
          <p:cNvPr id="3" name="Content Placeholder 2">
            <a:extLst>
              <a:ext uri="{FF2B5EF4-FFF2-40B4-BE49-F238E27FC236}">
                <a16:creationId xmlns:a16="http://schemas.microsoft.com/office/drawing/2014/main" id="{B005D8B2-7F8A-1CEE-3FAF-CA2C2D0AF1D9}"/>
              </a:ext>
            </a:extLst>
          </p:cNvPr>
          <p:cNvSpPr>
            <a:spLocks noGrp="1"/>
          </p:cNvSpPr>
          <p:nvPr>
            <p:ph idx="1"/>
          </p:nvPr>
        </p:nvSpPr>
        <p:spPr/>
        <p:txBody>
          <a:bodyPr/>
          <a:lstStyle/>
          <a:p>
            <a:endParaRPr lang="en-US"/>
          </a:p>
        </p:txBody>
      </p:sp>
      <p:pic>
        <p:nvPicPr>
          <p:cNvPr id="5" name="Picture 4" descr="Infographic diagram outlines Atlas Software Solutions' SaaS cloud journey, comparing Microsoft Azure, Amazon Web Services, and Google Cloud across global footprint, security, hybrid cloud, and developer experience. It highlights key features, benefits, and milestones of each provider, emphasizing cloud infrastructure's scalability, innovation, and cost efficiency for building better software faster and more reliably.&#10;&#10;">
            <a:extLst>
              <a:ext uri="{FF2B5EF4-FFF2-40B4-BE49-F238E27FC236}">
                <a16:creationId xmlns:a16="http://schemas.microsoft.com/office/drawing/2014/main" id="{8A974AEE-633C-C557-6254-A6AF5512E615}"/>
              </a:ext>
            </a:extLst>
          </p:cNvPr>
          <p:cNvPicPr>
            <a:picLocks noChangeAspect="1"/>
          </p:cNvPicPr>
          <p:nvPr/>
        </p:nvPicPr>
        <p:blipFill>
          <a:blip r:embed="rId3"/>
          <a:stretch>
            <a:fillRect/>
          </a:stretch>
        </p:blipFill>
        <p:spPr>
          <a:xfrm>
            <a:off x="3239" y="0"/>
            <a:ext cx="12185522" cy="6858000"/>
          </a:xfrm>
          <a:prstGeom prst="rect">
            <a:avLst/>
          </a:prstGeom>
        </p:spPr>
      </p:pic>
      <p:pic>
        <p:nvPicPr>
          <p:cNvPr id="7" name="Picture 6" descr="Infographic outlining Atlas Software Solutions' cloud engineering journey focused on Sprint 2: The SaaS Revolution, highlighting major cloud providers AWS, Microsoft Azure, Google Cloud, and Oracle Cloud with their key strengths, popular services, and regions. It includes a color-coded timeline of eight sprints, key competitive advantages, pricing models, real-world examples, and emphasizes cloud providers' roles in powering SaaS innovation and scalability.&#10;&#10;">
            <a:extLst>
              <a:ext uri="{FF2B5EF4-FFF2-40B4-BE49-F238E27FC236}">
                <a16:creationId xmlns:a16="http://schemas.microsoft.com/office/drawing/2014/main" id="{1BD57914-1104-512D-A46B-4734ABD53D13}"/>
              </a:ext>
            </a:extLst>
          </p:cNvPr>
          <p:cNvPicPr>
            <a:picLocks noChangeAspect="1"/>
          </p:cNvPicPr>
          <p:nvPr/>
        </p:nvPicPr>
        <p:blipFill>
          <a:blip r:embed="rId4"/>
          <a:stretch>
            <a:fillRect/>
          </a:stretch>
        </p:blipFill>
        <p:spPr>
          <a:xfrm>
            <a:off x="3239" y="0"/>
            <a:ext cx="12185522" cy="6858000"/>
          </a:xfrm>
          <a:prstGeom prst="rect">
            <a:avLst/>
          </a:prstGeom>
        </p:spPr>
      </p:pic>
    </p:spTree>
    <p:extLst>
      <p:ext uri="{BB962C8B-B14F-4D97-AF65-F5344CB8AC3E}">
        <p14:creationId xmlns:p14="http://schemas.microsoft.com/office/powerpoint/2010/main" val="25929244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14FFA-2934-0296-DA2E-B38F245EF924}"/>
              </a:ext>
            </a:extLst>
          </p:cNvPr>
          <p:cNvSpPr>
            <a:spLocks noGrp="1"/>
          </p:cNvSpPr>
          <p:nvPr>
            <p:ph type="title"/>
          </p:nvPr>
        </p:nvSpPr>
        <p:spPr/>
        <p:txBody>
          <a:bodyPr/>
          <a:lstStyle/>
          <a:p>
            <a:r>
              <a:rPr lang="en-US" dirty="0"/>
              <a:t>The SaaS Journey</a:t>
            </a:r>
          </a:p>
        </p:txBody>
      </p:sp>
      <p:sp>
        <p:nvSpPr>
          <p:cNvPr id="3" name="Content Placeholder 2">
            <a:extLst>
              <a:ext uri="{FF2B5EF4-FFF2-40B4-BE49-F238E27FC236}">
                <a16:creationId xmlns:a16="http://schemas.microsoft.com/office/drawing/2014/main" id="{495BB839-C654-592F-FB08-03043F116ECD}"/>
              </a:ext>
            </a:extLst>
          </p:cNvPr>
          <p:cNvSpPr>
            <a:spLocks noGrp="1"/>
          </p:cNvSpPr>
          <p:nvPr>
            <p:ph idx="1"/>
          </p:nvPr>
        </p:nvSpPr>
        <p:spPr/>
        <p:txBody>
          <a:bodyPr/>
          <a:lstStyle/>
          <a:p>
            <a:endParaRPr lang="en-US"/>
          </a:p>
        </p:txBody>
      </p:sp>
      <p:pic>
        <p:nvPicPr>
          <p:cNvPr id="5" name="Picture 4" descr="A two-part infographic outlines Sprint 2 of the SaaS Revolution in the Atlas Engineering Journey for designing a first SaaS application. The first part details mission, objectives, roles, and submission instructions with color-coded sections, while the second part reviews sprint accomplishments, demonstrations, reflections, and next steps using icons and progress indicators.&#10;&#10;">
            <a:extLst>
              <a:ext uri="{FF2B5EF4-FFF2-40B4-BE49-F238E27FC236}">
                <a16:creationId xmlns:a16="http://schemas.microsoft.com/office/drawing/2014/main" id="{0513F886-8E4D-EDDC-FEC5-E568332D7266}"/>
              </a:ext>
            </a:extLst>
          </p:cNvPr>
          <p:cNvPicPr>
            <a:picLocks noChangeAspect="1"/>
          </p:cNvPicPr>
          <p:nvPr/>
        </p:nvPicPr>
        <p:blipFill>
          <a:blip r:embed="rId3"/>
          <a:stretch>
            <a:fillRect/>
          </a:stretch>
        </p:blipFill>
        <p:spPr>
          <a:xfrm>
            <a:off x="3239" y="0"/>
            <a:ext cx="12185522" cy="6858000"/>
          </a:xfrm>
          <a:prstGeom prst="rect">
            <a:avLst/>
          </a:prstGeom>
        </p:spPr>
      </p:pic>
      <p:pic>
        <p:nvPicPr>
          <p:cNvPr id="7" name="Picture 6" descr="Infographic diagram illustrating &quot;The Atlas Engineering Journey&quot; for developing a SaaS application, focusing on Sprint 2: The SaaS Revolution. It outlines a seven-step process from finding the problem to iterating and scaling, with color-coded sections, icons, key deliverables, and examples of SaaS tools like Slack and Zoom, emphasizing principles such as multi-tenancy, subscription models, and user feedback integration.&#10;&#10;">
            <a:extLst>
              <a:ext uri="{FF2B5EF4-FFF2-40B4-BE49-F238E27FC236}">
                <a16:creationId xmlns:a16="http://schemas.microsoft.com/office/drawing/2014/main" id="{D331A114-C121-FDB0-88BE-D4C5F5C5DDCF}"/>
              </a:ext>
            </a:extLst>
          </p:cNvPr>
          <p:cNvPicPr>
            <a:picLocks noChangeAspect="1"/>
          </p:cNvPicPr>
          <p:nvPr/>
        </p:nvPicPr>
        <p:blipFill>
          <a:blip r:embed="rId4"/>
          <a:stretch>
            <a:fillRect/>
          </a:stretch>
        </p:blipFill>
        <p:spPr>
          <a:xfrm>
            <a:off x="3239" y="-24714"/>
            <a:ext cx="12185522" cy="6858000"/>
          </a:xfrm>
          <a:prstGeom prst="rect">
            <a:avLst/>
          </a:prstGeom>
        </p:spPr>
      </p:pic>
    </p:spTree>
    <p:extLst>
      <p:ext uri="{BB962C8B-B14F-4D97-AF65-F5344CB8AC3E}">
        <p14:creationId xmlns:p14="http://schemas.microsoft.com/office/powerpoint/2010/main" val="34864513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2D4FF-78C4-6497-9C06-8CD6F2B13C89}"/>
              </a:ext>
            </a:extLst>
          </p:cNvPr>
          <p:cNvSpPr>
            <a:spLocks noGrp="1"/>
          </p:cNvSpPr>
          <p:nvPr>
            <p:ph type="title"/>
          </p:nvPr>
        </p:nvSpPr>
        <p:spPr/>
        <p:txBody>
          <a:bodyPr/>
          <a:lstStyle/>
          <a:p>
            <a:r>
              <a:rPr lang="en-US" dirty="0" err="1"/>
              <a:t>Devliverables</a:t>
            </a:r>
            <a:r>
              <a:rPr lang="en-US" dirty="0"/>
              <a:t> </a:t>
            </a:r>
          </a:p>
        </p:txBody>
      </p:sp>
      <p:sp>
        <p:nvSpPr>
          <p:cNvPr id="3" name="Content Placeholder 2">
            <a:extLst>
              <a:ext uri="{FF2B5EF4-FFF2-40B4-BE49-F238E27FC236}">
                <a16:creationId xmlns:a16="http://schemas.microsoft.com/office/drawing/2014/main" id="{9B05EC10-B7FE-582E-FD91-7E1B5B148202}"/>
              </a:ext>
            </a:extLst>
          </p:cNvPr>
          <p:cNvSpPr>
            <a:spLocks noGrp="1"/>
          </p:cNvSpPr>
          <p:nvPr>
            <p:ph idx="1"/>
          </p:nvPr>
        </p:nvSpPr>
        <p:spPr/>
        <p:txBody>
          <a:bodyPr/>
          <a:lstStyle/>
          <a:p>
            <a:endParaRPr lang="en-US"/>
          </a:p>
        </p:txBody>
      </p:sp>
      <p:pic>
        <p:nvPicPr>
          <p:cNvPr id="5" name="Picture 4" descr="A two-part infographic outlines &quot;Sprint 2: The SaaS Revolution&quot; in the Atlas Engineering Journey for building a SaaS application. The first part details engineering ticket steps with color-coded sections for mission, objectives, acceptance criteria, and definitions of done, while the second part reviews sprint accomplishments, built features, demonstrated work, reflection questions, and next steps, using icons, progress bars, and clear labels to guide engineers through design, build, and deploy phases.&#10;">
            <a:extLst>
              <a:ext uri="{FF2B5EF4-FFF2-40B4-BE49-F238E27FC236}">
                <a16:creationId xmlns:a16="http://schemas.microsoft.com/office/drawing/2014/main" id="{495EA65E-9A3D-4BBD-E129-5FD5C7D8BC9A}"/>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22047644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92C94-F206-4190-ADC8-B8B20BF00229}"/>
              </a:ext>
            </a:extLst>
          </p:cNvPr>
          <p:cNvSpPr>
            <a:spLocks noGrp="1"/>
          </p:cNvSpPr>
          <p:nvPr>
            <p:ph type="title"/>
          </p:nvPr>
        </p:nvSpPr>
        <p:spPr/>
        <p:txBody>
          <a:bodyPr/>
          <a:lstStyle/>
          <a:p>
            <a:r>
              <a:rPr lang="en-US" dirty="0"/>
              <a:t>Think!</a:t>
            </a:r>
          </a:p>
        </p:txBody>
      </p:sp>
      <p:sp>
        <p:nvSpPr>
          <p:cNvPr id="3" name="Content Placeholder 2">
            <a:extLst>
              <a:ext uri="{FF2B5EF4-FFF2-40B4-BE49-F238E27FC236}">
                <a16:creationId xmlns:a16="http://schemas.microsoft.com/office/drawing/2014/main" id="{27DEFF62-042C-02D6-76E6-7460463A0A3F}"/>
              </a:ext>
            </a:extLst>
          </p:cNvPr>
          <p:cNvSpPr>
            <a:spLocks noGrp="1"/>
          </p:cNvSpPr>
          <p:nvPr>
            <p:ph idx="1"/>
          </p:nvPr>
        </p:nvSpPr>
        <p:spPr/>
        <p:txBody>
          <a:bodyPr/>
          <a:lstStyle/>
          <a:p>
            <a:endParaRPr lang="en-US"/>
          </a:p>
        </p:txBody>
      </p:sp>
      <p:pic>
        <p:nvPicPr>
          <p:cNvPr id="5" name="Picture 4" descr="Infographic detailing Sprint 2 of Atlas Software Solutions' SaaS Revolution, highlighting accomplishments such as enhanced SaaS architecture, cloud provider selection, and engineering ticket completion. It features a step-by-step workflow diagram with five key stages, impact metrics like 2,000+ users onboarded, and a mindset section emphasizing problem-solving and continuous improvement, all presented with color-coded icons and labeled sections for clarity.&#10;&#10;">
            <a:extLst>
              <a:ext uri="{FF2B5EF4-FFF2-40B4-BE49-F238E27FC236}">
                <a16:creationId xmlns:a16="http://schemas.microsoft.com/office/drawing/2014/main" id="{013D2928-CF1C-89F7-6345-D29AD4156671}"/>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8469637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075C4-2646-F4B6-6225-2A59CC769627}"/>
              </a:ext>
            </a:extLst>
          </p:cNvPr>
          <p:cNvSpPr>
            <a:spLocks noGrp="1"/>
          </p:cNvSpPr>
          <p:nvPr>
            <p:ph type="title"/>
          </p:nvPr>
        </p:nvSpPr>
        <p:spPr/>
        <p:txBody>
          <a:bodyPr/>
          <a:lstStyle/>
          <a:p>
            <a:r>
              <a:rPr lang="en-US"/>
              <a:t>Questions</a:t>
            </a:r>
            <a:endParaRPr lang="en-US" dirty="0"/>
          </a:p>
        </p:txBody>
      </p:sp>
      <p:sp>
        <p:nvSpPr>
          <p:cNvPr id="3" name="Content Placeholder 2">
            <a:extLst>
              <a:ext uri="{FF2B5EF4-FFF2-40B4-BE49-F238E27FC236}">
                <a16:creationId xmlns:a16="http://schemas.microsoft.com/office/drawing/2014/main" id="{F9EDF376-B57A-739B-1399-8A366B347439}"/>
              </a:ext>
            </a:extLst>
          </p:cNvPr>
          <p:cNvSpPr>
            <a:spLocks noGrp="1"/>
          </p:cNvSpPr>
          <p:nvPr>
            <p:ph idx="1"/>
          </p:nvPr>
        </p:nvSpPr>
        <p:spPr/>
        <p:txBody>
          <a:bodyPr/>
          <a:lstStyle/>
          <a:p>
            <a:endParaRPr lang="en-US"/>
          </a:p>
        </p:txBody>
      </p:sp>
      <p:pic>
        <p:nvPicPr>
          <p:cNvPr id="5" name="Picture 4" descr="A digital graphic from Atlas Software Solutions encouraging open communication with sections for questions, thoughts, ideas, clarity, and anything else, each represented by distinct icons and colors (purple, green, yellow, orange, and blue). The design features a glowing question mark, motivational text about curiosity and learning, and a call to action emphasizing collaboration and voice importance.&#10;">
            <a:extLst>
              <a:ext uri="{FF2B5EF4-FFF2-40B4-BE49-F238E27FC236}">
                <a16:creationId xmlns:a16="http://schemas.microsoft.com/office/drawing/2014/main" id="{5D38AD6F-C210-4A26-E371-A2922FDCDB4C}"/>
              </a:ext>
            </a:extLst>
          </p:cNvPr>
          <p:cNvPicPr>
            <a:picLocks noChangeAspect="1"/>
          </p:cNvPicPr>
          <p:nvPr/>
        </p:nvPicPr>
        <p:blipFill>
          <a:blip r:embed="rId2"/>
          <a:stretch>
            <a:fillRect/>
          </a:stretch>
        </p:blipFill>
        <p:spPr>
          <a:xfrm>
            <a:off x="3239" y="0"/>
            <a:ext cx="12185522" cy="6858000"/>
          </a:xfrm>
          <a:prstGeom prst="rect">
            <a:avLst/>
          </a:prstGeom>
        </p:spPr>
      </p:pic>
    </p:spTree>
    <p:extLst>
      <p:ext uri="{BB962C8B-B14F-4D97-AF65-F5344CB8AC3E}">
        <p14:creationId xmlns:p14="http://schemas.microsoft.com/office/powerpoint/2010/main" val="3646710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947</TotalTime>
  <Words>8483</Words>
  <Application>Microsoft Office PowerPoint</Application>
  <PresentationFormat>Widescreen</PresentationFormat>
  <Paragraphs>3510</Paragraphs>
  <Slides>10</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Opening slide</vt:lpstr>
      <vt:lpstr>Saas Revolution</vt:lpstr>
      <vt:lpstr>Why Saas Won</vt:lpstr>
      <vt:lpstr>PAAS vs SAAS vs IAAS</vt:lpstr>
      <vt:lpstr>Layers in WEB</vt:lpstr>
      <vt:lpstr>The Cloud Providers</vt:lpstr>
      <vt:lpstr>The SaaS Journey</vt:lpstr>
      <vt:lpstr>Devliverables </vt:lpstr>
      <vt:lpstr>Think!</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CT Thompson</dc:creator>
  <cp:lastModifiedBy>CT THOMPSON</cp:lastModifiedBy>
  <cp:revision>4</cp:revision>
  <dcterms:created xsi:type="dcterms:W3CDTF">2026-08-05T06:00:59Z</dcterms:created>
  <dcterms:modified xsi:type="dcterms:W3CDTF">2026-08-13T17:45:55Z</dcterms:modified>
</cp:coreProperties>
</file>