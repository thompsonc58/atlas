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62" r:id="rId5"/>
    <p:sldId id="261"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E87FF9-3137-4602-8FBD-784090652E25}"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C0751-951B-4697-95E5-DB2699F1C302}" type="slidenum">
              <a:rPr lang="en-US" smtClean="0"/>
              <a:t>‹#›</a:t>
            </a:fld>
            <a:endParaRPr lang="en-US"/>
          </a:p>
        </p:txBody>
      </p:sp>
    </p:spTree>
    <p:extLst>
      <p:ext uri="{BB962C8B-B14F-4D97-AF65-F5344CB8AC3E}">
        <p14:creationId xmlns:p14="http://schemas.microsoft.com/office/powerpoint/2010/main" val="93526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WHO ARE YOU?</a:t>
            </a:r>
          </a:p>
          <a:p>
            <a:endParaRPr lang="en-US" dirty="0"/>
          </a:p>
          <a:p>
            <a:r>
              <a:rPr lang="en-US" dirty="0"/>
              <a:t>AUTHENTICATION</a:t>
            </a:r>
          </a:p>
          <a:p>
            <a:endParaRPr lang="en-US" dirty="0"/>
          </a:p>
          <a:p>
            <a:r>
              <a:rPr lang="en-US" dirty="0"/>
              <a:t>============================================================</a:t>
            </a:r>
          </a:p>
          <a:p>
            <a:endParaRPr lang="en-US" dirty="0"/>
          </a:p>
          <a:p>
            <a:r>
              <a:rPr lang="en-US" dirty="0"/>
              <a:t>SLIDE PURPOSE</a:t>
            </a:r>
          </a:p>
          <a:p>
            <a:endParaRPr lang="en-US" dirty="0"/>
          </a:p>
          <a:p>
            <a:r>
              <a:rPr lang="en-US" dirty="0"/>
              <a:t>Introduce authentication as the process of verifying a user's identity.</a:t>
            </a:r>
          </a:p>
          <a:p>
            <a:endParaRPr lang="en-US" dirty="0"/>
          </a:p>
          <a:p>
            <a:r>
              <a:rPr lang="en-US" dirty="0"/>
              <a:t>Students should understand:</a:t>
            </a:r>
          </a:p>
          <a:p>
            <a:endParaRPr lang="en-US" dirty="0"/>
          </a:p>
          <a:p>
            <a:r>
              <a:rPr lang="en-US" dirty="0"/>
              <a:t>• Why applications need user identity</a:t>
            </a:r>
          </a:p>
          <a:p>
            <a:r>
              <a:rPr lang="en-US" dirty="0"/>
              <a:t>• What authentication means</a:t>
            </a:r>
          </a:p>
          <a:p>
            <a:r>
              <a:rPr lang="en-US" dirty="0"/>
              <a:t>• The difference between authentication and authorization</a:t>
            </a:r>
          </a:p>
          <a:p>
            <a:r>
              <a:rPr lang="en-US" dirty="0"/>
              <a:t>• The basic login process</a:t>
            </a:r>
          </a:p>
          <a:p>
            <a:r>
              <a:rPr lang="en-US" dirty="0"/>
              <a:t>• Sessions/cookies at a conceptual level</a:t>
            </a:r>
          </a:p>
          <a:p>
            <a:r>
              <a:rPr lang="en-US" dirty="0"/>
              <a:t>• Why passwords must be protected</a:t>
            </a:r>
          </a:p>
          <a:p>
            <a:r>
              <a:rPr lang="en-US" dirty="0"/>
              <a:t>• How authentication fits into Atlas </a:t>
            </a:r>
            <a:r>
              <a:rPr lang="en-US" dirty="0" err="1"/>
              <a:t>TaskFlow</a:t>
            </a:r>
            <a:endParaRPr lang="en-US" dirty="0"/>
          </a:p>
          <a:p>
            <a:endParaRPr lang="en-US" dirty="0"/>
          </a:p>
          <a:p>
            <a:r>
              <a:rPr lang="en-US" dirty="0"/>
              <a:t>The goal is conceptual understanding followed by practical application.</a:t>
            </a:r>
          </a:p>
          <a:p>
            <a:endParaRPr lang="en-US" dirty="0"/>
          </a:p>
          <a:p>
            <a:r>
              <a:rPr lang="en-US" dirty="0"/>
              <a:t>This is NOT a deep dive into ASP.NET Core Identity.</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"Last sprint, we gave Atlas </a:t>
            </a:r>
            <a:r>
              <a:rPr lang="en-US" dirty="0" err="1"/>
              <a:t>TaskFlow</a:t>
            </a:r>
            <a:r>
              <a:rPr lang="en-US" dirty="0"/>
              <a:t> a memory."</a:t>
            </a:r>
          </a:p>
          <a:p>
            <a:endParaRPr lang="en-US" dirty="0"/>
          </a:p>
          <a:p>
            <a:r>
              <a:rPr lang="en-US" dirty="0"/>
              <a:t>"Atlas can now remember tasks."</a:t>
            </a:r>
          </a:p>
          <a:p>
            <a:endParaRPr lang="en-US" dirty="0"/>
          </a:p>
          <a:p>
            <a:r>
              <a:rPr lang="en-US" dirty="0"/>
              <a:t>"Projects."</a:t>
            </a:r>
          </a:p>
          <a:p>
            <a:endParaRPr lang="en-US" dirty="0"/>
          </a:p>
          <a:p>
            <a:r>
              <a:rPr lang="en-US" dirty="0"/>
              <a:t>"Users."</a:t>
            </a:r>
          </a:p>
          <a:p>
            <a:endParaRPr lang="en-US" dirty="0"/>
          </a:p>
          <a:p>
            <a:r>
              <a:rPr lang="en-US" dirty="0"/>
              <a:t>"Other application data."</a:t>
            </a:r>
          </a:p>
          <a:p>
            <a:endParaRPr lang="en-US" dirty="0"/>
          </a:p>
          <a:p>
            <a:r>
              <a:rPr lang="en-US" dirty="0"/>
              <a:t>Pause.</a:t>
            </a:r>
          </a:p>
          <a:p>
            <a:endParaRPr lang="en-US" dirty="0"/>
          </a:p>
          <a:p>
            <a:r>
              <a:rPr lang="en-US" dirty="0"/>
              <a:t>"But that creates a new problem."</a:t>
            </a:r>
          </a:p>
          <a:p>
            <a:endParaRPr lang="en-US" dirty="0"/>
          </a:p>
          <a:p>
            <a:r>
              <a:rPr lang="en-US" dirty="0"/>
              <a:t>Point toward the shield.</a:t>
            </a:r>
          </a:p>
          <a:p>
            <a:endParaRPr lang="en-US" dirty="0"/>
          </a:p>
          <a:p>
            <a:r>
              <a:rPr lang="en-US" dirty="0"/>
              <a:t>"If Atlas remembers information..."</a:t>
            </a:r>
          </a:p>
          <a:p>
            <a:endParaRPr lang="en-US" dirty="0"/>
          </a:p>
          <a:p>
            <a:r>
              <a:rPr lang="en-US" dirty="0"/>
              <a:t>"How does it know WHO is asking for it?"</a:t>
            </a:r>
          </a:p>
          <a:p>
            <a:endParaRPr lang="en-US" dirty="0"/>
          </a:p>
          <a:p>
            <a:r>
              <a:rPr lang="en-US" dirty="0"/>
              <a:t>------------------------------------------------------------</a:t>
            </a:r>
          </a:p>
          <a:p>
            <a:endParaRPr lang="en-US" dirty="0"/>
          </a:p>
          <a:p>
            <a:r>
              <a:rPr lang="en-US" dirty="0"/>
              <a:t>THE ENGINEERING QUESTION</a:t>
            </a:r>
          </a:p>
          <a:p>
            <a:endParaRPr lang="en-US" dirty="0"/>
          </a:p>
          <a:p>
            <a:r>
              <a:rPr lang="en-US" dirty="0"/>
              <a:t>Point to:</a:t>
            </a:r>
          </a:p>
          <a:p>
            <a:endParaRPr lang="en-US" dirty="0"/>
          </a:p>
          <a:p>
            <a:r>
              <a:rPr lang="en-US" dirty="0"/>
              <a:t>"WHO ARE YOU?"</a:t>
            </a:r>
          </a:p>
          <a:p>
            <a:endParaRPr lang="en-US" dirty="0"/>
          </a:p>
          <a:p>
            <a:r>
              <a:rPr lang="en-US" dirty="0"/>
              <a:t>Say:</a:t>
            </a:r>
          </a:p>
          <a:p>
            <a:endParaRPr lang="en-US" dirty="0"/>
          </a:p>
          <a:p>
            <a:r>
              <a:rPr lang="en-US" dirty="0"/>
              <a:t>"That's the question authentication answers."</a:t>
            </a:r>
          </a:p>
          <a:p>
            <a:endParaRPr lang="en-US" dirty="0"/>
          </a:p>
          <a:p>
            <a:r>
              <a:rPr lang="en-US" dirty="0"/>
              <a:t>Pause.</a:t>
            </a:r>
          </a:p>
          <a:p>
            <a:endParaRPr lang="en-US" dirty="0"/>
          </a:p>
          <a:p>
            <a:r>
              <a:rPr lang="en-US" dirty="0"/>
              <a:t>"Before Atlas gives someone access to protected information..."</a:t>
            </a:r>
          </a:p>
          <a:p>
            <a:endParaRPr lang="en-US" dirty="0"/>
          </a:p>
          <a:p>
            <a:r>
              <a:rPr lang="en-US" dirty="0"/>
              <a:t>"It needs to know who that person is."</a:t>
            </a:r>
          </a:p>
          <a:p>
            <a:endParaRPr lang="en-US" dirty="0"/>
          </a:p>
          <a:p>
            <a:r>
              <a:rPr lang="en-US" dirty="0"/>
              <a:t>------------------------------------------------------------</a:t>
            </a:r>
          </a:p>
          <a:p>
            <a:endParaRPr lang="en-US" dirty="0"/>
          </a:p>
          <a:p>
            <a:r>
              <a:rPr lang="en-US" dirty="0"/>
              <a:t>REAL-WORLD CONNECTION</a:t>
            </a:r>
          </a:p>
          <a:p>
            <a:endParaRPr lang="en-US" dirty="0"/>
          </a:p>
          <a:p>
            <a:r>
              <a:rPr lang="en-US" dirty="0"/>
              <a:t>Ask:</a:t>
            </a:r>
          </a:p>
          <a:p>
            <a:endParaRPr lang="en-US" dirty="0"/>
          </a:p>
          <a:p>
            <a:r>
              <a:rPr lang="en-US" dirty="0"/>
              <a:t>"When you open your banking application..."</a:t>
            </a:r>
          </a:p>
          <a:p>
            <a:endParaRPr lang="en-US" dirty="0"/>
          </a:p>
          <a:p>
            <a:r>
              <a:rPr lang="en-US" dirty="0"/>
              <a:t>"How does the application know it's you?"</a:t>
            </a:r>
          </a:p>
          <a:p>
            <a:endParaRPr lang="en-US" dirty="0"/>
          </a:p>
          <a:p>
            <a:r>
              <a:rPr lang="en-US" dirty="0"/>
              <a:t>Students may say:</a:t>
            </a:r>
          </a:p>
          <a:p>
            <a:endParaRPr lang="en-US" dirty="0"/>
          </a:p>
          <a:p>
            <a:r>
              <a:rPr lang="en-US" dirty="0"/>
              <a:t>"Username."</a:t>
            </a:r>
          </a:p>
          <a:p>
            <a:endParaRPr lang="en-US" dirty="0"/>
          </a:p>
          <a:p>
            <a:r>
              <a:rPr lang="en-US" dirty="0"/>
              <a:t>"Password."</a:t>
            </a:r>
          </a:p>
          <a:p>
            <a:endParaRPr lang="en-US" dirty="0"/>
          </a:p>
          <a:p>
            <a:r>
              <a:rPr lang="en-US" dirty="0"/>
              <a:t>"Face ID."</a:t>
            </a:r>
          </a:p>
          <a:p>
            <a:endParaRPr lang="en-US" dirty="0"/>
          </a:p>
          <a:p>
            <a:r>
              <a:rPr lang="en-US" dirty="0"/>
              <a:t>"Fingerprint."</a:t>
            </a:r>
          </a:p>
          <a:p>
            <a:endParaRPr lang="en-US" dirty="0"/>
          </a:p>
          <a:p>
            <a:r>
              <a:rPr lang="en-US" dirty="0"/>
              <a:t>"Authentication."</a:t>
            </a:r>
          </a:p>
          <a:p>
            <a:endParaRPr lang="en-US" dirty="0"/>
          </a:p>
          <a:p>
            <a:r>
              <a:rPr lang="en-US" dirty="0"/>
              <a:t>Exactly.</a:t>
            </a:r>
          </a:p>
          <a:p>
            <a:endParaRPr lang="en-US" dirty="0"/>
          </a:p>
          <a:p>
            <a:r>
              <a:rPr lang="en-US" dirty="0"/>
              <a:t>Explain:</a:t>
            </a:r>
          </a:p>
          <a:p>
            <a:endParaRPr lang="en-US" dirty="0"/>
          </a:p>
          <a:p>
            <a:r>
              <a:rPr lang="en-US" dirty="0"/>
              <a:t>"Those are methods of proving identity."</a:t>
            </a:r>
          </a:p>
          <a:p>
            <a:endParaRPr lang="en-US" dirty="0"/>
          </a:p>
          <a:p>
            <a:r>
              <a:rPr lang="en-US" dirty="0"/>
              <a:t>------------------------------------------------------------</a:t>
            </a:r>
          </a:p>
          <a:p>
            <a:endParaRPr lang="en-US" dirty="0"/>
          </a:p>
          <a:p>
            <a:r>
              <a:rPr lang="en-US" dirty="0"/>
              <a:t>WHAT IS AUTHENTICATION?</a:t>
            </a:r>
          </a:p>
          <a:p>
            <a:endParaRPr lang="en-US" dirty="0"/>
          </a:p>
          <a:p>
            <a:r>
              <a:rPr lang="en-US" dirty="0"/>
              <a:t>Point to the definition.</a:t>
            </a:r>
          </a:p>
          <a:p>
            <a:endParaRPr lang="en-US" dirty="0"/>
          </a:p>
          <a:p>
            <a:r>
              <a:rPr lang="en-US" dirty="0"/>
              <a:t>"Authentication is the process of verifying the identity of a user."</a:t>
            </a:r>
          </a:p>
          <a:p>
            <a:endParaRPr lang="en-US" dirty="0"/>
          </a:p>
          <a:p>
            <a:r>
              <a:rPr lang="en-US" dirty="0"/>
              <a:t>Simplify:</a:t>
            </a:r>
          </a:p>
          <a:p>
            <a:endParaRPr lang="en-US" dirty="0"/>
          </a:p>
          <a:p>
            <a:r>
              <a:rPr lang="en-US" dirty="0"/>
              <a:t>"Authentication answers one question."</a:t>
            </a:r>
          </a:p>
          <a:p>
            <a:endParaRPr lang="en-US" dirty="0"/>
          </a:p>
          <a:p>
            <a:r>
              <a:rPr lang="en-US" dirty="0"/>
              <a:t>Point to:</a:t>
            </a:r>
          </a:p>
          <a:p>
            <a:endParaRPr lang="en-US" dirty="0"/>
          </a:p>
          <a:p>
            <a:r>
              <a:rPr lang="en-US" dirty="0"/>
              <a:t>WHO ARE YOU?</a:t>
            </a:r>
          </a:p>
          <a:p>
            <a:endParaRPr lang="en-US" dirty="0"/>
          </a:p>
          <a:p>
            <a:r>
              <a:rPr lang="en-US" dirty="0"/>
              <a:t>------------------------------------------------------------</a:t>
            </a:r>
          </a:p>
          <a:p>
            <a:endParaRPr lang="en-US" dirty="0"/>
          </a:p>
          <a:p>
            <a:r>
              <a:rPr lang="en-US" dirty="0"/>
              <a:t>AUTHENTICATION VS AUTHORIZATION</a:t>
            </a:r>
          </a:p>
          <a:p>
            <a:endParaRPr lang="en-US" dirty="0"/>
          </a:p>
          <a:p>
            <a:r>
              <a:rPr lang="en-US" dirty="0"/>
              <a:t>This is one of the most important distinctions in Sprint 6.</a:t>
            </a:r>
          </a:p>
          <a:p>
            <a:endParaRPr lang="en-US" dirty="0"/>
          </a:p>
          <a:p>
            <a:r>
              <a:rPr lang="en-US" dirty="0"/>
              <a:t>Write on the board:</a:t>
            </a:r>
          </a:p>
          <a:p>
            <a:endParaRPr lang="en-US" dirty="0"/>
          </a:p>
          <a:p>
            <a:r>
              <a:rPr lang="en-US" dirty="0"/>
              <a:t>AUTHENTICATION</a:t>
            </a:r>
          </a:p>
          <a:p>
            <a:r>
              <a:rPr lang="en-US" dirty="0"/>
              <a:t>= Who are you?</a:t>
            </a:r>
          </a:p>
          <a:p>
            <a:endParaRPr lang="en-US" dirty="0"/>
          </a:p>
          <a:p>
            <a:r>
              <a:rPr lang="en-US" dirty="0"/>
              <a:t>AUTHORIZATION</a:t>
            </a:r>
          </a:p>
          <a:p>
            <a:r>
              <a:rPr lang="en-US" dirty="0"/>
              <a:t>= What are you allowed to do?</a:t>
            </a:r>
          </a:p>
          <a:p>
            <a:endParaRPr lang="en-US" dirty="0"/>
          </a:p>
          <a:p>
            <a:r>
              <a:rPr lang="en-US" dirty="0"/>
              <a:t>Say:</a:t>
            </a:r>
          </a:p>
          <a:p>
            <a:endParaRPr lang="en-US" dirty="0"/>
          </a:p>
          <a:p>
            <a:r>
              <a:rPr lang="en-US" dirty="0"/>
              <a:t>"Do not confuse these."</a:t>
            </a:r>
          </a:p>
          <a:p>
            <a:endParaRPr lang="en-US" dirty="0"/>
          </a:p>
          <a:p>
            <a:r>
              <a:rPr lang="en-US" dirty="0"/>
              <a:t>Example:</a:t>
            </a:r>
          </a:p>
          <a:p>
            <a:endParaRPr lang="en-US" dirty="0"/>
          </a:p>
          <a:p>
            <a:r>
              <a:rPr lang="en-US" dirty="0"/>
              <a:t>"I know you are Charles."</a:t>
            </a:r>
          </a:p>
          <a:p>
            <a:endParaRPr lang="en-US" dirty="0"/>
          </a:p>
          <a:p>
            <a:r>
              <a:rPr lang="en-US" dirty="0"/>
              <a:t>That's authentication.</a:t>
            </a:r>
          </a:p>
          <a:p>
            <a:endParaRPr lang="en-US" dirty="0"/>
          </a:p>
          <a:p>
            <a:r>
              <a:rPr lang="en-US" dirty="0"/>
              <a:t>"But are you allowed to delete this project?"</a:t>
            </a:r>
          </a:p>
          <a:p>
            <a:endParaRPr lang="en-US" dirty="0"/>
          </a:p>
          <a:p>
            <a:r>
              <a:rPr lang="en-US" dirty="0"/>
              <a:t>That's authorization.</a:t>
            </a:r>
          </a:p>
          <a:p>
            <a:endParaRPr lang="en-US" dirty="0"/>
          </a:p>
          <a:p>
            <a:r>
              <a:rPr lang="en-US" dirty="0"/>
              <a:t>------------------------------------------------------------</a:t>
            </a:r>
          </a:p>
          <a:p>
            <a:endParaRPr lang="en-US" dirty="0"/>
          </a:p>
          <a:p>
            <a:r>
              <a:rPr lang="en-US" dirty="0"/>
              <a:t>THE ATLAS EXAMPLE</a:t>
            </a:r>
          </a:p>
          <a:p>
            <a:endParaRPr lang="en-US" dirty="0"/>
          </a:p>
          <a:p>
            <a:r>
              <a:rPr lang="en-US" dirty="0"/>
              <a:t>Imagine two users:</a:t>
            </a:r>
          </a:p>
          <a:p>
            <a:endParaRPr lang="en-US" dirty="0"/>
          </a:p>
          <a:p>
            <a:r>
              <a:rPr lang="en-US" dirty="0"/>
              <a:t>Alex</a:t>
            </a:r>
          </a:p>
          <a:p>
            <a:endParaRPr lang="en-US" dirty="0"/>
          </a:p>
          <a:p>
            <a:r>
              <a:rPr lang="en-US" dirty="0"/>
              <a:t>Taylor</a:t>
            </a:r>
          </a:p>
          <a:p>
            <a:endParaRPr lang="en-US" dirty="0"/>
          </a:p>
          <a:p>
            <a:r>
              <a:rPr lang="en-US" dirty="0"/>
              <a:t>Both have Atlas accounts.</a:t>
            </a:r>
          </a:p>
          <a:p>
            <a:endParaRPr lang="en-US" dirty="0"/>
          </a:p>
          <a:p>
            <a:r>
              <a:rPr lang="en-US" dirty="0"/>
              <a:t>Alex signs in.</a:t>
            </a:r>
          </a:p>
          <a:p>
            <a:endParaRPr lang="en-US" dirty="0"/>
          </a:p>
          <a:p>
            <a:r>
              <a:rPr lang="en-US" dirty="0"/>
              <a:t>Atlas verifies:</a:t>
            </a:r>
          </a:p>
          <a:p>
            <a:endParaRPr lang="en-US" dirty="0"/>
          </a:p>
          <a:p>
            <a:r>
              <a:rPr lang="en-US" dirty="0"/>
              <a:t>"Yes, this is Alex."</a:t>
            </a:r>
          </a:p>
          <a:p>
            <a:endParaRPr lang="en-US" dirty="0"/>
          </a:p>
          <a:p>
            <a:r>
              <a:rPr lang="en-US" dirty="0"/>
              <a:t>Authentication complete.</a:t>
            </a:r>
          </a:p>
          <a:p>
            <a:endParaRPr lang="en-US" dirty="0"/>
          </a:p>
          <a:p>
            <a:r>
              <a:rPr lang="en-US" dirty="0"/>
              <a:t>But then Alex tries to access Taylor's private project.</a:t>
            </a:r>
          </a:p>
          <a:p>
            <a:endParaRPr lang="en-US" dirty="0"/>
          </a:p>
          <a:p>
            <a:r>
              <a:rPr lang="en-US" dirty="0"/>
              <a:t>Now we have an authorization question.</a:t>
            </a:r>
          </a:p>
          <a:p>
            <a:endParaRPr lang="en-US" dirty="0"/>
          </a:p>
          <a:p>
            <a:r>
              <a:rPr lang="en-US" dirty="0"/>
              <a:t>"Is Alex allowed to see it?"</a:t>
            </a:r>
          </a:p>
          <a:p>
            <a:endParaRPr lang="en-US" dirty="0"/>
          </a:p>
          <a:p>
            <a:r>
              <a:rPr lang="en-US" dirty="0"/>
              <a:t>That's next.</a:t>
            </a:r>
          </a:p>
          <a:p>
            <a:endParaRPr lang="en-US" dirty="0"/>
          </a:p>
          <a:p>
            <a:r>
              <a:rPr lang="en-US" dirty="0"/>
              <a:t>------------------------------------------------------------</a:t>
            </a:r>
          </a:p>
          <a:p>
            <a:endParaRPr lang="en-US" dirty="0"/>
          </a:p>
          <a:p>
            <a:r>
              <a:rPr lang="en-US" dirty="0"/>
              <a:t>THE LOGIN PROCESS</a:t>
            </a:r>
          </a:p>
          <a:p>
            <a:endParaRPr lang="en-US" dirty="0"/>
          </a:p>
          <a:p>
            <a:r>
              <a:rPr lang="en-US" dirty="0"/>
              <a:t>Point to the flow:</a:t>
            </a:r>
          </a:p>
          <a:p>
            <a:endParaRPr lang="en-US" dirty="0"/>
          </a:p>
          <a:p>
            <a:r>
              <a:rPr lang="en-US" dirty="0"/>
              <a:t>USER</a:t>
            </a:r>
          </a:p>
          <a:p>
            <a:endParaRPr lang="en-US" dirty="0"/>
          </a:p>
          <a:p>
            <a:r>
              <a:rPr lang="en-US" dirty="0"/>
              <a:t>↓</a:t>
            </a:r>
          </a:p>
          <a:p>
            <a:endParaRPr lang="en-US" dirty="0"/>
          </a:p>
          <a:p>
            <a:r>
              <a:rPr lang="en-US" dirty="0"/>
              <a:t>LOGIN FORM</a:t>
            </a:r>
          </a:p>
          <a:p>
            <a:endParaRPr lang="en-US" dirty="0"/>
          </a:p>
          <a:p>
            <a:r>
              <a:rPr lang="en-US" dirty="0"/>
              <a:t>↓</a:t>
            </a:r>
          </a:p>
          <a:p>
            <a:endParaRPr lang="en-US" dirty="0"/>
          </a:p>
          <a:p>
            <a:r>
              <a:rPr lang="en-US" dirty="0"/>
              <a:t>CREDENTIALS</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VERIFY IDENTITY</a:t>
            </a:r>
          </a:p>
          <a:p>
            <a:endParaRPr lang="en-US" dirty="0"/>
          </a:p>
          <a:p>
            <a:r>
              <a:rPr lang="en-US" dirty="0"/>
              <a:t>↓</a:t>
            </a:r>
          </a:p>
          <a:p>
            <a:endParaRPr lang="en-US" dirty="0"/>
          </a:p>
          <a:p>
            <a:r>
              <a:rPr lang="en-US" dirty="0"/>
              <a:t>AUTHENTICATED USER</a:t>
            </a:r>
          </a:p>
          <a:p>
            <a:endParaRPr lang="en-US" dirty="0"/>
          </a:p>
          <a:p>
            <a:r>
              <a:rPr lang="en-US" dirty="0"/>
              <a:t>Walk through it.</a:t>
            </a:r>
          </a:p>
          <a:p>
            <a:endParaRPr lang="en-US" dirty="0"/>
          </a:p>
          <a:p>
            <a:r>
              <a:rPr lang="en-US" dirty="0"/>
              <a:t>The user provides credentials.</a:t>
            </a:r>
          </a:p>
          <a:p>
            <a:endParaRPr lang="en-US" dirty="0"/>
          </a:p>
          <a:p>
            <a:r>
              <a:rPr lang="en-US" dirty="0"/>
              <a:t>The application verifies them.</a:t>
            </a:r>
          </a:p>
          <a:p>
            <a:endParaRPr lang="en-US" dirty="0"/>
          </a:p>
          <a:p>
            <a:r>
              <a:rPr lang="en-US" dirty="0"/>
              <a:t>If they are valid:</a:t>
            </a:r>
          </a:p>
          <a:p>
            <a:endParaRPr lang="en-US" dirty="0"/>
          </a:p>
          <a:p>
            <a:r>
              <a:rPr lang="en-US" dirty="0"/>
              <a:t>The user becomes authenticated.</a:t>
            </a:r>
          </a:p>
          <a:p>
            <a:endParaRPr lang="en-US" dirty="0"/>
          </a:p>
          <a:p>
            <a:r>
              <a:rPr lang="en-US" dirty="0"/>
              <a:t>If they are invalid:</a:t>
            </a:r>
          </a:p>
          <a:p>
            <a:endParaRPr lang="en-US" dirty="0"/>
          </a:p>
          <a:p>
            <a:r>
              <a:rPr lang="en-US" dirty="0"/>
              <a:t>Access is denied.</a:t>
            </a:r>
          </a:p>
          <a:p>
            <a:endParaRPr lang="en-US" dirty="0"/>
          </a:p>
          <a:p>
            <a:r>
              <a:rPr lang="en-US" dirty="0"/>
              <a:t>------------------------------------------------------------</a:t>
            </a:r>
          </a:p>
          <a:p>
            <a:endParaRPr lang="en-US" dirty="0"/>
          </a:p>
          <a:p>
            <a:r>
              <a:rPr lang="en-US" dirty="0"/>
              <a:t>WHAT IS A CREDENTIAL?</a:t>
            </a:r>
          </a:p>
          <a:p>
            <a:endParaRPr lang="en-US" dirty="0"/>
          </a:p>
          <a:p>
            <a:r>
              <a:rPr lang="en-US" dirty="0"/>
              <a:t>Explain:</a:t>
            </a:r>
          </a:p>
          <a:p>
            <a:endParaRPr lang="en-US" dirty="0"/>
          </a:p>
          <a:p>
            <a:r>
              <a:rPr lang="en-US" dirty="0"/>
              <a:t>"A credential is information used to prove identity."</a:t>
            </a:r>
          </a:p>
          <a:p>
            <a:endParaRPr lang="en-US" dirty="0"/>
          </a:p>
          <a:p>
            <a:r>
              <a:rPr lang="en-US" dirty="0"/>
              <a:t>Examples:</a:t>
            </a:r>
          </a:p>
          <a:p>
            <a:endParaRPr lang="en-US" dirty="0"/>
          </a:p>
          <a:p>
            <a:r>
              <a:rPr lang="en-US" dirty="0"/>
              <a:t>Username.</a:t>
            </a:r>
          </a:p>
          <a:p>
            <a:endParaRPr lang="en-US" dirty="0"/>
          </a:p>
          <a:p>
            <a:r>
              <a:rPr lang="en-US" dirty="0"/>
              <a:t>Password.</a:t>
            </a:r>
          </a:p>
          <a:p>
            <a:endParaRPr lang="en-US" dirty="0"/>
          </a:p>
          <a:p>
            <a:r>
              <a:rPr lang="en-US" dirty="0"/>
              <a:t>Passkey.</a:t>
            </a:r>
          </a:p>
          <a:p>
            <a:endParaRPr lang="en-US" dirty="0"/>
          </a:p>
          <a:p>
            <a:r>
              <a:rPr lang="en-US" dirty="0"/>
              <a:t>Security token.</a:t>
            </a:r>
          </a:p>
          <a:p>
            <a:endParaRPr lang="en-US" dirty="0"/>
          </a:p>
          <a:p>
            <a:r>
              <a:rPr lang="en-US" dirty="0"/>
              <a:t>Biometric authentication.</a:t>
            </a:r>
          </a:p>
          <a:p>
            <a:endParaRPr lang="en-US" dirty="0"/>
          </a:p>
          <a:p>
            <a:r>
              <a:rPr lang="en-US" dirty="0"/>
              <a:t>Explain:</a:t>
            </a:r>
          </a:p>
          <a:p>
            <a:endParaRPr lang="en-US" dirty="0"/>
          </a:p>
          <a:p>
            <a:r>
              <a:rPr lang="en-US" dirty="0"/>
              <a:t>"We're going to focus primarily on username/password authentication</a:t>
            </a:r>
          </a:p>
          <a:p>
            <a:r>
              <a:rPr lang="en-US" dirty="0"/>
              <a:t>because it's easy to understand."</a:t>
            </a:r>
          </a:p>
          <a:p>
            <a:endParaRPr lang="en-US" dirty="0"/>
          </a:p>
          <a:p>
            <a:r>
              <a:rPr lang="en-US" dirty="0"/>
              <a:t>But:</a:t>
            </a:r>
          </a:p>
          <a:p>
            <a:endParaRPr lang="en-US" dirty="0"/>
          </a:p>
          <a:p>
            <a:r>
              <a:rPr lang="en-US" dirty="0"/>
              <a:t>"Modern applications have many authentication methods."</a:t>
            </a:r>
          </a:p>
          <a:p>
            <a:endParaRPr lang="en-US" dirty="0"/>
          </a:p>
          <a:p>
            <a:r>
              <a:rPr lang="en-US" dirty="0"/>
              <a:t>------------------------------------------------------------</a:t>
            </a:r>
          </a:p>
          <a:p>
            <a:endParaRPr lang="en-US" dirty="0"/>
          </a:p>
          <a:p>
            <a:r>
              <a:rPr lang="en-US" dirty="0"/>
              <a:t>PASSWORDS</a:t>
            </a:r>
          </a:p>
          <a:p>
            <a:endParaRPr lang="en-US" dirty="0"/>
          </a:p>
          <a:p>
            <a:r>
              <a:rPr lang="en-US" dirty="0"/>
              <a:t>Ask:</a:t>
            </a:r>
          </a:p>
          <a:p>
            <a:endParaRPr lang="en-US" dirty="0"/>
          </a:p>
          <a:p>
            <a:r>
              <a:rPr lang="en-US" dirty="0"/>
              <a:t>"Where should the application store a user's password?"</a:t>
            </a:r>
          </a:p>
          <a:p>
            <a:endParaRPr lang="en-US" dirty="0"/>
          </a:p>
          <a:p>
            <a:r>
              <a:rPr lang="en-US" dirty="0"/>
              <a:t>Students may say:</a:t>
            </a:r>
          </a:p>
          <a:p>
            <a:endParaRPr lang="en-US" dirty="0"/>
          </a:p>
          <a:p>
            <a:r>
              <a:rPr lang="en-US" dirty="0"/>
              <a:t>"In the database."</a:t>
            </a:r>
          </a:p>
          <a:p>
            <a:endParaRPr lang="en-US" dirty="0"/>
          </a:p>
          <a:p>
            <a:r>
              <a:rPr lang="en-US" dirty="0"/>
              <a:t>Then correct the misconception.</a:t>
            </a:r>
          </a:p>
          <a:p>
            <a:endParaRPr lang="en-US" dirty="0"/>
          </a:p>
          <a:p>
            <a:r>
              <a:rPr lang="en-US" dirty="0"/>
              <a:t>"Not as plain text."</a:t>
            </a:r>
          </a:p>
          <a:p>
            <a:endParaRPr lang="en-US" dirty="0"/>
          </a:p>
          <a:p>
            <a:r>
              <a:rPr lang="en-US" dirty="0"/>
              <a:t>Pause.</a:t>
            </a:r>
          </a:p>
          <a:p>
            <a:endParaRPr lang="en-US" dirty="0"/>
          </a:p>
          <a:p>
            <a:r>
              <a:rPr lang="en-US" dirty="0"/>
              <a:t>"The application should never need to know a user's original password</a:t>
            </a:r>
          </a:p>
          <a:p>
            <a:r>
              <a:rPr lang="en-US" dirty="0"/>
              <a:t>after it has been securely processed."</a:t>
            </a:r>
          </a:p>
          <a:p>
            <a:endParaRPr lang="en-US" dirty="0"/>
          </a:p>
          <a:p>
            <a:r>
              <a:rPr lang="en-US" dirty="0"/>
              <a:t>Introduce:</a:t>
            </a:r>
          </a:p>
          <a:p>
            <a:endParaRPr lang="en-US" dirty="0"/>
          </a:p>
          <a:p>
            <a:r>
              <a:rPr lang="en-US" dirty="0"/>
              <a:t>HASHING.</a:t>
            </a:r>
          </a:p>
          <a:p>
            <a:endParaRPr lang="en-US" dirty="0"/>
          </a:p>
          <a:p>
            <a:r>
              <a:rPr lang="en-US" dirty="0"/>
              <a:t>------------------------------------------------------------</a:t>
            </a:r>
          </a:p>
          <a:p>
            <a:endParaRPr lang="en-US" dirty="0"/>
          </a:p>
          <a:p>
            <a:r>
              <a:rPr lang="en-US" dirty="0"/>
              <a:t>PASSWORD HASHING</a:t>
            </a:r>
          </a:p>
          <a:p>
            <a:endParaRPr lang="en-US" dirty="0"/>
          </a:p>
          <a:p>
            <a:r>
              <a:rPr lang="en-US" dirty="0"/>
              <a:t>Explain:</a:t>
            </a:r>
          </a:p>
          <a:p>
            <a:endParaRPr lang="en-US" dirty="0"/>
          </a:p>
          <a:p>
            <a:r>
              <a:rPr lang="en-US" dirty="0"/>
              <a:t>"A password hash is a one-way representation of a password."</a:t>
            </a:r>
          </a:p>
          <a:p>
            <a:endParaRPr lang="en-US" dirty="0"/>
          </a:p>
          <a:p>
            <a:r>
              <a:rPr lang="en-US" dirty="0"/>
              <a:t>Conceptual flow:</a:t>
            </a:r>
          </a:p>
          <a:p>
            <a:endParaRPr lang="en-US" dirty="0"/>
          </a:p>
          <a:p>
            <a:r>
              <a:rPr lang="en-US" dirty="0"/>
              <a:t>PASSWORD</a:t>
            </a:r>
          </a:p>
          <a:p>
            <a:endParaRPr lang="en-US" dirty="0"/>
          </a:p>
          <a:p>
            <a:r>
              <a:rPr lang="en-US" dirty="0"/>
              <a:t>↓</a:t>
            </a:r>
          </a:p>
          <a:p>
            <a:endParaRPr lang="en-US" dirty="0"/>
          </a:p>
          <a:p>
            <a:r>
              <a:rPr lang="en-US" dirty="0"/>
              <a:t>HASH</a:t>
            </a:r>
          </a:p>
          <a:p>
            <a:endParaRPr lang="en-US" dirty="0"/>
          </a:p>
          <a:p>
            <a:r>
              <a:rPr lang="en-US" dirty="0"/>
              <a:t>↓</a:t>
            </a:r>
          </a:p>
          <a:p>
            <a:endParaRPr lang="en-US" dirty="0"/>
          </a:p>
          <a:p>
            <a:r>
              <a:rPr lang="en-US" dirty="0"/>
              <a:t>STORED REPRESENTATION</a:t>
            </a:r>
          </a:p>
          <a:p>
            <a:endParaRPr lang="en-US" dirty="0"/>
          </a:p>
          <a:p>
            <a:r>
              <a:rPr lang="en-US" dirty="0"/>
              <a:t>When the user logs in:</a:t>
            </a:r>
          </a:p>
          <a:p>
            <a:endParaRPr lang="en-US" dirty="0"/>
          </a:p>
          <a:p>
            <a:r>
              <a:rPr lang="en-US" dirty="0"/>
              <a:t>PASSWORD</a:t>
            </a:r>
          </a:p>
          <a:p>
            <a:endParaRPr lang="en-US" dirty="0"/>
          </a:p>
          <a:p>
            <a:r>
              <a:rPr lang="en-US" dirty="0"/>
              <a:t>↓</a:t>
            </a:r>
          </a:p>
          <a:p>
            <a:endParaRPr lang="en-US" dirty="0"/>
          </a:p>
          <a:p>
            <a:r>
              <a:rPr lang="en-US" dirty="0"/>
              <a:t>HASH</a:t>
            </a:r>
          </a:p>
          <a:p>
            <a:endParaRPr lang="en-US" dirty="0"/>
          </a:p>
          <a:p>
            <a:r>
              <a:rPr lang="en-US" dirty="0"/>
              <a:t>↓</a:t>
            </a:r>
          </a:p>
          <a:p>
            <a:endParaRPr lang="en-US" dirty="0"/>
          </a:p>
          <a:p>
            <a:r>
              <a:rPr lang="en-US" dirty="0"/>
              <a:t>COMPARE</a:t>
            </a:r>
          </a:p>
          <a:p>
            <a:endParaRPr lang="en-US" dirty="0"/>
          </a:p>
          <a:p>
            <a:r>
              <a:rPr lang="en-US" dirty="0"/>
              <a:t>Explain:</a:t>
            </a:r>
          </a:p>
          <a:p>
            <a:endParaRPr lang="en-US" dirty="0"/>
          </a:p>
          <a:p>
            <a:r>
              <a:rPr lang="en-US" dirty="0"/>
              <a:t>"The application verifies the password without storing the original</a:t>
            </a:r>
          </a:p>
          <a:p>
            <a:r>
              <a:rPr lang="en-US" dirty="0"/>
              <a:t>password in plain text."</a:t>
            </a:r>
          </a:p>
          <a:p>
            <a:endParaRPr lang="en-US" dirty="0"/>
          </a:p>
          <a:p>
            <a:r>
              <a:rPr lang="en-US" dirty="0"/>
              <a:t>Keep this conceptual.</a:t>
            </a:r>
          </a:p>
          <a:p>
            <a:endParaRPr lang="en-US" dirty="0"/>
          </a:p>
          <a:p>
            <a:r>
              <a:rPr lang="en-US" dirty="0"/>
              <a:t>Do not dive into cryptographic algorithms.</a:t>
            </a:r>
          </a:p>
          <a:p>
            <a:endParaRPr lang="en-US" dirty="0"/>
          </a:p>
          <a:p>
            <a:r>
              <a:rPr lang="en-US" dirty="0"/>
              <a:t>------------------------------------------------------------</a:t>
            </a:r>
          </a:p>
          <a:p>
            <a:endParaRPr lang="en-US" dirty="0"/>
          </a:p>
          <a:p>
            <a:r>
              <a:rPr lang="en-US" dirty="0"/>
              <a:t>IMPORTANT SECURITY RULE</a:t>
            </a:r>
          </a:p>
          <a:p>
            <a:endParaRPr lang="en-US" dirty="0"/>
          </a:p>
          <a:p>
            <a:r>
              <a:rPr lang="en-US" dirty="0"/>
              <a:t>Say this clearly:</a:t>
            </a:r>
          </a:p>
          <a:p>
            <a:endParaRPr lang="en-US" dirty="0"/>
          </a:p>
          <a:p>
            <a:r>
              <a:rPr lang="en-US" dirty="0"/>
              <a:t>"Never store passwords as plain text."</a:t>
            </a:r>
          </a:p>
          <a:p>
            <a:endParaRPr lang="en-US" dirty="0"/>
          </a:p>
          <a:p>
            <a:r>
              <a:rPr lang="en-US" dirty="0"/>
              <a:t>Then:</a:t>
            </a:r>
          </a:p>
          <a:p>
            <a:endParaRPr lang="en-US" dirty="0"/>
          </a:p>
          <a:p>
            <a:r>
              <a:rPr lang="en-US" dirty="0"/>
              <a:t>"Never put passwords or secrets into GitHub."</a:t>
            </a:r>
          </a:p>
          <a:p>
            <a:endParaRPr lang="en-US" dirty="0"/>
          </a:p>
          <a:p>
            <a:r>
              <a:rPr lang="en-US" dirty="0"/>
              <a:t>Pause.</a:t>
            </a:r>
          </a:p>
          <a:p>
            <a:endParaRPr lang="en-US" dirty="0"/>
          </a:p>
          <a:p>
            <a:r>
              <a:rPr lang="en-US" dirty="0"/>
              <a:t>"These are basic professional security practices."</a:t>
            </a:r>
          </a:p>
          <a:p>
            <a:endParaRPr lang="en-US" dirty="0"/>
          </a:p>
          <a:p>
            <a:r>
              <a:rPr lang="en-US" dirty="0"/>
              <a:t>------------------------------------------------------------</a:t>
            </a:r>
          </a:p>
          <a:p>
            <a:endParaRPr lang="en-US" dirty="0"/>
          </a:p>
          <a:p>
            <a:r>
              <a:rPr lang="en-US" dirty="0"/>
              <a:t>THE LOGIN FLOW</a:t>
            </a:r>
          </a:p>
          <a:p>
            <a:endParaRPr lang="en-US" dirty="0"/>
          </a:p>
          <a:p>
            <a:r>
              <a:rPr lang="en-US" dirty="0"/>
              <a:t>Walk through a simplified login.</a:t>
            </a:r>
          </a:p>
          <a:p>
            <a:endParaRPr lang="en-US" dirty="0"/>
          </a:p>
          <a:p>
            <a:r>
              <a:rPr lang="en-US" dirty="0"/>
              <a:t>User enters:</a:t>
            </a:r>
          </a:p>
          <a:p>
            <a:endParaRPr lang="en-US" dirty="0"/>
          </a:p>
          <a:p>
            <a:r>
              <a:rPr lang="en-US" dirty="0"/>
              <a:t>Email:</a:t>
            </a:r>
          </a:p>
          <a:p>
            <a:r>
              <a:rPr lang="en-US" dirty="0"/>
              <a:t>alex@example.com</a:t>
            </a:r>
          </a:p>
          <a:p>
            <a:endParaRPr lang="en-US" dirty="0"/>
          </a:p>
          <a:p>
            <a:r>
              <a:rPr lang="en-US" dirty="0"/>
              <a:t>Password:</a:t>
            </a:r>
          </a:p>
          <a:p>
            <a:r>
              <a:rPr lang="en-US" dirty="0"/>
              <a:t>••••••••</a:t>
            </a:r>
          </a:p>
          <a:p>
            <a:endParaRPr lang="en-US" dirty="0"/>
          </a:p>
          <a:p>
            <a:r>
              <a:rPr lang="en-US" dirty="0"/>
              <a:t>Application receives the request.</a:t>
            </a:r>
          </a:p>
          <a:p>
            <a:endParaRPr lang="en-US" dirty="0"/>
          </a:p>
          <a:p>
            <a:r>
              <a:rPr lang="en-US" dirty="0"/>
              <a:t>Application verifies the credentials.</a:t>
            </a:r>
          </a:p>
          <a:p>
            <a:endParaRPr lang="en-US" dirty="0"/>
          </a:p>
          <a:p>
            <a:r>
              <a:rPr lang="en-US" dirty="0"/>
              <a:t>If valid:</a:t>
            </a:r>
          </a:p>
          <a:p>
            <a:endParaRPr lang="en-US" dirty="0"/>
          </a:p>
          <a:p>
            <a:r>
              <a:rPr lang="en-US" dirty="0"/>
              <a:t>User is authenticated.</a:t>
            </a:r>
          </a:p>
          <a:p>
            <a:endParaRPr lang="en-US" dirty="0"/>
          </a:p>
          <a:p>
            <a:r>
              <a:rPr lang="en-US" dirty="0"/>
              <a:t>If invalid:</a:t>
            </a:r>
          </a:p>
          <a:p>
            <a:endParaRPr lang="en-US" dirty="0"/>
          </a:p>
          <a:p>
            <a:r>
              <a:rPr lang="en-US" dirty="0"/>
              <a:t>Login fails.</a:t>
            </a:r>
          </a:p>
          <a:p>
            <a:endParaRPr lang="en-US" dirty="0"/>
          </a:p>
          <a:p>
            <a:r>
              <a:rPr lang="en-US" dirty="0"/>
              <a:t>------------------------------------------------------------</a:t>
            </a:r>
          </a:p>
          <a:p>
            <a:endParaRPr lang="en-US" dirty="0"/>
          </a:p>
          <a:p>
            <a:r>
              <a:rPr lang="en-US" dirty="0"/>
              <a:t>WHAT HAPPENS AFTER LOGIN?</a:t>
            </a:r>
          </a:p>
          <a:p>
            <a:endParaRPr lang="en-US" dirty="0"/>
          </a:p>
          <a:p>
            <a:r>
              <a:rPr lang="en-US" dirty="0"/>
              <a:t>Ask:</a:t>
            </a:r>
          </a:p>
          <a:p>
            <a:endParaRPr lang="en-US" dirty="0"/>
          </a:p>
          <a:p>
            <a:r>
              <a:rPr lang="en-US" dirty="0"/>
              <a:t>"Does Atlas ask the user for their password on every page?"</a:t>
            </a:r>
          </a:p>
          <a:p>
            <a:endParaRPr lang="en-US" dirty="0"/>
          </a:p>
          <a:p>
            <a:r>
              <a:rPr lang="en-US" dirty="0"/>
              <a:t>Students:</a:t>
            </a:r>
          </a:p>
          <a:p>
            <a:endParaRPr lang="en-US" dirty="0"/>
          </a:p>
          <a:p>
            <a:r>
              <a:rPr lang="en-US" dirty="0"/>
              <a:t>"No."</a:t>
            </a:r>
          </a:p>
          <a:p>
            <a:endParaRPr lang="en-US" dirty="0"/>
          </a:p>
          <a:p>
            <a:r>
              <a:rPr lang="en-US" dirty="0"/>
              <a:t>Exactly.</a:t>
            </a:r>
          </a:p>
          <a:p>
            <a:endParaRPr lang="en-US" dirty="0"/>
          </a:p>
          <a:p>
            <a:r>
              <a:rPr lang="en-US" dirty="0"/>
              <a:t>Explain:</a:t>
            </a:r>
          </a:p>
          <a:p>
            <a:endParaRPr lang="en-US" dirty="0"/>
          </a:p>
          <a:p>
            <a:r>
              <a:rPr lang="en-US" dirty="0"/>
              <a:t>"Once the user has authenticated..."</a:t>
            </a:r>
          </a:p>
          <a:p>
            <a:endParaRPr lang="en-US" dirty="0"/>
          </a:p>
          <a:p>
            <a:r>
              <a:rPr lang="en-US" dirty="0"/>
              <a:t>"The application needs a way to remember that authentication."</a:t>
            </a:r>
          </a:p>
          <a:p>
            <a:endParaRPr lang="en-US" dirty="0"/>
          </a:p>
          <a:p>
            <a:r>
              <a:rPr lang="en-US" dirty="0"/>
              <a:t>Introduce:</a:t>
            </a:r>
          </a:p>
          <a:p>
            <a:endParaRPr lang="en-US" dirty="0"/>
          </a:p>
          <a:p>
            <a:r>
              <a:rPr lang="en-US" dirty="0"/>
              <a:t>SESSION / AUTHENTICATION COOKIE</a:t>
            </a:r>
          </a:p>
          <a:p>
            <a:endParaRPr lang="en-US" dirty="0"/>
          </a:p>
          <a:p>
            <a:r>
              <a:rPr lang="en-US" dirty="0"/>
              <a:t>Keep it conceptual.</a:t>
            </a:r>
          </a:p>
          <a:p>
            <a:endParaRPr lang="en-US" dirty="0"/>
          </a:p>
          <a:p>
            <a:r>
              <a:rPr lang="en-US" dirty="0"/>
              <a:t>------------------------------------------------------------</a:t>
            </a:r>
          </a:p>
          <a:p>
            <a:endParaRPr lang="en-US" dirty="0"/>
          </a:p>
          <a:p>
            <a:r>
              <a:rPr lang="en-US" dirty="0"/>
              <a:t>AUTHENTICATION COOKIE</a:t>
            </a:r>
          </a:p>
          <a:p>
            <a:endParaRPr lang="en-US" dirty="0"/>
          </a:p>
          <a:p>
            <a:r>
              <a:rPr lang="en-US" dirty="0"/>
              <a:t>Explain:</a:t>
            </a:r>
          </a:p>
          <a:p>
            <a:endParaRPr lang="en-US" dirty="0"/>
          </a:p>
          <a:p>
            <a:r>
              <a:rPr lang="en-US" dirty="0"/>
              <a:t>"After successful authentication, the application can provide the</a:t>
            </a:r>
          </a:p>
          <a:p>
            <a:r>
              <a:rPr lang="en-US" dirty="0"/>
              <a:t>browser with an authentication cookie."</a:t>
            </a:r>
          </a:p>
          <a:p>
            <a:endParaRPr lang="en-US" dirty="0"/>
          </a:p>
          <a:p>
            <a:r>
              <a:rPr lang="en-US" dirty="0"/>
              <a:t>"The browser sends that information with later requests."</a:t>
            </a:r>
          </a:p>
          <a:p>
            <a:endParaRPr lang="en-US" dirty="0"/>
          </a:p>
          <a:p>
            <a:r>
              <a:rPr lang="en-US" dirty="0"/>
              <a:t>"That allows the application to recognize the user."</a:t>
            </a:r>
          </a:p>
          <a:p>
            <a:endParaRPr lang="en-US" dirty="0"/>
          </a:p>
          <a:p>
            <a:r>
              <a:rPr lang="en-US" dirty="0"/>
              <a:t>Simple model:</a:t>
            </a:r>
          </a:p>
          <a:p>
            <a:endParaRPr lang="en-US" dirty="0"/>
          </a:p>
          <a:p>
            <a:r>
              <a:rPr lang="en-US" dirty="0"/>
              <a:t>LOGIN</a:t>
            </a:r>
          </a:p>
          <a:p>
            <a:endParaRPr lang="en-US" dirty="0"/>
          </a:p>
          <a:p>
            <a:r>
              <a:rPr lang="en-US" dirty="0"/>
              <a:t>↓</a:t>
            </a:r>
          </a:p>
          <a:p>
            <a:endParaRPr lang="en-US" dirty="0"/>
          </a:p>
          <a:p>
            <a:r>
              <a:rPr lang="en-US" dirty="0"/>
              <a:t>AUTHENTICATE</a:t>
            </a:r>
          </a:p>
          <a:p>
            <a:endParaRPr lang="en-US" dirty="0"/>
          </a:p>
          <a:p>
            <a:r>
              <a:rPr lang="en-US" dirty="0"/>
              <a:t>↓</a:t>
            </a:r>
          </a:p>
          <a:p>
            <a:endParaRPr lang="en-US" dirty="0"/>
          </a:p>
          <a:p>
            <a:r>
              <a:rPr lang="en-US" dirty="0"/>
              <a:t>AUTHENTICATION COOKIE</a:t>
            </a:r>
          </a:p>
          <a:p>
            <a:endParaRPr lang="en-US" dirty="0"/>
          </a:p>
          <a:p>
            <a:r>
              <a:rPr lang="en-US" dirty="0"/>
              <a:t>↓</a:t>
            </a:r>
          </a:p>
          <a:p>
            <a:endParaRPr lang="en-US" dirty="0"/>
          </a:p>
          <a:p>
            <a:r>
              <a:rPr lang="en-US" dirty="0"/>
              <a:t>SUBSEQUENT REQUESTS</a:t>
            </a:r>
          </a:p>
          <a:p>
            <a:endParaRPr lang="en-US" dirty="0"/>
          </a:p>
          <a:p>
            <a:r>
              <a:rPr lang="en-US" dirty="0"/>
              <a:t>↓</a:t>
            </a:r>
          </a:p>
          <a:p>
            <a:endParaRPr lang="en-US" dirty="0"/>
          </a:p>
          <a:p>
            <a:r>
              <a:rPr lang="en-US" dirty="0"/>
              <a:t>APPLICATION KNOWS USER</a:t>
            </a:r>
          </a:p>
          <a:p>
            <a:endParaRPr lang="en-US" dirty="0"/>
          </a:p>
          <a:p>
            <a:r>
              <a:rPr lang="en-US" dirty="0"/>
              <a:t>------------------------------------------------------------</a:t>
            </a:r>
          </a:p>
          <a:p>
            <a:endParaRPr lang="en-US" dirty="0"/>
          </a:p>
          <a:p>
            <a:r>
              <a:rPr lang="en-US" dirty="0"/>
              <a:t>IMPORTANT DISTINCTION</a:t>
            </a:r>
          </a:p>
          <a:p>
            <a:endParaRPr lang="en-US" dirty="0"/>
          </a:p>
          <a:p>
            <a:r>
              <a:rPr lang="en-US" dirty="0"/>
              <a:t>Say:</a:t>
            </a:r>
          </a:p>
          <a:p>
            <a:endParaRPr lang="en-US" dirty="0"/>
          </a:p>
          <a:p>
            <a:r>
              <a:rPr lang="en-US" dirty="0"/>
              <a:t>"The cookie does not mean the user is automatically authorized to do</a:t>
            </a:r>
          </a:p>
          <a:p>
            <a:r>
              <a:rPr lang="en-US" dirty="0"/>
              <a:t>everything."</a:t>
            </a:r>
          </a:p>
          <a:p>
            <a:endParaRPr lang="en-US" dirty="0"/>
          </a:p>
          <a:p>
            <a:r>
              <a:rPr lang="en-US" dirty="0"/>
              <a:t>"It simply helps the application know who the user is."</a:t>
            </a:r>
          </a:p>
          <a:p>
            <a:endParaRPr lang="en-US" dirty="0"/>
          </a:p>
          <a:p>
            <a:r>
              <a:rPr lang="en-US" dirty="0"/>
              <a:t>Again:</a:t>
            </a:r>
          </a:p>
          <a:p>
            <a:endParaRPr lang="en-US" dirty="0"/>
          </a:p>
          <a:p>
            <a:r>
              <a:rPr lang="en-US" dirty="0"/>
              <a:t>Authentication.</a:t>
            </a:r>
          </a:p>
          <a:p>
            <a:endParaRPr lang="en-US" dirty="0"/>
          </a:p>
          <a:p>
            <a:r>
              <a:rPr lang="en-US" dirty="0"/>
              <a:t>Who are you?</a:t>
            </a:r>
          </a:p>
          <a:p>
            <a:endParaRPr lang="en-US" dirty="0"/>
          </a:p>
          <a:p>
            <a:r>
              <a:rPr lang="en-US" dirty="0"/>
              <a:t>Authorization.</a:t>
            </a:r>
          </a:p>
          <a:p>
            <a:endParaRPr lang="en-US" dirty="0"/>
          </a:p>
          <a:p>
            <a:r>
              <a:rPr lang="en-US" dirty="0"/>
              <a:t>What can you do?</a:t>
            </a:r>
          </a:p>
          <a:p>
            <a:endParaRPr lang="en-US" dirty="0"/>
          </a:p>
          <a:p>
            <a:r>
              <a:rPr lang="en-US" dirty="0"/>
              <a:t>------------------------------------------------------------</a:t>
            </a:r>
          </a:p>
          <a:p>
            <a:endParaRPr lang="en-US" dirty="0"/>
          </a:p>
          <a:p>
            <a:r>
              <a:rPr lang="en-US" dirty="0"/>
              <a:t>SIGN OUT</a:t>
            </a:r>
          </a:p>
          <a:p>
            <a:endParaRPr lang="en-US" dirty="0"/>
          </a:p>
          <a:p>
            <a:r>
              <a:rPr lang="en-US" dirty="0"/>
              <a:t>Ask:</a:t>
            </a:r>
          </a:p>
          <a:p>
            <a:endParaRPr lang="en-US" dirty="0"/>
          </a:p>
          <a:p>
            <a:r>
              <a:rPr lang="en-US" dirty="0"/>
              <a:t>"What happens when the user clicks Logout?"</a:t>
            </a:r>
          </a:p>
          <a:p>
            <a:endParaRPr lang="en-US" dirty="0"/>
          </a:p>
          <a:p>
            <a:r>
              <a:rPr lang="en-US" dirty="0"/>
              <a:t>Explain:</a:t>
            </a:r>
          </a:p>
          <a:p>
            <a:endParaRPr lang="en-US" dirty="0"/>
          </a:p>
          <a:p>
            <a:r>
              <a:rPr lang="en-US" dirty="0"/>
              <a:t>"The application ends the authenticated session."</a:t>
            </a:r>
          </a:p>
          <a:p>
            <a:endParaRPr lang="en-US" dirty="0"/>
          </a:p>
          <a:p>
            <a:r>
              <a:rPr lang="en-US" dirty="0"/>
              <a:t>"The browser no longer presents the authentication state."</a:t>
            </a:r>
          </a:p>
          <a:p>
            <a:endParaRPr lang="en-US" dirty="0"/>
          </a:p>
          <a:p>
            <a:r>
              <a:rPr lang="en-US" dirty="0"/>
              <a:t>"The user must authenticate again."</a:t>
            </a:r>
          </a:p>
          <a:p>
            <a:endParaRPr lang="en-US" dirty="0"/>
          </a:p>
          <a:p>
            <a:r>
              <a:rPr lang="en-US" dirty="0"/>
              <a:t>------------------------------------------------------------</a:t>
            </a:r>
          </a:p>
          <a:p>
            <a:endParaRPr lang="en-US" dirty="0"/>
          </a:p>
          <a:p>
            <a:r>
              <a:rPr lang="en-US" dirty="0"/>
              <a:t>WHY LOGOUT MATTERS</a:t>
            </a:r>
          </a:p>
          <a:p>
            <a:endParaRPr lang="en-US" dirty="0"/>
          </a:p>
          <a:p>
            <a:r>
              <a:rPr lang="en-US" dirty="0"/>
              <a:t>Imagine:</a:t>
            </a:r>
          </a:p>
          <a:p>
            <a:endParaRPr lang="en-US" dirty="0"/>
          </a:p>
          <a:p>
            <a:r>
              <a:rPr lang="en-US" dirty="0"/>
              <a:t>A student uses a library computer.</a:t>
            </a:r>
          </a:p>
          <a:p>
            <a:endParaRPr lang="en-US" dirty="0"/>
          </a:p>
          <a:p>
            <a:r>
              <a:rPr lang="en-US" dirty="0"/>
              <a:t>They log into Atlas.</a:t>
            </a:r>
          </a:p>
          <a:p>
            <a:endParaRPr lang="en-US" dirty="0"/>
          </a:p>
          <a:p>
            <a:r>
              <a:rPr lang="en-US" dirty="0"/>
              <a:t>They walk away without logging out.</a:t>
            </a:r>
          </a:p>
          <a:p>
            <a:endParaRPr lang="en-US" dirty="0"/>
          </a:p>
          <a:p>
            <a:r>
              <a:rPr lang="en-US" dirty="0"/>
              <a:t>Another person sits down.</a:t>
            </a:r>
          </a:p>
          <a:p>
            <a:endParaRPr lang="en-US" dirty="0"/>
          </a:p>
          <a:p>
            <a:r>
              <a:rPr lang="en-US" dirty="0"/>
              <a:t>Ask:</a:t>
            </a:r>
          </a:p>
          <a:p>
            <a:endParaRPr lang="en-US" dirty="0"/>
          </a:p>
          <a:p>
            <a:r>
              <a:rPr lang="en-US" dirty="0"/>
              <a:t>"What could happen?"</a:t>
            </a:r>
          </a:p>
          <a:p>
            <a:endParaRPr lang="en-US" dirty="0"/>
          </a:p>
          <a:p>
            <a:r>
              <a:rPr lang="en-US" dirty="0"/>
              <a:t>Students:</a:t>
            </a:r>
          </a:p>
          <a:p>
            <a:endParaRPr lang="en-US" dirty="0"/>
          </a:p>
          <a:p>
            <a:r>
              <a:rPr lang="en-US" dirty="0"/>
              <a:t>"Someone could access their account."</a:t>
            </a:r>
          </a:p>
          <a:p>
            <a:endParaRPr lang="en-US" dirty="0"/>
          </a:p>
          <a:p>
            <a:r>
              <a:rPr lang="en-US" dirty="0"/>
              <a:t>Exactly.</a:t>
            </a:r>
          </a:p>
          <a:p>
            <a:endParaRPr lang="en-US" dirty="0"/>
          </a:p>
          <a:p>
            <a:r>
              <a:rPr lang="en-US" dirty="0"/>
              <a:t>Explain:</a:t>
            </a:r>
          </a:p>
          <a:p>
            <a:endParaRPr lang="en-US" dirty="0"/>
          </a:p>
          <a:p>
            <a:r>
              <a:rPr lang="en-US" dirty="0"/>
              <a:t>"Security includes how users end sessions, not just how they begin them."</a:t>
            </a:r>
          </a:p>
          <a:p>
            <a:endParaRPr lang="en-US" dirty="0"/>
          </a:p>
          <a:p>
            <a:r>
              <a:rPr lang="en-US" dirty="0"/>
              <a:t>------------------------------------------------------------</a:t>
            </a:r>
          </a:p>
          <a:p>
            <a:endParaRPr lang="en-US" dirty="0"/>
          </a:p>
          <a:p>
            <a:r>
              <a:rPr lang="en-US" dirty="0"/>
              <a:t>ATLAS TASKFLOW</a:t>
            </a:r>
          </a:p>
          <a:p>
            <a:endParaRPr lang="en-US" dirty="0"/>
          </a:p>
          <a:p>
            <a:r>
              <a:rPr lang="en-US" dirty="0"/>
              <a:t>Now connect authentication directly to the product.</a:t>
            </a:r>
          </a:p>
          <a:p>
            <a:endParaRPr lang="en-US" dirty="0"/>
          </a:p>
          <a:p>
            <a:r>
              <a:rPr lang="en-US" dirty="0"/>
              <a:t>Atlas users should eventually be able to:</a:t>
            </a:r>
          </a:p>
          <a:p>
            <a:endParaRPr lang="en-US" dirty="0"/>
          </a:p>
          <a:p>
            <a:r>
              <a:rPr lang="en-US" dirty="0"/>
              <a:t>Create an account.</a:t>
            </a:r>
          </a:p>
          <a:p>
            <a:endParaRPr lang="en-US" dirty="0"/>
          </a:p>
          <a:p>
            <a:r>
              <a:rPr lang="en-US" dirty="0"/>
              <a:t>Sign in.</a:t>
            </a:r>
          </a:p>
          <a:p>
            <a:endParaRPr lang="en-US" dirty="0"/>
          </a:p>
          <a:p>
            <a:r>
              <a:rPr lang="en-US" dirty="0"/>
              <a:t>Sign out.</a:t>
            </a:r>
          </a:p>
          <a:p>
            <a:endParaRPr lang="en-US" dirty="0"/>
          </a:p>
          <a:p>
            <a:r>
              <a:rPr lang="en-US" dirty="0"/>
              <a:t>Access their tasks.</a:t>
            </a:r>
          </a:p>
          <a:p>
            <a:endParaRPr lang="en-US" dirty="0"/>
          </a:p>
          <a:p>
            <a:r>
              <a:rPr lang="en-US" dirty="0"/>
              <a:t>Access their projects.</a:t>
            </a:r>
          </a:p>
          <a:p>
            <a:endParaRPr lang="en-US" dirty="0"/>
          </a:p>
          <a:p>
            <a:r>
              <a:rPr lang="en-US" dirty="0"/>
              <a:t>Have Atlas identify them.</a:t>
            </a:r>
          </a:p>
          <a:p>
            <a:endParaRPr lang="en-US" dirty="0"/>
          </a:p>
          <a:p>
            <a:r>
              <a:rPr lang="en-US" dirty="0"/>
              <a:t>This creates the foundation for authorization.</a:t>
            </a:r>
          </a:p>
          <a:p>
            <a:endParaRPr lang="en-US" dirty="0"/>
          </a:p>
          <a:p>
            <a:r>
              <a:rPr lang="en-US" dirty="0"/>
              <a:t>------------------------------------------------------------</a:t>
            </a:r>
          </a:p>
          <a:p>
            <a:endParaRPr lang="en-US" dirty="0"/>
          </a:p>
          <a:p>
            <a:r>
              <a:rPr lang="en-US" dirty="0"/>
              <a:t>USER IDENTITY</a:t>
            </a:r>
          </a:p>
          <a:p>
            <a:endParaRPr lang="en-US" dirty="0"/>
          </a:p>
          <a:p>
            <a:r>
              <a:rPr lang="en-US" dirty="0"/>
              <a:t>Point to the data model.</a:t>
            </a:r>
          </a:p>
          <a:p>
            <a:endParaRPr lang="en-US" dirty="0"/>
          </a:p>
          <a:p>
            <a:r>
              <a:rPr lang="en-US" dirty="0"/>
              <a:t>We previously created:</a:t>
            </a:r>
          </a:p>
          <a:p>
            <a:endParaRPr lang="en-US" dirty="0"/>
          </a:p>
          <a:p>
            <a:r>
              <a:rPr lang="en-US" dirty="0"/>
              <a:t>User</a:t>
            </a:r>
          </a:p>
          <a:p>
            <a:endParaRPr lang="en-US" dirty="0"/>
          </a:p>
          <a:p>
            <a:r>
              <a:rPr lang="en-US" dirty="0" err="1"/>
              <a:t>UserId</a:t>
            </a:r>
            <a:endParaRPr lang="en-US" dirty="0"/>
          </a:p>
          <a:p>
            <a:endParaRPr lang="en-US" dirty="0"/>
          </a:p>
          <a:p>
            <a:r>
              <a:rPr lang="en-US" dirty="0"/>
              <a:t>Explain:</a:t>
            </a:r>
          </a:p>
          <a:p>
            <a:endParaRPr lang="en-US" dirty="0"/>
          </a:p>
          <a:p>
            <a:r>
              <a:rPr lang="en-US" dirty="0"/>
              <a:t>"Now that User becomes much more important."</a:t>
            </a:r>
          </a:p>
          <a:p>
            <a:endParaRPr lang="en-US" dirty="0"/>
          </a:p>
          <a:p>
            <a:r>
              <a:rPr lang="en-US" dirty="0"/>
              <a:t>"The application needs to associate activity with a specific user."</a:t>
            </a:r>
          </a:p>
          <a:p>
            <a:endParaRPr lang="en-US" dirty="0"/>
          </a:p>
          <a:p>
            <a:r>
              <a:rPr lang="en-US" dirty="0"/>
              <a:t>For example:</a:t>
            </a:r>
          </a:p>
          <a:p>
            <a:endParaRPr lang="en-US" dirty="0"/>
          </a:p>
          <a:p>
            <a:r>
              <a:rPr lang="en-US" dirty="0"/>
              <a:t>User:</a:t>
            </a:r>
          </a:p>
          <a:p>
            <a:endParaRPr lang="en-US" dirty="0"/>
          </a:p>
          <a:p>
            <a:r>
              <a:rPr lang="en-US" dirty="0"/>
              <a:t>Alex</a:t>
            </a:r>
          </a:p>
          <a:p>
            <a:endParaRPr lang="en-US" dirty="0"/>
          </a:p>
          <a:p>
            <a:r>
              <a:rPr lang="en-US" dirty="0" err="1"/>
              <a:t>UserId</a:t>
            </a:r>
            <a:r>
              <a:rPr lang="en-US" dirty="0"/>
              <a:t>:</a:t>
            </a:r>
          </a:p>
          <a:p>
            <a:endParaRPr lang="en-US" dirty="0"/>
          </a:p>
          <a:p>
            <a:r>
              <a:rPr lang="en-US" dirty="0"/>
              <a:t>42</a:t>
            </a:r>
          </a:p>
          <a:p>
            <a:endParaRPr lang="en-US" dirty="0"/>
          </a:p>
          <a:p>
            <a:r>
              <a:rPr lang="en-US" dirty="0"/>
              <a:t>Project:</a:t>
            </a:r>
          </a:p>
          <a:p>
            <a:endParaRPr lang="en-US" dirty="0"/>
          </a:p>
          <a:p>
            <a:r>
              <a:rPr lang="en-US" dirty="0"/>
              <a:t>Atlas Website</a:t>
            </a:r>
          </a:p>
          <a:p>
            <a:endParaRPr lang="en-US" dirty="0"/>
          </a:p>
          <a:p>
            <a:r>
              <a:rPr lang="en-US" dirty="0"/>
              <a:t>Task:</a:t>
            </a:r>
          </a:p>
          <a:p>
            <a:endParaRPr lang="en-US" dirty="0"/>
          </a:p>
          <a:p>
            <a:r>
              <a:rPr lang="en-US" dirty="0"/>
              <a:t>Build Dashboard</a:t>
            </a:r>
          </a:p>
          <a:p>
            <a:endParaRPr lang="en-US" dirty="0"/>
          </a:p>
          <a:p>
            <a:r>
              <a:rPr lang="en-US" dirty="0"/>
              <a:t>Now Atlas can understand:</a:t>
            </a:r>
          </a:p>
          <a:p>
            <a:endParaRPr lang="en-US" dirty="0"/>
          </a:p>
          <a:p>
            <a:r>
              <a:rPr lang="en-US" dirty="0"/>
              <a:t>"This task belongs to Alex."</a:t>
            </a:r>
          </a:p>
          <a:p>
            <a:endParaRPr lang="en-US" dirty="0"/>
          </a:p>
          <a:p>
            <a:r>
              <a:rPr lang="en-US" dirty="0"/>
              <a:t>------------------------------------------------------------</a:t>
            </a:r>
          </a:p>
          <a:p>
            <a:endParaRPr lang="en-US" dirty="0"/>
          </a:p>
          <a:p>
            <a:r>
              <a:rPr lang="en-US" dirty="0"/>
              <a:t>WHY IDENTITY MATTERS</a:t>
            </a:r>
          </a:p>
          <a:p>
            <a:endParaRPr lang="en-US" dirty="0"/>
          </a:p>
          <a:p>
            <a:r>
              <a:rPr lang="en-US" dirty="0"/>
              <a:t>Ask:</a:t>
            </a:r>
          </a:p>
          <a:p>
            <a:endParaRPr lang="en-US" dirty="0"/>
          </a:p>
          <a:p>
            <a:r>
              <a:rPr lang="en-US" dirty="0"/>
              <a:t>"What would happen if Atlas didn't know who created a task?"</a:t>
            </a:r>
          </a:p>
          <a:p>
            <a:endParaRPr lang="en-US" dirty="0"/>
          </a:p>
          <a:p>
            <a:r>
              <a:rPr lang="en-US" dirty="0"/>
              <a:t>Students may recognize:</a:t>
            </a:r>
          </a:p>
          <a:p>
            <a:endParaRPr lang="en-US" dirty="0"/>
          </a:p>
          <a:p>
            <a:r>
              <a:rPr lang="en-US" dirty="0"/>
              <a:t>We wouldn't know ownership.</a:t>
            </a:r>
          </a:p>
          <a:p>
            <a:endParaRPr lang="en-US" dirty="0"/>
          </a:p>
          <a:p>
            <a:r>
              <a:rPr lang="en-US" dirty="0"/>
              <a:t>We couldn't restrict access.</a:t>
            </a:r>
          </a:p>
          <a:p>
            <a:endParaRPr lang="en-US" dirty="0"/>
          </a:p>
          <a:p>
            <a:r>
              <a:rPr lang="en-US" dirty="0"/>
              <a:t>We couldn't personalize the dashboard.</a:t>
            </a:r>
          </a:p>
          <a:p>
            <a:endParaRPr lang="en-US" dirty="0"/>
          </a:p>
          <a:p>
            <a:r>
              <a:rPr lang="en-US" dirty="0"/>
              <a:t>We couldn't reliably protect data.</a:t>
            </a:r>
          </a:p>
          <a:p>
            <a:endParaRPr lang="en-US" dirty="0"/>
          </a:p>
          <a:p>
            <a:r>
              <a:rPr lang="en-US" dirty="0"/>
              <a:t>Exactly.</a:t>
            </a:r>
          </a:p>
          <a:p>
            <a:endParaRPr lang="en-US" dirty="0"/>
          </a:p>
          <a:p>
            <a:r>
              <a:rPr lang="en-US" dirty="0"/>
              <a:t>"Identity is the foundation for authorization."</a:t>
            </a:r>
          </a:p>
          <a:p>
            <a:endParaRPr lang="en-US" dirty="0"/>
          </a:p>
          <a:p>
            <a:r>
              <a:rPr lang="en-US" dirty="0"/>
              <a:t>------------------------------------------------------------</a:t>
            </a:r>
          </a:p>
          <a:p>
            <a:endParaRPr lang="en-US" dirty="0"/>
          </a:p>
          <a:p>
            <a:r>
              <a:rPr lang="en-US" dirty="0"/>
              <a:t>AUTHENTICATION ARCHITECTURE</a:t>
            </a:r>
          </a:p>
          <a:p>
            <a:endParaRPr lang="en-US" dirty="0"/>
          </a:p>
          <a:p>
            <a:r>
              <a:rPr lang="en-US" dirty="0"/>
              <a:t>Show the conceptual flow:</a:t>
            </a:r>
          </a:p>
          <a:p>
            <a:endParaRPr lang="en-US" dirty="0"/>
          </a:p>
          <a:p>
            <a:r>
              <a:rPr lang="en-US" dirty="0"/>
              <a:t>USER</a:t>
            </a:r>
          </a:p>
          <a:p>
            <a:endParaRPr lang="en-US" dirty="0"/>
          </a:p>
          <a:p>
            <a:r>
              <a:rPr lang="en-US" dirty="0"/>
              <a:t>↓</a:t>
            </a:r>
          </a:p>
          <a:p>
            <a:endParaRPr lang="en-US" dirty="0"/>
          </a:p>
          <a:p>
            <a:r>
              <a:rPr lang="en-US" dirty="0"/>
              <a:t>LOGIN</a:t>
            </a:r>
          </a:p>
          <a:p>
            <a:endParaRPr lang="en-US" dirty="0"/>
          </a:p>
          <a:p>
            <a:r>
              <a:rPr lang="en-US" dirty="0"/>
              <a:t>↓</a:t>
            </a:r>
          </a:p>
          <a:p>
            <a:endParaRPr lang="en-US" dirty="0"/>
          </a:p>
          <a:p>
            <a:r>
              <a:rPr lang="en-US" dirty="0"/>
              <a:t>AUTHENTICATION</a:t>
            </a:r>
          </a:p>
          <a:p>
            <a:endParaRPr lang="en-US" dirty="0"/>
          </a:p>
          <a:p>
            <a:r>
              <a:rPr lang="en-US" dirty="0"/>
              <a:t>↓</a:t>
            </a:r>
          </a:p>
          <a:p>
            <a:endParaRPr lang="en-US" dirty="0"/>
          </a:p>
          <a:p>
            <a:r>
              <a:rPr lang="en-US" dirty="0"/>
              <a:t>USER IDENTITY</a:t>
            </a:r>
          </a:p>
          <a:p>
            <a:endParaRPr lang="en-US" dirty="0"/>
          </a:p>
          <a:p>
            <a:r>
              <a:rPr lang="en-US" dirty="0"/>
              <a:t>↓</a:t>
            </a:r>
          </a:p>
          <a:p>
            <a:endParaRPr lang="en-US" dirty="0"/>
          </a:p>
          <a:p>
            <a:r>
              <a:rPr lang="en-US" dirty="0"/>
              <a:t>AUTHENTICATED REQUEST</a:t>
            </a:r>
          </a:p>
          <a:p>
            <a:endParaRPr lang="en-US" dirty="0"/>
          </a:p>
          <a:p>
            <a:r>
              <a:rPr lang="en-US" dirty="0"/>
              <a:t>↓</a:t>
            </a:r>
          </a:p>
          <a:p>
            <a:endParaRPr lang="en-US" dirty="0"/>
          </a:p>
          <a:p>
            <a:r>
              <a:rPr lang="en-US" dirty="0"/>
              <a:t>ATLAS TASKFLOW</a:t>
            </a:r>
          </a:p>
          <a:p>
            <a:endParaRPr lang="en-US" dirty="0"/>
          </a:p>
          <a:p>
            <a:r>
              <a:rPr lang="en-US" dirty="0"/>
              <a:t>Explain:</a:t>
            </a:r>
          </a:p>
          <a:p>
            <a:endParaRPr lang="en-US" dirty="0"/>
          </a:p>
          <a:p>
            <a:r>
              <a:rPr lang="en-US" dirty="0"/>
              <a:t>"Now every request can potentially be associated with an authenticated</a:t>
            </a:r>
          </a:p>
          <a:p>
            <a:r>
              <a:rPr lang="en-US" dirty="0"/>
              <a:t>user."</a:t>
            </a:r>
          </a:p>
          <a:p>
            <a:endParaRPr lang="en-US" dirty="0"/>
          </a:p>
          <a:p>
            <a:r>
              <a:rPr lang="en-US" dirty="0"/>
              <a:t>------------------------------------------------------------</a:t>
            </a:r>
          </a:p>
          <a:p>
            <a:endParaRPr lang="en-US" dirty="0"/>
          </a:p>
          <a:p>
            <a:r>
              <a:rPr lang="en-US" dirty="0"/>
              <a:t>BUILD CHALLENGE</a:t>
            </a:r>
          </a:p>
          <a:p>
            <a:endParaRPr lang="en-US" dirty="0"/>
          </a:p>
          <a:p>
            <a:r>
              <a:rPr lang="en-US" dirty="0"/>
              <a:t>Have students identify the authentication requirements for Atlas.</a:t>
            </a:r>
          </a:p>
          <a:p>
            <a:endParaRPr lang="en-US" dirty="0"/>
          </a:p>
          <a:p>
            <a:r>
              <a:rPr lang="en-US" dirty="0"/>
              <a:t>Ask them to define:</a:t>
            </a:r>
          </a:p>
          <a:p>
            <a:endParaRPr lang="en-US" dirty="0"/>
          </a:p>
          <a:p>
            <a:r>
              <a:rPr lang="en-US" dirty="0"/>
              <a:t>1. How does a user sign in?</a:t>
            </a:r>
          </a:p>
          <a:p>
            <a:endParaRPr lang="en-US" dirty="0"/>
          </a:p>
          <a:p>
            <a:r>
              <a:rPr lang="en-US" dirty="0"/>
              <a:t>2. What information identifies the user?</a:t>
            </a:r>
          </a:p>
          <a:p>
            <a:endParaRPr lang="en-US" dirty="0"/>
          </a:p>
          <a:p>
            <a:r>
              <a:rPr lang="en-US" dirty="0"/>
              <a:t>3. What happens when authentication succeeds?</a:t>
            </a:r>
          </a:p>
          <a:p>
            <a:endParaRPr lang="en-US" dirty="0"/>
          </a:p>
          <a:p>
            <a:r>
              <a:rPr lang="en-US" dirty="0"/>
              <a:t>4. What happens when authentication fails?</a:t>
            </a:r>
          </a:p>
          <a:p>
            <a:endParaRPr lang="en-US" dirty="0"/>
          </a:p>
          <a:p>
            <a:r>
              <a:rPr lang="en-US" dirty="0"/>
              <a:t>5. What happens when the user logs out?</a:t>
            </a:r>
          </a:p>
          <a:p>
            <a:endParaRPr lang="en-US" dirty="0"/>
          </a:p>
          <a:p>
            <a:r>
              <a:rPr lang="en-US" dirty="0"/>
              <a:t>6. How will Atlas know which user is making a request?</a:t>
            </a:r>
          </a:p>
          <a:p>
            <a:endParaRPr lang="en-US" dirty="0"/>
          </a:p>
          <a:p>
            <a:r>
              <a:rPr lang="en-US" dirty="0"/>
              <a:t>------------------------------------------------------------</a:t>
            </a:r>
          </a:p>
          <a:p>
            <a:endParaRPr lang="en-US" dirty="0"/>
          </a:p>
          <a:p>
            <a:r>
              <a:rPr lang="en-US" dirty="0"/>
              <a:t>IF USING ASP.NET CORE IDENTITY</a:t>
            </a:r>
          </a:p>
          <a:p>
            <a:endParaRPr lang="en-US" dirty="0"/>
          </a:p>
          <a:p>
            <a:r>
              <a:rPr lang="en-US" dirty="0"/>
              <a:t>Introduce it carefully.</a:t>
            </a:r>
          </a:p>
          <a:p>
            <a:endParaRPr lang="en-US" dirty="0"/>
          </a:p>
          <a:p>
            <a:r>
              <a:rPr lang="en-US" dirty="0"/>
              <a:t>Say:</a:t>
            </a:r>
          </a:p>
          <a:p>
            <a:endParaRPr lang="en-US" dirty="0"/>
          </a:p>
          <a:p>
            <a:r>
              <a:rPr lang="en-US" dirty="0"/>
              <a:t>"ASP.NET Core provides a framework called ASP.NET Core Identity that</a:t>
            </a:r>
          </a:p>
          <a:p>
            <a:r>
              <a:rPr lang="en-US" dirty="0"/>
              <a:t>handles many of these common identity requirements."</a:t>
            </a:r>
          </a:p>
          <a:p>
            <a:endParaRPr lang="en-US" dirty="0"/>
          </a:p>
          <a:p>
            <a:r>
              <a:rPr lang="en-US" dirty="0"/>
              <a:t>Explain:</a:t>
            </a:r>
          </a:p>
          <a:p>
            <a:endParaRPr lang="en-US" dirty="0"/>
          </a:p>
          <a:p>
            <a:r>
              <a:rPr lang="en-US" dirty="0"/>
              <a:t>"It gives us infrastructure for things like:</a:t>
            </a:r>
          </a:p>
          <a:p>
            <a:endParaRPr lang="en-US" dirty="0"/>
          </a:p>
          <a:p>
            <a:r>
              <a:rPr lang="en-US" dirty="0"/>
              <a:t>User accounts.</a:t>
            </a:r>
          </a:p>
          <a:p>
            <a:endParaRPr lang="en-US" dirty="0"/>
          </a:p>
          <a:p>
            <a:r>
              <a:rPr lang="en-US" dirty="0"/>
              <a:t>Passwords.</a:t>
            </a:r>
          </a:p>
          <a:p>
            <a:endParaRPr lang="en-US" dirty="0"/>
          </a:p>
          <a:p>
            <a:r>
              <a:rPr lang="en-US" dirty="0"/>
              <a:t>Login.</a:t>
            </a:r>
          </a:p>
          <a:p>
            <a:endParaRPr lang="en-US" dirty="0"/>
          </a:p>
          <a:p>
            <a:r>
              <a:rPr lang="en-US" dirty="0"/>
              <a:t>Logout.</a:t>
            </a:r>
          </a:p>
          <a:p>
            <a:endParaRPr lang="en-US" dirty="0"/>
          </a:p>
          <a:p>
            <a:r>
              <a:rPr lang="en-US" dirty="0"/>
              <a:t>Authentication state.</a:t>
            </a:r>
          </a:p>
          <a:p>
            <a:endParaRPr lang="en-US" dirty="0"/>
          </a:p>
          <a:p>
            <a:r>
              <a:rPr lang="en-US" dirty="0"/>
              <a:t>User management."</a:t>
            </a:r>
          </a:p>
          <a:p>
            <a:endParaRPr lang="en-US" dirty="0"/>
          </a:p>
          <a:p>
            <a:r>
              <a:rPr lang="en-US" dirty="0"/>
              <a:t>Then:</a:t>
            </a:r>
          </a:p>
          <a:p>
            <a:endParaRPr lang="en-US" dirty="0"/>
          </a:p>
          <a:p>
            <a:r>
              <a:rPr lang="en-US" dirty="0"/>
              <a:t>"We're going to use the framework rather than reinventing</a:t>
            </a:r>
          </a:p>
          <a:p>
            <a:r>
              <a:rPr lang="en-US" dirty="0"/>
              <a:t>authentication ourselves."</a:t>
            </a:r>
          </a:p>
          <a:p>
            <a:endParaRPr lang="en-US" dirty="0"/>
          </a:p>
          <a:p>
            <a:r>
              <a:rPr lang="en-US" dirty="0"/>
              <a:t>------------------------------------------------------------</a:t>
            </a:r>
          </a:p>
          <a:p>
            <a:endParaRPr lang="en-US" dirty="0"/>
          </a:p>
          <a:p>
            <a:r>
              <a:rPr lang="en-US" dirty="0"/>
              <a:t>IMPORTANT BOUNDARY</a:t>
            </a:r>
          </a:p>
          <a:p>
            <a:endParaRPr lang="en-US" dirty="0"/>
          </a:p>
          <a:p>
            <a:r>
              <a:rPr lang="en-US" dirty="0"/>
              <a:t>Say:</a:t>
            </a:r>
          </a:p>
          <a:p>
            <a:endParaRPr lang="en-US" dirty="0"/>
          </a:p>
          <a:p>
            <a:r>
              <a:rPr lang="en-US" dirty="0"/>
              <a:t>"This is NOT the time to write our own password system."</a:t>
            </a:r>
          </a:p>
          <a:p>
            <a:endParaRPr lang="en-US" dirty="0"/>
          </a:p>
          <a:p>
            <a:r>
              <a:rPr lang="en-US" dirty="0"/>
              <a:t>"Professional developers use established identity frameworks."</a:t>
            </a:r>
          </a:p>
          <a:p>
            <a:endParaRPr lang="en-US" dirty="0"/>
          </a:p>
          <a:p>
            <a:r>
              <a:rPr lang="en-US" dirty="0"/>
              <a:t>Explain:</a:t>
            </a:r>
          </a:p>
          <a:p>
            <a:endParaRPr lang="en-US" dirty="0"/>
          </a:p>
          <a:p>
            <a:r>
              <a:rPr lang="en-US" dirty="0"/>
              <a:t>"Authentication is one area where reinventing the wheel can create</a:t>
            </a:r>
          </a:p>
          <a:p>
            <a:r>
              <a:rPr lang="en-US" dirty="0"/>
              <a:t>serious security problems."</a:t>
            </a:r>
          </a:p>
          <a:p>
            <a:endParaRPr lang="en-US" dirty="0"/>
          </a:p>
          <a:p>
            <a:r>
              <a:rPr lang="en-US" dirty="0"/>
              <a:t>------------------------------------------------------------</a:t>
            </a:r>
          </a:p>
          <a:p>
            <a:endParaRPr lang="en-US" dirty="0"/>
          </a:p>
          <a:p>
            <a:r>
              <a:rPr lang="en-US" dirty="0"/>
              <a:t>COMMON MISCONCEPTIONS</a:t>
            </a:r>
          </a:p>
          <a:p>
            <a:endParaRPr lang="en-US" dirty="0"/>
          </a:p>
          <a:p>
            <a:r>
              <a:rPr lang="en-US" dirty="0"/>
              <a:t>Address these directly.</a:t>
            </a:r>
          </a:p>
          <a:p>
            <a:endParaRPr lang="en-US" dirty="0"/>
          </a:p>
          <a:p>
            <a:r>
              <a:rPr lang="en-US" dirty="0"/>
              <a:t>Authentication is NOT authorization.</a:t>
            </a:r>
          </a:p>
          <a:p>
            <a:endParaRPr lang="en-US" dirty="0"/>
          </a:p>
          <a:p>
            <a:r>
              <a:rPr lang="en-US" dirty="0"/>
              <a:t>A login form is NOT the entire authentication system.</a:t>
            </a:r>
          </a:p>
          <a:p>
            <a:endParaRPr lang="en-US" dirty="0"/>
          </a:p>
          <a:p>
            <a:r>
              <a:rPr lang="en-US" dirty="0"/>
              <a:t>A username is NOT proof of identity.</a:t>
            </a:r>
          </a:p>
          <a:p>
            <a:endParaRPr lang="en-US" dirty="0"/>
          </a:p>
          <a:p>
            <a:r>
              <a:rPr lang="en-US" dirty="0"/>
              <a:t>A password should NOT be stored as plain text.</a:t>
            </a:r>
          </a:p>
          <a:p>
            <a:endParaRPr lang="en-US" dirty="0"/>
          </a:p>
          <a:p>
            <a:r>
              <a:rPr lang="en-US" dirty="0"/>
              <a:t>Being authenticated does NOT mean a user can access everything.</a:t>
            </a:r>
          </a:p>
          <a:p>
            <a:endParaRPr lang="en-US" dirty="0"/>
          </a:p>
          <a:p>
            <a:r>
              <a:rPr lang="en-US" dirty="0"/>
              <a:t>Logging in does NOT eliminate the need for authorization.</a:t>
            </a:r>
          </a:p>
          <a:p>
            <a:endParaRPr lang="en-US" dirty="0"/>
          </a:p>
          <a:p>
            <a:r>
              <a:rPr lang="en-US" dirty="0"/>
              <a:t>------------------------------------------------------------</a:t>
            </a:r>
          </a:p>
          <a:p>
            <a:endParaRPr lang="en-US" dirty="0"/>
          </a:p>
          <a:p>
            <a:r>
              <a:rPr lang="en-US" dirty="0"/>
              <a:t>SECURITY MINDSET</a:t>
            </a:r>
          </a:p>
          <a:p>
            <a:endParaRPr lang="en-US" dirty="0"/>
          </a:p>
          <a:p>
            <a:r>
              <a:rPr lang="en-US" dirty="0"/>
              <a:t>Ask:</a:t>
            </a:r>
          </a:p>
          <a:p>
            <a:endParaRPr lang="en-US" dirty="0"/>
          </a:p>
          <a:p>
            <a:r>
              <a:rPr lang="en-US" dirty="0"/>
              <a:t>"What is the worst thing we could do when building authentication?"</a:t>
            </a:r>
          </a:p>
          <a:p>
            <a:endParaRPr lang="en-US" dirty="0"/>
          </a:p>
          <a:p>
            <a:r>
              <a:rPr lang="en-US" dirty="0"/>
              <a:t>Possible answer:</a:t>
            </a:r>
          </a:p>
          <a:p>
            <a:endParaRPr lang="en-US" dirty="0"/>
          </a:p>
          <a:p>
            <a:r>
              <a:rPr lang="en-US" dirty="0"/>
              <a:t>"Assume it works."</a:t>
            </a:r>
          </a:p>
          <a:p>
            <a:endParaRPr lang="en-US" dirty="0"/>
          </a:p>
          <a:p>
            <a:r>
              <a:rPr lang="en-US" dirty="0"/>
              <a:t>Exactly.</a:t>
            </a:r>
          </a:p>
          <a:p>
            <a:endParaRPr lang="en-US" dirty="0"/>
          </a:p>
          <a:p>
            <a:r>
              <a:rPr lang="en-US" dirty="0"/>
              <a:t>Explain:</a:t>
            </a:r>
          </a:p>
          <a:p>
            <a:endParaRPr lang="en-US" dirty="0"/>
          </a:p>
          <a:p>
            <a:r>
              <a:rPr lang="en-US" dirty="0"/>
              <a:t>"Authentication must be tested."</a:t>
            </a:r>
          </a:p>
          <a:p>
            <a:endParaRPr lang="en-US" dirty="0"/>
          </a:p>
          <a:p>
            <a:r>
              <a:rPr lang="en-US" dirty="0"/>
              <a:t>We need to test:</a:t>
            </a:r>
          </a:p>
          <a:p>
            <a:endParaRPr lang="en-US" dirty="0"/>
          </a:p>
          <a:p>
            <a:r>
              <a:rPr lang="en-US" dirty="0"/>
              <a:t>Correct credentials.</a:t>
            </a:r>
          </a:p>
          <a:p>
            <a:endParaRPr lang="en-US" dirty="0"/>
          </a:p>
          <a:p>
            <a:r>
              <a:rPr lang="en-US" dirty="0"/>
              <a:t>Incorrect credentials.</a:t>
            </a:r>
          </a:p>
          <a:p>
            <a:endParaRPr lang="en-US" dirty="0"/>
          </a:p>
          <a:p>
            <a:r>
              <a:rPr lang="en-US" dirty="0"/>
              <a:t>Missing credentials.</a:t>
            </a:r>
          </a:p>
          <a:p>
            <a:endParaRPr lang="en-US" dirty="0"/>
          </a:p>
          <a:p>
            <a:r>
              <a:rPr lang="en-US" dirty="0"/>
              <a:t>Logout.</a:t>
            </a:r>
          </a:p>
          <a:p>
            <a:endParaRPr lang="en-US" dirty="0"/>
          </a:p>
          <a:p>
            <a:r>
              <a:rPr lang="en-US" dirty="0"/>
              <a:t>Expired/invalid authentication state.</a:t>
            </a:r>
          </a:p>
          <a:p>
            <a:endParaRPr lang="en-US" dirty="0"/>
          </a:p>
          <a:p>
            <a:r>
              <a:rPr lang="en-US" dirty="0"/>
              <a:t>Unauthorized access.</a:t>
            </a:r>
          </a:p>
          <a:p>
            <a:endParaRPr lang="en-US" dirty="0"/>
          </a:p>
          <a:p>
            <a:r>
              <a:rPr lang="en-US" dirty="0"/>
              <a:t>------------------------------------------------------------</a:t>
            </a:r>
          </a:p>
          <a:p>
            <a:endParaRPr lang="en-US" dirty="0"/>
          </a:p>
          <a:p>
            <a:r>
              <a:rPr lang="en-US" dirty="0"/>
              <a:t>TESTING SCENARIOS</a:t>
            </a:r>
          </a:p>
          <a:p>
            <a:endParaRPr lang="en-US" dirty="0"/>
          </a:p>
          <a:p>
            <a:r>
              <a:rPr lang="en-US" dirty="0"/>
              <a:t>Have students think through:</a:t>
            </a:r>
          </a:p>
          <a:p>
            <a:endParaRPr lang="en-US" dirty="0"/>
          </a:p>
          <a:p>
            <a:r>
              <a:rPr lang="en-US" dirty="0"/>
              <a:t>TEST 1</a:t>
            </a:r>
          </a:p>
          <a:p>
            <a:endParaRPr lang="en-US" dirty="0"/>
          </a:p>
          <a:p>
            <a:r>
              <a:rPr lang="en-US" dirty="0"/>
              <a:t>Correct username + correct password.</a:t>
            </a:r>
          </a:p>
          <a:p>
            <a:endParaRPr lang="en-US" dirty="0"/>
          </a:p>
          <a:p>
            <a:r>
              <a:rPr lang="en-US" dirty="0"/>
              <a:t>Expected:</a:t>
            </a:r>
          </a:p>
          <a:p>
            <a:endParaRPr lang="en-US" dirty="0"/>
          </a:p>
          <a:p>
            <a:r>
              <a:rPr lang="en-US" dirty="0"/>
              <a:t>Login succeeds.</a:t>
            </a:r>
          </a:p>
          <a:p>
            <a:endParaRPr lang="en-US" dirty="0"/>
          </a:p>
          <a:p>
            <a:r>
              <a:rPr lang="en-US" dirty="0"/>
              <a:t>TEST 2</a:t>
            </a:r>
          </a:p>
          <a:p>
            <a:endParaRPr lang="en-US" dirty="0"/>
          </a:p>
          <a:p>
            <a:r>
              <a:rPr lang="en-US" dirty="0"/>
              <a:t>Correct username + incorrect password.</a:t>
            </a:r>
          </a:p>
          <a:p>
            <a:endParaRPr lang="en-US" dirty="0"/>
          </a:p>
          <a:p>
            <a:r>
              <a:rPr lang="en-US" dirty="0"/>
              <a:t>Expected:</a:t>
            </a:r>
          </a:p>
          <a:p>
            <a:endParaRPr lang="en-US" dirty="0"/>
          </a:p>
          <a:p>
            <a:r>
              <a:rPr lang="en-US" dirty="0"/>
              <a:t>Login fails.</a:t>
            </a:r>
          </a:p>
          <a:p>
            <a:endParaRPr lang="en-US" dirty="0"/>
          </a:p>
          <a:p>
            <a:r>
              <a:rPr lang="en-US" dirty="0"/>
              <a:t>TEST 3</a:t>
            </a:r>
          </a:p>
          <a:p>
            <a:endParaRPr lang="en-US" dirty="0"/>
          </a:p>
          <a:p>
            <a:r>
              <a:rPr lang="en-US" dirty="0"/>
              <a:t>Unknown user.</a:t>
            </a:r>
          </a:p>
          <a:p>
            <a:endParaRPr lang="en-US" dirty="0"/>
          </a:p>
          <a:p>
            <a:r>
              <a:rPr lang="en-US" dirty="0"/>
              <a:t>Expected:</a:t>
            </a:r>
          </a:p>
          <a:p>
            <a:endParaRPr lang="en-US" dirty="0"/>
          </a:p>
          <a:p>
            <a:r>
              <a:rPr lang="en-US" dirty="0"/>
              <a:t>Login fails.</a:t>
            </a:r>
          </a:p>
          <a:p>
            <a:endParaRPr lang="en-US" dirty="0"/>
          </a:p>
          <a:p>
            <a:r>
              <a:rPr lang="en-US" dirty="0"/>
              <a:t>TEST 4</a:t>
            </a:r>
          </a:p>
          <a:p>
            <a:endParaRPr lang="en-US" dirty="0"/>
          </a:p>
          <a:p>
            <a:r>
              <a:rPr lang="en-US" dirty="0"/>
              <a:t>User logs out.</a:t>
            </a:r>
          </a:p>
          <a:p>
            <a:endParaRPr lang="en-US" dirty="0"/>
          </a:p>
          <a:p>
            <a:r>
              <a:rPr lang="en-US" dirty="0"/>
              <a:t>Expected:</a:t>
            </a:r>
          </a:p>
          <a:p>
            <a:endParaRPr lang="en-US" dirty="0"/>
          </a:p>
          <a:p>
            <a:r>
              <a:rPr lang="en-US" dirty="0"/>
              <a:t>Protected access requires authentication again.</a:t>
            </a:r>
          </a:p>
          <a:p>
            <a:endParaRPr lang="en-US" dirty="0"/>
          </a:p>
          <a:p>
            <a:r>
              <a:rPr lang="en-US" dirty="0"/>
              <a:t>------------------------------------------------------------</a:t>
            </a:r>
          </a:p>
          <a:p>
            <a:endParaRPr lang="en-US" dirty="0"/>
          </a:p>
          <a:p>
            <a:r>
              <a:rPr lang="en-US" dirty="0"/>
              <a:t>ENGINEERING INSIGHT</a:t>
            </a:r>
          </a:p>
          <a:p>
            <a:endParaRPr lang="en-US" dirty="0"/>
          </a:p>
          <a:p>
            <a:r>
              <a:rPr lang="en-US" dirty="0"/>
              <a:t>Point to the statement:</a:t>
            </a:r>
          </a:p>
          <a:p>
            <a:endParaRPr lang="en-US" dirty="0"/>
          </a:p>
          <a:p>
            <a:r>
              <a:rPr lang="en-US" dirty="0"/>
              <a:t>"Identity is the foundation of trust."</a:t>
            </a:r>
          </a:p>
          <a:p>
            <a:endParaRPr lang="en-US" dirty="0"/>
          </a:p>
          <a:p>
            <a:r>
              <a:rPr lang="en-US" dirty="0"/>
              <a:t>Explain:</a:t>
            </a:r>
          </a:p>
          <a:p>
            <a:endParaRPr lang="en-US" dirty="0"/>
          </a:p>
          <a:p>
            <a:r>
              <a:rPr lang="en-US" dirty="0"/>
              <a:t>"If Atlas doesn't know who someone is..."</a:t>
            </a:r>
          </a:p>
          <a:p>
            <a:endParaRPr lang="en-US" dirty="0"/>
          </a:p>
          <a:p>
            <a:r>
              <a:rPr lang="en-US" dirty="0"/>
              <a:t>"It can't reliably determine what they're allowed to access."</a:t>
            </a:r>
          </a:p>
          <a:p>
            <a:endParaRPr lang="en-US" dirty="0"/>
          </a:p>
          <a:p>
            <a:r>
              <a:rPr lang="en-US" dirty="0"/>
              <a:t>"Authentication comes first."</a:t>
            </a:r>
          </a:p>
          <a:p>
            <a:endParaRPr lang="en-US" dirty="0"/>
          </a:p>
          <a:p>
            <a:r>
              <a:rPr lang="en-US" dirty="0"/>
              <a:t>------------------------------------------------------------</a:t>
            </a:r>
          </a:p>
          <a:p>
            <a:endParaRPr lang="en-US" dirty="0"/>
          </a:p>
          <a:p>
            <a:r>
              <a:rPr lang="en-US" dirty="0"/>
              <a:t>SPRINT CONNECTION</a:t>
            </a:r>
          </a:p>
          <a:p>
            <a:endParaRPr lang="en-US" dirty="0"/>
          </a:p>
          <a:p>
            <a:r>
              <a:rPr lang="en-US" dirty="0"/>
              <a:t>Point to:</a:t>
            </a:r>
          </a:p>
          <a:p>
            <a:endParaRPr lang="en-US" dirty="0"/>
          </a:p>
          <a:p>
            <a:r>
              <a:rPr lang="en-US" dirty="0"/>
              <a:t>⑥ PROTECT IT</a:t>
            </a:r>
          </a:p>
          <a:p>
            <a:endParaRPr lang="en-US" dirty="0"/>
          </a:p>
          <a:p>
            <a:r>
              <a:rPr lang="en-US" dirty="0"/>
              <a:t>Say:</a:t>
            </a:r>
          </a:p>
          <a:p>
            <a:endParaRPr lang="en-US" dirty="0"/>
          </a:p>
          <a:p>
            <a:r>
              <a:rPr lang="en-US" dirty="0"/>
              <a:t>"Sprint 5 gave Atlas memory."</a:t>
            </a:r>
          </a:p>
          <a:p>
            <a:endParaRPr lang="en-US" dirty="0"/>
          </a:p>
          <a:p>
            <a:r>
              <a:rPr lang="en-US" dirty="0"/>
              <a:t>"Sprint 6 gives Atlas identity."</a:t>
            </a:r>
          </a:p>
          <a:p>
            <a:endParaRPr lang="en-US" dirty="0"/>
          </a:p>
          <a:p>
            <a:r>
              <a:rPr lang="en-US" dirty="0"/>
              <a:t>Then:</a:t>
            </a:r>
          </a:p>
          <a:p>
            <a:endParaRPr lang="en-US" dirty="0"/>
          </a:p>
          <a:p>
            <a:r>
              <a:rPr lang="en-US" dirty="0"/>
              <a:t>"Once Atlas knows who you are..."</a:t>
            </a:r>
          </a:p>
          <a:p>
            <a:endParaRPr lang="en-US" dirty="0"/>
          </a:p>
          <a:p>
            <a:r>
              <a:rPr lang="en-US" dirty="0"/>
              <a:t>"We can decide what you're allowed to do."</a:t>
            </a:r>
          </a:p>
          <a:p>
            <a:endParaRPr lang="en-US" dirty="0"/>
          </a:p>
          <a:p>
            <a:r>
              <a:rPr lang="en-US" dirty="0"/>
              <a:t>------------------------------------------------------------</a:t>
            </a:r>
          </a:p>
          <a:p>
            <a:endParaRPr lang="en-US" dirty="0"/>
          </a:p>
          <a:p>
            <a:r>
              <a:rPr lang="en-US" dirty="0"/>
              <a:t>LOOKING AHEAD</a:t>
            </a:r>
          </a:p>
          <a:p>
            <a:endParaRPr lang="en-US" dirty="0"/>
          </a:p>
          <a:p>
            <a:r>
              <a:rPr lang="en-US" dirty="0"/>
              <a:t>Point toward:</a:t>
            </a:r>
          </a:p>
          <a:p>
            <a:endParaRPr lang="en-US" dirty="0"/>
          </a:p>
          <a:p>
            <a:r>
              <a:rPr lang="en-US" dirty="0"/>
              <a:t>"Who Can Do What?"</a:t>
            </a:r>
          </a:p>
          <a:p>
            <a:endParaRPr lang="en-US" dirty="0"/>
          </a:p>
          <a:p>
            <a:r>
              <a:rPr lang="en-US" dirty="0"/>
              <a:t>Say:</a:t>
            </a:r>
          </a:p>
          <a:p>
            <a:endParaRPr lang="en-US" dirty="0"/>
          </a:p>
          <a:p>
            <a:r>
              <a:rPr lang="en-US" dirty="0"/>
              <a:t>"Next, we move from authentication to authorization."</a:t>
            </a:r>
          </a:p>
          <a:p>
            <a:endParaRPr lang="en-US" dirty="0"/>
          </a:p>
          <a:p>
            <a:r>
              <a:rPr lang="en-US" dirty="0"/>
              <a:t>Ask:</a:t>
            </a:r>
          </a:p>
          <a:p>
            <a:endParaRPr lang="en-US" dirty="0"/>
          </a:p>
          <a:p>
            <a:r>
              <a:rPr lang="en-US" dirty="0"/>
              <a:t>"If Atlas knows that you're Charles..."</a:t>
            </a:r>
          </a:p>
          <a:p>
            <a:endParaRPr lang="en-US" dirty="0"/>
          </a:p>
          <a:p>
            <a:r>
              <a:rPr lang="en-US" dirty="0"/>
              <a:t>"Does that mean you're allowed to delete every task?"</a:t>
            </a:r>
          </a:p>
          <a:p>
            <a:endParaRPr lang="en-US" dirty="0"/>
          </a:p>
          <a:p>
            <a:r>
              <a:rPr lang="en-US" dirty="0"/>
              <a:t>Students:</a:t>
            </a:r>
          </a:p>
          <a:p>
            <a:endParaRPr lang="en-US" dirty="0"/>
          </a:p>
          <a:p>
            <a:r>
              <a:rPr lang="en-US" dirty="0"/>
              <a:t>"No."</a:t>
            </a:r>
          </a:p>
          <a:p>
            <a:endParaRPr lang="en-US" dirty="0"/>
          </a:p>
          <a:p>
            <a:r>
              <a:rPr lang="en-US" dirty="0"/>
              <a:t>Exactly.</a:t>
            </a:r>
          </a:p>
          <a:p>
            <a:endParaRPr lang="en-US" dirty="0"/>
          </a:p>
          <a:p>
            <a:r>
              <a:rPr lang="en-US" dirty="0"/>
              <a:t>"Next..."</a:t>
            </a:r>
          </a:p>
          <a:p>
            <a:endParaRPr lang="en-US" dirty="0"/>
          </a:p>
          <a:p>
            <a:r>
              <a:rPr lang="en-US" dirty="0"/>
              <a:t>"We decide what users are allowed to do."</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"Authentication answers one question."</a:t>
            </a:r>
          </a:p>
          <a:p>
            <a:endParaRPr lang="en-US" dirty="0"/>
          </a:p>
          <a:p>
            <a:r>
              <a:rPr lang="en-US" dirty="0"/>
              <a:t>Pause.</a:t>
            </a:r>
          </a:p>
          <a:p>
            <a:endParaRPr lang="en-US" dirty="0"/>
          </a:p>
          <a:p>
            <a:r>
              <a:rPr lang="en-US" dirty="0"/>
              <a:t>"Who are you?"</a:t>
            </a:r>
          </a:p>
          <a:p>
            <a:endParaRPr lang="en-US" dirty="0"/>
          </a:p>
          <a:p>
            <a:r>
              <a:rPr lang="en-US" dirty="0"/>
              <a:t>Then:</a:t>
            </a:r>
          </a:p>
          <a:p>
            <a:endParaRPr lang="en-US" dirty="0"/>
          </a:p>
          <a:p>
            <a:r>
              <a:rPr lang="en-US" dirty="0"/>
              <a:t>"Once Atlas knows who you are..."</a:t>
            </a:r>
          </a:p>
          <a:p>
            <a:endParaRPr lang="en-US" dirty="0"/>
          </a:p>
          <a:p>
            <a:r>
              <a:rPr lang="en-US" dirty="0"/>
              <a:t>"We can ask the next question."</a:t>
            </a:r>
          </a:p>
          <a:p>
            <a:endParaRPr lang="en-US" dirty="0"/>
          </a:p>
          <a:p>
            <a:r>
              <a:rPr lang="en-US" dirty="0"/>
              <a:t>"What are you allowed to do?"</a:t>
            </a:r>
          </a:p>
          <a:p>
            <a:endParaRPr lang="en-US" dirty="0"/>
          </a:p>
          <a:p>
            <a:r>
              <a:rPr lang="en-US" dirty="0"/>
              <a:t>============================================================</a:t>
            </a:r>
          </a:p>
          <a:p>
            <a:endParaRPr lang="en-US" dirty="0"/>
          </a:p>
          <a:p>
            <a:r>
              <a:rPr lang="en-US" dirty="0"/>
              <a:t>ESTIMATED TIME</a:t>
            </a:r>
          </a:p>
          <a:p>
            <a:endParaRPr lang="en-US" dirty="0"/>
          </a:p>
          <a:p>
            <a:r>
              <a:rPr lang="en-US" dirty="0"/>
              <a:t>Opening &amp; Identity Problem...........8 minutes</a:t>
            </a:r>
          </a:p>
          <a:p>
            <a:endParaRPr lang="en-US" dirty="0"/>
          </a:p>
          <a:p>
            <a:r>
              <a:rPr lang="en-US" dirty="0"/>
              <a:t>Authentication Concept...............10 minutes</a:t>
            </a:r>
          </a:p>
          <a:p>
            <a:endParaRPr lang="en-US" dirty="0"/>
          </a:p>
          <a:p>
            <a:r>
              <a:rPr lang="en-US" dirty="0"/>
              <a:t>Authentication vs Authorization......10 minutes</a:t>
            </a:r>
          </a:p>
          <a:p>
            <a:endParaRPr lang="en-US" dirty="0"/>
          </a:p>
          <a:p>
            <a:r>
              <a:rPr lang="en-US" dirty="0"/>
              <a:t>Login &amp; Session Flow..................12 minutes</a:t>
            </a:r>
          </a:p>
          <a:p>
            <a:endParaRPr lang="en-US" dirty="0"/>
          </a:p>
          <a:p>
            <a:r>
              <a:rPr lang="en-US" dirty="0"/>
              <a:t>Passwords &amp; Identity Security.........8 minutes</a:t>
            </a:r>
          </a:p>
          <a:p>
            <a:endParaRPr lang="en-US" dirty="0"/>
          </a:p>
          <a:p>
            <a:r>
              <a:rPr lang="en-US" dirty="0"/>
              <a:t>Atlas Identity Design.................8 minutes</a:t>
            </a:r>
          </a:p>
          <a:p>
            <a:endParaRPr lang="en-US" dirty="0"/>
          </a:p>
          <a:p>
            <a:r>
              <a:rPr lang="en-US" dirty="0"/>
              <a:t>Testing &amp; Discussion.................9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authentication conceptual before showing implementation.</a:t>
            </a:r>
          </a:p>
          <a:p>
            <a:endParaRPr lang="en-US" dirty="0"/>
          </a:p>
          <a:p>
            <a:r>
              <a:rPr lang="en-US" dirty="0"/>
              <a:t>Students should understand the process before interacting with the</a:t>
            </a:r>
          </a:p>
          <a:p>
            <a:r>
              <a:rPr lang="en-US" dirty="0"/>
              <a:t>framework.</a:t>
            </a:r>
          </a:p>
          <a:p>
            <a:endParaRPr lang="en-US" dirty="0"/>
          </a:p>
          <a:p>
            <a:r>
              <a:rPr lang="en-US" dirty="0"/>
              <a:t>The mental model should be:</a:t>
            </a:r>
          </a:p>
          <a:p>
            <a:endParaRPr lang="en-US" dirty="0"/>
          </a:p>
          <a:p>
            <a:r>
              <a:rPr lang="en-US" dirty="0"/>
              <a:t>USER</a:t>
            </a:r>
          </a:p>
          <a:p>
            <a:endParaRPr lang="en-US" dirty="0"/>
          </a:p>
          <a:p>
            <a:r>
              <a:rPr lang="en-US" dirty="0"/>
              <a:t>↓</a:t>
            </a:r>
          </a:p>
          <a:p>
            <a:endParaRPr lang="en-US" dirty="0"/>
          </a:p>
          <a:p>
            <a:r>
              <a:rPr lang="en-US" dirty="0"/>
              <a:t>AUTHENTICATE</a:t>
            </a:r>
          </a:p>
          <a:p>
            <a:endParaRPr lang="en-US" dirty="0"/>
          </a:p>
          <a:p>
            <a:r>
              <a:rPr lang="en-US" dirty="0"/>
              <a:t>↓</a:t>
            </a:r>
          </a:p>
          <a:p>
            <a:endParaRPr lang="en-US" dirty="0"/>
          </a:p>
          <a:p>
            <a:r>
              <a:rPr lang="en-US" dirty="0"/>
              <a:t>IDENTITY</a:t>
            </a:r>
          </a:p>
          <a:p>
            <a:endParaRPr lang="en-US" dirty="0"/>
          </a:p>
          <a:p>
            <a:r>
              <a:rPr lang="en-US" dirty="0"/>
              <a:t>↓</a:t>
            </a:r>
          </a:p>
          <a:p>
            <a:endParaRPr lang="en-US" dirty="0"/>
          </a:p>
          <a:p>
            <a:r>
              <a:rPr lang="en-US" dirty="0"/>
              <a:t>AUTHENTICATED REQUEST</a:t>
            </a:r>
          </a:p>
          <a:p>
            <a:endParaRPr lang="en-US" dirty="0"/>
          </a:p>
          <a:p>
            <a:r>
              <a:rPr lang="en-US" dirty="0"/>
              <a:t>Do not spend significant time on cryptographic implementation.</a:t>
            </a:r>
          </a:p>
          <a:p>
            <a:endParaRPr lang="en-US" dirty="0"/>
          </a:p>
          <a:p>
            <a:r>
              <a:rPr lang="en-US" dirty="0"/>
              <a:t>Do not teach students to build their own password hashing system.</a:t>
            </a:r>
          </a:p>
          <a:p>
            <a:endParaRPr lang="en-US" dirty="0"/>
          </a:p>
          <a:p>
            <a:r>
              <a:rPr lang="en-US" dirty="0"/>
              <a:t>Use established frameworks and practices.</a:t>
            </a:r>
          </a:p>
          <a:p>
            <a:endParaRPr lang="en-US" dirty="0"/>
          </a:p>
          <a:p>
            <a:r>
              <a:rPr lang="en-US" dirty="0"/>
              <a:t>------------------------------------------------------------</a:t>
            </a:r>
          </a:p>
          <a:p>
            <a:endParaRPr lang="en-US" dirty="0"/>
          </a:p>
          <a:p>
            <a:r>
              <a:rPr lang="en-US" dirty="0"/>
              <a:t>IMPORTANT TEACHING MOVE</a:t>
            </a:r>
          </a:p>
          <a:p>
            <a:endParaRPr lang="en-US" dirty="0"/>
          </a:p>
          <a:p>
            <a:r>
              <a:rPr lang="en-US" dirty="0"/>
              <a:t>Keep asking:</a:t>
            </a:r>
          </a:p>
          <a:p>
            <a:endParaRPr lang="en-US" dirty="0"/>
          </a:p>
          <a:p>
            <a:r>
              <a:rPr lang="en-US" dirty="0"/>
              <a:t>"Who are you?"</a:t>
            </a:r>
          </a:p>
          <a:p>
            <a:endParaRPr lang="en-US" dirty="0"/>
          </a:p>
          <a:p>
            <a:r>
              <a:rPr lang="en-US" dirty="0"/>
              <a:t>Then:</a:t>
            </a:r>
          </a:p>
          <a:p>
            <a:endParaRPr lang="en-US" dirty="0"/>
          </a:p>
          <a:p>
            <a:r>
              <a:rPr lang="en-US" dirty="0"/>
              <a:t>"What are you allowed to do?"</a:t>
            </a:r>
          </a:p>
          <a:p>
            <a:endParaRPr lang="en-US" dirty="0"/>
          </a:p>
          <a:p>
            <a:r>
              <a:rPr lang="en-US" dirty="0"/>
              <a:t>Students should eventually automatically associate:</a:t>
            </a:r>
          </a:p>
          <a:p>
            <a:endParaRPr lang="en-US" dirty="0"/>
          </a:p>
          <a:p>
            <a:r>
              <a:rPr lang="en-US" dirty="0"/>
              <a:t>WHO = Authentication</a:t>
            </a:r>
          </a:p>
          <a:p>
            <a:endParaRPr lang="en-US" dirty="0"/>
          </a:p>
          <a:p>
            <a:r>
              <a:rPr lang="en-US" dirty="0"/>
              <a:t>WHAT = Authorization</a:t>
            </a:r>
          </a:p>
          <a:p>
            <a:endParaRPr lang="en-US" dirty="0"/>
          </a:p>
          <a:p>
            <a:r>
              <a:rPr lang="en-US" dirty="0"/>
              <a:t>------------------------------------------------------------</a:t>
            </a:r>
          </a:p>
          <a:p>
            <a:endParaRPr lang="en-US" dirty="0"/>
          </a:p>
          <a:p>
            <a:r>
              <a:rPr lang="en-US" dirty="0"/>
              <a:t>SECURITY BOUNDARY</a:t>
            </a:r>
          </a:p>
          <a:p>
            <a:endParaRPr lang="en-US" dirty="0"/>
          </a:p>
          <a:p>
            <a:r>
              <a:rPr lang="en-US" dirty="0"/>
              <a:t>Briefly introduce:</a:t>
            </a:r>
          </a:p>
          <a:p>
            <a:endParaRPr lang="en-US" dirty="0"/>
          </a:p>
          <a:p>
            <a:r>
              <a:rPr lang="en-US" dirty="0"/>
              <a:t>• Password hashing</a:t>
            </a:r>
          </a:p>
          <a:p>
            <a:r>
              <a:rPr lang="en-US" dirty="0"/>
              <a:t>• Authentication cookies</a:t>
            </a:r>
          </a:p>
          <a:p>
            <a:r>
              <a:rPr lang="en-US" dirty="0"/>
              <a:t>• Session state</a:t>
            </a:r>
          </a:p>
          <a:p>
            <a:r>
              <a:rPr lang="en-US" dirty="0"/>
              <a:t>• Secure credentials</a:t>
            </a:r>
          </a:p>
          <a:p>
            <a:endParaRPr lang="en-US" dirty="0"/>
          </a:p>
          <a:p>
            <a:r>
              <a:rPr lang="en-US" dirty="0"/>
              <a:t>But save deeper security concepts for later artifacts.</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AUTHENTICATION</a:t>
            </a:r>
          </a:p>
          <a:p>
            <a:endParaRPr lang="en-US" dirty="0"/>
          </a:p>
          <a:p>
            <a:r>
              <a:rPr lang="en-US" dirty="0"/>
              <a:t>"WHO ARE YOU?"</a:t>
            </a:r>
          </a:p>
          <a:p>
            <a:endParaRPr lang="en-US" dirty="0"/>
          </a:p>
          <a:p>
            <a:r>
              <a:rPr lang="en-US" dirty="0"/>
              <a:t>↓</a:t>
            </a:r>
          </a:p>
          <a:p>
            <a:endParaRPr lang="en-US" dirty="0"/>
          </a:p>
          <a:p>
            <a:r>
              <a:rPr lang="en-US" dirty="0"/>
              <a:t>IDENTITY</a:t>
            </a:r>
          </a:p>
          <a:p>
            <a:endParaRPr lang="en-US" dirty="0"/>
          </a:p>
          <a:p>
            <a:r>
              <a:rPr lang="en-US" dirty="0"/>
              <a:t>↓</a:t>
            </a:r>
          </a:p>
          <a:p>
            <a:endParaRPr lang="en-US" dirty="0"/>
          </a:p>
          <a:p>
            <a:r>
              <a:rPr lang="en-US" dirty="0"/>
              <a:t>AUTHENTICATED REQUEST</a:t>
            </a:r>
          </a:p>
          <a:p>
            <a:endParaRPr lang="en-US" dirty="0"/>
          </a:p>
          <a:p>
            <a:r>
              <a:rPr lang="en-US" dirty="0"/>
              <a:t>Then:</a:t>
            </a:r>
          </a:p>
          <a:p>
            <a:endParaRPr lang="en-US" dirty="0"/>
          </a:p>
          <a:p>
            <a:r>
              <a:rPr lang="en-US" dirty="0"/>
              <a:t>AUTHORIZATION</a:t>
            </a:r>
          </a:p>
          <a:p>
            <a:endParaRPr lang="en-US" dirty="0"/>
          </a:p>
          <a:p>
            <a:r>
              <a:rPr lang="en-US" dirty="0"/>
              <a:t>"WHAT CAN YOU DO?"</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"Before Atlas can protect information..."</a:t>
            </a:r>
          </a:p>
          <a:p>
            <a:endParaRPr lang="en-US" dirty="0"/>
          </a:p>
          <a:p>
            <a:r>
              <a:rPr lang="en-US" dirty="0"/>
              <a:t>"It needs to know who is asking for it."</a:t>
            </a:r>
          </a:p>
          <a:p>
            <a:endParaRPr lang="en-US" dirty="0"/>
          </a:p>
          <a:p>
            <a:r>
              <a:rPr lang="en-US" dirty="0"/>
              <a:t>"Today, we taught Atlas how to recognize identity."</a:t>
            </a:r>
          </a:p>
          <a:p>
            <a:endParaRPr lang="en-US" dirty="0"/>
          </a:p>
          <a:p>
            <a:r>
              <a:rPr lang="en-US" dirty="0"/>
              <a:t>"Next..."</a:t>
            </a:r>
          </a:p>
          <a:p>
            <a:endParaRPr lang="en-US" dirty="0"/>
          </a:p>
          <a:p>
            <a:r>
              <a:rPr lang="en-US" dirty="0"/>
              <a:t>"We decide what that identity is allowed to do."</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1</a:t>
            </a:fld>
            <a:endParaRPr lang="en-US"/>
          </a:p>
        </p:txBody>
      </p:sp>
    </p:spTree>
    <p:extLst>
      <p:ext uri="{BB962C8B-B14F-4D97-AF65-F5344CB8AC3E}">
        <p14:creationId xmlns:p14="http://schemas.microsoft.com/office/powerpoint/2010/main" val="3587475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WHO CAN DO WHAT?</a:t>
            </a:r>
          </a:p>
          <a:p>
            <a:endParaRPr lang="en-US" dirty="0"/>
          </a:p>
          <a:p>
            <a:r>
              <a:rPr lang="en-US" dirty="0"/>
              <a:t>AUTHORIZATION</a:t>
            </a:r>
          </a:p>
          <a:p>
            <a:endParaRPr lang="en-US" dirty="0"/>
          </a:p>
          <a:p>
            <a:r>
              <a:rPr lang="en-US" dirty="0"/>
              <a:t>============================================================</a:t>
            </a:r>
          </a:p>
          <a:p>
            <a:endParaRPr lang="en-US" dirty="0"/>
          </a:p>
          <a:p>
            <a:r>
              <a:rPr lang="en-US" dirty="0"/>
              <a:t>SLIDE PURPOSE</a:t>
            </a:r>
          </a:p>
          <a:p>
            <a:endParaRPr lang="en-US" dirty="0"/>
          </a:p>
          <a:p>
            <a:r>
              <a:rPr lang="en-US" dirty="0"/>
              <a:t>Teach students that authentication and authorization are separate</a:t>
            </a:r>
          </a:p>
          <a:p>
            <a:r>
              <a:rPr lang="en-US" dirty="0"/>
              <a:t>security responsibilities.</a:t>
            </a:r>
          </a:p>
          <a:p>
            <a:endParaRPr lang="en-US" dirty="0"/>
          </a:p>
          <a:p>
            <a:r>
              <a:rPr lang="en-US" dirty="0"/>
              <a:t>Students should understand:</a:t>
            </a:r>
          </a:p>
          <a:p>
            <a:endParaRPr lang="en-US" dirty="0"/>
          </a:p>
          <a:p>
            <a:r>
              <a:rPr lang="en-US" dirty="0"/>
              <a:t>• Authentication identifies the user.</a:t>
            </a:r>
          </a:p>
          <a:p>
            <a:r>
              <a:rPr lang="en-US" dirty="0"/>
              <a:t>• Authorization determines what the user can access or do.</a:t>
            </a:r>
          </a:p>
          <a:p>
            <a:r>
              <a:rPr lang="en-US" dirty="0"/>
              <a:t>• Roles can be used to group permissions.</a:t>
            </a:r>
          </a:p>
          <a:p>
            <a:r>
              <a:rPr lang="en-US" dirty="0"/>
              <a:t>• Ownership can determine access to resources.</a:t>
            </a:r>
          </a:p>
          <a:p>
            <a:r>
              <a:rPr lang="en-US" dirty="0"/>
              <a:t>• Authorization must be enforced on the server.</a:t>
            </a:r>
          </a:p>
          <a:p>
            <a:r>
              <a:rPr lang="en-US" dirty="0"/>
              <a:t>• Access decisions should be intentional and tested.</a:t>
            </a:r>
          </a:p>
          <a:p>
            <a:endParaRPr lang="en-US" dirty="0"/>
          </a:p>
          <a:p>
            <a:r>
              <a:rPr lang="en-US" dirty="0"/>
              <a:t>The goal is practical security thinking.</a:t>
            </a:r>
          </a:p>
          <a:p>
            <a:endParaRPr lang="en-US" dirty="0"/>
          </a:p>
          <a:p>
            <a:r>
              <a:rPr lang="en-US" dirty="0"/>
              <a:t>This is NOT an enterprise identity-management course.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"Last lesson, we taught Atlas how to answer one question."</a:t>
            </a:r>
          </a:p>
          <a:p>
            <a:endParaRPr lang="en-US" dirty="0"/>
          </a:p>
          <a:p>
            <a:r>
              <a:rPr lang="en-US" dirty="0"/>
              <a:t>Point to:</a:t>
            </a:r>
          </a:p>
          <a:p>
            <a:endParaRPr lang="en-US" dirty="0"/>
          </a:p>
          <a:p>
            <a:r>
              <a:rPr lang="en-US" dirty="0"/>
              <a:t>WHO ARE YOU?</a:t>
            </a:r>
          </a:p>
          <a:p>
            <a:endParaRPr lang="en-US" dirty="0"/>
          </a:p>
          <a:p>
            <a:r>
              <a:rPr lang="en-US" dirty="0"/>
              <a:t>"Authentication."</a:t>
            </a:r>
          </a:p>
          <a:p>
            <a:endParaRPr lang="en-US" dirty="0"/>
          </a:p>
          <a:p>
            <a:r>
              <a:rPr lang="en-US" dirty="0"/>
              <a:t>Pause.</a:t>
            </a:r>
          </a:p>
          <a:p>
            <a:endParaRPr lang="en-US" dirty="0"/>
          </a:p>
          <a:p>
            <a:r>
              <a:rPr lang="en-US" dirty="0"/>
              <a:t>"But knowing who someone is isn't enough."</a:t>
            </a:r>
          </a:p>
          <a:p>
            <a:endParaRPr lang="en-US" dirty="0"/>
          </a:p>
          <a:p>
            <a:r>
              <a:rPr lang="en-US" dirty="0"/>
              <a:t>Ask:</a:t>
            </a:r>
          </a:p>
          <a:p>
            <a:endParaRPr lang="en-US" dirty="0"/>
          </a:p>
          <a:p>
            <a:r>
              <a:rPr lang="en-US" dirty="0"/>
              <a:t>"If Atlas knows you're Charles..."</a:t>
            </a:r>
          </a:p>
          <a:p>
            <a:endParaRPr lang="en-US" dirty="0"/>
          </a:p>
          <a:p>
            <a:r>
              <a:rPr lang="en-US" dirty="0"/>
              <a:t>"Should Atlas automatically let you delete every task?"</a:t>
            </a:r>
          </a:p>
          <a:p>
            <a:endParaRPr lang="en-US" dirty="0"/>
          </a:p>
          <a:p>
            <a:r>
              <a:rPr lang="en-US" dirty="0"/>
              <a:t>Students:</a:t>
            </a:r>
          </a:p>
          <a:p>
            <a:endParaRPr lang="en-US" dirty="0"/>
          </a:p>
          <a:p>
            <a:r>
              <a:rPr lang="en-US" dirty="0"/>
              <a:t>"No."</a:t>
            </a:r>
          </a:p>
          <a:p>
            <a:endParaRPr lang="en-US" dirty="0"/>
          </a:p>
          <a:p>
            <a:r>
              <a:rPr lang="en-US" dirty="0"/>
              <a:t>Exactly.</a:t>
            </a:r>
          </a:p>
          <a:p>
            <a:endParaRPr lang="en-US" dirty="0"/>
          </a:p>
          <a:p>
            <a:r>
              <a:rPr lang="en-US" dirty="0"/>
              <a:t>"That's today's question."</a:t>
            </a:r>
          </a:p>
          <a:p>
            <a:endParaRPr lang="en-US" dirty="0"/>
          </a:p>
          <a:p>
            <a:r>
              <a:rPr lang="en-US" dirty="0"/>
              <a:t>------------------------------------------------------------</a:t>
            </a:r>
          </a:p>
          <a:p>
            <a:endParaRPr lang="en-US" dirty="0"/>
          </a:p>
          <a:p>
            <a:r>
              <a:rPr lang="en-US" dirty="0"/>
              <a:t>THE ENGINEERING QUESTION</a:t>
            </a:r>
          </a:p>
          <a:p>
            <a:endParaRPr lang="en-US" dirty="0"/>
          </a:p>
          <a:p>
            <a:r>
              <a:rPr lang="en-US" dirty="0"/>
              <a:t>Point to:</a:t>
            </a:r>
          </a:p>
          <a:p>
            <a:endParaRPr lang="en-US" dirty="0"/>
          </a:p>
          <a:p>
            <a:r>
              <a:rPr lang="en-US" dirty="0"/>
              <a:t>"WHO CAN DO WHAT?"</a:t>
            </a:r>
          </a:p>
          <a:p>
            <a:endParaRPr lang="en-US" dirty="0"/>
          </a:p>
          <a:p>
            <a:r>
              <a:rPr lang="en-US" dirty="0"/>
              <a:t>Say:</a:t>
            </a:r>
          </a:p>
          <a:p>
            <a:endParaRPr lang="en-US" dirty="0"/>
          </a:p>
          <a:p>
            <a:r>
              <a:rPr lang="en-US" dirty="0"/>
              <a:t>"That's authorization."</a:t>
            </a:r>
          </a:p>
          <a:p>
            <a:endParaRPr lang="en-US" dirty="0"/>
          </a:p>
          <a:p>
            <a:r>
              <a:rPr lang="en-US" dirty="0"/>
              <a:t>Authentication asks:</a:t>
            </a:r>
          </a:p>
          <a:p>
            <a:endParaRPr lang="en-US" dirty="0"/>
          </a:p>
          <a:p>
            <a:r>
              <a:rPr lang="en-US" dirty="0"/>
              <a:t>"Who are you?"</a:t>
            </a:r>
          </a:p>
          <a:p>
            <a:endParaRPr lang="en-US" dirty="0"/>
          </a:p>
          <a:p>
            <a:r>
              <a:rPr lang="en-US" dirty="0"/>
              <a:t>Authorization asks:</a:t>
            </a:r>
          </a:p>
          <a:p>
            <a:endParaRPr lang="en-US" dirty="0"/>
          </a:p>
          <a:p>
            <a:r>
              <a:rPr lang="en-US" dirty="0"/>
              <a:t>"What are you allowed to do?"</a:t>
            </a:r>
          </a:p>
          <a:p>
            <a:endParaRPr lang="en-US" dirty="0"/>
          </a:p>
          <a:p>
            <a:r>
              <a:rPr lang="en-US" dirty="0"/>
              <a:t>------------------------------------------------------------</a:t>
            </a:r>
          </a:p>
          <a:p>
            <a:endParaRPr lang="en-US" dirty="0"/>
          </a:p>
          <a:p>
            <a:r>
              <a:rPr lang="en-US" dirty="0"/>
              <a:t>THE SIMPLEST EXAMPLE</a:t>
            </a:r>
          </a:p>
          <a:p>
            <a:endParaRPr lang="en-US" dirty="0"/>
          </a:p>
          <a:p>
            <a:r>
              <a:rPr lang="en-US" dirty="0"/>
              <a:t>Use a school building.</a:t>
            </a:r>
          </a:p>
          <a:p>
            <a:endParaRPr lang="en-US" dirty="0"/>
          </a:p>
          <a:p>
            <a:r>
              <a:rPr lang="en-US" dirty="0"/>
              <a:t>Ask:</a:t>
            </a:r>
          </a:p>
          <a:p>
            <a:endParaRPr lang="en-US" dirty="0"/>
          </a:p>
          <a:p>
            <a:r>
              <a:rPr lang="en-US" dirty="0"/>
              <a:t>"If I know you're a student..."</a:t>
            </a:r>
          </a:p>
          <a:p>
            <a:endParaRPr lang="en-US" dirty="0"/>
          </a:p>
          <a:p>
            <a:r>
              <a:rPr lang="en-US" dirty="0"/>
              <a:t>"Does that mean you can walk into the faculty office?"</a:t>
            </a:r>
          </a:p>
          <a:p>
            <a:endParaRPr lang="en-US" dirty="0"/>
          </a:p>
          <a:p>
            <a:r>
              <a:rPr lang="en-US" dirty="0"/>
              <a:t>Students:</a:t>
            </a:r>
          </a:p>
          <a:p>
            <a:endParaRPr lang="en-US" dirty="0"/>
          </a:p>
          <a:p>
            <a:r>
              <a:rPr lang="en-US" dirty="0"/>
              <a:t>"No."</a:t>
            </a:r>
          </a:p>
          <a:p>
            <a:endParaRPr lang="en-US" dirty="0"/>
          </a:p>
          <a:p>
            <a:r>
              <a:rPr lang="en-US" dirty="0"/>
              <a:t>Explain:</a:t>
            </a:r>
          </a:p>
          <a:p>
            <a:endParaRPr lang="en-US" dirty="0"/>
          </a:p>
          <a:p>
            <a:r>
              <a:rPr lang="en-US" dirty="0"/>
              <a:t>"The system knows who you are."</a:t>
            </a:r>
          </a:p>
          <a:p>
            <a:endParaRPr lang="en-US" dirty="0"/>
          </a:p>
          <a:p>
            <a:r>
              <a:rPr lang="en-US" dirty="0"/>
              <a:t>"But it still has to decide what you're allowed to access."</a:t>
            </a:r>
          </a:p>
          <a:p>
            <a:endParaRPr lang="en-US" dirty="0"/>
          </a:p>
          <a:p>
            <a:r>
              <a:rPr lang="en-US" dirty="0"/>
              <a:t>That's authorization.</a:t>
            </a:r>
          </a:p>
          <a:p>
            <a:endParaRPr lang="en-US" dirty="0"/>
          </a:p>
          <a:p>
            <a:r>
              <a:rPr lang="en-US" dirty="0"/>
              <a:t>------------------------------------------------------------</a:t>
            </a:r>
          </a:p>
          <a:p>
            <a:endParaRPr lang="en-US" dirty="0"/>
          </a:p>
          <a:p>
            <a:r>
              <a:rPr lang="en-US" dirty="0"/>
              <a:t>AUTHENTICATION VS AUTHORIZATION</a:t>
            </a:r>
          </a:p>
          <a:p>
            <a:endParaRPr lang="en-US" dirty="0"/>
          </a:p>
          <a:p>
            <a:r>
              <a:rPr lang="en-US" dirty="0"/>
              <a:t>Write on the board:</a:t>
            </a:r>
          </a:p>
          <a:p>
            <a:endParaRPr lang="en-US" dirty="0"/>
          </a:p>
          <a:p>
            <a:r>
              <a:rPr lang="en-US" dirty="0"/>
              <a:t>AUTHENTICATION</a:t>
            </a:r>
          </a:p>
          <a:p>
            <a:r>
              <a:rPr lang="en-US" dirty="0"/>
              <a:t>= WHO?</a:t>
            </a:r>
          </a:p>
          <a:p>
            <a:endParaRPr lang="en-US" dirty="0"/>
          </a:p>
          <a:p>
            <a:r>
              <a:rPr lang="en-US" dirty="0"/>
              <a:t>AUTHORIZATION</a:t>
            </a:r>
          </a:p>
          <a:p>
            <a:r>
              <a:rPr lang="en-US" dirty="0"/>
              <a:t>= WHAT?</a:t>
            </a:r>
          </a:p>
          <a:p>
            <a:endParaRPr lang="en-US" dirty="0"/>
          </a:p>
          <a:p>
            <a:r>
              <a:rPr lang="en-US" dirty="0"/>
              <a:t>Then:</a:t>
            </a:r>
          </a:p>
          <a:p>
            <a:endParaRPr lang="en-US" dirty="0"/>
          </a:p>
          <a:p>
            <a:r>
              <a:rPr lang="en-US" dirty="0"/>
              <a:t>WHO ARE YOU?</a:t>
            </a:r>
          </a:p>
          <a:p>
            <a:endParaRPr lang="en-US" dirty="0"/>
          </a:p>
          <a:p>
            <a:r>
              <a:rPr lang="en-US" dirty="0"/>
              <a:t>↓</a:t>
            </a:r>
          </a:p>
          <a:p>
            <a:endParaRPr lang="en-US" dirty="0"/>
          </a:p>
          <a:p>
            <a:r>
              <a:rPr lang="en-US" dirty="0"/>
              <a:t>WHAT CAN YOU DO?</a:t>
            </a:r>
          </a:p>
          <a:p>
            <a:endParaRPr lang="en-US" dirty="0"/>
          </a:p>
          <a:p>
            <a:r>
              <a:rPr lang="en-US" dirty="0"/>
              <a:t>Say:</a:t>
            </a:r>
          </a:p>
          <a:p>
            <a:endParaRPr lang="en-US" dirty="0"/>
          </a:p>
          <a:p>
            <a:r>
              <a:rPr lang="en-US" dirty="0"/>
              <a:t>"Keep those two questions separate."</a:t>
            </a:r>
          </a:p>
          <a:p>
            <a:endParaRPr lang="en-US" dirty="0"/>
          </a:p>
          <a:p>
            <a:r>
              <a:rPr lang="en-US" dirty="0"/>
              <a:t>This distinction should become automatic.</a:t>
            </a:r>
          </a:p>
          <a:p>
            <a:endParaRPr lang="en-US" dirty="0"/>
          </a:p>
          <a:p>
            <a:r>
              <a:rPr lang="en-US" dirty="0"/>
              <a:t>------------------------------------------------------------</a:t>
            </a:r>
          </a:p>
          <a:p>
            <a:endParaRPr lang="en-US" dirty="0"/>
          </a:p>
          <a:p>
            <a:r>
              <a:rPr lang="en-US" dirty="0"/>
              <a:t>THE ATLAS EXAMPLE</a:t>
            </a:r>
          </a:p>
          <a:p>
            <a:endParaRPr lang="en-US" dirty="0"/>
          </a:p>
          <a:p>
            <a:r>
              <a:rPr lang="en-US" dirty="0"/>
              <a:t>Imagine three users:</a:t>
            </a:r>
          </a:p>
          <a:p>
            <a:endParaRPr lang="en-US" dirty="0"/>
          </a:p>
          <a:p>
            <a:r>
              <a:rPr lang="en-US" dirty="0"/>
              <a:t>Alex</a:t>
            </a:r>
          </a:p>
          <a:p>
            <a:endParaRPr lang="en-US" dirty="0"/>
          </a:p>
          <a:p>
            <a:r>
              <a:rPr lang="en-US" dirty="0"/>
              <a:t>Taylor</a:t>
            </a:r>
          </a:p>
          <a:p>
            <a:endParaRPr lang="en-US" dirty="0"/>
          </a:p>
          <a:p>
            <a:r>
              <a:rPr lang="en-US" dirty="0"/>
              <a:t>Jordan</a:t>
            </a:r>
          </a:p>
          <a:p>
            <a:endParaRPr lang="en-US" dirty="0"/>
          </a:p>
          <a:p>
            <a:r>
              <a:rPr lang="en-US" dirty="0"/>
              <a:t>They can all successfully log into Atlas.</a:t>
            </a:r>
          </a:p>
          <a:p>
            <a:endParaRPr lang="en-US" dirty="0"/>
          </a:p>
          <a:p>
            <a:r>
              <a:rPr lang="en-US" dirty="0"/>
              <a:t>Authentication:</a:t>
            </a:r>
          </a:p>
          <a:p>
            <a:endParaRPr lang="en-US" dirty="0"/>
          </a:p>
          <a:p>
            <a:r>
              <a:rPr lang="en-US" dirty="0"/>
              <a:t>✓ Alex is Alex.</a:t>
            </a:r>
          </a:p>
          <a:p>
            <a:endParaRPr lang="en-US" dirty="0"/>
          </a:p>
          <a:p>
            <a:r>
              <a:rPr lang="en-US" dirty="0"/>
              <a:t>✓ Taylor is Taylor.</a:t>
            </a:r>
          </a:p>
          <a:p>
            <a:endParaRPr lang="en-US" dirty="0"/>
          </a:p>
          <a:p>
            <a:r>
              <a:rPr lang="en-US" dirty="0"/>
              <a:t>✓ Jordan is Jordan.</a:t>
            </a:r>
          </a:p>
          <a:p>
            <a:endParaRPr lang="en-US" dirty="0"/>
          </a:p>
          <a:p>
            <a:r>
              <a:rPr lang="en-US" dirty="0"/>
              <a:t>But their permissions may be different.</a:t>
            </a:r>
          </a:p>
          <a:p>
            <a:endParaRPr lang="en-US" dirty="0"/>
          </a:p>
          <a:p>
            <a:r>
              <a:rPr lang="en-US" dirty="0"/>
              <a:t>For example:</a:t>
            </a:r>
          </a:p>
          <a:p>
            <a:endParaRPr lang="en-US" dirty="0"/>
          </a:p>
          <a:p>
            <a:r>
              <a:rPr lang="en-US" dirty="0"/>
              <a:t>Admin</a:t>
            </a:r>
          </a:p>
          <a:p>
            <a:endParaRPr lang="en-US" dirty="0"/>
          </a:p>
          <a:p>
            <a:r>
              <a:rPr lang="en-US" dirty="0"/>
              <a:t>Manager</a:t>
            </a:r>
          </a:p>
          <a:p>
            <a:endParaRPr lang="en-US" dirty="0"/>
          </a:p>
          <a:p>
            <a:r>
              <a:rPr lang="en-US" dirty="0"/>
              <a:t>Team Member</a:t>
            </a:r>
          </a:p>
          <a:p>
            <a:endParaRPr lang="en-US" dirty="0"/>
          </a:p>
          <a:p>
            <a:r>
              <a:rPr lang="en-US" dirty="0"/>
              <a:t>Viewer</a:t>
            </a:r>
          </a:p>
          <a:p>
            <a:endParaRPr lang="en-US" dirty="0"/>
          </a:p>
          <a:p>
            <a:r>
              <a:rPr lang="en-US" dirty="0"/>
              <a:t>Explain:</a:t>
            </a:r>
          </a:p>
          <a:p>
            <a:endParaRPr lang="en-US" dirty="0"/>
          </a:p>
          <a:p>
            <a:r>
              <a:rPr lang="en-US" dirty="0"/>
              <a:t>"Authentication tells us who they are."</a:t>
            </a:r>
          </a:p>
          <a:p>
            <a:endParaRPr lang="en-US" dirty="0"/>
          </a:p>
          <a:p>
            <a:r>
              <a:rPr lang="en-US" dirty="0"/>
              <a:t>"Authorization tells us what their account allows."</a:t>
            </a:r>
          </a:p>
          <a:p>
            <a:endParaRPr lang="en-US" dirty="0"/>
          </a:p>
          <a:p>
            <a:r>
              <a:rPr lang="en-US" dirty="0"/>
              <a:t>------------------------------------------------------------</a:t>
            </a:r>
          </a:p>
          <a:p>
            <a:endParaRPr lang="en-US" dirty="0"/>
          </a:p>
          <a:p>
            <a:r>
              <a:rPr lang="en-US" dirty="0"/>
              <a:t>WHAT IS A ROLE?</a:t>
            </a:r>
          </a:p>
          <a:p>
            <a:endParaRPr lang="en-US" dirty="0"/>
          </a:p>
          <a:p>
            <a:r>
              <a:rPr lang="en-US" dirty="0"/>
              <a:t>Point to:</a:t>
            </a:r>
          </a:p>
          <a:p>
            <a:endParaRPr lang="en-US" dirty="0"/>
          </a:p>
          <a:p>
            <a:r>
              <a:rPr lang="en-US" dirty="0"/>
              <a:t>ROLE</a:t>
            </a:r>
          </a:p>
          <a:p>
            <a:endParaRPr lang="en-US" dirty="0"/>
          </a:p>
          <a:p>
            <a:r>
              <a:rPr lang="en-US" dirty="0"/>
              <a:t>Explain:</a:t>
            </a:r>
          </a:p>
          <a:p>
            <a:endParaRPr lang="en-US" dirty="0"/>
          </a:p>
          <a:p>
            <a:r>
              <a:rPr lang="en-US" dirty="0"/>
              <a:t>"A role is a collection of permissions."</a:t>
            </a:r>
          </a:p>
          <a:p>
            <a:endParaRPr lang="en-US" dirty="0"/>
          </a:p>
          <a:p>
            <a:r>
              <a:rPr lang="en-US" dirty="0"/>
              <a:t>Examples:</a:t>
            </a:r>
          </a:p>
          <a:p>
            <a:endParaRPr lang="en-US" dirty="0"/>
          </a:p>
          <a:p>
            <a:r>
              <a:rPr lang="en-US" dirty="0"/>
              <a:t>Admin.</a:t>
            </a:r>
          </a:p>
          <a:p>
            <a:endParaRPr lang="en-US" dirty="0"/>
          </a:p>
          <a:p>
            <a:r>
              <a:rPr lang="en-US" dirty="0"/>
              <a:t>Manager.</a:t>
            </a:r>
          </a:p>
          <a:p>
            <a:endParaRPr lang="en-US" dirty="0"/>
          </a:p>
          <a:p>
            <a:r>
              <a:rPr lang="en-US" dirty="0"/>
              <a:t>Team Member.</a:t>
            </a:r>
          </a:p>
          <a:p>
            <a:endParaRPr lang="en-US" dirty="0"/>
          </a:p>
          <a:p>
            <a:r>
              <a:rPr lang="en-US" dirty="0"/>
              <a:t>Viewer.</a:t>
            </a:r>
          </a:p>
          <a:p>
            <a:endParaRPr lang="en-US" dirty="0"/>
          </a:p>
          <a:p>
            <a:r>
              <a:rPr lang="en-US" dirty="0"/>
              <a:t>Then explain:</a:t>
            </a:r>
          </a:p>
          <a:p>
            <a:endParaRPr lang="en-US" dirty="0"/>
          </a:p>
          <a:p>
            <a:r>
              <a:rPr lang="en-US" dirty="0"/>
              <a:t>"We can assign users roles."</a:t>
            </a:r>
          </a:p>
          <a:p>
            <a:endParaRPr lang="en-US" dirty="0"/>
          </a:p>
          <a:p>
            <a:r>
              <a:rPr lang="en-US" dirty="0"/>
              <a:t>"The role helps determine what they are allowed to do."</a:t>
            </a:r>
          </a:p>
          <a:p>
            <a:endParaRPr lang="en-US" dirty="0"/>
          </a:p>
          <a:p>
            <a:r>
              <a:rPr lang="en-US" dirty="0"/>
              <a:t>------------------------------------------------------------</a:t>
            </a:r>
          </a:p>
          <a:p>
            <a:endParaRPr lang="en-US" dirty="0"/>
          </a:p>
          <a:p>
            <a:r>
              <a:rPr lang="en-US" dirty="0"/>
              <a:t>ROLE EXAMPLE</a:t>
            </a:r>
          </a:p>
          <a:p>
            <a:endParaRPr lang="en-US" dirty="0"/>
          </a:p>
          <a:p>
            <a:r>
              <a:rPr lang="en-US" dirty="0"/>
              <a:t>Use Atlas.</a:t>
            </a:r>
          </a:p>
          <a:p>
            <a:endParaRPr lang="en-US" dirty="0"/>
          </a:p>
          <a:p>
            <a:r>
              <a:rPr lang="en-US" dirty="0"/>
              <a:t>ADMIN:</a:t>
            </a:r>
          </a:p>
          <a:p>
            <a:endParaRPr lang="en-US" dirty="0"/>
          </a:p>
          <a:p>
            <a:r>
              <a:rPr lang="en-US" dirty="0"/>
              <a:t>Manage users.</a:t>
            </a:r>
          </a:p>
          <a:p>
            <a:endParaRPr lang="en-US" dirty="0"/>
          </a:p>
          <a:p>
            <a:r>
              <a:rPr lang="en-US" dirty="0"/>
              <a:t>Create projects.</a:t>
            </a:r>
          </a:p>
          <a:p>
            <a:endParaRPr lang="en-US" dirty="0"/>
          </a:p>
          <a:p>
            <a:r>
              <a:rPr lang="en-US" dirty="0"/>
              <a:t>Edit projects.</a:t>
            </a:r>
          </a:p>
          <a:p>
            <a:endParaRPr lang="en-US" dirty="0"/>
          </a:p>
          <a:p>
            <a:r>
              <a:rPr lang="en-US" dirty="0"/>
              <a:t>Delete projects.</a:t>
            </a:r>
          </a:p>
          <a:p>
            <a:endParaRPr lang="en-US" dirty="0"/>
          </a:p>
          <a:p>
            <a:r>
              <a:rPr lang="en-US" dirty="0"/>
              <a:t>MANAGER:</a:t>
            </a:r>
          </a:p>
          <a:p>
            <a:endParaRPr lang="en-US" dirty="0"/>
          </a:p>
          <a:p>
            <a:r>
              <a:rPr lang="en-US" dirty="0"/>
              <a:t>Create projects.</a:t>
            </a:r>
          </a:p>
          <a:p>
            <a:endParaRPr lang="en-US" dirty="0"/>
          </a:p>
          <a:p>
            <a:r>
              <a:rPr lang="en-US" dirty="0"/>
              <a:t>Edit projects.</a:t>
            </a:r>
          </a:p>
          <a:p>
            <a:endParaRPr lang="en-US" dirty="0"/>
          </a:p>
          <a:p>
            <a:r>
              <a:rPr lang="en-US" dirty="0"/>
              <a:t>Manage team tasks.</a:t>
            </a:r>
          </a:p>
          <a:p>
            <a:endParaRPr lang="en-US" dirty="0"/>
          </a:p>
          <a:p>
            <a:r>
              <a:rPr lang="en-US" dirty="0"/>
              <a:t>TEAM MEMBER:</a:t>
            </a:r>
          </a:p>
          <a:p>
            <a:endParaRPr lang="en-US" dirty="0"/>
          </a:p>
          <a:p>
            <a:r>
              <a:rPr lang="en-US" dirty="0"/>
              <a:t>Create tasks.</a:t>
            </a:r>
          </a:p>
          <a:p>
            <a:endParaRPr lang="en-US" dirty="0"/>
          </a:p>
          <a:p>
            <a:r>
              <a:rPr lang="en-US" dirty="0"/>
              <a:t>Edit assigned tasks.</a:t>
            </a:r>
          </a:p>
          <a:p>
            <a:endParaRPr lang="en-US" dirty="0"/>
          </a:p>
          <a:p>
            <a:r>
              <a:rPr lang="en-US" dirty="0"/>
              <a:t>VIEWER:</a:t>
            </a:r>
          </a:p>
          <a:p>
            <a:endParaRPr lang="en-US" dirty="0"/>
          </a:p>
          <a:p>
            <a:r>
              <a:rPr lang="en-US" dirty="0"/>
              <a:t>View information.</a:t>
            </a:r>
          </a:p>
          <a:p>
            <a:endParaRPr lang="en-US" dirty="0"/>
          </a:p>
          <a:p>
            <a:r>
              <a:rPr lang="en-US" dirty="0"/>
              <a:t>Explain:</a:t>
            </a:r>
          </a:p>
          <a:p>
            <a:endParaRPr lang="en-US" dirty="0"/>
          </a:p>
          <a:p>
            <a:r>
              <a:rPr lang="en-US" dirty="0"/>
              <a:t>"The exact roles are determined by the requirements of the application."</a:t>
            </a:r>
          </a:p>
          <a:p>
            <a:endParaRPr lang="en-US" dirty="0"/>
          </a:p>
          <a:p>
            <a:r>
              <a:rPr lang="en-US" dirty="0"/>
              <a:t>"We're using these as examples."</a:t>
            </a:r>
          </a:p>
          <a:p>
            <a:endParaRPr lang="en-US" dirty="0"/>
          </a:p>
          <a:p>
            <a:r>
              <a:rPr lang="en-US" dirty="0"/>
              <a:t>------------------------------------------------------------</a:t>
            </a:r>
          </a:p>
          <a:p>
            <a:endParaRPr lang="en-US" dirty="0"/>
          </a:p>
          <a:p>
            <a:r>
              <a:rPr lang="en-US" dirty="0"/>
              <a:t>WHAT IS A PERMISSION?</a:t>
            </a:r>
          </a:p>
          <a:p>
            <a:endParaRPr lang="en-US" dirty="0"/>
          </a:p>
          <a:p>
            <a:r>
              <a:rPr lang="en-US" dirty="0"/>
              <a:t>Point to:</a:t>
            </a:r>
          </a:p>
          <a:p>
            <a:endParaRPr lang="en-US" dirty="0"/>
          </a:p>
          <a:p>
            <a:r>
              <a:rPr lang="en-US" dirty="0"/>
              <a:t>PERMISSION</a:t>
            </a:r>
          </a:p>
          <a:p>
            <a:endParaRPr lang="en-US" dirty="0"/>
          </a:p>
          <a:p>
            <a:r>
              <a:rPr lang="en-US" dirty="0"/>
              <a:t>Explain:</a:t>
            </a:r>
          </a:p>
          <a:p>
            <a:endParaRPr lang="en-US" dirty="0"/>
          </a:p>
          <a:p>
            <a:r>
              <a:rPr lang="en-US" dirty="0"/>
              <a:t>"A permission is a specific action a user is allowed to perform."</a:t>
            </a:r>
          </a:p>
          <a:p>
            <a:endParaRPr lang="en-US" dirty="0"/>
          </a:p>
          <a:p>
            <a:r>
              <a:rPr lang="en-US" dirty="0"/>
              <a:t>Examples:</a:t>
            </a:r>
          </a:p>
          <a:p>
            <a:endParaRPr lang="en-US" dirty="0"/>
          </a:p>
          <a:p>
            <a:r>
              <a:rPr lang="en-US" dirty="0"/>
              <a:t>Create Task.</a:t>
            </a:r>
          </a:p>
          <a:p>
            <a:endParaRPr lang="en-US" dirty="0"/>
          </a:p>
          <a:p>
            <a:r>
              <a:rPr lang="en-US" dirty="0"/>
              <a:t>Edit Task.</a:t>
            </a:r>
          </a:p>
          <a:p>
            <a:endParaRPr lang="en-US" dirty="0"/>
          </a:p>
          <a:p>
            <a:r>
              <a:rPr lang="en-US" dirty="0"/>
              <a:t>Delete Task.</a:t>
            </a:r>
          </a:p>
          <a:p>
            <a:endParaRPr lang="en-US" dirty="0"/>
          </a:p>
          <a:p>
            <a:r>
              <a:rPr lang="en-US" dirty="0"/>
              <a:t>Create Project.</a:t>
            </a:r>
          </a:p>
          <a:p>
            <a:endParaRPr lang="en-US" dirty="0"/>
          </a:p>
          <a:p>
            <a:r>
              <a:rPr lang="en-US" dirty="0"/>
              <a:t>View Project.</a:t>
            </a:r>
          </a:p>
          <a:p>
            <a:endParaRPr lang="en-US" dirty="0"/>
          </a:p>
          <a:p>
            <a:r>
              <a:rPr lang="en-US" dirty="0"/>
              <a:t>Manage Users.</a:t>
            </a:r>
          </a:p>
          <a:p>
            <a:endParaRPr lang="en-US" dirty="0"/>
          </a:p>
          <a:p>
            <a:r>
              <a:rPr lang="en-US" dirty="0"/>
              <a:t>Say:</a:t>
            </a:r>
          </a:p>
          <a:p>
            <a:endParaRPr lang="en-US" dirty="0"/>
          </a:p>
          <a:p>
            <a:r>
              <a:rPr lang="en-US" dirty="0"/>
              <a:t>"Roles group permissions together."</a:t>
            </a:r>
          </a:p>
          <a:p>
            <a:endParaRPr lang="en-US" dirty="0"/>
          </a:p>
          <a:p>
            <a:r>
              <a:rPr lang="en-US" dirty="0"/>
              <a:t>------------------------------------------------------------</a:t>
            </a:r>
          </a:p>
          <a:p>
            <a:endParaRPr lang="en-US" dirty="0"/>
          </a:p>
          <a:p>
            <a:r>
              <a:rPr lang="en-US" dirty="0"/>
              <a:t>ROLE → PERMISSIONS</a:t>
            </a:r>
          </a:p>
          <a:p>
            <a:endParaRPr lang="en-US" dirty="0"/>
          </a:p>
          <a:p>
            <a:r>
              <a:rPr lang="en-US" dirty="0"/>
              <a:t>Draw:</a:t>
            </a:r>
          </a:p>
          <a:p>
            <a:endParaRPr lang="en-US" dirty="0"/>
          </a:p>
          <a:p>
            <a:r>
              <a:rPr lang="en-US" dirty="0"/>
              <a:t>USER</a:t>
            </a:r>
          </a:p>
          <a:p>
            <a:endParaRPr lang="en-US" dirty="0"/>
          </a:p>
          <a:p>
            <a:r>
              <a:rPr lang="en-US" dirty="0"/>
              <a:t>↓</a:t>
            </a:r>
          </a:p>
          <a:p>
            <a:endParaRPr lang="en-US" dirty="0"/>
          </a:p>
          <a:p>
            <a:r>
              <a:rPr lang="en-US" dirty="0"/>
              <a:t>ROLE</a:t>
            </a:r>
          </a:p>
          <a:p>
            <a:endParaRPr lang="en-US" dirty="0"/>
          </a:p>
          <a:p>
            <a:r>
              <a:rPr lang="en-US" dirty="0"/>
              <a:t>↓</a:t>
            </a:r>
          </a:p>
          <a:p>
            <a:endParaRPr lang="en-US" dirty="0"/>
          </a:p>
          <a:p>
            <a:r>
              <a:rPr lang="en-US" dirty="0"/>
              <a:t>PERMISSIONS</a:t>
            </a:r>
          </a:p>
          <a:p>
            <a:endParaRPr lang="en-US" dirty="0"/>
          </a:p>
          <a:p>
            <a:r>
              <a:rPr lang="en-US" dirty="0"/>
              <a:t>For example:</a:t>
            </a:r>
          </a:p>
          <a:p>
            <a:endParaRPr lang="en-US" dirty="0"/>
          </a:p>
          <a:p>
            <a:r>
              <a:rPr lang="en-US" dirty="0"/>
              <a:t>Alex</a:t>
            </a:r>
          </a:p>
          <a:p>
            <a:endParaRPr lang="en-US" dirty="0"/>
          </a:p>
          <a:p>
            <a:r>
              <a:rPr lang="en-US" dirty="0"/>
              <a:t>↓</a:t>
            </a:r>
          </a:p>
          <a:p>
            <a:endParaRPr lang="en-US" dirty="0"/>
          </a:p>
          <a:p>
            <a:r>
              <a:rPr lang="en-US" dirty="0"/>
              <a:t>Team Member</a:t>
            </a:r>
          </a:p>
          <a:p>
            <a:endParaRPr lang="en-US" dirty="0"/>
          </a:p>
          <a:p>
            <a:r>
              <a:rPr lang="en-US" dirty="0"/>
              <a:t>↓</a:t>
            </a:r>
          </a:p>
          <a:p>
            <a:endParaRPr lang="en-US" dirty="0"/>
          </a:p>
          <a:p>
            <a:r>
              <a:rPr lang="en-US" dirty="0"/>
              <a:t>Create Tasks</a:t>
            </a:r>
          </a:p>
          <a:p>
            <a:endParaRPr lang="en-US" dirty="0"/>
          </a:p>
          <a:p>
            <a:r>
              <a:rPr lang="en-US" dirty="0"/>
              <a:t>Edit Tasks</a:t>
            </a:r>
          </a:p>
          <a:p>
            <a:endParaRPr lang="en-US" dirty="0"/>
          </a:p>
          <a:p>
            <a:r>
              <a:rPr lang="en-US" dirty="0"/>
              <a:t>View Projects</a:t>
            </a:r>
          </a:p>
          <a:p>
            <a:endParaRPr lang="en-US" dirty="0"/>
          </a:p>
          <a:p>
            <a:r>
              <a:rPr lang="en-US" dirty="0"/>
              <a:t>Explain:</a:t>
            </a:r>
          </a:p>
          <a:p>
            <a:endParaRPr lang="en-US" dirty="0"/>
          </a:p>
          <a:p>
            <a:r>
              <a:rPr lang="en-US" dirty="0"/>
              <a:t>"Alex doesn't need to be individually configured for every action."</a:t>
            </a:r>
          </a:p>
          <a:p>
            <a:endParaRPr lang="en-US" dirty="0"/>
          </a:p>
          <a:p>
            <a:r>
              <a:rPr lang="en-US" dirty="0"/>
              <a:t>"The role gives us a manageable way to organize permissions."</a:t>
            </a:r>
          </a:p>
          <a:p>
            <a:endParaRPr lang="en-US" dirty="0"/>
          </a:p>
          <a:p>
            <a:r>
              <a:rPr lang="en-US" dirty="0"/>
              <a:t>------------------------------------------------------------</a:t>
            </a:r>
          </a:p>
          <a:p>
            <a:endParaRPr lang="en-US" dirty="0"/>
          </a:p>
          <a:p>
            <a:r>
              <a:rPr lang="en-US" dirty="0"/>
              <a:t>BUT ROLES AREN'T EVERYTHING</a:t>
            </a:r>
          </a:p>
          <a:p>
            <a:endParaRPr lang="en-US" dirty="0"/>
          </a:p>
          <a:p>
            <a:r>
              <a:rPr lang="en-US" dirty="0"/>
              <a:t>Point to:</a:t>
            </a:r>
          </a:p>
          <a:p>
            <a:endParaRPr lang="en-US" dirty="0"/>
          </a:p>
          <a:p>
            <a:r>
              <a:rPr lang="en-US" dirty="0"/>
              <a:t>RESOURCE-BASED ACCESS</a:t>
            </a:r>
          </a:p>
          <a:p>
            <a:endParaRPr lang="en-US" dirty="0"/>
          </a:p>
          <a:p>
            <a:r>
              <a:rPr lang="en-US" dirty="0"/>
              <a:t>Explain:</a:t>
            </a:r>
          </a:p>
          <a:p>
            <a:endParaRPr lang="en-US" dirty="0"/>
          </a:p>
          <a:p>
            <a:r>
              <a:rPr lang="en-US" dirty="0"/>
              <a:t>"Sometimes the question isn't simply what role you have."</a:t>
            </a:r>
          </a:p>
          <a:p>
            <a:endParaRPr lang="en-US" dirty="0"/>
          </a:p>
          <a:p>
            <a:r>
              <a:rPr lang="en-US" dirty="0"/>
              <a:t>"It's about what resource you're trying to access."</a:t>
            </a:r>
          </a:p>
          <a:p>
            <a:endParaRPr lang="en-US" dirty="0"/>
          </a:p>
          <a:p>
            <a:r>
              <a:rPr lang="en-US" dirty="0"/>
              <a:t>Example:</a:t>
            </a:r>
          </a:p>
          <a:p>
            <a:endParaRPr lang="en-US" dirty="0"/>
          </a:p>
          <a:p>
            <a:r>
              <a:rPr lang="en-US" dirty="0"/>
              <a:t>Taylor owns Project A.</a:t>
            </a:r>
          </a:p>
          <a:p>
            <a:endParaRPr lang="en-US" dirty="0"/>
          </a:p>
          <a:p>
            <a:r>
              <a:rPr lang="en-US" dirty="0"/>
              <a:t>Alex owns Project B.</a:t>
            </a:r>
          </a:p>
          <a:p>
            <a:endParaRPr lang="en-US" dirty="0"/>
          </a:p>
          <a:p>
            <a:r>
              <a:rPr lang="en-US" dirty="0"/>
              <a:t>Both are Team Members.</a:t>
            </a:r>
          </a:p>
          <a:p>
            <a:endParaRPr lang="en-US" dirty="0"/>
          </a:p>
          <a:p>
            <a:r>
              <a:rPr lang="en-US" dirty="0"/>
              <a:t>Should Alex automatically be able to edit Taylor's project?</a:t>
            </a:r>
          </a:p>
          <a:p>
            <a:endParaRPr lang="en-US" dirty="0"/>
          </a:p>
          <a:p>
            <a:r>
              <a:rPr lang="en-US" dirty="0"/>
              <a:t>No.</a:t>
            </a:r>
          </a:p>
          <a:p>
            <a:endParaRPr lang="en-US" dirty="0"/>
          </a:p>
          <a:p>
            <a:r>
              <a:rPr lang="en-US" dirty="0"/>
              <a:t>Why?</a:t>
            </a:r>
          </a:p>
          <a:p>
            <a:endParaRPr lang="en-US" dirty="0"/>
          </a:p>
          <a:p>
            <a:r>
              <a:rPr lang="en-US" dirty="0"/>
              <a:t>"Because ownership matters."</a:t>
            </a:r>
          </a:p>
          <a:p>
            <a:endParaRPr lang="en-US" dirty="0"/>
          </a:p>
          <a:p>
            <a:r>
              <a:rPr lang="en-US" dirty="0"/>
              <a:t>------------------------------------------------------------</a:t>
            </a:r>
          </a:p>
          <a:p>
            <a:endParaRPr lang="en-US" dirty="0"/>
          </a:p>
          <a:p>
            <a:r>
              <a:rPr lang="en-US" dirty="0"/>
              <a:t>OWNERSHIP</a:t>
            </a:r>
          </a:p>
          <a:p>
            <a:endParaRPr lang="en-US" dirty="0"/>
          </a:p>
          <a:p>
            <a:r>
              <a:rPr lang="en-US" dirty="0"/>
              <a:t>Use the Atlas example:</a:t>
            </a:r>
          </a:p>
          <a:p>
            <a:endParaRPr lang="en-US" dirty="0"/>
          </a:p>
          <a:p>
            <a:r>
              <a:rPr lang="en-US" dirty="0"/>
              <a:t>PROJECT</a:t>
            </a:r>
          </a:p>
          <a:p>
            <a:endParaRPr lang="en-US" dirty="0"/>
          </a:p>
          <a:p>
            <a:r>
              <a:rPr lang="en-US" dirty="0"/>
              <a:t>Owner:</a:t>
            </a:r>
          </a:p>
          <a:p>
            <a:endParaRPr lang="en-US" dirty="0"/>
          </a:p>
          <a:p>
            <a:r>
              <a:rPr lang="en-US" dirty="0"/>
              <a:t>Taylor</a:t>
            </a:r>
          </a:p>
          <a:p>
            <a:endParaRPr lang="en-US" dirty="0"/>
          </a:p>
          <a:p>
            <a:r>
              <a:rPr lang="en-US" dirty="0"/>
              <a:t>Tasks:</a:t>
            </a:r>
          </a:p>
          <a:p>
            <a:endParaRPr lang="en-US" dirty="0"/>
          </a:p>
          <a:p>
            <a:r>
              <a:rPr lang="en-US" dirty="0"/>
              <a:t>Task 1</a:t>
            </a:r>
          </a:p>
          <a:p>
            <a:endParaRPr lang="en-US" dirty="0"/>
          </a:p>
          <a:p>
            <a:r>
              <a:rPr lang="en-US" dirty="0"/>
              <a:t>Task 2</a:t>
            </a:r>
          </a:p>
          <a:p>
            <a:endParaRPr lang="en-US" dirty="0"/>
          </a:p>
          <a:p>
            <a:r>
              <a:rPr lang="en-US" dirty="0"/>
              <a:t>Task 3</a:t>
            </a:r>
          </a:p>
          <a:p>
            <a:endParaRPr lang="en-US" dirty="0"/>
          </a:p>
          <a:p>
            <a:r>
              <a:rPr lang="en-US" dirty="0"/>
              <a:t>Explain:</a:t>
            </a:r>
          </a:p>
          <a:p>
            <a:endParaRPr lang="en-US" dirty="0"/>
          </a:p>
          <a:p>
            <a:r>
              <a:rPr lang="en-US" dirty="0"/>
              <a:t>"Taylor may be allowed to manage this project because Taylor owns it."</a:t>
            </a:r>
          </a:p>
          <a:p>
            <a:endParaRPr lang="en-US" dirty="0"/>
          </a:p>
          <a:p>
            <a:r>
              <a:rPr lang="en-US" dirty="0"/>
              <a:t>"Alex may not."</a:t>
            </a:r>
          </a:p>
          <a:p>
            <a:endParaRPr lang="en-US" dirty="0"/>
          </a:p>
          <a:p>
            <a:r>
              <a:rPr lang="en-US" dirty="0"/>
              <a:t>This is called:</a:t>
            </a:r>
          </a:p>
          <a:p>
            <a:endParaRPr lang="en-US" dirty="0"/>
          </a:p>
          <a:p>
            <a:r>
              <a:rPr lang="en-US" dirty="0"/>
              <a:t>RESOURCE-BASED AUTHORIZATION.</a:t>
            </a:r>
          </a:p>
          <a:p>
            <a:endParaRPr lang="en-US" dirty="0"/>
          </a:p>
          <a:p>
            <a:r>
              <a:rPr lang="en-US" dirty="0"/>
              <a:t>Keep the terminology secondary.</a:t>
            </a:r>
          </a:p>
          <a:p>
            <a:endParaRPr lang="en-US" dirty="0"/>
          </a:p>
          <a:p>
            <a:r>
              <a:rPr lang="en-US" dirty="0"/>
              <a:t>The important idea is:</a:t>
            </a:r>
          </a:p>
          <a:p>
            <a:endParaRPr lang="en-US" dirty="0"/>
          </a:p>
          <a:p>
            <a:r>
              <a:rPr lang="en-US" dirty="0"/>
              <a:t>"Who owns the thing?"</a:t>
            </a:r>
          </a:p>
          <a:p>
            <a:endParaRPr lang="en-US" dirty="0"/>
          </a:p>
          <a:p>
            <a:r>
              <a:rPr lang="en-US" dirty="0"/>
              <a:t>------------------------------------------------------------</a:t>
            </a:r>
          </a:p>
          <a:p>
            <a:endParaRPr lang="en-US" dirty="0"/>
          </a:p>
          <a:p>
            <a:r>
              <a:rPr lang="en-US" dirty="0"/>
              <a:t>THE TWO QUESTIONS</a:t>
            </a:r>
          </a:p>
          <a:p>
            <a:endParaRPr lang="en-US" dirty="0"/>
          </a:p>
          <a:p>
            <a:r>
              <a:rPr lang="en-US" dirty="0"/>
              <a:t>For every protected resource, we can ask:</a:t>
            </a:r>
          </a:p>
          <a:p>
            <a:endParaRPr lang="en-US" dirty="0"/>
          </a:p>
          <a:p>
            <a:r>
              <a:rPr lang="en-US" dirty="0"/>
              <a:t>1. Who is the user?</a:t>
            </a:r>
          </a:p>
          <a:p>
            <a:endParaRPr lang="en-US" dirty="0"/>
          </a:p>
          <a:p>
            <a:r>
              <a:rPr lang="en-US" dirty="0"/>
              <a:t>2. Are they allowed to access this resource?</a:t>
            </a:r>
          </a:p>
          <a:p>
            <a:endParaRPr lang="en-US" dirty="0"/>
          </a:p>
          <a:p>
            <a:r>
              <a:rPr lang="en-US" dirty="0"/>
              <a:t>Example:</a:t>
            </a:r>
          </a:p>
          <a:p>
            <a:endParaRPr lang="en-US" dirty="0"/>
          </a:p>
          <a:p>
            <a:r>
              <a:rPr lang="en-US" dirty="0"/>
              <a:t>User:</a:t>
            </a:r>
          </a:p>
          <a:p>
            <a:endParaRPr lang="en-US" dirty="0"/>
          </a:p>
          <a:p>
            <a:r>
              <a:rPr lang="en-US" dirty="0"/>
              <a:t>Alex</a:t>
            </a:r>
          </a:p>
          <a:p>
            <a:endParaRPr lang="en-US" dirty="0"/>
          </a:p>
          <a:p>
            <a:r>
              <a:rPr lang="en-US" dirty="0"/>
              <a:t>Resource:</a:t>
            </a:r>
          </a:p>
          <a:p>
            <a:endParaRPr lang="en-US" dirty="0"/>
          </a:p>
          <a:p>
            <a:r>
              <a:rPr lang="en-US" dirty="0"/>
              <a:t>Taylor's Project</a:t>
            </a:r>
          </a:p>
          <a:p>
            <a:endParaRPr lang="en-US" dirty="0"/>
          </a:p>
          <a:p>
            <a:r>
              <a:rPr lang="en-US" dirty="0"/>
              <a:t>Authentication:</a:t>
            </a:r>
          </a:p>
          <a:p>
            <a:endParaRPr lang="en-US" dirty="0"/>
          </a:p>
          <a:p>
            <a:r>
              <a:rPr lang="en-US" dirty="0"/>
              <a:t>✓ Alex is authenticated.</a:t>
            </a:r>
          </a:p>
          <a:p>
            <a:endParaRPr lang="en-US" dirty="0"/>
          </a:p>
          <a:p>
            <a:r>
              <a:rPr lang="en-US" dirty="0"/>
              <a:t>Authorization:</a:t>
            </a:r>
          </a:p>
          <a:p>
            <a:endParaRPr lang="en-US" dirty="0"/>
          </a:p>
          <a:p>
            <a:r>
              <a:rPr lang="en-US" dirty="0"/>
              <a:t>✗ Alex is not allowed to access Taylor's private project.</a:t>
            </a:r>
          </a:p>
          <a:p>
            <a:endParaRPr lang="en-US" dirty="0"/>
          </a:p>
          <a:p>
            <a:r>
              <a:rPr lang="en-US" dirty="0"/>
              <a:t>Therefore:</a:t>
            </a:r>
          </a:p>
          <a:p>
            <a:endParaRPr lang="en-US" dirty="0"/>
          </a:p>
          <a:p>
            <a:r>
              <a:rPr lang="en-US" dirty="0"/>
              <a:t>ACCESS DENIED.</a:t>
            </a:r>
          </a:p>
          <a:p>
            <a:endParaRPr lang="en-US" dirty="0"/>
          </a:p>
          <a:p>
            <a:r>
              <a:rPr lang="en-US" dirty="0"/>
              <a:t>------------------------------------------------------------</a:t>
            </a:r>
          </a:p>
          <a:p>
            <a:endParaRPr lang="en-US" dirty="0"/>
          </a:p>
          <a:p>
            <a:r>
              <a:rPr lang="en-US" dirty="0"/>
              <a:t>THE ALLOWED / DENIED FLOW</a:t>
            </a:r>
          </a:p>
          <a:p>
            <a:endParaRPr lang="en-US" dirty="0"/>
          </a:p>
          <a:p>
            <a:r>
              <a:rPr lang="en-US" dirty="0"/>
              <a:t>Point to the central flow.</a:t>
            </a:r>
          </a:p>
          <a:p>
            <a:endParaRPr lang="en-US" dirty="0"/>
          </a:p>
          <a:p>
            <a:r>
              <a:rPr lang="en-US" dirty="0"/>
              <a:t>AUTHENTICATED USER</a:t>
            </a:r>
          </a:p>
          <a:p>
            <a:endParaRPr lang="en-US" dirty="0"/>
          </a:p>
          <a:p>
            <a:r>
              <a:rPr lang="en-US" dirty="0"/>
              <a:t>↓</a:t>
            </a:r>
          </a:p>
          <a:p>
            <a:endParaRPr lang="en-US" dirty="0"/>
          </a:p>
          <a:p>
            <a:r>
              <a:rPr lang="en-US" dirty="0"/>
              <a:t>AUTHORIZATION CHECK</a:t>
            </a:r>
          </a:p>
          <a:p>
            <a:endParaRPr lang="en-US" dirty="0"/>
          </a:p>
          <a:p>
            <a:r>
              <a:rPr lang="en-US" dirty="0"/>
              <a:t>↓</a:t>
            </a:r>
          </a:p>
          <a:p>
            <a:endParaRPr lang="en-US" dirty="0"/>
          </a:p>
          <a:p>
            <a:r>
              <a:rPr lang="en-US" dirty="0"/>
              <a:t>ALLOWED?</a:t>
            </a:r>
          </a:p>
          <a:p>
            <a:endParaRPr lang="en-US" dirty="0"/>
          </a:p>
          <a:p>
            <a:r>
              <a:rPr lang="en-US" dirty="0"/>
              <a:t>↙       ↘</a:t>
            </a:r>
          </a:p>
          <a:p>
            <a:endParaRPr lang="en-US" dirty="0"/>
          </a:p>
          <a:p>
            <a:r>
              <a:rPr lang="en-US" dirty="0"/>
              <a:t>YES       NO</a:t>
            </a:r>
          </a:p>
          <a:p>
            <a:endParaRPr lang="en-US" dirty="0"/>
          </a:p>
          <a:p>
            <a:r>
              <a:rPr lang="en-US" dirty="0"/>
              <a:t>↓          ↓</a:t>
            </a:r>
          </a:p>
          <a:p>
            <a:endParaRPr lang="en-US" dirty="0"/>
          </a:p>
          <a:p>
            <a:r>
              <a:rPr lang="en-US" dirty="0"/>
              <a:t>ACCESS    DENIED</a:t>
            </a:r>
          </a:p>
          <a:p>
            <a:endParaRPr lang="en-US" dirty="0"/>
          </a:p>
          <a:p>
            <a:r>
              <a:rPr lang="en-US" dirty="0"/>
              <a:t>Explain:</a:t>
            </a:r>
          </a:p>
          <a:p>
            <a:endParaRPr lang="en-US" dirty="0"/>
          </a:p>
          <a:p>
            <a:r>
              <a:rPr lang="en-US" dirty="0"/>
              <a:t>"Every protected action needs a decision."</a:t>
            </a:r>
          </a:p>
          <a:p>
            <a:endParaRPr lang="en-US" dirty="0"/>
          </a:p>
          <a:p>
            <a:r>
              <a:rPr lang="en-US" dirty="0"/>
              <a:t>------------------------------------------------------------</a:t>
            </a:r>
          </a:p>
          <a:p>
            <a:endParaRPr lang="en-US" dirty="0"/>
          </a:p>
          <a:p>
            <a:r>
              <a:rPr lang="en-US" dirty="0"/>
              <a:t>AUTHORIZATION IS A RULE</a:t>
            </a:r>
          </a:p>
          <a:p>
            <a:endParaRPr lang="en-US" dirty="0"/>
          </a:p>
          <a:p>
            <a:r>
              <a:rPr lang="en-US" dirty="0"/>
              <a:t>Explain:</a:t>
            </a:r>
          </a:p>
          <a:p>
            <a:endParaRPr lang="en-US" dirty="0"/>
          </a:p>
          <a:p>
            <a:r>
              <a:rPr lang="en-US" dirty="0"/>
              <a:t>"Authorization is really a collection of rules."</a:t>
            </a:r>
          </a:p>
          <a:p>
            <a:endParaRPr lang="en-US" dirty="0"/>
          </a:p>
          <a:p>
            <a:r>
              <a:rPr lang="en-US" dirty="0"/>
              <a:t>Examples:</a:t>
            </a:r>
          </a:p>
          <a:p>
            <a:endParaRPr lang="en-US" dirty="0"/>
          </a:p>
          <a:p>
            <a:r>
              <a:rPr lang="en-US" dirty="0"/>
              <a:t>Only authenticated users can access Tasks.</a:t>
            </a:r>
          </a:p>
          <a:p>
            <a:endParaRPr lang="en-US" dirty="0"/>
          </a:p>
          <a:p>
            <a:r>
              <a:rPr lang="en-US" dirty="0"/>
              <a:t>Only project members can view a project.</a:t>
            </a:r>
          </a:p>
          <a:p>
            <a:endParaRPr lang="en-US" dirty="0"/>
          </a:p>
          <a:p>
            <a:r>
              <a:rPr lang="en-US" dirty="0"/>
              <a:t>Only project owners can delete a project.</a:t>
            </a:r>
          </a:p>
          <a:p>
            <a:endParaRPr lang="en-US" dirty="0"/>
          </a:p>
          <a:p>
            <a:r>
              <a:rPr lang="en-US" dirty="0"/>
              <a:t>Only administrators can manage users.</a:t>
            </a:r>
          </a:p>
          <a:p>
            <a:endParaRPr lang="en-US" dirty="0"/>
          </a:p>
          <a:p>
            <a:r>
              <a:rPr lang="en-US" dirty="0"/>
              <a:t>These rules become part of the application's behavior.</a:t>
            </a:r>
          </a:p>
          <a:p>
            <a:endParaRPr lang="en-US" dirty="0"/>
          </a:p>
          <a:p>
            <a:r>
              <a:rPr lang="en-US" dirty="0"/>
              <a:t>------------------------------------------------------------</a:t>
            </a:r>
          </a:p>
          <a:p>
            <a:endParaRPr lang="en-US" dirty="0"/>
          </a:p>
          <a:p>
            <a:r>
              <a:rPr lang="en-US" dirty="0"/>
              <a:t>WHERE SHOULD AUTHORIZATION HAPPEN?</a:t>
            </a:r>
          </a:p>
          <a:p>
            <a:endParaRPr lang="en-US" dirty="0"/>
          </a:p>
          <a:p>
            <a:r>
              <a:rPr lang="en-US" dirty="0"/>
              <a:t>Point to the architecture.</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DATABASE</a:t>
            </a:r>
          </a:p>
          <a:p>
            <a:endParaRPr lang="en-US" dirty="0"/>
          </a:p>
          <a:p>
            <a:r>
              <a:rPr lang="en-US" dirty="0"/>
              <a:t>Say:</a:t>
            </a:r>
          </a:p>
          <a:p>
            <a:endParaRPr lang="en-US" dirty="0"/>
          </a:p>
          <a:p>
            <a:r>
              <a:rPr lang="en-US" dirty="0"/>
              <a:t>"Where should we enforce authorization?"</a:t>
            </a:r>
          </a:p>
          <a:p>
            <a:endParaRPr lang="en-US" dirty="0"/>
          </a:p>
          <a:p>
            <a:r>
              <a:rPr lang="en-US" dirty="0"/>
              <a:t>Students may say:</a:t>
            </a:r>
          </a:p>
          <a:p>
            <a:endParaRPr lang="en-US" dirty="0"/>
          </a:p>
          <a:p>
            <a:r>
              <a:rPr lang="en-US" dirty="0"/>
              <a:t>"The browser."</a:t>
            </a:r>
          </a:p>
          <a:p>
            <a:endParaRPr lang="en-US" dirty="0"/>
          </a:p>
          <a:p>
            <a:r>
              <a:rPr lang="en-US" dirty="0"/>
              <a:t>Correct them.</a:t>
            </a:r>
          </a:p>
          <a:p>
            <a:endParaRPr lang="en-US" dirty="0"/>
          </a:p>
          <a:p>
            <a:r>
              <a:rPr lang="en-US" dirty="0"/>
              <a:t>"The browser can hide things."</a:t>
            </a:r>
          </a:p>
          <a:p>
            <a:endParaRPr lang="en-US" dirty="0"/>
          </a:p>
          <a:p>
            <a:r>
              <a:rPr lang="en-US" dirty="0"/>
              <a:t>"But the server must enforce the rule."</a:t>
            </a:r>
          </a:p>
          <a:p>
            <a:endParaRPr lang="en-US" dirty="0"/>
          </a:p>
          <a:p>
            <a:r>
              <a:rPr lang="en-US" dirty="0"/>
              <a:t>------------------------------------------------------------</a:t>
            </a:r>
          </a:p>
          <a:p>
            <a:endParaRPr lang="en-US" dirty="0"/>
          </a:p>
          <a:p>
            <a:r>
              <a:rPr lang="en-US" dirty="0"/>
              <a:t>IMPORTANT SECURITY PRINCIPLE</a:t>
            </a:r>
          </a:p>
          <a:p>
            <a:endParaRPr lang="en-US" dirty="0"/>
          </a:p>
          <a:p>
            <a:r>
              <a:rPr lang="en-US" dirty="0"/>
              <a:t>Say:</a:t>
            </a:r>
          </a:p>
          <a:p>
            <a:endParaRPr lang="en-US" dirty="0"/>
          </a:p>
          <a:p>
            <a:r>
              <a:rPr lang="en-US" dirty="0"/>
              <a:t>"Hiding a button is not security."</a:t>
            </a:r>
          </a:p>
          <a:p>
            <a:endParaRPr lang="en-US" dirty="0"/>
          </a:p>
          <a:p>
            <a:r>
              <a:rPr lang="en-US" dirty="0"/>
              <a:t>Pause.</a:t>
            </a:r>
          </a:p>
          <a:p>
            <a:endParaRPr lang="en-US" dirty="0"/>
          </a:p>
          <a:p>
            <a:r>
              <a:rPr lang="en-US" dirty="0"/>
              <a:t>"If I hide the Delete button..."</a:t>
            </a:r>
          </a:p>
          <a:p>
            <a:endParaRPr lang="en-US" dirty="0"/>
          </a:p>
          <a:p>
            <a:r>
              <a:rPr lang="en-US" dirty="0"/>
              <a:t>"That doesn't mean the user can't try to call the Delete action directly."</a:t>
            </a:r>
          </a:p>
          <a:p>
            <a:endParaRPr lang="en-US" dirty="0"/>
          </a:p>
          <a:p>
            <a:r>
              <a:rPr lang="en-US" dirty="0"/>
              <a:t>Therefore:</a:t>
            </a:r>
          </a:p>
          <a:p>
            <a:endParaRPr lang="en-US" dirty="0"/>
          </a:p>
          <a:p>
            <a:r>
              <a:rPr lang="en-US" dirty="0"/>
              <a:t>"Authorization must be enforced on the server."</a:t>
            </a:r>
          </a:p>
          <a:p>
            <a:endParaRPr lang="en-US" dirty="0"/>
          </a:p>
          <a:p>
            <a:r>
              <a:rPr lang="en-US" dirty="0"/>
              <a:t>This is one of the most important points of the lesson.</a:t>
            </a:r>
          </a:p>
          <a:p>
            <a:endParaRPr lang="en-US" dirty="0"/>
          </a:p>
          <a:p>
            <a:r>
              <a:rPr lang="en-US" dirty="0"/>
              <a:t>------------------------------------------------------------</a:t>
            </a:r>
          </a:p>
          <a:p>
            <a:endParaRPr lang="en-US" dirty="0"/>
          </a:p>
          <a:p>
            <a:r>
              <a:rPr lang="en-US" dirty="0"/>
              <a:t>THE WRONG APPROACH</a:t>
            </a:r>
          </a:p>
          <a:p>
            <a:endParaRPr lang="en-US" dirty="0"/>
          </a:p>
          <a:p>
            <a:r>
              <a:rPr lang="en-US" dirty="0"/>
              <a:t>Imagine the page contains:</a:t>
            </a:r>
          </a:p>
          <a:p>
            <a:endParaRPr lang="en-US" dirty="0"/>
          </a:p>
          <a:p>
            <a:r>
              <a:rPr lang="en-US" dirty="0"/>
              <a:t>[ Delete Project ]</a:t>
            </a:r>
          </a:p>
          <a:p>
            <a:endParaRPr lang="en-US" dirty="0"/>
          </a:p>
          <a:p>
            <a:r>
              <a:rPr lang="en-US" dirty="0"/>
              <a:t>The developer hides the button for unauthorized users.</a:t>
            </a:r>
          </a:p>
          <a:p>
            <a:endParaRPr lang="en-US" dirty="0"/>
          </a:p>
          <a:p>
            <a:r>
              <a:rPr lang="en-US" dirty="0"/>
              <a:t>Ask:</a:t>
            </a:r>
          </a:p>
          <a:p>
            <a:endParaRPr lang="en-US" dirty="0"/>
          </a:p>
          <a:p>
            <a:r>
              <a:rPr lang="en-US" dirty="0"/>
              <a:t>"Are we secure?"</a:t>
            </a:r>
          </a:p>
          <a:p>
            <a:endParaRPr lang="en-US" dirty="0"/>
          </a:p>
          <a:p>
            <a:r>
              <a:rPr lang="en-US" dirty="0"/>
              <a:t>No.</a:t>
            </a:r>
          </a:p>
          <a:p>
            <a:endParaRPr lang="en-US" dirty="0"/>
          </a:p>
          <a:p>
            <a:r>
              <a:rPr lang="en-US" dirty="0"/>
              <a:t>Explain:</a:t>
            </a:r>
          </a:p>
          <a:p>
            <a:endParaRPr lang="en-US" dirty="0"/>
          </a:p>
          <a:p>
            <a:r>
              <a:rPr lang="en-US" dirty="0"/>
              <a:t>"The user could potentially manipulate the request or navigate</a:t>
            </a:r>
          </a:p>
          <a:p>
            <a:r>
              <a:rPr lang="en-US" dirty="0"/>
              <a:t>directly to the endpoint."</a:t>
            </a:r>
          </a:p>
          <a:p>
            <a:endParaRPr lang="en-US" dirty="0"/>
          </a:p>
          <a:p>
            <a:r>
              <a:rPr lang="en-US" dirty="0"/>
              <a:t>The server still needs to check:</a:t>
            </a:r>
          </a:p>
          <a:p>
            <a:endParaRPr lang="en-US" dirty="0"/>
          </a:p>
          <a:p>
            <a:r>
              <a:rPr lang="en-US" dirty="0"/>
              <a:t>"Is this user authorized?"</a:t>
            </a:r>
          </a:p>
          <a:p>
            <a:endParaRPr lang="en-US" dirty="0"/>
          </a:p>
          <a:p>
            <a:r>
              <a:rPr lang="en-US" dirty="0"/>
              <a:t>------------------------------------------------------------</a:t>
            </a:r>
          </a:p>
          <a:p>
            <a:endParaRPr lang="en-US" dirty="0"/>
          </a:p>
          <a:p>
            <a:r>
              <a:rPr lang="en-US" dirty="0"/>
              <a:t>THE RIGHT APPROACH</a:t>
            </a:r>
          </a:p>
          <a:p>
            <a:endParaRPr lang="en-US" dirty="0"/>
          </a:p>
          <a:p>
            <a:r>
              <a:rPr lang="en-US" dirty="0"/>
              <a:t>User requests:</a:t>
            </a:r>
          </a:p>
          <a:p>
            <a:endParaRPr lang="en-US" dirty="0"/>
          </a:p>
          <a:p>
            <a:r>
              <a:rPr lang="en-US" dirty="0"/>
              <a:t>DELETE /Projects/42</a:t>
            </a:r>
          </a:p>
          <a:p>
            <a:endParaRPr lang="en-US" dirty="0"/>
          </a:p>
          <a:p>
            <a:r>
              <a:rPr lang="en-US" dirty="0"/>
              <a:t>Server checks:</a:t>
            </a:r>
          </a:p>
          <a:p>
            <a:endParaRPr lang="en-US" dirty="0"/>
          </a:p>
          <a:p>
            <a:r>
              <a:rPr lang="en-US" dirty="0"/>
              <a:t>Who is the user?</a:t>
            </a:r>
          </a:p>
          <a:p>
            <a:endParaRPr lang="en-US" dirty="0"/>
          </a:p>
          <a:p>
            <a:r>
              <a:rPr lang="en-US" dirty="0"/>
              <a:t>What role do they have?</a:t>
            </a:r>
          </a:p>
          <a:p>
            <a:endParaRPr lang="en-US" dirty="0"/>
          </a:p>
          <a:p>
            <a:r>
              <a:rPr lang="en-US" dirty="0"/>
              <a:t>Do they own the project?</a:t>
            </a:r>
          </a:p>
          <a:p>
            <a:endParaRPr lang="en-US" dirty="0"/>
          </a:p>
          <a:p>
            <a:r>
              <a:rPr lang="en-US" dirty="0"/>
              <a:t>Are they allowed to delete it?</a:t>
            </a:r>
          </a:p>
          <a:p>
            <a:endParaRPr lang="en-US" dirty="0"/>
          </a:p>
          <a:p>
            <a:r>
              <a:rPr lang="en-US" dirty="0"/>
              <a:t>Then:</a:t>
            </a:r>
          </a:p>
          <a:p>
            <a:endParaRPr lang="en-US" dirty="0"/>
          </a:p>
          <a:p>
            <a:r>
              <a:rPr lang="en-US" dirty="0"/>
              <a:t>ALLOW</a:t>
            </a:r>
          </a:p>
          <a:p>
            <a:endParaRPr lang="en-US" dirty="0"/>
          </a:p>
          <a:p>
            <a:r>
              <a:rPr lang="en-US" dirty="0"/>
              <a:t>or</a:t>
            </a:r>
          </a:p>
          <a:p>
            <a:endParaRPr lang="en-US" dirty="0"/>
          </a:p>
          <a:p>
            <a:r>
              <a:rPr lang="en-US" dirty="0"/>
              <a:t>DENY.</a:t>
            </a:r>
          </a:p>
          <a:p>
            <a:endParaRPr lang="en-US" dirty="0"/>
          </a:p>
          <a:p>
            <a:r>
              <a:rPr lang="en-US" dirty="0"/>
              <a:t>------------------------------------------------------------</a:t>
            </a:r>
          </a:p>
          <a:p>
            <a:endParaRPr lang="en-US" dirty="0"/>
          </a:p>
          <a:p>
            <a:r>
              <a:rPr lang="en-US" dirty="0"/>
              <a:t>AUTHORIZATION AT MULTIPLE LAYERS</a:t>
            </a:r>
          </a:p>
          <a:p>
            <a:endParaRPr lang="en-US" dirty="0"/>
          </a:p>
          <a:p>
            <a:r>
              <a:rPr lang="en-US" dirty="0"/>
              <a:t>Point to the architecture.</a:t>
            </a:r>
          </a:p>
          <a:p>
            <a:endParaRPr lang="en-US" dirty="0"/>
          </a:p>
          <a:p>
            <a:r>
              <a:rPr lang="en-US" dirty="0"/>
              <a:t>1. ROUTING</a:t>
            </a:r>
          </a:p>
          <a:p>
            <a:endParaRPr lang="en-US" dirty="0"/>
          </a:p>
          <a:p>
            <a:r>
              <a:rPr lang="en-US" dirty="0"/>
              <a:t>Can the user reach the page?</a:t>
            </a:r>
          </a:p>
          <a:p>
            <a:endParaRPr lang="en-US" dirty="0"/>
          </a:p>
          <a:p>
            <a:r>
              <a:rPr lang="en-US" dirty="0"/>
              <a:t>2. CONTROLLER</a:t>
            </a:r>
          </a:p>
          <a:p>
            <a:endParaRPr lang="en-US" dirty="0"/>
          </a:p>
          <a:p>
            <a:r>
              <a:rPr lang="en-US" dirty="0"/>
              <a:t>Can the user perform the action?</a:t>
            </a:r>
          </a:p>
          <a:p>
            <a:endParaRPr lang="en-US" dirty="0"/>
          </a:p>
          <a:p>
            <a:r>
              <a:rPr lang="en-US" dirty="0"/>
              <a:t>3. BUSINESS LOGIC</a:t>
            </a:r>
          </a:p>
          <a:p>
            <a:endParaRPr lang="en-US" dirty="0"/>
          </a:p>
          <a:p>
            <a:r>
              <a:rPr lang="en-US" dirty="0"/>
              <a:t>Does the action follow application rules?</a:t>
            </a:r>
          </a:p>
          <a:p>
            <a:endParaRPr lang="en-US" dirty="0"/>
          </a:p>
          <a:p>
            <a:r>
              <a:rPr lang="en-US" dirty="0"/>
              <a:t>4. DATA ACCESS</a:t>
            </a:r>
          </a:p>
          <a:p>
            <a:endParaRPr lang="en-US" dirty="0"/>
          </a:p>
          <a:p>
            <a:r>
              <a:rPr lang="en-US" dirty="0"/>
              <a:t>Should this data be returned?</a:t>
            </a:r>
          </a:p>
          <a:p>
            <a:endParaRPr lang="en-US" dirty="0"/>
          </a:p>
          <a:p>
            <a:r>
              <a:rPr lang="en-US" dirty="0"/>
              <a:t>5. UI</a:t>
            </a:r>
          </a:p>
          <a:p>
            <a:endParaRPr lang="en-US" dirty="0"/>
          </a:p>
          <a:p>
            <a:r>
              <a:rPr lang="en-US" dirty="0"/>
              <a:t>Should the option be displayed?</a:t>
            </a:r>
          </a:p>
          <a:p>
            <a:endParaRPr lang="en-US" dirty="0"/>
          </a:p>
          <a:p>
            <a:r>
              <a:rPr lang="en-US" dirty="0"/>
              <a:t>Explain:</a:t>
            </a:r>
          </a:p>
          <a:p>
            <a:endParaRPr lang="en-US" dirty="0"/>
          </a:p>
          <a:p>
            <a:r>
              <a:rPr lang="en-US" dirty="0"/>
              <a:t>"Good authorization isn't just hiding buttons."</a:t>
            </a:r>
          </a:p>
          <a:p>
            <a:endParaRPr lang="en-US" dirty="0"/>
          </a:p>
          <a:p>
            <a:r>
              <a:rPr lang="en-US" dirty="0"/>
              <a:t>"It is enforced throughout the application."</a:t>
            </a:r>
          </a:p>
          <a:p>
            <a:endParaRPr lang="en-US" dirty="0"/>
          </a:p>
          <a:p>
            <a:r>
              <a:rPr lang="en-US" dirty="0"/>
              <a:t>------------------------------------------------------------</a:t>
            </a:r>
          </a:p>
          <a:p>
            <a:endParaRPr lang="en-US" dirty="0"/>
          </a:p>
          <a:p>
            <a:r>
              <a:rPr lang="en-US" dirty="0"/>
              <a:t>PRINCIPLE OF LEAST PRIVILEGE</a:t>
            </a:r>
          </a:p>
          <a:p>
            <a:endParaRPr lang="en-US" dirty="0"/>
          </a:p>
          <a:p>
            <a:r>
              <a:rPr lang="en-US" dirty="0"/>
              <a:t>Introduce the term.</a:t>
            </a:r>
          </a:p>
          <a:p>
            <a:endParaRPr lang="en-US" dirty="0"/>
          </a:p>
          <a:p>
            <a:r>
              <a:rPr lang="en-US" dirty="0"/>
              <a:t>"Least privilege means giving users only the access they actually</a:t>
            </a:r>
          </a:p>
          <a:p>
            <a:r>
              <a:rPr lang="en-US" dirty="0"/>
              <a:t>need."</a:t>
            </a:r>
          </a:p>
          <a:p>
            <a:endParaRPr lang="en-US" dirty="0"/>
          </a:p>
          <a:p>
            <a:r>
              <a:rPr lang="en-US" dirty="0"/>
              <a:t>Example:</a:t>
            </a:r>
          </a:p>
          <a:p>
            <a:endParaRPr lang="en-US" dirty="0"/>
          </a:p>
          <a:p>
            <a:r>
              <a:rPr lang="en-US" dirty="0"/>
              <a:t>A Viewer doesn't need Delete permissions.</a:t>
            </a:r>
          </a:p>
          <a:p>
            <a:endParaRPr lang="en-US" dirty="0"/>
          </a:p>
          <a:p>
            <a:r>
              <a:rPr lang="en-US" dirty="0"/>
              <a:t>A Team Member doesn't need Manage Users permissions.</a:t>
            </a:r>
          </a:p>
          <a:p>
            <a:endParaRPr lang="en-US" dirty="0"/>
          </a:p>
          <a:p>
            <a:r>
              <a:rPr lang="en-US" dirty="0"/>
              <a:t>An Administrator may need broader access.</a:t>
            </a:r>
          </a:p>
          <a:p>
            <a:endParaRPr lang="en-US" dirty="0"/>
          </a:p>
          <a:p>
            <a:r>
              <a:rPr lang="en-US" dirty="0"/>
              <a:t>Explain:</a:t>
            </a:r>
          </a:p>
          <a:p>
            <a:endParaRPr lang="en-US" dirty="0"/>
          </a:p>
          <a:p>
            <a:r>
              <a:rPr lang="en-US" dirty="0"/>
              <a:t>"More access isn't automatically better."</a:t>
            </a:r>
          </a:p>
          <a:p>
            <a:endParaRPr lang="en-US" dirty="0"/>
          </a:p>
          <a:p>
            <a:r>
              <a:rPr lang="en-US" dirty="0"/>
              <a:t>------------------------------------------------------------</a:t>
            </a:r>
          </a:p>
          <a:p>
            <a:endParaRPr lang="en-US" dirty="0"/>
          </a:p>
          <a:p>
            <a:r>
              <a:rPr lang="en-US" dirty="0"/>
              <a:t>DENY BY DEFAULT</a:t>
            </a:r>
          </a:p>
          <a:p>
            <a:endParaRPr lang="en-US" dirty="0"/>
          </a:p>
          <a:p>
            <a:r>
              <a:rPr lang="en-US" dirty="0"/>
              <a:t>Point to:</a:t>
            </a:r>
          </a:p>
          <a:p>
            <a:endParaRPr lang="en-US" dirty="0"/>
          </a:p>
          <a:p>
            <a:r>
              <a:rPr lang="en-US" dirty="0"/>
              <a:t>DENY BY DEFAULT.</a:t>
            </a:r>
          </a:p>
          <a:p>
            <a:endParaRPr lang="en-US" dirty="0"/>
          </a:p>
          <a:p>
            <a:r>
              <a:rPr lang="en-US" dirty="0"/>
              <a:t>Explain:</a:t>
            </a:r>
          </a:p>
          <a:p>
            <a:endParaRPr lang="en-US" dirty="0"/>
          </a:p>
          <a:p>
            <a:r>
              <a:rPr lang="en-US" dirty="0"/>
              <a:t>"When we're not sure whether someone should have access..."</a:t>
            </a:r>
          </a:p>
          <a:p>
            <a:endParaRPr lang="en-US" dirty="0"/>
          </a:p>
          <a:p>
            <a:r>
              <a:rPr lang="en-US" dirty="0"/>
              <a:t>"The safer assumption is to deny access until the rule says otherwise."</a:t>
            </a:r>
          </a:p>
          <a:p>
            <a:endParaRPr lang="en-US" dirty="0"/>
          </a:p>
          <a:p>
            <a:r>
              <a:rPr lang="en-US" dirty="0"/>
              <a:t>This is a security mindset.</a:t>
            </a:r>
          </a:p>
          <a:p>
            <a:endParaRPr lang="en-US" dirty="0"/>
          </a:p>
          <a:p>
            <a:r>
              <a:rPr lang="en-US" dirty="0"/>
              <a:t>------------------------------------------------------------</a:t>
            </a:r>
          </a:p>
          <a:p>
            <a:endParaRPr lang="en-US" dirty="0"/>
          </a:p>
          <a:p>
            <a:r>
              <a:rPr lang="en-US" dirty="0"/>
              <a:t>ATLAS EXAMPLE</a:t>
            </a:r>
          </a:p>
          <a:p>
            <a:endParaRPr lang="en-US" dirty="0"/>
          </a:p>
          <a:p>
            <a:r>
              <a:rPr lang="en-US" dirty="0"/>
              <a:t>Ask:</a:t>
            </a:r>
          </a:p>
          <a:p>
            <a:endParaRPr lang="en-US" dirty="0"/>
          </a:p>
          <a:p>
            <a:r>
              <a:rPr lang="en-US" dirty="0"/>
              <a:t>"Should a logged-in user be able to see every project in Atlas?"</a:t>
            </a:r>
          </a:p>
          <a:p>
            <a:endParaRPr lang="en-US" dirty="0"/>
          </a:p>
          <a:p>
            <a:r>
              <a:rPr lang="en-US" dirty="0"/>
              <a:t>Answer:</a:t>
            </a:r>
          </a:p>
          <a:p>
            <a:endParaRPr lang="en-US" dirty="0"/>
          </a:p>
          <a:p>
            <a:r>
              <a:rPr lang="en-US" dirty="0"/>
              <a:t>"Not necessarily."</a:t>
            </a:r>
          </a:p>
          <a:p>
            <a:endParaRPr lang="en-US" dirty="0"/>
          </a:p>
          <a:p>
            <a:r>
              <a:rPr lang="en-US" dirty="0"/>
              <a:t>Then:</a:t>
            </a:r>
          </a:p>
          <a:p>
            <a:endParaRPr lang="en-US" dirty="0"/>
          </a:p>
          <a:p>
            <a:r>
              <a:rPr lang="en-US" dirty="0"/>
              <a:t>"What determines access?"</a:t>
            </a:r>
          </a:p>
          <a:p>
            <a:endParaRPr lang="en-US" dirty="0"/>
          </a:p>
          <a:p>
            <a:r>
              <a:rPr lang="en-US" dirty="0"/>
              <a:t>Possible answers:</a:t>
            </a:r>
          </a:p>
          <a:p>
            <a:endParaRPr lang="en-US" dirty="0"/>
          </a:p>
          <a:p>
            <a:r>
              <a:rPr lang="en-US" dirty="0"/>
              <a:t>Role.</a:t>
            </a:r>
          </a:p>
          <a:p>
            <a:endParaRPr lang="en-US" dirty="0"/>
          </a:p>
          <a:p>
            <a:r>
              <a:rPr lang="en-US" dirty="0"/>
              <a:t>Ownership.</a:t>
            </a:r>
          </a:p>
          <a:p>
            <a:endParaRPr lang="en-US" dirty="0"/>
          </a:p>
          <a:p>
            <a:r>
              <a:rPr lang="en-US" dirty="0"/>
              <a:t>Membership.</a:t>
            </a:r>
          </a:p>
          <a:p>
            <a:endParaRPr lang="en-US" dirty="0"/>
          </a:p>
          <a:p>
            <a:r>
              <a:rPr lang="en-US" dirty="0"/>
              <a:t>Business rules.</a:t>
            </a:r>
          </a:p>
          <a:p>
            <a:endParaRPr lang="en-US" dirty="0"/>
          </a:p>
          <a:p>
            <a:r>
              <a:rPr lang="en-US" dirty="0"/>
              <a:t>Exactly.</a:t>
            </a:r>
          </a:p>
          <a:p>
            <a:endParaRPr lang="en-US" dirty="0"/>
          </a:p>
          <a:p>
            <a:r>
              <a:rPr lang="en-US" dirty="0"/>
              <a:t>------------------------------------------------------------</a:t>
            </a:r>
          </a:p>
          <a:p>
            <a:endParaRPr lang="en-US" dirty="0"/>
          </a:p>
          <a:p>
            <a:r>
              <a:rPr lang="en-US" dirty="0"/>
              <a:t>BUILD CHALLENGE</a:t>
            </a:r>
          </a:p>
          <a:p>
            <a:endParaRPr lang="en-US" dirty="0"/>
          </a:p>
          <a:p>
            <a:r>
              <a:rPr lang="en-US" dirty="0"/>
              <a:t>Have students create an authorization matrix.</a:t>
            </a:r>
          </a:p>
          <a:p>
            <a:endParaRPr lang="en-US" dirty="0"/>
          </a:p>
          <a:p>
            <a:r>
              <a:rPr lang="en-US" dirty="0"/>
              <a:t>Example:</a:t>
            </a:r>
          </a:p>
          <a:p>
            <a:endParaRPr lang="en-US" dirty="0"/>
          </a:p>
          <a:p>
            <a:r>
              <a:rPr lang="en-US" dirty="0"/>
              <a:t>| Role | View | Create | Edit | Delete |</a:t>
            </a:r>
          </a:p>
          <a:p>
            <a:r>
              <a:rPr lang="en-US" dirty="0"/>
              <a:t>|------|------|--------|------|--------|</a:t>
            </a:r>
          </a:p>
          <a:p>
            <a:r>
              <a:rPr lang="en-US" dirty="0"/>
              <a:t>| Admin | ✓ | ✓ | ✓ | ✓ |</a:t>
            </a:r>
          </a:p>
          <a:p>
            <a:r>
              <a:rPr lang="en-US" dirty="0"/>
              <a:t>| Manager | ✓ | ✓ | ✓ | Limited |</a:t>
            </a:r>
          </a:p>
          <a:p>
            <a:r>
              <a:rPr lang="en-US" dirty="0"/>
              <a:t>| Team Member | ✓ | ✓ | Own | No |</a:t>
            </a:r>
          </a:p>
          <a:p>
            <a:r>
              <a:rPr lang="en-US" dirty="0"/>
              <a:t>| Viewer | ✓ | No | No | No |</a:t>
            </a:r>
          </a:p>
          <a:p>
            <a:endParaRPr lang="en-US" dirty="0"/>
          </a:p>
          <a:p>
            <a:r>
              <a:rPr lang="en-US" dirty="0"/>
              <a:t>Explain:</a:t>
            </a:r>
          </a:p>
          <a:p>
            <a:endParaRPr lang="en-US" dirty="0"/>
          </a:p>
          <a:p>
            <a:r>
              <a:rPr lang="en-US" dirty="0"/>
              <a:t>"The exact rules are up to the application's requirements."</a:t>
            </a:r>
          </a:p>
          <a:p>
            <a:endParaRPr lang="en-US" dirty="0"/>
          </a:p>
          <a:p>
            <a:r>
              <a:rPr lang="en-US" dirty="0"/>
              <a:t>Students should create their own rules based on Atlas </a:t>
            </a:r>
            <a:r>
              <a:rPr lang="en-US" dirty="0" err="1"/>
              <a:t>TaskFlow</a:t>
            </a:r>
            <a:r>
              <a:rPr lang="en-US" dirty="0"/>
              <a:t>.</a:t>
            </a:r>
          </a:p>
          <a:p>
            <a:endParaRPr lang="en-US" dirty="0"/>
          </a:p>
          <a:p>
            <a:r>
              <a:rPr lang="en-US" dirty="0"/>
              <a:t>------------------------------------------------------------</a:t>
            </a:r>
          </a:p>
          <a:p>
            <a:endParaRPr lang="en-US" dirty="0"/>
          </a:p>
          <a:p>
            <a:r>
              <a:rPr lang="en-US" dirty="0"/>
              <a:t>OWNERSHIP CHALLENGE</a:t>
            </a:r>
          </a:p>
          <a:p>
            <a:endParaRPr lang="en-US" dirty="0"/>
          </a:p>
          <a:p>
            <a:r>
              <a:rPr lang="en-US" dirty="0"/>
              <a:t>Give students this scenario:</a:t>
            </a:r>
          </a:p>
          <a:p>
            <a:endParaRPr lang="en-US" dirty="0"/>
          </a:p>
          <a:p>
            <a:r>
              <a:rPr lang="en-US" dirty="0"/>
              <a:t>Taylor owns:</a:t>
            </a:r>
          </a:p>
          <a:p>
            <a:endParaRPr lang="en-US" dirty="0"/>
          </a:p>
          <a:p>
            <a:r>
              <a:rPr lang="en-US" dirty="0"/>
              <a:t>"Website Redesign"</a:t>
            </a:r>
          </a:p>
          <a:p>
            <a:endParaRPr lang="en-US" dirty="0"/>
          </a:p>
          <a:p>
            <a:r>
              <a:rPr lang="en-US" dirty="0"/>
              <a:t>Alex is a member of another project.</a:t>
            </a:r>
          </a:p>
          <a:p>
            <a:endParaRPr lang="en-US" dirty="0"/>
          </a:p>
          <a:p>
            <a:r>
              <a:rPr lang="en-US" dirty="0"/>
              <a:t>Ask:</a:t>
            </a:r>
          </a:p>
          <a:p>
            <a:endParaRPr lang="en-US" dirty="0"/>
          </a:p>
          <a:p>
            <a:r>
              <a:rPr lang="en-US" dirty="0"/>
              <a:t>"Should Alex be able to delete Taylor's project?"</a:t>
            </a:r>
          </a:p>
          <a:p>
            <a:endParaRPr lang="en-US" dirty="0"/>
          </a:p>
          <a:p>
            <a:r>
              <a:rPr lang="en-US" dirty="0"/>
              <a:t>No.</a:t>
            </a:r>
          </a:p>
          <a:p>
            <a:endParaRPr lang="en-US" dirty="0"/>
          </a:p>
          <a:p>
            <a:r>
              <a:rPr lang="en-US" dirty="0"/>
              <a:t>Ask:</a:t>
            </a:r>
          </a:p>
          <a:p>
            <a:endParaRPr lang="en-US" dirty="0"/>
          </a:p>
          <a:p>
            <a:r>
              <a:rPr lang="en-US" dirty="0"/>
              <a:t>"Should Alex be able to see Taylor's project?"</a:t>
            </a:r>
          </a:p>
          <a:p>
            <a:endParaRPr lang="en-US" dirty="0"/>
          </a:p>
          <a:p>
            <a:r>
              <a:rPr lang="en-US" dirty="0"/>
              <a:t>"It depends."</a:t>
            </a:r>
          </a:p>
          <a:p>
            <a:endParaRPr lang="en-US" dirty="0"/>
          </a:p>
          <a:p>
            <a:r>
              <a:rPr lang="en-US" dirty="0"/>
              <a:t>This is important.</a:t>
            </a:r>
          </a:p>
          <a:p>
            <a:endParaRPr lang="en-US" dirty="0"/>
          </a:p>
          <a:p>
            <a:r>
              <a:rPr lang="en-US" dirty="0"/>
              <a:t>"Authorization rules come from requirements and business decisions."</a:t>
            </a:r>
          </a:p>
          <a:p>
            <a:endParaRPr lang="en-US" dirty="0"/>
          </a:p>
          <a:p>
            <a:r>
              <a:rPr lang="en-US" dirty="0"/>
              <a:t>------------------------------------------------------------</a:t>
            </a:r>
          </a:p>
          <a:p>
            <a:endParaRPr lang="en-US" dirty="0"/>
          </a:p>
          <a:p>
            <a:r>
              <a:rPr lang="en-US" dirty="0"/>
              <a:t>AUTHORIZATION TESTING</a:t>
            </a:r>
          </a:p>
          <a:p>
            <a:endParaRPr lang="en-US" dirty="0"/>
          </a:p>
          <a:p>
            <a:r>
              <a:rPr lang="en-US" dirty="0"/>
              <a:t>Ask students to think like attackers.</a:t>
            </a:r>
          </a:p>
          <a:p>
            <a:endParaRPr lang="en-US" dirty="0"/>
          </a:p>
          <a:p>
            <a:r>
              <a:rPr lang="en-US" dirty="0"/>
              <a:t>Test:</a:t>
            </a:r>
          </a:p>
          <a:p>
            <a:endParaRPr lang="en-US" dirty="0"/>
          </a:p>
          <a:p>
            <a:r>
              <a:rPr lang="en-US" dirty="0"/>
              <a:t>Authenticated user accessing an allowed resource.</a:t>
            </a:r>
          </a:p>
          <a:p>
            <a:endParaRPr lang="en-US" dirty="0"/>
          </a:p>
          <a:p>
            <a:r>
              <a:rPr lang="en-US" dirty="0"/>
              <a:t>Authenticated user accessing a restricted resource.</a:t>
            </a:r>
          </a:p>
          <a:p>
            <a:endParaRPr lang="en-US" dirty="0"/>
          </a:p>
          <a:p>
            <a:r>
              <a:rPr lang="en-US" dirty="0"/>
              <a:t>Unauthenticated user accessing a protected page.</a:t>
            </a:r>
          </a:p>
          <a:p>
            <a:endParaRPr lang="en-US" dirty="0"/>
          </a:p>
          <a:p>
            <a:r>
              <a:rPr lang="en-US" dirty="0"/>
              <a:t>User attempting another user's resource.</a:t>
            </a:r>
          </a:p>
          <a:p>
            <a:endParaRPr lang="en-US" dirty="0"/>
          </a:p>
          <a:p>
            <a:r>
              <a:rPr lang="en-US" dirty="0"/>
              <a:t>User attempting a restricted action.</a:t>
            </a:r>
          </a:p>
          <a:p>
            <a:endParaRPr lang="en-US" dirty="0"/>
          </a:p>
          <a:p>
            <a:r>
              <a:rPr lang="en-US" dirty="0"/>
              <a:t>Explain:</a:t>
            </a:r>
          </a:p>
          <a:p>
            <a:endParaRPr lang="en-US" dirty="0"/>
          </a:p>
          <a:p>
            <a:r>
              <a:rPr lang="en-US" dirty="0"/>
              <a:t>"We need to test both sides."</a:t>
            </a:r>
          </a:p>
          <a:p>
            <a:endParaRPr lang="en-US" dirty="0"/>
          </a:p>
          <a:p>
            <a:r>
              <a:rPr lang="en-US" dirty="0"/>
              <a:t>Allowed.</a:t>
            </a:r>
          </a:p>
          <a:p>
            <a:endParaRPr lang="en-US" dirty="0"/>
          </a:p>
          <a:p>
            <a:r>
              <a:rPr lang="en-US" dirty="0"/>
              <a:t>Denied.</a:t>
            </a:r>
          </a:p>
          <a:p>
            <a:endParaRPr lang="en-US" dirty="0"/>
          </a:p>
          <a:p>
            <a:r>
              <a:rPr lang="en-US" dirty="0"/>
              <a:t>------------------------------------------------------------</a:t>
            </a:r>
          </a:p>
          <a:p>
            <a:endParaRPr lang="en-US" dirty="0"/>
          </a:p>
          <a:p>
            <a:r>
              <a:rPr lang="en-US" dirty="0"/>
              <a:t>THE NEGATIVE TEST</a:t>
            </a:r>
          </a:p>
          <a:p>
            <a:endParaRPr lang="en-US" dirty="0"/>
          </a:p>
          <a:p>
            <a:r>
              <a:rPr lang="en-US" dirty="0"/>
              <a:t>Emphasize:</a:t>
            </a:r>
          </a:p>
          <a:p>
            <a:endParaRPr lang="en-US" dirty="0"/>
          </a:p>
          <a:p>
            <a:r>
              <a:rPr lang="en-US" dirty="0"/>
              <a:t>"Security testing isn't just proving that the right user can get in."</a:t>
            </a:r>
          </a:p>
          <a:p>
            <a:endParaRPr lang="en-US" dirty="0"/>
          </a:p>
          <a:p>
            <a:r>
              <a:rPr lang="en-US" dirty="0"/>
              <a:t>"We also need to prove that the wrong user cannot."</a:t>
            </a:r>
          </a:p>
          <a:p>
            <a:endParaRPr lang="en-US" dirty="0"/>
          </a:p>
          <a:p>
            <a:r>
              <a:rPr lang="en-US" dirty="0"/>
              <a:t>This is a major engineering mindset.</a:t>
            </a:r>
          </a:p>
          <a:p>
            <a:endParaRPr lang="en-US" dirty="0"/>
          </a:p>
          <a:p>
            <a:r>
              <a:rPr lang="en-US" dirty="0"/>
              <a:t>------------------------------------------------------------</a:t>
            </a:r>
          </a:p>
          <a:p>
            <a:endParaRPr lang="en-US" dirty="0"/>
          </a:p>
          <a:p>
            <a:r>
              <a:rPr lang="en-US" dirty="0"/>
              <a:t>COMMON MISCONCEPTIONS</a:t>
            </a:r>
          </a:p>
          <a:p>
            <a:endParaRPr lang="en-US" dirty="0"/>
          </a:p>
          <a:p>
            <a:r>
              <a:rPr lang="en-US" dirty="0"/>
              <a:t>Address these directly.</a:t>
            </a:r>
          </a:p>
          <a:p>
            <a:endParaRPr lang="en-US" dirty="0"/>
          </a:p>
          <a:p>
            <a:r>
              <a:rPr lang="en-US" dirty="0"/>
              <a:t>Authentication is NOT authorization.</a:t>
            </a:r>
          </a:p>
          <a:p>
            <a:endParaRPr lang="en-US" dirty="0"/>
          </a:p>
          <a:p>
            <a:r>
              <a:rPr lang="en-US" dirty="0"/>
              <a:t>A logged-in user is NOT automatically an administrator.</a:t>
            </a:r>
          </a:p>
          <a:p>
            <a:endParaRPr lang="en-US" dirty="0"/>
          </a:p>
          <a:p>
            <a:r>
              <a:rPr lang="en-US" dirty="0"/>
              <a:t>Hiding a button is NOT authorization.</a:t>
            </a:r>
          </a:p>
          <a:p>
            <a:endParaRPr lang="en-US" dirty="0"/>
          </a:p>
          <a:p>
            <a:r>
              <a:rPr lang="en-US" dirty="0"/>
              <a:t>Knowing a URL is NOT permission.</a:t>
            </a:r>
          </a:p>
          <a:p>
            <a:endParaRPr lang="en-US" dirty="0"/>
          </a:p>
          <a:p>
            <a:r>
              <a:rPr lang="en-US" dirty="0"/>
              <a:t>Being authenticated does NOT mean access to every resource.</a:t>
            </a:r>
          </a:p>
          <a:p>
            <a:endParaRPr lang="en-US" dirty="0"/>
          </a:p>
          <a:p>
            <a:r>
              <a:rPr lang="en-US" dirty="0"/>
              <a:t>Roles are NOT the only way to make authorization decisions.</a:t>
            </a:r>
          </a:p>
          <a:p>
            <a:endParaRPr lang="en-US" dirty="0"/>
          </a:p>
          <a:p>
            <a:r>
              <a:rPr lang="en-US" dirty="0"/>
              <a:t>Ownership can matter.</a:t>
            </a:r>
          </a:p>
          <a:p>
            <a:endParaRPr lang="en-US" dirty="0"/>
          </a:p>
          <a:p>
            <a:r>
              <a:rPr lang="en-US" dirty="0"/>
              <a:t>------------------------------------------------------------</a:t>
            </a:r>
          </a:p>
          <a:p>
            <a:endParaRPr lang="en-US" dirty="0"/>
          </a:p>
          <a:p>
            <a:r>
              <a:rPr lang="en-US" dirty="0"/>
              <a:t>IF USING ASP.NET CORE</a:t>
            </a:r>
          </a:p>
          <a:p>
            <a:endParaRPr lang="en-US" dirty="0"/>
          </a:p>
          <a:p>
            <a:r>
              <a:rPr lang="en-US" dirty="0"/>
              <a:t>Briefly connect to implementation.</a:t>
            </a:r>
          </a:p>
          <a:p>
            <a:endParaRPr lang="en-US" dirty="0"/>
          </a:p>
          <a:p>
            <a:r>
              <a:rPr lang="en-US" dirty="0"/>
              <a:t>Explain:</a:t>
            </a:r>
          </a:p>
          <a:p>
            <a:endParaRPr lang="en-US" dirty="0"/>
          </a:p>
          <a:p>
            <a:r>
              <a:rPr lang="en-US" dirty="0"/>
              <a:t>"ASP.NET Core gives us built-in authorization tools."</a:t>
            </a:r>
          </a:p>
          <a:p>
            <a:endParaRPr lang="en-US" dirty="0"/>
          </a:p>
          <a:p>
            <a:r>
              <a:rPr lang="en-US" dirty="0"/>
              <a:t>Examples include:</a:t>
            </a:r>
          </a:p>
          <a:p>
            <a:endParaRPr lang="en-US" dirty="0"/>
          </a:p>
          <a:p>
            <a:r>
              <a:rPr lang="en-US" dirty="0"/>
              <a:t>[Authorize]</a:t>
            </a:r>
          </a:p>
          <a:p>
            <a:endParaRPr lang="en-US" dirty="0"/>
          </a:p>
          <a:p>
            <a:r>
              <a:rPr lang="en-US" dirty="0"/>
              <a:t>Roles.</a:t>
            </a:r>
          </a:p>
          <a:p>
            <a:endParaRPr lang="en-US" dirty="0"/>
          </a:p>
          <a:p>
            <a:r>
              <a:rPr lang="en-US" dirty="0"/>
              <a:t>Policies.</a:t>
            </a:r>
          </a:p>
          <a:p>
            <a:endParaRPr lang="en-US" dirty="0"/>
          </a:p>
          <a:p>
            <a:r>
              <a:rPr lang="en-US" dirty="0"/>
              <a:t>Claims.</a:t>
            </a:r>
          </a:p>
          <a:p>
            <a:endParaRPr lang="en-US" dirty="0"/>
          </a:p>
          <a:p>
            <a:r>
              <a:rPr lang="en-US" dirty="0"/>
              <a:t>Keep these at the conceptual level.</a:t>
            </a:r>
          </a:p>
          <a:p>
            <a:endParaRPr lang="en-US" dirty="0"/>
          </a:p>
          <a:p>
            <a:r>
              <a:rPr lang="en-US" dirty="0"/>
              <a:t>Say:</a:t>
            </a:r>
          </a:p>
          <a:p>
            <a:endParaRPr lang="en-US" dirty="0"/>
          </a:p>
          <a:p>
            <a:r>
              <a:rPr lang="en-US" dirty="0"/>
              <a:t>"We're going to use the framework rather than inventing our own</a:t>
            </a:r>
          </a:p>
          <a:p>
            <a:r>
              <a:rPr lang="en-US" dirty="0"/>
              <a:t>authorization system."</a:t>
            </a:r>
          </a:p>
          <a:p>
            <a:endParaRPr lang="en-US" dirty="0"/>
          </a:p>
          <a:p>
            <a:r>
              <a:rPr lang="en-US" dirty="0"/>
              <a:t>------------------------------------------------------------</a:t>
            </a:r>
          </a:p>
          <a:p>
            <a:endParaRPr lang="en-US" dirty="0"/>
          </a:p>
          <a:p>
            <a:r>
              <a:rPr lang="en-US" dirty="0"/>
              <a:t>DO NOT OVERENGINEER</a:t>
            </a:r>
          </a:p>
          <a:p>
            <a:endParaRPr lang="en-US" dirty="0"/>
          </a:p>
          <a:p>
            <a:r>
              <a:rPr lang="en-US" dirty="0"/>
              <a:t>Say:</a:t>
            </a:r>
          </a:p>
          <a:p>
            <a:endParaRPr lang="en-US" dirty="0"/>
          </a:p>
          <a:p>
            <a:r>
              <a:rPr lang="en-US" dirty="0"/>
              <a:t>"For Atlas </a:t>
            </a:r>
            <a:r>
              <a:rPr lang="en-US" dirty="0" err="1"/>
              <a:t>TaskFlow</a:t>
            </a:r>
            <a:r>
              <a:rPr lang="en-US" dirty="0"/>
              <a:t>, we're going to keep this manageable."</a:t>
            </a:r>
          </a:p>
          <a:p>
            <a:endParaRPr lang="en-US" dirty="0"/>
          </a:p>
          <a:p>
            <a:r>
              <a:rPr lang="en-US" dirty="0"/>
              <a:t>"We don't need 50 roles."</a:t>
            </a:r>
          </a:p>
          <a:p>
            <a:endParaRPr lang="en-US" dirty="0"/>
          </a:p>
          <a:p>
            <a:r>
              <a:rPr lang="en-US" dirty="0"/>
              <a:t>"We don't need enterprise identity architecture."</a:t>
            </a:r>
          </a:p>
          <a:p>
            <a:endParaRPr lang="en-US" dirty="0"/>
          </a:p>
          <a:p>
            <a:r>
              <a:rPr lang="en-US" dirty="0"/>
              <a:t>"We need enough authorization to demonstrate that users can access</a:t>
            </a:r>
          </a:p>
          <a:p>
            <a:r>
              <a:rPr lang="en-US" dirty="0"/>
              <a:t>what they should and cannot access what they shouldn't."</a:t>
            </a:r>
          </a:p>
          <a:p>
            <a:endParaRPr lang="en-US" dirty="0"/>
          </a:p>
          <a:p>
            <a:r>
              <a:rPr lang="en-US" dirty="0"/>
              <a:t>This reinforces the scope of the SaaS class.</a:t>
            </a:r>
          </a:p>
          <a:p>
            <a:endParaRPr lang="en-US" dirty="0"/>
          </a:p>
          <a:p>
            <a:r>
              <a:rPr lang="en-US" dirty="0"/>
              <a:t>------------------------------------------------------------</a:t>
            </a:r>
          </a:p>
          <a:p>
            <a:endParaRPr lang="en-US" dirty="0"/>
          </a:p>
          <a:p>
            <a:r>
              <a:rPr lang="en-US" dirty="0"/>
              <a:t>ENGINEERING INSIGHT</a:t>
            </a:r>
          </a:p>
          <a:p>
            <a:endParaRPr lang="en-US" dirty="0"/>
          </a:p>
          <a:p>
            <a:r>
              <a:rPr lang="en-US" dirty="0"/>
              <a:t>Point to the statement:</a:t>
            </a:r>
          </a:p>
          <a:p>
            <a:endParaRPr lang="en-US" dirty="0"/>
          </a:p>
          <a:p>
            <a:r>
              <a:rPr lang="en-US" dirty="0"/>
              <a:t>"Good authorization is invisible when it works and powerful when it</a:t>
            </a:r>
          </a:p>
          <a:p>
            <a:r>
              <a:rPr lang="en-US" dirty="0"/>
              <a:t>protects."</a:t>
            </a:r>
          </a:p>
          <a:p>
            <a:endParaRPr lang="en-US" dirty="0"/>
          </a:p>
          <a:p>
            <a:r>
              <a:rPr lang="en-US" dirty="0"/>
              <a:t>Explain:</a:t>
            </a:r>
          </a:p>
          <a:p>
            <a:endParaRPr lang="en-US" dirty="0"/>
          </a:p>
          <a:p>
            <a:r>
              <a:rPr lang="en-US" dirty="0"/>
              <a:t>"A normal user shouldn't have to think about authorization."</a:t>
            </a:r>
          </a:p>
          <a:p>
            <a:endParaRPr lang="en-US" dirty="0"/>
          </a:p>
          <a:p>
            <a:r>
              <a:rPr lang="en-US" dirty="0"/>
              <a:t>"The application should simply enforce the rules."</a:t>
            </a:r>
          </a:p>
          <a:p>
            <a:endParaRPr lang="en-US" dirty="0"/>
          </a:p>
          <a:p>
            <a:r>
              <a:rPr lang="en-US" dirty="0"/>
              <a:t>------------------------------------------------------------</a:t>
            </a:r>
          </a:p>
          <a:p>
            <a:endParaRPr lang="en-US" dirty="0"/>
          </a:p>
          <a:p>
            <a:r>
              <a:rPr lang="en-US" dirty="0"/>
              <a:t>SPRINT CONNECTION</a:t>
            </a:r>
          </a:p>
          <a:p>
            <a:endParaRPr lang="en-US" dirty="0"/>
          </a:p>
          <a:p>
            <a:r>
              <a:rPr lang="en-US" dirty="0"/>
              <a:t>Point to:</a:t>
            </a:r>
          </a:p>
          <a:p>
            <a:endParaRPr lang="en-US" dirty="0"/>
          </a:p>
          <a:p>
            <a:r>
              <a:rPr lang="en-US" dirty="0"/>
              <a:t>⑥ PROTECT IT</a:t>
            </a:r>
          </a:p>
          <a:p>
            <a:endParaRPr lang="en-US" dirty="0"/>
          </a:p>
          <a:p>
            <a:r>
              <a:rPr lang="en-US" dirty="0"/>
              <a:t>Say:</a:t>
            </a:r>
          </a:p>
          <a:p>
            <a:endParaRPr lang="en-US" dirty="0"/>
          </a:p>
          <a:p>
            <a:r>
              <a:rPr lang="en-US" dirty="0"/>
              <a:t>"Authentication gave Atlas identity."</a:t>
            </a:r>
          </a:p>
          <a:p>
            <a:endParaRPr lang="en-US" dirty="0"/>
          </a:p>
          <a:p>
            <a:r>
              <a:rPr lang="en-US" dirty="0"/>
              <a:t>"Authorization gives Atlas boundaries."</a:t>
            </a:r>
          </a:p>
          <a:p>
            <a:endParaRPr lang="en-US" dirty="0"/>
          </a:p>
          <a:p>
            <a:r>
              <a:rPr lang="en-US" dirty="0"/>
              <a:t>Now Atlas can answer:</a:t>
            </a:r>
          </a:p>
          <a:p>
            <a:endParaRPr lang="en-US" dirty="0"/>
          </a:p>
          <a:p>
            <a:r>
              <a:rPr lang="en-US" dirty="0"/>
              <a:t>"Who are you?"</a:t>
            </a:r>
          </a:p>
          <a:p>
            <a:endParaRPr lang="en-US" dirty="0"/>
          </a:p>
          <a:p>
            <a:r>
              <a:rPr lang="en-US" dirty="0"/>
              <a:t>and:</a:t>
            </a:r>
          </a:p>
          <a:p>
            <a:endParaRPr lang="en-US" dirty="0"/>
          </a:p>
          <a:p>
            <a:r>
              <a:rPr lang="en-US" dirty="0"/>
              <a:t>"What are you allowed to do?"</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PROTECTING USER DATA.</a:t>
            </a:r>
          </a:p>
          <a:p>
            <a:endParaRPr lang="en-US" dirty="0"/>
          </a:p>
          <a:p>
            <a:r>
              <a:rPr lang="en-US" dirty="0"/>
              <a:t>Say:</a:t>
            </a:r>
          </a:p>
          <a:p>
            <a:endParaRPr lang="en-US" dirty="0"/>
          </a:p>
          <a:p>
            <a:r>
              <a:rPr lang="en-US" dirty="0"/>
              <a:t>"There's one more important question."</a:t>
            </a:r>
          </a:p>
          <a:p>
            <a:endParaRPr lang="en-US" dirty="0"/>
          </a:p>
          <a:p>
            <a:r>
              <a:rPr lang="en-US" dirty="0"/>
              <a:t>"If Atlas knows who you are and what you're allowed to do..."</a:t>
            </a:r>
          </a:p>
          <a:p>
            <a:endParaRPr lang="en-US" dirty="0"/>
          </a:p>
          <a:p>
            <a:r>
              <a:rPr lang="en-US" dirty="0"/>
              <a:t>"How do we protect the information itself?"</a:t>
            </a:r>
          </a:p>
          <a:p>
            <a:endParaRPr lang="en-US" dirty="0"/>
          </a:p>
          <a:p>
            <a:r>
              <a:rPr lang="en-US" dirty="0"/>
              <a:t>Next:</a:t>
            </a:r>
          </a:p>
          <a:p>
            <a:endParaRPr lang="en-US" dirty="0"/>
          </a:p>
          <a:p>
            <a:r>
              <a:rPr lang="en-US" dirty="0"/>
              <a:t>Passwords.</a:t>
            </a:r>
          </a:p>
          <a:p>
            <a:endParaRPr lang="en-US" dirty="0"/>
          </a:p>
          <a:p>
            <a:r>
              <a:rPr lang="en-US" dirty="0"/>
              <a:t>Secrets.</a:t>
            </a:r>
          </a:p>
          <a:p>
            <a:endParaRPr lang="en-US" dirty="0"/>
          </a:p>
          <a:p>
            <a:r>
              <a:rPr lang="en-US" dirty="0"/>
              <a:t>Sensitive data.</a:t>
            </a:r>
          </a:p>
          <a:p>
            <a:endParaRPr lang="en-US" dirty="0"/>
          </a:p>
          <a:p>
            <a:r>
              <a:rPr lang="en-US" dirty="0"/>
              <a:t>Secure configuration.</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"Authentication answers..."</a:t>
            </a:r>
          </a:p>
          <a:p>
            <a:endParaRPr lang="en-US" dirty="0"/>
          </a:p>
          <a:p>
            <a:r>
              <a:rPr lang="en-US" dirty="0"/>
              <a:t>'Who are you?'</a:t>
            </a:r>
          </a:p>
          <a:p>
            <a:endParaRPr lang="en-US" dirty="0"/>
          </a:p>
          <a:p>
            <a:r>
              <a:rPr lang="en-US" dirty="0"/>
              <a:t>Pause.</a:t>
            </a:r>
          </a:p>
          <a:p>
            <a:endParaRPr lang="en-US" dirty="0"/>
          </a:p>
          <a:p>
            <a:r>
              <a:rPr lang="en-US" dirty="0"/>
              <a:t>"Authorization answers..."</a:t>
            </a:r>
          </a:p>
          <a:p>
            <a:endParaRPr lang="en-US" dirty="0"/>
          </a:p>
          <a:p>
            <a:r>
              <a:rPr lang="en-US" dirty="0"/>
              <a:t>'What are you allowed to do?'</a:t>
            </a:r>
          </a:p>
          <a:p>
            <a:endParaRPr lang="en-US" dirty="0"/>
          </a:p>
          <a:p>
            <a:r>
              <a:rPr lang="en-US" dirty="0"/>
              <a:t>Then:</a:t>
            </a:r>
          </a:p>
          <a:p>
            <a:endParaRPr lang="en-US" dirty="0"/>
          </a:p>
          <a:p>
            <a:r>
              <a:rPr lang="en-US" dirty="0"/>
              <a:t>"Security isn't about giving everyone access."</a:t>
            </a:r>
          </a:p>
          <a:p>
            <a:endParaRPr lang="en-US" dirty="0"/>
          </a:p>
          <a:p>
            <a:r>
              <a:rPr lang="en-US" dirty="0"/>
              <a:t>"It's about giving the right people the right access."</a:t>
            </a:r>
          </a:p>
          <a:p>
            <a:endParaRPr lang="en-US" dirty="0"/>
          </a:p>
          <a:p>
            <a:r>
              <a:rPr lang="en-US" dirty="0"/>
              <a:t>============================================================</a:t>
            </a:r>
          </a:p>
          <a:p>
            <a:endParaRPr lang="en-US" dirty="0"/>
          </a:p>
          <a:p>
            <a:r>
              <a:rPr lang="en-US" dirty="0"/>
              <a:t>ESTIMATED TIME</a:t>
            </a:r>
          </a:p>
          <a:p>
            <a:endParaRPr lang="en-US" dirty="0"/>
          </a:p>
          <a:p>
            <a:r>
              <a:rPr lang="en-US" dirty="0"/>
              <a:t>Authentication Review................5 minutes</a:t>
            </a:r>
          </a:p>
          <a:p>
            <a:endParaRPr lang="en-US" dirty="0"/>
          </a:p>
          <a:p>
            <a:r>
              <a:rPr lang="en-US" dirty="0"/>
              <a:t>Authorization Concept................10 minutes</a:t>
            </a:r>
          </a:p>
          <a:p>
            <a:endParaRPr lang="en-US" dirty="0"/>
          </a:p>
          <a:p>
            <a:r>
              <a:rPr lang="en-US" dirty="0"/>
              <a:t>Roles &amp; Permissions...................12 minutes</a:t>
            </a:r>
          </a:p>
          <a:p>
            <a:endParaRPr lang="en-US" dirty="0"/>
          </a:p>
          <a:p>
            <a:r>
              <a:rPr lang="en-US" dirty="0"/>
              <a:t>Ownership.............................10 minutes</a:t>
            </a:r>
          </a:p>
          <a:p>
            <a:endParaRPr lang="en-US" dirty="0"/>
          </a:p>
          <a:p>
            <a:r>
              <a:rPr lang="en-US" dirty="0"/>
              <a:t>Server-Side Enforcement................10 minutes</a:t>
            </a:r>
          </a:p>
          <a:p>
            <a:endParaRPr lang="en-US" dirty="0"/>
          </a:p>
          <a:p>
            <a:r>
              <a:rPr lang="en-US" dirty="0"/>
              <a:t>Authorization Matrix Challenge.........10 minutes</a:t>
            </a:r>
          </a:p>
          <a:p>
            <a:endParaRPr lang="en-US" dirty="0"/>
          </a:p>
          <a:p>
            <a:r>
              <a:rPr lang="en-US" dirty="0"/>
              <a:t>Testing &amp; Discussion...................8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lesson should be highly scenario-driven.</a:t>
            </a:r>
          </a:p>
          <a:p>
            <a:endParaRPr lang="en-US" dirty="0"/>
          </a:p>
          <a:p>
            <a:r>
              <a:rPr lang="en-US" dirty="0"/>
              <a:t>Avoid turning authorization into a lecture about framework attributes.</a:t>
            </a:r>
          </a:p>
          <a:p>
            <a:endParaRPr lang="en-US" dirty="0"/>
          </a:p>
          <a:p>
            <a:r>
              <a:rPr lang="en-US" dirty="0"/>
              <a:t>Use Atlas examples.</a:t>
            </a:r>
          </a:p>
          <a:p>
            <a:endParaRPr lang="en-US" dirty="0"/>
          </a:p>
          <a:p>
            <a:r>
              <a:rPr lang="en-US" dirty="0"/>
              <a:t>Ask:</a:t>
            </a:r>
          </a:p>
          <a:p>
            <a:endParaRPr lang="en-US" dirty="0"/>
          </a:p>
          <a:p>
            <a:r>
              <a:rPr lang="en-US" dirty="0"/>
              <a:t>"Should Alex be able to do this?"</a:t>
            </a:r>
          </a:p>
          <a:p>
            <a:endParaRPr lang="en-US" dirty="0"/>
          </a:p>
          <a:p>
            <a:r>
              <a:rPr lang="en-US" dirty="0"/>
              <a:t>"Why?"</a:t>
            </a:r>
          </a:p>
          <a:p>
            <a:endParaRPr lang="en-US" dirty="0"/>
          </a:p>
          <a:p>
            <a:r>
              <a:rPr lang="en-US" dirty="0"/>
              <a:t>"What rule would allow or deny it?"</a:t>
            </a:r>
          </a:p>
          <a:p>
            <a:endParaRPr lang="en-US" dirty="0"/>
          </a:p>
          <a:p>
            <a:r>
              <a:rPr lang="en-US" dirty="0"/>
              <a:t>Then translate the answer into an authorization concept.</a:t>
            </a:r>
          </a:p>
          <a:p>
            <a:endParaRPr lang="en-US" dirty="0"/>
          </a:p>
          <a:p>
            <a:r>
              <a:rPr lang="en-US" dirty="0"/>
              <a:t>------------------------------------------------------------</a:t>
            </a:r>
          </a:p>
          <a:p>
            <a:endParaRPr lang="en-US" dirty="0"/>
          </a:p>
          <a:p>
            <a:r>
              <a:rPr lang="en-US" dirty="0"/>
              <a:t>IMPORTANT TEACHING MOVE</a:t>
            </a:r>
          </a:p>
          <a:p>
            <a:endParaRPr lang="en-US" dirty="0"/>
          </a:p>
          <a:p>
            <a:r>
              <a:rPr lang="en-US" dirty="0"/>
              <a:t>Keep returning to:</a:t>
            </a:r>
          </a:p>
          <a:p>
            <a:endParaRPr lang="en-US" dirty="0"/>
          </a:p>
          <a:p>
            <a:r>
              <a:rPr lang="en-US" dirty="0"/>
              <a:t>WHO?</a:t>
            </a:r>
          </a:p>
          <a:p>
            <a:endParaRPr lang="en-US" dirty="0"/>
          </a:p>
          <a:p>
            <a:r>
              <a:rPr lang="en-US" dirty="0"/>
              <a:t>WHAT?</a:t>
            </a:r>
          </a:p>
          <a:p>
            <a:endParaRPr lang="en-US" dirty="0"/>
          </a:p>
          <a:p>
            <a:r>
              <a:rPr lang="en-US" dirty="0"/>
              <a:t>Authentication:</a:t>
            </a:r>
          </a:p>
          <a:p>
            <a:endParaRPr lang="en-US" dirty="0"/>
          </a:p>
          <a:p>
            <a:r>
              <a:rPr lang="en-US" dirty="0"/>
              <a:t>WHO ARE YOU?</a:t>
            </a:r>
          </a:p>
          <a:p>
            <a:endParaRPr lang="en-US" dirty="0"/>
          </a:p>
          <a:p>
            <a:r>
              <a:rPr lang="en-US" dirty="0"/>
              <a:t>Authorization:</a:t>
            </a:r>
          </a:p>
          <a:p>
            <a:endParaRPr lang="en-US" dirty="0"/>
          </a:p>
          <a:p>
            <a:r>
              <a:rPr lang="en-US" dirty="0"/>
              <a:t>WHAT CAN YOU DO?</a:t>
            </a:r>
          </a:p>
          <a:p>
            <a:endParaRPr lang="en-US" dirty="0"/>
          </a:p>
          <a:p>
            <a:r>
              <a:rPr lang="en-US" dirty="0"/>
              <a:t>This distinction should become automatic.</a:t>
            </a:r>
          </a:p>
          <a:p>
            <a:endParaRPr lang="en-US" dirty="0"/>
          </a:p>
          <a:p>
            <a:r>
              <a:rPr lang="en-US" dirty="0"/>
              <a:t>------------------------------------------------------------</a:t>
            </a:r>
          </a:p>
          <a:p>
            <a:endParaRPr lang="en-US" dirty="0"/>
          </a:p>
          <a:p>
            <a:r>
              <a:rPr lang="en-US" dirty="0"/>
              <a:t>SECURITY BOUNDARY</a:t>
            </a:r>
          </a:p>
          <a:p>
            <a:endParaRPr lang="en-US" dirty="0"/>
          </a:p>
          <a:p>
            <a:r>
              <a:rPr lang="en-US" dirty="0"/>
              <a:t>Don't go deeply into:</a:t>
            </a:r>
          </a:p>
          <a:p>
            <a:endParaRPr lang="en-US" dirty="0"/>
          </a:p>
          <a:p>
            <a:r>
              <a:rPr lang="en-US" dirty="0"/>
              <a:t>• Claims-based identity architecture</a:t>
            </a:r>
          </a:p>
          <a:p>
            <a:r>
              <a:rPr lang="en-US" dirty="0"/>
              <a:t>• OAuth/OIDC internals</a:t>
            </a:r>
          </a:p>
          <a:p>
            <a:r>
              <a:rPr lang="en-US" dirty="0"/>
              <a:t>• JWT implementation</a:t>
            </a:r>
          </a:p>
          <a:p>
            <a:r>
              <a:rPr lang="en-US" dirty="0"/>
              <a:t>• Complex policy engines</a:t>
            </a:r>
          </a:p>
          <a:p>
            <a:r>
              <a:rPr lang="en-US" dirty="0"/>
              <a:t>• Multi-tenant authorization architecture</a:t>
            </a:r>
          </a:p>
          <a:p>
            <a:endParaRPr lang="en-US" dirty="0"/>
          </a:p>
          <a:p>
            <a:r>
              <a:rPr lang="en-US" dirty="0"/>
              <a:t>Those are outside the scope of this course.</a:t>
            </a:r>
          </a:p>
          <a:p>
            <a:endParaRPr lang="en-US" dirty="0"/>
          </a:p>
          <a:p>
            <a:r>
              <a:rPr lang="en-US" dirty="0"/>
              <a:t>Introduce the concepts only enough for students to understand the</a:t>
            </a:r>
          </a:p>
          <a:p>
            <a:r>
              <a:rPr lang="en-US" dirty="0"/>
              <a:t>security model.</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AUTHENTICATION</a:t>
            </a:r>
          </a:p>
          <a:p>
            <a:r>
              <a:rPr lang="en-US" dirty="0"/>
              <a:t>= WHO?</a:t>
            </a:r>
          </a:p>
          <a:p>
            <a:endParaRPr lang="en-US" dirty="0"/>
          </a:p>
          <a:p>
            <a:r>
              <a:rPr lang="en-US" dirty="0"/>
              <a:t>AUTHORIZATION</a:t>
            </a:r>
          </a:p>
          <a:p>
            <a:r>
              <a:rPr lang="en-US" dirty="0"/>
              <a:t>= WHAT?</a:t>
            </a:r>
          </a:p>
          <a:p>
            <a:endParaRPr lang="en-US" dirty="0"/>
          </a:p>
          <a:p>
            <a:r>
              <a:rPr lang="en-US" dirty="0"/>
              <a:t>ROLE</a:t>
            </a:r>
          </a:p>
          <a:p>
            <a:r>
              <a:rPr lang="en-US" dirty="0"/>
              <a:t>= COLLECTION OF PERMISSIONS</a:t>
            </a:r>
          </a:p>
          <a:p>
            <a:endParaRPr lang="en-US" dirty="0"/>
          </a:p>
          <a:p>
            <a:r>
              <a:rPr lang="en-US" dirty="0"/>
              <a:t>OWNERSHIP</a:t>
            </a:r>
          </a:p>
          <a:p>
            <a:r>
              <a:rPr lang="en-US" dirty="0"/>
              <a:t>= WHO CONTROLS THE RESOURCE?</a:t>
            </a:r>
          </a:p>
          <a:p>
            <a:endParaRPr lang="en-US" dirty="0"/>
          </a:p>
          <a:p>
            <a:r>
              <a:rPr lang="en-US" dirty="0"/>
              <a:t>LEAST PRIVILEGE</a:t>
            </a:r>
          </a:p>
          <a:p>
            <a:r>
              <a:rPr lang="en-US" dirty="0"/>
              <a:t>= ONLY WHAT IS NEEDED</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"Atlas now knows who you are."</a:t>
            </a:r>
          </a:p>
          <a:p>
            <a:endParaRPr lang="en-US" dirty="0"/>
          </a:p>
          <a:p>
            <a:r>
              <a:rPr lang="en-US" dirty="0"/>
              <a:t>"Today, we taught Atlas what you're allowed to do."</a:t>
            </a:r>
          </a:p>
          <a:p>
            <a:endParaRPr lang="en-US" dirty="0"/>
          </a:p>
          <a:p>
            <a:r>
              <a:rPr lang="en-US" dirty="0"/>
              <a:t>"Next..."</a:t>
            </a:r>
          </a:p>
          <a:p>
            <a:endParaRPr lang="en-US" dirty="0"/>
          </a:p>
          <a:p>
            <a:r>
              <a:rPr lang="en-US" dirty="0"/>
              <a:t>"We protect the information Atlas is responsible for."</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2</a:t>
            </a:fld>
            <a:endParaRPr lang="en-US"/>
          </a:p>
        </p:txBody>
      </p:sp>
    </p:spTree>
    <p:extLst>
      <p:ext uri="{BB962C8B-B14F-4D97-AF65-F5344CB8AC3E}">
        <p14:creationId xmlns:p14="http://schemas.microsoft.com/office/powerpoint/2010/main" val="3822463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PROTECTING USER DATA</a:t>
            </a:r>
          </a:p>
          <a:p>
            <a:endParaRPr lang="en-US" dirty="0"/>
          </a:p>
          <a:p>
            <a:r>
              <a:rPr lang="en-US" dirty="0"/>
              <a:t>"Guard the information Atlas </a:t>
            </a:r>
            <a:r>
              <a:rPr lang="en-US" dirty="0" err="1"/>
              <a:t>TaskFlow</a:t>
            </a:r>
            <a:r>
              <a:rPr lang="en-US" dirty="0"/>
              <a:t> is responsible for."</a:t>
            </a:r>
          </a:p>
          <a:p>
            <a:endParaRPr lang="en-US" dirty="0"/>
          </a:p>
          <a:p>
            <a:r>
              <a:rPr lang="en-US" dirty="0"/>
              <a:t>============================================================</a:t>
            </a:r>
          </a:p>
          <a:p>
            <a:endParaRPr lang="en-US" dirty="0"/>
          </a:p>
          <a:p>
            <a:r>
              <a:rPr lang="en-US" dirty="0"/>
              <a:t>SLIDE PURPOSE</a:t>
            </a:r>
          </a:p>
          <a:p>
            <a:endParaRPr lang="en-US" dirty="0"/>
          </a:p>
          <a:p>
            <a:r>
              <a:rPr lang="en-US" dirty="0"/>
              <a:t>Help students understand that application security extends beyond</a:t>
            </a:r>
          </a:p>
          <a:p>
            <a:r>
              <a:rPr lang="en-US" dirty="0"/>
              <a:t>authentication and authorization.</a:t>
            </a:r>
          </a:p>
          <a:p>
            <a:endParaRPr lang="en-US" dirty="0"/>
          </a:p>
          <a:p>
            <a:r>
              <a:rPr lang="en-US" dirty="0"/>
              <a:t>Students should identify the types of information Atlas </a:t>
            </a:r>
            <a:r>
              <a:rPr lang="en-US" dirty="0" err="1"/>
              <a:t>TaskFlow</a:t>
            </a:r>
            <a:endParaRPr lang="en-US" dirty="0"/>
          </a:p>
          <a:p>
            <a:r>
              <a:rPr lang="en-US" dirty="0"/>
              <a:t>needs to protect and understand basic methods for protecting that</a:t>
            </a:r>
          </a:p>
          <a:p>
            <a:r>
              <a:rPr lang="en-US" dirty="0"/>
              <a:t>information.</a:t>
            </a:r>
          </a:p>
          <a:p>
            <a:endParaRPr lang="en-US" dirty="0"/>
          </a:p>
          <a:p>
            <a:r>
              <a:rPr lang="en-US" dirty="0"/>
              <a:t>Students should understand:</a:t>
            </a:r>
          </a:p>
          <a:p>
            <a:endParaRPr lang="en-US" dirty="0"/>
          </a:p>
          <a:p>
            <a:r>
              <a:rPr lang="en-US" dirty="0"/>
              <a:t>• Credentials</a:t>
            </a:r>
          </a:p>
          <a:p>
            <a:r>
              <a:rPr lang="en-US" dirty="0"/>
              <a:t>• Passwords</a:t>
            </a:r>
          </a:p>
          <a:p>
            <a:r>
              <a:rPr lang="en-US" dirty="0"/>
              <a:t>• Application secrets</a:t>
            </a:r>
          </a:p>
          <a:p>
            <a:r>
              <a:rPr lang="en-US" dirty="0"/>
              <a:t>• Connection strings</a:t>
            </a:r>
          </a:p>
          <a:p>
            <a:r>
              <a:rPr lang="en-US" dirty="0"/>
              <a:t>• Sensitive user/application data</a:t>
            </a:r>
          </a:p>
          <a:p>
            <a:r>
              <a:rPr lang="en-US" dirty="0"/>
              <a:t>• Data at rest</a:t>
            </a:r>
          </a:p>
          <a:p>
            <a:r>
              <a:rPr lang="en-US" dirty="0"/>
              <a:t>• Data in transit</a:t>
            </a:r>
          </a:p>
          <a:p>
            <a:r>
              <a:rPr lang="en-US" dirty="0"/>
              <a:t>• Secure configuration</a:t>
            </a:r>
          </a:p>
          <a:p>
            <a:r>
              <a:rPr lang="en-US" dirty="0"/>
              <a:t>• Logging considerations</a:t>
            </a:r>
          </a:p>
          <a:p>
            <a:r>
              <a:rPr lang="en-US" dirty="0"/>
              <a:t>• Defense in depth</a:t>
            </a:r>
          </a:p>
          <a:p>
            <a:endParaRPr lang="en-US" dirty="0"/>
          </a:p>
          <a:p>
            <a:r>
              <a:rPr lang="en-US" dirty="0"/>
              <a:t>The objective is security awareness and practical application.</a:t>
            </a:r>
          </a:p>
          <a:p>
            <a:endParaRPr lang="en-US" dirty="0"/>
          </a:p>
          <a:p>
            <a:r>
              <a:rPr lang="en-US" dirty="0"/>
              <a:t>This is NOT a cybersecurity certification course.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"Last lesson, Atlas learned who you are."</a:t>
            </a:r>
          </a:p>
          <a:p>
            <a:endParaRPr lang="en-US" dirty="0"/>
          </a:p>
          <a:p>
            <a:r>
              <a:rPr lang="en-US" dirty="0"/>
              <a:t>"Then Atlas learned what you're allowed to do."</a:t>
            </a:r>
          </a:p>
          <a:p>
            <a:endParaRPr lang="en-US" dirty="0"/>
          </a:p>
          <a:p>
            <a:r>
              <a:rPr lang="en-US" dirty="0"/>
              <a:t>Pause.</a:t>
            </a:r>
          </a:p>
          <a:p>
            <a:endParaRPr lang="en-US" dirty="0"/>
          </a:p>
          <a:p>
            <a:r>
              <a:rPr lang="en-US" dirty="0"/>
              <a:t>"But there's another question."</a:t>
            </a:r>
          </a:p>
          <a:p>
            <a:endParaRPr lang="en-US" dirty="0"/>
          </a:p>
          <a:p>
            <a:r>
              <a:rPr lang="en-US" dirty="0"/>
              <a:t>Point to the center of the poster.</a:t>
            </a:r>
          </a:p>
          <a:p>
            <a:endParaRPr lang="en-US" dirty="0"/>
          </a:p>
          <a:p>
            <a:r>
              <a:rPr lang="en-US" dirty="0"/>
              <a:t>"What exactly are we protecting?"</a:t>
            </a:r>
          </a:p>
          <a:p>
            <a:endParaRPr lang="en-US" dirty="0"/>
          </a:p>
          <a:p>
            <a:r>
              <a:rPr lang="en-US" dirty="0"/>
              <a:t>------------------------------------------------------------</a:t>
            </a:r>
          </a:p>
          <a:p>
            <a:endParaRPr lang="en-US" dirty="0"/>
          </a:p>
          <a:p>
            <a:r>
              <a:rPr lang="en-US" dirty="0"/>
              <a:t>THE ENGINEERING QUESTION</a:t>
            </a:r>
          </a:p>
          <a:p>
            <a:endParaRPr lang="en-US" dirty="0"/>
          </a:p>
          <a:p>
            <a:r>
              <a:rPr lang="en-US" dirty="0"/>
              <a:t>Ask:</a:t>
            </a:r>
          </a:p>
          <a:p>
            <a:endParaRPr lang="en-US" dirty="0"/>
          </a:p>
          <a:p>
            <a:r>
              <a:rPr lang="en-US" dirty="0"/>
              <a:t>"If users trust Atlas </a:t>
            </a:r>
            <a:r>
              <a:rPr lang="en-US" dirty="0" err="1"/>
              <a:t>TaskFlow</a:t>
            </a:r>
            <a:r>
              <a:rPr lang="en-US" dirty="0"/>
              <a:t> with their information..."</a:t>
            </a:r>
          </a:p>
          <a:p>
            <a:endParaRPr lang="en-US" dirty="0"/>
          </a:p>
          <a:p>
            <a:r>
              <a:rPr lang="en-US" dirty="0"/>
              <a:t>"What responsibility do we have?"</a:t>
            </a:r>
          </a:p>
          <a:p>
            <a:endParaRPr lang="en-US" dirty="0"/>
          </a:p>
          <a:p>
            <a:r>
              <a:rPr lang="en-US" dirty="0"/>
              <a:t>Let students answer.</a:t>
            </a:r>
          </a:p>
          <a:p>
            <a:endParaRPr lang="en-US" dirty="0"/>
          </a:p>
          <a:p>
            <a:r>
              <a:rPr lang="en-US" dirty="0"/>
              <a:t>Possible answers:</a:t>
            </a:r>
          </a:p>
          <a:p>
            <a:endParaRPr lang="en-US" dirty="0"/>
          </a:p>
          <a:p>
            <a:r>
              <a:rPr lang="en-US" dirty="0"/>
              <a:t>"Keep it private."</a:t>
            </a:r>
          </a:p>
          <a:p>
            <a:endParaRPr lang="en-US" dirty="0"/>
          </a:p>
          <a:p>
            <a:r>
              <a:rPr lang="en-US" dirty="0"/>
              <a:t>"Don't lose it."</a:t>
            </a:r>
          </a:p>
          <a:p>
            <a:endParaRPr lang="en-US" dirty="0"/>
          </a:p>
          <a:p>
            <a:r>
              <a:rPr lang="en-US" dirty="0"/>
              <a:t>"Don't let unauthorized users access it."</a:t>
            </a:r>
          </a:p>
          <a:p>
            <a:endParaRPr lang="en-US" dirty="0"/>
          </a:p>
          <a:p>
            <a:r>
              <a:rPr lang="en-US" dirty="0"/>
              <a:t>"Protect passwords."</a:t>
            </a:r>
          </a:p>
          <a:p>
            <a:endParaRPr lang="en-US" dirty="0"/>
          </a:p>
          <a:p>
            <a:r>
              <a:rPr lang="en-US" dirty="0"/>
              <a:t>"Keep hackers out."</a:t>
            </a:r>
          </a:p>
          <a:p>
            <a:endParaRPr lang="en-US" dirty="0"/>
          </a:p>
          <a:p>
            <a:r>
              <a:rPr lang="en-US" dirty="0"/>
              <a:t>Exactly.</a:t>
            </a:r>
          </a:p>
          <a:p>
            <a:endParaRPr lang="en-US" dirty="0"/>
          </a:p>
          <a:p>
            <a:r>
              <a:rPr lang="en-US" dirty="0"/>
              <a:t>Say:</a:t>
            </a:r>
          </a:p>
          <a:p>
            <a:endParaRPr lang="en-US" dirty="0"/>
          </a:p>
          <a:p>
            <a:r>
              <a:rPr lang="en-US" dirty="0"/>
              <a:t>"Security is about protecting the information users trust us with."</a:t>
            </a:r>
          </a:p>
          <a:p>
            <a:endParaRPr lang="en-US" dirty="0"/>
          </a:p>
          <a:p>
            <a:r>
              <a:rPr lang="en-US" dirty="0"/>
              <a:t>------------------------------------------------------------</a:t>
            </a:r>
          </a:p>
          <a:p>
            <a:endParaRPr lang="en-US" dirty="0"/>
          </a:p>
          <a:p>
            <a:r>
              <a:rPr lang="en-US" dirty="0"/>
              <a:t>THE BIG IDEA</a:t>
            </a:r>
          </a:p>
          <a:p>
            <a:endParaRPr lang="en-US" dirty="0"/>
          </a:p>
          <a:p>
            <a:r>
              <a:rPr lang="en-US" dirty="0"/>
              <a:t>Point to:</a:t>
            </a:r>
          </a:p>
          <a:p>
            <a:endParaRPr lang="en-US" dirty="0"/>
          </a:p>
          <a:p>
            <a:r>
              <a:rPr lang="en-US" dirty="0"/>
              <a:t>"Security is not just about login."</a:t>
            </a:r>
          </a:p>
          <a:p>
            <a:endParaRPr lang="en-US" dirty="0"/>
          </a:p>
          <a:p>
            <a:r>
              <a:rPr lang="en-US" dirty="0"/>
              <a:t>"It's about protecting the data."</a:t>
            </a:r>
          </a:p>
          <a:p>
            <a:endParaRPr lang="en-US" dirty="0"/>
          </a:p>
          <a:p>
            <a:r>
              <a:rPr lang="en-US" dirty="0"/>
              <a:t>Explain:</a:t>
            </a:r>
          </a:p>
          <a:p>
            <a:endParaRPr lang="en-US" dirty="0"/>
          </a:p>
          <a:p>
            <a:r>
              <a:rPr lang="en-US" dirty="0"/>
              <a:t>"A login screen can be perfectly designed..."</a:t>
            </a:r>
          </a:p>
          <a:p>
            <a:endParaRPr lang="en-US" dirty="0"/>
          </a:p>
          <a:p>
            <a:r>
              <a:rPr lang="en-US" dirty="0"/>
              <a:t>"...and we can still have an insecure application."</a:t>
            </a:r>
          </a:p>
          <a:p>
            <a:endParaRPr lang="en-US" dirty="0"/>
          </a:p>
          <a:p>
            <a:r>
              <a:rPr lang="en-US" dirty="0"/>
              <a:t>Why?</a:t>
            </a:r>
          </a:p>
          <a:p>
            <a:endParaRPr lang="en-US" dirty="0"/>
          </a:p>
          <a:p>
            <a:r>
              <a:rPr lang="en-US" dirty="0"/>
              <a:t>Because the application might:</a:t>
            </a:r>
          </a:p>
          <a:p>
            <a:endParaRPr lang="en-US" dirty="0"/>
          </a:p>
          <a:p>
            <a:r>
              <a:rPr lang="en-US" dirty="0"/>
              <a:t>Expose sensitive information.</a:t>
            </a:r>
          </a:p>
          <a:p>
            <a:endParaRPr lang="en-US" dirty="0"/>
          </a:p>
          <a:p>
            <a:r>
              <a:rPr lang="en-US" dirty="0"/>
              <a:t>Store passwords incorrectly.</a:t>
            </a:r>
          </a:p>
          <a:p>
            <a:endParaRPr lang="en-US" dirty="0"/>
          </a:p>
          <a:p>
            <a:r>
              <a:rPr lang="en-US" dirty="0"/>
              <a:t>Leak secrets.</a:t>
            </a:r>
          </a:p>
          <a:p>
            <a:endParaRPr lang="en-US" dirty="0"/>
          </a:p>
          <a:p>
            <a:r>
              <a:rPr lang="en-US" dirty="0"/>
              <a:t>Use insecure connections.</a:t>
            </a:r>
          </a:p>
          <a:p>
            <a:endParaRPr lang="en-US" dirty="0"/>
          </a:p>
          <a:p>
            <a:r>
              <a:rPr lang="en-US" dirty="0"/>
              <a:t>Return data to the wrong user.</a:t>
            </a:r>
          </a:p>
          <a:p>
            <a:endParaRPr lang="en-US" dirty="0"/>
          </a:p>
          <a:p>
            <a:r>
              <a:rPr lang="en-US" dirty="0"/>
              <a:t>Log sensitive information.</a:t>
            </a:r>
          </a:p>
          <a:p>
            <a:endParaRPr lang="en-US" dirty="0"/>
          </a:p>
          <a:p>
            <a:r>
              <a:rPr lang="en-US" dirty="0"/>
              <a:t>Security is broader than authentication.</a:t>
            </a:r>
          </a:p>
          <a:p>
            <a:endParaRPr lang="en-US" dirty="0"/>
          </a:p>
          <a:p>
            <a:r>
              <a:rPr lang="en-US" dirty="0"/>
              <a:t>------------------------------------------------------------</a:t>
            </a:r>
          </a:p>
          <a:p>
            <a:endParaRPr lang="en-US" dirty="0"/>
          </a:p>
          <a:p>
            <a:r>
              <a:rPr lang="en-US" dirty="0"/>
              <a:t>WHAT DATA DOES ATLAS HAVE?</a:t>
            </a:r>
          </a:p>
          <a:p>
            <a:endParaRPr lang="en-US" dirty="0"/>
          </a:p>
          <a:p>
            <a:r>
              <a:rPr lang="en-US" dirty="0"/>
              <a:t>Point to the data categories.</a:t>
            </a:r>
          </a:p>
          <a:p>
            <a:endParaRPr lang="en-US" dirty="0"/>
          </a:p>
          <a:p>
            <a:r>
              <a:rPr lang="en-US" dirty="0"/>
              <a:t>Ask students:</a:t>
            </a:r>
          </a:p>
          <a:p>
            <a:endParaRPr lang="en-US" dirty="0"/>
          </a:p>
          <a:p>
            <a:r>
              <a:rPr lang="en-US" dirty="0"/>
              <a:t>"What information does Atlas </a:t>
            </a:r>
            <a:r>
              <a:rPr lang="en-US" dirty="0" err="1"/>
              <a:t>TaskFlow</a:t>
            </a:r>
            <a:r>
              <a:rPr lang="en-US" dirty="0"/>
              <a:t> contain?"</a:t>
            </a:r>
          </a:p>
          <a:p>
            <a:endParaRPr lang="en-US" dirty="0"/>
          </a:p>
          <a:p>
            <a:r>
              <a:rPr lang="en-US" dirty="0"/>
              <a:t>Students may identify:</a:t>
            </a:r>
          </a:p>
          <a:p>
            <a:endParaRPr lang="en-US" dirty="0"/>
          </a:p>
          <a:p>
            <a:r>
              <a:rPr lang="en-US" dirty="0"/>
              <a:t>User accounts.</a:t>
            </a:r>
          </a:p>
          <a:p>
            <a:endParaRPr lang="en-US" dirty="0"/>
          </a:p>
          <a:p>
            <a:r>
              <a:rPr lang="en-US" dirty="0"/>
              <a:t>Projects.</a:t>
            </a:r>
          </a:p>
          <a:p>
            <a:endParaRPr lang="en-US" dirty="0"/>
          </a:p>
          <a:p>
            <a:r>
              <a:rPr lang="en-US" dirty="0"/>
              <a:t>Tasks.</a:t>
            </a:r>
          </a:p>
          <a:p>
            <a:endParaRPr lang="en-US" dirty="0"/>
          </a:p>
          <a:p>
            <a:r>
              <a:rPr lang="en-US" dirty="0"/>
              <a:t>Due dates.</a:t>
            </a:r>
          </a:p>
          <a:p>
            <a:endParaRPr lang="en-US" dirty="0"/>
          </a:p>
          <a:p>
            <a:r>
              <a:rPr lang="en-US" dirty="0"/>
              <a:t>Descriptions.</a:t>
            </a:r>
          </a:p>
          <a:p>
            <a:endParaRPr lang="en-US" dirty="0"/>
          </a:p>
          <a:p>
            <a:r>
              <a:rPr lang="en-US" dirty="0"/>
              <a:t>Team information.</a:t>
            </a:r>
          </a:p>
          <a:p>
            <a:endParaRPr lang="en-US" dirty="0"/>
          </a:p>
          <a:p>
            <a:r>
              <a:rPr lang="en-US" dirty="0"/>
              <a:t>Credentials.</a:t>
            </a:r>
          </a:p>
          <a:p>
            <a:endParaRPr lang="en-US" dirty="0"/>
          </a:p>
          <a:p>
            <a:r>
              <a:rPr lang="en-US" dirty="0"/>
              <a:t>Configuration.</a:t>
            </a:r>
          </a:p>
          <a:p>
            <a:endParaRPr lang="en-US" dirty="0"/>
          </a:p>
          <a:p>
            <a:r>
              <a:rPr lang="en-US" dirty="0"/>
              <a:t>Explain:</a:t>
            </a:r>
          </a:p>
          <a:p>
            <a:endParaRPr lang="en-US" dirty="0"/>
          </a:p>
          <a:p>
            <a:r>
              <a:rPr lang="en-US" dirty="0"/>
              <a:t>"Not all information has the same level of sensitivity."</a:t>
            </a:r>
          </a:p>
          <a:p>
            <a:endParaRPr lang="en-US" dirty="0"/>
          </a:p>
          <a:p>
            <a:r>
              <a:rPr lang="en-US" dirty="0"/>
              <a:t>This is important.</a:t>
            </a:r>
          </a:p>
          <a:p>
            <a:endParaRPr lang="en-US" dirty="0"/>
          </a:p>
          <a:p>
            <a:r>
              <a:rPr lang="en-US" dirty="0"/>
              <a:t>------------------------------------------------------------</a:t>
            </a:r>
          </a:p>
          <a:p>
            <a:endParaRPr lang="en-US" dirty="0"/>
          </a:p>
          <a:p>
            <a:r>
              <a:rPr lang="en-US" dirty="0"/>
              <a:t>USER CREDENTIALS</a:t>
            </a:r>
          </a:p>
          <a:p>
            <a:endParaRPr lang="en-US" dirty="0"/>
          </a:p>
          <a:p>
            <a:r>
              <a:rPr lang="en-US" dirty="0"/>
              <a:t>Point to:</a:t>
            </a:r>
          </a:p>
          <a:p>
            <a:endParaRPr lang="en-US" dirty="0"/>
          </a:p>
          <a:p>
            <a:r>
              <a:rPr lang="en-US" dirty="0"/>
              <a:t>USER CREDENTIALS.</a:t>
            </a:r>
          </a:p>
          <a:p>
            <a:endParaRPr lang="en-US" dirty="0"/>
          </a:p>
          <a:p>
            <a:r>
              <a:rPr lang="en-US" dirty="0"/>
              <a:t>Explain:</a:t>
            </a:r>
          </a:p>
          <a:p>
            <a:endParaRPr lang="en-US" dirty="0"/>
          </a:p>
          <a:p>
            <a:r>
              <a:rPr lang="en-US" dirty="0"/>
              <a:t>"Credentials are among the most important things we protect."</a:t>
            </a:r>
          </a:p>
          <a:p>
            <a:endParaRPr lang="en-US" dirty="0"/>
          </a:p>
          <a:p>
            <a:r>
              <a:rPr lang="en-US" dirty="0"/>
              <a:t>Examples:</a:t>
            </a:r>
          </a:p>
          <a:p>
            <a:endParaRPr lang="en-US" dirty="0"/>
          </a:p>
          <a:p>
            <a:r>
              <a:rPr lang="en-US" dirty="0"/>
              <a:t>Usernames.</a:t>
            </a:r>
          </a:p>
          <a:p>
            <a:endParaRPr lang="en-US" dirty="0"/>
          </a:p>
          <a:p>
            <a:r>
              <a:rPr lang="en-US" dirty="0"/>
              <a:t>Passwords.</a:t>
            </a:r>
          </a:p>
          <a:p>
            <a:endParaRPr lang="en-US" dirty="0"/>
          </a:p>
          <a:p>
            <a:r>
              <a:rPr lang="en-US" dirty="0"/>
              <a:t>Authentication tokens.</a:t>
            </a:r>
          </a:p>
          <a:p>
            <a:endParaRPr lang="en-US" dirty="0"/>
          </a:p>
          <a:p>
            <a:r>
              <a:rPr lang="en-US" dirty="0"/>
              <a:t>Security information.</a:t>
            </a:r>
          </a:p>
          <a:p>
            <a:endParaRPr lang="en-US" dirty="0"/>
          </a:p>
          <a:p>
            <a:r>
              <a:rPr lang="en-US" dirty="0"/>
              <a:t>Then emphasize:</a:t>
            </a:r>
          </a:p>
          <a:p>
            <a:endParaRPr lang="en-US" dirty="0"/>
          </a:p>
          <a:p>
            <a:r>
              <a:rPr lang="en-US" dirty="0"/>
              <a:t>"Passwords should never be stored in plain text."</a:t>
            </a:r>
          </a:p>
          <a:p>
            <a:endParaRPr lang="en-US" dirty="0"/>
          </a:p>
          <a:p>
            <a:r>
              <a:rPr lang="en-US" dirty="0"/>
              <a:t>------------------------------------------------------------</a:t>
            </a:r>
          </a:p>
          <a:p>
            <a:endParaRPr lang="en-US" dirty="0"/>
          </a:p>
          <a:p>
            <a:r>
              <a:rPr lang="en-US" dirty="0"/>
              <a:t>PASSWORDS</a:t>
            </a:r>
          </a:p>
          <a:p>
            <a:endParaRPr lang="en-US" dirty="0"/>
          </a:p>
          <a:p>
            <a:r>
              <a:rPr lang="en-US" dirty="0"/>
              <a:t>Ask:</a:t>
            </a:r>
          </a:p>
          <a:p>
            <a:endParaRPr lang="en-US" dirty="0"/>
          </a:p>
          <a:p>
            <a:r>
              <a:rPr lang="en-US" dirty="0"/>
              <a:t>"Why shouldn't we store this?"</a:t>
            </a:r>
          </a:p>
          <a:p>
            <a:endParaRPr lang="en-US" dirty="0"/>
          </a:p>
          <a:p>
            <a:r>
              <a:rPr lang="en-US" dirty="0"/>
              <a:t>Password:</a:t>
            </a:r>
          </a:p>
          <a:p>
            <a:endParaRPr lang="en-US" dirty="0"/>
          </a:p>
          <a:p>
            <a:r>
              <a:rPr lang="en-US" dirty="0"/>
              <a:t>P@ssword123</a:t>
            </a:r>
          </a:p>
          <a:p>
            <a:endParaRPr lang="en-US" dirty="0"/>
          </a:p>
          <a:p>
            <a:r>
              <a:rPr lang="en-US" dirty="0"/>
              <a:t>Explain:</a:t>
            </a:r>
          </a:p>
          <a:p>
            <a:endParaRPr lang="en-US" dirty="0"/>
          </a:p>
          <a:p>
            <a:r>
              <a:rPr lang="en-US" dirty="0"/>
              <a:t>"If someone gets access to the database..."</a:t>
            </a:r>
          </a:p>
          <a:p>
            <a:endParaRPr lang="en-US" dirty="0"/>
          </a:p>
          <a:p>
            <a:r>
              <a:rPr lang="en-US" dirty="0"/>
              <a:t>"...they shouldn't immediately have everyone's password."</a:t>
            </a:r>
          </a:p>
          <a:p>
            <a:endParaRPr lang="en-US" dirty="0"/>
          </a:p>
          <a:p>
            <a:r>
              <a:rPr lang="en-US" dirty="0"/>
              <a:t>Introduce the concept:</a:t>
            </a:r>
          </a:p>
          <a:p>
            <a:endParaRPr lang="en-US" dirty="0"/>
          </a:p>
          <a:p>
            <a:r>
              <a:rPr lang="en-US" dirty="0"/>
              <a:t>PASSWORD HASHING.</a:t>
            </a:r>
          </a:p>
          <a:p>
            <a:endParaRPr lang="en-US" dirty="0"/>
          </a:p>
          <a:p>
            <a:r>
              <a:rPr lang="en-US" dirty="0"/>
              <a:t>Say:</a:t>
            </a:r>
          </a:p>
          <a:p>
            <a:endParaRPr lang="en-US" dirty="0"/>
          </a:p>
          <a:p>
            <a:r>
              <a:rPr lang="en-US" dirty="0"/>
              <a:t>"Passwords are normally stored as secure hashes rather than readable</a:t>
            </a:r>
          </a:p>
          <a:p>
            <a:r>
              <a:rPr lang="en-US" dirty="0"/>
              <a:t>passwords."</a:t>
            </a:r>
          </a:p>
          <a:p>
            <a:endParaRPr lang="en-US" dirty="0"/>
          </a:p>
          <a:p>
            <a:r>
              <a:rPr lang="en-US" dirty="0"/>
              <a:t>Keep it conceptual.</a:t>
            </a:r>
          </a:p>
          <a:p>
            <a:endParaRPr lang="en-US" dirty="0"/>
          </a:p>
          <a:p>
            <a:r>
              <a:rPr lang="en-US" dirty="0"/>
              <a:t>------------------------------------------------------------</a:t>
            </a:r>
          </a:p>
          <a:p>
            <a:endParaRPr lang="en-US" dirty="0"/>
          </a:p>
          <a:p>
            <a:r>
              <a:rPr lang="en-US" dirty="0"/>
              <a:t>HASHING VS ENCRYPTION</a:t>
            </a:r>
          </a:p>
          <a:p>
            <a:endParaRPr lang="en-US" dirty="0"/>
          </a:p>
          <a:p>
            <a:r>
              <a:rPr lang="en-US" dirty="0"/>
              <a:t>This is a good distinction.</a:t>
            </a:r>
          </a:p>
          <a:p>
            <a:endParaRPr lang="en-US" dirty="0"/>
          </a:p>
          <a:p>
            <a:r>
              <a:rPr lang="en-US" dirty="0"/>
              <a:t>Say:</a:t>
            </a:r>
          </a:p>
          <a:p>
            <a:endParaRPr lang="en-US" dirty="0"/>
          </a:p>
          <a:p>
            <a:r>
              <a:rPr lang="en-US" dirty="0"/>
              <a:t>"Hashing and encryption are not the same thing."</a:t>
            </a:r>
          </a:p>
          <a:p>
            <a:endParaRPr lang="en-US" dirty="0"/>
          </a:p>
          <a:p>
            <a:r>
              <a:rPr lang="en-US" dirty="0"/>
              <a:t>Hashing:</a:t>
            </a:r>
          </a:p>
          <a:p>
            <a:endParaRPr lang="en-US" dirty="0"/>
          </a:p>
          <a:p>
            <a:r>
              <a:rPr lang="en-US" dirty="0"/>
              <a:t>One-way transformation.</a:t>
            </a:r>
          </a:p>
          <a:p>
            <a:endParaRPr lang="en-US" dirty="0"/>
          </a:p>
          <a:p>
            <a:r>
              <a:rPr lang="en-US" dirty="0"/>
              <a:t>Used for passwords.</a:t>
            </a:r>
          </a:p>
          <a:p>
            <a:endParaRPr lang="en-US" dirty="0"/>
          </a:p>
          <a:p>
            <a:r>
              <a:rPr lang="en-US" dirty="0"/>
              <a:t>Encryption:</a:t>
            </a:r>
          </a:p>
          <a:p>
            <a:endParaRPr lang="en-US" dirty="0"/>
          </a:p>
          <a:p>
            <a:r>
              <a:rPr lang="en-US" dirty="0"/>
              <a:t>Information is transformed so it can later be decrypted by someone</a:t>
            </a:r>
          </a:p>
          <a:p>
            <a:r>
              <a:rPr lang="en-US" dirty="0"/>
              <a:t>with the appropriate key.</a:t>
            </a:r>
          </a:p>
          <a:p>
            <a:endParaRPr lang="en-US" dirty="0"/>
          </a:p>
          <a:p>
            <a:r>
              <a:rPr lang="en-US" dirty="0"/>
              <a:t>Used to protect information that may need to be recovered.</a:t>
            </a:r>
          </a:p>
          <a:p>
            <a:endParaRPr lang="en-US" dirty="0"/>
          </a:p>
          <a:p>
            <a:r>
              <a:rPr lang="en-US" dirty="0"/>
              <a:t>Don't go into cryptographic algorithms.</a:t>
            </a:r>
          </a:p>
          <a:p>
            <a:endParaRPr lang="en-US" dirty="0"/>
          </a:p>
          <a:p>
            <a:r>
              <a:rPr lang="en-US" dirty="0"/>
              <a:t>Students just need the distinction.</a:t>
            </a:r>
          </a:p>
          <a:p>
            <a:endParaRPr lang="en-US" dirty="0"/>
          </a:p>
          <a:p>
            <a:r>
              <a:rPr lang="en-US" dirty="0"/>
              <a:t>------------------------------------------------------------</a:t>
            </a:r>
          </a:p>
          <a:p>
            <a:endParaRPr lang="en-US" dirty="0"/>
          </a:p>
          <a:p>
            <a:r>
              <a:rPr lang="en-US" dirty="0"/>
              <a:t>APPLICATION SECRETS</a:t>
            </a:r>
          </a:p>
          <a:p>
            <a:endParaRPr lang="en-US" dirty="0"/>
          </a:p>
          <a:p>
            <a:r>
              <a:rPr lang="en-US" dirty="0"/>
              <a:t>Point to:</a:t>
            </a:r>
          </a:p>
          <a:p>
            <a:endParaRPr lang="en-US" dirty="0"/>
          </a:p>
          <a:p>
            <a:r>
              <a:rPr lang="en-US" dirty="0"/>
              <a:t>APPLICATION SECRETS.</a:t>
            </a:r>
          </a:p>
          <a:p>
            <a:endParaRPr lang="en-US" dirty="0"/>
          </a:p>
          <a:p>
            <a:r>
              <a:rPr lang="en-US" dirty="0"/>
              <a:t>Ask:</a:t>
            </a:r>
          </a:p>
          <a:p>
            <a:endParaRPr lang="en-US" dirty="0"/>
          </a:p>
          <a:p>
            <a:r>
              <a:rPr lang="en-US" dirty="0"/>
              <a:t>"What does our application need to know that users shouldn't?"</a:t>
            </a:r>
          </a:p>
          <a:p>
            <a:endParaRPr lang="en-US" dirty="0"/>
          </a:p>
          <a:p>
            <a:r>
              <a:rPr lang="en-US" dirty="0"/>
              <a:t>Examples:</a:t>
            </a:r>
          </a:p>
          <a:p>
            <a:endParaRPr lang="en-US" dirty="0"/>
          </a:p>
          <a:p>
            <a:r>
              <a:rPr lang="en-US" dirty="0"/>
              <a:t>Database credentials.</a:t>
            </a:r>
          </a:p>
          <a:p>
            <a:endParaRPr lang="en-US" dirty="0"/>
          </a:p>
          <a:p>
            <a:r>
              <a:rPr lang="en-US" dirty="0"/>
              <a:t>API keys.</a:t>
            </a:r>
          </a:p>
          <a:p>
            <a:endParaRPr lang="en-US" dirty="0"/>
          </a:p>
          <a:p>
            <a:r>
              <a:rPr lang="en-US" dirty="0"/>
              <a:t>Service credentials.</a:t>
            </a:r>
          </a:p>
          <a:p>
            <a:endParaRPr lang="en-US" dirty="0"/>
          </a:p>
          <a:p>
            <a:r>
              <a:rPr lang="en-US" dirty="0"/>
              <a:t>Encryption keys.</a:t>
            </a:r>
          </a:p>
          <a:p>
            <a:endParaRPr lang="en-US" dirty="0"/>
          </a:p>
          <a:p>
            <a:r>
              <a:rPr lang="en-US" dirty="0"/>
              <a:t>Connection information.</a:t>
            </a:r>
          </a:p>
          <a:p>
            <a:endParaRPr lang="en-US" dirty="0"/>
          </a:p>
          <a:p>
            <a:r>
              <a:rPr lang="en-US" dirty="0"/>
              <a:t>Explain:</a:t>
            </a:r>
          </a:p>
          <a:p>
            <a:endParaRPr lang="en-US" dirty="0"/>
          </a:p>
          <a:p>
            <a:r>
              <a:rPr lang="en-US" dirty="0"/>
              <a:t>"These are secrets."</a:t>
            </a:r>
          </a:p>
          <a:p>
            <a:endParaRPr lang="en-US" dirty="0"/>
          </a:p>
          <a:p>
            <a:r>
              <a:rPr lang="en-US" dirty="0"/>
              <a:t>------------------------------------------------------------</a:t>
            </a:r>
          </a:p>
          <a:p>
            <a:endParaRPr lang="en-US" dirty="0"/>
          </a:p>
          <a:p>
            <a:r>
              <a:rPr lang="en-US" dirty="0"/>
              <a:t>THE GITHUB TEST</a:t>
            </a:r>
          </a:p>
          <a:p>
            <a:endParaRPr lang="en-US" dirty="0"/>
          </a:p>
          <a:p>
            <a:r>
              <a:rPr lang="en-US" dirty="0"/>
              <a:t>Ask:</a:t>
            </a:r>
          </a:p>
          <a:p>
            <a:endParaRPr lang="en-US" dirty="0"/>
          </a:p>
          <a:p>
            <a:r>
              <a:rPr lang="en-US" dirty="0"/>
              <a:t>"If I push my project to GitHub..."</a:t>
            </a:r>
          </a:p>
          <a:p>
            <a:endParaRPr lang="en-US" dirty="0"/>
          </a:p>
          <a:p>
            <a:r>
              <a:rPr lang="en-US" dirty="0"/>
              <a:t>"Should my production database password be sitting in the source code?"</a:t>
            </a:r>
          </a:p>
          <a:p>
            <a:endParaRPr lang="en-US" dirty="0"/>
          </a:p>
          <a:p>
            <a:r>
              <a:rPr lang="en-US" dirty="0"/>
              <a:t>Students:</a:t>
            </a:r>
          </a:p>
          <a:p>
            <a:endParaRPr lang="en-US" dirty="0"/>
          </a:p>
          <a:p>
            <a:r>
              <a:rPr lang="en-US" dirty="0"/>
              <a:t>"No."</a:t>
            </a:r>
          </a:p>
          <a:p>
            <a:endParaRPr lang="en-US" dirty="0"/>
          </a:p>
          <a:p>
            <a:r>
              <a:rPr lang="en-US" dirty="0"/>
              <a:t>Exactly.</a:t>
            </a:r>
          </a:p>
          <a:p>
            <a:endParaRPr lang="en-US" dirty="0"/>
          </a:p>
          <a:p>
            <a:r>
              <a:rPr lang="en-US" dirty="0"/>
              <a:t>Say:</a:t>
            </a:r>
          </a:p>
          <a:p>
            <a:endParaRPr lang="en-US" dirty="0"/>
          </a:p>
          <a:p>
            <a:r>
              <a:rPr lang="en-US" dirty="0"/>
              <a:t>"If a secret is committed to source control..."</a:t>
            </a:r>
          </a:p>
          <a:p>
            <a:endParaRPr lang="en-US" dirty="0"/>
          </a:p>
          <a:p>
            <a:r>
              <a:rPr lang="en-US" dirty="0"/>
              <a:t>"Assume it has been exposed."</a:t>
            </a:r>
          </a:p>
          <a:p>
            <a:endParaRPr lang="en-US" dirty="0"/>
          </a:p>
          <a:p>
            <a:r>
              <a:rPr lang="en-US" dirty="0"/>
              <a:t>------------------------------------------------------------</a:t>
            </a:r>
          </a:p>
          <a:p>
            <a:endParaRPr lang="en-US" dirty="0"/>
          </a:p>
          <a:p>
            <a:r>
              <a:rPr lang="en-US" dirty="0"/>
              <a:t>THE WRONG APPROACH</a:t>
            </a:r>
          </a:p>
          <a:p>
            <a:endParaRPr lang="en-US" dirty="0"/>
          </a:p>
          <a:p>
            <a:r>
              <a:rPr lang="en-US" dirty="0"/>
              <a:t>Show the conceptual example:</a:t>
            </a:r>
          </a:p>
          <a:p>
            <a:endParaRPr lang="en-US" dirty="0"/>
          </a:p>
          <a:p>
            <a:r>
              <a:rPr lang="en-US" dirty="0" err="1"/>
              <a:t>connectionString</a:t>
            </a:r>
            <a:r>
              <a:rPr lang="en-US" dirty="0"/>
              <a:t> =</a:t>
            </a:r>
          </a:p>
          <a:p>
            <a:r>
              <a:rPr lang="en-US" dirty="0"/>
              <a:t>"Server=...;Password=</a:t>
            </a:r>
            <a:r>
              <a:rPr lang="en-US" dirty="0" err="1"/>
              <a:t>MySecretPassword</a:t>
            </a:r>
            <a:r>
              <a:rPr lang="en-US" dirty="0"/>
              <a:t>"</a:t>
            </a:r>
          </a:p>
          <a:p>
            <a:endParaRPr lang="en-US" dirty="0"/>
          </a:p>
          <a:p>
            <a:r>
              <a:rPr lang="en-US" dirty="0"/>
              <a:t>Explain:</a:t>
            </a:r>
          </a:p>
          <a:p>
            <a:endParaRPr lang="en-US" dirty="0"/>
          </a:p>
          <a:p>
            <a:r>
              <a:rPr lang="en-US" dirty="0"/>
              <a:t>"This might work."</a:t>
            </a:r>
          </a:p>
          <a:p>
            <a:endParaRPr lang="en-US" dirty="0"/>
          </a:p>
          <a:p>
            <a:r>
              <a:rPr lang="en-US" dirty="0"/>
              <a:t>"But it's a terrible practice for production."</a:t>
            </a:r>
          </a:p>
          <a:p>
            <a:endParaRPr lang="en-US" dirty="0"/>
          </a:p>
          <a:p>
            <a:r>
              <a:rPr lang="en-US" dirty="0"/>
              <a:t>Why?</a:t>
            </a:r>
          </a:p>
          <a:p>
            <a:endParaRPr lang="en-US" dirty="0"/>
          </a:p>
          <a:p>
            <a:r>
              <a:rPr lang="en-US" dirty="0"/>
              <a:t>Because source code gets:</a:t>
            </a:r>
          </a:p>
          <a:p>
            <a:endParaRPr lang="en-US" dirty="0"/>
          </a:p>
          <a:p>
            <a:r>
              <a:rPr lang="en-US" dirty="0"/>
              <a:t>Shared.</a:t>
            </a:r>
          </a:p>
          <a:p>
            <a:endParaRPr lang="en-US" dirty="0"/>
          </a:p>
          <a:p>
            <a:r>
              <a:rPr lang="en-US" dirty="0"/>
              <a:t>Copied.</a:t>
            </a:r>
          </a:p>
          <a:p>
            <a:endParaRPr lang="en-US" dirty="0"/>
          </a:p>
          <a:p>
            <a:r>
              <a:rPr lang="en-US" dirty="0"/>
              <a:t>Backed up.</a:t>
            </a:r>
          </a:p>
          <a:p>
            <a:endParaRPr lang="en-US" dirty="0"/>
          </a:p>
          <a:p>
            <a:r>
              <a:rPr lang="en-US" dirty="0"/>
              <a:t>Reviewed.</a:t>
            </a:r>
          </a:p>
          <a:p>
            <a:endParaRPr lang="en-US" dirty="0"/>
          </a:p>
          <a:p>
            <a:r>
              <a:rPr lang="en-US" dirty="0"/>
              <a:t>Published.</a:t>
            </a:r>
          </a:p>
          <a:p>
            <a:endParaRPr lang="en-US" dirty="0"/>
          </a:p>
          <a:p>
            <a:r>
              <a:rPr lang="en-US" dirty="0"/>
              <a:t>Stored in repositories.</a:t>
            </a:r>
          </a:p>
          <a:p>
            <a:endParaRPr lang="en-US" dirty="0"/>
          </a:p>
          <a:p>
            <a:r>
              <a:rPr lang="en-US" dirty="0"/>
              <a:t>Secrets should not live directly in application source code.</a:t>
            </a:r>
          </a:p>
          <a:p>
            <a:endParaRPr lang="en-US" dirty="0"/>
          </a:p>
          <a:p>
            <a:r>
              <a:rPr lang="en-US" dirty="0"/>
              <a:t>------------------------------------------------------------</a:t>
            </a:r>
          </a:p>
          <a:p>
            <a:endParaRPr lang="en-US" dirty="0"/>
          </a:p>
          <a:p>
            <a:r>
              <a:rPr lang="en-US" dirty="0"/>
              <a:t>BETTER APPROACH</a:t>
            </a:r>
          </a:p>
          <a:p>
            <a:endParaRPr lang="en-US" dirty="0"/>
          </a:p>
          <a:p>
            <a:r>
              <a:rPr lang="en-US" dirty="0"/>
              <a:t>Explain:</a:t>
            </a:r>
          </a:p>
          <a:p>
            <a:endParaRPr lang="en-US" dirty="0"/>
          </a:p>
          <a:p>
            <a:r>
              <a:rPr lang="en-US" dirty="0"/>
              <a:t>"Use configuration and secret-management mechanisms."</a:t>
            </a:r>
          </a:p>
          <a:p>
            <a:endParaRPr lang="en-US" dirty="0"/>
          </a:p>
          <a:p>
            <a:r>
              <a:rPr lang="en-US" dirty="0"/>
              <a:t>Examples:</a:t>
            </a:r>
          </a:p>
          <a:p>
            <a:endParaRPr lang="en-US" dirty="0"/>
          </a:p>
          <a:p>
            <a:r>
              <a:rPr lang="en-US" dirty="0"/>
              <a:t>Environment variables.</a:t>
            </a:r>
          </a:p>
          <a:p>
            <a:endParaRPr lang="en-US" dirty="0"/>
          </a:p>
          <a:p>
            <a:r>
              <a:rPr lang="en-US" dirty="0"/>
              <a:t>Secret managers.</a:t>
            </a:r>
          </a:p>
          <a:p>
            <a:endParaRPr lang="en-US" dirty="0"/>
          </a:p>
          <a:p>
            <a:r>
              <a:rPr lang="en-US" dirty="0"/>
              <a:t>Cloud configuration.</a:t>
            </a:r>
          </a:p>
          <a:p>
            <a:endParaRPr lang="en-US" dirty="0"/>
          </a:p>
          <a:p>
            <a:r>
              <a:rPr lang="en-US" dirty="0"/>
              <a:t>Development secrets.</a:t>
            </a:r>
          </a:p>
          <a:p>
            <a:endParaRPr lang="en-US" dirty="0"/>
          </a:p>
          <a:p>
            <a:r>
              <a:rPr lang="en-US" dirty="0"/>
              <a:t>Explain:</a:t>
            </a:r>
          </a:p>
          <a:p>
            <a:endParaRPr lang="en-US" dirty="0"/>
          </a:p>
          <a:p>
            <a:r>
              <a:rPr lang="en-US" dirty="0"/>
              <a:t>"The exact tool can vary."</a:t>
            </a:r>
          </a:p>
          <a:p>
            <a:endParaRPr lang="en-US" dirty="0"/>
          </a:p>
          <a:p>
            <a:r>
              <a:rPr lang="en-US" dirty="0"/>
              <a:t>"The principle stays the same."</a:t>
            </a:r>
          </a:p>
          <a:p>
            <a:endParaRPr lang="en-US" dirty="0"/>
          </a:p>
          <a:p>
            <a:r>
              <a:rPr lang="en-US" dirty="0"/>
              <a:t>Keep secrets outside the code whenever possible.</a:t>
            </a:r>
          </a:p>
          <a:p>
            <a:endParaRPr lang="en-US" dirty="0"/>
          </a:p>
          <a:p>
            <a:r>
              <a:rPr lang="en-US" dirty="0"/>
              <a:t>------------------------------------------------------------</a:t>
            </a:r>
          </a:p>
          <a:p>
            <a:endParaRPr lang="en-US" dirty="0"/>
          </a:p>
          <a:p>
            <a:r>
              <a:rPr lang="en-US" dirty="0"/>
              <a:t>DATA AT REST</a:t>
            </a:r>
          </a:p>
          <a:p>
            <a:endParaRPr lang="en-US" dirty="0"/>
          </a:p>
          <a:p>
            <a:r>
              <a:rPr lang="en-US" dirty="0"/>
              <a:t>Point to:</a:t>
            </a:r>
          </a:p>
          <a:p>
            <a:endParaRPr lang="en-US" dirty="0"/>
          </a:p>
          <a:p>
            <a:r>
              <a:rPr lang="en-US" dirty="0"/>
              <a:t>AT REST.</a:t>
            </a:r>
          </a:p>
          <a:p>
            <a:endParaRPr lang="en-US" dirty="0"/>
          </a:p>
          <a:p>
            <a:r>
              <a:rPr lang="en-US" dirty="0"/>
              <a:t>Ask:</a:t>
            </a:r>
          </a:p>
          <a:p>
            <a:endParaRPr lang="en-US" dirty="0"/>
          </a:p>
          <a:p>
            <a:r>
              <a:rPr lang="en-US" dirty="0"/>
              <a:t>"What does that mean?"</a:t>
            </a:r>
          </a:p>
          <a:p>
            <a:endParaRPr lang="en-US" dirty="0"/>
          </a:p>
          <a:p>
            <a:r>
              <a:rPr lang="en-US" dirty="0"/>
              <a:t>Explain:</a:t>
            </a:r>
          </a:p>
          <a:p>
            <a:endParaRPr lang="en-US" dirty="0"/>
          </a:p>
          <a:p>
            <a:r>
              <a:rPr lang="en-US" dirty="0"/>
              <a:t>"Data that is stored."</a:t>
            </a:r>
          </a:p>
          <a:p>
            <a:endParaRPr lang="en-US" dirty="0"/>
          </a:p>
          <a:p>
            <a:r>
              <a:rPr lang="en-US" dirty="0"/>
              <a:t>Examples:</a:t>
            </a:r>
          </a:p>
          <a:p>
            <a:endParaRPr lang="en-US" dirty="0"/>
          </a:p>
          <a:p>
            <a:r>
              <a:rPr lang="en-US" dirty="0"/>
              <a:t>Database.</a:t>
            </a:r>
          </a:p>
          <a:p>
            <a:endParaRPr lang="en-US" dirty="0"/>
          </a:p>
          <a:p>
            <a:r>
              <a:rPr lang="en-US" dirty="0"/>
              <a:t>Backup.</a:t>
            </a:r>
          </a:p>
          <a:p>
            <a:endParaRPr lang="en-US" dirty="0"/>
          </a:p>
          <a:p>
            <a:r>
              <a:rPr lang="en-US" dirty="0"/>
              <a:t>File.</a:t>
            </a:r>
          </a:p>
          <a:p>
            <a:endParaRPr lang="en-US" dirty="0"/>
          </a:p>
          <a:p>
            <a:r>
              <a:rPr lang="en-US" dirty="0"/>
              <a:t>Storage service.</a:t>
            </a:r>
          </a:p>
          <a:p>
            <a:endParaRPr lang="en-US" dirty="0"/>
          </a:p>
          <a:p>
            <a:r>
              <a:rPr lang="en-US" dirty="0"/>
              <a:t>Explain:</a:t>
            </a:r>
          </a:p>
          <a:p>
            <a:endParaRPr lang="en-US" dirty="0"/>
          </a:p>
          <a:p>
            <a:r>
              <a:rPr lang="en-US" dirty="0"/>
              <a:t>"Stored data needs protection."</a:t>
            </a:r>
          </a:p>
          <a:p>
            <a:endParaRPr lang="en-US" dirty="0"/>
          </a:p>
          <a:p>
            <a:r>
              <a:rPr lang="en-US" dirty="0"/>
              <a:t>Methods can include:</a:t>
            </a:r>
          </a:p>
          <a:p>
            <a:endParaRPr lang="en-US" dirty="0"/>
          </a:p>
          <a:p>
            <a:r>
              <a:rPr lang="en-US" dirty="0"/>
              <a:t>Encryption.</a:t>
            </a:r>
          </a:p>
          <a:p>
            <a:endParaRPr lang="en-US" dirty="0"/>
          </a:p>
          <a:p>
            <a:r>
              <a:rPr lang="en-US" dirty="0"/>
              <a:t>Access controls.</a:t>
            </a:r>
          </a:p>
          <a:p>
            <a:endParaRPr lang="en-US" dirty="0"/>
          </a:p>
          <a:p>
            <a:r>
              <a:rPr lang="en-US" dirty="0"/>
              <a:t>Secure backups.</a:t>
            </a:r>
          </a:p>
          <a:p>
            <a:endParaRPr lang="en-US" dirty="0"/>
          </a:p>
          <a:p>
            <a:r>
              <a:rPr lang="en-US" dirty="0"/>
              <a:t>Database permissions.</a:t>
            </a:r>
          </a:p>
          <a:p>
            <a:endParaRPr lang="en-US" dirty="0"/>
          </a:p>
          <a:p>
            <a:r>
              <a:rPr lang="en-US" dirty="0"/>
              <a:t>Good credential management.</a:t>
            </a:r>
          </a:p>
          <a:p>
            <a:endParaRPr lang="en-US" dirty="0"/>
          </a:p>
          <a:p>
            <a:r>
              <a:rPr lang="en-US" dirty="0"/>
              <a:t>------------------------------------------------------------</a:t>
            </a:r>
          </a:p>
          <a:p>
            <a:endParaRPr lang="en-US" dirty="0"/>
          </a:p>
          <a:p>
            <a:r>
              <a:rPr lang="en-US" dirty="0"/>
              <a:t>DATA IN TRANSIT</a:t>
            </a:r>
          </a:p>
          <a:p>
            <a:endParaRPr lang="en-US" dirty="0"/>
          </a:p>
          <a:p>
            <a:r>
              <a:rPr lang="en-US" dirty="0"/>
              <a:t>Point to:</a:t>
            </a:r>
          </a:p>
          <a:p>
            <a:endParaRPr lang="en-US" dirty="0"/>
          </a:p>
          <a:p>
            <a:r>
              <a:rPr lang="en-US" dirty="0"/>
              <a:t>IN TRANSIT.</a:t>
            </a:r>
          </a:p>
          <a:p>
            <a:endParaRPr lang="en-US" dirty="0"/>
          </a:p>
          <a:p>
            <a:r>
              <a:rPr lang="en-US" dirty="0"/>
              <a:t>Explain:</a:t>
            </a:r>
          </a:p>
          <a:p>
            <a:endParaRPr lang="en-US" dirty="0"/>
          </a:p>
          <a:p>
            <a:r>
              <a:rPr lang="en-US" dirty="0"/>
              <a:t>"Data moving between systems."</a:t>
            </a:r>
          </a:p>
          <a:p>
            <a:endParaRPr lang="en-US" dirty="0"/>
          </a:p>
          <a:p>
            <a:r>
              <a:rPr lang="en-US" dirty="0"/>
              <a:t>Examples:</a:t>
            </a:r>
          </a:p>
          <a:p>
            <a:endParaRPr lang="en-US" dirty="0"/>
          </a:p>
          <a:p>
            <a:r>
              <a:rPr lang="en-US" dirty="0"/>
              <a:t>Browser → Application.</a:t>
            </a:r>
          </a:p>
          <a:p>
            <a:endParaRPr lang="en-US" dirty="0"/>
          </a:p>
          <a:p>
            <a:r>
              <a:rPr lang="en-US" dirty="0"/>
              <a:t>Application → Database.</a:t>
            </a:r>
          </a:p>
          <a:p>
            <a:endParaRPr lang="en-US" dirty="0"/>
          </a:p>
          <a:p>
            <a:r>
              <a:rPr lang="en-US" dirty="0"/>
              <a:t>Application → External API.</a:t>
            </a:r>
          </a:p>
          <a:p>
            <a:endParaRPr lang="en-US" dirty="0"/>
          </a:p>
          <a:p>
            <a:r>
              <a:rPr lang="en-US" dirty="0"/>
              <a:t>Say:</a:t>
            </a:r>
          </a:p>
          <a:p>
            <a:endParaRPr lang="en-US" dirty="0"/>
          </a:p>
          <a:p>
            <a:r>
              <a:rPr lang="en-US" dirty="0"/>
              <a:t>"This is why HTTPS matters."</a:t>
            </a:r>
          </a:p>
          <a:p>
            <a:endParaRPr lang="en-US" dirty="0"/>
          </a:p>
          <a:p>
            <a:r>
              <a:rPr lang="en-US" dirty="0"/>
              <a:t>------------------------------------------------------------</a:t>
            </a:r>
          </a:p>
          <a:p>
            <a:endParaRPr lang="en-US" dirty="0"/>
          </a:p>
          <a:p>
            <a:r>
              <a:rPr lang="en-US" dirty="0"/>
              <a:t>HTTPS</a:t>
            </a:r>
          </a:p>
          <a:p>
            <a:endParaRPr lang="en-US" dirty="0"/>
          </a:p>
          <a:p>
            <a:r>
              <a:rPr lang="en-US" dirty="0"/>
              <a:t>Ask:</a:t>
            </a:r>
          </a:p>
          <a:p>
            <a:endParaRPr lang="en-US" dirty="0"/>
          </a:p>
          <a:p>
            <a:r>
              <a:rPr lang="en-US" dirty="0"/>
              <a:t>"When you log into a website..."</a:t>
            </a:r>
          </a:p>
          <a:p>
            <a:endParaRPr lang="en-US" dirty="0"/>
          </a:p>
          <a:p>
            <a:r>
              <a:rPr lang="en-US" dirty="0"/>
              <a:t>"Should your password travel across the internet as plain text?"</a:t>
            </a:r>
          </a:p>
          <a:p>
            <a:endParaRPr lang="en-US" dirty="0"/>
          </a:p>
          <a:p>
            <a:r>
              <a:rPr lang="en-US" dirty="0"/>
              <a:t>No.</a:t>
            </a:r>
          </a:p>
          <a:p>
            <a:endParaRPr lang="en-US" dirty="0"/>
          </a:p>
          <a:p>
            <a:r>
              <a:rPr lang="en-US" dirty="0"/>
              <a:t>Explain:</a:t>
            </a:r>
          </a:p>
          <a:p>
            <a:endParaRPr lang="en-US" dirty="0"/>
          </a:p>
          <a:p>
            <a:r>
              <a:rPr lang="en-US" dirty="0"/>
              <a:t>"HTTPS uses TLS to protect data moving between the client and server."</a:t>
            </a:r>
          </a:p>
          <a:p>
            <a:endParaRPr lang="en-US" dirty="0"/>
          </a:p>
          <a:p>
            <a:r>
              <a:rPr lang="en-US" dirty="0"/>
              <a:t>Simple model:</a:t>
            </a:r>
          </a:p>
          <a:p>
            <a:endParaRPr lang="en-US" dirty="0"/>
          </a:p>
          <a:p>
            <a:r>
              <a:rPr lang="en-US" dirty="0"/>
              <a:t>BROWSER</a:t>
            </a:r>
          </a:p>
          <a:p>
            <a:endParaRPr lang="en-US" dirty="0"/>
          </a:p>
          <a:p>
            <a:r>
              <a:rPr lang="en-US" dirty="0"/>
              <a:t>↓</a:t>
            </a:r>
          </a:p>
          <a:p>
            <a:endParaRPr lang="en-US" dirty="0"/>
          </a:p>
          <a:p>
            <a:r>
              <a:rPr lang="en-US" dirty="0"/>
              <a:t>HTTPS / TLS</a:t>
            </a:r>
          </a:p>
          <a:p>
            <a:endParaRPr lang="en-US" dirty="0"/>
          </a:p>
          <a:p>
            <a:r>
              <a:rPr lang="en-US" dirty="0"/>
              <a:t>↓</a:t>
            </a:r>
          </a:p>
          <a:p>
            <a:endParaRPr lang="en-US" dirty="0"/>
          </a:p>
          <a:p>
            <a:r>
              <a:rPr lang="en-US" dirty="0"/>
              <a:t>APPLICATION</a:t>
            </a:r>
          </a:p>
          <a:p>
            <a:endParaRPr lang="en-US" dirty="0"/>
          </a:p>
          <a:p>
            <a:r>
              <a:rPr lang="en-US" dirty="0"/>
              <a:t>This protects the communication channel.</a:t>
            </a:r>
          </a:p>
          <a:p>
            <a:endParaRPr lang="en-US" dirty="0"/>
          </a:p>
          <a:p>
            <a:r>
              <a:rPr lang="en-US" dirty="0"/>
              <a:t>------------------------------------------------------------</a:t>
            </a:r>
          </a:p>
          <a:p>
            <a:endParaRPr lang="en-US" dirty="0"/>
          </a:p>
          <a:p>
            <a:r>
              <a:rPr lang="en-US" dirty="0"/>
              <a:t>DATA IN USE</a:t>
            </a:r>
          </a:p>
          <a:p>
            <a:endParaRPr lang="en-US" dirty="0"/>
          </a:p>
          <a:p>
            <a:r>
              <a:rPr lang="en-US" dirty="0"/>
              <a:t>Point to:</a:t>
            </a:r>
          </a:p>
          <a:p>
            <a:endParaRPr lang="en-US" dirty="0"/>
          </a:p>
          <a:p>
            <a:r>
              <a:rPr lang="en-US" dirty="0"/>
              <a:t>IN USE.</a:t>
            </a:r>
          </a:p>
          <a:p>
            <a:endParaRPr lang="en-US" dirty="0"/>
          </a:p>
          <a:p>
            <a:r>
              <a:rPr lang="en-US" dirty="0"/>
              <a:t>Explain:</a:t>
            </a:r>
          </a:p>
          <a:p>
            <a:endParaRPr lang="en-US" dirty="0"/>
          </a:p>
          <a:p>
            <a:r>
              <a:rPr lang="en-US" dirty="0"/>
              <a:t>"Data also exists while the application is processing it."</a:t>
            </a:r>
          </a:p>
          <a:p>
            <a:endParaRPr lang="en-US" dirty="0"/>
          </a:p>
          <a:p>
            <a:r>
              <a:rPr lang="en-US" dirty="0"/>
              <a:t>For example:</a:t>
            </a:r>
          </a:p>
          <a:p>
            <a:endParaRPr lang="en-US" dirty="0"/>
          </a:p>
          <a:p>
            <a:r>
              <a:rPr lang="en-US" dirty="0"/>
              <a:t>A Task object exists in application memory.</a:t>
            </a:r>
          </a:p>
          <a:p>
            <a:endParaRPr lang="en-US" dirty="0"/>
          </a:p>
          <a:p>
            <a:r>
              <a:rPr lang="en-US" dirty="0"/>
              <a:t>A user profile is being processed.</a:t>
            </a:r>
          </a:p>
          <a:p>
            <a:endParaRPr lang="en-US" dirty="0"/>
          </a:p>
          <a:p>
            <a:r>
              <a:rPr lang="en-US" dirty="0"/>
              <a:t>A request is being handled.</a:t>
            </a:r>
          </a:p>
          <a:p>
            <a:endParaRPr lang="en-US" dirty="0"/>
          </a:p>
          <a:p>
            <a:r>
              <a:rPr lang="en-US" dirty="0"/>
              <a:t>Explain:</a:t>
            </a:r>
          </a:p>
          <a:p>
            <a:endParaRPr lang="en-US" dirty="0"/>
          </a:p>
          <a:p>
            <a:r>
              <a:rPr lang="en-US" dirty="0"/>
              <a:t>"Security doesn't end once data leaves the database."</a:t>
            </a:r>
          </a:p>
          <a:p>
            <a:endParaRPr lang="en-US" dirty="0"/>
          </a:p>
          <a:p>
            <a:r>
              <a:rPr lang="en-US" dirty="0"/>
              <a:t>This is why we think in layers.</a:t>
            </a:r>
          </a:p>
          <a:p>
            <a:endParaRPr lang="en-US" dirty="0"/>
          </a:p>
          <a:p>
            <a:r>
              <a:rPr lang="en-US" dirty="0"/>
              <a:t>------------------------------------------------------------</a:t>
            </a:r>
          </a:p>
          <a:p>
            <a:endParaRPr lang="en-US" dirty="0"/>
          </a:p>
          <a:p>
            <a:r>
              <a:rPr lang="en-US" dirty="0"/>
              <a:t>DEFENSE IN DEPTH</a:t>
            </a:r>
          </a:p>
          <a:p>
            <a:endParaRPr lang="en-US" dirty="0"/>
          </a:p>
          <a:p>
            <a:r>
              <a:rPr lang="en-US" dirty="0"/>
              <a:t>Point to:</a:t>
            </a:r>
          </a:p>
          <a:p>
            <a:endParaRPr lang="en-US" dirty="0"/>
          </a:p>
          <a:p>
            <a:r>
              <a:rPr lang="en-US" dirty="0"/>
              <a:t>DEFENSE IN DEPTH.</a:t>
            </a:r>
          </a:p>
          <a:p>
            <a:endParaRPr lang="en-US" dirty="0"/>
          </a:p>
          <a:p>
            <a:r>
              <a:rPr lang="en-US" dirty="0"/>
              <a:t>Explain:</a:t>
            </a:r>
          </a:p>
          <a:p>
            <a:endParaRPr lang="en-US" dirty="0"/>
          </a:p>
          <a:p>
            <a:r>
              <a:rPr lang="en-US" dirty="0"/>
              <a:t>"Good security doesn't depend on one protection."</a:t>
            </a:r>
          </a:p>
          <a:p>
            <a:endParaRPr lang="en-US" dirty="0"/>
          </a:p>
          <a:p>
            <a:r>
              <a:rPr lang="en-US" dirty="0"/>
              <a:t>Instead:</a:t>
            </a:r>
          </a:p>
          <a:p>
            <a:endParaRPr lang="en-US" dirty="0"/>
          </a:p>
          <a:p>
            <a:r>
              <a:rPr lang="en-US" dirty="0"/>
              <a:t>Authentication.</a:t>
            </a:r>
          </a:p>
          <a:p>
            <a:endParaRPr lang="en-US" dirty="0"/>
          </a:p>
          <a:p>
            <a:r>
              <a:rPr lang="en-US" dirty="0"/>
              <a:t>Authorization.</a:t>
            </a:r>
          </a:p>
          <a:p>
            <a:endParaRPr lang="en-US" dirty="0"/>
          </a:p>
          <a:p>
            <a:r>
              <a:rPr lang="en-US" dirty="0"/>
              <a:t>Secure connections.</a:t>
            </a:r>
          </a:p>
          <a:p>
            <a:endParaRPr lang="en-US" dirty="0"/>
          </a:p>
          <a:p>
            <a:r>
              <a:rPr lang="en-US" dirty="0"/>
              <a:t>Data protection.</a:t>
            </a:r>
          </a:p>
          <a:p>
            <a:endParaRPr lang="en-US" dirty="0"/>
          </a:p>
          <a:p>
            <a:r>
              <a:rPr lang="en-US" dirty="0"/>
              <a:t>Secret management.</a:t>
            </a:r>
          </a:p>
          <a:p>
            <a:endParaRPr lang="en-US" dirty="0"/>
          </a:p>
          <a:p>
            <a:r>
              <a:rPr lang="en-US" dirty="0"/>
              <a:t>Validation.</a:t>
            </a:r>
          </a:p>
          <a:p>
            <a:endParaRPr lang="en-US" dirty="0"/>
          </a:p>
          <a:p>
            <a:r>
              <a:rPr lang="en-US" dirty="0"/>
              <a:t>Logging.</a:t>
            </a:r>
          </a:p>
          <a:p>
            <a:endParaRPr lang="en-US" dirty="0"/>
          </a:p>
          <a:p>
            <a:r>
              <a:rPr lang="en-US" dirty="0"/>
              <a:t>Monitoring.</a:t>
            </a:r>
          </a:p>
          <a:p>
            <a:endParaRPr lang="en-US" dirty="0"/>
          </a:p>
          <a:p>
            <a:r>
              <a:rPr lang="en-US" dirty="0"/>
              <a:t>Explain:</a:t>
            </a:r>
          </a:p>
          <a:p>
            <a:endParaRPr lang="en-US" dirty="0"/>
          </a:p>
          <a:p>
            <a:r>
              <a:rPr lang="en-US" dirty="0"/>
              <a:t>"If one layer fails..."</a:t>
            </a:r>
          </a:p>
          <a:p>
            <a:endParaRPr lang="en-US" dirty="0"/>
          </a:p>
          <a:p>
            <a:r>
              <a:rPr lang="en-US" dirty="0"/>
              <a:t>"Other layers may still provide protection."</a:t>
            </a:r>
          </a:p>
          <a:p>
            <a:endParaRPr lang="en-US" dirty="0"/>
          </a:p>
          <a:p>
            <a:r>
              <a:rPr lang="en-US" dirty="0"/>
              <a:t>------------------------------------------------------------</a:t>
            </a:r>
          </a:p>
          <a:p>
            <a:endParaRPr lang="en-US" dirty="0"/>
          </a:p>
          <a:p>
            <a:r>
              <a:rPr lang="en-US" dirty="0"/>
              <a:t>THE SECURITY CHAIN</a:t>
            </a:r>
          </a:p>
          <a:p>
            <a:endParaRPr lang="en-US" dirty="0"/>
          </a:p>
          <a:p>
            <a:r>
              <a:rPr lang="en-US" dirty="0"/>
              <a:t>Use the flow:</a:t>
            </a:r>
          </a:p>
          <a:p>
            <a:endParaRPr lang="en-US" dirty="0"/>
          </a:p>
          <a:p>
            <a:r>
              <a:rPr lang="en-US" dirty="0"/>
              <a:t>USER</a:t>
            </a:r>
          </a:p>
          <a:p>
            <a:endParaRPr lang="en-US" dirty="0"/>
          </a:p>
          <a:p>
            <a:r>
              <a:rPr lang="en-US" dirty="0"/>
              <a:t>↓</a:t>
            </a:r>
          </a:p>
          <a:p>
            <a:endParaRPr lang="en-US" dirty="0"/>
          </a:p>
          <a:p>
            <a:r>
              <a:rPr lang="en-US" dirty="0"/>
              <a:t>AUTHENTICATION</a:t>
            </a:r>
          </a:p>
          <a:p>
            <a:endParaRPr lang="en-US" dirty="0"/>
          </a:p>
          <a:p>
            <a:r>
              <a:rPr lang="en-US" dirty="0"/>
              <a:t>↓</a:t>
            </a:r>
          </a:p>
          <a:p>
            <a:endParaRPr lang="en-US" dirty="0"/>
          </a:p>
          <a:p>
            <a:r>
              <a:rPr lang="en-US" dirty="0"/>
              <a:t>AUTHORIZATION</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DATA ACCESS</a:t>
            </a:r>
          </a:p>
          <a:p>
            <a:endParaRPr lang="en-US" dirty="0"/>
          </a:p>
          <a:p>
            <a:r>
              <a:rPr lang="en-US" dirty="0"/>
              <a:t>↓</a:t>
            </a:r>
          </a:p>
          <a:p>
            <a:endParaRPr lang="en-US" dirty="0"/>
          </a:p>
          <a:p>
            <a:r>
              <a:rPr lang="en-US" dirty="0"/>
              <a:t>DATABASE</a:t>
            </a:r>
          </a:p>
          <a:p>
            <a:endParaRPr lang="en-US" dirty="0"/>
          </a:p>
          <a:p>
            <a:r>
              <a:rPr lang="en-US" dirty="0"/>
              <a:t>Each layer has responsibilities.</a:t>
            </a:r>
          </a:p>
          <a:p>
            <a:endParaRPr lang="en-US" dirty="0"/>
          </a:p>
          <a:p>
            <a:r>
              <a:rPr lang="en-US" dirty="0"/>
              <a:t>Say:</a:t>
            </a:r>
          </a:p>
          <a:p>
            <a:endParaRPr lang="en-US" dirty="0"/>
          </a:p>
          <a:p>
            <a:r>
              <a:rPr lang="en-US" dirty="0"/>
              <a:t>"Security is a chain."</a:t>
            </a:r>
          </a:p>
          <a:p>
            <a:endParaRPr lang="en-US" dirty="0"/>
          </a:p>
          <a:p>
            <a:r>
              <a:rPr lang="en-US" dirty="0"/>
              <a:t>"Every link matters."</a:t>
            </a:r>
          </a:p>
          <a:p>
            <a:endParaRPr lang="en-US" dirty="0"/>
          </a:p>
          <a:p>
            <a:r>
              <a:rPr lang="en-US" dirty="0"/>
              <a:t>------------------------------------------------------------</a:t>
            </a:r>
          </a:p>
          <a:p>
            <a:endParaRPr lang="en-US" dirty="0"/>
          </a:p>
          <a:p>
            <a:r>
              <a:rPr lang="en-US" dirty="0"/>
              <a:t>LOGS AND ERRORS</a:t>
            </a:r>
          </a:p>
          <a:p>
            <a:endParaRPr lang="en-US" dirty="0"/>
          </a:p>
          <a:p>
            <a:r>
              <a:rPr lang="en-US" dirty="0"/>
              <a:t>Point to:</a:t>
            </a:r>
          </a:p>
          <a:p>
            <a:endParaRPr lang="en-US" dirty="0"/>
          </a:p>
          <a:p>
            <a:r>
              <a:rPr lang="en-US" dirty="0"/>
              <a:t>LOGS &amp; ERRORS.</a:t>
            </a:r>
          </a:p>
          <a:p>
            <a:endParaRPr lang="en-US" dirty="0"/>
          </a:p>
          <a:p>
            <a:r>
              <a:rPr lang="en-US" dirty="0"/>
              <a:t>Ask:</a:t>
            </a:r>
          </a:p>
          <a:p>
            <a:endParaRPr lang="en-US" dirty="0"/>
          </a:p>
          <a:p>
            <a:r>
              <a:rPr lang="en-US" dirty="0"/>
              <a:t>"Should we log everything?"</a:t>
            </a:r>
          </a:p>
          <a:p>
            <a:endParaRPr lang="en-US" dirty="0"/>
          </a:p>
          <a:p>
            <a:r>
              <a:rPr lang="en-US" dirty="0"/>
              <a:t>Students may say:</a:t>
            </a:r>
          </a:p>
          <a:p>
            <a:endParaRPr lang="en-US" dirty="0"/>
          </a:p>
          <a:p>
            <a:r>
              <a:rPr lang="en-US" dirty="0"/>
              <a:t>"No."</a:t>
            </a:r>
          </a:p>
          <a:p>
            <a:endParaRPr lang="en-US" dirty="0"/>
          </a:p>
          <a:p>
            <a:r>
              <a:rPr lang="en-US" dirty="0"/>
              <a:t>Correct.</a:t>
            </a:r>
          </a:p>
          <a:p>
            <a:endParaRPr lang="en-US" dirty="0"/>
          </a:p>
          <a:p>
            <a:r>
              <a:rPr lang="en-US" dirty="0"/>
              <a:t>"Logging is useful."</a:t>
            </a:r>
          </a:p>
          <a:p>
            <a:endParaRPr lang="en-US" dirty="0"/>
          </a:p>
          <a:p>
            <a:r>
              <a:rPr lang="en-US" dirty="0"/>
              <a:t>"But sensitive information should not be exposed unnecessarily."</a:t>
            </a:r>
          </a:p>
          <a:p>
            <a:endParaRPr lang="en-US" dirty="0"/>
          </a:p>
          <a:p>
            <a:r>
              <a:rPr lang="en-US" dirty="0"/>
              <a:t>Examples we should avoid logging:</a:t>
            </a:r>
          </a:p>
          <a:p>
            <a:endParaRPr lang="en-US" dirty="0"/>
          </a:p>
          <a:p>
            <a:r>
              <a:rPr lang="en-US" dirty="0"/>
              <a:t>Passwords.</a:t>
            </a:r>
          </a:p>
          <a:p>
            <a:endParaRPr lang="en-US" dirty="0"/>
          </a:p>
          <a:p>
            <a:r>
              <a:rPr lang="en-US" dirty="0"/>
              <a:t>Authentication tokens.</a:t>
            </a:r>
          </a:p>
          <a:p>
            <a:endParaRPr lang="en-US" dirty="0"/>
          </a:p>
          <a:p>
            <a:r>
              <a:rPr lang="en-US" dirty="0"/>
              <a:t>Sensitive personal information.</a:t>
            </a:r>
          </a:p>
          <a:p>
            <a:endParaRPr lang="en-US" dirty="0"/>
          </a:p>
          <a:p>
            <a:r>
              <a:rPr lang="en-US" dirty="0"/>
              <a:t>Secrets.</a:t>
            </a:r>
          </a:p>
          <a:p>
            <a:endParaRPr lang="en-US" dirty="0"/>
          </a:p>
          <a:p>
            <a:r>
              <a:rPr lang="en-US" dirty="0"/>
              <a:t>Explain:</a:t>
            </a:r>
          </a:p>
          <a:p>
            <a:endParaRPr lang="en-US" dirty="0"/>
          </a:p>
          <a:p>
            <a:r>
              <a:rPr lang="en-US" dirty="0"/>
              <a:t>"Logs can become sensitive data too."</a:t>
            </a:r>
          </a:p>
          <a:p>
            <a:endParaRPr lang="en-US" dirty="0"/>
          </a:p>
          <a:p>
            <a:r>
              <a:rPr lang="en-US" dirty="0"/>
              <a:t>------------------------------------------------------------</a:t>
            </a:r>
          </a:p>
          <a:p>
            <a:endParaRPr lang="en-US" dirty="0"/>
          </a:p>
          <a:p>
            <a:r>
              <a:rPr lang="en-US" dirty="0"/>
              <a:t>ERROR MESSAGES</a:t>
            </a:r>
          </a:p>
          <a:p>
            <a:endParaRPr lang="en-US" dirty="0"/>
          </a:p>
          <a:p>
            <a:r>
              <a:rPr lang="en-US" dirty="0"/>
              <a:t>Connect this back to Sprint 5.</a:t>
            </a:r>
          </a:p>
          <a:p>
            <a:endParaRPr lang="en-US" dirty="0"/>
          </a:p>
          <a:p>
            <a:r>
              <a:rPr lang="en-US" dirty="0"/>
              <a:t>Ask:</a:t>
            </a:r>
          </a:p>
          <a:p>
            <a:endParaRPr lang="en-US" dirty="0"/>
          </a:p>
          <a:p>
            <a:r>
              <a:rPr lang="en-US" dirty="0"/>
              <a:t>"Should a user see a database connection string in an error message?"</a:t>
            </a:r>
          </a:p>
          <a:p>
            <a:endParaRPr lang="en-US" dirty="0"/>
          </a:p>
          <a:p>
            <a:r>
              <a:rPr lang="en-US" dirty="0"/>
              <a:t>Obviously no.</a:t>
            </a:r>
          </a:p>
          <a:p>
            <a:endParaRPr lang="en-US" dirty="0"/>
          </a:p>
          <a:p>
            <a:r>
              <a:rPr lang="en-US" dirty="0"/>
              <a:t>Explain:</a:t>
            </a:r>
          </a:p>
          <a:p>
            <a:endParaRPr lang="en-US" dirty="0"/>
          </a:p>
          <a:p>
            <a:r>
              <a:rPr lang="en-US" dirty="0"/>
              <a:t>"Technical errors should be logged appropriately."</a:t>
            </a:r>
          </a:p>
          <a:p>
            <a:endParaRPr lang="en-US" dirty="0"/>
          </a:p>
          <a:p>
            <a:r>
              <a:rPr lang="en-US" dirty="0"/>
              <a:t>"The user should receive a safe, useful message."</a:t>
            </a:r>
          </a:p>
          <a:p>
            <a:endParaRPr lang="en-US" dirty="0"/>
          </a:p>
          <a:p>
            <a:r>
              <a:rPr lang="en-US" dirty="0"/>
              <a:t>This connects Sprint 5 reliability to Sprint 6 security.</a:t>
            </a:r>
          </a:p>
          <a:p>
            <a:endParaRPr lang="en-US" dirty="0"/>
          </a:p>
          <a:p>
            <a:r>
              <a:rPr lang="en-US" dirty="0"/>
              <a:t>------------------------------------------------------------</a:t>
            </a:r>
          </a:p>
          <a:p>
            <a:endParaRPr lang="en-US" dirty="0"/>
          </a:p>
          <a:p>
            <a:r>
              <a:rPr lang="en-US" dirty="0"/>
              <a:t>LEAST PRIVILEGE</a:t>
            </a:r>
          </a:p>
          <a:p>
            <a:endParaRPr lang="en-US" dirty="0"/>
          </a:p>
          <a:p>
            <a:r>
              <a:rPr lang="en-US" dirty="0"/>
              <a:t>Review the concept from authorization.</a:t>
            </a:r>
          </a:p>
          <a:p>
            <a:endParaRPr lang="en-US" dirty="0"/>
          </a:p>
          <a:p>
            <a:r>
              <a:rPr lang="en-US" dirty="0"/>
              <a:t>Say:</a:t>
            </a:r>
          </a:p>
          <a:p>
            <a:endParaRPr lang="en-US" dirty="0"/>
          </a:p>
          <a:p>
            <a:r>
              <a:rPr lang="en-US" dirty="0"/>
              <a:t>"Another way to protect data is to limit who can access it."</a:t>
            </a:r>
          </a:p>
          <a:p>
            <a:endParaRPr lang="en-US" dirty="0"/>
          </a:p>
          <a:p>
            <a:r>
              <a:rPr lang="en-US" dirty="0"/>
              <a:t>"Users should receive only the access they need."</a:t>
            </a:r>
          </a:p>
          <a:p>
            <a:endParaRPr lang="en-US" dirty="0"/>
          </a:p>
          <a:p>
            <a:r>
              <a:rPr lang="en-US" dirty="0"/>
              <a:t>Applications should also use only the permissions they need.</a:t>
            </a:r>
          </a:p>
          <a:p>
            <a:endParaRPr lang="en-US" dirty="0"/>
          </a:p>
          <a:p>
            <a:r>
              <a:rPr lang="en-US" dirty="0"/>
              <a:t>For example:</a:t>
            </a:r>
          </a:p>
          <a:p>
            <a:endParaRPr lang="en-US" dirty="0"/>
          </a:p>
          <a:p>
            <a:r>
              <a:rPr lang="en-US" dirty="0"/>
              <a:t>"An application doesn't need administrator-level database access just</a:t>
            </a:r>
          </a:p>
          <a:p>
            <a:r>
              <a:rPr lang="en-US" dirty="0"/>
              <a:t>because it can connect to a database."</a:t>
            </a:r>
          </a:p>
          <a:p>
            <a:endParaRPr lang="en-US" dirty="0"/>
          </a:p>
          <a:p>
            <a:r>
              <a:rPr lang="en-US" dirty="0"/>
              <a:t>Keep this conceptual.</a:t>
            </a:r>
          </a:p>
          <a:p>
            <a:endParaRPr lang="en-US" dirty="0"/>
          </a:p>
          <a:p>
            <a:r>
              <a:rPr lang="en-US" dirty="0"/>
              <a:t>------------------------------------------------------------</a:t>
            </a:r>
          </a:p>
          <a:p>
            <a:endParaRPr lang="en-US" dirty="0"/>
          </a:p>
          <a:p>
            <a:r>
              <a:rPr lang="en-US" dirty="0"/>
              <a:t>SECURE BY DEFAULT</a:t>
            </a:r>
          </a:p>
          <a:p>
            <a:endParaRPr lang="en-US" dirty="0"/>
          </a:p>
          <a:p>
            <a:r>
              <a:rPr lang="en-US" dirty="0"/>
              <a:t>Introduce:</a:t>
            </a:r>
          </a:p>
          <a:p>
            <a:endParaRPr lang="en-US" dirty="0"/>
          </a:p>
          <a:p>
            <a:r>
              <a:rPr lang="en-US" dirty="0"/>
              <a:t>"Secure by default."</a:t>
            </a:r>
          </a:p>
          <a:p>
            <a:endParaRPr lang="en-US" dirty="0"/>
          </a:p>
          <a:p>
            <a:r>
              <a:rPr lang="en-US" dirty="0"/>
              <a:t>Explain:</a:t>
            </a:r>
          </a:p>
          <a:p>
            <a:endParaRPr lang="en-US" dirty="0"/>
          </a:p>
          <a:p>
            <a:r>
              <a:rPr lang="en-US" dirty="0"/>
              <a:t>"When we're not sure whether something should be exposed..."</a:t>
            </a:r>
          </a:p>
          <a:p>
            <a:endParaRPr lang="en-US" dirty="0"/>
          </a:p>
          <a:p>
            <a:r>
              <a:rPr lang="en-US" dirty="0"/>
              <a:t>"The safer starting point is to keep it protected."</a:t>
            </a:r>
          </a:p>
          <a:p>
            <a:endParaRPr lang="en-US" dirty="0"/>
          </a:p>
          <a:p>
            <a:r>
              <a:rPr lang="en-US" dirty="0"/>
              <a:t>Examples:</a:t>
            </a:r>
          </a:p>
          <a:p>
            <a:endParaRPr lang="en-US" dirty="0"/>
          </a:p>
          <a:p>
            <a:r>
              <a:rPr lang="en-US" dirty="0"/>
              <a:t>Private data should not automatically become public.</a:t>
            </a:r>
          </a:p>
          <a:p>
            <a:endParaRPr lang="en-US" dirty="0"/>
          </a:p>
          <a:p>
            <a:r>
              <a:rPr lang="en-US" dirty="0"/>
              <a:t>New accounts shouldn't automatically become administrators.</a:t>
            </a:r>
          </a:p>
          <a:p>
            <a:endParaRPr lang="en-US" dirty="0"/>
          </a:p>
          <a:p>
            <a:r>
              <a:rPr lang="en-US" dirty="0"/>
              <a:t>Secrets shouldn't automatically appear in logs.</a:t>
            </a:r>
          </a:p>
          <a:p>
            <a:endParaRPr lang="en-US" dirty="0"/>
          </a:p>
          <a:p>
            <a:r>
              <a:rPr lang="en-US" dirty="0"/>
              <a:t>Database access shouldn't automatically be unrestricted.</a:t>
            </a:r>
          </a:p>
          <a:p>
            <a:endParaRPr lang="en-US" dirty="0"/>
          </a:p>
          <a:p>
            <a:r>
              <a:rPr lang="en-US" dirty="0"/>
              <a:t>------------------------------------------------------------</a:t>
            </a:r>
          </a:p>
          <a:p>
            <a:endParaRPr lang="en-US" dirty="0"/>
          </a:p>
          <a:p>
            <a:r>
              <a:rPr lang="en-US" dirty="0"/>
              <a:t>WHAT NOT TO DO</a:t>
            </a:r>
          </a:p>
          <a:p>
            <a:endParaRPr lang="en-US" dirty="0"/>
          </a:p>
          <a:p>
            <a:r>
              <a:rPr lang="en-US" dirty="0"/>
              <a:t>Point to the red section.</a:t>
            </a:r>
          </a:p>
          <a:p>
            <a:endParaRPr lang="en-US" dirty="0"/>
          </a:p>
          <a:p>
            <a:r>
              <a:rPr lang="en-US" dirty="0"/>
              <a:t>Review each mistake.</a:t>
            </a:r>
          </a:p>
          <a:p>
            <a:endParaRPr lang="en-US" dirty="0"/>
          </a:p>
          <a:p>
            <a:r>
              <a:rPr lang="en-US" dirty="0"/>
              <a:t>Store passwords as plain text.</a:t>
            </a:r>
          </a:p>
          <a:p>
            <a:endParaRPr lang="en-US" dirty="0"/>
          </a:p>
          <a:p>
            <a:r>
              <a:rPr lang="en-US" dirty="0"/>
              <a:t>Commit secrets to GitHub.</a:t>
            </a:r>
          </a:p>
          <a:p>
            <a:endParaRPr lang="en-US" dirty="0"/>
          </a:p>
          <a:p>
            <a:r>
              <a:rPr lang="en-US" dirty="0"/>
              <a:t>Expose sensitive information in errors.</a:t>
            </a:r>
          </a:p>
          <a:p>
            <a:endParaRPr lang="en-US" dirty="0"/>
          </a:p>
          <a:p>
            <a:r>
              <a:rPr lang="en-US" dirty="0"/>
              <a:t>Use HTTP instead of HTTPS.</a:t>
            </a:r>
          </a:p>
          <a:p>
            <a:endParaRPr lang="en-US" dirty="0"/>
          </a:p>
          <a:p>
            <a:r>
              <a:rPr lang="en-US" dirty="0"/>
              <a:t>Trust user input.</a:t>
            </a:r>
          </a:p>
          <a:p>
            <a:endParaRPr lang="en-US" dirty="0"/>
          </a:p>
          <a:p>
            <a:r>
              <a:rPr lang="en-US" dirty="0"/>
              <a:t>Give users more access than necessary.</a:t>
            </a:r>
          </a:p>
          <a:p>
            <a:endParaRPr lang="en-US" dirty="0"/>
          </a:p>
          <a:p>
            <a:r>
              <a:rPr lang="en-US" dirty="0"/>
              <a:t>Ask students:</a:t>
            </a:r>
          </a:p>
          <a:p>
            <a:endParaRPr lang="en-US" dirty="0"/>
          </a:p>
          <a:p>
            <a:r>
              <a:rPr lang="en-US" dirty="0"/>
              <a:t>"Why is each one dangerous?"</a:t>
            </a:r>
          </a:p>
          <a:p>
            <a:endParaRPr lang="en-US" dirty="0"/>
          </a:p>
          <a:p>
            <a:r>
              <a:rPr lang="en-US" dirty="0"/>
              <a:t>Let them answer.</a:t>
            </a:r>
          </a:p>
          <a:p>
            <a:endParaRPr lang="en-US" dirty="0"/>
          </a:p>
          <a:p>
            <a:r>
              <a:rPr lang="en-US" dirty="0"/>
              <a:t>------------------------------------------------------------</a:t>
            </a:r>
          </a:p>
          <a:p>
            <a:endParaRPr lang="en-US" dirty="0"/>
          </a:p>
          <a:p>
            <a:r>
              <a:rPr lang="en-US" dirty="0"/>
              <a:t>ATLAS TASKFLOW EXAMPLE</a:t>
            </a:r>
          </a:p>
          <a:p>
            <a:endParaRPr lang="en-US" dirty="0"/>
          </a:p>
          <a:p>
            <a:r>
              <a:rPr lang="en-US" dirty="0"/>
              <a:t>Use a realistic scenario.</a:t>
            </a:r>
          </a:p>
          <a:p>
            <a:endParaRPr lang="en-US" dirty="0"/>
          </a:p>
          <a:p>
            <a:r>
              <a:rPr lang="en-US" dirty="0"/>
              <a:t>Atlas stores:</a:t>
            </a:r>
          </a:p>
          <a:p>
            <a:endParaRPr lang="en-US" dirty="0"/>
          </a:p>
          <a:p>
            <a:r>
              <a:rPr lang="en-US" dirty="0"/>
              <a:t>User account.</a:t>
            </a:r>
          </a:p>
          <a:p>
            <a:endParaRPr lang="en-US" dirty="0"/>
          </a:p>
          <a:p>
            <a:r>
              <a:rPr lang="en-US" dirty="0"/>
              <a:t>Project information.</a:t>
            </a:r>
          </a:p>
          <a:p>
            <a:endParaRPr lang="en-US" dirty="0"/>
          </a:p>
          <a:p>
            <a:r>
              <a:rPr lang="en-US" dirty="0"/>
              <a:t>Task information.</a:t>
            </a:r>
          </a:p>
          <a:p>
            <a:endParaRPr lang="en-US" dirty="0"/>
          </a:p>
          <a:p>
            <a:r>
              <a:rPr lang="en-US" dirty="0"/>
              <a:t>Authentication information.</a:t>
            </a:r>
          </a:p>
          <a:p>
            <a:endParaRPr lang="en-US" dirty="0"/>
          </a:p>
          <a:p>
            <a:r>
              <a:rPr lang="en-US" dirty="0"/>
              <a:t>Database connection information.</a:t>
            </a:r>
          </a:p>
          <a:p>
            <a:endParaRPr lang="en-US" dirty="0"/>
          </a:p>
          <a:p>
            <a:r>
              <a:rPr lang="en-US" dirty="0"/>
              <a:t>Ask:</a:t>
            </a:r>
          </a:p>
          <a:p>
            <a:endParaRPr lang="en-US" dirty="0"/>
          </a:p>
          <a:p>
            <a:r>
              <a:rPr lang="en-US" dirty="0"/>
              <a:t>"Which of these should be protected?"</a:t>
            </a:r>
          </a:p>
          <a:p>
            <a:endParaRPr lang="en-US" dirty="0"/>
          </a:p>
          <a:p>
            <a:r>
              <a:rPr lang="en-US" dirty="0"/>
              <a:t>Answer:</a:t>
            </a:r>
          </a:p>
          <a:p>
            <a:endParaRPr lang="en-US" dirty="0"/>
          </a:p>
          <a:p>
            <a:r>
              <a:rPr lang="en-US" dirty="0"/>
              <a:t>"All of them, but in different ways."</a:t>
            </a:r>
          </a:p>
          <a:p>
            <a:endParaRPr lang="en-US" dirty="0"/>
          </a:p>
          <a:p>
            <a:r>
              <a:rPr lang="en-US" dirty="0"/>
              <a:t>Explain:</a:t>
            </a:r>
          </a:p>
          <a:p>
            <a:endParaRPr lang="en-US" dirty="0"/>
          </a:p>
          <a:p>
            <a:r>
              <a:rPr lang="en-US" dirty="0"/>
              <a:t>"Security decisions depend on the type of information."</a:t>
            </a:r>
          </a:p>
          <a:p>
            <a:endParaRPr lang="en-US" dirty="0"/>
          </a:p>
          <a:p>
            <a:r>
              <a:rPr lang="en-US" dirty="0"/>
              <a:t>------------------------------------------------------------</a:t>
            </a:r>
          </a:p>
          <a:p>
            <a:endParaRPr lang="en-US" dirty="0"/>
          </a:p>
          <a:p>
            <a:r>
              <a:rPr lang="en-US" dirty="0"/>
              <a:t>BUILD CHALLENGE</a:t>
            </a:r>
          </a:p>
          <a:p>
            <a:endParaRPr lang="en-US" dirty="0"/>
          </a:p>
          <a:p>
            <a:r>
              <a:rPr lang="en-US" dirty="0"/>
              <a:t>Have students perform a security inventory of Atlas </a:t>
            </a:r>
            <a:r>
              <a:rPr lang="en-US" dirty="0" err="1"/>
              <a:t>TaskFlow</a:t>
            </a:r>
            <a:r>
              <a:rPr lang="en-US" dirty="0"/>
              <a:t>.</a:t>
            </a:r>
          </a:p>
          <a:p>
            <a:endParaRPr lang="en-US" dirty="0"/>
          </a:p>
          <a:p>
            <a:r>
              <a:rPr lang="en-US" dirty="0"/>
              <a:t>Create three columns:</a:t>
            </a:r>
          </a:p>
          <a:p>
            <a:endParaRPr lang="en-US" dirty="0"/>
          </a:p>
          <a:p>
            <a:r>
              <a:rPr lang="en-US" dirty="0"/>
              <a:t>WHAT WE STORE</a:t>
            </a:r>
          </a:p>
          <a:p>
            <a:endParaRPr lang="en-US" dirty="0"/>
          </a:p>
          <a:p>
            <a:r>
              <a:rPr lang="en-US" dirty="0"/>
              <a:t>HOW WE PROTECT IT</a:t>
            </a:r>
          </a:p>
          <a:p>
            <a:endParaRPr lang="en-US" dirty="0"/>
          </a:p>
          <a:p>
            <a:r>
              <a:rPr lang="en-US" dirty="0"/>
              <a:t>WHO SHOULD ACCESS IT</a:t>
            </a:r>
          </a:p>
          <a:p>
            <a:endParaRPr lang="en-US" dirty="0"/>
          </a:p>
          <a:p>
            <a:r>
              <a:rPr lang="en-US" dirty="0"/>
              <a:t>Example:</a:t>
            </a:r>
          </a:p>
          <a:p>
            <a:endParaRPr lang="en-US" dirty="0"/>
          </a:p>
          <a:p>
            <a:r>
              <a:rPr lang="en-US" dirty="0"/>
              <a:t>User Password</a:t>
            </a:r>
          </a:p>
          <a:p>
            <a:endParaRPr lang="en-US" dirty="0"/>
          </a:p>
          <a:p>
            <a:r>
              <a:rPr lang="en-US" dirty="0"/>
              <a:t>→ Hash securely</a:t>
            </a:r>
          </a:p>
          <a:p>
            <a:endParaRPr lang="en-US" dirty="0"/>
          </a:p>
          <a:p>
            <a:r>
              <a:rPr lang="en-US" dirty="0"/>
              <a:t>→ User / identity system</a:t>
            </a:r>
          </a:p>
          <a:p>
            <a:endParaRPr lang="en-US" dirty="0"/>
          </a:p>
          <a:p>
            <a:r>
              <a:rPr lang="en-US" dirty="0"/>
              <a:t>Database Credentials</a:t>
            </a:r>
          </a:p>
          <a:p>
            <a:endParaRPr lang="en-US" dirty="0"/>
          </a:p>
          <a:p>
            <a:r>
              <a:rPr lang="en-US" dirty="0"/>
              <a:t>→ Secret management</a:t>
            </a:r>
          </a:p>
          <a:p>
            <a:endParaRPr lang="en-US" dirty="0"/>
          </a:p>
          <a:p>
            <a:r>
              <a:rPr lang="en-US" dirty="0"/>
              <a:t>→ Application only</a:t>
            </a:r>
          </a:p>
          <a:p>
            <a:endParaRPr lang="en-US" dirty="0"/>
          </a:p>
          <a:p>
            <a:r>
              <a:rPr lang="en-US" dirty="0"/>
              <a:t>Project Data</a:t>
            </a:r>
          </a:p>
          <a:p>
            <a:endParaRPr lang="en-US" dirty="0"/>
          </a:p>
          <a:p>
            <a:r>
              <a:rPr lang="en-US" dirty="0"/>
              <a:t>→ Authorization</a:t>
            </a:r>
          </a:p>
          <a:p>
            <a:endParaRPr lang="en-US" dirty="0"/>
          </a:p>
          <a:p>
            <a:r>
              <a:rPr lang="en-US" dirty="0"/>
              <a:t>→ Authorized users</a:t>
            </a:r>
          </a:p>
          <a:p>
            <a:endParaRPr lang="en-US" dirty="0"/>
          </a:p>
          <a:p>
            <a:r>
              <a:rPr lang="en-US" dirty="0"/>
              <a:t>Application Logs</a:t>
            </a:r>
          </a:p>
          <a:p>
            <a:endParaRPr lang="en-US" dirty="0"/>
          </a:p>
          <a:p>
            <a:r>
              <a:rPr lang="en-US" dirty="0"/>
              <a:t>→ Avoid sensitive information</a:t>
            </a:r>
          </a:p>
          <a:p>
            <a:endParaRPr lang="en-US" dirty="0"/>
          </a:p>
          <a:p>
            <a:r>
              <a:rPr lang="en-US" dirty="0"/>
              <a:t>→ Developers/administrators</a:t>
            </a:r>
          </a:p>
          <a:p>
            <a:endParaRPr lang="en-US" dirty="0"/>
          </a:p>
          <a:p>
            <a:r>
              <a:rPr lang="en-US" dirty="0"/>
              <a:t>------------------------------------------------------------</a:t>
            </a:r>
          </a:p>
          <a:p>
            <a:endParaRPr lang="en-US" dirty="0"/>
          </a:p>
          <a:p>
            <a:r>
              <a:rPr lang="en-US" dirty="0"/>
              <a:t>SECURITY INVENTORY</a:t>
            </a:r>
          </a:p>
          <a:p>
            <a:endParaRPr lang="en-US" dirty="0"/>
          </a:p>
          <a:p>
            <a:r>
              <a:rPr lang="en-US" dirty="0"/>
              <a:t>Ask students to identify at least five pieces of information in Atlas.</a:t>
            </a:r>
          </a:p>
          <a:p>
            <a:endParaRPr lang="en-US" dirty="0"/>
          </a:p>
          <a:p>
            <a:r>
              <a:rPr lang="en-US" dirty="0"/>
              <a:t>For each one:</a:t>
            </a:r>
          </a:p>
          <a:p>
            <a:endParaRPr lang="en-US" dirty="0"/>
          </a:p>
          <a:p>
            <a:r>
              <a:rPr lang="en-US" dirty="0"/>
              <a:t>1. What is it?</a:t>
            </a:r>
          </a:p>
          <a:p>
            <a:endParaRPr lang="en-US" dirty="0"/>
          </a:p>
          <a:p>
            <a:r>
              <a:rPr lang="en-US" dirty="0"/>
              <a:t>2. Is it sensitive?</a:t>
            </a:r>
          </a:p>
          <a:p>
            <a:endParaRPr lang="en-US" dirty="0"/>
          </a:p>
          <a:p>
            <a:r>
              <a:rPr lang="en-US" dirty="0"/>
              <a:t>3. Where is it stored?</a:t>
            </a:r>
          </a:p>
          <a:p>
            <a:endParaRPr lang="en-US" dirty="0"/>
          </a:p>
          <a:p>
            <a:r>
              <a:rPr lang="en-US" dirty="0"/>
              <a:t>4. Who should access it?</a:t>
            </a:r>
          </a:p>
          <a:p>
            <a:endParaRPr lang="en-US" dirty="0"/>
          </a:p>
          <a:p>
            <a:r>
              <a:rPr lang="en-US" dirty="0"/>
              <a:t>5. How should it be protected?</a:t>
            </a:r>
          </a:p>
          <a:p>
            <a:endParaRPr lang="en-US" dirty="0"/>
          </a:p>
          <a:p>
            <a:r>
              <a:rPr lang="en-US" dirty="0"/>
              <a:t>This moves the lesson from theory into engineering thinking.</a:t>
            </a:r>
          </a:p>
          <a:p>
            <a:endParaRPr lang="en-US" dirty="0"/>
          </a:p>
          <a:p>
            <a:r>
              <a:rPr lang="en-US" dirty="0"/>
              <a:t>------------------------------------------------------------</a:t>
            </a:r>
          </a:p>
          <a:p>
            <a:endParaRPr lang="en-US" dirty="0"/>
          </a:p>
          <a:p>
            <a:r>
              <a:rPr lang="en-US" dirty="0"/>
              <a:t>THREAT THINKING</a:t>
            </a:r>
          </a:p>
          <a:p>
            <a:endParaRPr lang="en-US" dirty="0"/>
          </a:p>
          <a:p>
            <a:r>
              <a:rPr lang="en-US" dirty="0"/>
              <a:t>Ask:</a:t>
            </a:r>
          </a:p>
          <a:p>
            <a:endParaRPr lang="en-US" dirty="0"/>
          </a:p>
          <a:p>
            <a:r>
              <a:rPr lang="en-US" dirty="0"/>
              <a:t>"What happens if this information is exposed?"</a:t>
            </a:r>
          </a:p>
          <a:p>
            <a:endParaRPr lang="en-US" dirty="0"/>
          </a:p>
          <a:p>
            <a:r>
              <a:rPr lang="en-US" dirty="0"/>
              <a:t>Examples:</a:t>
            </a:r>
          </a:p>
          <a:p>
            <a:endParaRPr lang="en-US" dirty="0"/>
          </a:p>
          <a:p>
            <a:r>
              <a:rPr lang="en-US" dirty="0"/>
              <a:t>Password exposed:</a:t>
            </a:r>
          </a:p>
          <a:p>
            <a:endParaRPr lang="en-US" dirty="0"/>
          </a:p>
          <a:p>
            <a:r>
              <a:rPr lang="en-US" dirty="0"/>
              <a:t>Potential account takeover.</a:t>
            </a:r>
          </a:p>
          <a:p>
            <a:endParaRPr lang="en-US" dirty="0"/>
          </a:p>
          <a:p>
            <a:r>
              <a:rPr lang="en-US" dirty="0"/>
              <a:t>Database credentials exposed:</a:t>
            </a:r>
          </a:p>
          <a:p>
            <a:endParaRPr lang="en-US" dirty="0"/>
          </a:p>
          <a:p>
            <a:r>
              <a:rPr lang="en-US" dirty="0"/>
              <a:t>Potential database compromise.</a:t>
            </a:r>
          </a:p>
          <a:p>
            <a:endParaRPr lang="en-US" dirty="0"/>
          </a:p>
          <a:p>
            <a:r>
              <a:rPr lang="en-US" dirty="0"/>
              <a:t>Private project exposed:</a:t>
            </a:r>
          </a:p>
          <a:p>
            <a:endParaRPr lang="en-US" dirty="0"/>
          </a:p>
          <a:p>
            <a:r>
              <a:rPr lang="en-US" dirty="0"/>
              <a:t>Privacy problem.</a:t>
            </a:r>
          </a:p>
          <a:p>
            <a:endParaRPr lang="en-US" dirty="0"/>
          </a:p>
          <a:p>
            <a:r>
              <a:rPr lang="en-US" dirty="0"/>
              <a:t>Sensitive log exposed:</a:t>
            </a:r>
          </a:p>
          <a:p>
            <a:endParaRPr lang="en-US" dirty="0"/>
          </a:p>
          <a:p>
            <a:r>
              <a:rPr lang="en-US" dirty="0"/>
              <a:t>Information leakage.</a:t>
            </a:r>
          </a:p>
          <a:p>
            <a:endParaRPr lang="en-US" dirty="0"/>
          </a:p>
          <a:p>
            <a:r>
              <a:rPr lang="en-US" dirty="0"/>
              <a:t>Explain:</a:t>
            </a:r>
          </a:p>
          <a:p>
            <a:endParaRPr lang="en-US" dirty="0"/>
          </a:p>
          <a:p>
            <a:r>
              <a:rPr lang="en-US" dirty="0"/>
              <a:t>"Security decisions become easier when we understand the consequences."</a:t>
            </a:r>
          </a:p>
          <a:p>
            <a:endParaRPr lang="en-US" dirty="0"/>
          </a:p>
          <a:p>
            <a:r>
              <a:rPr lang="en-US" dirty="0"/>
              <a:t>------------------------------------------------------------</a:t>
            </a:r>
          </a:p>
          <a:p>
            <a:endParaRPr lang="en-US" dirty="0"/>
          </a:p>
          <a:p>
            <a:r>
              <a:rPr lang="en-US" dirty="0"/>
              <a:t>IMPORTANT BOUNDARY</a:t>
            </a:r>
          </a:p>
          <a:p>
            <a:endParaRPr lang="en-US" dirty="0"/>
          </a:p>
          <a:p>
            <a:r>
              <a:rPr lang="en-US" dirty="0"/>
              <a:t>Tell students:</a:t>
            </a:r>
          </a:p>
          <a:p>
            <a:endParaRPr lang="en-US" dirty="0"/>
          </a:p>
          <a:p>
            <a:r>
              <a:rPr lang="en-US" dirty="0"/>
              <a:t>"We are not trying to build perfect security."</a:t>
            </a:r>
          </a:p>
          <a:p>
            <a:endParaRPr lang="en-US" dirty="0"/>
          </a:p>
          <a:p>
            <a:r>
              <a:rPr lang="en-US" dirty="0"/>
              <a:t>"No application is completely risk-free."</a:t>
            </a:r>
          </a:p>
          <a:p>
            <a:endParaRPr lang="en-US" dirty="0"/>
          </a:p>
          <a:p>
            <a:r>
              <a:rPr lang="en-US" dirty="0"/>
              <a:t>"Our job is to identify important risks and apply reasonable</a:t>
            </a:r>
          </a:p>
          <a:p>
            <a:r>
              <a:rPr lang="en-US" dirty="0"/>
              <a:t>protections."</a:t>
            </a:r>
          </a:p>
          <a:p>
            <a:endParaRPr lang="en-US" dirty="0"/>
          </a:p>
          <a:p>
            <a:r>
              <a:rPr lang="en-US" dirty="0"/>
              <a:t>This is a much healthier engineering mindset than:</a:t>
            </a:r>
          </a:p>
          <a:p>
            <a:endParaRPr lang="en-US" dirty="0"/>
          </a:p>
          <a:p>
            <a:r>
              <a:rPr lang="en-US" dirty="0"/>
              <a:t>"My application is secure."</a:t>
            </a:r>
          </a:p>
          <a:p>
            <a:endParaRPr lang="en-US" dirty="0"/>
          </a:p>
          <a:p>
            <a:r>
              <a:rPr lang="en-US" dirty="0"/>
              <a:t>------------------------------------------------------------</a:t>
            </a:r>
          </a:p>
          <a:p>
            <a:endParaRPr lang="en-US" dirty="0"/>
          </a:p>
          <a:p>
            <a:r>
              <a:rPr lang="en-US" dirty="0"/>
              <a:t>SECURITY IS A PROCESS</a:t>
            </a:r>
          </a:p>
          <a:p>
            <a:endParaRPr lang="en-US" dirty="0"/>
          </a:p>
          <a:p>
            <a:r>
              <a:rPr lang="en-US" dirty="0"/>
              <a:t>Say:</a:t>
            </a:r>
          </a:p>
          <a:p>
            <a:endParaRPr lang="en-US" dirty="0"/>
          </a:p>
          <a:p>
            <a:r>
              <a:rPr lang="en-US" dirty="0"/>
              <a:t>"Security isn't a checkbox."</a:t>
            </a:r>
          </a:p>
          <a:p>
            <a:endParaRPr lang="en-US" dirty="0"/>
          </a:p>
          <a:p>
            <a:r>
              <a:rPr lang="en-US" dirty="0"/>
              <a:t>It involves:</a:t>
            </a:r>
          </a:p>
          <a:p>
            <a:endParaRPr lang="en-US" dirty="0"/>
          </a:p>
          <a:p>
            <a:r>
              <a:rPr lang="en-US" dirty="0"/>
              <a:t>Design.</a:t>
            </a:r>
          </a:p>
          <a:p>
            <a:endParaRPr lang="en-US" dirty="0"/>
          </a:p>
          <a:p>
            <a:r>
              <a:rPr lang="en-US" dirty="0"/>
              <a:t>Development.</a:t>
            </a:r>
          </a:p>
          <a:p>
            <a:endParaRPr lang="en-US" dirty="0"/>
          </a:p>
          <a:p>
            <a:r>
              <a:rPr lang="en-US" dirty="0"/>
              <a:t>Testing.</a:t>
            </a:r>
          </a:p>
          <a:p>
            <a:endParaRPr lang="en-US" dirty="0"/>
          </a:p>
          <a:p>
            <a:r>
              <a:rPr lang="en-US" dirty="0"/>
              <a:t>Deployment.</a:t>
            </a:r>
          </a:p>
          <a:p>
            <a:endParaRPr lang="en-US" dirty="0"/>
          </a:p>
          <a:p>
            <a:r>
              <a:rPr lang="en-US" dirty="0"/>
              <a:t>Monitoring.</a:t>
            </a:r>
          </a:p>
          <a:p>
            <a:endParaRPr lang="en-US" dirty="0"/>
          </a:p>
          <a:p>
            <a:r>
              <a:rPr lang="en-US" dirty="0"/>
              <a:t>Maintenance.</a:t>
            </a:r>
          </a:p>
          <a:p>
            <a:endParaRPr lang="en-US" dirty="0"/>
          </a:p>
          <a:p>
            <a:r>
              <a:rPr lang="en-US" dirty="0"/>
              <a:t>Explain:</a:t>
            </a:r>
          </a:p>
          <a:p>
            <a:endParaRPr lang="en-US" dirty="0"/>
          </a:p>
          <a:p>
            <a:r>
              <a:rPr lang="en-US" dirty="0"/>
              <a:t>"A secure application today can become insecure tomorrow if we stop</a:t>
            </a:r>
          </a:p>
          <a:p>
            <a:r>
              <a:rPr lang="en-US" dirty="0"/>
              <a:t>maintaining it."</a:t>
            </a:r>
          </a:p>
          <a:p>
            <a:endParaRPr lang="en-US" dirty="0"/>
          </a:p>
          <a:p>
            <a:r>
              <a:rPr lang="en-US" dirty="0"/>
              <a:t>This sets up Sprint 7 later.</a:t>
            </a:r>
          </a:p>
          <a:p>
            <a:endParaRPr lang="en-US" dirty="0"/>
          </a:p>
          <a:p>
            <a:r>
              <a:rPr lang="en-US" dirty="0"/>
              <a:t>------------------------------------------------------------</a:t>
            </a:r>
          </a:p>
          <a:p>
            <a:endParaRPr lang="en-US" dirty="0"/>
          </a:p>
          <a:p>
            <a:r>
              <a:rPr lang="en-US" dirty="0"/>
              <a:t>ENGINEERING INSIGHT</a:t>
            </a:r>
          </a:p>
          <a:p>
            <a:endParaRPr lang="en-US" dirty="0"/>
          </a:p>
          <a:p>
            <a:r>
              <a:rPr lang="en-US" dirty="0"/>
              <a:t>Point to:</a:t>
            </a:r>
          </a:p>
          <a:p>
            <a:endParaRPr lang="en-US" dirty="0"/>
          </a:p>
          <a:p>
            <a:r>
              <a:rPr lang="en-US" dirty="0"/>
              <a:t>"Protect the things that matter most."</a:t>
            </a:r>
          </a:p>
          <a:p>
            <a:endParaRPr lang="en-US" dirty="0"/>
          </a:p>
          <a:p>
            <a:r>
              <a:rPr lang="en-US" dirty="0"/>
              <a:t>Explain:</a:t>
            </a:r>
          </a:p>
          <a:p>
            <a:endParaRPr lang="en-US" dirty="0"/>
          </a:p>
          <a:p>
            <a:r>
              <a:rPr lang="en-US" dirty="0"/>
              <a:t>"Good security starts with understanding what we're protecting."</a:t>
            </a:r>
          </a:p>
          <a:p>
            <a:endParaRPr lang="en-US" dirty="0"/>
          </a:p>
          <a:p>
            <a:r>
              <a:rPr lang="en-US" dirty="0"/>
              <a:t>"You can't protect something you haven't identified."</a:t>
            </a:r>
          </a:p>
          <a:p>
            <a:endParaRPr lang="en-US" dirty="0"/>
          </a:p>
          <a:p>
            <a:r>
              <a:rPr lang="en-US" dirty="0"/>
              <a:t>------------------------------------------------------------</a:t>
            </a:r>
          </a:p>
          <a:p>
            <a:endParaRPr lang="en-US" dirty="0"/>
          </a:p>
          <a:p>
            <a:r>
              <a:rPr lang="en-US" dirty="0"/>
              <a:t>SPRINT CONNECTION</a:t>
            </a:r>
          </a:p>
          <a:p>
            <a:endParaRPr lang="en-US" dirty="0"/>
          </a:p>
          <a:p>
            <a:r>
              <a:rPr lang="en-US" dirty="0"/>
              <a:t>Point to:</a:t>
            </a:r>
          </a:p>
          <a:p>
            <a:endParaRPr lang="en-US" dirty="0"/>
          </a:p>
          <a:p>
            <a:r>
              <a:rPr lang="en-US" dirty="0"/>
              <a:t>⑥ PROTECT IT.</a:t>
            </a:r>
          </a:p>
          <a:p>
            <a:endParaRPr lang="en-US" dirty="0"/>
          </a:p>
          <a:p>
            <a:r>
              <a:rPr lang="en-US" dirty="0"/>
              <a:t>Review:</a:t>
            </a:r>
          </a:p>
          <a:p>
            <a:endParaRPr lang="en-US" dirty="0"/>
          </a:p>
          <a:p>
            <a:r>
              <a:rPr lang="en-US" dirty="0"/>
              <a:t>Authentication:</a:t>
            </a:r>
          </a:p>
          <a:p>
            <a:endParaRPr lang="en-US" dirty="0"/>
          </a:p>
          <a:p>
            <a:r>
              <a:rPr lang="en-US" dirty="0"/>
              <a:t>Who are you?</a:t>
            </a:r>
          </a:p>
          <a:p>
            <a:endParaRPr lang="en-US" dirty="0"/>
          </a:p>
          <a:p>
            <a:r>
              <a:rPr lang="en-US" dirty="0"/>
              <a:t>Authorization:</a:t>
            </a:r>
          </a:p>
          <a:p>
            <a:endParaRPr lang="en-US" dirty="0"/>
          </a:p>
          <a:p>
            <a:r>
              <a:rPr lang="en-US" dirty="0"/>
              <a:t>What can you do?</a:t>
            </a:r>
          </a:p>
          <a:p>
            <a:endParaRPr lang="en-US" dirty="0"/>
          </a:p>
          <a:p>
            <a:r>
              <a:rPr lang="en-US" dirty="0"/>
              <a:t>Data Protection:</a:t>
            </a:r>
          </a:p>
          <a:p>
            <a:endParaRPr lang="en-US" dirty="0"/>
          </a:p>
          <a:p>
            <a:r>
              <a:rPr lang="en-US" dirty="0"/>
              <a:t>How do we protect what matters?</a:t>
            </a:r>
          </a:p>
          <a:p>
            <a:endParaRPr lang="en-US" dirty="0"/>
          </a:p>
          <a:p>
            <a:r>
              <a:rPr lang="en-US" dirty="0"/>
              <a:t>Say:</a:t>
            </a:r>
          </a:p>
          <a:p>
            <a:endParaRPr lang="en-US" dirty="0"/>
          </a:p>
          <a:p>
            <a:r>
              <a:rPr lang="en-US" dirty="0"/>
              <a:t>"Now we have all three pieces."</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"Securing Atlas </a:t>
            </a:r>
            <a:r>
              <a:rPr lang="en-US" dirty="0" err="1"/>
              <a:t>TaskFlow</a:t>
            </a:r>
            <a:r>
              <a:rPr lang="en-US" dirty="0"/>
              <a:t> in Practice."</a:t>
            </a:r>
          </a:p>
          <a:p>
            <a:endParaRPr lang="en-US" dirty="0"/>
          </a:p>
          <a:p>
            <a:r>
              <a:rPr lang="en-US" dirty="0"/>
              <a:t>Say:</a:t>
            </a:r>
          </a:p>
          <a:p>
            <a:endParaRPr lang="en-US" dirty="0"/>
          </a:p>
          <a:p>
            <a:r>
              <a:rPr lang="en-US" dirty="0"/>
              <a:t>"So far, we've discussed security."</a:t>
            </a:r>
          </a:p>
          <a:p>
            <a:endParaRPr lang="en-US" dirty="0"/>
          </a:p>
          <a:p>
            <a:r>
              <a:rPr lang="en-US" dirty="0"/>
              <a:t>"Next..."</a:t>
            </a:r>
          </a:p>
          <a:p>
            <a:endParaRPr lang="en-US" dirty="0"/>
          </a:p>
          <a:p>
            <a:r>
              <a:rPr lang="en-US" dirty="0"/>
              <a:t>"We're going to apply these principles to our actual application."</a:t>
            </a:r>
          </a:p>
          <a:p>
            <a:endParaRPr lang="en-US" dirty="0"/>
          </a:p>
          <a:p>
            <a:r>
              <a:rPr lang="en-US" dirty="0"/>
              <a:t>Students will begin reviewing Atlas for:</a:t>
            </a:r>
          </a:p>
          <a:p>
            <a:endParaRPr lang="en-US" dirty="0"/>
          </a:p>
          <a:p>
            <a:r>
              <a:rPr lang="en-US" dirty="0"/>
              <a:t>Authentication.</a:t>
            </a:r>
          </a:p>
          <a:p>
            <a:endParaRPr lang="en-US" dirty="0"/>
          </a:p>
          <a:p>
            <a:r>
              <a:rPr lang="en-US" dirty="0"/>
              <a:t>Authorization.</a:t>
            </a:r>
          </a:p>
          <a:p>
            <a:endParaRPr lang="en-US" dirty="0"/>
          </a:p>
          <a:p>
            <a:r>
              <a:rPr lang="en-US" dirty="0"/>
              <a:t>Data protection.</a:t>
            </a:r>
          </a:p>
          <a:p>
            <a:endParaRPr lang="en-US" dirty="0"/>
          </a:p>
          <a:p>
            <a:r>
              <a:rPr lang="en-US" dirty="0"/>
              <a:t>Secrets.</a:t>
            </a:r>
          </a:p>
          <a:p>
            <a:endParaRPr lang="en-US" dirty="0"/>
          </a:p>
          <a:p>
            <a:r>
              <a:rPr lang="en-US" dirty="0"/>
              <a:t>Secure configuration.</a:t>
            </a:r>
          </a:p>
          <a:p>
            <a:endParaRPr lang="en-US" dirty="0"/>
          </a:p>
          <a:p>
            <a:r>
              <a:rPr lang="en-US" dirty="0"/>
              <a:t>HTTPS.</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a:t>
            </a:r>
          </a:p>
          <a:p>
            <a:endParaRPr lang="en-US" dirty="0"/>
          </a:p>
          <a:p>
            <a:r>
              <a:rPr lang="en-US" dirty="0"/>
              <a:t>"Security isn't about building a wall around everything."</a:t>
            </a:r>
          </a:p>
          <a:p>
            <a:endParaRPr lang="en-US" dirty="0"/>
          </a:p>
          <a:p>
            <a:r>
              <a:rPr lang="en-US" dirty="0"/>
              <a:t>"It's about understanding what matters..."</a:t>
            </a:r>
          </a:p>
          <a:p>
            <a:endParaRPr lang="en-US" dirty="0"/>
          </a:p>
          <a:p>
            <a:r>
              <a:rPr lang="en-US" dirty="0"/>
              <a:t>"...who needs access..."</a:t>
            </a:r>
          </a:p>
          <a:p>
            <a:endParaRPr lang="en-US" dirty="0"/>
          </a:p>
          <a:p>
            <a:r>
              <a:rPr lang="en-US" dirty="0"/>
              <a:t>"...and how to protect it."</a:t>
            </a:r>
          </a:p>
          <a:p>
            <a:endParaRPr lang="en-US" dirty="0"/>
          </a:p>
          <a:p>
            <a:r>
              <a:rPr lang="en-US" dirty="0"/>
              <a:t>Pause.</a:t>
            </a:r>
          </a:p>
          <a:p>
            <a:endParaRPr lang="en-US" dirty="0"/>
          </a:p>
          <a:p>
            <a:r>
              <a:rPr lang="en-US" dirty="0"/>
              <a:t>"Atlas remembers."</a:t>
            </a:r>
          </a:p>
          <a:p>
            <a:endParaRPr lang="en-US" dirty="0"/>
          </a:p>
          <a:p>
            <a:r>
              <a:rPr lang="en-US" dirty="0"/>
              <a:t>"Atlas knows who you are."</a:t>
            </a:r>
          </a:p>
          <a:p>
            <a:endParaRPr lang="en-US" dirty="0"/>
          </a:p>
          <a:p>
            <a:r>
              <a:rPr lang="en-US" dirty="0"/>
              <a:t>"Atlas knows what you're allowed to do."</a:t>
            </a:r>
          </a:p>
          <a:p>
            <a:endParaRPr lang="en-US" dirty="0"/>
          </a:p>
          <a:p>
            <a:r>
              <a:rPr lang="en-US" dirty="0"/>
              <a:t>"Now..."</a:t>
            </a:r>
          </a:p>
          <a:p>
            <a:endParaRPr lang="en-US" dirty="0"/>
          </a:p>
          <a:p>
            <a:r>
              <a:rPr lang="en-US" dirty="0"/>
              <a:t>"We need to protect the information itself."</a:t>
            </a:r>
          </a:p>
          <a:p>
            <a:endParaRPr lang="en-US" dirty="0"/>
          </a:p>
          <a:p>
            <a:r>
              <a:rPr lang="en-US" dirty="0"/>
              <a:t>============================================================</a:t>
            </a:r>
          </a:p>
          <a:p>
            <a:endParaRPr lang="en-US" dirty="0"/>
          </a:p>
          <a:p>
            <a:r>
              <a:rPr lang="en-US" dirty="0"/>
              <a:t>ESTIMATED TIME</a:t>
            </a:r>
          </a:p>
          <a:p>
            <a:endParaRPr lang="en-US" dirty="0"/>
          </a:p>
          <a:p>
            <a:r>
              <a:rPr lang="en-US" dirty="0"/>
              <a:t>Opening &amp; Security Responsibility.......8 minutes</a:t>
            </a:r>
          </a:p>
          <a:p>
            <a:endParaRPr lang="en-US" dirty="0"/>
          </a:p>
          <a:p>
            <a:r>
              <a:rPr lang="en-US" dirty="0"/>
              <a:t>Data Categories.........................10 minutes</a:t>
            </a:r>
          </a:p>
          <a:p>
            <a:endParaRPr lang="en-US" dirty="0"/>
          </a:p>
          <a:p>
            <a:r>
              <a:rPr lang="en-US" dirty="0"/>
              <a:t>Passwords &amp; Secrets.....................12 minutes</a:t>
            </a:r>
          </a:p>
          <a:p>
            <a:endParaRPr lang="en-US" dirty="0"/>
          </a:p>
          <a:p>
            <a:r>
              <a:rPr lang="en-US" dirty="0"/>
              <a:t>Data at Rest / Transit / Use.............10 minutes</a:t>
            </a:r>
          </a:p>
          <a:p>
            <a:endParaRPr lang="en-US" dirty="0"/>
          </a:p>
          <a:p>
            <a:r>
              <a:rPr lang="en-US" dirty="0"/>
              <a:t>Defense in Depth.........................8 minutes</a:t>
            </a:r>
          </a:p>
          <a:p>
            <a:endParaRPr lang="en-US" dirty="0"/>
          </a:p>
          <a:p>
            <a:r>
              <a:rPr lang="en-US" dirty="0"/>
              <a:t>Security Inventory Challenge.............12 minutes</a:t>
            </a:r>
          </a:p>
          <a:p>
            <a:endParaRPr lang="en-US" dirty="0"/>
          </a:p>
          <a:p>
            <a:r>
              <a:rPr lang="en-US" dirty="0"/>
              <a:t>Discussion &amp; Closing.....................5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lesson should connect heavily to things students have already</a:t>
            </a:r>
          </a:p>
          <a:p>
            <a:r>
              <a:rPr lang="en-US" dirty="0"/>
              <a:t>built.</a:t>
            </a:r>
          </a:p>
          <a:p>
            <a:endParaRPr lang="en-US" dirty="0"/>
          </a:p>
          <a:p>
            <a:r>
              <a:rPr lang="en-US" dirty="0"/>
              <a:t>Ask them to inspect their actual Atlas </a:t>
            </a:r>
            <a:r>
              <a:rPr lang="en-US" dirty="0" err="1"/>
              <a:t>TaskFlow</a:t>
            </a:r>
            <a:r>
              <a:rPr lang="en-US" dirty="0"/>
              <a:t> project.</a:t>
            </a:r>
          </a:p>
          <a:p>
            <a:endParaRPr lang="en-US" dirty="0"/>
          </a:p>
          <a:p>
            <a:r>
              <a:rPr lang="en-US" dirty="0"/>
              <a:t>Look for:</a:t>
            </a:r>
          </a:p>
          <a:p>
            <a:endParaRPr lang="en-US" dirty="0"/>
          </a:p>
          <a:p>
            <a:r>
              <a:rPr lang="en-US" dirty="0"/>
              <a:t>Connection strings.</a:t>
            </a:r>
          </a:p>
          <a:p>
            <a:endParaRPr lang="en-US" dirty="0"/>
          </a:p>
          <a:p>
            <a:r>
              <a:rPr lang="en-US" dirty="0"/>
              <a:t>Configuration files.</a:t>
            </a:r>
          </a:p>
          <a:p>
            <a:endParaRPr lang="en-US" dirty="0"/>
          </a:p>
          <a:p>
            <a:r>
              <a:rPr lang="en-US" dirty="0"/>
              <a:t>User information.</a:t>
            </a:r>
          </a:p>
          <a:p>
            <a:endParaRPr lang="en-US" dirty="0"/>
          </a:p>
          <a:p>
            <a:r>
              <a:rPr lang="en-US" dirty="0"/>
              <a:t>Database access.</a:t>
            </a:r>
          </a:p>
          <a:p>
            <a:endParaRPr lang="en-US" dirty="0"/>
          </a:p>
          <a:p>
            <a:r>
              <a:rPr lang="en-US" dirty="0"/>
              <a:t>Error messages.</a:t>
            </a:r>
          </a:p>
          <a:p>
            <a:endParaRPr lang="en-US" dirty="0"/>
          </a:p>
          <a:p>
            <a:r>
              <a:rPr lang="en-US" dirty="0"/>
              <a:t>Logging.</a:t>
            </a:r>
          </a:p>
          <a:p>
            <a:endParaRPr lang="en-US" dirty="0"/>
          </a:p>
          <a:p>
            <a:r>
              <a:rPr lang="en-US" dirty="0"/>
              <a:t>HTTPS.</a:t>
            </a:r>
          </a:p>
          <a:p>
            <a:endParaRPr lang="en-US" dirty="0"/>
          </a:p>
          <a:p>
            <a:r>
              <a:rPr lang="en-US" dirty="0"/>
              <a:t>Do not simply tell students what is secure.</a:t>
            </a:r>
          </a:p>
          <a:p>
            <a:endParaRPr lang="en-US" dirty="0"/>
          </a:p>
          <a:p>
            <a:r>
              <a:rPr lang="en-US" dirty="0"/>
              <a:t>Have them identify potential weaknesses themselves.</a:t>
            </a:r>
          </a:p>
          <a:p>
            <a:endParaRPr lang="en-US" dirty="0"/>
          </a:p>
          <a:p>
            <a:r>
              <a:rPr lang="en-US" dirty="0"/>
              <a:t>------------------------------------------------------------</a:t>
            </a:r>
          </a:p>
          <a:p>
            <a:endParaRPr lang="en-US" dirty="0"/>
          </a:p>
          <a:p>
            <a:r>
              <a:rPr lang="en-US" dirty="0"/>
              <a:t>IMPORTANT TEACHING MOVE</a:t>
            </a:r>
          </a:p>
          <a:p>
            <a:endParaRPr lang="en-US" dirty="0"/>
          </a:p>
          <a:p>
            <a:r>
              <a:rPr lang="en-US" dirty="0"/>
              <a:t>Keep asking:</a:t>
            </a:r>
          </a:p>
          <a:p>
            <a:endParaRPr lang="en-US" dirty="0"/>
          </a:p>
          <a:p>
            <a:r>
              <a:rPr lang="en-US" dirty="0"/>
              <a:t>"What are we protecting?"</a:t>
            </a:r>
          </a:p>
          <a:p>
            <a:endParaRPr lang="en-US" dirty="0"/>
          </a:p>
          <a:p>
            <a:r>
              <a:rPr lang="en-US" dirty="0"/>
              <a:t>"Who needs access?"</a:t>
            </a:r>
          </a:p>
          <a:p>
            <a:endParaRPr lang="en-US" dirty="0"/>
          </a:p>
          <a:p>
            <a:r>
              <a:rPr lang="en-US" dirty="0"/>
              <a:t>"Where is it stored?"</a:t>
            </a:r>
          </a:p>
          <a:p>
            <a:endParaRPr lang="en-US" dirty="0"/>
          </a:p>
          <a:p>
            <a:r>
              <a:rPr lang="en-US" dirty="0"/>
              <a:t>"What happens if it is exposed?"</a:t>
            </a:r>
          </a:p>
          <a:p>
            <a:endParaRPr lang="en-US" dirty="0"/>
          </a:p>
          <a:p>
            <a:r>
              <a:rPr lang="en-US" dirty="0"/>
              <a:t>These four questions develop a security mindset.</a:t>
            </a:r>
          </a:p>
          <a:p>
            <a:endParaRPr lang="en-US" dirty="0"/>
          </a:p>
          <a:p>
            <a:r>
              <a:rPr lang="en-US" dirty="0"/>
              <a:t>------------------------------------------------------------</a:t>
            </a:r>
          </a:p>
          <a:p>
            <a:endParaRPr lang="en-US" dirty="0"/>
          </a:p>
          <a:p>
            <a:r>
              <a:rPr lang="en-US" dirty="0"/>
              <a:t>PASSWORD BOUNDARY</a:t>
            </a:r>
          </a:p>
          <a:p>
            <a:endParaRPr lang="en-US" dirty="0"/>
          </a:p>
          <a:p>
            <a:r>
              <a:rPr lang="en-US" dirty="0"/>
              <a:t>Do not teach students to create their own password hashing system.</a:t>
            </a:r>
          </a:p>
          <a:p>
            <a:endParaRPr lang="en-US" dirty="0"/>
          </a:p>
          <a:p>
            <a:r>
              <a:rPr lang="en-US" dirty="0"/>
              <a:t>Use established identity/security frameworks.</a:t>
            </a:r>
          </a:p>
          <a:p>
            <a:endParaRPr lang="en-US" dirty="0"/>
          </a:p>
          <a:p>
            <a:r>
              <a:rPr lang="en-US" dirty="0"/>
              <a:t>The important principle is:</a:t>
            </a:r>
          </a:p>
          <a:p>
            <a:endParaRPr lang="en-US" dirty="0"/>
          </a:p>
          <a:p>
            <a:r>
              <a:rPr lang="en-US" dirty="0"/>
              <a:t>"Never store passwords as plain text."</a:t>
            </a:r>
          </a:p>
          <a:p>
            <a:endParaRPr lang="en-US" dirty="0"/>
          </a:p>
          <a:p>
            <a:r>
              <a:rPr lang="en-US" dirty="0"/>
              <a:t>------------------------------------------------------------</a:t>
            </a:r>
          </a:p>
          <a:p>
            <a:endParaRPr lang="en-US" dirty="0"/>
          </a:p>
          <a:p>
            <a:r>
              <a:rPr lang="en-US" dirty="0"/>
              <a:t>SECRETS BOUNDARY</a:t>
            </a:r>
          </a:p>
          <a:p>
            <a:endParaRPr lang="en-US" dirty="0"/>
          </a:p>
          <a:p>
            <a:r>
              <a:rPr lang="en-US" dirty="0"/>
              <a:t>Emphasize:</a:t>
            </a:r>
          </a:p>
          <a:p>
            <a:endParaRPr lang="en-US" dirty="0"/>
          </a:p>
          <a:p>
            <a:r>
              <a:rPr lang="en-US" dirty="0"/>
              <a:t>Never commit production secrets to GitHub.</a:t>
            </a:r>
          </a:p>
          <a:p>
            <a:endParaRPr lang="en-US" dirty="0"/>
          </a:p>
          <a:p>
            <a:r>
              <a:rPr lang="en-US" dirty="0"/>
              <a:t>If a secret is accidentally committed:</a:t>
            </a:r>
          </a:p>
          <a:p>
            <a:endParaRPr lang="en-US" dirty="0"/>
          </a:p>
          <a:p>
            <a:r>
              <a:rPr lang="en-US" dirty="0"/>
              <a:t>Treat it as exposed.</a:t>
            </a:r>
          </a:p>
          <a:p>
            <a:endParaRPr lang="en-US" dirty="0"/>
          </a:p>
          <a:p>
            <a:r>
              <a:rPr lang="en-US" dirty="0"/>
              <a:t>Rotate it.</a:t>
            </a:r>
          </a:p>
          <a:p>
            <a:endParaRPr lang="en-US" dirty="0"/>
          </a:p>
          <a:p>
            <a:r>
              <a:rPr lang="en-US" dirty="0"/>
              <a:t>Remove it from active use.</a:t>
            </a:r>
          </a:p>
          <a:p>
            <a:endParaRPr lang="en-US" dirty="0"/>
          </a:p>
          <a:p>
            <a:r>
              <a:rPr lang="en-US" dirty="0"/>
              <a:t>Use appropriate secret/configuration management.</a:t>
            </a:r>
          </a:p>
          <a:p>
            <a:endParaRPr lang="en-US" dirty="0"/>
          </a:p>
          <a:p>
            <a:r>
              <a:rPr lang="en-US" dirty="0"/>
              <a:t>------------------------------------------------------------</a:t>
            </a:r>
          </a:p>
          <a:p>
            <a:endParaRPr lang="en-US" dirty="0"/>
          </a:p>
          <a:p>
            <a:r>
              <a:rPr lang="en-US" dirty="0"/>
              <a:t>SECURITY BOUNDARY</a:t>
            </a:r>
          </a:p>
          <a:p>
            <a:endParaRPr lang="en-US" dirty="0"/>
          </a:p>
          <a:p>
            <a:r>
              <a:rPr lang="en-US" dirty="0"/>
              <a:t>Don't turn this into a deep cybersecurity lesson.</a:t>
            </a:r>
          </a:p>
          <a:p>
            <a:endParaRPr lang="en-US" dirty="0"/>
          </a:p>
          <a:p>
            <a:r>
              <a:rPr lang="en-US" dirty="0"/>
              <a:t>Avoid:</a:t>
            </a:r>
          </a:p>
          <a:p>
            <a:endParaRPr lang="en-US" dirty="0"/>
          </a:p>
          <a:p>
            <a:r>
              <a:rPr lang="en-US" dirty="0"/>
              <a:t>• Cryptographic algorithm implementation</a:t>
            </a:r>
          </a:p>
          <a:p>
            <a:r>
              <a:rPr lang="en-US" dirty="0"/>
              <a:t>• Advanced key management</a:t>
            </a:r>
          </a:p>
          <a:p>
            <a:r>
              <a:rPr lang="en-US" dirty="0"/>
              <a:t>• Penetration testing</a:t>
            </a:r>
          </a:p>
          <a:p>
            <a:r>
              <a:rPr lang="en-US" dirty="0"/>
              <a:t>• Network security architecture</a:t>
            </a:r>
          </a:p>
          <a:p>
            <a:r>
              <a:rPr lang="en-US" dirty="0"/>
              <a:t>• Compliance frameworks</a:t>
            </a:r>
          </a:p>
          <a:p>
            <a:r>
              <a:rPr lang="en-US" dirty="0"/>
              <a:t>• Enterprise SIEM systems</a:t>
            </a:r>
          </a:p>
          <a:p>
            <a:endParaRPr lang="en-US" dirty="0"/>
          </a:p>
          <a:p>
            <a:r>
              <a:rPr lang="en-US" dirty="0"/>
              <a:t>Those are outside the scope of this class.</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AT REST</a:t>
            </a:r>
          </a:p>
          <a:p>
            <a:r>
              <a:rPr lang="en-US" dirty="0"/>
              <a:t>= Stored</a:t>
            </a:r>
          </a:p>
          <a:p>
            <a:endParaRPr lang="en-US" dirty="0"/>
          </a:p>
          <a:p>
            <a:r>
              <a:rPr lang="en-US" dirty="0"/>
              <a:t>IN TRANSIT</a:t>
            </a:r>
          </a:p>
          <a:p>
            <a:r>
              <a:rPr lang="en-US" dirty="0"/>
              <a:t>= Moving</a:t>
            </a:r>
          </a:p>
          <a:p>
            <a:endParaRPr lang="en-US" dirty="0"/>
          </a:p>
          <a:p>
            <a:r>
              <a:rPr lang="en-US" dirty="0"/>
              <a:t>IN USE</a:t>
            </a:r>
          </a:p>
          <a:p>
            <a:r>
              <a:rPr lang="en-US" dirty="0"/>
              <a:t>= Processing</a:t>
            </a:r>
          </a:p>
          <a:p>
            <a:endParaRPr lang="en-US" dirty="0"/>
          </a:p>
          <a:p>
            <a:r>
              <a:rPr lang="en-US" dirty="0"/>
              <a:t>Then:</a:t>
            </a:r>
          </a:p>
          <a:p>
            <a:endParaRPr lang="en-US" dirty="0"/>
          </a:p>
          <a:p>
            <a:r>
              <a:rPr lang="en-US" dirty="0"/>
              <a:t>AUTHENTICATE</a:t>
            </a:r>
          </a:p>
          <a:p>
            <a:endParaRPr lang="en-US" dirty="0"/>
          </a:p>
          <a:p>
            <a:r>
              <a:rPr lang="en-US" dirty="0"/>
              <a:t>↓</a:t>
            </a:r>
          </a:p>
          <a:p>
            <a:endParaRPr lang="en-US" dirty="0"/>
          </a:p>
          <a:p>
            <a:r>
              <a:rPr lang="en-US" dirty="0"/>
              <a:t>AUTHORIZE</a:t>
            </a:r>
          </a:p>
          <a:p>
            <a:endParaRPr lang="en-US" dirty="0"/>
          </a:p>
          <a:p>
            <a:r>
              <a:rPr lang="en-US" dirty="0"/>
              <a:t>↓</a:t>
            </a:r>
          </a:p>
          <a:p>
            <a:endParaRPr lang="en-US" dirty="0"/>
          </a:p>
          <a:p>
            <a:r>
              <a:rPr lang="en-US" dirty="0"/>
              <a:t>PROTECT</a:t>
            </a:r>
          </a:p>
          <a:p>
            <a:endParaRPr lang="en-US" dirty="0"/>
          </a:p>
          <a:p>
            <a:r>
              <a:rPr lang="en-US" dirty="0"/>
              <a:t>↓</a:t>
            </a:r>
          </a:p>
          <a:p>
            <a:endParaRPr lang="en-US" dirty="0"/>
          </a:p>
          <a:p>
            <a:r>
              <a:rPr lang="en-US" dirty="0"/>
              <a:t>MONITOR</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"Users trust software with information."</a:t>
            </a:r>
          </a:p>
          <a:p>
            <a:endParaRPr lang="en-US" dirty="0"/>
          </a:p>
          <a:p>
            <a:r>
              <a:rPr lang="en-US" dirty="0"/>
              <a:t>"That trust is our responsibility."</a:t>
            </a:r>
          </a:p>
          <a:p>
            <a:endParaRPr lang="en-US" dirty="0"/>
          </a:p>
          <a:p>
            <a:r>
              <a:rPr lang="en-US" dirty="0"/>
              <a:t>"Next..."</a:t>
            </a:r>
          </a:p>
          <a:p>
            <a:endParaRPr lang="en-US" dirty="0"/>
          </a:p>
          <a:p>
            <a:r>
              <a:rPr lang="en-US" dirty="0"/>
              <a:t>"We're going to put these security principles into practice."</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3</a:t>
            </a:fld>
            <a:endParaRPr lang="en-US"/>
          </a:p>
        </p:txBody>
      </p:sp>
    </p:spTree>
    <p:extLst>
      <p:ext uri="{BB962C8B-B14F-4D97-AF65-F5344CB8AC3E}">
        <p14:creationId xmlns:p14="http://schemas.microsoft.com/office/powerpoint/2010/main" val="3010490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SECURING ATLAS TASKFLOW IN PRACTICE</a:t>
            </a:r>
          </a:p>
          <a:p>
            <a:endParaRPr lang="en-US" dirty="0"/>
          </a:p>
          <a:p>
            <a:r>
              <a:rPr lang="en-US" dirty="0"/>
              <a:t>"Build it. Test it. Protect it."</a:t>
            </a:r>
          </a:p>
          <a:p>
            <a:endParaRPr lang="en-US" dirty="0"/>
          </a:p>
          <a:p>
            <a:r>
              <a:rPr lang="en-US" dirty="0"/>
              <a:t>============================================================</a:t>
            </a:r>
          </a:p>
          <a:p>
            <a:endParaRPr lang="en-US" dirty="0"/>
          </a:p>
          <a:p>
            <a:r>
              <a:rPr lang="en-US" dirty="0"/>
              <a:t>SLIDE PURPOSE</a:t>
            </a:r>
          </a:p>
          <a:p>
            <a:endParaRPr lang="en-US" dirty="0"/>
          </a:p>
          <a:p>
            <a:r>
              <a:rPr lang="en-US" dirty="0"/>
              <a:t>Move students from learning security concepts to applying those</a:t>
            </a:r>
          </a:p>
          <a:p>
            <a:r>
              <a:rPr lang="en-US" dirty="0"/>
              <a:t>concepts directly to their Atlas </a:t>
            </a:r>
            <a:r>
              <a:rPr lang="en-US" dirty="0" err="1"/>
              <a:t>TaskFlow</a:t>
            </a:r>
            <a:r>
              <a:rPr lang="en-US" dirty="0"/>
              <a:t> application.</a:t>
            </a:r>
          </a:p>
          <a:p>
            <a:endParaRPr lang="en-US" dirty="0"/>
          </a:p>
          <a:p>
            <a:r>
              <a:rPr lang="en-US" dirty="0"/>
              <a:t>Students will inspect their application, identify weaknesses, apply</a:t>
            </a:r>
          </a:p>
          <a:p>
            <a:r>
              <a:rPr lang="en-US" dirty="0"/>
              <a:t>appropriate protections, test those protections, and verify the</a:t>
            </a:r>
          </a:p>
          <a:p>
            <a:r>
              <a:rPr lang="en-US" dirty="0"/>
              <a:t>results.</a:t>
            </a:r>
          </a:p>
          <a:p>
            <a:endParaRPr lang="en-US" dirty="0"/>
          </a:p>
          <a:p>
            <a:r>
              <a:rPr lang="en-US" dirty="0"/>
              <a:t>The core engineering workflow is:</a:t>
            </a:r>
          </a:p>
          <a:p>
            <a:endParaRPr lang="en-US" dirty="0"/>
          </a:p>
          <a:p>
            <a:r>
              <a:rPr lang="en-US" dirty="0"/>
              <a:t>INSPECT</a:t>
            </a:r>
          </a:p>
          <a:p>
            <a:r>
              <a:rPr lang="en-US" dirty="0"/>
              <a:t>    ↓</a:t>
            </a:r>
          </a:p>
          <a:p>
            <a:r>
              <a:rPr lang="en-US" dirty="0"/>
              <a:t>IDENTIFY</a:t>
            </a:r>
          </a:p>
          <a:p>
            <a:r>
              <a:rPr lang="en-US" dirty="0"/>
              <a:t>    ↓</a:t>
            </a:r>
          </a:p>
          <a:p>
            <a:r>
              <a:rPr lang="en-US" dirty="0"/>
              <a:t>FIX</a:t>
            </a:r>
          </a:p>
          <a:p>
            <a:r>
              <a:rPr lang="en-US" dirty="0"/>
              <a:t>    ↓</a:t>
            </a:r>
          </a:p>
          <a:p>
            <a:r>
              <a:rPr lang="en-US" dirty="0"/>
              <a:t>TEST</a:t>
            </a:r>
          </a:p>
          <a:p>
            <a:r>
              <a:rPr lang="en-US" dirty="0"/>
              <a:t>    ↓</a:t>
            </a:r>
          </a:p>
          <a:p>
            <a:r>
              <a:rPr lang="en-US" dirty="0"/>
              <a:t>VERIFY</a:t>
            </a:r>
          </a:p>
          <a:p>
            <a:endParaRPr lang="en-US" dirty="0"/>
          </a:p>
          <a:p>
            <a:r>
              <a:rPr lang="en-US" dirty="0"/>
              <a:t>This should be a hands-on working session.</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"We've talked about authentication."</a:t>
            </a:r>
          </a:p>
          <a:p>
            <a:endParaRPr lang="en-US" dirty="0"/>
          </a:p>
          <a:p>
            <a:r>
              <a:rPr lang="en-US" dirty="0"/>
              <a:t>"We've talked about authorization."</a:t>
            </a:r>
          </a:p>
          <a:p>
            <a:endParaRPr lang="en-US" dirty="0"/>
          </a:p>
          <a:p>
            <a:r>
              <a:rPr lang="en-US" dirty="0"/>
              <a:t>"We've talked about protecting data."</a:t>
            </a:r>
          </a:p>
          <a:p>
            <a:endParaRPr lang="en-US" dirty="0"/>
          </a:p>
          <a:p>
            <a:r>
              <a:rPr lang="en-US" dirty="0"/>
              <a:t>"We've talked about secrets."</a:t>
            </a:r>
          </a:p>
          <a:p>
            <a:endParaRPr lang="en-US" dirty="0"/>
          </a:p>
          <a:p>
            <a:r>
              <a:rPr lang="en-US" dirty="0"/>
              <a:t>Pause.</a:t>
            </a:r>
          </a:p>
          <a:p>
            <a:endParaRPr lang="en-US" dirty="0"/>
          </a:p>
          <a:p>
            <a:r>
              <a:rPr lang="en-US" dirty="0"/>
              <a:t>"But here's the problem."</a:t>
            </a:r>
          </a:p>
          <a:p>
            <a:endParaRPr lang="en-US" dirty="0"/>
          </a:p>
          <a:p>
            <a:r>
              <a:rPr lang="en-US" dirty="0"/>
              <a:t>"Talking about security doesn't make an application secure."</a:t>
            </a:r>
          </a:p>
          <a:p>
            <a:endParaRPr lang="en-US" dirty="0"/>
          </a:p>
          <a:p>
            <a:r>
              <a:rPr lang="en-US" dirty="0"/>
              <a:t>Point to:</a:t>
            </a:r>
          </a:p>
          <a:p>
            <a:endParaRPr lang="en-US" dirty="0"/>
          </a:p>
          <a:p>
            <a:r>
              <a:rPr lang="en-US" dirty="0"/>
              <a:t>INSPECT → IDENTIFY → FIX → TEST → VERIFY</a:t>
            </a:r>
          </a:p>
          <a:p>
            <a:endParaRPr lang="en-US" dirty="0"/>
          </a:p>
          <a:p>
            <a:r>
              <a:rPr lang="en-US" dirty="0"/>
              <a:t>"Today, we're going to apply what we've learned."</a:t>
            </a:r>
          </a:p>
          <a:p>
            <a:endParaRPr lang="en-US" dirty="0"/>
          </a:p>
          <a:p>
            <a:r>
              <a:rPr lang="en-US" dirty="0"/>
              <a:t>------------------------------------------------------------</a:t>
            </a:r>
          </a:p>
          <a:p>
            <a:endParaRPr lang="en-US" dirty="0"/>
          </a:p>
          <a:p>
            <a:r>
              <a:rPr lang="en-US" dirty="0"/>
              <a:t>THE MISSION</a:t>
            </a:r>
          </a:p>
          <a:p>
            <a:endParaRPr lang="en-US" dirty="0"/>
          </a:p>
          <a:p>
            <a:r>
              <a:rPr lang="en-US" dirty="0"/>
              <a:t>Point to:</a:t>
            </a:r>
          </a:p>
          <a:p>
            <a:endParaRPr lang="en-US" dirty="0"/>
          </a:p>
          <a:p>
            <a:r>
              <a:rPr lang="en-US" dirty="0"/>
              <a:t>"Find weak points. Fix them. Prove they're fixed."</a:t>
            </a:r>
          </a:p>
          <a:p>
            <a:endParaRPr lang="en-US" dirty="0"/>
          </a:p>
          <a:p>
            <a:r>
              <a:rPr lang="en-US" dirty="0"/>
              <a:t>Say:</a:t>
            </a:r>
          </a:p>
          <a:p>
            <a:endParaRPr lang="en-US" dirty="0"/>
          </a:p>
          <a:p>
            <a:r>
              <a:rPr lang="en-US" dirty="0"/>
              <a:t>"This is a security review."</a:t>
            </a:r>
          </a:p>
          <a:p>
            <a:endParaRPr lang="en-US" dirty="0"/>
          </a:p>
          <a:p>
            <a:r>
              <a:rPr lang="en-US" dirty="0"/>
              <a:t>"We're going to look at Atlas </a:t>
            </a:r>
            <a:r>
              <a:rPr lang="en-US" dirty="0" err="1"/>
              <a:t>TaskFlow</a:t>
            </a:r>
            <a:r>
              <a:rPr lang="en-US" dirty="0"/>
              <a:t> the way an engineer should."</a:t>
            </a:r>
          </a:p>
          <a:p>
            <a:endParaRPr lang="en-US" dirty="0"/>
          </a:p>
          <a:p>
            <a:r>
              <a:rPr lang="en-US" dirty="0"/>
              <a:t>"Not just asking..."</a:t>
            </a:r>
          </a:p>
          <a:p>
            <a:endParaRPr lang="en-US" dirty="0"/>
          </a:p>
          <a:p>
            <a:r>
              <a:rPr lang="en-US" dirty="0"/>
              <a:t>'Does it work?'</a:t>
            </a:r>
          </a:p>
          <a:p>
            <a:endParaRPr lang="en-US" dirty="0"/>
          </a:p>
          <a:p>
            <a:r>
              <a:rPr lang="en-US" dirty="0"/>
              <a:t>"But also..."</a:t>
            </a:r>
          </a:p>
          <a:p>
            <a:endParaRPr lang="en-US" dirty="0"/>
          </a:p>
          <a:p>
            <a:r>
              <a:rPr lang="en-US" dirty="0"/>
              <a:t>'Can someone misuse it?'</a:t>
            </a:r>
          </a:p>
          <a:p>
            <a:endParaRPr lang="en-US" dirty="0"/>
          </a:p>
          <a:p>
            <a:r>
              <a:rPr lang="en-US" dirty="0"/>
              <a:t>------------------------------------------------------------</a:t>
            </a:r>
          </a:p>
          <a:p>
            <a:endParaRPr lang="en-US" dirty="0"/>
          </a:p>
          <a:p>
            <a:r>
              <a:rPr lang="en-US" dirty="0"/>
              <a:t>SECURITY IS NOT THEORETICAL</a:t>
            </a:r>
          </a:p>
          <a:p>
            <a:endParaRPr lang="en-US" dirty="0"/>
          </a:p>
          <a:p>
            <a:r>
              <a:rPr lang="en-US" dirty="0"/>
              <a:t>Point to the shield.</a:t>
            </a:r>
          </a:p>
          <a:p>
            <a:endParaRPr lang="en-US" dirty="0"/>
          </a:p>
          <a:p>
            <a:r>
              <a:rPr lang="en-US" dirty="0"/>
              <a:t>Say:</a:t>
            </a:r>
          </a:p>
          <a:p>
            <a:endParaRPr lang="en-US" dirty="0"/>
          </a:p>
          <a:p>
            <a:r>
              <a:rPr lang="en-US" dirty="0"/>
              <a:t>"Security isn't something that lives in a textbook."</a:t>
            </a:r>
          </a:p>
          <a:p>
            <a:endParaRPr lang="en-US" dirty="0"/>
          </a:p>
          <a:p>
            <a:r>
              <a:rPr lang="en-US" dirty="0"/>
              <a:t>"It has to exist inside our application."</a:t>
            </a:r>
          </a:p>
          <a:p>
            <a:endParaRPr lang="en-US" dirty="0"/>
          </a:p>
          <a:p>
            <a:r>
              <a:rPr lang="en-US" dirty="0"/>
              <a:t>Ask:</a:t>
            </a:r>
          </a:p>
          <a:p>
            <a:endParaRPr lang="en-US" dirty="0"/>
          </a:p>
          <a:p>
            <a:r>
              <a:rPr lang="en-US" dirty="0"/>
              <a:t>"Where does security live?"</a:t>
            </a:r>
          </a:p>
          <a:p>
            <a:endParaRPr lang="en-US" dirty="0"/>
          </a:p>
          <a:p>
            <a:r>
              <a:rPr lang="en-US" dirty="0"/>
              <a:t>Possible answers:</a:t>
            </a:r>
          </a:p>
          <a:p>
            <a:endParaRPr lang="en-US" dirty="0"/>
          </a:p>
          <a:p>
            <a:r>
              <a:rPr lang="en-US" dirty="0"/>
              <a:t>Login.</a:t>
            </a:r>
          </a:p>
          <a:p>
            <a:endParaRPr lang="en-US" dirty="0"/>
          </a:p>
          <a:p>
            <a:r>
              <a:rPr lang="en-US" dirty="0"/>
              <a:t>Permissions.</a:t>
            </a:r>
          </a:p>
          <a:p>
            <a:endParaRPr lang="en-US" dirty="0"/>
          </a:p>
          <a:p>
            <a:r>
              <a:rPr lang="en-US" dirty="0"/>
              <a:t>Database.</a:t>
            </a:r>
          </a:p>
          <a:p>
            <a:endParaRPr lang="en-US" dirty="0"/>
          </a:p>
          <a:p>
            <a:r>
              <a:rPr lang="en-US" dirty="0"/>
              <a:t>Code.</a:t>
            </a:r>
          </a:p>
          <a:p>
            <a:endParaRPr lang="en-US" dirty="0"/>
          </a:p>
          <a:p>
            <a:r>
              <a:rPr lang="en-US" dirty="0"/>
              <a:t>Configuration.</a:t>
            </a:r>
          </a:p>
          <a:p>
            <a:endParaRPr lang="en-US" dirty="0"/>
          </a:p>
          <a:p>
            <a:r>
              <a:rPr lang="en-US" dirty="0"/>
              <a:t>Network.</a:t>
            </a:r>
          </a:p>
          <a:p>
            <a:endParaRPr lang="en-US" dirty="0"/>
          </a:p>
          <a:p>
            <a:r>
              <a:rPr lang="en-US" dirty="0"/>
              <a:t>Exactly.</a:t>
            </a:r>
          </a:p>
          <a:p>
            <a:endParaRPr lang="en-US" dirty="0"/>
          </a:p>
          <a:p>
            <a:r>
              <a:rPr lang="en-US" dirty="0"/>
              <a:t>"Security exists across the application."</a:t>
            </a:r>
          </a:p>
          <a:p>
            <a:endParaRPr lang="en-US" dirty="0"/>
          </a:p>
          <a:p>
            <a:r>
              <a:rPr lang="en-US" dirty="0"/>
              <a:t>------------------------------------------------------------</a:t>
            </a:r>
          </a:p>
          <a:p>
            <a:endParaRPr lang="en-US" dirty="0"/>
          </a:p>
          <a:p>
            <a:r>
              <a:rPr lang="en-US" dirty="0"/>
              <a:t>OUR APPROACH</a:t>
            </a:r>
          </a:p>
          <a:p>
            <a:endParaRPr lang="en-US" dirty="0"/>
          </a:p>
          <a:p>
            <a:r>
              <a:rPr lang="en-US" dirty="0"/>
              <a:t>Walk through the five steps.</a:t>
            </a:r>
          </a:p>
          <a:p>
            <a:endParaRPr lang="en-US" dirty="0"/>
          </a:p>
          <a:p>
            <a:r>
              <a:rPr lang="en-US" dirty="0"/>
              <a:t>INSPECT</a:t>
            </a:r>
          </a:p>
          <a:p>
            <a:endParaRPr lang="en-US" dirty="0"/>
          </a:p>
          <a:p>
            <a:r>
              <a:rPr lang="en-US" dirty="0"/>
              <a:t>Look at what we've built.</a:t>
            </a:r>
          </a:p>
          <a:p>
            <a:endParaRPr lang="en-US" dirty="0"/>
          </a:p>
          <a:p>
            <a:r>
              <a:rPr lang="en-US" dirty="0"/>
              <a:t>IDENTIFY</a:t>
            </a:r>
          </a:p>
          <a:p>
            <a:endParaRPr lang="en-US" dirty="0"/>
          </a:p>
          <a:p>
            <a:r>
              <a:rPr lang="en-US" dirty="0"/>
              <a:t>Find potential weaknesses.</a:t>
            </a:r>
          </a:p>
          <a:p>
            <a:endParaRPr lang="en-US" dirty="0"/>
          </a:p>
          <a:p>
            <a:r>
              <a:rPr lang="en-US" dirty="0"/>
              <a:t>FIX</a:t>
            </a:r>
          </a:p>
          <a:p>
            <a:endParaRPr lang="en-US" dirty="0"/>
          </a:p>
          <a:p>
            <a:r>
              <a:rPr lang="en-US" dirty="0"/>
              <a:t>Apply the appropriate protection.</a:t>
            </a:r>
          </a:p>
          <a:p>
            <a:endParaRPr lang="en-US" dirty="0"/>
          </a:p>
          <a:p>
            <a:r>
              <a:rPr lang="en-US" dirty="0"/>
              <a:t>TEST</a:t>
            </a:r>
          </a:p>
          <a:p>
            <a:endParaRPr lang="en-US" dirty="0"/>
          </a:p>
          <a:p>
            <a:r>
              <a:rPr lang="en-US" dirty="0"/>
              <a:t>Try to break the protection.</a:t>
            </a:r>
          </a:p>
          <a:p>
            <a:endParaRPr lang="en-US" dirty="0"/>
          </a:p>
          <a:p>
            <a:r>
              <a:rPr lang="en-US" dirty="0"/>
              <a:t>VERIFY</a:t>
            </a:r>
          </a:p>
          <a:p>
            <a:endParaRPr lang="en-US" dirty="0"/>
          </a:p>
          <a:p>
            <a:r>
              <a:rPr lang="en-US" dirty="0"/>
              <a:t>Confirm the protection actually works.</a:t>
            </a:r>
          </a:p>
          <a:p>
            <a:endParaRPr lang="en-US" dirty="0"/>
          </a:p>
          <a:p>
            <a:r>
              <a:rPr lang="en-US" dirty="0"/>
              <a:t>Say:</a:t>
            </a:r>
          </a:p>
          <a:p>
            <a:endParaRPr lang="en-US" dirty="0"/>
          </a:p>
          <a:p>
            <a:r>
              <a:rPr lang="en-US" dirty="0"/>
              <a:t>"This is an engineering process."</a:t>
            </a:r>
          </a:p>
          <a:p>
            <a:endParaRPr lang="en-US" dirty="0"/>
          </a:p>
          <a:p>
            <a:r>
              <a:rPr lang="en-US" dirty="0"/>
              <a:t>"Don't skip straight to FIX."</a:t>
            </a:r>
          </a:p>
          <a:p>
            <a:endParaRPr lang="en-US" dirty="0"/>
          </a:p>
          <a:p>
            <a:r>
              <a:rPr lang="en-US" dirty="0"/>
              <a:t>------------------------------------------------------------</a:t>
            </a:r>
          </a:p>
          <a:p>
            <a:endParaRPr lang="en-US" dirty="0"/>
          </a:p>
          <a:p>
            <a:r>
              <a:rPr lang="en-US" dirty="0"/>
              <a:t>STEP 1 — INSPECT</a:t>
            </a:r>
          </a:p>
          <a:p>
            <a:endParaRPr lang="en-US" dirty="0"/>
          </a:p>
          <a:p>
            <a:r>
              <a:rPr lang="en-US" dirty="0"/>
              <a:t>Tell students:</a:t>
            </a:r>
          </a:p>
          <a:p>
            <a:endParaRPr lang="en-US" dirty="0"/>
          </a:p>
          <a:p>
            <a:r>
              <a:rPr lang="en-US" dirty="0"/>
              <a:t>"Open your Atlas </a:t>
            </a:r>
            <a:r>
              <a:rPr lang="en-US" dirty="0" err="1"/>
              <a:t>TaskFlow</a:t>
            </a:r>
            <a:r>
              <a:rPr lang="en-US" dirty="0"/>
              <a:t> project."</a:t>
            </a:r>
          </a:p>
          <a:p>
            <a:endParaRPr lang="en-US" dirty="0"/>
          </a:p>
          <a:p>
            <a:r>
              <a:rPr lang="en-US" dirty="0"/>
              <a:t>Have them inspect:</a:t>
            </a:r>
          </a:p>
          <a:p>
            <a:endParaRPr lang="en-US" dirty="0"/>
          </a:p>
          <a:p>
            <a:r>
              <a:rPr lang="en-US" dirty="0"/>
              <a:t>Authentication.</a:t>
            </a:r>
          </a:p>
          <a:p>
            <a:endParaRPr lang="en-US" dirty="0"/>
          </a:p>
          <a:p>
            <a:r>
              <a:rPr lang="en-US" dirty="0"/>
              <a:t>Authorization.</a:t>
            </a:r>
          </a:p>
          <a:p>
            <a:endParaRPr lang="en-US" dirty="0"/>
          </a:p>
          <a:p>
            <a:r>
              <a:rPr lang="en-US" dirty="0"/>
              <a:t>Models.</a:t>
            </a:r>
          </a:p>
          <a:p>
            <a:endParaRPr lang="en-US" dirty="0"/>
          </a:p>
          <a:p>
            <a:r>
              <a:rPr lang="en-US" dirty="0"/>
              <a:t>Controllers.</a:t>
            </a:r>
          </a:p>
          <a:p>
            <a:endParaRPr lang="en-US" dirty="0"/>
          </a:p>
          <a:p>
            <a:r>
              <a:rPr lang="en-US" dirty="0"/>
              <a:t>Configuration.</a:t>
            </a:r>
          </a:p>
          <a:p>
            <a:endParaRPr lang="en-US" dirty="0"/>
          </a:p>
          <a:p>
            <a:r>
              <a:rPr lang="en-US" dirty="0"/>
              <a:t>Database access.</a:t>
            </a:r>
          </a:p>
          <a:p>
            <a:endParaRPr lang="en-US" dirty="0"/>
          </a:p>
          <a:p>
            <a:r>
              <a:rPr lang="en-US" dirty="0"/>
              <a:t>GitHub repository.</a:t>
            </a:r>
          </a:p>
          <a:p>
            <a:endParaRPr lang="en-US" dirty="0"/>
          </a:p>
          <a:p>
            <a:r>
              <a:rPr lang="en-US" dirty="0"/>
              <a:t>Azure deployment.</a:t>
            </a:r>
          </a:p>
          <a:p>
            <a:endParaRPr lang="en-US" dirty="0"/>
          </a:p>
          <a:p>
            <a:r>
              <a:rPr lang="en-US" dirty="0"/>
              <a:t>Ask:</a:t>
            </a:r>
          </a:p>
          <a:p>
            <a:endParaRPr lang="en-US" dirty="0"/>
          </a:p>
          <a:p>
            <a:r>
              <a:rPr lang="en-US" dirty="0"/>
              <a:t>"What are we looking for?"</a:t>
            </a:r>
          </a:p>
          <a:p>
            <a:endParaRPr lang="en-US" dirty="0"/>
          </a:p>
          <a:p>
            <a:r>
              <a:rPr lang="en-US" dirty="0"/>
              <a:t>Answer:</a:t>
            </a:r>
          </a:p>
          <a:p>
            <a:endParaRPr lang="en-US" dirty="0"/>
          </a:p>
          <a:p>
            <a:r>
              <a:rPr lang="en-US" dirty="0"/>
              <a:t>"Places where information or access could be exposed."</a:t>
            </a:r>
          </a:p>
          <a:p>
            <a:endParaRPr lang="en-US" dirty="0"/>
          </a:p>
          <a:p>
            <a:r>
              <a:rPr lang="en-US" dirty="0"/>
              <a:t>------------------------------------------------------------</a:t>
            </a:r>
          </a:p>
          <a:p>
            <a:endParaRPr lang="en-US" dirty="0"/>
          </a:p>
          <a:p>
            <a:r>
              <a:rPr lang="en-US" dirty="0"/>
              <a:t>AUTHENTICATION REVIEW</a:t>
            </a:r>
          </a:p>
          <a:p>
            <a:endParaRPr lang="en-US" dirty="0"/>
          </a:p>
          <a:p>
            <a:r>
              <a:rPr lang="en-US" dirty="0"/>
              <a:t>Point to Authentication.</a:t>
            </a:r>
          </a:p>
          <a:p>
            <a:endParaRPr lang="en-US" dirty="0"/>
          </a:p>
          <a:p>
            <a:r>
              <a:rPr lang="en-US" dirty="0"/>
              <a:t>Ask:</a:t>
            </a:r>
          </a:p>
          <a:p>
            <a:endParaRPr lang="en-US" dirty="0"/>
          </a:p>
          <a:p>
            <a:r>
              <a:rPr lang="en-US" dirty="0"/>
              <a:t>"Can an unauthenticated user access protected pages?"</a:t>
            </a:r>
          </a:p>
          <a:p>
            <a:endParaRPr lang="en-US" dirty="0"/>
          </a:p>
          <a:p>
            <a:r>
              <a:rPr lang="en-US" dirty="0"/>
              <a:t>Test:</a:t>
            </a:r>
          </a:p>
          <a:p>
            <a:endParaRPr lang="en-US" dirty="0"/>
          </a:p>
          <a:p>
            <a:r>
              <a:rPr lang="en-US" dirty="0"/>
              <a:t>Open Atlas without signing in.</a:t>
            </a:r>
          </a:p>
          <a:p>
            <a:endParaRPr lang="en-US" dirty="0"/>
          </a:p>
          <a:p>
            <a:r>
              <a:rPr lang="en-US" dirty="0"/>
              <a:t>Try to navigate to a protected page.</a:t>
            </a:r>
          </a:p>
          <a:p>
            <a:endParaRPr lang="en-US" dirty="0"/>
          </a:p>
          <a:p>
            <a:r>
              <a:rPr lang="en-US" dirty="0"/>
              <a:t>Expected:</a:t>
            </a:r>
          </a:p>
          <a:p>
            <a:endParaRPr lang="en-US" dirty="0"/>
          </a:p>
          <a:p>
            <a:r>
              <a:rPr lang="en-US" dirty="0"/>
              <a:t>Access denied or redirect to login.</a:t>
            </a:r>
          </a:p>
          <a:p>
            <a:endParaRPr lang="en-US" dirty="0"/>
          </a:p>
          <a:p>
            <a:r>
              <a:rPr lang="en-US" dirty="0"/>
              <a:t>Then:</a:t>
            </a:r>
          </a:p>
          <a:p>
            <a:endParaRPr lang="en-US" dirty="0"/>
          </a:p>
          <a:p>
            <a:r>
              <a:rPr lang="en-US" dirty="0"/>
              <a:t>"Can a valid user sign in?"</a:t>
            </a:r>
          </a:p>
          <a:p>
            <a:endParaRPr lang="en-US" dirty="0"/>
          </a:p>
          <a:p>
            <a:r>
              <a:rPr lang="en-US" dirty="0"/>
              <a:t>"Can they log out?"</a:t>
            </a:r>
          </a:p>
          <a:p>
            <a:endParaRPr lang="en-US" dirty="0"/>
          </a:p>
          <a:p>
            <a:r>
              <a:rPr lang="en-US" dirty="0"/>
              <a:t>"Does the application recognize them afterward?"</a:t>
            </a:r>
          </a:p>
          <a:p>
            <a:endParaRPr lang="en-US" dirty="0"/>
          </a:p>
          <a:p>
            <a:r>
              <a:rPr lang="en-US" dirty="0"/>
              <a:t>------------------------------------------------------------</a:t>
            </a:r>
          </a:p>
          <a:p>
            <a:endParaRPr lang="en-US" dirty="0"/>
          </a:p>
          <a:p>
            <a:r>
              <a:rPr lang="en-US" dirty="0"/>
              <a:t>AUTHENTICATION CHECKLIST</a:t>
            </a:r>
          </a:p>
          <a:p>
            <a:endParaRPr lang="en-US" dirty="0"/>
          </a:p>
          <a:p>
            <a:r>
              <a:rPr lang="en-US" dirty="0"/>
              <a:t>Review:</a:t>
            </a:r>
          </a:p>
          <a:p>
            <a:endParaRPr lang="en-US" dirty="0"/>
          </a:p>
          <a:p>
            <a:r>
              <a:rPr lang="en-US" dirty="0"/>
              <a:t>Users can register.</a:t>
            </a:r>
          </a:p>
          <a:p>
            <a:endParaRPr lang="en-US" dirty="0"/>
          </a:p>
          <a:p>
            <a:r>
              <a:rPr lang="en-US" dirty="0"/>
              <a:t>Users can sign in.</a:t>
            </a:r>
          </a:p>
          <a:p>
            <a:endParaRPr lang="en-US" dirty="0"/>
          </a:p>
          <a:p>
            <a:r>
              <a:rPr lang="en-US" dirty="0"/>
              <a:t>Passwords are handled securely.</a:t>
            </a:r>
          </a:p>
          <a:p>
            <a:endParaRPr lang="en-US" dirty="0"/>
          </a:p>
          <a:p>
            <a:r>
              <a:rPr lang="en-US" dirty="0"/>
              <a:t>Invalid login attempts are rejected.</a:t>
            </a:r>
          </a:p>
          <a:p>
            <a:endParaRPr lang="en-US" dirty="0"/>
          </a:p>
          <a:p>
            <a:r>
              <a:rPr lang="en-US" dirty="0"/>
              <a:t>Users can log out.</a:t>
            </a:r>
          </a:p>
          <a:p>
            <a:endParaRPr lang="en-US" dirty="0"/>
          </a:p>
          <a:p>
            <a:r>
              <a:rPr lang="en-US" dirty="0"/>
              <a:t>Protected pages require authentication.</a:t>
            </a:r>
          </a:p>
          <a:p>
            <a:endParaRPr lang="en-US" dirty="0"/>
          </a:p>
          <a:p>
            <a:r>
              <a:rPr lang="en-US" dirty="0"/>
              <a:t>Session behavior is appropriate.</a:t>
            </a:r>
          </a:p>
          <a:p>
            <a:endParaRPr lang="en-US" dirty="0"/>
          </a:p>
          <a:p>
            <a:r>
              <a:rPr lang="en-US" dirty="0"/>
              <a:t>Say:</a:t>
            </a:r>
          </a:p>
          <a:p>
            <a:endParaRPr lang="en-US" dirty="0"/>
          </a:p>
          <a:p>
            <a:r>
              <a:rPr lang="en-US" dirty="0"/>
              <a:t>"We're not just checking whether the login form looks good."</a:t>
            </a:r>
          </a:p>
          <a:p>
            <a:endParaRPr lang="en-US" dirty="0"/>
          </a:p>
          <a:p>
            <a:r>
              <a:rPr lang="en-US" dirty="0"/>
              <a:t>"We're checking whether authentication actually protects the application."</a:t>
            </a:r>
          </a:p>
          <a:p>
            <a:endParaRPr lang="en-US" dirty="0"/>
          </a:p>
          <a:p>
            <a:r>
              <a:rPr lang="en-US" dirty="0"/>
              <a:t>------------------------------------------------------------</a:t>
            </a:r>
          </a:p>
          <a:p>
            <a:endParaRPr lang="en-US" dirty="0"/>
          </a:p>
          <a:p>
            <a:r>
              <a:rPr lang="en-US" dirty="0"/>
              <a:t>AUTHORIZATION REVIEW</a:t>
            </a:r>
          </a:p>
          <a:p>
            <a:endParaRPr lang="en-US" dirty="0"/>
          </a:p>
          <a:p>
            <a:r>
              <a:rPr lang="en-US" dirty="0"/>
              <a:t>Move to Authorization.</a:t>
            </a:r>
          </a:p>
          <a:p>
            <a:endParaRPr lang="en-US" dirty="0"/>
          </a:p>
          <a:p>
            <a:r>
              <a:rPr lang="en-US" dirty="0"/>
              <a:t>Ask:</a:t>
            </a:r>
          </a:p>
          <a:p>
            <a:endParaRPr lang="en-US" dirty="0"/>
          </a:p>
          <a:p>
            <a:r>
              <a:rPr lang="en-US" dirty="0"/>
              <a:t>"Now that we're authenticated..."</a:t>
            </a:r>
          </a:p>
          <a:p>
            <a:endParaRPr lang="en-US" dirty="0"/>
          </a:p>
          <a:p>
            <a:r>
              <a:rPr lang="en-US" dirty="0"/>
              <a:t>"What can we do?"</a:t>
            </a:r>
          </a:p>
          <a:p>
            <a:endParaRPr lang="en-US" dirty="0"/>
          </a:p>
          <a:p>
            <a:r>
              <a:rPr lang="en-US" dirty="0"/>
              <a:t>Test:</a:t>
            </a:r>
          </a:p>
          <a:p>
            <a:endParaRPr lang="en-US" dirty="0"/>
          </a:p>
          <a:p>
            <a:r>
              <a:rPr lang="en-US" dirty="0"/>
              <a:t>User A.</a:t>
            </a:r>
          </a:p>
          <a:p>
            <a:endParaRPr lang="en-US" dirty="0"/>
          </a:p>
          <a:p>
            <a:r>
              <a:rPr lang="en-US" dirty="0"/>
              <a:t>User B.</a:t>
            </a:r>
          </a:p>
          <a:p>
            <a:endParaRPr lang="en-US" dirty="0"/>
          </a:p>
          <a:p>
            <a:r>
              <a:rPr lang="en-US" dirty="0"/>
              <a:t>Have User A attempt to access User B's information.</a:t>
            </a:r>
          </a:p>
          <a:p>
            <a:endParaRPr lang="en-US" dirty="0"/>
          </a:p>
          <a:p>
            <a:r>
              <a:rPr lang="en-US" dirty="0"/>
              <a:t>Ask:</a:t>
            </a:r>
          </a:p>
          <a:p>
            <a:endParaRPr lang="en-US" dirty="0"/>
          </a:p>
          <a:p>
            <a:r>
              <a:rPr lang="en-US" dirty="0"/>
              <a:t>"Should this work?"</a:t>
            </a:r>
          </a:p>
          <a:p>
            <a:endParaRPr lang="en-US" dirty="0"/>
          </a:p>
          <a:p>
            <a:r>
              <a:rPr lang="en-US" dirty="0"/>
              <a:t>Expected:</a:t>
            </a:r>
          </a:p>
          <a:p>
            <a:endParaRPr lang="en-US" dirty="0"/>
          </a:p>
          <a:p>
            <a:r>
              <a:rPr lang="en-US" dirty="0"/>
              <a:t>"No."</a:t>
            </a:r>
          </a:p>
          <a:p>
            <a:endParaRPr lang="en-US" dirty="0"/>
          </a:p>
          <a:p>
            <a:r>
              <a:rPr lang="en-US" dirty="0"/>
              <a:t>Explain:</a:t>
            </a:r>
          </a:p>
          <a:p>
            <a:endParaRPr lang="en-US" dirty="0"/>
          </a:p>
          <a:p>
            <a:r>
              <a:rPr lang="en-US" dirty="0"/>
              <a:t>"This is where authorization becomes real."</a:t>
            </a:r>
          </a:p>
          <a:p>
            <a:endParaRPr lang="en-US" dirty="0"/>
          </a:p>
          <a:p>
            <a:r>
              <a:rPr lang="en-US" dirty="0"/>
              <a:t>------------------------------------------------------------</a:t>
            </a:r>
          </a:p>
          <a:p>
            <a:endParaRPr lang="en-US" dirty="0"/>
          </a:p>
          <a:p>
            <a:r>
              <a:rPr lang="en-US" dirty="0"/>
              <a:t>OWNERSHIP TEST</a:t>
            </a:r>
          </a:p>
          <a:p>
            <a:endParaRPr lang="en-US" dirty="0"/>
          </a:p>
          <a:p>
            <a:r>
              <a:rPr lang="en-US" dirty="0"/>
              <a:t>Create two users if necessary.</a:t>
            </a:r>
          </a:p>
          <a:p>
            <a:endParaRPr lang="en-US" dirty="0"/>
          </a:p>
          <a:p>
            <a:r>
              <a:rPr lang="en-US" dirty="0"/>
              <a:t>User A owns:</a:t>
            </a:r>
          </a:p>
          <a:p>
            <a:endParaRPr lang="en-US" dirty="0"/>
          </a:p>
          <a:p>
            <a:r>
              <a:rPr lang="en-US" dirty="0"/>
              <a:t>Project A.</a:t>
            </a:r>
          </a:p>
          <a:p>
            <a:endParaRPr lang="en-US" dirty="0"/>
          </a:p>
          <a:p>
            <a:r>
              <a:rPr lang="en-US" dirty="0"/>
              <a:t>User B owns:</a:t>
            </a:r>
          </a:p>
          <a:p>
            <a:endParaRPr lang="en-US" dirty="0"/>
          </a:p>
          <a:p>
            <a:r>
              <a:rPr lang="en-US" dirty="0"/>
              <a:t>Project B.</a:t>
            </a:r>
          </a:p>
          <a:p>
            <a:endParaRPr lang="en-US" dirty="0"/>
          </a:p>
          <a:p>
            <a:r>
              <a:rPr lang="en-US" dirty="0"/>
              <a:t>Try to access Project B as User A.</a:t>
            </a:r>
          </a:p>
          <a:p>
            <a:endParaRPr lang="en-US" dirty="0"/>
          </a:p>
          <a:p>
            <a:r>
              <a:rPr lang="en-US" dirty="0"/>
              <a:t>Then try to modify it.</a:t>
            </a:r>
          </a:p>
          <a:p>
            <a:endParaRPr lang="en-US" dirty="0"/>
          </a:p>
          <a:p>
            <a:r>
              <a:rPr lang="en-US" dirty="0"/>
              <a:t>Then try to delete it.</a:t>
            </a:r>
          </a:p>
          <a:p>
            <a:endParaRPr lang="en-US" dirty="0"/>
          </a:p>
          <a:p>
            <a:r>
              <a:rPr lang="en-US" dirty="0"/>
              <a:t>Ask:</a:t>
            </a:r>
          </a:p>
          <a:p>
            <a:endParaRPr lang="en-US" dirty="0"/>
          </a:p>
          <a:p>
            <a:r>
              <a:rPr lang="en-US" dirty="0"/>
              <a:t>"What happened?"</a:t>
            </a:r>
          </a:p>
          <a:p>
            <a:endParaRPr lang="en-US" dirty="0"/>
          </a:p>
          <a:p>
            <a:r>
              <a:rPr lang="en-US" dirty="0"/>
              <a:t>Expected:</a:t>
            </a:r>
          </a:p>
          <a:p>
            <a:endParaRPr lang="en-US" dirty="0"/>
          </a:p>
          <a:p>
            <a:r>
              <a:rPr lang="en-US" dirty="0"/>
              <a:t>Access should be denied.</a:t>
            </a:r>
          </a:p>
          <a:p>
            <a:endParaRPr lang="en-US" dirty="0"/>
          </a:p>
          <a:p>
            <a:r>
              <a:rPr lang="en-US" dirty="0"/>
              <a:t>Explain:</a:t>
            </a:r>
          </a:p>
          <a:p>
            <a:endParaRPr lang="en-US" dirty="0"/>
          </a:p>
          <a:p>
            <a:r>
              <a:rPr lang="en-US" dirty="0"/>
              <a:t>"This is resource ownership."</a:t>
            </a:r>
          </a:p>
          <a:p>
            <a:endParaRPr lang="en-US" dirty="0"/>
          </a:p>
          <a:p>
            <a:r>
              <a:rPr lang="en-US" dirty="0"/>
              <a:t>------------------------------------------------------------</a:t>
            </a:r>
          </a:p>
          <a:p>
            <a:endParaRPr lang="en-US" dirty="0"/>
          </a:p>
          <a:p>
            <a:r>
              <a:rPr lang="en-US" dirty="0"/>
              <a:t>SERVER-SIDE AUTHORIZATION</a:t>
            </a:r>
          </a:p>
          <a:p>
            <a:endParaRPr lang="en-US" dirty="0"/>
          </a:p>
          <a:p>
            <a:r>
              <a:rPr lang="en-US" dirty="0"/>
              <a:t>Point to:</a:t>
            </a:r>
          </a:p>
          <a:p>
            <a:endParaRPr lang="en-US" dirty="0"/>
          </a:p>
          <a:p>
            <a:r>
              <a:rPr lang="en-US" dirty="0"/>
              <a:t>"Server-side checks."</a:t>
            </a:r>
          </a:p>
          <a:p>
            <a:endParaRPr lang="en-US" dirty="0"/>
          </a:p>
          <a:p>
            <a:r>
              <a:rPr lang="en-US" dirty="0"/>
              <a:t>Say:</a:t>
            </a:r>
          </a:p>
          <a:p>
            <a:endParaRPr lang="en-US" dirty="0"/>
          </a:p>
          <a:p>
            <a:r>
              <a:rPr lang="en-US" dirty="0"/>
              <a:t>"Remember our earlier lesson."</a:t>
            </a:r>
          </a:p>
          <a:p>
            <a:endParaRPr lang="en-US" dirty="0"/>
          </a:p>
          <a:p>
            <a:r>
              <a:rPr lang="en-US" dirty="0"/>
              <a:t>"Hiding a button isn't security."</a:t>
            </a:r>
          </a:p>
          <a:p>
            <a:endParaRPr lang="en-US" dirty="0"/>
          </a:p>
          <a:p>
            <a:r>
              <a:rPr lang="en-US" dirty="0"/>
              <a:t>If User A doesn't see the Delete button for User B's project...</a:t>
            </a:r>
          </a:p>
          <a:p>
            <a:endParaRPr lang="en-US" dirty="0"/>
          </a:p>
          <a:p>
            <a:r>
              <a:rPr lang="en-US" dirty="0"/>
              <a:t>Ask:</a:t>
            </a:r>
          </a:p>
          <a:p>
            <a:endParaRPr lang="en-US" dirty="0"/>
          </a:p>
          <a:p>
            <a:r>
              <a:rPr lang="en-US" dirty="0"/>
              <a:t>"What happens if User A manually requests the delete action?"</a:t>
            </a:r>
          </a:p>
          <a:p>
            <a:endParaRPr lang="en-US" dirty="0"/>
          </a:p>
          <a:p>
            <a:r>
              <a:rPr lang="en-US" dirty="0"/>
              <a:t>The server must still reject it.</a:t>
            </a:r>
          </a:p>
          <a:p>
            <a:endParaRPr lang="en-US" dirty="0"/>
          </a:p>
          <a:p>
            <a:r>
              <a:rPr lang="en-US" dirty="0"/>
              <a:t>Say:</a:t>
            </a:r>
          </a:p>
          <a:p>
            <a:endParaRPr lang="en-US" dirty="0"/>
          </a:p>
          <a:p>
            <a:r>
              <a:rPr lang="en-US" dirty="0"/>
              <a:t>"The server is the final authority."</a:t>
            </a:r>
          </a:p>
          <a:p>
            <a:endParaRPr lang="en-US" dirty="0"/>
          </a:p>
          <a:p>
            <a:r>
              <a:rPr lang="en-US" dirty="0"/>
              <a:t>------------------------------------------------------------</a:t>
            </a:r>
          </a:p>
          <a:p>
            <a:endParaRPr lang="en-US" dirty="0"/>
          </a:p>
          <a:p>
            <a:r>
              <a:rPr lang="en-US" dirty="0"/>
              <a:t>DATA PROTECTION REVIEW</a:t>
            </a:r>
          </a:p>
          <a:p>
            <a:endParaRPr lang="en-US" dirty="0"/>
          </a:p>
          <a:p>
            <a:r>
              <a:rPr lang="en-US" dirty="0"/>
              <a:t>Move to Data Protection.</a:t>
            </a:r>
          </a:p>
          <a:p>
            <a:endParaRPr lang="en-US" dirty="0"/>
          </a:p>
          <a:p>
            <a:r>
              <a:rPr lang="en-US" dirty="0"/>
              <a:t>Ask:</a:t>
            </a:r>
          </a:p>
          <a:p>
            <a:endParaRPr lang="en-US" dirty="0"/>
          </a:p>
          <a:p>
            <a:r>
              <a:rPr lang="en-US" dirty="0"/>
              <a:t>"What information does Atlas store?"</a:t>
            </a:r>
          </a:p>
          <a:p>
            <a:endParaRPr lang="en-US" dirty="0"/>
          </a:p>
          <a:p>
            <a:r>
              <a:rPr lang="en-US" dirty="0"/>
              <a:t>Review:</a:t>
            </a:r>
          </a:p>
          <a:p>
            <a:endParaRPr lang="en-US" dirty="0"/>
          </a:p>
          <a:p>
            <a:r>
              <a:rPr lang="en-US" dirty="0"/>
              <a:t>User information.</a:t>
            </a:r>
          </a:p>
          <a:p>
            <a:endParaRPr lang="en-US" dirty="0"/>
          </a:p>
          <a:p>
            <a:r>
              <a:rPr lang="en-US" dirty="0"/>
              <a:t>Projects.</a:t>
            </a:r>
          </a:p>
          <a:p>
            <a:endParaRPr lang="en-US" dirty="0"/>
          </a:p>
          <a:p>
            <a:r>
              <a:rPr lang="en-US" dirty="0"/>
              <a:t>Tasks.</a:t>
            </a:r>
          </a:p>
          <a:p>
            <a:endParaRPr lang="en-US" dirty="0"/>
          </a:p>
          <a:p>
            <a:r>
              <a:rPr lang="en-US" dirty="0"/>
              <a:t>Credentials.</a:t>
            </a:r>
          </a:p>
          <a:p>
            <a:endParaRPr lang="en-US" dirty="0"/>
          </a:p>
          <a:p>
            <a:r>
              <a:rPr lang="en-US" dirty="0"/>
              <a:t>Configuration.</a:t>
            </a:r>
          </a:p>
          <a:p>
            <a:endParaRPr lang="en-US" dirty="0"/>
          </a:p>
          <a:p>
            <a:r>
              <a:rPr lang="en-US" dirty="0"/>
              <a:t>Potentially other sensitive data.</a:t>
            </a:r>
          </a:p>
          <a:p>
            <a:endParaRPr lang="en-US" dirty="0"/>
          </a:p>
          <a:p>
            <a:r>
              <a:rPr lang="en-US" dirty="0"/>
              <a:t>Now ask:</a:t>
            </a:r>
          </a:p>
          <a:p>
            <a:endParaRPr lang="en-US" dirty="0"/>
          </a:p>
          <a:p>
            <a:r>
              <a:rPr lang="en-US" dirty="0"/>
              <a:t>"Who should be able to access each type?"</a:t>
            </a:r>
          </a:p>
          <a:p>
            <a:endParaRPr lang="en-US" dirty="0"/>
          </a:p>
          <a:p>
            <a:r>
              <a:rPr lang="en-US" dirty="0"/>
              <a:t>Students should connect this to authorization.</a:t>
            </a:r>
          </a:p>
          <a:p>
            <a:endParaRPr lang="en-US" dirty="0"/>
          </a:p>
          <a:p>
            <a:r>
              <a:rPr lang="en-US" dirty="0"/>
              <a:t>------------------------------------------------------------</a:t>
            </a:r>
          </a:p>
          <a:p>
            <a:endParaRPr lang="en-US" dirty="0"/>
          </a:p>
          <a:p>
            <a:r>
              <a:rPr lang="en-US" dirty="0"/>
              <a:t>DATA MINIMIZATION</a:t>
            </a:r>
          </a:p>
          <a:p>
            <a:endParaRPr lang="en-US" dirty="0"/>
          </a:p>
          <a:p>
            <a:r>
              <a:rPr lang="en-US" dirty="0"/>
              <a:t>Ask:</a:t>
            </a:r>
          </a:p>
          <a:p>
            <a:endParaRPr lang="en-US" dirty="0"/>
          </a:p>
          <a:p>
            <a:r>
              <a:rPr lang="en-US" dirty="0"/>
              <a:t>"Does Atlas need to store everything?"</a:t>
            </a:r>
          </a:p>
          <a:p>
            <a:endParaRPr lang="en-US" dirty="0"/>
          </a:p>
          <a:p>
            <a:r>
              <a:rPr lang="en-US" dirty="0"/>
              <a:t>No.</a:t>
            </a:r>
          </a:p>
          <a:p>
            <a:endParaRPr lang="en-US" dirty="0"/>
          </a:p>
          <a:p>
            <a:r>
              <a:rPr lang="en-US" dirty="0"/>
              <a:t>Explain:</a:t>
            </a:r>
          </a:p>
          <a:p>
            <a:endParaRPr lang="en-US" dirty="0"/>
          </a:p>
          <a:p>
            <a:r>
              <a:rPr lang="en-US" dirty="0"/>
              <a:t>"One way to protect information is not to collect information we don't</a:t>
            </a:r>
          </a:p>
          <a:p>
            <a:r>
              <a:rPr lang="en-US" dirty="0"/>
              <a:t>need."</a:t>
            </a:r>
          </a:p>
          <a:p>
            <a:endParaRPr lang="en-US" dirty="0"/>
          </a:p>
          <a:p>
            <a:r>
              <a:rPr lang="en-US" dirty="0"/>
              <a:t>Store what the application requires.</a:t>
            </a:r>
          </a:p>
          <a:p>
            <a:endParaRPr lang="en-US" dirty="0"/>
          </a:p>
          <a:p>
            <a:r>
              <a:rPr lang="en-US" dirty="0"/>
              <a:t>Avoid unnecessary sensitive information.</a:t>
            </a:r>
          </a:p>
          <a:p>
            <a:endParaRPr lang="en-US" dirty="0"/>
          </a:p>
          <a:p>
            <a:r>
              <a:rPr lang="en-US" dirty="0"/>
              <a:t>------------------------------------------------------------</a:t>
            </a:r>
          </a:p>
          <a:p>
            <a:endParaRPr lang="en-US" dirty="0"/>
          </a:p>
          <a:p>
            <a:r>
              <a:rPr lang="en-US" dirty="0"/>
              <a:t>SECRETS &amp; CONFIGURATION</a:t>
            </a:r>
          </a:p>
          <a:p>
            <a:endParaRPr lang="en-US" dirty="0"/>
          </a:p>
          <a:p>
            <a:r>
              <a:rPr lang="en-US" dirty="0"/>
              <a:t>Point to:</a:t>
            </a:r>
          </a:p>
          <a:p>
            <a:endParaRPr lang="en-US" dirty="0"/>
          </a:p>
          <a:p>
            <a:r>
              <a:rPr lang="en-US" dirty="0"/>
              <a:t>Secrets &amp; Configuration.</a:t>
            </a:r>
          </a:p>
          <a:p>
            <a:endParaRPr lang="en-US" dirty="0"/>
          </a:p>
          <a:p>
            <a:r>
              <a:rPr lang="en-US" dirty="0"/>
              <a:t>Ask:</a:t>
            </a:r>
          </a:p>
          <a:p>
            <a:endParaRPr lang="en-US" dirty="0"/>
          </a:p>
          <a:p>
            <a:r>
              <a:rPr lang="en-US" dirty="0"/>
              <a:t>"Open your GitHub repository."</a:t>
            </a:r>
          </a:p>
          <a:p>
            <a:endParaRPr lang="en-US" dirty="0"/>
          </a:p>
          <a:p>
            <a:r>
              <a:rPr lang="en-US" dirty="0"/>
              <a:t>Search for:</a:t>
            </a:r>
          </a:p>
          <a:p>
            <a:endParaRPr lang="en-US" dirty="0"/>
          </a:p>
          <a:p>
            <a:r>
              <a:rPr lang="en-US" dirty="0"/>
              <a:t>Passwords.</a:t>
            </a:r>
          </a:p>
          <a:p>
            <a:endParaRPr lang="en-US" dirty="0"/>
          </a:p>
          <a:p>
            <a:r>
              <a:rPr lang="en-US" dirty="0"/>
              <a:t>Connection strings.</a:t>
            </a:r>
          </a:p>
          <a:p>
            <a:endParaRPr lang="en-US" dirty="0"/>
          </a:p>
          <a:p>
            <a:r>
              <a:rPr lang="en-US" dirty="0"/>
              <a:t>API keys.</a:t>
            </a:r>
          </a:p>
          <a:p>
            <a:endParaRPr lang="en-US" dirty="0"/>
          </a:p>
          <a:p>
            <a:r>
              <a:rPr lang="en-US" dirty="0"/>
              <a:t>Tokens.</a:t>
            </a:r>
          </a:p>
          <a:p>
            <a:endParaRPr lang="en-US" dirty="0"/>
          </a:p>
          <a:p>
            <a:r>
              <a:rPr lang="en-US" dirty="0"/>
              <a:t>Secrets.</a:t>
            </a:r>
          </a:p>
          <a:p>
            <a:endParaRPr lang="en-US" dirty="0"/>
          </a:p>
          <a:p>
            <a:r>
              <a:rPr lang="en-US" dirty="0"/>
              <a:t>Explain:</a:t>
            </a:r>
          </a:p>
          <a:p>
            <a:endParaRPr lang="en-US" dirty="0"/>
          </a:p>
          <a:p>
            <a:r>
              <a:rPr lang="en-US" dirty="0"/>
              <a:t>"We're looking for accidental exposure."</a:t>
            </a:r>
          </a:p>
          <a:p>
            <a:endParaRPr lang="en-US" dirty="0"/>
          </a:p>
          <a:p>
            <a:r>
              <a:rPr lang="en-US" dirty="0"/>
              <a:t>------------------------------------------------------------</a:t>
            </a:r>
          </a:p>
          <a:p>
            <a:endParaRPr lang="en-US" dirty="0"/>
          </a:p>
          <a:p>
            <a:r>
              <a:rPr lang="en-US" dirty="0"/>
              <a:t>THE GITHUB TEST</a:t>
            </a:r>
          </a:p>
          <a:p>
            <a:endParaRPr lang="en-US" dirty="0"/>
          </a:p>
          <a:p>
            <a:r>
              <a:rPr lang="en-US" dirty="0"/>
              <a:t>Ask:</a:t>
            </a:r>
          </a:p>
          <a:p>
            <a:endParaRPr lang="en-US" dirty="0"/>
          </a:p>
          <a:p>
            <a:r>
              <a:rPr lang="en-US" dirty="0"/>
              <a:t>"If someone downloaded our repository..."</a:t>
            </a:r>
          </a:p>
          <a:p>
            <a:endParaRPr lang="en-US" dirty="0"/>
          </a:p>
          <a:p>
            <a:r>
              <a:rPr lang="en-US" dirty="0"/>
              <a:t>"Could they find a production password?"</a:t>
            </a:r>
          </a:p>
          <a:p>
            <a:endParaRPr lang="en-US" dirty="0"/>
          </a:p>
          <a:p>
            <a:r>
              <a:rPr lang="en-US" dirty="0"/>
              <a:t>If yes:</a:t>
            </a:r>
          </a:p>
          <a:p>
            <a:endParaRPr lang="en-US" dirty="0"/>
          </a:p>
          <a:p>
            <a:r>
              <a:rPr lang="en-US" dirty="0"/>
              <a:t>"That's a problem."</a:t>
            </a:r>
          </a:p>
          <a:p>
            <a:endParaRPr lang="en-US" dirty="0"/>
          </a:p>
          <a:p>
            <a:r>
              <a:rPr lang="en-US" dirty="0"/>
              <a:t>Explain:</a:t>
            </a:r>
          </a:p>
          <a:p>
            <a:endParaRPr lang="en-US" dirty="0"/>
          </a:p>
          <a:p>
            <a:r>
              <a:rPr lang="en-US" dirty="0"/>
              <a:t>"Source control is not a secret vault."</a:t>
            </a:r>
          </a:p>
          <a:p>
            <a:endParaRPr lang="en-US" dirty="0"/>
          </a:p>
          <a:p>
            <a:r>
              <a:rPr lang="en-US" dirty="0"/>
              <a:t>Secrets should be managed through appropriate configuration and secret</a:t>
            </a:r>
          </a:p>
          <a:p>
            <a:r>
              <a:rPr lang="en-US" dirty="0"/>
              <a:t>management mechanisms.</a:t>
            </a:r>
          </a:p>
          <a:p>
            <a:endParaRPr lang="en-US" dirty="0"/>
          </a:p>
          <a:p>
            <a:r>
              <a:rPr lang="en-US" dirty="0"/>
              <a:t>------------------------------------------------------------</a:t>
            </a:r>
          </a:p>
          <a:p>
            <a:endParaRPr lang="en-US" dirty="0"/>
          </a:p>
          <a:p>
            <a:r>
              <a:rPr lang="en-US" dirty="0"/>
              <a:t>CONNECTION STRINGS</a:t>
            </a:r>
          </a:p>
          <a:p>
            <a:endParaRPr lang="en-US" dirty="0"/>
          </a:p>
          <a:p>
            <a:r>
              <a:rPr lang="en-US" dirty="0"/>
              <a:t>Point to:</a:t>
            </a:r>
          </a:p>
          <a:p>
            <a:endParaRPr lang="en-US" dirty="0"/>
          </a:p>
          <a:p>
            <a:r>
              <a:rPr lang="en-US" dirty="0"/>
              <a:t>Connection strings.</a:t>
            </a:r>
          </a:p>
          <a:p>
            <a:endParaRPr lang="en-US" dirty="0"/>
          </a:p>
          <a:p>
            <a:r>
              <a:rPr lang="en-US" dirty="0"/>
              <a:t>Say:</a:t>
            </a:r>
          </a:p>
          <a:p>
            <a:endParaRPr lang="en-US" dirty="0"/>
          </a:p>
          <a:p>
            <a:r>
              <a:rPr lang="en-US" dirty="0"/>
              <a:t>"Development environments may use local configuration."</a:t>
            </a:r>
          </a:p>
          <a:p>
            <a:endParaRPr lang="en-US" dirty="0"/>
          </a:p>
          <a:p>
            <a:r>
              <a:rPr lang="en-US" dirty="0"/>
              <a:t>"But production credentials should be handled securely."</a:t>
            </a:r>
          </a:p>
          <a:p>
            <a:endParaRPr lang="en-US" dirty="0"/>
          </a:p>
          <a:p>
            <a:r>
              <a:rPr lang="en-US" dirty="0"/>
              <a:t>Explain:</a:t>
            </a:r>
          </a:p>
          <a:p>
            <a:endParaRPr lang="en-US" dirty="0"/>
          </a:p>
          <a:p>
            <a:r>
              <a:rPr lang="en-US" dirty="0"/>
              <a:t>"We don't want a database password sitting in committed source code."</a:t>
            </a:r>
          </a:p>
          <a:p>
            <a:endParaRPr lang="en-US" dirty="0"/>
          </a:p>
          <a:p>
            <a:r>
              <a:rPr lang="en-US" dirty="0"/>
              <a:t>------------------------------------------------------------</a:t>
            </a:r>
          </a:p>
          <a:p>
            <a:endParaRPr lang="en-US" dirty="0"/>
          </a:p>
          <a:p>
            <a:r>
              <a:rPr lang="en-US" dirty="0"/>
              <a:t>TRANSPORT SECURITY</a:t>
            </a:r>
          </a:p>
          <a:p>
            <a:endParaRPr lang="en-US" dirty="0"/>
          </a:p>
          <a:p>
            <a:r>
              <a:rPr lang="en-US" dirty="0"/>
              <a:t>Move to:</a:t>
            </a:r>
          </a:p>
          <a:p>
            <a:endParaRPr lang="en-US" dirty="0"/>
          </a:p>
          <a:p>
            <a:r>
              <a:rPr lang="en-US" dirty="0"/>
              <a:t>Transport.</a:t>
            </a:r>
          </a:p>
          <a:p>
            <a:endParaRPr lang="en-US" dirty="0"/>
          </a:p>
          <a:p>
            <a:r>
              <a:rPr lang="en-US" dirty="0"/>
              <a:t>Ask:</a:t>
            </a:r>
          </a:p>
          <a:p>
            <a:endParaRPr lang="en-US" dirty="0"/>
          </a:p>
          <a:p>
            <a:r>
              <a:rPr lang="en-US" dirty="0"/>
              <a:t>"How does the browser communicate with our application?"</a:t>
            </a:r>
          </a:p>
          <a:p>
            <a:endParaRPr lang="en-US" dirty="0"/>
          </a:p>
          <a:p>
            <a:r>
              <a:rPr lang="en-US" dirty="0"/>
              <a:t>HTTPS.</a:t>
            </a:r>
          </a:p>
          <a:p>
            <a:endParaRPr lang="en-US" dirty="0"/>
          </a:p>
          <a:p>
            <a:r>
              <a:rPr lang="en-US" dirty="0"/>
              <a:t>Explain:</a:t>
            </a:r>
          </a:p>
          <a:p>
            <a:endParaRPr lang="en-US" dirty="0"/>
          </a:p>
          <a:p>
            <a:r>
              <a:rPr lang="en-US" dirty="0"/>
              <a:t>"HTTPS protects data while it moves between the browser and server."</a:t>
            </a:r>
          </a:p>
          <a:p>
            <a:endParaRPr lang="en-US" dirty="0"/>
          </a:p>
          <a:p>
            <a:r>
              <a:rPr lang="en-US" dirty="0"/>
              <a:t>Test:</a:t>
            </a:r>
          </a:p>
          <a:p>
            <a:endParaRPr lang="en-US" dirty="0"/>
          </a:p>
          <a:p>
            <a:r>
              <a:rPr lang="en-US" dirty="0"/>
              <a:t>Open the deployed Atlas application.</a:t>
            </a:r>
          </a:p>
          <a:p>
            <a:endParaRPr lang="en-US" dirty="0"/>
          </a:p>
          <a:p>
            <a:r>
              <a:rPr lang="en-US" dirty="0"/>
              <a:t>Look for:</a:t>
            </a:r>
          </a:p>
          <a:p>
            <a:endParaRPr lang="en-US" dirty="0"/>
          </a:p>
          <a:p>
            <a:r>
              <a:rPr lang="en-US" dirty="0"/>
              <a:t>HTTPS.</a:t>
            </a:r>
          </a:p>
          <a:p>
            <a:endParaRPr lang="en-US" dirty="0"/>
          </a:p>
          <a:p>
            <a:r>
              <a:rPr lang="en-US" dirty="0"/>
              <a:t>Secure connection.</a:t>
            </a:r>
          </a:p>
          <a:p>
            <a:endParaRPr lang="en-US" dirty="0"/>
          </a:p>
          <a:p>
            <a:r>
              <a:rPr lang="en-US" dirty="0"/>
              <a:t>Valid certificate.</a:t>
            </a:r>
          </a:p>
          <a:p>
            <a:endParaRPr lang="en-US" dirty="0"/>
          </a:p>
          <a:p>
            <a:r>
              <a:rPr lang="en-US" dirty="0"/>
              <a:t>Then explain:</a:t>
            </a:r>
          </a:p>
          <a:p>
            <a:endParaRPr lang="en-US" dirty="0"/>
          </a:p>
          <a:p>
            <a:r>
              <a:rPr lang="en-US" dirty="0"/>
              <a:t>"Users should not be sending passwords over an unprotected connection."</a:t>
            </a:r>
          </a:p>
          <a:p>
            <a:endParaRPr lang="en-US" dirty="0"/>
          </a:p>
          <a:p>
            <a:r>
              <a:rPr lang="en-US" dirty="0"/>
              <a:t>------------------------------------------------------------</a:t>
            </a:r>
          </a:p>
          <a:p>
            <a:endParaRPr lang="en-US" dirty="0"/>
          </a:p>
          <a:p>
            <a:r>
              <a:rPr lang="en-US" dirty="0"/>
              <a:t>SECURE COOKIES</a:t>
            </a:r>
          </a:p>
          <a:p>
            <a:endParaRPr lang="en-US" dirty="0"/>
          </a:p>
          <a:p>
            <a:r>
              <a:rPr lang="en-US" dirty="0"/>
              <a:t>Briefly discuss cookies.</a:t>
            </a:r>
          </a:p>
          <a:p>
            <a:endParaRPr lang="en-US" dirty="0"/>
          </a:p>
          <a:p>
            <a:r>
              <a:rPr lang="en-US" dirty="0"/>
              <a:t>Say:</a:t>
            </a:r>
          </a:p>
          <a:p>
            <a:endParaRPr lang="en-US" dirty="0"/>
          </a:p>
          <a:p>
            <a:r>
              <a:rPr lang="en-US" dirty="0"/>
              <a:t>"Authentication information may be stored in cookies."</a:t>
            </a:r>
          </a:p>
          <a:p>
            <a:endParaRPr lang="en-US" dirty="0"/>
          </a:p>
          <a:p>
            <a:r>
              <a:rPr lang="en-US" dirty="0"/>
              <a:t>"Those cookies need appropriate security settings."</a:t>
            </a:r>
          </a:p>
          <a:p>
            <a:endParaRPr lang="en-US" dirty="0"/>
          </a:p>
          <a:p>
            <a:r>
              <a:rPr lang="en-US" dirty="0"/>
              <a:t>The goal is to reduce the chance that authentication information can</a:t>
            </a:r>
          </a:p>
          <a:p>
            <a:r>
              <a:rPr lang="en-US" dirty="0"/>
              <a:t>be improperly accessed.</a:t>
            </a:r>
          </a:p>
          <a:p>
            <a:endParaRPr lang="en-US" dirty="0"/>
          </a:p>
          <a:p>
            <a:r>
              <a:rPr lang="en-US" dirty="0"/>
              <a:t>Keep this conceptual.</a:t>
            </a:r>
          </a:p>
          <a:p>
            <a:endParaRPr lang="en-US" dirty="0"/>
          </a:p>
          <a:p>
            <a:r>
              <a:rPr lang="en-US" dirty="0"/>
              <a:t>------------------------------------------------------------</a:t>
            </a:r>
          </a:p>
          <a:p>
            <a:endParaRPr lang="en-US" dirty="0"/>
          </a:p>
          <a:p>
            <a:r>
              <a:rPr lang="en-US" dirty="0"/>
              <a:t>ERRORS &amp; LOGGING</a:t>
            </a:r>
          </a:p>
          <a:p>
            <a:endParaRPr lang="en-US" dirty="0"/>
          </a:p>
          <a:p>
            <a:r>
              <a:rPr lang="en-US" dirty="0"/>
              <a:t>Point to:</a:t>
            </a:r>
          </a:p>
          <a:p>
            <a:endParaRPr lang="en-US" dirty="0"/>
          </a:p>
          <a:p>
            <a:r>
              <a:rPr lang="en-US" dirty="0"/>
              <a:t>Errors &amp; Logging.</a:t>
            </a:r>
          </a:p>
          <a:p>
            <a:endParaRPr lang="en-US" dirty="0"/>
          </a:p>
          <a:p>
            <a:r>
              <a:rPr lang="en-US" dirty="0"/>
              <a:t>Ask:</a:t>
            </a:r>
          </a:p>
          <a:p>
            <a:endParaRPr lang="en-US" dirty="0"/>
          </a:p>
          <a:p>
            <a:r>
              <a:rPr lang="en-US" dirty="0"/>
              <a:t>"What happens when something breaks?"</a:t>
            </a:r>
          </a:p>
          <a:p>
            <a:endParaRPr lang="en-US" dirty="0"/>
          </a:p>
          <a:p>
            <a:r>
              <a:rPr lang="en-US" dirty="0"/>
              <a:t>Have students intentionally trigger an error if practical.</a:t>
            </a:r>
          </a:p>
          <a:p>
            <a:endParaRPr lang="en-US" dirty="0"/>
          </a:p>
          <a:p>
            <a:r>
              <a:rPr lang="en-US" dirty="0"/>
              <a:t>Look at the resulting user experience.</a:t>
            </a:r>
          </a:p>
          <a:p>
            <a:endParaRPr lang="en-US" dirty="0"/>
          </a:p>
          <a:p>
            <a:r>
              <a:rPr lang="en-US" dirty="0"/>
              <a:t>Ask:</a:t>
            </a:r>
          </a:p>
          <a:p>
            <a:endParaRPr lang="en-US" dirty="0"/>
          </a:p>
          <a:p>
            <a:r>
              <a:rPr lang="en-US" dirty="0"/>
              <a:t>"Does the user see a helpful message?"</a:t>
            </a:r>
          </a:p>
          <a:p>
            <a:endParaRPr lang="en-US" dirty="0"/>
          </a:p>
          <a:p>
            <a:r>
              <a:rPr lang="en-US" dirty="0"/>
              <a:t>"Does the user see a stack trace?"</a:t>
            </a:r>
          </a:p>
          <a:p>
            <a:endParaRPr lang="en-US" dirty="0"/>
          </a:p>
          <a:p>
            <a:r>
              <a:rPr lang="en-US" dirty="0"/>
              <a:t>"Does the user see a database connection?"</a:t>
            </a:r>
          </a:p>
          <a:p>
            <a:endParaRPr lang="en-US" dirty="0"/>
          </a:p>
          <a:p>
            <a:r>
              <a:rPr lang="en-US" dirty="0"/>
              <a:t>"Does the user see sensitive information?"</a:t>
            </a:r>
          </a:p>
          <a:p>
            <a:endParaRPr lang="en-US" dirty="0"/>
          </a:p>
          <a:p>
            <a:r>
              <a:rPr lang="en-US" dirty="0"/>
              <a:t>Expected:</a:t>
            </a:r>
          </a:p>
          <a:p>
            <a:endParaRPr lang="en-US" dirty="0"/>
          </a:p>
          <a:p>
            <a:r>
              <a:rPr lang="en-US" dirty="0"/>
              <a:t>"No."</a:t>
            </a:r>
          </a:p>
          <a:p>
            <a:endParaRPr lang="en-US" dirty="0"/>
          </a:p>
          <a:p>
            <a:r>
              <a:rPr lang="en-US" dirty="0"/>
              <a:t>------------------------------------------------------------</a:t>
            </a:r>
          </a:p>
          <a:p>
            <a:endParaRPr lang="en-US" dirty="0"/>
          </a:p>
          <a:p>
            <a:r>
              <a:rPr lang="en-US" dirty="0"/>
              <a:t>THE ERROR MESSAGE TEST</a:t>
            </a:r>
          </a:p>
          <a:p>
            <a:endParaRPr lang="en-US" dirty="0"/>
          </a:p>
          <a:p>
            <a:r>
              <a:rPr lang="en-US" dirty="0"/>
              <a:t>Bad:</a:t>
            </a:r>
          </a:p>
          <a:p>
            <a:endParaRPr lang="en-US" dirty="0"/>
          </a:p>
          <a:p>
            <a:r>
              <a:rPr lang="en-US" dirty="0"/>
              <a:t>"</a:t>
            </a:r>
            <a:r>
              <a:rPr lang="en-US" dirty="0" err="1"/>
              <a:t>SqlException</a:t>
            </a:r>
            <a:r>
              <a:rPr lang="en-US" dirty="0"/>
              <a:t>: Login failed for user..."</a:t>
            </a:r>
          </a:p>
          <a:p>
            <a:endParaRPr lang="en-US" dirty="0"/>
          </a:p>
          <a:p>
            <a:r>
              <a:rPr lang="en-US" dirty="0"/>
              <a:t>Better:</a:t>
            </a:r>
          </a:p>
          <a:p>
            <a:endParaRPr lang="en-US" dirty="0"/>
          </a:p>
          <a:p>
            <a:r>
              <a:rPr lang="en-US" dirty="0"/>
              <a:t>"Unable to complete your request. Please try again."</a:t>
            </a:r>
          </a:p>
          <a:p>
            <a:endParaRPr lang="en-US" dirty="0"/>
          </a:p>
          <a:p>
            <a:r>
              <a:rPr lang="en-US" dirty="0"/>
              <a:t>Explain:</a:t>
            </a:r>
          </a:p>
          <a:p>
            <a:endParaRPr lang="en-US" dirty="0"/>
          </a:p>
          <a:p>
            <a:r>
              <a:rPr lang="en-US" dirty="0"/>
              <a:t>"Users need useful information."</a:t>
            </a:r>
          </a:p>
          <a:p>
            <a:endParaRPr lang="en-US" dirty="0"/>
          </a:p>
          <a:p>
            <a:r>
              <a:rPr lang="en-US" dirty="0"/>
              <a:t>"Developers need technical information."</a:t>
            </a:r>
          </a:p>
          <a:p>
            <a:endParaRPr lang="en-US" dirty="0"/>
          </a:p>
          <a:p>
            <a:r>
              <a:rPr lang="en-US" dirty="0"/>
              <a:t>Those should be handled differently.</a:t>
            </a:r>
          </a:p>
          <a:p>
            <a:endParaRPr lang="en-US" dirty="0"/>
          </a:p>
          <a:p>
            <a:r>
              <a:rPr lang="en-US" dirty="0"/>
              <a:t>------------------------------------------------------------</a:t>
            </a:r>
          </a:p>
          <a:p>
            <a:endParaRPr lang="en-US" dirty="0"/>
          </a:p>
          <a:p>
            <a:r>
              <a:rPr lang="en-US" dirty="0"/>
              <a:t>LOGGING</a:t>
            </a:r>
          </a:p>
          <a:p>
            <a:endParaRPr lang="en-US" dirty="0"/>
          </a:p>
          <a:p>
            <a:r>
              <a:rPr lang="en-US" dirty="0"/>
              <a:t>Ask:</a:t>
            </a:r>
          </a:p>
          <a:p>
            <a:endParaRPr lang="en-US" dirty="0"/>
          </a:p>
          <a:p>
            <a:r>
              <a:rPr lang="en-US" dirty="0"/>
              <a:t>"Where does the technical information go?"</a:t>
            </a:r>
          </a:p>
          <a:p>
            <a:endParaRPr lang="en-US" dirty="0"/>
          </a:p>
          <a:p>
            <a:r>
              <a:rPr lang="en-US" dirty="0"/>
              <a:t>Logging.</a:t>
            </a:r>
          </a:p>
          <a:p>
            <a:endParaRPr lang="en-US" dirty="0"/>
          </a:p>
          <a:p>
            <a:r>
              <a:rPr lang="en-US" dirty="0"/>
              <a:t>Explain:</a:t>
            </a:r>
          </a:p>
          <a:p>
            <a:endParaRPr lang="en-US" dirty="0"/>
          </a:p>
          <a:p>
            <a:r>
              <a:rPr lang="en-US" dirty="0"/>
              <a:t>"Logs help developers understand failures."</a:t>
            </a:r>
          </a:p>
          <a:p>
            <a:endParaRPr lang="en-US" dirty="0"/>
          </a:p>
          <a:p>
            <a:r>
              <a:rPr lang="en-US" dirty="0"/>
              <a:t>But:</a:t>
            </a:r>
          </a:p>
          <a:p>
            <a:endParaRPr lang="en-US" dirty="0"/>
          </a:p>
          <a:p>
            <a:r>
              <a:rPr lang="en-US" dirty="0"/>
              <a:t>"Logs should not become another place where secrets leak."</a:t>
            </a:r>
          </a:p>
          <a:p>
            <a:endParaRPr lang="en-US" dirty="0"/>
          </a:p>
          <a:p>
            <a:r>
              <a:rPr lang="en-US" dirty="0"/>
              <a:t>Ask:</a:t>
            </a:r>
          </a:p>
          <a:p>
            <a:endParaRPr lang="en-US" dirty="0"/>
          </a:p>
          <a:p>
            <a:r>
              <a:rPr lang="en-US" dirty="0"/>
              <a:t>"Should we log passwords?"</a:t>
            </a:r>
          </a:p>
          <a:p>
            <a:endParaRPr lang="en-US" dirty="0"/>
          </a:p>
          <a:p>
            <a:r>
              <a:rPr lang="en-US" dirty="0"/>
              <a:t>No.</a:t>
            </a:r>
          </a:p>
          <a:p>
            <a:endParaRPr lang="en-US" dirty="0"/>
          </a:p>
          <a:p>
            <a:r>
              <a:rPr lang="en-US" dirty="0"/>
              <a:t>"Authentication tokens?"</a:t>
            </a:r>
          </a:p>
          <a:p>
            <a:endParaRPr lang="en-US" dirty="0"/>
          </a:p>
          <a:p>
            <a:r>
              <a:rPr lang="en-US" dirty="0"/>
              <a:t>No.</a:t>
            </a:r>
          </a:p>
          <a:p>
            <a:endParaRPr lang="en-US" dirty="0"/>
          </a:p>
          <a:p>
            <a:r>
              <a:rPr lang="en-US" dirty="0"/>
              <a:t>"Database passwords?"</a:t>
            </a:r>
          </a:p>
          <a:p>
            <a:endParaRPr lang="en-US" dirty="0"/>
          </a:p>
          <a:p>
            <a:r>
              <a:rPr lang="en-US" dirty="0"/>
              <a:t>Absolutely not.</a:t>
            </a:r>
          </a:p>
          <a:p>
            <a:endParaRPr lang="en-US" dirty="0"/>
          </a:p>
          <a:p>
            <a:r>
              <a:rPr lang="en-US" dirty="0"/>
              <a:t>------------------------------------------------------------</a:t>
            </a:r>
          </a:p>
          <a:p>
            <a:endParaRPr lang="en-US" dirty="0"/>
          </a:p>
          <a:p>
            <a:r>
              <a:rPr lang="en-US" dirty="0"/>
              <a:t>EXAMPLE RISK SCENARIOS</a:t>
            </a:r>
          </a:p>
          <a:p>
            <a:endParaRPr lang="en-US" dirty="0"/>
          </a:p>
          <a:p>
            <a:r>
              <a:rPr lang="en-US" dirty="0"/>
              <a:t>Walk through each scenario.</a:t>
            </a:r>
          </a:p>
          <a:p>
            <a:endParaRPr lang="en-US" dirty="0"/>
          </a:p>
          <a:p>
            <a:r>
              <a:rPr lang="en-US" dirty="0"/>
              <a:t>------------------------------------------------------------</a:t>
            </a:r>
          </a:p>
          <a:p>
            <a:endParaRPr lang="en-US" dirty="0"/>
          </a:p>
          <a:p>
            <a:r>
              <a:rPr lang="en-US" dirty="0"/>
              <a:t>RISK 1 — UNAUTHORIZED ACCESS</a:t>
            </a:r>
          </a:p>
          <a:p>
            <a:endParaRPr lang="en-US" dirty="0"/>
          </a:p>
          <a:p>
            <a:r>
              <a:rPr lang="en-US" dirty="0"/>
              <a:t>Scenario:</a:t>
            </a:r>
          </a:p>
          <a:p>
            <a:endParaRPr lang="en-US" dirty="0"/>
          </a:p>
          <a:p>
            <a:r>
              <a:rPr lang="en-US" dirty="0"/>
              <a:t>User accesses another user's task.</a:t>
            </a:r>
          </a:p>
          <a:p>
            <a:endParaRPr lang="en-US" dirty="0"/>
          </a:p>
          <a:p>
            <a:r>
              <a:rPr lang="en-US" dirty="0"/>
              <a:t>Question:</a:t>
            </a:r>
          </a:p>
          <a:p>
            <a:endParaRPr lang="en-US" dirty="0"/>
          </a:p>
          <a:p>
            <a:r>
              <a:rPr lang="en-US" dirty="0"/>
              <a:t>"What should happen?"</a:t>
            </a:r>
          </a:p>
          <a:p>
            <a:endParaRPr lang="en-US" dirty="0"/>
          </a:p>
          <a:p>
            <a:r>
              <a:rPr lang="en-US" dirty="0"/>
              <a:t>Access denied.</a:t>
            </a:r>
          </a:p>
          <a:p>
            <a:endParaRPr lang="en-US" dirty="0"/>
          </a:p>
          <a:p>
            <a:r>
              <a:rPr lang="en-US" dirty="0"/>
              <a:t>------------------------------------------------------------</a:t>
            </a:r>
          </a:p>
          <a:p>
            <a:endParaRPr lang="en-US" dirty="0"/>
          </a:p>
          <a:p>
            <a:r>
              <a:rPr lang="en-US" dirty="0"/>
              <a:t>RISK 2 — EXPOSED SECRET</a:t>
            </a:r>
          </a:p>
          <a:p>
            <a:endParaRPr lang="en-US" dirty="0"/>
          </a:p>
          <a:p>
            <a:r>
              <a:rPr lang="en-US" dirty="0"/>
              <a:t>Scenario:</a:t>
            </a:r>
          </a:p>
          <a:p>
            <a:endParaRPr lang="en-US" dirty="0"/>
          </a:p>
          <a:p>
            <a:r>
              <a:rPr lang="en-US" dirty="0"/>
              <a:t>Database password is committed to GitHub.</a:t>
            </a:r>
          </a:p>
          <a:p>
            <a:endParaRPr lang="en-US" dirty="0"/>
          </a:p>
          <a:p>
            <a:r>
              <a:rPr lang="en-US" dirty="0"/>
              <a:t>Question:</a:t>
            </a:r>
          </a:p>
          <a:p>
            <a:endParaRPr lang="en-US" dirty="0"/>
          </a:p>
          <a:p>
            <a:r>
              <a:rPr lang="en-US" dirty="0"/>
              <a:t>"What should happen?"</a:t>
            </a:r>
          </a:p>
          <a:p>
            <a:endParaRPr lang="en-US" dirty="0"/>
          </a:p>
          <a:p>
            <a:r>
              <a:rPr lang="en-US" dirty="0"/>
              <a:t>The secret should be removed and rotated.</a:t>
            </a:r>
          </a:p>
          <a:p>
            <a:endParaRPr lang="en-US" dirty="0"/>
          </a:p>
          <a:p>
            <a:r>
              <a:rPr lang="en-US" dirty="0"/>
              <a:t>Then:</a:t>
            </a:r>
          </a:p>
          <a:p>
            <a:endParaRPr lang="en-US" dirty="0"/>
          </a:p>
          <a:p>
            <a:r>
              <a:rPr lang="en-US" dirty="0"/>
              <a:t>"How do we prevent it?"</a:t>
            </a:r>
          </a:p>
          <a:p>
            <a:endParaRPr lang="en-US" dirty="0"/>
          </a:p>
          <a:p>
            <a:r>
              <a:rPr lang="en-US" dirty="0"/>
              <a:t>Use proper secret management.</a:t>
            </a:r>
          </a:p>
          <a:p>
            <a:endParaRPr lang="en-US" dirty="0"/>
          </a:p>
          <a:p>
            <a:r>
              <a:rPr lang="en-US" dirty="0"/>
              <a:t>------------------------------------------------------------</a:t>
            </a:r>
          </a:p>
          <a:p>
            <a:endParaRPr lang="en-US" dirty="0"/>
          </a:p>
          <a:p>
            <a:r>
              <a:rPr lang="en-US" dirty="0"/>
              <a:t>RISK 3 — SENSITIVE DATA LEAK</a:t>
            </a:r>
          </a:p>
          <a:p>
            <a:endParaRPr lang="en-US" dirty="0"/>
          </a:p>
          <a:p>
            <a:r>
              <a:rPr lang="en-US" dirty="0"/>
              <a:t>Scenario:</a:t>
            </a:r>
          </a:p>
          <a:p>
            <a:endParaRPr lang="en-US" dirty="0"/>
          </a:p>
          <a:p>
            <a:r>
              <a:rPr lang="en-US" dirty="0"/>
              <a:t>An error page displays SQL information.</a:t>
            </a:r>
          </a:p>
          <a:p>
            <a:endParaRPr lang="en-US" dirty="0"/>
          </a:p>
          <a:p>
            <a:r>
              <a:rPr lang="en-US" dirty="0"/>
              <a:t>Question:</a:t>
            </a:r>
          </a:p>
          <a:p>
            <a:endParaRPr lang="en-US" dirty="0"/>
          </a:p>
          <a:p>
            <a:r>
              <a:rPr lang="en-US" dirty="0"/>
              <a:t>"Should the user see that?"</a:t>
            </a:r>
          </a:p>
          <a:p>
            <a:endParaRPr lang="en-US" dirty="0"/>
          </a:p>
          <a:p>
            <a:r>
              <a:rPr lang="en-US" dirty="0"/>
              <a:t>No.</a:t>
            </a:r>
          </a:p>
          <a:p>
            <a:endParaRPr lang="en-US" dirty="0"/>
          </a:p>
          <a:p>
            <a:r>
              <a:rPr lang="en-US" dirty="0"/>
              <a:t>------------------------------------------------------------</a:t>
            </a:r>
          </a:p>
          <a:p>
            <a:endParaRPr lang="en-US" dirty="0"/>
          </a:p>
          <a:p>
            <a:r>
              <a:rPr lang="en-US" dirty="0"/>
              <a:t>RISK 4 — SESSION PROBLEM</a:t>
            </a:r>
          </a:p>
          <a:p>
            <a:endParaRPr lang="en-US" dirty="0"/>
          </a:p>
          <a:p>
            <a:r>
              <a:rPr lang="en-US" dirty="0"/>
              <a:t>Scenario:</a:t>
            </a:r>
          </a:p>
          <a:p>
            <a:endParaRPr lang="en-US" dirty="0"/>
          </a:p>
          <a:p>
            <a:r>
              <a:rPr lang="en-US" dirty="0"/>
              <a:t>Authentication information is handled insecurely.</a:t>
            </a:r>
          </a:p>
          <a:p>
            <a:endParaRPr lang="en-US" dirty="0"/>
          </a:p>
          <a:p>
            <a:r>
              <a:rPr lang="en-US" dirty="0"/>
              <a:t>Question:</a:t>
            </a:r>
          </a:p>
          <a:p>
            <a:endParaRPr lang="en-US" dirty="0"/>
          </a:p>
          <a:p>
            <a:r>
              <a:rPr lang="en-US" dirty="0"/>
              <a:t>"What could happen?"</a:t>
            </a:r>
          </a:p>
          <a:p>
            <a:endParaRPr lang="en-US" dirty="0"/>
          </a:p>
          <a:p>
            <a:r>
              <a:rPr lang="en-US" dirty="0"/>
              <a:t>Potential unauthorized access.</a:t>
            </a:r>
          </a:p>
          <a:p>
            <a:endParaRPr lang="en-US" dirty="0"/>
          </a:p>
          <a:p>
            <a:r>
              <a:rPr lang="en-US" dirty="0"/>
              <a:t>Explain:</a:t>
            </a:r>
          </a:p>
          <a:p>
            <a:endParaRPr lang="en-US" dirty="0"/>
          </a:p>
          <a:p>
            <a:r>
              <a:rPr lang="en-US" dirty="0"/>
              <a:t>"This is why secure session and cookie configuration matters."</a:t>
            </a:r>
          </a:p>
          <a:p>
            <a:endParaRPr lang="en-US" dirty="0"/>
          </a:p>
          <a:p>
            <a:r>
              <a:rPr lang="en-US" dirty="0"/>
              <a:t>------------------------------------------------------------</a:t>
            </a:r>
          </a:p>
          <a:p>
            <a:endParaRPr lang="en-US" dirty="0"/>
          </a:p>
          <a:p>
            <a:r>
              <a:rPr lang="en-US" dirty="0"/>
              <a:t>RISK 5 — UNVALIDATED INPUT</a:t>
            </a:r>
          </a:p>
          <a:p>
            <a:endParaRPr lang="en-US" dirty="0"/>
          </a:p>
          <a:p>
            <a:r>
              <a:rPr lang="en-US" dirty="0"/>
              <a:t>Scenario:</a:t>
            </a:r>
          </a:p>
          <a:p>
            <a:endParaRPr lang="en-US" dirty="0"/>
          </a:p>
          <a:p>
            <a:r>
              <a:rPr lang="en-US" dirty="0"/>
              <a:t>User-controlled input is passed directly into database operations.</a:t>
            </a:r>
          </a:p>
          <a:p>
            <a:endParaRPr lang="en-US" dirty="0"/>
          </a:p>
          <a:p>
            <a:r>
              <a:rPr lang="en-US" dirty="0"/>
              <a:t>Question:</a:t>
            </a:r>
          </a:p>
          <a:p>
            <a:endParaRPr lang="en-US" dirty="0"/>
          </a:p>
          <a:p>
            <a:r>
              <a:rPr lang="en-US" dirty="0"/>
              <a:t>"What could happen?"</a:t>
            </a:r>
          </a:p>
          <a:p>
            <a:endParaRPr lang="en-US" dirty="0"/>
          </a:p>
          <a:p>
            <a:r>
              <a:rPr lang="en-US" dirty="0"/>
              <a:t>Potential injection or data manipulation.</a:t>
            </a:r>
          </a:p>
          <a:p>
            <a:endParaRPr lang="en-US" dirty="0"/>
          </a:p>
          <a:p>
            <a:r>
              <a:rPr lang="en-US" dirty="0"/>
              <a:t>Connect back to Sprint 5:</a:t>
            </a:r>
          </a:p>
          <a:p>
            <a:endParaRPr lang="en-US" dirty="0"/>
          </a:p>
          <a:p>
            <a:r>
              <a:rPr lang="en-US" dirty="0"/>
              <a:t>"Validation still matters."</a:t>
            </a:r>
          </a:p>
          <a:p>
            <a:endParaRPr lang="en-US" dirty="0"/>
          </a:p>
          <a:p>
            <a:r>
              <a:rPr lang="en-US" dirty="0"/>
              <a:t>------------------------------------------------------------</a:t>
            </a:r>
          </a:p>
          <a:p>
            <a:endParaRPr lang="en-US" dirty="0"/>
          </a:p>
          <a:p>
            <a:r>
              <a:rPr lang="en-US" dirty="0"/>
              <a:t>SECURITY CHECKLIST</a:t>
            </a:r>
          </a:p>
          <a:p>
            <a:endParaRPr lang="en-US" dirty="0"/>
          </a:p>
          <a:p>
            <a:r>
              <a:rPr lang="en-US" dirty="0"/>
              <a:t>Now move into the large checklist.</a:t>
            </a:r>
          </a:p>
          <a:p>
            <a:endParaRPr lang="en-US" dirty="0"/>
          </a:p>
          <a:p>
            <a:r>
              <a:rPr lang="en-US" dirty="0"/>
              <a:t>Tell students:</a:t>
            </a:r>
          </a:p>
          <a:p>
            <a:endParaRPr lang="en-US" dirty="0"/>
          </a:p>
          <a:p>
            <a:r>
              <a:rPr lang="en-US" dirty="0"/>
              <a:t>"This is your security inspection."</a:t>
            </a:r>
          </a:p>
          <a:p>
            <a:endParaRPr lang="en-US" dirty="0"/>
          </a:p>
          <a:p>
            <a:r>
              <a:rPr lang="en-US" dirty="0"/>
              <a:t>Have them work through each category.</a:t>
            </a:r>
          </a:p>
          <a:p>
            <a:endParaRPr lang="en-US" dirty="0"/>
          </a:p>
          <a:p>
            <a:r>
              <a:rPr lang="en-US" dirty="0"/>
              <a:t>Authentication.</a:t>
            </a:r>
          </a:p>
          <a:p>
            <a:endParaRPr lang="en-US" dirty="0"/>
          </a:p>
          <a:p>
            <a:r>
              <a:rPr lang="en-US" dirty="0"/>
              <a:t>Authorization.</a:t>
            </a:r>
          </a:p>
          <a:p>
            <a:endParaRPr lang="en-US" dirty="0"/>
          </a:p>
          <a:p>
            <a:r>
              <a:rPr lang="en-US" dirty="0"/>
              <a:t>Data Protection.</a:t>
            </a:r>
          </a:p>
          <a:p>
            <a:endParaRPr lang="en-US" dirty="0"/>
          </a:p>
          <a:p>
            <a:r>
              <a:rPr lang="en-US" dirty="0"/>
              <a:t>Secrets &amp; Configuration.</a:t>
            </a:r>
          </a:p>
          <a:p>
            <a:endParaRPr lang="en-US" dirty="0"/>
          </a:p>
          <a:p>
            <a:r>
              <a:rPr lang="en-US" dirty="0"/>
              <a:t>Transport.</a:t>
            </a:r>
          </a:p>
          <a:p>
            <a:endParaRPr lang="en-US" dirty="0"/>
          </a:p>
          <a:p>
            <a:r>
              <a:rPr lang="en-US" dirty="0"/>
              <a:t>Errors &amp; Logs.</a:t>
            </a:r>
          </a:p>
          <a:p>
            <a:endParaRPr lang="en-US" dirty="0"/>
          </a:p>
          <a:p>
            <a:r>
              <a:rPr lang="en-US" dirty="0"/>
              <a:t>------------------------------------------------------------</a:t>
            </a:r>
          </a:p>
          <a:p>
            <a:endParaRPr lang="en-US" dirty="0"/>
          </a:p>
          <a:p>
            <a:r>
              <a:rPr lang="en-US" dirty="0"/>
              <a:t>STUDENT WORKFLOW</a:t>
            </a:r>
          </a:p>
          <a:p>
            <a:endParaRPr lang="en-US" dirty="0"/>
          </a:p>
          <a:p>
            <a:r>
              <a:rPr lang="en-US" dirty="0"/>
              <a:t>For every checklist item, students should mark:</a:t>
            </a:r>
          </a:p>
          <a:p>
            <a:endParaRPr lang="en-US" dirty="0"/>
          </a:p>
          <a:p>
            <a:r>
              <a:rPr lang="en-US" dirty="0"/>
              <a:t>PASS</a:t>
            </a:r>
          </a:p>
          <a:p>
            <a:endParaRPr lang="en-US" dirty="0"/>
          </a:p>
          <a:p>
            <a:r>
              <a:rPr lang="en-US" dirty="0"/>
              <a:t>FAIL</a:t>
            </a:r>
          </a:p>
          <a:p>
            <a:endParaRPr lang="en-US" dirty="0"/>
          </a:p>
          <a:p>
            <a:r>
              <a:rPr lang="en-US" dirty="0"/>
              <a:t>NEEDS REVIEW</a:t>
            </a:r>
          </a:p>
          <a:p>
            <a:endParaRPr lang="en-US" dirty="0"/>
          </a:p>
          <a:p>
            <a:r>
              <a:rPr lang="en-US" dirty="0"/>
              <a:t>Then explain:</a:t>
            </a:r>
          </a:p>
          <a:p>
            <a:endParaRPr lang="en-US" dirty="0"/>
          </a:p>
          <a:p>
            <a:r>
              <a:rPr lang="en-US" dirty="0"/>
              <a:t>"A failed check isn't a failure as a student."</a:t>
            </a:r>
          </a:p>
          <a:p>
            <a:endParaRPr lang="en-US" dirty="0"/>
          </a:p>
          <a:p>
            <a:r>
              <a:rPr lang="en-US" dirty="0"/>
              <a:t>"It's a discovery."</a:t>
            </a:r>
          </a:p>
          <a:p>
            <a:endParaRPr lang="en-US" dirty="0"/>
          </a:p>
          <a:p>
            <a:r>
              <a:rPr lang="en-US" dirty="0"/>
              <a:t>"Finding a problem is the first step toward fixing it."</a:t>
            </a:r>
          </a:p>
          <a:p>
            <a:endParaRPr lang="en-US" dirty="0"/>
          </a:p>
          <a:p>
            <a:r>
              <a:rPr lang="en-US" dirty="0"/>
              <a:t>------------------------------------------------------------</a:t>
            </a:r>
          </a:p>
          <a:p>
            <a:endParaRPr lang="en-US" dirty="0"/>
          </a:p>
          <a:p>
            <a:r>
              <a:rPr lang="en-US" dirty="0"/>
              <a:t>THE SECURITY REPORT</a:t>
            </a:r>
          </a:p>
          <a:p>
            <a:endParaRPr lang="en-US" dirty="0"/>
          </a:p>
          <a:p>
            <a:r>
              <a:rPr lang="en-US" dirty="0"/>
              <a:t>Have students document:</a:t>
            </a:r>
          </a:p>
          <a:p>
            <a:endParaRPr lang="en-US" dirty="0"/>
          </a:p>
          <a:p>
            <a:r>
              <a:rPr lang="en-US" dirty="0"/>
              <a:t>1. What did we inspect?</a:t>
            </a:r>
          </a:p>
          <a:p>
            <a:endParaRPr lang="en-US" dirty="0"/>
          </a:p>
          <a:p>
            <a:r>
              <a:rPr lang="en-US" dirty="0"/>
              <a:t>2. What did we find?</a:t>
            </a:r>
          </a:p>
          <a:p>
            <a:endParaRPr lang="en-US" dirty="0"/>
          </a:p>
          <a:p>
            <a:r>
              <a:rPr lang="en-US" dirty="0"/>
              <a:t>3. What risk does it create?</a:t>
            </a:r>
          </a:p>
          <a:p>
            <a:endParaRPr lang="en-US" dirty="0"/>
          </a:p>
          <a:p>
            <a:r>
              <a:rPr lang="en-US" dirty="0"/>
              <a:t>4. What did we change?</a:t>
            </a:r>
          </a:p>
          <a:p>
            <a:endParaRPr lang="en-US" dirty="0"/>
          </a:p>
          <a:p>
            <a:r>
              <a:rPr lang="en-US" dirty="0"/>
              <a:t>5. How did we test it?</a:t>
            </a:r>
          </a:p>
          <a:p>
            <a:endParaRPr lang="en-US" dirty="0"/>
          </a:p>
          <a:p>
            <a:r>
              <a:rPr lang="en-US" dirty="0"/>
              <a:t>6. What was the result?</a:t>
            </a:r>
          </a:p>
          <a:p>
            <a:endParaRPr lang="en-US" dirty="0"/>
          </a:p>
          <a:p>
            <a:r>
              <a:rPr lang="en-US" dirty="0"/>
              <a:t>This is a miniature professional security review.</a:t>
            </a:r>
          </a:p>
          <a:p>
            <a:endParaRPr lang="en-US" dirty="0"/>
          </a:p>
          <a:p>
            <a:r>
              <a:rPr lang="en-US" dirty="0"/>
              <a:t>------------------------------------------------------------</a:t>
            </a:r>
          </a:p>
          <a:p>
            <a:endParaRPr lang="en-US" dirty="0"/>
          </a:p>
          <a:p>
            <a:r>
              <a:rPr lang="en-US" dirty="0"/>
              <a:t>THE FIX</a:t>
            </a:r>
          </a:p>
          <a:p>
            <a:endParaRPr lang="en-US" dirty="0"/>
          </a:p>
          <a:p>
            <a:r>
              <a:rPr lang="en-US" dirty="0"/>
              <a:t>Now students make changes.</a:t>
            </a:r>
          </a:p>
          <a:p>
            <a:endParaRPr lang="en-US" dirty="0"/>
          </a:p>
          <a:p>
            <a:r>
              <a:rPr lang="en-US" dirty="0"/>
              <a:t>Examples:</a:t>
            </a:r>
          </a:p>
          <a:p>
            <a:endParaRPr lang="en-US" dirty="0"/>
          </a:p>
          <a:p>
            <a:r>
              <a:rPr lang="en-US" dirty="0"/>
              <a:t>Add authorization checks.</a:t>
            </a:r>
          </a:p>
          <a:p>
            <a:endParaRPr lang="en-US" dirty="0"/>
          </a:p>
          <a:p>
            <a:r>
              <a:rPr lang="en-US" dirty="0"/>
              <a:t>Protect a controller action.</a:t>
            </a:r>
          </a:p>
          <a:p>
            <a:endParaRPr lang="en-US" dirty="0"/>
          </a:p>
          <a:p>
            <a:r>
              <a:rPr lang="en-US" dirty="0"/>
              <a:t>Remove a secret from source code.</a:t>
            </a:r>
          </a:p>
          <a:p>
            <a:endParaRPr lang="en-US" dirty="0"/>
          </a:p>
          <a:p>
            <a:r>
              <a:rPr lang="en-US" dirty="0"/>
              <a:t>Improve error handling.</a:t>
            </a:r>
          </a:p>
          <a:p>
            <a:endParaRPr lang="en-US" dirty="0"/>
          </a:p>
          <a:p>
            <a:r>
              <a:rPr lang="en-US" dirty="0"/>
              <a:t>Enable HTTPS.</a:t>
            </a:r>
          </a:p>
          <a:p>
            <a:endParaRPr lang="en-US" dirty="0"/>
          </a:p>
          <a:p>
            <a:r>
              <a:rPr lang="en-US" dirty="0"/>
              <a:t>Correct access rules.</a:t>
            </a:r>
          </a:p>
          <a:p>
            <a:endParaRPr lang="en-US" dirty="0"/>
          </a:p>
          <a:p>
            <a:r>
              <a:rPr lang="en-US" dirty="0"/>
              <a:t>Protect sensitive information.</a:t>
            </a:r>
          </a:p>
          <a:p>
            <a:endParaRPr lang="en-US" dirty="0"/>
          </a:p>
          <a:p>
            <a:r>
              <a:rPr lang="en-US" dirty="0"/>
              <a:t>Explain:</a:t>
            </a:r>
          </a:p>
          <a:p>
            <a:endParaRPr lang="en-US" dirty="0"/>
          </a:p>
          <a:p>
            <a:r>
              <a:rPr lang="en-US" dirty="0"/>
              <a:t>"Don't change something just because it sounds more secure."</a:t>
            </a:r>
          </a:p>
          <a:p>
            <a:endParaRPr lang="en-US" dirty="0"/>
          </a:p>
          <a:p>
            <a:r>
              <a:rPr lang="en-US" dirty="0"/>
              <a:t>"Change it because you can identify the risk it addresses."</a:t>
            </a:r>
          </a:p>
          <a:p>
            <a:endParaRPr lang="en-US" dirty="0"/>
          </a:p>
          <a:p>
            <a:r>
              <a:rPr lang="en-US" dirty="0"/>
              <a:t>------------------------------------------------------------</a:t>
            </a:r>
          </a:p>
          <a:p>
            <a:endParaRPr lang="en-US" dirty="0"/>
          </a:p>
          <a:p>
            <a:r>
              <a:rPr lang="en-US" dirty="0"/>
              <a:t>TEST AGAIN</a:t>
            </a:r>
          </a:p>
          <a:p>
            <a:endParaRPr lang="en-US" dirty="0"/>
          </a:p>
          <a:p>
            <a:r>
              <a:rPr lang="en-US" dirty="0"/>
              <a:t>This is critical.</a:t>
            </a:r>
          </a:p>
          <a:p>
            <a:endParaRPr lang="en-US" dirty="0"/>
          </a:p>
          <a:p>
            <a:r>
              <a:rPr lang="en-US" dirty="0"/>
              <a:t>Say:</a:t>
            </a:r>
          </a:p>
          <a:p>
            <a:endParaRPr lang="en-US" dirty="0"/>
          </a:p>
          <a:p>
            <a:r>
              <a:rPr lang="en-US" dirty="0"/>
              <a:t>"After fixing something..."</a:t>
            </a:r>
          </a:p>
          <a:p>
            <a:endParaRPr lang="en-US" dirty="0"/>
          </a:p>
          <a:p>
            <a:r>
              <a:rPr lang="en-US" dirty="0"/>
              <a:t>"Break it again."</a:t>
            </a:r>
          </a:p>
          <a:p>
            <a:endParaRPr lang="en-US" dirty="0"/>
          </a:p>
          <a:p>
            <a:r>
              <a:rPr lang="en-US" dirty="0"/>
              <a:t>Pause.</a:t>
            </a:r>
          </a:p>
          <a:p>
            <a:endParaRPr lang="en-US" dirty="0"/>
          </a:p>
          <a:p>
            <a:r>
              <a:rPr lang="en-US" dirty="0"/>
              <a:t>"Did the protection actually work?"</a:t>
            </a:r>
          </a:p>
          <a:p>
            <a:endParaRPr lang="en-US" dirty="0"/>
          </a:p>
          <a:p>
            <a:r>
              <a:rPr lang="en-US" dirty="0"/>
              <a:t>Example:</a:t>
            </a:r>
          </a:p>
          <a:p>
            <a:endParaRPr lang="en-US" dirty="0"/>
          </a:p>
          <a:p>
            <a:r>
              <a:rPr lang="en-US" dirty="0"/>
              <a:t>Before:</a:t>
            </a:r>
          </a:p>
          <a:p>
            <a:endParaRPr lang="en-US" dirty="0"/>
          </a:p>
          <a:p>
            <a:r>
              <a:rPr lang="en-US" dirty="0"/>
              <a:t>User A could access User B's project.</a:t>
            </a:r>
          </a:p>
          <a:p>
            <a:endParaRPr lang="en-US" dirty="0"/>
          </a:p>
          <a:p>
            <a:r>
              <a:rPr lang="en-US" dirty="0"/>
              <a:t>Fix:</a:t>
            </a:r>
          </a:p>
          <a:p>
            <a:endParaRPr lang="en-US" dirty="0"/>
          </a:p>
          <a:p>
            <a:r>
              <a:rPr lang="en-US" dirty="0"/>
              <a:t>Add authorization check.</a:t>
            </a:r>
          </a:p>
          <a:p>
            <a:endParaRPr lang="en-US" dirty="0"/>
          </a:p>
          <a:p>
            <a:r>
              <a:rPr lang="en-US" dirty="0"/>
              <a:t>After:</a:t>
            </a:r>
          </a:p>
          <a:p>
            <a:endParaRPr lang="en-US" dirty="0"/>
          </a:p>
          <a:p>
            <a:r>
              <a:rPr lang="en-US" dirty="0"/>
              <a:t>User A attempts access again.</a:t>
            </a:r>
          </a:p>
          <a:p>
            <a:endParaRPr lang="en-US" dirty="0"/>
          </a:p>
          <a:p>
            <a:r>
              <a:rPr lang="en-US" dirty="0"/>
              <a:t>Expected:</a:t>
            </a:r>
          </a:p>
          <a:p>
            <a:endParaRPr lang="en-US" dirty="0"/>
          </a:p>
          <a:p>
            <a:r>
              <a:rPr lang="en-US" dirty="0"/>
              <a:t>Denied.</a:t>
            </a:r>
          </a:p>
          <a:p>
            <a:endParaRPr lang="en-US" dirty="0"/>
          </a:p>
          <a:p>
            <a:r>
              <a:rPr lang="en-US" dirty="0"/>
              <a:t>------------------------------------------------------------</a:t>
            </a:r>
          </a:p>
          <a:p>
            <a:endParaRPr lang="en-US" dirty="0"/>
          </a:p>
          <a:p>
            <a:r>
              <a:rPr lang="en-US" dirty="0"/>
              <a:t>VERIFY</a:t>
            </a:r>
          </a:p>
          <a:p>
            <a:endParaRPr lang="en-US" dirty="0"/>
          </a:p>
          <a:p>
            <a:r>
              <a:rPr lang="en-US" dirty="0"/>
              <a:t>Point to:</a:t>
            </a:r>
          </a:p>
          <a:p>
            <a:endParaRPr lang="en-US" dirty="0"/>
          </a:p>
          <a:p>
            <a:r>
              <a:rPr lang="en-US" dirty="0"/>
              <a:t>VERIFY.</a:t>
            </a:r>
          </a:p>
          <a:p>
            <a:endParaRPr lang="en-US" dirty="0"/>
          </a:p>
          <a:p>
            <a:r>
              <a:rPr lang="en-US" dirty="0"/>
              <a:t>Ask:</a:t>
            </a:r>
          </a:p>
          <a:p>
            <a:endParaRPr lang="en-US" dirty="0"/>
          </a:p>
          <a:p>
            <a:r>
              <a:rPr lang="en-US" dirty="0"/>
              <a:t>"What evidence proves the fix worked?"</a:t>
            </a:r>
          </a:p>
          <a:p>
            <a:endParaRPr lang="en-US" dirty="0"/>
          </a:p>
          <a:p>
            <a:r>
              <a:rPr lang="en-US" dirty="0"/>
              <a:t>Possible evidence:</a:t>
            </a:r>
          </a:p>
          <a:p>
            <a:endParaRPr lang="en-US" dirty="0"/>
          </a:p>
          <a:p>
            <a:r>
              <a:rPr lang="en-US" dirty="0"/>
              <a:t>Access denied.</a:t>
            </a:r>
          </a:p>
          <a:p>
            <a:endParaRPr lang="en-US" dirty="0"/>
          </a:p>
          <a:p>
            <a:r>
              <a:rPr lang="en-US" dirty="0"/>
              <a:t>Correct redirect.</a:t>
            </a:r>
          </a:p>
          <a:p>
            <a:endParaRPr lang="en-US" dirty="0"/>
          </a:p>
          <a:p>
            <a:r>
              <a:rPr lang="en-US" dirty="0"/>
              <a:t>Secret removed.</a:t>
            </a:r>
          </a:p>
          <a:p>
            <a:endParaRPr lang="en-US" dirty="0"/>
          </a:p>
          <a:p>
            <a:r>
              <a:rPr lang="en-US" dirty="0"/>
              <a:t>HTTPS enabled.</a:t>
            </a:r>
          </a:p>
          <a:p>
            <a:endParaRPr lang="en-US" dirty="0"/>
          </a:p>
          <a:p>
            <a:r>
              <a:rPr lang="en-US" dirty="0"/>
              <a:t>Error information hidden.</a:t>
            </a:r>
          </a:p>
          <a:p>
            <a:endParaRPr lang="en-US" dirty="0"/>
          </a:p>
          <a:p>
            <a:r>
              <a:rPr lang="en-US" dirty="0"/>
              <a:t>User can only access their own data.</a:t>
            </a:r>
          </a:p>
          <a:p>
            <a:endParaRPr lang="en-US" dirty="0"/>
          </a:p>
          <a:p>
            <a:r>
              <a:rPr lang="en-US" dirty="0"/>
              <a:t>Explain:</a:t>
            </a:r>
          </a:p>
          <a:p>
            <a:endParaRPr lang="en-US" dirty="0"/>
          </a:p>
          <a:p>
            <a:r>
              <a:rPr lang="en-US" dirty="0"/>
              <a:t>"Don't say it's fixed because you changed the code."</a:t>
            </a:r>
          </a:p>
          <a:p>
            <a:endParaRPr lang="en-US" dirty="0"/>
          </a:p>
          <a:p>
            <a:r>
              <a:rPr lang="en-US" dirty="0"/>
              <a:t>"Say it's fixed because you tested the behavior."</a:t>
            </a:r>
          </a:p>
          <a:p>
            <a:endParaRPr lang="en-US" dirty="0"/>
          </a:p>
          <a:p>
            <a:r>
              <a:rPr lang="en-US" dirty="0"/>
              <a:t>------------------------------------------------------------</a:t>
            </a:r>
          </a:p>
          <a:p>
            <a:endParaRPr lang="en-US" dirty="0"/>
          </a:p>
          <a:p>
            <a:r>
              <a:rPr lang="en-US" dirty="0"/>
              <a:t>ENGINEERING INSIGHT</a:t>
            </a:r>
          </a:p>
          <a:p>
            <a:endParaRPr lang="en-US" dirty="0"/>
          </a:p>
          <a:p>
            <a:r>
              <a:rPr lang="en-US" dirty="0"/>
              <a:t>Point to:</a:t>
            </a:r>
          </a:p>
          <a:p>
            <a:endParaRPr lang="en-US" dirty="0"/>
          </a:p>
          <a:p>
            <a:r>
              <a:rPr lang="en-US" dirty="0"/>
              <a:t>"Security is not a feature."</a:t>
            </a:r>
          </a:p>
          <a:p>
            <a:endParaRPr lang="en-US" dirty="0"/>
          </a:p>
          <a:p>
            <a:r>
              <a:rPr lang="en-US" dirty="0"/>
              <a:t>Say:</a:t>
            </a:r>
          </a:p>
          <a:p>
            <a:endParaRPr lang="en-US" dirty="0"/>
          </a:p>
          <a:p>
            <a:r>
              <a:rPr lang="en-US" dirty="0"/>
              <a:t>"Security is a practice we build into every layer of the application."</a:t>
            </a:r>
          </a:p>
          <a:p>
            <a:endParaRPr lang="en-US" dirty="0"/>
          </a:p>
          <a:p>
            <a:r>
              <a:rPr lang="en-US" dirty="0"/>
              <a:t>Authentication.</a:t>
            </a:r>
          </a:p>
          <a:p>
            <a:endParaRPr lang="en-US" dirty="0"/>
          </a:p>
          <a:p>
            <a:r>
              <a:rPr lang="en-US" dirty="0"/>
              <a:t>Authorization.</a:t>
            </a:r>
          </a:p>
          <a:p>
            <a:endParaRPr lang="en-US" dirty="0"/>
          </a:p>
          <a:p>
            <a:r>
              <a:rPr lang="en-US" dirty="0"/>
              <a:t>Data.</a:t>
            </a:r>
          </a:p>
          <a:p>
            <a:endParaRPr lang="en-US" dirty="0"/>
          </a:p>
          <a:p>
            <a:r>
              <a:rPr lang="en-US" dirty="0"/>
              <a:t>Configuration.</a:t>
            </a:r>
          </a:p>
          <a:p>
            <a:endParaRPr lang="en-US" dirty="0"/>
          </a:p>
          <a:p>
            <a:r>
              <a:rPr lang="en-US" dirty="0"/>
              <a:t>Transport.</a:t>
            </a:r>
          </a:p>
          <a:p>
            <a:endParaRPr lang="en-US" dirty="0"/>
          </a:p>
          <a:p>
            <a:r>
              <a:rPr lang="en-US" dirty="0"/>
              <a:t>Errors.</a:t>
            </a:r>
          </a:p>
          <a:p>
            <a:endParaRPr lang="en-US" dirty="0"/>
          </a:p>
          <a:p>
            <a:r>
              <a:rPr lang="en-US" dirty="0"/>
              <a:t>Testing.</a:t>
            </a:r>
          </a:p>
          <a:p>
            <a:endParaRPr lang="en-US" dirty="0"/>
          </a:p>
          <a:p>
            <a:r>
              <a:rPr lang="en-US" dirty="0"/>
              <a:t>Explain:</a:t>
            </a:r>
          </a:p>
          <a:p>
            <a:endParaRPr lang="en-US" dirty="0"/>
          </a:p>
          <a:p>
            <a:r>
              <a:rPr lang="en-US" dirty="0"/>
              <a:t>"Security isn't one checkbox."</a:t>
            </a:r>
          </a:p>
          <a:p>
            <a:endParaRPr lang="en-US" dirty="0"/>
          </a:p>
          <a:p>
            <a:r>
              <a:rPr lang="en-US" dirty="0"/>
              <a:t>------------------------------------------------------------</a:t>
            </a:r>
          </a:p>
          <a:p>
            <a:endParaRPr lang="en-US" dirty="0"/>
          </a:p>
          <a:p>
            <a:r>
              <a:rPr lang="en-US" dirty="0"/>
              <a:t>TOOLS</a:t>
            </a:r>
          </a:p>
          <a:p>
            <a:endParaRPr lang="en-US" dirty="0"/>
          </a:p>
          <a:p>
            <a:r>
              <a:rPr lang="en-US" dirty="0"/>
              <a:t>Review the tools students are using.</a:t>
            </a:r>
          </a:p>
          <a:p>
            <a:endParaRPr lang="en-US" dirty="0"/>
          </a:p>
          <a:p>
            <a:r>
              <a:rPr lang="en-US" dirty="0"/>
              <a:t>Visual Studio / VS Code.</a:t>
            </a:r>
          </a:p>
          <a:p>
            <a:endParaRPr lang="en-US" dirty="0"/>
          </a:p>
          <a:p>
            <a:r>
              <a:rPr lang="en-US" dirty="0"/>
              <a:t>ASP.NET Core Identity &amp; Authorization.</a:t>
            </a:r>
          </a:p>
          <a:p>
            <a:endParaRPr lang="en-US" dirty="0"/>
          </a:p>
          <a:p>
            <a:r>
              <a:rPr lang="en-US" dirty="0"/>
              <a:t>Entity Framework Core.</a:t>
            </a:r>
          </a:p>
          <a:p>
            <a:endParaRPr lang="en-US" dirty="0"/>
          </a:p>
          <a:p>
            <a:r>
              <a:rPr lang="en-US" dirty="0"/>
              <a:t>Azure App Service.</a:t>
            </a:r>
          </a:p>
          <a:p>
            <a:endParaRPr lang="en-US" dirty="0"/>
          </a:p>
          <a:p>
            <a:r>
              <a:rPr lang="en-US" dirty="0"/>
              <a:t>Browser developer tools.</a:t>
            </a:r>
          </a:p>
          <a:p>
            <a:endParaRPr lang="en-US" dirty="0"/>
          </a:p>
          <a:p>
            <a:r>
              <a:rPr lang="en-US" dirty="0"/>
              <a:t>GitHub.</a:t>
            </a:r>
          </a:p>
          <a:p>
            <a:endParaRPr lang="en-US" dirty="0"/>
          </a:p>
          <a:p>
            <a:r>
              <a:rPr lang="en-US" dirty="0"/>
              <a:t>Logging and configuration.</a:t>
            </a:r>
          </a:p>
          <a:p>
            <a:endParaRPr lang="en-US" dirty="0"/>
          </a:p>
          <a:p>
            <a:r>
              <a:rPr lang="en-US" dirty="0"/>
              <a:t>Explain:</a:t>
            </a:r>
          </a:p>
          <a:p>
            <a:endParaRPr lang="en-US" dirty="0"/>
          </a:p>
          <a:p>
            <a:r>
              <a:rPr lang="en-US" dirty="0"/>
              <a:t>"Professional engineers use tools to inspect and verify systems."</a:t>
            </a:r>
          </a:p>
          <a:p>
            <a:endParaRPr lang="en-US" dirty="0"/>
          </a:p>
          <a:p>
            <a:r>
              <a:rPr lang="en-US" dirty="0"/>
              <a:t>------------------------------------------------------------</a:t>
            </a:r>
          </a:p>
          <a:p>
            <a:endParaRPr lang="en-US" dirty="0"/>
          </a:p>
          <a:p>
            <a:r>
              <a:rPr lang="en-US" dirty="0"/>
              <a:t>SECURITY IS ITERATIVE</a:t>
            </a:r>
          </a:p>
          <a:p>
            <a:endParaRPr lang="en-US" dirty="0"/>
          </a:p>
          <a:p>
            <a:r>
              <a:rPr lang="en-US" dirty="0"/>
              <a:t>Say:</a:t>
            </a:r>
          </a:p>
          <a:p>
            <a:endParaRPr lang="en-US" dirty="0"/>
          </a:p>
          <a:p>
            <a:r>
              <a:rPr lang="en-US" dirty="0"/>
              <a:t>"We aren't going to make Atlas perfectly secure today."</a:t>
            </a:r>
          </a:p>
          <a:p>
            <a:endParaRPr lang="en-US" dirty="0"/>
          </a:p>
          <a:p>
            <a:r>
              <a:rPr lang="en-US" dirty="0"/>
              <a:t>"No one can honestly promise that."</a:t>
            </a:r>
          </a:p>
          <a:p>
            <a:endParaRPr lang="en-US" dirty="0"/>
          </a:p>
          <a:p>
            <a:r>
              <a:rPr lang="en-US" dirty="0"/>
              <a:t>Instead:</a:t>
            </a:r>
          </a:p>
          <a:p>
            <a:endParaRPr lang="en-US" dirty="0"/>
          </a:p>
          <a:p>
            <a:r>
              <a:rPr lang="en-US" dirty="0"/>
              <a:t>"We identify important risks."</a:t>
            </a:r>
          </a:p>
          <a:p>
            <a:endParaRPr lang="en-US" dirty="0"/>
          </a:p>
          <a:p>
            <a:r>
              <a:rPr lang="en-US" dirty="0"/>
              <a:t>"We address them."</a:t>
            </a:r>
          </a:p>
          <a:p>
            <a:endParaRPr lang="en-US" dirty="0"/>
          </a:p>
          <a:p>
            <a:r>
              <a:rPr lang="en-US" dirty="0"/>
              <a:t>"We test them."</a:t>
            </a:r>
          </a:p>
          <a:p>
            <a:endParaRPr lang="en-US" dirty="0"/>
          </a:p>
          <a:p>
            <a:r>
              <a:rPr lang="en-US" dirty="0"/>
              <a:t>"We continue improving."</a:t>
            </a:r>
          </a:p>
          <a:p>
            <a:endParaRPr lang="en-US" dirty="0"/>
          </a:p>
          <a:p>
            <a:r>
              <a:rPr lang="en-US" dirty="0"/>
              <a:t>That's engineering.</a:t>
            </a:r>
          </a:p>
          <a:p>
            <a:endParaRPr lang="en-US" dirty="0"/>
          </a:p>
          <a:p>
            <a:r>
              <a:rPr lang="en-US" dirty="0"/>
              <a:t>------------------------------------------------------------</a:t>
            </a:r>
          </a:p>
          <a:p>
            <a:endParaRPr lang="en-US" dirty="0"/>
          </a:p>
          <a:p>
            <a:r>
              <a:rPr lang="en-US" dirty="0"/>
              <a:t>BUILD CHALLENGE</a:t>
            </a:r>
          </a:p>
          <a:p>
            <a:endParaRPr lang="en-US" dirty="0"/>
          </a:p>
          <a:p>
            <a:r>
              <a:rPr lang="en-US" dirty="0"/>
              <a:t>Students perform a security review of their own Atlas </a:t>
            </a:r>
            <a:r>
              <a:rPr lang="en-US" dirty="0" err="1"/>
              <a:t>TaskFlow</a:t>
            </a:r>
            <a:r>
              <a:rPr lang="en-US" dirty="0"/>
              <a:t>.</a:t>
            </a:r>
          </a:p>
          <a:p>
            <a:endParaRPr lang="en-US" dirty="0"/>
          </a:p>
          <a:p>
            <a:r>
              <a:rPr lang="en-US" dirty="0"/>
              <a:t>Minimum requirements:</a:t>
            </a:r>
          </a:p>
          <a:p>
            <a:endParaRPr lang="en-US" dirty="0"/>
          </a:p>
          <a:p>
            <a:r>
              <a:rPr lang="en-US" dirty="0"/>
              <a:t>✓ Test authentication.</a:t>
            </a:r>
          </a:p>
          <a:p>
            <a:endParaRPr lang="en-US" dirty="0"/>
          </a:p>
          <a:p>
            <a:r>
              <a:rPr lang="en-US" dirty="0"/>
              <a:t>✓ Test authorization.</a:t>
            </a:r>
          </a:p>
          <a:p>
            <a:endParaRPr lang="en-US" dirty="0"/>
          </a:p>
          <a:p>
            <a:r>
              <a:rPr lang="en-US" dirty="0"/>
              <a:t>✓ Test ownership.</a:t>
            </a:r>
          </a:p>
          <a:p>
            <a:endParaRPr lang="en-US" dirty="0"/>
          </a:p>
          <a:p>
            <a:r>
              <a:rPr lang="en-US" dirty="0"/>
              <a:t>✓ Inspect repository for secrets.</a:t>
            </a:r>
          </a:p>
          <a:p>
            <a:endParaRPr lang="en-US" dirty="0"/>
          </a:p>
          <a:p>
            <a:r>
              <a:rPr lang="en-US" dirty="0"/>
              <a:t>✓ Verify HTTPS.</a:t>
            </a:r>
          </a:p>
          <a:p>
            <a:endParaRPr lang="en-US" dirty="0"/>
          </a:p>
          <a:p>
            <a:r>
              <a:rPr lang="en-US" dirty="0"/>
              <a:t>✓ Test error handling.</a:t>
            </a:r>
          </a:p>
          <a:p>
            <a:endParaRPr lang="en-US" dirty="0"/>
          </a:p>
          <a:p>
            <a:r>
              <a:rPr lang="en-US" dirty="0"/>
              <a:t>✓ Review sensitive data exposure.</a:t>
            </a:r>
          </a:p>
          <a:p>
            <a:endParaRPr lang="en-US" dirty="0"/>
          </a:p>
          <a:p>
            <a:r>
              <a:rPr lang="en-US" dirty="0"/>
              <a:t>✓ Document findings.</a:t>
            </a:r>
          </a:p>
          <a:p>
            <a:endParaRPr lang="en-US" dirty="0"/>
          </a:p>
          <a:p>
            <a:r>
              <a:rPr lang="en-US" dirty="0"/>
              <a:t>✓ Fix identified problems.</a:t>
            </a:r>
          </a:p>
          <a:p>
            <a:endParaRPr lang="en-US" dirty="0"/>
          </a:p>
          <a:p>
            <a:r>
              <a:rPr lang="en-US" dirty="0"/>
              <a:t>✓ Retest.</a:t>
            </a:r>
          </a:p>
          <a:p>
            <a:endParaRPr lang="en-US" dirty="0"/>
          </a:p>
          <a:p>
            <a:r>
              <a:rPr lang="en-US" dirty="0"/>
              <a:t>------------------------------------------------------------</a:t>
            </a:r>
          </a:p>
          <a:p>
            <a:endParaRPr lang="en-US" dirty="0"/>
          </a:p>
          <a:p>
            <a:r>
              <a:rPr lang="en-US" dirty="0"/>
              <a:t>THE ENGINEER'S PROMISE</a:t>
            </a:r>
          </a:p>
          <a:p>
            <a:endParaRPr lang="en-US" dirty="0"/>
          </a:p>
          <a:p>
            <a:r>
              <a:rPr lang="en-US" dirty="0"/>
              <a:t>Point to the quote:</a:t>
            </a:r>
          </a:p>
          <a:p>
            <a:endParaRPr lang="en-US" dirty="0"/>
          </a:p>
          <a:p>
            <a:r>
              <a:rPr lang="en-US" dirty="0"/>
              <a:t>"Build it.</a:t>
            </a:r>
          </a:p>
          <a:p>
            <a:endParaRPr lang="en-US" dirty="0"/>
          </a:p>
          <a:p>
            <a:r>
              <a:rPr lang="en-US" dirty="0"/>
              <a:t>Test it.</a:t>
            </a:r>
          </a:p>
          <a:p>
            <a:endParaRPr lang="en-US" dirty="0"/>
          </a:p>
          <a:p>
            <a:r>
              <a:rPr lang="en-US" dirty="0"/>
              <a:t>Protect it."</a:t>
            </a:r>
          </a:p>
          <a:p>
            <a:endParaRPr lang="en-US" dirty="0"/>
          </a:p>
          <a:p>
            <a:r>
              <a:rPr lang="en-US" dirty="0"/>
              <a:t>Say:</a:t>
            </a:r>
          </a:p>
          <a:p>
            <a:endParaRPr lang="en-US" dirty="0"/>
          </a:p>
          <a:p>
            <a:r>
              <a:rPr lang="en-US" dirty="0"/>
              <a:t>"When users trust us with their information..."</a:t>
            </a:r>
          </a:p>
          <a:p>
            <a:endParaRPr lang="en-US" dirty="0"/>
          </a:p>
          <a:p>
            <a:r>
              <a:rPr lang="en-US" dirty="0"/>
              <a:t>"We have a responsibility to protect it."</a:t>
            </a:r>
          </a:p>
          <a:p>
            <a:endParaRPr lang="en-US" dirty="0"/>
          </a:p>
          <a:p>
            <a:r>
              <a:rPr lang="en-US" dirty="0"/>
              <a:t>------------------------------------------------------------</a:t>
            </a:r>
          </a:p>
          <a:p>
            <a:endParaRPr lang="en-US" dirty="0"/>
          </a:p>
          <a:p>
            <a:r>
              <a:rPr lang="en-US" dirty="0"/>
              <a:t>SPRINT CONNECTION</a:t>
            </a:r>
          </a:p>
          <a:p>
            <a:endParaRPr lang="en-US" dirty="0"/>
          </a:p>
          <a:p>
            <a:r>
              <a:rPr lang="en-US" dirty="0"/>
              <a:t>Point to:</a:t>
            </a:r>
          </a:p>
          <a:p>
            <a:endParaRPr lang="en-US" dirty="0"/>
          </a:p>
          <a:p>
            <a:r>
              <a:rPr lang="en-US" dirty="0"/>
              <a:t>⑥ PROTECT IT.</a:t>
            </a:r>
          </a:p>
          <a:p>
            <a:endParaRPr lang="en-US" dirty="0"/>
          </a:p>
          <a:p>
            <a:r>
              <a:rPr lang="en-US" dirty="0"/>
              <a:t>Review the progression:</a:t>
            </a:r>
          </a:p>
          <a:p>
            <a:endParaRPr lang="en-US" dirty="0"/>
          </a:p>
          <a:p>
            <a:r>
              <a:rPr lang="en-US" dirty="0"/>
              <a:t>Authentication</a:t>
            </a:r>
          </a:p>
          <a:p>
            <a:endParaRPr lang="en-US" dirty="0"/>
          </a:p>
          <a:p>
            <a:r>
              <a:rPr lang="en-US" dirty="0"/>
              <a:t>↓</a:t>
            </a:r>
          </a:p>
          <a:p>
            <a:endParaRPr lang="en-US" dirty="0"/>
          </a:p>
          <a:p>
            <a:r>
              <a:rPr lang="en-US" dirty="0"/>
              <a:t>Authorization</a:t>
            </a:r>
          </a:p>
          <a:p>
            <a:endParaRPr lang="en-US" dirty="0"/>
          </a:p>
          <a:p>
            <a:r>
              <a:rPr lang="en-US" dirty="0"/>
              <a:t>↓</a:t>
            </a:r>
          </a:p>
          <a:p>
            <a:endParaRPr lang="en-US" dirty="0"/>
          </a:p>
          <a:p>
            <a:r>
              <a:rPr lang="en-US" dirty="0"/>
              <a:t>Data Protection</a:t>
            </a:r>
          </a:p>
          <a:p>
            <a:endParaRPr lang="en-US" dirty="0"/>
          </a:p>
          <a:p>
            <a:r>
              <a:rPr lang="en-US" dirty="0"/>
              <a:t>↓</a:t>
            </a:r>
          </a:p>
          <a:p>
            <a:endParaRPr lang="en-US" dirty="0"/>
          </a:p>
          <a:p>
            <a:r>
              <a:rPr lang="en-US" dirty="0"/>
              <a:t>Secure Configuration</a:t>
            </a:r>
          </a:p>
          <a:p>
            <a:endParaRPr lang="en-US" dirty="0"/>
          </a:p>
          <a:p>
            <a:r>
              <a:rPr lang="en-US" dirty="0"/>
              <a:t>↓</a:t>
            </a:r>
          </a:p>
          <a:p>
            <a:endParaRPr lang="en-US" dirty="0"/>
          </a:p>
          <a:p>
            <a:r>
              <a:rPr lang="en-US" dirty="0"/>
              <a:t>Testing</a:t>
            </a:r>
          </a:p>
          <a:p>
            <a:endParaRPr lang="en-US" dirty="0"/>
          </a:p>
          <a:p>
            <a:r>
              <a:rPr lang="en-US" dirty="0"/>
              <a:t>Say:</a:t>
            </a:r>
          </a:p>
          <a:p>
            <a:endParaRPr lang="en-US" dirty="0"/>
          </a:p>
          <a:p>
            <a:r>
              <a:rPr lang="en-US" dirty="0"/>
              <a:t>"We have moved from understanding security..."</a:t>
            </a:r>
          </a:p>
          <a:p>
            <a:endParaRPr lang="en-US" dirty="0"/>
          </a:p>
          <a:p>
            <a:r>
              <a:rPr lang="en-US" dirty="0"/>
              <a:t>"...to applying security."</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"Break It Before Someone Else Does."</a:t>
            </a:r>
          </a:p>
          <a:p>
            <a:endParaRPr lang="en-US" dirty="0"/>
          </a:p>
          <a:p>
            <a:r>
              <a:rPr lang="en-US" dirty="0"/>
              <a:t>Say:</a:t>
            </a:r>
          </a:p>
          <a:p>
            <a:endParaRPr lang="en-US" dirty="0"/>
          </a:p>
          <a:p>
            <a:r>
              <a:rPr lang="en-US" dirty="0"/>
              <a:t>"We've reviewed the application."</a:t>
            </a:r>
          </a:p>
          <a:p>
            <a:endParaRPr lang="en-US" dirty="0"/>
          </a:p>
          <a:p>
            <a:r>
              <a:rPr lang="en-US" dirty="0"/>
              <a:t>"We've identified weaknesses."</a:t>
            </a:r>
          </a:p>
          <a:p>
            <a:endParaRPr lang="en-US" dirty="0"/>
          </a:p>
          <a:p>
            <a:r>
              <a:rPr lang="en-US" dirty="0"/>
              <a:t>"We've fixed them."</a:t>
            </a:r>
          </a:p>
          <a:p>
            <a:endParaRPr lang="en-US" dirty="0"/>
          </a:p>
          <a:p>
            <a:r>
              <a:rPr lang="en-US" dirty="0"/>
              <a:t>"But there's one thing left."</a:t>
            </a:r>
          </a:p>
          <a:p>
            <a:endParaRPr lang="en-US" dirty="0"/>
          </a:p>
          <a:p>
            <a:r>
              <a:rPr lang="en-US" dirty="0"/>
              <a:t>"We need to try to break our own protections."</a:t>
            </a:r>
          </a:p>
          <a:p>
            <a:endParaRPr lang="en-US" dirty="0"/>
          </a:p>
          <a:p>
            <a:r>
              <a:rPr lang="en-US" dirty="0"/>
              <a:t>Pause.</a:t>
            </a:r>
          </a:p>
          <a:p>
            <a:endParaRPr lang="en-US" dirty="0"/>
          </a:p>
          <a:p>
            <a:r>
              <a:rPr lang="en-US" dirty="0"/>
              <a:t>"Next..."</a:t>
            </a:r>
          </a:p>
          <a:p>
            <a:endParaRPr lang="en-US" dirty="0"/>
          </a:p>
          <a:p>
            <a:r>
              <a:rPr lang="en-US" dirty="0"/>
              <a:t>"We think like an attacker."</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 don't assume security works."</a:t>
            </a:r>
          </a:p>
          <a:p>
            <a:endParaRPr lang="en-US" dirty="0"/>
          </a:p>
          <a:p>
            <a:r>
              <a:rPr lang="en-US" dirty="0"/>
              <a:t>"We test it."</a:t>
            </a:r>
          </a:p>
          <a:p>
            <a:endParaRPr lang="en-US" dirty="0"/>
          </a:p>
          <a:p>
            <a:r>
              <a:rPr lang="en-US" dirty="0"/>
              <a:t>"We challenge it."</a:t>
            </a:r>
          </a:p>
          <a:p>
            <a:endParaRPr lang="en-US" dirty="0"/>
          </a:p>
          <a:p>
            <a:r>
              <a:rPr lang="en-US" dirty="0"/>
              <a:t>"We verify it."</a:t>
            </a:r>
          </a:p>
          <a:p>
            <a:endParaRPr lang="en-US" dirty="0"/>
          </a:p>
          <a:p>
            <a:r>
              <a:rPr lang="en-US" dirty="0"/>
              <a:t>Pause.</a:t>
            </a:r>
          </a:p>
          <a:p>
            <a:endParaRPr lang="en-US" dirty="0"/>
          </a:p>
          <a:p>
            <a:r>
              <a:rPr lang="en-US" dirty="0"/>
              <a:t>"Because the goal isn't to say..."</a:t>
            </a:r>
          </a:p>
          <a:p>
            <a:endParaRPr lang="en-US" dirty="0"/>
          </a:p>
          <a:p>
            <a:r>
              <a:rPr lang="en-US" dirty="0"/>
              <a:t>'Atlas is secure.'</a:t>
            </a:r>
          </a:p>
          <a:p>
            <a:endParaRPr lang="en-US" dirty="0"/>
          </a:p>
          <a:p>
            <a:r>
              <a:rPr lang="en-US" dirty="0"/>
              <a:t>"The goal is to be able to say..."</a:t>
            </a:r>
          </a:p>
          <a:p>
            <a:endParaRPr lang="en-US" dirty="0"/>
          </a:p>
          <a:p>
            <a:r>
              <a:rPr lang="en-US" dirty="0"/>
              <a:t>'We tested the protections we built.'</a:t>
            </a:r>
          </a:p>
          <a:p>
            <a:endParaRPr lang="en-US" dirty="0"/>
          </a:p>
          <a:p>
            <a:r>
              <a:rPr lang="en-US" dirty="0"/>
              <a:t>============================================================</a:t>
            </a:r>
          </a:p>
          <a:p>
            <a:endParaRPr lang="en-US" dirty="0"/>
          </a:p>
          <a:p>
            <a:r>
              <a:rPr lang="en-US" dirty="0"/>
              <a:t>ESTIMATED TIME</a:t>
            </a:r>
          </a:p>
          <a:p>
            <a:endParaRPr lang="en-US" dirty="0"/>
          </a:p>
          <a:p>
            <a:r>
              <a:rPr lang="en-US" dirty="0"/>
              <a:t>Security Review Introduction...........8 minutes</a:t>
            </a:r>
          </a:p>
          <a:p>
            <a:endParaRPr lang="en-US" dirty="0"/>
          </a:p>
          <a:p>
            <a:r>
              <a:rPr lang="en-US" dirty="0"/>
              <a:t>Application Inspection................15 minutes</a:t>
            </a:r>
          </a:p>
          <a:p>
            <a:endParaRPr lang="en-US" dirty="0"/>
          </a:p>
          <a:p>
            <a:r>
              <a:rPr lang="en-US" dirty="0"/>
              <a:t>Security Checklist....................15 minutes</a:t>
            </a:r>
          </a:p>
          <a:p>
            <a:endParaRPr lang="en-US" dirty="0"/>
          </a:p>
          <a:p>
            <a:r>
              <a:rPr lang="en-US" dirty="0"/>
              <a:t>Fixes................................10 minutes</a:t>
            </a:r>
          </a:p>
          <a:p>
            <a:endParaRPr lang="en-US" dirty="0"/>
          </a:p>
          <a:p>
            <a:r>
              <a:rPr lang="en-US" dirty="0"/>
              <a:t>Security Testing......................12 minutes</a:t>
            </a:r>
          </a:p>
          <a:p>
            <a:endParaRPr lang="en-US" dirty="0"/>
          </a:p>
          <a:p>
            <a:r>
              <a:rPr lang="en-US" dirty="0"/>
              <a:t>Documentation &amp; Reflection.............5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should be primarily hands-on.</a:t>
            </a:r>
          </a:p>
          <a:p>
            <a:endParaRPr lang="en-US" dirty="0"/>
          </a:p>
          <a:p>
            <a:r>
              <a:rPr lang="en-US" dirty="0"/>
              <a:t>Students should have their Atlas </a:t>
            </a:r>
            <a:r>
              <a:rPr lang="en-US" dirty="0" err="1"/>
              <a:t>TaskFlow</a:t>
            </a:r>
            <a:r>
              <a:rPr lang="en-US" dirty="0"/>
              <a:t> project open throughout</a:t>
            </a:r>
          </a:p>
          <a:p>
            <a:r>
              <a:rPr lang="en-US" dirty="0"/>
              <a:t>the lesson.</a:t>
            </a:r>
          </a:p>
          <a:p>
            <a:endParaRPr lang="en-US" dirty="0"/>
          </a:p>
          <a:p>
            <a:r>
              <a:rPr lang="en-US" dirty="0"/>
              <a:t>Do not let this become a hypothetical security lecture.</a:t>
            </a:r>
          </a:p>
          <a:p>
            <a:endParaRPr lang="en-US" dirty="0"/>
          </a:p>
          <a:p>
            <a:r>
              <a:rPr lang="en-US" dirty="0"/>
              <a:t>Whenever possible ask:</a:t>
            </a:r>
          </a:p>
          <a:p>
            <a:endParaRPr lang="en-US" dirty="0"/>
          </a:p>
          <a:p>
            <a:r>
              <a:rPr lang="en-US" dirty="0"/>
              <a:t>"Show me."</a:t>
            </a:r>
          </a:p>
          <a:p>
            <a:endParaRPr lang="en-US" dirty="0"/>
          </a:p>
          <a:p>
            <a:r>
              <a:rPr lang="en-US" dirty="0"/>
              <a:t>Instead of:</a:t>
            </a:r>
          </a:p>
          <a:p>
            <a:endParaRPr lang="en-US" dirty="0"/>
          </a:p>
          <a:p>
            <a:r>
              <a:rPr lang="en-US" dirty="0"/>
              <a:t>"Tell me."</a:t>
            </a:r>
          </a:p>
          <a:p>
            <a:endParaRPr lang="en-US" dirty="0"/>
          </a:p>
          <a:p>
            <a:r>
              <a:rPr lang="en-US" dirty="0"/>
              <a:t>------------------------------------------------------------</a:t>
            </a:r>
          </a:p>
          <a:p>
            <a:endParaRPr lang="en-US" dirty="0"/>
          </a:p>
          <a:p>
            <a:r>
              <a:rPr lang="en-US" dirty="0"/>
              <a:t>RECOMMENDED STUDENT WORKFLOW</a:t>
            </a:r>
          </a:p>
          <a:p>
            <a:endParaRPr lang="en-US" dirty="0"/>
          </a:p>
          <a:p>
            <a:r>
              <a:rPr lang="en-US" dirty="0"/>
              <a:t>INSPECT</a:t>
            </a:r>
          </a:p>
          <a:p>
            <a:endParaRPr lang="en-US" dirty="0"/>
          </a:p>
          <a:p>
            <a:r>
              <a:rPr lang="en-US" dirty="0"/>
              <a:t>Look at the application.</a:t>
            </a:r>
          </a:p>
          <a:p>
            <a:endParaRPr lang="en-US" dirty="0"/>
          </a:p>
          <a:p>
            <a:r>
              <a:rPr lang="en-US" dirty="0"/>
              <a:t>IDENTIFY</a:t>
            </a:r>
          </a:p>
          <a:p>
            <a:endParaRPr lang="en-US" dirty="0"/>
          </a:p>
          <a:p>
            <a:r>
              <a:rPr lang="en-US" dirty="0"/>
              <a:t>Find a weakness.</a:t>
            </a:r>
          </a:p>
          <a:p>
            <a:endParaRPr lang="en-US" dirty="0"/>
          </a:p>
          <a:p>
            <a:r>
              <a:rPr lang="en-US" dirty="0"/>
              <a:t>DOCUMENT</a:t>
            </a:r>
          </a:p>
          <a:p>
            <a:endParaRPr lang="en-US" dirty="0"/>
          </a:p>
          <a:p>
            <a:r>
              <a:rPr lang="en-US" dirty="0"/>
              <a:t>Record the risk.</a:t>
            </a:r>
          </a:p>
          <a:p>
            <a:endParaRPr lang="en-US" dirty="0"/>
          </a:p>
          <a:p>
            <a:r>
              <a:rPr lang="en-US" dirty="0"/>
              <a:t>FIX</a:t>
            </a:r>
          </a:p>
          <a:p>
            <a:endParaRPr lang="en-US" dirty="0"/>
          </a:p>
          <a:p>
            <a:r>
              <a:rPr lang="en-US" dirty="0"/>
              <a:t>Apply a solution.</a:t>
            </a:r>
          </a:p>
          <a:p>
            <a:endParaRPr lang="en-US" dirty="0"/>
          </a:p>
          <a:p>
            <a:r>
              <a:rPr lang="en-US" dirty="0"/>
              <a:t>TEST</a:t>
            </a:r>
          </a:p>
          <a:p>
            <a:endParaRPr lang="en-US" dirty="0"/>
          </a:p>
          <a:p>
            <a:r>
              <a:rPr lang="en-US" dirty="0"/>
              <a:t>Try the original scenario again.</a:t>
            </a:r>
          </a:p>
          <a:p>
            <a:endParaRPr lang="en-US" dirty="0"/>
          </a:p>
          <a:p>
            <a:r>
              <a:rPr lang="en-US" dirty="0"/>
              <a:t>VERIFY</a:t>
            </a:r>
          </a:p>
          <a:p>
            <a:endParaRPr lang="en-US" dirty="0"/>
          </a:p>
          <a:p>
            <a:r>
              <a:rPr lang="en-US" dirty="0"/>
              <a:t>Record the result.</a:t>
            </a:r>
          </a:p>
          <a:p>
            <a:endParaRPr lang="en-US" dirty="0"/>
          </a:p>
          <a:p>
            <a:r>
              <a:rPr lang="en-US" dirty="0"/>
              <a:t>------------------------------------------------------------</a:t>
            </a:r>
          </a:p>
          <a:p>
            <a:endParaRPr lang="en-US" dirty="0"/>
          </a:p>
          <a:p>
            <a:r>
              <a:rPr lang="en-US" dirty="0"/>
              <a:t>IMPORTANT TEACHING POINT</a:t>
            </a:r>
          </a:p>
          <a:p>
            <a:endParaRPr lang="en-US" dirty="0"/>
          </a:p>
          <a:p>
            <a:r>
              <a:rPr lang="en-US" dirty="0"/>
              <a:t>Finding a vulnerability is not failure.</a:t>
            </a:r>
          </a:p>
          <a:p>
            <a:endParaRPr lang="en-US" dirty="0"/>
          </a:p>
          <a:p>
            <a:r>
              <a:rPr lang="en-US" dirty="0"/>
              <a:t>Finding a vulnerability and ignoring it is the problem.</a:t>
            </a:r>
          </a:p>
          <a:p>
            <a:endParaRPr lang="en-US" dirty="0"/>
          </a:p>
          <a:p>
            <a:r>
              <a:rPr lang="en-US" dirty="0"/>
              <a:t>Tell students:</a:t>
            </a:r>
          </a:p>
          <a:p>
            <a:endParaRPr lang="en-US" dirty="0"/>
          </a:p>
          <a:p>
            <a:r>
              <a:rPr lang="en-US" dirty="0"/>
              <a:t>"Security testing is valuable because it helps us discover problems</a:t>
            </a:r>
          </a:p>
          <a:p>
            <a:r>
              <a:rPr lang="en-US" dirty="0"/>
              <a:t>before someone else does."</a:t>
            </a:r>
          </a:p>
          <a:p>
            <a:endParaRPr lang="en-US" dirty="0"/>
          </a:p>
          <a:p>
            <a:r>
              <a:rPr lang="en-US" dirty="0"/>
              <a:t>------------------------------------------------------------</a:t>
            </a:r>
          </a:p>
          <a:p>
            <a:endParaRPr lang="en-US" dirty="0"/>
          </a:p>
          <a:p>
            <a:r>
              <a:rPr lang="en-US" dirty="0"/>
              <a:t>SECURITY BOUNDARY</a:t>
            </a:r>
          </a:p>
          <a:p>
            <a:endParaRPr lang="en-US" dirty="0"/>
          </a:p>
          <a:p>
            <a:r>
              <a:rPr lang="en-US" dirty="0"/>
              <a:t>Do not turn this into offensive cybersecurity training.</a:t>
            </a:r>
          </a:p>
          <a:p>
            <a:endParaRPr lang="en-US" dirty="0"/>
          </a:p>
          <a:p>
            <a:r>
              <a:rPr lang="en-US" dirty="0"/>
              <a:t>Students should test their own Atlas </a:t>
            </a:r>
            <a:r>
              <a:rPr lang="en-US" dirty="0" err="1"/>
              <a:t>TaskFlow</a:t>
            </a:r>
            <a:r>
              <a:rPr lang="en-US" dirty="0"/>
              <a:t> application and controlled</a:t>
            </a:r>
          </a:p>
          <a:p>
            <a:r>
              <a:rPr lang="en-US" dirty="0"/>
              <a:t>classroom environments.</a:t>
            </a:r>
          </a:p>
          <a:p>
            <a:endParaRPr lang="en-US" dirty="0"/>
          </a:p>
          <a:p>
            <a:r>
              <a:rPr lang="en-US" dirty="0"/>
              <a:t>Focus on:</a:t>
            </a:r>
          </a:p>
          <a:p>
            <a:endParaRPr lang="en-US" dirty="0"/>
          </a:p>
          <a:p>
            <a:r>
              <a:rPr lang="en-US" dirty="0"/>
              <a:t>Authentication.</a:t>
            </a:r>
          </a:p>
          <a:p>
            <a:endParaRPr lang="en-US" dirty="0"/>
          </a:p>
          <a:p>
            <a:r>
              <a:rPr lang="en-US" dirty="0"/>
              <a:t>Authorization.</a:t>
            </a:r>
          </a:p>
          <a:p>
            <a:endParaRPr lang="en-US" dirty="0"/>
          </a:p>
          <a:p>
            <a:r>
              <a:rPr lang="en-US" dirty="0"/>
              <a:t>Access control.</a:t>
            </a:r>
          </a:p>
          <a:p>
            <a:endParaRPr lang="en-US" dirty="0"/>
          </a:p>
          <a:p>
            <a:r>
              <a:rPr lang="en-US" dirty="0"/>
              <a:t>Secrets.</a:t>
            </a:r>
          </a:p>
          <a:p>
            <a:endParaRPr lang="en-US" dirty="0"/>
          </a:p>
          <a:p>
            <a:r>
              <a:rPr lang="en-US" dirty="0"/>
              <a:t>Configuration.</a:t>
            </a:r>
          </a:p>
          <a:p>
            <a:endParaRPr lang="en-US" dirty="0"/>
          </a:p>
          <a:p>
            <a:r>
              <a:rPr lang="en-US" dirty="0"/>
              <a:t>Data exposure.</a:t>
            </a:r>
          </a:p>
          <a:p>
            <a:endParaRPr lang="en-US" dirty="0"/>
          </a:p>
          <a:p>
            <a:r>
              <a:rPr lang="en-US" dirty="0"/>
              <a:t>Error handling.</a:t>
            </a:r>
          </a:p>
          <a:p>
            <a:endParaRPr lang="en-US" dirty="0"/>
          </a:p>
          <a:p>
            <a:r>
              <a:rPr lang="en-US" dirty="0"/>
              <a:t>Secure transport.</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INSPECT</a:t>
            </a:r>
          </a:p>
          <a:p>
            <a:endParaRPr lang="en-US" dirty="0"/>
          </a:p>
          <a:p>
            <a:r>
              <a:rPr lang="en-US" dirty="0"/>
              <a:t>↓</a:t>
            </a:r>
          </a:p>
          <a:p>
            <a:endParaRPr lang="en-US" dirty="0"/>
          </a:p>
          <a:p>
            <a:r>
              <a:rPr lang="en-US" dirty="0"/>
              <a:t>IDENTIFY</a:t>
            </a:r>
          </a:p>
          <a:p>
            <a:endParaRPr lang="en-US" dirty="0"/>
          </a:p>
          <a:p>
            <a:r>
              <a:rPr lang="en-US" dirty="0"/>
              <a:t>↓</a:t>
            </a:r>
          </a:p>
          <a:p>
            <a:endParaRPr lang="en-US" dirty="0"/>
          </a:p>
          <a:p>
            <a:r>
              <a:rPr lang="en-US" dirty="0"/>
              <a:t>FIX</a:t>
            </a:r>
          </a:p>
          <a:p>
            <a:endParaRPr lang="en-US" dirty="0"/>
          </a:p>
          <a:p>
            <a:r>
              <a:rPr lang="en-US" dirty="0"/>
              <a:t>↓</a:t>
            </a:r>
          </a:p>
          <a:p>
            <a:endParaRPr lang="en-US" dirty="0"/>
          </a:p>
          <a:p>
            <a:r>
              <a:rPr lang="en-US" dirty="0"/>
              <a:t>TEST</a:t>
            </a:r>
          </a:p>
          <a:p>
            <a:endParaRPr lang="en-US" dirty="0"/>
          </a:p>
          <a:p>
            <a:r>
              <a:rPr lang="en-US" dirty="0"/>
              <a:t>↓</a:t>
            </a:r>
          </a:p>
          <a:p>
            <a:endParaRPr lang="en-US" dirty="0"/>
          </a:p>
          <a:p>
            <a:r>
              <a:rPr lang="en-US" dirty="0"/>
              <a:t>VERIFY</a:t>
            </a:r>
          </a:p>
          <a:p>
            <a:endParaRPr lang="en-US" dirty="0"/>
          </a:p>
          <a:p>
            <a:r>
              <a:rPr lang="en-US" dirty="0"/>
              <a:t>Then:</a:t>
            </a:r>
          </a:p>
          <a:p>
            <a:endParaRPr lang="en-US" dirty="0"/>
          </a:p>
          <a:p>
            <a:r>
              <a:rPr lang="en-US" dirty="0"/>
              <a:t>"Security requires evidence."</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"We don't build security into Atlas by saying it's secure."</a:t>
            </a:r>
          </a:p>
          <a:p>
            <a:endParaRPr lang="en-US" dirty="0"/>
          </a:p>
          <a:p>
            <a:r>
              <a:rPr lang="en-US" dirty="0"/>
              <a:t>"We build it by identifying risks..."</a:t>
            </a:r>
          </a:p>
          <a:p>
            <a:endParaRPr lang="en-US" dirty="0"/>
          </a:p>
          <a:p>
            <a:r>
              <a:rPr lang="en-US" dirty="0"/>
              <a:t>"...fixing them..."</a:t>
            </a:r>
          </a:p>
          <a:p>
            <a:endParaRPr lang="en-US" dirty="0"/>
          </a:p>
          <a:p>
            <a:r>
              <a:rPr lang="en-US" dirty="0"/>
              <a:t>"...and proving the protections work."</a:t>
            </a:r>
          </a:p>
          <a:p>
            <a:endParaRPr lang="en-US" dirty="0"/>
          </a:p>
          <a:p>
            <a:r>
              <a:rPr lang="en-US" dirty="0"/>
              <a:t>"Next..."</a:t>
            </a:r>
          </a:p>
          <a:p>
            <a:endParaRPr lang="en-US" dirty="0"/>
          </a:p>
          <a:p>
            <a:r>
              <a:rPr lang="en-US" dirty="0"/>
              <a:t>"We're going to try to break Atlas."</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4</a:t>
            </a:fld>
            <a:endParaRPr lang="en-US"/>
          </a:p>
        </p:txBody>
      </p:sp>
    </p:spTree>
    <p:extLst>
      <p:ext uri="{BB962C8B-B14F-4D97-AF65-F5344CB8AC3E}">
        <p14:creationId xmlns:p14="http://schemas.microsoft.com/office/powerpoint/2010/main" val="4111478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BREAK IT BEFORE SOMEONE ELSE DOES</a:t>
            </a:r>
          </a:p>
          <a:p>
            <a:endParaRPr lang="en-US" dirty="0"/>
          </a:p>
          <a:p>
            <a:r>
              <a:rPr lang="en-US" dirty="0"/>
              <a:t>"Think like an attacker. Test like an engineer."</a:t>
            </a:r>
          </a:p>
          <a:p>
            <a:endParaRPr lang="en-US" dirty="0"/>
          </a:p>
          <a:p>
            <a:r>
              <a:rPr lang="en-US" dirty="0"/>
              <a:t>============================================================</a:t>
            </a:r>
          </a:p>
          <a:p>
            <a:endParaRPr lang="en-US" dirty="0"/>
          </a:p>
          <a:p>
            <a:r>
              <a:rPr lang="en-US" dirty="0"/>
              <a:t>SLIDE PURPOSE</a:t>
            </a:r>
          </a:p>
          <a:p>
            <a:endParaRPr lang="en-US" dirty="0"/>
          </a:p>
          <a:p>
            <a:r>
              <a:rPr lang="en-US" dirty="0"/>
              <a:t>Teach students to test the security protections they have added to</a:t>
            </a:r>
          </a:p>
          <a:p>
            <a:r>
              <a:rPr lang="en-US" dirty="0"/>
              <a:t>Atlas </a:t>
            </a:r>
            <a:r>
              <a:rPr lang="en-US" dirty="0" err="1"/>
              <a:t>TaskFlow</a:t>
            </a:r>
            <a:r>
              <a:rPr lang="en-US" dirty="0"/>
              <a:t> by deliberately attempting controlled, authorized</a:t>
            </a:r>
          </a:p>
          <a:p>
            <a:r>
              <a:rPr lang="en-US" dirty="0"/>
              <a:t>misuse of their own application.</a:t>
            </a:r>
          </a:p>
          <a:p>
            <a:endParaRPr lang="en-US" dirty="0"/>
          </a:p>
          <a:p>
            <a:r>
              <a:rPr lang="en-US" dirty="0"/>
              <a:t>Students should learn to:</a:t>
            </a:r>
          </a:p>
          <a:p>
            <a:endParaRPr lang="en-US" dirty="0"/>
          </a:p>
          <a:p>
            <a:r>
              <a:rPr lang="en-US" dirty="0"/>
              <a:t>• Think about attack surfaces</a:t>
            </a:r>
          </a:p>
          <a:p>
            <a:r>
              <a:rPr lang="en-US" dirty="0"/>
              <a:t>• Test security assumptions</a:t>
            </a:r>
          </a:p>
          <a:p>
            <a:r>
              <a:rPr lang="en-US" dirty="0"/>
              <a:t>• Identify weaknesses</a:t>
            </a:r>
          </a:p>
          <a:p>
            <a:r>
              <a:rPr lang="en-US" dirty="0"/>
              <a:t>• Document findings</a:t>
            </a:r>
          </a:p>
          <a:p>
            <a:r>
              <a:rPr lang="en-US" dirty="0"/>
              <a:t>• Assess impact</a:t>
            </a:r>
          </a:p>
          <a:p>
            <a:r>
              <a:rPr lang="en-US" dirty="0"/>
              <a:t>• Fix vulnerabilities</a:t>
            </a:r>
          </a:p>
          <a:p>
            <a:r>
              <a:rPr lang="en-US" dirty="0"/>
              <a:t>• Retest the application</a:t>
            </a:r>
          </a:p>
          <a:p>
            <a:r>
              <a:rPr lang="en-US" dirty="0"/>
              <a:t>• Understand that security requires evidence</a:t>
            </a:r>
          </a:p>
          <a:p>
            <a:endParaRPr lang="en-US" dirty="0"/>
          </a:p>
          <a:p>
            <a:r>
              <a:rPr lang="en-US" dirty="0"/>
              <a:t>The emphasis is on defensive security testing of their own Atlas</a:t>
            </a:r>
          </a:p>
          <a:p>
            <a:r>
              <a:rPr lang="en-US" dirty="0" err="1"/>
              <a:t>TaskFlow</a:t>
            </a:r>
            <a:r>
              <a:rPr lang="en-US" dirty="0"/>
              <a:t> application.</a:t>
            </a:r>
          </a:p>
          <a:p>
            <a:endParaRPr lang="en-US" dirty="0"/>
          </a:p>
          <a:p>
            <a:r>
              <a:rPr lang="en-US" dirty="0"/>
              <a:t>This is NOT an offensive cybersecurity course.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 just spent time protecting Atlas."</a:t>
            </a:r>
          </a:p>
          <a:p>
            <a:endParaRPr lang="en-US" dirty="0"/>
          </a:p>
          <a:p>
            <a:r>
              <a:rPr lang="en-US" dirty="0"/>
              <a:t>"We added authentication."</a:t>
            </a:r>
          </a:p>
          <a:p>
            <a:endParaRPr lang="en-US" dirty="0"/>
          </a:p>
          <a:p>
            <a:r>
              <a:rPr lang="en-US" dirty="0"/>
              <a:t>"We added authorization."</a:t>
            </a:r>
          </a:p>
          <a:p>
            <a:endParaRPr lang="en-US" dirty="0"/>
          </a:p>
          <a:p>
            <a:r>
              <a:rPr lang="en-US" dirty="0"/>
              <a:t>"We protected data."</a:t>
            </a:r>
          </a:p>
          <a:p>
            <a:endParaRPr lang="en-US" dirty="0"/>
          </a:p>
          <a:p>
            <a:r>
              <a:rPr lang="en-US" dirty="0"/>
              <a:t>"We secured configuration."</a:t>
            </a:r>
          </a:p>
          <a:p>
            <a:endParaRPr lang="en-US" dirty="0"/>
          </a:p>
          <a:p>
            <a:r>
              <a:rPr lang="en-US" dirty="0"/>
              <a:t>Pause.</a:t>
            </a:r>
          </a:p>
          <a:p>
            <a:endParaRPr lang="en-US" dirty="0"/>
          </a:p>
          <a:p>
            <a:r>
              <a:rPr lang="en-US" dirty="0"/>
              <a:t>"But here's the problem."</a:t>
            </a:r>
          </a:p>
          <a:p>
            <a:endParaRPr lang="en-US" dirty="0"/>
          </a:p>
          <a:p>
            <a:r>
              <a:rPr lang="en-US" dirty="0"/>
              <a:t>"How do we know those protections actually work?"</a:t>
            </a:r>
          </a:p>
          <a:p>
            <a:endParaRPr lang="en-US" dirty="0"/>
          </a:p>
          <a:p>
            <a:r>
              <a:rPr lang="en-US" dirty="0"/>
              <a:t>Point to the title.</a:t>
            </a:r>
          </a:p>
          <a:p>
            <a:endParaRPr lang="en-US" dirty="0"/>
          </a:p>
          <a:p>
            <a:r>
              <a:rPr lang="en-US" dirty="0"/>
              <a:t>"We try to break them."</a:t>
            </a:r>
          </a:p>
          <a:p>
            <a:endParaRPr lang="en-US" dirty="0"/>
          </a:p>
          <a:p>
            <a:r>
              <a:rPr lang="en-US" dirty="0"/>
              <a:t>------------------------------------------------------------</a:t>
            </a:r>
          </a:p>
          <a:p>
            <a:endParaRPr lang="en-US" dirty="0"/>
          </a:p>
          <a:p>
            <a:r>
              <a:rPr lang="en-US" dirty="0"/>
              <a:t>THE ENGINEERING QUESTION</a:t>
            </a:r>
          </a:p>
          <a:p>
            <a:endParaRPr lang="en-US" dirty="0"/>
          </a:p>
          <a:p>
            <a:r>
              <a:rPr lang="en-US" dirty="0"/>
              <a:t>Point to:</a:t>
            </a:r>
          </a:p>
          <a:p>
            <a:endParaRPr lang="en-US" dirty="0"/>
          </a:p>
          <a:p>
            <a:r>
              <a:rPr lang="en-US" dirty="0"/>
              <a:t>"CAN WE BREAK OUR OWN APPLICATION?"</a:t>
            </a:r>
          </a:p>
          <a:p>
            <a:endParaRPr lang="en-US" dirty="0"/>
          </a:p>
          <a:p>
            <a:r>
              <a:rPr lang="en-US" dirty="0"/>
              <a:t>Say:</a:t>
            </a:r>
          </a:p>
          <a:p>
            <a:endParaRPr lang="en-US" dirty="0"/>
          </a:p>
          <a:p>
            <a:r>
              <a:rPr lang="en-US" dirty="0"/>
              <a:t>"If we can find the weakness..."</a:t>
            </a:r>
          </a:p>
          <a:p>
            <a:endParaRPr lang="en-US" dirty="0"/>
          </a:p>
          <a:p>
            <a:r>
              <a:rPr lang="en-US" dirty="0"/>
              <a:t>"We can fix it."</a:t>
            </a:r>
          </a:p>
          <a:p>
            <a:endParaRPr lang="en-US" dirty="0"/>
          </a:p>
          <a:p>
            <a:r>
              <a:rPr lang="en-US" dirty="0"/>
              <a:t>"And if we can fix it before someone else finds it..."</a:t>
            </a:r>
          </a:p>
          <a:p>
            <a:endParaRPr lang="en-US" dirty="0"/>
          </a:p>
          <a:p>
            <a:r>
              <a:rPr lang="en-US" dirty="0"/>
              <a:t>"That's good engineering."</a:t>
            </a:r>
          </a:p>
          <a:p>
            <a:endParaRPr lang="en-US" dirty="0"/>
          </a:p>
          <a:p>
            <a:r>
              <a:rPr lang="en-US" dirty="0"/>
              <a:t>------------------------------------------------------------</a:t>
            </a:r>
          </a:p>
          <a:p>
            <a:endParaRPr lang="en-US" dirty="0"/>
          </a:p>
          <a:p>
            <a:r>
              <a:rPr lang="en-US" dirty="0"/>
              <a:t>IMPORTANT RULE</a:t>
            </a:r>
          </a:p>
          <a:p>
            <a:endParaRPr lang="en-US" dirty="0"/>
          </a:p>
          <a:p>
            <a:r>
              <a:rPr lang="en-US" dirty="0"/>
              <a:t>Before doing anything else, say:</a:t>
            </a:r>
          </a:p>
          <a:p>
            <a:endParaRPr lang="en-US" dirty="0"/>
          </a:p>
          <a:p>
            <a:r>
              <a:rPr lang="en-US" dirty="0"/>
              <a:t>"We are testing systems we own or have explicit permission to test."</a:t>
            </a:r>
          </a:p>
          <a:p>
            <a:endParaRPr lang="en-US" dirty="0"/>
          </a:p>
          <a:p>
            <a:r>
              <a:rPr lang="en-US" dirty="0"/>
              <a:t>"Our target today is Atlas </a:t>
            </a:r>
            <a:r>
              <a:rPr lang="en-US" dirty="0" err="1"/>
              <a:t>TaskFlow</a:t>
            </a:r>
            <a:r>
              <a:rPr lang="en-US" dirty="0"/>
              <a:t>."</a:t>
            </a:r>
          </a:p>
          <a:p>
            <a:endParaRPr lang="en-US" dirty="0"/>
          </a:p>
          <a:p>
            <a:r>
              <a:rPr lang="en-US" dirty="0"/>
              <a:t>"Not someone else's website."</a:t>
            </a:r>
          </a:p>
          <a:p>
            <a:endParaRPr lang="en-US" dirty="0"/>
          </a:p>
          <a:p>
            <a:r>
              <a:rPr lang="en-US" dirty="0"/>
              <a:t>"Not a public system."</a:t>
            </a:r>
          </a:p>
          <a:p>
            <a:endParaRPr lang="en-US" dirty="0"/>
          </a:p>
          <a:p>
            <a:r>
              <a:rPr lang="en-US" dirty="0"/>
              <a:t>"Not a random application."</a:t>
            </a:r>
          </a:p>
          <a:p>
            <a:endParaRPr lang="en-US" dirty="0"/>
          </a:p>
          <a:p>
            <a:r>
              <a:rPr lang="en-US" dirty="0"/>
              <a:t>Explain:</a:t>
            </a:r>
          </a:p>
          <a:p>
            <a:endParaRPr lang="en-US" dirty="0"/>
          </a:p>
          <a:p>
            <a:r>
              <a:rPr lang="en-US" dirty="0"/>
              <a:t>"Security testing without authorization can become harmful or illegal."</a:t>
            </a:r>
          </a:p>
          <a:p>
            <a:endParaRPr lang="en-US" dirty="0"/>
          </a:p>
          <a:p>
            <a:r>
              <a:rPr lang="en-US" dirty="0"/>
              <a:t>"For this class, we stay inside our controlled environment."</a:t>
            </a:r>
          </a:p>
          <a:p>
            <a:endParaRPr lang="en-US" dirty="0"/>
          </a:p>
          <a:p>
            <a:r>
              <a:rPr lang="en-US" dirty="0"/>
              <a:t>------------------------------------------------------------</a:t>
            </a:r>
          </a:p>
          <a:p>
            <a:endParaRPr lang="en-US" dirty="0"/>
          </a:p>
          <a:p>
            <a:r>
              <a:rPr lang="en-US" dirty="0"/>
              <a:t>THE SECURITY TESTING MINDSET</a:t>
            </a:r>
          </a:p>
          <a:p>
            <a:endParaRPr lang="en-US" dirty="0"/>
          </a:p>
          <a:p>
            <a:r>
              <a:rPr lang="en-US" dirty="0"/>
              <a:t>Point to:</a:t>
            </a:r>
          </a:p>
          <a:p>
            <a:endParaRPr lang="en-US" dirty="0"/>
          </a:p>
          <a:p>
            <a:r>
              <a:rPr lang="en-US" dirty="0"/>
              <a:t>"Think like an attacker."</a:t>
            </a:r>
          </a:p>
          <a:p>
            <a:endParaRPr lang="en-US" dirty="0"/>
          </a:p>
          <a:p>
            <a:r>
              <a:rPr lang="en-US" dirty="0"/>
              <a:t>Explain:</a:t>
            </a:r>
          </a:p>
          <a:p>
            <a:endParaRPr lang="en-US" dirty="0"/>
          </a:p>
          <a:p>
            <a:r>
              <a:rPr lang="en-US" dirty="0"/>
              <a:t>"An attacker doesn't care how beautiful our code is."</a:t>
            </a:r>
          </a:p>
          <a:p>
            <a:endParaRPr lang="en-US" dirty="0"/>
          </a:p>
          <a:p>
            <a:r>
              <a:rPr lang="en-US" dirty="0"/>
              <a:t>"They care about what they can access."</a:t>
            </a:r>
          </a:p>
          <a:p>
            <a:endParaRPr lang="en-US" dirty="0"/>
          </a:p>
          <a:p>
            <a:r>
              <a:rPr lang="en-US" dirty="0"/>
              <a:t>"They ask questions like:"</a:t>
            </a:r>
          </a:p>
          <a:p>
            <a:endParaRPr lang="en-US" dirty="0"/>
          </a:p>
          <a:p>
            <a:r>
              <a:rPr lang="en-US" dirty="0"/>
              <a:t>"Can I get somewhere I shouldn't?"</a:t>
            </a:r>
          </a:p>
          <a:p>
            <a:endParaRPr lang="en-US" dirty="0"/>
          </a:p>
          <a:p>
            <a:r>
              <a:rPr lang="en-US" dirty="0"/>
              <a:t>"Can I access someone else's data?"</a:t>
            </a:r>
          </a:p>
          <a:p>
            <a:endParaRPr lang="en-US" dirty="0"/>
          </a:p>
          <a:p>
            <a:r>
              <a:rPr lang="en-US" dirty="0"/>
              <a:t>"Can I perform an action I shouldn't?"</a:t>
            </a:r>
          </a:p>
          <a:p>
            <a:endParaRPr lang="en-US" dirty="0"/>
          </a:p>
          <a:p>
            <a:r>
              <a:rPr lang="en-US" dirty="0"/>
              <a:t>"Can I bypass a rule?"</a:t>
            </a:r>
          </a:p>
          <a:p>
            <a:endParaRPr lang="en-US" dirty="0"/>
          </a:p>
          <a:p>
            <a:r>
              <a:rPr lang="en-US" dirty="0"/>
              <a:t>"Can I make the application behave differently than intended?"</a:t>
            </a:r>
          </a:p>
          <a:p>
            <a:endParaRPr lang="en-US" dirty="0"/>
          </a:p>
          <a:p>
            <a:r>
              <a:rPr lang="en-US" dirty="0"/>
              <a:t>------------------------------------------------------------</a:t>
            </a:r>
          </a:p>
          <a:p>
            <a:endParaRPr lang="en-US" dirty="0"/>
          </a:p>
          <a:p>
            <a:r>
              <a:rPr lang="en-US" dirty="0"/>
              <a:t>OUR APPROACH</a:t>
            </a:r>
          </a:p>
          <a:p>
            <a:endParaRPr lang="en-US" dirty="0"/>
          </a:p>
          <a:p>
            <a:r>
              <a:rPr lang="en-US" dirty="0"/>
              <a:t>Walk through:</a:t>
            </a:r>
          </a:p>
          <a:p>
            <a:endParaRPr lang="en-US" dirty="0"/>
          </a:p>
          <a:p>
            <a:r>
              <a:rPr lang="en-US" dirty="0"/>
              <a:t>RECON</a:t>
            </a:r>
          </a:p>
          <a:p>
            <a:endParaRPr lang="en-US" dirty="0"/>
          </a:p>
          <a:p>
            <a:r>
              <a:rPr lang="en-US" dirty="0"/>
              <a:t>↓</a:t>
            </a:r>
          </a:p>
          <a:p>
            <a:endParaRPr lang="en-US" dirty="0"/>
          </a:p>
          <a:p>
            <a:r>
              <a:rPr lang="en-US" dirty="0"/>
              <a:t>PROBE</a:t>
            </a:r>
          </a:p>
          <a:p>
            <a:endParaRPr lang="en-US" dirty="0"/>
          </a:p>
          <a:p>
            <a:r>
              <a:rPr lang="en-US" dirty="0"/>
              <a:t>↓</a:t>
            </a:r>
          </a:p>
          <a:p>
            <a:endParaRPr lang="en-US" dirty="0"/>
          </a:p>
          <a:p>
            <a:r>
              <a:rPr lang="en-US" dirty="0"/>
              <a:t>EXPLORE</a:t>
            </a:r>
          </a:p>
          <a:p>
            <a:endParaRPr lang="en-US" dirty="0"/>
          </a:p>
          <a:p>
            <a:r>
              <a:rPr lang="en-US" dirty="0"/>
              <a:t>↓</a:t>
            </a:r>
          </a:p>
          <a:p>
            <a:endParaRPr lang="en-US" dirty="0"/>
          </a:p>
          <a:p>
            <a:r>
              <a:rPr lang="en-US" dirty="0"/>
              <a:t>IMPACT</a:t>
            </a:r>
          </a:p>
          <a:p>
            <a:endParaRPr lang="en-US" dirty="0"/>
          </a:p>
          <a:p>
            <a:r>
              <a:rPr lang="en-US" dirty="0"/>
              <a:t>↓</a:t>
            </a:r>
          </a:p>
          <a:p>
            <a:endParaRPr lang="en-US" dirty="0"/>
          </a:p>
          <a:p>
            <a:r>
              <a:rPr lang="en-US" dirty="0"/>
              <a:t>REPORT</a:t>
            </a:r>
          </a:p>
          <a:p>
            <a:endParaRPr lang="en-US" dirty="0"/>
          </a:p>
          <a:p>
            <a:r>
              <a:rPr lang="en-US" dirty="0"/>
              <a:t>↓</a:t>
            </a:r>
          </a:p>
          <a:p>
            <a:endParaRPr lang="en-US" dirty="0"/>
          </a:p>
          <a:p>
            <a:r>
              <a:rPr lang="en-US" dirty="0"/>
              <a:t>FIX &amp; RETEST</a:t>
            </a:r>
          </a:p>
          <a:p>
            <a:endParaRPr lang="en-US" dirty="0"/>
          </a:p>
          <a:p>
            <a:r>
              <a:rPr lang="en-US" dirty="0"/>
              <a:t>Explain each.</a:t>
            </a:r>
          </a:p>
          <a:p>
            <a:endParaRPr lang="en-US" dirty="0"/>
          </a:p>
          <a:p>
            <a:r>
              <a:rPr lang="en-US" dirty="0"/>
              <a:t>------------------------------------------------------------</a:t>
            </a:r>
          </a:p>
          <a:p>
            <a:endParaRPr lang="en-US" dirty="0"/>
          </a:p>
          <a:p>
            <a:r>
              <a:rPr lang="en-US" dirty="0"/>
              <a:t>RECON</a:t>
            </a:r>
          </a:p>
          <a:p>
            <a:endParaRPr lang="en-US" dirty="0"/>
          </a:p>
          <a:p>
            <a:r>
              <a:rPr lang="en-US" dirty="0"/>
              <a:t>"Recon means understanding the system we're testing."</a:t>
            </a:r>
          </a:p>
          <a:p>
            <a:endParaRPr lang="en-US" dirty="0"/>
          </a:p>
          <a:p>
            <a:r>
              <a:rPr lang="en-US" dirty="0"/>
              <a:t>For Atlas, identify:</a:t>
            </a:r>
          </a:p>
          <a:p>
            <a:endParaRPr lang="en-US" dirty="0"/>
          </a:p>
          <a:p>
            <a:r>
              <a:rPr lang="en-US" dirty="0"/>
              <a:t>Pages.</a:t>
            </a:r>
          </a:p>
          <a:p>
            <a:endParaRPr lang="en-US" dirty="0"/>
          </a:p>
          <a:p>
            <a:r>
              <a:rPr lang="en-US" dirty="0"/>
              <a:t>Forms.</a:t>
            </a:r>
          </a:p>
          <a:p>
            <a:endParaRPr lang="en-US" dirty="0"/>
          </a:p>
          <a:p>
            <a:r>
              <a:rPr lang="en-US" dirty="0"/>
              <a:t>Controllers.</a:t>
            </a:r>
          </a:p>
          <a:p>
            <a:endParaRPr lang="en-US" dirty="0"/>
          </a:p>
          <a:p>
            <a:r>
              <a:rPr lang="en-US" dirty="0"/>
              <a:t>User roles.</a:t>
            </a:r>
          </a:p>
          <a:p>
            <a:endParaRPr lang="en-US" dirty="0"/>
          </a:p>
          <a:p>
            <a:r>
              <a:rPr lang="en-US" dirty="0"/>
              <a:t>Resources.</a:t>
            </a:r>
          </a:p>
          <a:p>
            <a:endParaRPr lang="en-US" dirty="0"/>
          </a:p>
          <a:p>
            <a:r>
              <a:rPr lang="en-US" dirty="0"/>
              <a:t>URLs.</a:t>
            </a:r>
          </a:p>
          <a:p>
            <a:endParaRPr lang="en-US" dirty="0"/>
          </a:p>
          <a:p>
            <a:r>
              <a:rPr lang="en-US" dirty="0"/>
              <a:t>Application features.</a:t>
            </a:r>
          </a:p>
          <a:p>
            <a:endParaRPr lang="en-US" dirty="0"/>
          </a:p>
          <a:p>
            <a:r>
              <a:rPr lang="en-US" dirty="0"/>
              <a:t>Explain:</a:t>
            </a:r>
          </a:p>
          <a:p>
            <a:endParaRPr lang="en-US" dirty="0"/>
          </a:p>
          <a:p>
            <a:r>
              <a:rPr lang="en-US" dirty="0"/>
              <a:t>"We're learning the attack surface."</a:t>
            </a:r>
          </a:p>
          <a:p>
            <a:endParaRPr lang="en-US" dirty="0"/>
          </a:p>
          <a:p>
            <a:r>
              <a:rPr lang="en-US" dirty="0"/>
              <a:t>We're not attacking yet.</a:t>
            </a:r>
          </a:p>
          <a:p>
            <a:endParaRPr lang="en-US" dirty="0"/>
          </a:p>
          <a:p>
            <a:r>
              <a:rPr lang="en-US" dirty="0"/>
              <a:t>We're understanding what exists.</a:t>
            </a:r>
          </a:p>
          <a:p>
            <a:endParaRPr lang="en-US" dirty="0"/>
          </a:p>
          <a:p>
            <a:r>
              <a:rPr lang="en-US" dirty="0"/>
              <a:t>------------------------------------------------------------</a:t>
            </a:r>
          </a:p>
          <a:p>
            <a:endParaRPr lang="en-US" dirty="0"/>
          </a:p>
          <a:p>
            <a:r>
              <a:rPr lang="en-US" dirty="0"/>
              <a:t>PROBE</a:t>
            </a:r>
          </a:p>
          <a:p>
            <a:endParaRPr lang="en-US" dirty="0"/>
          </a:p>
          <a:p>
            <a:r>
              <a:rPr lang="en-US" dirty="0"/>
              <a:t>"Now we start asking questions."</a:t>
            </a:r>
          </a:p>
          <a:p>
            <a:endParaRPr lang="en-US" dirty="0"/>
          </a:p>
          <a:p>
            <a:r>
              <a:rPr lang="en-US" dirty="0"/>
              <a:t>Examples:</a:t>
            </a:r>
          </a:p>
          <a:p>
            <a:endParaRPr lang="en-US" dirty="0"/>
          </a:p>
          <a:p>
            <a:r>
              <a:rPr lang="en-US" dirty="0"/>
              <a:t>Can an unauthenticated user reach a protected page?</a:t>
            </a:r>
          </a:p>
          <a:p>
            <a:endParaRPr lang="en-US" dirty="0"/>
          </a:p>
          <a:p>
            <a:r>
              <a:rPr lang="en-US" dirty="0"/>
              <a:t>Can User A access User B's resource?</a:t>
            </a:r>
          </a:p>
          <a:p>
            <a:endParaRPr lang="en-US" dirty="0"/>
          </a:p>
          <a:p>
            <a:r>
              <a:rPr lang="en-US" dirty="0"/>
              <a:t>Can a restricted action be requested directly?</a:t>
            </a:r>
          </a:p>
          <a:p>
            <a:endParaRPr lang="en-US" dirty="0"/>
          </a:p>
          <a:p>
            <a:r>
              <a:rPr lang="en-US" dirty="0"/>
              <a:t>Does changing an identifier expose another record?</a:t>
            </a:r>
          </a:p>
          <a:p>
            <a:endParaRPr lang="en-US" dirty="0"/>
          </a:p>
          <a:p>
            <a:r>
              <a:rPr lang="en-US" dirty="0"/>
              <a:t>Can invalid input get past validation?</a:t>
            </a:r>
          </a:p>
          <a:p>
            <a:endParaRPr lang="en-US" dirty="0"/>
          </a:p>
          <a:p>
            <a:r>
              <a:rPr lang="en-US" dirty="0"/>
              <a:t>Explain:</a:t>
            </a:r>
          </a:p>
          <a:p>
            <a:endParaRPr lang="en-US" dirty="0"/>
          </a:p>
          <a:p>
            <a:r>
              <a:rPr lang="en-US" dirty="0"/>
              <a:t>"We're testing assumptions."</a:t>
            </a:r>
          </a:p>
          <a:p>
            <a:endParaRPr lang="en-US" dirty="0"/>
          </a:p>
          <a:p>
            <a:r>
              <a:rPr lang="en-US" dirty="0"/>
              <a:t>------------------------------------------------------------</a:t>
            </a:r>
          </a:p>
          <a:p>
            <a:endParaRPr lang="en-US" dirty="0"/>
          </a:p>
          <a:p>
            <a:r>
              <a:rPr lang="en-US" dirty="0"/>
              <a:t>EXPLORE</a:t>
            </a:r>
          </a:p>
          <a:p>
            <a:endParaRPr lang="en-US" dirty="0"/>
          </a:p>
          <a:p>
            <a:r>
              <a:rPr lang="en-US" dirty="0"/>
              <a:t>"Once we find something interesting..."</a:t>
            </a:r>
          </a:p>
          <a:p>
            <a:endParaRPr lang="en-US" dirty="0"/>
          </a:p>
          <a:p>
            <a:r>
              <a:rPr lang="en-US" dirty="0"/>
              <a:t>"We investigate."</a:t>
            </a:r>
          </a:p>
          <a:p>
            <a:endParaRPr lang="en-US" dirty="0"/>
          </a:p>
          <a:p>
            <a:r>
              <a:rPr lang="en-US" dirty="0"/>
              <a:t>Example:</a:t>
            </a:r>
          </a:p>
          <a:p>
            <a:endParaRPr lang="en-US" dirty="0"/>
          </a:p>
          <a:p>
            <a:r>
              <a:rPr lang="en-US" dirty="0"/>
              <a:t>Suppose User A shouldn't access Project B.</a:t>
            </a:r>
          </a:p>
          <a:p>
            <a:endParaRPr lang="en-US" dirty="0"/>
          </a:p>
          <a:p>
            <a:r>
              <a:rPr lang="en-US" dirty="0"/>
              <a:t>We test:</a:t>
            </a:r>
          </a:p>
          <a:p>
            <a:endParaRPr lang="en-US" dirty="0"/>
          </a:p>
          <a:p>
            <a:r>
              <a:rPr lang="en-US" dirty="0"/>
              <a:t>Can User A view it?</a:t>
            </a:r>
          </a:p>
          <a:p>
            <a:endParaRPr lang="en-US" dirty="0"/>
          </a:p>
          <a:p>
            <a:r>
              <a:rPr lang="en-US" dirty="0"/>
              <a:t>Can User A edit it?</a:t>
            </a:r>
          </a:p>
          <a:p>
            <a:endParaRPr lang="en-US" dirty="0"/>
          </a:p>
          <a:p>
            <a:r>
              <a:rPr lang="en-US" dirty="0"/>
              <a:t>Can User A delete it?</a:t>
            </a:r>
          </a:p>
          <a:p>
            <a:endParaRPr lang="en-US" dirty="0"/>
          </a:p>
          <a:p>
            <a:r>
              <a:rPr lang="en-US" dirty="0"/>
              <a:t>Can User A access it through another page?</a:t>
            </a:r>
          </a:p>
          <a:p>
            <a:endParaRPr lang="en-US" dirty="0"/>
          </a:p>
          <a:p>
            <a:r>
              <a:rPr lang="en-US" dirty="0"/>
              <a:t>Can User A access it through a direct request?</a:t>
            </a:r>
          </a:p>
          <a:p>
            <a:endParaRPr lang="en-US" dirty="0"/>
          </a:p>
          <a:p>
            <a:r>
              <a:rPr lang="en-US" dirty="0"/>
              <a:t>Explain:</a:t>
            </a:r>
          </a:p>
          <a:p>
            <a:endParaRPr lang="en-US" dirty="0"/>
          </a:p>
          <a:p>
            <a:r>
              <a:rPr lang="en-US" dirty="0"/>
              <a:t>"We want to understand the scope of the weakness."</a:t>
            </a:r>
          </a:p>
          <a:p>
            <a:endParaRPr lang="en-US" dirty="0"/>
          </a:p>
          <a:p>
            <a:r>
              <a:rPr lang="en-US" dirty="0"/>
              <a:t>------------------------------------------------------------</a:t>
            </a:r>
          </a:p>
          <a:p>
            <a:endParaRPr lang="en-US" dirty="0"/>
          </a:p>
          <a:p>
            <a:r>
              <a:rPr lang="en-US" dirty="0"/>
              <a:t>IMPACT</a:t>
            </a:r>
          </a:p>
          <a:p>
            <a:endParaRPr lang="en-US" dirty="0"/>
          </a:p>
          <a:p>
            <a:r>
              <a:rPr lang="en-US" dirty="0"/>
              <a:t>Ask:</a:t>
            </a:r>
          </a:p>
          <a:p>
            <a:endParaRPr lang="en-US" dirty="0"/>
          </a:p>
          <a:p>
            <a:r>
              <a:rPr lang="en-US" dirty="0"/>
              <a:t>"If this weakness were real..."</a:t>
            </a:r>
          </a:p>
          <a:p>
            <a:endParaRPr lang="en-US" dirty="0"/>
          </a:p>
          <a:p>
            <a:r>
              <a:rPr lang="en-US" dirty="0"/>
              <a:t>"What could happen?"</a:t>
            </a:r>
          </a:p>
          <a:p>
            <a:endParaRPr lang="en-US" dirty="0"/>
          </a:p>
          <a:p>
            <a:r>
              <a:rPr lang="en-US" dirty="0"/>
              <a:t>Examples:</a:t>
            </a:r>
          </a:p>
          <a:p>
            <a:endParaRPr lang="en-US" dirty="0"/>
          </a:p>
          <a:p>
            <a:r>
              <a:rPr lang="en-US" dirty="0"/>
              <a:t>Unauthorized data access.</a:t>
            </a:r>
          </a:p>
          <a:p>
            <a:endParaRPr lang="en-US" dirty="0"/>
          </a:p>
          <a:p>
            <a:r>
              <a:rPr lang="en-US" dirty="0"/>
              <a:t>Unauthorized changes.</a:t>
            </a:r>
          </a:p>
          <a:p>
            <a:endParaRPr lang="en-US" dirty="0"/>
          </a:p>
          <a:p>
            <a:r>
              <a:rPr lang="en-US" dirty="0"/>
              <a:t>Data exposure.</a:t>
            </a:r>
          </a:p>
          <a:p>
            <a:endParaRPr lang="en-US" dirty="0"/>
          </a:p>
          <a:p>
            <a:r>
              <a:rPr lang="en-US" dirty="0"/>
              <a:t>Account compromise.</a:t>
            </a:r>
          </a:p>
          <a:p>
            <a:endParaRPr lang="en-US" dirty="0"/>
          </a:p>
          <a:p>
            <a:r>
              <a:rPr lang="en-US" dirty="0"/>
              <a:t>Loss of trust.</a:t>
            </a:r>
          </a:p>
          <a:p>
            <a:endParaRPr lang="en-US" dirty="0"/>
          </a:p>
          <a:p>
            <a:r>
              <a:rPr lang="en-US" dirty="0"/>
              <a:t>Business impact.</a:t>
            </a:r>
          </a:p>
          <a:p>
            <a:endParaRPr lang="en-US" dirty="0"/>
          </a:p>
          <a:p>
            <a:r>
              <a:rPr lang="en-US" dirty="0"/>
              <a:t>Explain:</a:t>
            </a:r>
          </a:p>
          <a:p>
            <a:endParaRPr lang="en-US" dirty="0"/>
          </a:p>
          <a:p>
            <a:r>
              <a:rPr lang="en-US" dirty="0"/>
              <a:t>"Not every vulnerability has the same severity."</a:t>
            </a:r>
          </a:p>
          <a:p>
            <a:endParaRPr lang="en-US" dirty="0"/>
          </a:p>
          <a:p>
            <a:r>
              <a:rPr lang="en-US" dirty="0"/>
              <a:t>------------------------------------------------------------</a:t>
            </a:r>
          </a:p>
          <a:p>
            <a:endParaRPr lang="en-US" dirty="0"/>
          </a:p>
          <a:p>
            <a:r>
              <a:rPr lang="en-US" dirty="0"/>
              <a:t>REPORT</a:t>
            </a:r>
          </a:p>
          <a:p>
            <a:endParaRPr lang="en-US" dirty="0"/>
          </a:p>
          <a:p>
            <a:r>
              <a:rPr lang="en-US" dirty="0"/>
              <a:t>Say:</a:t>
            </a:r>
          </a:p>
          <a:p>
            <a:endParaRPr lang="en-US" dirty="0"/>
          </a:p>
          <a:p>
            <a:r>
              <a:rPr lang="en-US" dirty="0"/>
              <a:t>"If we find something..."</a:t>
            </a:r>
          </a:p>
          <a:p>
            <a:endParaRPr lang="en-US" dirty="0"/>
          </a:p>
          <a:p>
            <a:r>
              <a:rPr lang="en-US" dirty="0"/>
              <a:t>"We document it."</a:t>
            </a:r>
          </a:p>
          <a:p>
            <a:endParaRPr lang="en-US" dirty="0"/>
          </a:p>
          <a:p>
            <a:r>
              <a:rPr lang="en-US" dirty="0"/>
              <a:t>A good finding should answer:</a:t>
            </a:r>
          </a:p>
          <a:p>
            <a:endParaRPr lang="en-US" dirty="0"/>
          </a:p>
          <a:p>
            <a:r>
              <a:rPr lang="en-US" dirty="0"/>
              <a:t>What is wrong?</a:t>
            </a:r>
          </a:p>
          <a:p>
            <a:endParaRPr lang="en-US" dirty="0"/>
          </a:p>
          <a:p>
            <a:r>
              <a:rPr lang="en-US" dirty="0"/>
              <a:t>Where did we find it?</a:t>
            </a:r>
          </a:p>
          <a:p>
            <a:endParaRPr lang="en-US" dirty="0"/>
          </a:p>
          <a:p>
            <a:r>
              <a:rPr lang="en-US" dirty="0"/>
              <a:t>How can we reproduce it?</a:t>
            </a:r>
          </a:p>
          <a:p>
            <a:endParaRPr lang="en-US" dirty="0"/>
          </a:p>
          <a:p>
            <a:r>
              <a:rPr lang="en-US" dirty="0"/>
              <a:t>Who could be affected?</a:t>
            </a:r>
          </a:p>
          <a:p>
            <a:endParaRPr lang="en-US" dirty="0"/>
          </a:p>
          <a:p>
            <a:r>
              <a:rPr lang="en-US" dirty="0"/>
              <a:t>What could happen?</a:t>
            </a:r>
          </a:p>
          <a:p>
            <a:endParaRPr lang="en-US" dirty="0"/>
          </a:p>
          <a:p>
            <a:r>
              <a:rPr lang="en-US" dirty="0"/>
              <a:t>How serious is it?</a:t>
            </a:r>
          </a:p>
          <a:p>
            <a:endParaRPr lang="en-US" dirty="0"/>
          </a:p>
          <a:p>
            <a:r>
              <a:rPr lang="en-US" dirty="0"/>
              <a:t>------------------------------------------------------------</a:t>
            </a:r>
          </a:p>
          <a:p>
            <a:endParaRPr lang="en-US" dirty="0"/>
          </a:p>
          <a:p>
            <a:r>
              <a:rPr lang="en-US" dirty="0"/>
              <a:t>FIX</a:t>
            </a:r>
          </a:p>
          <a:p>
            <a:endParaRPr lang="en-US" dirty="0"/>
          </a:p>
          <a:p>
            <a:r>
              <a:rPr lang="en-US" dirty="0"/>
              <a:t>Then:</a:t>
            </a:r>
          </a:p>
          <a:p>
            <a:endParaRPr lang="en-US" dirty="0"/>
          </a:p>
          <a:p>
            <a:r>
              <a:rPr lang="en-US" dirty="0"/>
              <a:t>"We fix it."</a:t>
            </a:r>
          </a:p>
          <a:p>
            <a:endParaRPr lang="en-US" dirty="0"/>
          </a:p>
          <a:p>
            <a:r>
              <a:rPr lang="en-US" dirty="0"/>
              <a:t>Examples:</a:t>
            </a:r>
          </a:p>
          <a:p>
            <a:endParaRPr lang="en-US" dirty="0"/>
          </a:p>
          <a:p>
            <a:r>
              <a:rPr lang="en-US" dirty="0"/>
              <a:t>Add authorization.</a:t>
            </a:r>
          </a:p>
          <a:p>
            <a:endParaRPr lang="en-US" dirty="0"/>
          </a:p>
          <a:p>
            <a:r>
              <a:rPr lang="en-US" dirty="0"/>
              <a:t>Correct ownership checks.</a:t>
            </a:r>
          </a:p>
          <a:p>
            <a:endParaRPr lang="en-US" dirty="0"/>
          </a:p>
          <a:p>
            <a:r>
              <a:rPr lang="en-US" dirty="0"/>
              <a:t>Improve validation.</a:t>
            </a:r>
          </a:p>
          <a:p>
            <a:endParaRPr lang="en-US" dirty="0"/>
          </a:p>
          <a:p>
            <a:r>
              <a:rPr lang="en-US" dirty="0"/>
              <a:t>Remove exposed secrets.</a:t>
            </a:r>
          </a:p>
          <a:p>
            <a:endParaRPr lang="en-US" dirty="0"/>
          </a:p>
          <a:p>
            <a:r>
              <a:rPr lang="en-US" dirty="0"/>
              <a:t>Improve configuration.</a:t>
            </a:r>
          </a:p>
          <a:p>
            <a:endParaRPr lang="en-US" dirty="0"/>
          </a:p>
          <a:p>
            <a:r>
              <a:rPr lang="en-US" dirty="0"/>
              <a:t>Protect sensitive information.</a:t>
            </a:r>
          </a:p>
          <a:p>
            <a:endParaRPr lang="en-US" dirty="0"/>
          </a:p>
          <a:p>
            <a:r>
              <a:rPr lang="en-US" dirty="0"/>
              <a:t>------------------------------------------------------------</a:t>
            </a:r>
          </a:p>
          <a:p>
            <a:endParaRPr lang="en-US" dirty="0"/>
          </a:p>
          <a:p>
            <a:r>
              <a:rPr lang="en-US" dirty="0"/>
              <a:t>RETEST</a:t>
            </a:r>
          </a:p>
          <a:p>
            <a:endParaRPr lang="en-US" dirty="0"/>
          </a:p>
          <a:p>
            <a:r>
              <a:rPr lang="en-US" dirty="0"/>
              <a:t>Point to:</a:t>
            </a:r>
          </a:p>
          <a:p>
            <a:endParaRPr lang="en-US" dirty="0"/>
          </a:p>
          <a:p>
            <a:r>
              <a:rPr lang="en-US" dirty="0"/>
              <a:t>FIX → RETEST</a:t>
            </a:r>
          </a:p>
          <a:p>
            <a:endParaRPr lang="en-US" dirty="0"/>
          </a:p>
          <a:p>
            <a:r>
              <a:rPr lang="en-US" dirty="0"/>
              <a:t>Say:</a:t>
            </a:r>
          </a:p>
          <a:p>
            <a:endParaRPr lang="en-US" dirty="0"/>
          </a:p>
          <a:p>
            <a:r>
              <a:rPr lang="en-US" dirty="0"/>
              <a:t>"This step is critical."</a:t>
            </a:r>
          </a:p>
          <a:p>
            <a:endParaRPr lang="en-US" dirty="0"/>
          </a:p>
          <a:p>
            <a:r>
              <a:rPr lang="en-US" dirty="0"/>
              <a:t>"After fixing a vulnerability..."</a:t>
            </a:r>
          </a:p>
          <a:p>
            <a:endParaRPr lang="en-US" dirty="0"/>
          </a:p>
          <a:p>
            <a:r>
              <a:rPr lang="en-US" dirty="0"/>
              <a:t>"We perform the same test again."</a:t>
            </a:r>
          </a:p>
          <a:p>
            <a:endParaRPr lang="en-US" dirty="0"/>
          </a:p>
          <a:p>
            <a:r>
              <a:rPr lang="en-US" dirty="0"/>
              <a:t>Ask:</a:t>
            </a:r>
          </a:p>
          <a:p>
            <a:endParaRPr lang="en-US" dirty="0"/>
          </a:p>
          <a:p>
            <a:r>
              <a:rPr lang="en-US" dirty="0"/>
              <a:t>"Why?"</a:t>
            </a:r>
          </a:p>
          <a:p>
            <a:endParaRPr lang="en-US" dirty="0"/>
          </a:p>
          <a:p>
            <a:r>
              <a:rPr lang="en-US" dirty="0"/>
              <a:t>Because:</a:t>
            </a:r>
          </a:p>
          <a:p>
            <a:endParaRPr lang="en-US" dirty="0"/>
          </a:p>
          <a:p>
            <a:r>
              <a:rPr lang="en-US" dirty="0"/>
              <a:t>"We need evidence that the fix actually worked."</a:t>
            </a:r>
          </a:p>
          <a:p>
            <a:endParaRPr lang="en-US" dirty="0"/>
          </a:p>
          <a:p>
            <a:r>
              <a:rPr lang="en-US" dirty="0"/>
              <a:t>------------------------------------------------------------</a:t>
            </a:r>
          </a:p>
          <a:p>
            <a:endParaRPr lang="en-US" dirty="0"/>
          </a:p>
          <a:p>
            <a:r>
              <a:rPr lang="en-US" dirty="0"/>
              <a:t>ATTACK SURFACE — AUTHENTICATION</a:t>
            </a:r>
          </a:p>
          <a:p>
            <a:endParaRPr lang="en-US" dirty="0"/>
          </a:p>
          <a:p>
            <a:r>
              <a:rPr lang="en-US" dirty="0"/>
              <a:t>Point to Authentication.</a:t>
            </a:r>
          </a:p>
          <a:p>
            <a:endParaRPr lang="en-US" dirty="0"/>
          </a:p>
          <a:p>
            <a:r>
              <a:rPr lang="en-US" dirty="0"/>
              <a:t>Ask:</a:t>
            </a:r>
          </a:p>
          <a:p>
            <a:endParaRPr lang="en-US" dirty="0"/>
          </a:p>
          <a:p>
            <a:r>
              <a:rPr lang="en-US" dirty="0"/>
              <a:t>"What can we test?"</a:t>
            </a:r>
          </a:p>
          <a:p>
            <a:endParaRPr lang="en-US" dirty="0"/>
          </a:p>
          <a:p>
            <a:r>
              <a:rPr lang="en-US" dirty="0"/>
              <a:t>Students may identify:</a:t>
            </a:r>
          </a:p>
          <a:p>
            <a:endParaRPr lang="en-US" dirty="0"/>
          </a:p>
          <a:p>
            <a:r>
              <a:rPr lang="en-US" dirty="0"/>
              <a:t>Login.</a:t>
            </a:r>
          </a:p>
          <a:p>
            <a:endParaRPr lang="en-US" dirty="0"/>
          </a:p>
          <a:p>
            <a:r>
              <a:rPr lang="en-US" dirty="0"/>
              <a:t>Logout.</a:t>
            </a:r>
          </a:p>
          <a:p>
            <a:endParaRPr lang="en-US" dirty="0"/>
          </a:p>
          <a:p>
            <a:r>
              <a:rPr lang="en-US" dirty="0"/>
              <a:t>Password behavior.</a:t>
            </a:r>
          </a:p>
          <a:p>
            <a:endParaRPr lang="en-US" dirty="0"/>
          </a:p>
          <a:p>
            <a:r>
              <a:rPr lang="en-US" dirty="0"/>
              <a:t>Protected pages.</a:t>
            </a:r>
          </a:p>
          <a:p>
            <a:endParaRPr lang="en-US" dirty="0"/>
          </a:p>
          <a:p>
            <a:r>
              <a:rPr lang="en-US" dirty="0"/>
              <a:t>Authentication state.</a:t>
            </a:r>
          </a:p>
          <a:p>
            <a:endParaRPr lang="en-US" dirty="0"/>
          </a:p>
          <a:p>
            <a:r>
              <a:rPr lang="en-US" dirty="0"/>
              <a:t>Then ask:</a:t>
            </a:r>
          </a:p>
          <a:p>
            <a:endParaRPr lang="en-US" dirty="0"/>
          </a:p>
          <a:p>
            <a:r>
              <a:rPr lang="en-US" dirty="0"/>
              <a:t>"What could go wrong?"</a:t>
            </a:r>
          </a:p>
          <a:p>
            <a:endParaRPr lang="en-US" dirty="0"/>
          </a:p>
          <a:p>
            <a:r>
              <a:rPr lang="en-US" dirty="0"/>
              <a:t>Examples:</a:t>
            </a:r>
          </a:p>
          <a:p>
            <a:endParaRPr lang="en-US" dirty="0"/>
          </a:p>
          <a:p>
            <a:r>
              <a:rPr lang="en-US" dirty="0"/>
              <a:t>Protected page accessible without login.</a:t>
            </a:r>
          </a:p>
          <a:p>
            <a:endParaRPr lang="en-US" dirty="0"/>
          </a:p>
          <a:p>
            <a:r>
              <a:rPr lang="en-US" dirty="0"/>
              <a:t>Login state not cleared properly.</a:t>
            </a:r>
          </a:p>
          <a:p>
            <a:endParaRPr lang="en-US" dirty="0"/>
          </a:p>
          <a:p>
            <a:r>
              <a:rPr lang="en-US" dirty="0"/>
              <a:t>Authentication rules not enforced.</a:t>
            </a:r>
          </a:p>
          <a:p>
            <a:endParaRPr lang="en-US" dirty="0"/>
          </a:p>
          <a:p>
            <a:r>
              <a:rPr lang="en-US" dirty="0"/>
              <a:t>Explain:</a:t>
            </a:r>
          </a:p>
          <a:p>
            <a:endParaRPr lang="en-US" dirty="0"/>
          </a:p>
          <a:p>
            <a:r>
              <a:rPr lang="en-US" dirty="0"/>
              <a:t>"We are testing behavior, not trying to steal credentials."</a:t>
            </a:r>
          </a:p>
          <a:p>
            <a:endParaRPr lang="en-US" dirty="0"/>
          </a:p>
          <a:p>
            <a:r>
              <a:rPr lang="en-US" dirty="0"/>
              <a:t>------------------------------------------------------------</a:t>
            </a:r>
          </a:p>
          <a:p>
            <a:endParaRPr lang="en-US" dirty="0"/>
          </a:p>
          <a:p>
            <a:r>
              <a:rPr lang="en-US" dirty="0"/>
              <a:t>AUTHENTICATION TEST</a:t>
            </a:r>
          </a:p>
          <a:p>
            <a:endParaRPr lang="en-US" dirty="0"/>
          </a:p>
          <a:p>
            <a:r>
              <a:rPr lang="en-US" dirty="0"/>
              <a:t>Scenario:</a:t>
            </a:r>
          </a:p>
          <a:p>
            <a:endParaRPr lang="en-US" dirty="0"/>
          </a:p>
          <a:p>
            <a:r>
              <a:rPr lang="en-US" dirty="0"/>
              <a:t>User is not logged in.</a:t>
            </a:r>
          </a:p>
          <a:p>
            <a:endParaRPr lang="en-US" dirty="0"/>
          </a:p>
          <a:p>
            <a:r>
              <a:rPr lang="en-US" dirty="0"/>
              <a:t>Attempt to access a protected Atlas page.</a:t>
            </a:r>
          </a:p>
          <a:p>
            <a:endParaRPr lang="en-US" dirty="0"/>
          </a:p>
          <a:p>
            <a:r>
              <a:rPr lang="en-US" dirty="0"/>
              <a:t>Expected:</a:t>
            </a:r>
          </a:p>
          <a:p>
            <a:endParaRPr lang="en-US" dirty="0"/>
          </a:p>
          <a:p>
            <a:r>
              <a:rPr lang="en-US" dirty="0"/>
              <a:t>Access denied or redirected to login.</a:t>
            </a:r>
          </a:p>
          <a:p>
            <a:endParaRPr lang="en-US" dirty="0"/>
          </a:p>
          <a:p>
            <a:r>
              <a:rPr lang="en-US" dirty="0"/>
              <a:t>Then:</a:t>
            </a:r>
          </a:p>
          <a:p>
            <a:endParaRPr lang="en-US" dirty="0"/>
          </a:p>
          <a:p>
            <a:r>
              <a:rPr lang="en-US" dirty="0"/>
              <a:t>Log in correctly.</a:t>
            </a:r>
          </a:p>
          <a:p>
            <a:endParaRPr lang="en-US" dirty="0"/>
          </a:p>
          <a:p>
            <a:r>
              <a:rPr lang="en-US" dirty="0"/>
              <a:t>Access the page.</a:t>
            </a:r>
          </a:p>
          <a:p>
            <a:endParaRPr lang="en-US" dirty="0"/>
          </a:p>
          <a:p>
            <a:r>
              <a:rPr lang="en-US" dirty="0"/>
              <a:t>Expected:</a:t>
            </a:r>
          </a:p>
          <a:p>
            <a:endParaRPr lang="en-US" dirty="0"/>
          </a:p>
          <a:p>
            <a:r>
              <a:rPr lang="en-US" dirty="0"/>
              <a:t>Access allowed.</a:t>
            </a:r>
          </a:p>
          <a:p>
            <a:endParaRPr lang="en-US" dirty="0"/>
          </a:p>
          <a:p>
            <a:r>
              <a:rPr lang="en-US" dirty="0"/>
              <a:t>This gives us both sides:</a:t>
            </a:r>
          </a:p>
          <a:p>
            <a:endParaRPr lang="en-US" dirty="0"/>
          </a:p>
          <a:p>
            <a:r>
              <a:rPr lang="en-US" dirty="0"/>
              <a:t>DENY</a:t>
            </a:r>
          </a:p>
          <a:p>
            <a:endParaRPr lang="en-US" dirty="0"/>
          </a:p>
          <a:p>
            <a:r>
              <a:rPr lang="en-US" dirty="0"/>
              <a:t>and</a:t>
            </a:r>
          </a:p>
          <a:p>
            <a:endParaRPr lang="en-US" dirty="0"/>
          </a:p>
          <a:p>
            <a:r>
              <a:rPr lang="en-US" dirty="0"/>
              <a:t>ALLOW.</a:t>
            </a:r>
          </a:p>
          <a:p>
            <a:endParaRPr lang="en-US" dirty="0"/>
          </a:p>
          <a:p>
            <a:r>
              <a:rPr lang="en-US" dirty="0"/>
              <a:t>------------------------------------------------------------</a:t>
            </a:r>
          </a:p>
          <a:p>
            <a:endParaRPr lang="en-US" dirty="0"/>
          </a:p>
          <a:p>
            <a:r>
              <a:rPr lang="en-US" dirty="0"/>
              <a:t>AUTHORIZATION — USER A VS USER B</a:t>
            </a:r>
          </a:p>
          <a:p>
            <a:endParaRPr lang="en-US" dirty="0"/>
          </a:p>
          <a:p>
            <a:r>
              <a:rPr lang="en-US" dirty="0"/>
              <a:t>Point to Authorization.</a:t>
            </a:r>
          </a:p>
          <a:p>
            <a:endParaRPr lang="en-US" dirty="0"/>
          </a:p>
          <a:p>
            <a:r>
              <a:rPr lang="en-US" dirty="0"/>
              <a:t>Set up:</a:t>
            </a:r>
          </a:p>
          <a:p>
            <a:endParaRPr lang="en-US" dirty="0"/>
          </a:p>
          <a:p>
            <a:r>
              <a:rPr lang="en-US" dirty="0"/>
              <a:t>User A</a:t>
            </a:r>
          </a:p>
          <a:p>
            <a:endParaRPr lang="en-US" dirty="0"/>
          </a:p>
          <a:p>
            <a:r>
              <a:rPr lang="en-US" dirty="0"/>
              <a:t>User B</a:t>
            </a:r>
          </a:p>
          <a:p>
            <a:endParaRPr lang="en-US" dirty="0"/>
          </a:p>
          <a:p>
            <a:r>
              <a:rPr lang="en-US" dirty="0"/>
              <a:t>Project A</a:t>
            </a:r>
          </a:p>
          <a:p>
            <a:endParaRPr lang="en-US" dirty="0"/>
          </a:p>
          <a:p>
            <a:r>
              <a:rPr lang="en-US" dirty="0"/>
              <a:t>Project B</a:t>
            </a:r>
          </a:p>
          <a:p>
            <a:endParaRPr lang="en-US" dirty="0"/>
          </a:p>
          <a:p>
            <a:r>
              <a:rPr lang="en-US" dirty="0"/>
              <a:t>Ask:</a:t>
            </a:r>
          </a:p>
          <a:p>
            <a:endParaRPr lang="en-US" dirty="0"/>
          </a:p>
          <a:p>
            <a:r>
              <a:rPr lang="en-US" dirty="0"/>
              <a:t>"Can User A access User B's project?"</a:t>
            </a:r>
          </a:p>
          <a:p>
            <a:endParaRPr lang="en-US" dirty="0"/>
          </a:p>
          <a:p>
            <a:r>
              <a:rPr lang="en-US" dirty="0"/>
              <a:t>Expected:</a:t>
            </a:r>
          </a:p>
          <a:p>
            <a:endParaRPr lang="en-US" dirty="0"/>
          </a:p>
          <a:p>
            <a:r>
              <a:rPr lang="en-US" dirty="0"/>
              <a:t>No.</a:t>
            </a:r>
          </a:p>
          <a:p>
            <a:endParaRPr lang="en-US" dirty="0"/>
          </a:p>
          <a:p>
            <a:r>
              <a:rPr lang="en-US" dirty="0"/>
              <a:t>Then test:</a:t>
            </a:r>
          </a:p>
          <a:p>
            <a:endParaRPr lang="en-US" dirty="0"/>
          </a:p>
          <a:p>
            <a:r>
              <a:rPr lang="en-US" dirty="0"/>
              <a:t>View.</a:t>
            </a:r>
          </a:p>
          <a:p>
            <a:endParaRPr lang="en-US" dirty="0"/>
          </a:p>
          <a:p>
            <a:r>
              <a:rPr lang="en-US" dirty="0"/>
              <a:t>Edit.</a:t>
            </a:r>
          </a:p>
          <a:p>
            <a:endParaRPr lang="en-US" dirty="0"/>
          </a:p>
          <a:p>
            <a:r>
              <a:rPr lang="en-US" dirty="0"/>
              <a:t>Delete.</a:t>
            </a:r>
          </a:p>
          <a:p>
            <a:endParaRPr lang="en-US" dirty="0"/>
          </a:p>
          <a:p>
            <a:r>
              <a:rPr lang="en-US" dirty="0"/>
              <a:t>Explain:</a:t>
            </a:r>
          </a:p>
          <a:p>
            <a:endParaRPr lang="en-US" dirty="0"/>
          </a:p>
          <a:p>
            <a:r>
              <a:rPr lang="en-US" dirty="0"/>
              <a:t>"We're testing whether authorization applies to every relevant</a:t>
            </a:r>
          </a:p>
          <a:p>
            <a:r>
              <a:rPr lang="en-US" dirty="0"/>
              <a:t>operation."</a:t>
            </a:r>
          </a:p>
          <a:p>
            <a:endParaRPr lang="en-US" dirty="0"/>
          </a:p>
          <a:p>
            <a:r>
              <a:rPr lang="en-US" dirty="0"/>
              <a:t>------------------------------------------------------------</a:t>
            </a:r>
          </a:p>
          <a:p>
            <a:endParaRPr lang="en-US" dirty="0"/>
          </a:p>
          <a:p>
            <a:r>
              <a:rPr lang="en-US" dirty="0"/>
              <a:t>IDOR / DIRECT OBJECT ACCESS</a:t>
            </a:r>
          </a:p>
          <a:p>
            <a:endParaRPr lang="en-US" dirty="0"/>
          </a:p>
          <a:p>
            <a:r>
              <a:rPr lang="en-US" dirty="0"/>
              <a:t>Introduce the term carefully.</a:t>
            </a:r>
          </a:p>
          <a:p>
            <a:endParaRPr lang="en-US" dirty="0"/>
          </a:p>
          <a:p>
            <a:r>
              <a:rPr lang="en-US" dirty="0"/>
              <a:t>"Sometimes applications identify resources with an ID."</a:t>
            </a:r>
          </a:p>
          <a:p>
            <a:endParaRPr lang="en-US" dirty="0"/>
          </a:p>
          <a:p>
            <a:r>
              <a:rPr lang="en-US" dirty="0"/>
              <a:t>For example:</a:t>
            </a:r>
          </a:p>
          <a:p>
            <a:endParaRPr lang="en-US" dirty="0"/>
          </a:p>
          <a:p>
            <a:r>
              <a:rPr lang="en-US" dirty="0"/>
              <a:t>Project 42.</a:t>
            </a:r>
          </a:p>
          <a:p>
            <a:endParaRPr lang="en-US" dirty="0"/>
          </a:p>
          <a:p>
            <a:r>
              <a:rPr lang="en-US" dirty="0"/>
              <a:t>Task 108.</a:t>
            </a:r>
          </a:p>
          <a:p>
            <a:endParaRPr lang="en-US" dirty="0"/>
          </a:p>
          <a:p>
            <a:r>
              <a:rPr lang="en-US" dirty="0"/>
              <a:t>Explain:</a:t>
            </a:r>
          </a:p>
          <a:p>
            <a:endParaRPr lang="en-US" dirty="0"/>
          </a:p>
          <a:p>
            <a:r>
              <a:rPr lang="en-US" dirty="0"/>
              <a:t>"A dangerous assumption is that knowing an ID means you're allowed to</a:t>
            </a:r>
          </a:p>
          <a:p>
            <a:r>
              <a:rPr lang="en-US" dirty="0"/>
              <a:t>access that resource."</a:t>
            </a:r>
          </a:p>
          <a:p>
            <a:endParaRPr lang="en-US" dirty="0"/>
          </a:p>
          <a:p>
            <a:r>
              <a:rPr lang="en-US" dirty="0"/>
              <a:t>The test is:</a:t>
            </a:r>
          </a:p>
          <a:p>
            <a:endParaRPr lang="en-US" dirty="0"/>
          </a:p>
          <a:p>
            <a:r>
              <a:rPr lang="en-US" dirty="0"/>
              <a:t>"Does the server verify ownership or authorization?"</a:t>
            </a:r>
          </a:p>
          <a:p>
            <a:endParaRPr lang="en-US" dirty="0"/>
          </a:p>
          <a:p>
            <a:r>
              <a:rPr lang="en-US" dirty="0"/>
              <a:t>If not:</a:t>
            </a:r>
          </a:p>
          <a:p>
            <a:endParaRPr lang="en-US" dirty="0"/>
          </a:p>
          <a:p>
            <a:r>
              <a:rPr lang="en-US" dirty="0"/>
              <a:t>"That's a vulnerability."</a:t>
            </a:r>
          </a:p>
          <a:p>
            <a:endParaRPr lang="en-US" dirty="0"/>
          </a:p>
          <a:p>
            <a:r>
              <a:rPr lang="en-US" dirty="0"/>
              <a:t>Do not teach students to scan or attack unrelated systems.</a:t>
            </a:r>
          </a:p>
          <a:p>
            <a:endParaRPr lang="en-US" dirty="0"/>
          </a:p>
          <a:p>
            <a:r>
              <a:rPr lang="en-US" dirty="0"/>
              <a:t>Keep the test inside their own Atlas application.</a:t>
            </a:r>
          </a:p>
          <a:p>
            <a:endParaRPr lang="en-US" dirty="0"/>
          </a:p>
          <a:p>
            <a:r>
              <a:rPr lang="en-US" dirty="0"/>
              <a:t>------------------------------------------------------------</a:t>
            </a:r>
          </a:p>
          <a:p>
            <a:endParaRPr lang="en-US" dirty="0"/>
          </a:p>
          <a:p>
            <a:r>
              <a:rPr lang="en-US" dirty="0"/>
              <a:t>DATA ACCESS</a:t>
            </a:r>
          </a:p>
          <a:p>
            <a:endParaRPr lang="en-US" dirty="0"/>
          </a:p>
          <a:p>
            <a:r>
              <a:rPr lang="en-US" dirty="0"/>
              <a:t>Point to Data Access.</a:t>
            </a:r>
          </a:p>
          <a:p>
            <a:endParaRPr lang="en-US" dirty="0"/>
          </a:p>
          <a:p>
            <a:r>
              <a:rPr lang="en-US" dirty="0"/>
              <a:t>Ask:</a:t>
            </a:r>
          </a:p>
          <a:p>
            <a:endParaRPr lang="en-US" dirty="0"/>
          </a:p>
          <a:p>
            <a:r>
              <a:rPr lang="en-US" dirty="0"/>
              <a:t>"Can a user retrieve information they shouldn't?"</a:t>
            </a:r>
          </a:p>
          <a:p>
            <a:endParaRPr lang="en-US" dirty="0"/>
          </a:p>
          <a:p>
            <a:r>
              <a:rPr lang="en-US" dirty="0"/>
              <a:t>Test:</a:t>
            </a:r>
          </a:p>
          <a:p>
            <a:endParaRPr lang="en-US" dirty="0"/>
          </a:p>
          <a:p>
            <a:r>
              <a:rPr lang="en-US" dirty="0"/>
              <a:t>User A attempts to access User B's data.</a:t>
            </a:r>
          </a:p>
          <a:p>
            <a:endParaRPr lang="en-US" dirty="0"/>
          </a:p>
          <a:p>
            <a:r>
              <a:rPr lang="en-US" dirty="0"/>
              <a:t>Ask:</a:t>
            </a:r>
          </a:p>
          <a:p>
            <a:endParaRPr lang="en-US" dirty="0"/>
          </a:p>
          <a:p>
            <a:r>
              <a:rPr lang="en-US" dirty="0"/>
              <a:t>"Does the server return the data?"</a:t>
            </a:r>
          </a:p>
          <a:p>
            <a:endParaRPr lang="en-US" dirty="0"/>
          </a:p>
          <a:p>
            <a:r>
              <a:rPr lang="en-US" dirty="0"/>
              <a:t>Expected:</a:t>
            </a:r>
          </a:p>
          <a:p>
            <a:endParaRPr lang="en-US" dirty="0"/>
          </a:p>
          <a:p>
            <a:r>
              <a:rPr lang="en-US" dirty="0"/>
              <a:t>No.</a:t>
            </a:r>
          </a:p>
          <a:p>
            <a:endParaRPr lang="en-US" dirty="0"/>
          </a:p>
          <a:p>
            <a:r>
              <a:rPr lang="en-US" dirty="0"/>
              <a:t>Explain:</a:t>
            </a:r>
          </a:p>
          <a:p>
            <a:endParaRPr lang="en-US" dirty="0"/>
          </a:p>
          <a:p>
            <a:r>
              <a:rPr lang="en-US" dirty="0"/>
              <a:t>"Data filtering and authorization need to happen before sensitive</a:t>
            </a:r>
          </a:p>
          <a:p>
            <a:r>
              <a:rPr lang="en-US" dirty="0"/>
              <a:t>information is returned."</a:t>
            </a:r>
          </a:p>
          <a:p>
            <a:endParaRPr lang="en-US" dirty="0"/>
          </a:p>
          <a:p>
            <a:r>
              <a:rPr lang="en-US" dirty="0"/>
              <a:t>------------------------------------------------------------</a:t>
            </a:r>
          </a:p>
          <a:p>
            <a:endParaRPr lang="en-US" dirty="0"/>
          </a:p>
          <a:p>
            <a:r>
              <a:rPr lang="en-US" dirty="0"/>
              <a:t>INPUT VALIDATION</a:t>
            </a:r>
          </a:p>
          <a:p>
            <a:endParaRPr lang="en-US" dirty="0"/>
          </a:p>
          <a:p>
            <a:r>
              <a:rPr lang="en-US" dirty="0"/>
              <a:t>Point to Input Validation.</a:t>
            </a:r>
          </a:p>
          <a:p>
            <a:endParaRPr lang="en-US" dirty="0"/>
          </a:p>
          <a:p>
            <a:r>
              <a:rPr lang="en-US" dirty="0"/>
              <a:t>Ask:</a:t>
            </a:r>
          </a:p>
          <a:p>
            <a:endParaRPr lang="en-US" dirty="0"/>
          </a:p>
          <a:p>
            <a:r>
              <a:rPr lang="en-US" dirty="0"/>
              <a:t>"What happens when we give Atlas unexpected input?"</a:t>
            </a:r>
          </a:p>
          <a:p>
            <a:endParaRPr lang="en-US" dirty="0"/>
          </a:p>
          <a:p>
            <a:r>
              <a:rPr lang="en-US" dirty="0"/>
              <a:t>Examples:</a:t>
            </a:r>
          </a:p>
          <a:p>
            <a:endParaRPr lang="en-US" dirty="0"/>
          </a:p>
          <a:p>
            <a:r>
              <a:rPr lang="en-US" dirty="0"/>
              <a:t>Very long values.</a:t>
            </a:r>
          </a:p>
          <a:p>
            <a:endParaRPr lang="en-US" dirty="0"/>
          </a:p>
          <a:p>
            <a:r>
              <a:rPr lang="en-US" dirty="0"/>
              <a:t>Unexpected characters.</a:t>
            </a:r>
          </a:p>
          <a:p>
            <a:endParaRPr lang="en-US" dirty="0"/>
          </a:p>
          <a:p>
            <a:r>
              <a:rPr lang="en-US" dirty="0"/>
              <a:t>Missing values.</a:t>
            </a:r>
          </a:p>
          <a:p>
            <a:endParaRPr lang="en-US" dirty="0"/>
          </a:p>
          <a:p>
            <a:r>
              <a:rPr lang="en-US" dirty="0"/>
              <a:t>Unexpected data types.</a:t>
            </a:r>
          </a:p>
          <a:p>
            <a:endParaRPr lang="en-US" dirty="0"/>
          </a:p>
          <a:p>
            <a:r>
              <a:rPr lang="en-US" dirty="0"/>
              <a:t>Invalid dates.</a:t>
            </a:r>
          </a:p>
          <a:p>
            <a:endParaRPr lang="en-US" dirty="0"/>
          </a:p>
          <a:p>
            <a:r>
              <a:rPr lang="en-US" dirty="0"/>
              <a:t>Explain:</a:t>
            </a:r>
          </a:p>
          <a:p>
            <a:endParaRPr lang="en-US" dirty="0"/>
          </a:p>
          <a:p>
            <a:r>
              <a:rPr lang="en-US" dirty="0"/>
              <a:t>"We're checking whether the application validates input at the</a:t>
            </a:r>
          </a:p>
          <a:p>
            <a:r>
              <a:rPr lang="en-US" dirty="0"/>
              <a:t>appropriate boundary."</a:t>
            </a:r>
          </a:p>
          <a:p>
            <a:endParaRPr lang="en-US" dirty="0"/>
          </a:p>
          <a:p>
            <a:r>
              <a:rPr lang="en-US" dirty="0"/>
              <a:t>------------------------------------------------------------</a:t>
            </a:r>
          </a:p>
          <a:p>
            <a:endParaRPr lang="en-US" dirty="0"/>
          </a:p>
          <a:p>
            <a:r>
              <a:rPr lang="en-US" dirty="0"/>
              <a:t>INJECTION — CONCEPT ONLY</a:t>
            </a:r>
          </a:p>
          <a:p>
            <a:endParaRPr lang="en-US" dirty="0"/>
          </a:p>
          <a:p>
            <a:r>
              <a:rPr lang="en-US" dirty="0"/>
              <a:t>Introduce the idea carefully.</a:t>
            </a:r>
          </a:p>
          <a:p>
            <a:endParaRPr lang="en-US" dirty="0"/>
          </a:p>
          <a:p>
            <a:r>
              <a:rPr lang="en-US" dirty="0"/>
              <a:t>"Applications sometimes use user input when communicating with other</a:t>
            </a:r>
          </a:p>
          <a:p>
            <a:r>
              <a:rPr lang="en-US" dirty="0"/>
              <a:t>systems."</a:t>
            </a:r>
          </a:p>
          <a:p>
            <a:endParaRPr lang="en-US" dirty="0"/>
          </a:p>
          <a:p>
            <a:r>
              <a:rPr lang="en-US" dirty="0"/>
              <a:t>"If input isn't handled properly, an attacker may be able to influence</a:t>
            </a:r>
          </a:p>
          <a:p>
            <a:r>
              <a:rPr lang="en-US" dirty="0"/>
              <a:t>how that system interprets the input."</a:t>
            </a:r>
          </a:p>
          <a:p>
            <a:endParaRPr lang="en-US" dirty="0"/>
          </a:p>
          <a:p>
            <a:r>
              <a:rPr lang="en-US" dirty="0"/>
              <a:t>Examples include:</a:t>
            </a:r>
          </a:p>
          <a:p>
            <a:endParaRPr lang="en-US" dirty="0"/>
          </a:p>
          <a:p>
            <a:r>
              <a:rPr lang="en-US" dirty="0"/>
              <a:t>Database injection.</a:t>
            </a:r>
          </a:p>
          <a:p>
            <a:endParaRPr lang="en-US" dirty="0"/>
          </a:p>
          <a:p>
            <a:r>
              <a:rPr lang="en-US" dirty="0"/>
              <a:t>Script injection.</a:t>
            </a:r>
          </a:p>
          <a:p>
            <a:endParaRPr lang="en-US" dirty="0"/>
          </a:p>
          <a:p>
            <a:r>
              <a:rPr lang="en-US" dirty="0"/>
              <a:t>Command injection.</a:t>
            </a:r>
          </a:p>
          <a:p>
            <a:endParaRPr lang="en-US" dirty="0"/>
          </a:p>
          <a:p>
            <a:r>
              <a:rPr lang="en-US" dirty="0"/>
              <a:t>Explain:</a:t>
            </a:r>
          </a:p>
          <a:p>
            <a:endParaRPr lang="en-US" dirty="0"/>
          </a:p>
          <a:p>
            <a:r>
              <a:rPr lang="en-US" dirty="0"/>
              <a:t>"For Atlas, we're not learning attack payloads."</a:t>
            </a:r>
          </a:p>
          <a:p>
            <a:endParaRPr lang="en-US" dirty="0"/>
          </a:p>
          <a:p>
            <a:r>
              <a:rPr lang="en-US" dirty="0"/>
              <a:t>"We're learning to recognize the risk and verify that our framework</a:t>
            </a:r>
          </a:p>
          <a:p>
            <a:r>
              <a:rPr lang="en-US" dirty="0"/>
              <a:t>and code handle user input safely."</a:t>
            </a:r>
          </a:p>
          <a:p>
            <a:endParaRPr lang="en-US" dirty="0"/>
          </a:p>
          <a:p>
            <a:r>
              <a:rPr lang="en-US" dirty="0"/>
              <a:t>------------------------------------------------------------</a:t>
            </a:r>
          </a:p>
          <a:p>
            <a:endParaRPr lang="en-US" dirty="0"/>
          </a:p>
          <a:p>
            <a:r>
              <a:rPr lang="en-US" dirty="0"/>
              <a:t>CROSS-SITE SCRIPTING</a:t>
            </a:r>
          </a:p>
          <a:p>
            <a:endParaRPr lang="en-US" dirty="0"/>
          </a:p>
          <a:p>
            <a:r>
              <a:rPr lang="en-US" dirty="0"/>
              <a:t>Explain conceptually:</a:t>
            </a:r>
          </a:p>
          <a:p>
            <a:endParaRPr lang="en-US" dirty="0"/>
          </a:p>
          <a:p>
            <a:r>
              <a:rPr lang="en-US" dirty="0"/>
              <a:t>"An application may display information entered by a user."</a:t>
            </a:r>
          </a:p>
          <a:p>
            <a:endParaRPr lang="en-US" dirty="0"/>
          </a:p>
          <a:p>
            <a:r>
              <a:rPr lang="en-US" dirty="0"/>
              <a:t>Ask:</a:t>
            </a:r>
          </a:p>
          <a:p>
            <a:endParaRPr lang="en-US" dirty="0"/>
          </a:p>
          <a:p>
            <a:r>
              <a:rPr lang="en-US" dirty="0"/>
              <a:t>"What if that information contains something the application should</a:t>
            </a:r>
          </a:p>
          <a:p>
            <a:r>
              <a:rPr lang="en-US" dirty="0"/>
              <a:t>not execute?"</a:t>
            </a:r>
          </a:p>
          <a:p>
            <a:endParaRPr lang="en-US" dirty="0"/>
          </a:p>
          <a:p>
            <a:r>
              <a:rPr lang="en-US" dirty="0"/>
              <a:t>The risk:</a:t>
            </a:r>
          </a:p>
          <a:p>
            <a:endParaRPr lang="en-US" dirty="0"/>
          </a:p>
          <a:p>
            <a:r>
              <a:rPr lang="en-US" dirty="0"/>
              <a:t>Malicious script could potentially execute in another user's browser.</a:t>
            </a:r>
          </a:p>
          <a:p>
            <a:endParaRPr lang="en-US" dirty="0"/>
          </a:p>
          <a:p>
            <a:r>
              <a:rPr lang="en-US" dirty="0"/>
              <a:t>For Atlas:</a:t>
            </a:r>
          </a:p>
          <a:p>
            <a:endParaRPr lang="en-US" dirty="0"/>
          </a:p>
          <a:p>
            <a:r>
              <a:rPr lang="en-US" dirty="0"/>
              <a:t>Test whether user-entered text is safely displayed.</a:t>
            </a:r>
          </a:p>
          <a:p>
            <a:endParaRPr lang="en-US" dirty="0"/>
          </a:p>
          <a:p>
            <a:r>
              <a:rPr lang="en-US" dirty="0"/>
              <a:t>Expected:</a:t>
            </a:r>
          </a:p>
          <a:p>
            <a:endParaRPr lang="en-US" dirty="0"/>
          </a:p>
          <a:p>
            <a:r>
              <a:rPr lang="en-US" dirty="0"/>
              <a:t>User input is treated as data, not executable code.</a:t>
            </a:r>
          </a:p>
          <a:p>
            <a:endParaRPr lang="en-US" dirty="0"/>
          </a:p>
          <a:p>
            <a:r>
              <a:rPr lang="en-US" dirty="0"/>
              <a:t>------------------------------------------------------------</a:t>
            </a:r>
          </a:p>
          <a:p>
            <a:endParaRPr lang="en-US" dirty="0"/>
          </a:p>
          <a:p>
            <a:r>
              <a:rPr lang="en-US" dirty="0"/>
              <a:t>CONFIGURATION TESTING</a:t>
            </a:r>
          </a:p>
          <a:p>
            <a:endParaRPr lang="en-US" dirty="0"/>
          </a:p>
          <a:p>
            <a:r>
              <a:rPr lang="en-US" dirty="0"/>
              <a:t>Point to Configuration.</a:t>
            </a:r>
          </a:p>
          <a:p>
            <a:endParaRPr lang="en-US" dirty="0"/>
          </a:p>
          <a:p>
            <a:r>
              <a:rPr lang="en-US" dirty="0"/>
              <a:t>Ask:</a:t>
            </a:r>
          </a:p>
          <a:p>
            <a:endParaRPr lang="en-US" dirty="0"/>
          </a:p>
          <a:p>
            <a:r>
              <a:rPr lang="en-US" dirty="0"/>
              <a:t>"What configuration could accidentally expose information?"</a:t>
            </a:r>
          </a:p>
          <a:p>
            <a:endParaRPr lang="en-US" dirty="0"/>
          </a:p>
          <a:p>
            <a:r>
              <a:rPr lang="en-US" dirty="0"/>
              <a:t>Examples:</a:t>
            </a:r>
          </a:p>
          <a:p>
            <a:endParaRPr lang="en-US" dirty="0"/>
          </a:p>
          <a:p>
            <a:r>
              <a:rPr lang="en-US" dirty="0"/>
              <a:t>Debug mode.</a:t>
            </a:r>
          </a:p>
          <a:p>
            <a:endParaRPr lang="en-US" dirty="0"/>
          </a:p>
          <a:p>
            <a:r>
              <a:rPr lang="en-US" dirty="0"/>
              <a:t>Detailed error pages.</a:t>
            </a:r>
          </a:p>
          <a:p>
            <a:endParaRPr lang="en-US" dirty="0"/>
          </a:p>
          <a:p>
            <a:r>
              <a:rPr lang="en-US" dirty="0"/>
              <a:t>Default accounts.</a:t>
            </a:r>
          </a:p>
          <a:p>
            <a:endParaRPr lang="en-US" dirty="0"/>
          </a:p>
          <a:p>
            <a:r>
              <a:rPr lang="en-US" dirty="0"/>
              <a:t>Development settings.</a:t>
            </a:r>
          </a:p>
          <a:p>
            <a:endParaRPr lang="en-US" dirty="0"/>
          </a:p>
          <a:p>
            <a:r>
              <a:rPr lang="en-US" dirty="0"/>
              <a:t>Exposed directories.</a:t>
            </a:r>
          </a:p>
          <a:p>
            <a:endParaRPr lang="en-US" dirty="0"/>
          </a:p>
          <a:p>
            <a:r>
              <a:rPr lang="en-US" dirty="0"/>
              <a:t>Unnecessary services.</a:t>
            </a:r>
          </a:p>
          <a:p>
            <a:endParaRPr lang="en-US" dirty="0"/>
          </a:p>
          <a:p>
            <a:r>
              <a:rPr lang="en-US" dirty="0"/>
              <a:t>Explain:</a:t>
            </a:r>
          </a:p>
          <a:p>
            <a:endParaRPr lang="en-US" dirty="0"/>
          </a:p>
          <a:p>
            <a:r>
              <a:rPr lang="en-US" dirty="0"/>
              <a:t>"Configuration can create vulnerabilities even when the application</a:t>
            </a:r>
          </a:p>
          <a:p>
            <a:r>
              <a:rPr lang="en-US" dirty="0"/>
              <a:t>code is correct."</a:t>
            </a:r>
          </a:p>
          <a:p>
            <a:endParaRPr lang="en-US" dirty="0"/>
          </a:p>
          <a:p>
            <a:r>
              <a:rPr lang="en-US" dirty="0"/>
              <a:t>------------------------------------------------------------</a:t>
            </a:r>
          </a:p>
          <a:p>
            <a:endParaRPr lang="en-US" dirty="0"/>
          </a:p>
          <a:p>
            <a:r>
              <a:rPr lang="en-US" dirty="0"/>
              <a:t>DEBUG MODE</a:t>
            </a:r>
          </a:p>
          <a:p>
            <a:endParaRPr lang="en-US" dirty="0"/>
          </a:p>
          <a:p>
            <a:r>
              <a:rPr lang="en-US" dirty="0"/>
              <a:t>Ask:</a:t>
            </a:r>
          </a:p>
          <a:p>
            <a:endParaRPr lang="en-US" dirty="0"/>
          </a:p>
          <a:p>
            <a:r>
              <a:rPr lang="en-US" dirty="0"/>
              <a:t>"Should a production application show developers a full stack trace?"</a:t>
            </a:r>
          </a:p>
          <a:p>
            <a:endParaRPr lang="en-US" dirty="0"/>
          </a:p>
          <a:p>
            <a:r>
              <a:rPr lang="en-US" dirty="0"/>
              <a:t>No.</a:t>
            </a:r>
          </a:p>
          <a:p>
            <a:endParaRPr lang="en-US" dirty="0"/>
          </a:p>
          <a:p>
            <a:r>
              <a:rPr lang="en-US" dirty="0"/>
              <a:t>Explain:</a:t>
            </a:r>
          </a:p>
          <a:p>
            <a:endParaRPr lang="en-US" dirty="0"/>
          </a:p>
          <a:p>
            <a:r>
              <a:rPr lang="en-US" dirty="0"/>
              <a:t>"Development information can reveal useful details about the</a:t>
            </a:r>
          </a:p>
          <a:p>
            <a:r>
              <a:rPr lang="en-US" dirty="0"/>
              <a:t>application."</a:t>
            </a:r>
          </a:p>
          <a:p>
            <a:endParaRPr lang="en-US" dirty="0"/>
          </a:p>
          <a:p>
            <a:r>
              <a:rPr lang="en-US" dirty="0"/>
              <a:t>Therefore:</a:t>
            </a:r>
          </a:p>
          <a:p>
            <a:endParaRPr lang="en-US" dirty="0"/>
          </a:p>
          <a:p>
            <a:r>
              <a:rPr lang="en-US" dirty="0"/>
              <a:t>Production should use appropriate error handling and configuration.</a:t>
            </a:r>
          </a:p>
          <a:p>
            <a:endParaRPr lang="en-US" dirty="0"/>
          </a:p>
          <a:p>
            <a:r>
              <a:rPr lang="en-US" dirty="0"/>
              <a:t>------------------------------------------------------------</a:t>
            </a:r>
          </a:p>
          <a:p>
            <a:endParaRPr lang="en-US" dirty="0"/>
          </a:p>
          <a:p>
            <a:r>
              <a:rPr lang="en-US" dirty="0"/>
              <a:t>SECRETS &amp; KEYS</a:t>
            </a:r>
          </a:p>
          <a:p>
            <a:endParaRPr lang="en-US" dirty="0"/>
          </a:p>
          <a:p>
            <a:r>
              <a:rPr lang="en-US" dirty="0"/>
              <a:t>Point to:</a:t>
            </a:r>
          </a:p>
          <a:p>
            <a:endParaRPr lang="en-US" dirty="0"/>
          </a:p>
          <a:p>
            <a:r>
              <a:rPr lang="en-US" dirty="0"/>
              <a:t>Secrets &amp; Keys.</a:t>
            </a:r>
          </a:p>
          <a:p>
            <a:endParaRPr lang="en-US" dirty="0"/>
          </a:p>
          <a:p>
            <a:r>
              <a:rPr lang="en-US" dirty="0"/>
              <a:t>Ask:</a:t>
            </a:r>
          </a:p>
          <a:p>
            <a:endParaRPr lang="en-US" dirty="0"/>
          </a:p>
          <a:p>
            <a:r>
              <a:rPr lang="en-US" dirty="0"/>
              <a:t>"Can we find a database password in our repository?"</a:t>
            </a:r>
          </a:p>
          <a:p>
            <a:endParaRPr lang="en-US" dirty="0"/>
          </a:p>
          <a:p>
            <a:r>
              <a:rPr lang="en-US" dirty="0"/>
              <a:t>"Can we find an API key?"</a:t>
            </a:r>
          </a:p>
          <a:p>
            <a:endParaRPr lang="en-US" dirty="0"/>
          </a:p>
          <a:p>
            <a:r>
              <a:rPr lang="en-US" dirty="0"/>
              <a:t>"Can we find a token?"</a:t>
            </a:r>
          </a:p>
          <a:p>
            <a:endParaRPr lang="en-US" dirty="0"/>
          </a:p>
          <a:p>
            <a:r>
              <a:rPr lang="en-US" dirty="0"/>
              <a:t>Expected:</a:t>
            </a:r>
          </a:p>
          <a:p>
            <a:endParaRPr lang="en-US" dirty="0"/>
          </a:p>
          <a:p>
            <a:r>
              <a:rPr lang="en-US" dirty="0"/>
              <a:t>No.</a:t>
            </a:r>
          </a:p>
          <a:p>
            <a:endParaRPr lang="en-US" dirty="0"/>
          </a:p>
          <a:p>
            <a:r>
              <a:rPr lang="en-US" dirty="0"/>
              <a:t>Explain:</a:t>
            </a:r>
          </a:p>
          <a:p>
            <a:endParaRPr lang="en-US" dirty="0"/>
          </a:p>
          <a:p>
            <a:r>
              <a:rPr lang="en-US" dirty="0"/>
              <a:t>"Secrets are one of the easiest things to accidentally expose."</a:t>
            </a:r>
          </a:p>
          <a:p>
            <a:endParaRPr lang="en-US" dirty="0"/>
          </a:p>
          <a:p>
            <a:r>
              <a:rPr lang="en-US" dirty="0"/>
              <a:t>------------------------------------------------------------</a:t>
            </a:r>
          </a:p>
          <a:p>
            <a:endParaRPr lang="en-US" dirty="0"/>
          </a:p>
          <a:p>
            <a:r>
              <a:rPr lang="en-US" dirty="0"/>
              <a:t>BUSINESS LOGIC</a:t>
            </a:r>
          </a:p>
          <a:p>
            <a:endParaRPr lang="en-US" dirty="0"/>
          </a:p>
          <a:p>
            <a:r>
              <a:rPr lang="en-US" dirty="0"/>
              <a:t>Point to Business Logic.</a:t>
            </a:r>
          </a:p>
          <a:p>
            <a:endParaRPr lang="en-US" dirty="0"/>
          </a:p>
          <a:p>
            <a:r>
              <a:rPr lang="en-US" dirty="0"/>
              <a:t>Explain:</a:t>
            </a:r>
          </a:p>
          <a:p>
            <a:endParaRPr lang="en-US" dirty="0"/>
          </a:p>
          <a:p>
            <a:r>
              <a:rPr lang="en-US" dirty="0"/>
              <a:t>"Not every security problem is a technical exploit."</a:t>
            </a:r>
          </a:p>
          <a:p>
            <a:endParaRPr lang="en-US" dirty="0"/>
          </a:p>
          <a:p>
            <a:r>
              <a:rPr lang="en-US" dirty="0"/>
              <a:t>"Sometimes the application simply allows something it shouldn't."</a:t>
            </a:r>
          </a:p>
          <a:p>
            <a:endParaRPr lang="en-US" dirty="0"/>
          </a:p>
          <a:p>
            <a:r>
              <a:rPr lang="en-US" dirty="0"/>
              <a:t>Examples:</a:t>
            </a:r>
          </a:p>
          <a:p>
            <a:endParaRPr lang="en-US" dirty="0"/>
          </a:p>
          <a:p>
            <a:r>
              <a:rPr lang="en-US" dirty="0"/>
              <a:t>A user changes a task they don't own.</a:t>
            </a:r>
          </a:p>
          <a:p>
            <a:endParaRPr lang="en-US" dirty="0"/>
          </a:p>
          <a:p>
            <a:r>
              <a:rPr lang="en-US" dirty="0"/>
              <a:t>A user deletes something they shouldn't.</a:t>
            </a:r>
          </a:p>
          <a:p>
            <a:endParaRPr lang="en-US" dirty="0"/>
          </a:p>
          <a:p>
            <a:r>
              <a:rPr lang="en-US" dirty="0"/>
              <a:t>A user changes their own role.</a:t>
            </a:r>
          </a:p>
          <a:p>
            <a:endParaRPr lang="en-US" dirty="0"/>
          </a:p>
          <a:p>
            <a:r>
              <a:rPr lang="en-US" dirty="0"/>
              <a:t>A user performs an action out of sequence.</a:t>
            </a:r>
          </a:p>
          <a:p>
            <a:endParaRPr lang="en-US" dirty="0"/>
          </a:p>
          <a:p>
            <a:r>
              <a:rPr lang="en-US" dirty="0"/>
              <a:t>These are business-logic problems.</a:t>
            </a:r>
          </a:p>
          <a:p>
            <a:endParaRPr lang="en-US" dirty="0"/>
          </a:p>
          <a:p>
            <a:r>
              <a:rPr lang="en-US" dirty="0"/>
              <a:t>------------------------------------------------------------</a:t>
            </a:r>
          </a:p>
          <a:p>
            <a:endParaRPr lang="en-US" dirty="0"/>
          </a:p>
          <a:p>
            <a:r>
              <a:rPr lang="en-US" dirty="0"/>
              <a:t>RACE CONDITIONS</a:t>
            </a:r>
          </a:p>
          <a:p>
            <a:endParaRPr lang="en-US" dirty="0"/>
          </a:p>
          <a:p>
            <a:r>
              <a:rPr lang="en-US" dirty="0"/>
              <a:t>Briefly introduce the concept.</a:t>
            </a:r>
          </a:p>
          <a:p>
            <a:endParaRPr lang="en-US" dirty="0"/>
          </a:p>
          <a:p>
            <a:r>
              <a:rPr lang="en-US" dirty="0"/>
              <a:t>"Sometimes the result depends on timing."</a:t>
            </a:r>
          </a:p>
          <a:p>
            <a:endParaRPr lang="en-US" dirty="0"/>
          </a:p>
          <a:p>
            <a:r>
              <a:rPr lang="en-US" dirty="0"/>
              <a:t>For example:</a:t>
            </a:r>
          </a:p>
          <a:p>
            <a:endParaRPr lang="en-US" dirty="0"/>
          </a:p>
          <a:p>
            <a:r>
              <a:rPr lang="en-US" dirty="0"/>
              <a:t>Two requests attempt to change the same resource.</a:t>
            </a:r>
          </a:p>
          <a:p>
            <a:endParaRPr lang="en-US" dirty="0"/>
          </a:p>
          <a:p>
            <a:r>
              <a:rPr lang="en-US" dirty="0"/>
              <a:t>Explain:</a:t>
            </a:r>
          </a:p>
          <a:p>
            <a:endParaRPr lang="en-US" dirty="0"/>
          </a:p>
          <a:p>
            <a:r>
              <a:rPr lang="en-US" dirty="0"/>
              <a:t>"We don't need to build advanced concurrency testing today."</a:t>
            </a:r>
          </a:p>
          <a:p>
            <a:endParaRPr lang="en-US" dirty="0"/>
          </a:p>
          <a:p>
            <a:r>
              <a:rPr lang="en-US" dirty="0"/>
              <a:t>"We just need to understand that business rules must hold even when</a:t>
            </a:r>
          </a:p>
          <a:p>
            <a:r>
              <a:rPr lang="en-US" dirty="0"/>
              <a:t>requests happen in unexpected ways."</a:t>
            </a:r>
          </a:p>
          <a:p>
            <a:endParaRPr lang="en-US" dirty="0"/>
          </a:p>
          <a:p>
            <a:r>
              <a:rPr lang="en-US" dirty="0"/>
              <a:t>------------------------------------------------------------</a:t>
            </a:r>
          </a:p>
          <a:p>
            <a:endParaRPr lang="en-US" dirty="0"/>
          </a:p>
          <a:p>
            <a:r>
              <a:rPr lang="en-US" dirty="0"/>
              <a:t>THE ATTACK &amp; TEST CHECKLIST</a:t>
            </a:r>
          </a:p>
          <a:p>
            <a:endParaRPr lang="en-US" dirty="0"/>
          </a:p>
          <a:p>
            <a:r>
              <a:rPr lang="en-US" dirty="0"/>
              <a:t>Move to the large checklist.</a:t>
            </a:r>
          </a:p>
          <a:p>
            <a:endParaRPr lang="en-US" dirty="0"/>
          </a:p>
          <a:p>
            <a:r>
              <a:rPr lang="en-US" dirty="0"/>
              <a:t>Tell students:</a:t>
            </a:r>
          </a:p>
          <a:p>
            <a:endParaRPr lang="en-US" dirty="0"/>
          </a:p>
          <a:p>
            <a:r>
              <a:rPr lang="en-US" dirty="0"/>
              <a:t>"You're going to work through these categories."</a:t>
            </a:r>
          </a:p>
          <a:p>
            <a:endParaRPr lang="en-US" dirty="0"/>
          </a:p>
          <a:p>
            <a:r>
              <a:rPr lang="en-US" dirty="0"/>
              <a:t>Authentication.</a:t>
            </a:r>
          </a:p>
          <a:p>
            <a:endParaRPr lang="en-US" dirty="0"/>
          </a:p>
          <a:p>
            <a:r>
              <a:rPr lang="en-US" dirty="0"/>
              <a:t>Authorization.</a:t>
            </a:r>
          </a:p>
          <a:p>
            <a:endParaRPr lang="en-US" dirty="0"/>
          </a:p>
          <a:p>
            <a:r>
              <a:rPr lang="en-US" dirty="0"/>
              <a:t>Data Access.</a:t>
            </a:r>
          </a:p>
          <a:p>
            <a:endParaRPr lang="en-US" dirty="0"/>
          </a:p>
          <a:p>
            <a:r>
              <a:rPr lang="en-US" dirty="0"/>
              <a:t>Input Validation.</a:t>
            </a:r>
          </a:p>
          <a:p>
            <a:endParaRPr lang="en-US" dirty="0"/>
          </a:p>
          <a:p>
            <a:r>
              <a:rPr lang="en-US" dirty="0"/>
              <a:t>Configuration.</a:t>
            </a:r>
          </a:p>
          <a:p>
            <a:endParaRPr lang="en-US" dirty="0"/>
          </a:p>
          <a:p>
            <a:r>
              <a:rPr lang="en-US" dirty="0"/>
              <a:t>Secrets.</a:t>
            </a:r>
          </a:p>
          <a:p>
            <a:endParaRPr lang="en-US" dirty="0"/>
          </a:p>
          <a:p>
            <a:r>
              <a:rPr lang="en-US" dirty="0"/>
              <a:t>Business Logic.</a:t>
            </a:r>
          </a:p>
          <a:p>
            <a:endParaRPr lang="en-US" dirty="0"/>
          </a:p>
          <a:p>
            <a:r>
              <a:rPr lang="en-US" dirty="0"/>
              <a:t>For each category:</a:t>
            </a:r>
          </a:p>
          <a:p>
            <a:endParaRPr lang="en-US" dirty="0"/>
          </a:p>
          <a:p>
            <a:r>
              <a:rPr lang="en-US" dirty="0"/>
              <a:t>ASK A QUESTION.</a:t>
            </a:r>
          </a:p>
          <a:p>
            <a:endParaRPr lang="en-US" dirty="0"/>
          </a:p>
          <a:p>
            <a:r>
              <a:rPr lang="en-US" dirty="0"/>
              <a:t>TEST THE APPLICATION.</a:t>
            </a:r>
          </a:p>
          <a:p>
            <a:endParaRPr lang="en-US" dirty="0"/>
          </a:p>
          <a:p>
            <a:r>
              <a:rPr lang="en-US" dirty="0"/>
              <a:t>RECORD THE RESULT.</a:t>
            </a:r>
          </a:p>
          <a:p>
            <a:endParaRPr lang="en-US" dirty="0"/>
          </a:p>
          <a:p>
            <a:r>
              <a:rPr lang="en-US" dirty="0"/>
              <a:t>------------------------------------------------------------</a:t>
            </a:r>
          </a:p>
          <a:p>
            <a:endParaRPr lang="en-US" dirty="0"/>
          </a:p>
          <a:p>
            <a:r>
              <a:rPr lang="en-US" dirty="0"/>
              <a:t>THE GOLDEN RULE</a:t>
            </a:r>
          </a:p>
          <a:p>
            <a:endParaRPr lang="en-US" dirty="0"/>
          </a:p>
          <a:p>
            <a:r>
              <a:rPr lang="en-US" dirty="0"/>
              <a:t>Say:</a:t>
            </a:r>
          </a:p>
          <a:p>
            <a:endParaRPr lang="en-US" dirty="0"/>
          </a:p>
          <a:p>
            <a:r>
              <a:rPr lang="en-US" dirty="0"/>
              <a:t>"Don't test randomly."</a:t>
            </a:r>
          </a:p>
          <a:p>
            <a:endParaRPr lang="en-US" dirty="0"/>
          </a:p>
          <a:p>
            <a:r>
              <a:rPr lang="en-US" dirty="0"/>
              <a:t>Every test should have:</a:t>
            </a:r>
          </a:p>
          <a:p>
            <a:endParaRPr lang="en-US" dirty="0"/>
          </a:p>
          <a:p>
            <a:r>
              <a:rPr lang="en-US" dirty="0"/>
              <a:t>A question.</a:t>
            </a:r>
          </a:p>
          <a:p>
            <a:endParaRPr lang="en-US" dirty="0"/>
          </a:p>
          <a:p>
            <a:r>
              <a:rPr lang="en-US" dirty="0"/>
              <a:t>An expected result.</a:t>
            </a:r>
          </a:p>
          <a:p>
            <a:endParaRPr lang="en-US" dirty="0"/>
          </a:p>
          <a:p>
            <a:r>
              <a:rPr lang="en-US" dirty="0"/>
              <a:t>An actual result.</a:t>
            </a:r>
          </a:p>
          <a:p>
            <a:endParaRPr lang="en-US" dirty="0"/>
          </a:p>
          <a:p>
            <a:r>
              <a:rPr lang="en-US" dirty="0"/>
              <a:t>Evidence.</a:t>
            </a:r>
          </a:p>
          <a:p>
            <a:endParaRPr lang="en-US" dirty="0"/>
          </a:p>
          <a:p>
            <a:r>
              <a:rPr lang="en-US" dirty="0"/>
              <a:t>Example:</a:t>
            </a:r>
          </a:p>
          <a:p>
            <a:endParaRPr lang="en-US" dirty="0"/>
          </a:p>
          <a:p>
            <a:r>
              <a:rPr lang="en-US" dirty="0"/>
              <a:t>QUESTION:</a:t>
            </a:r>
          </a:p>
          <a:p>
            <a:endParaRPr lang="en-US" dirty="0"/>
          </a:p>
          <a:p>
            <a:r>
              <a:rPr lang="en-US" dirty="0"/>
              <a:t>Can User A access User B's project?</a:t>
            </a:r>
          </a:p>
          <a:p>
            <a:endParaRPr lang="en-US" dirty="0"/>
          </a:p>
          <a:p>
            <a:r>
              <a:rPr lang="en-US" dirty="0"/>
              <a:t>EXPECTED:</a:t>
            </a:r>
          </a:p>
          <a:p>
            <a:endParaRPr lang="en-US" dirty="0"/>
          </a:p>
          <a:p>
            <a:r>
              <a:rPr lang="en-US" dirty="0"/>
              <a:t>Access denied.</a:t>
            </a:r>
          </a:p>
          <a:p>
            <a:endParaRPr lang="en-US" dirty="0"/>
          </a:p>
          <a:p>
            <a:r>
              <a:rPr lang="en-US" dirty="0"/>
              <a:t>ACTUAL:</a:t>
            </a:r>
          </a:p>
          <a:p>
            <a:endParaRPr lang="en-US" dirty="0"/>
          </a:p>
          <a:p>
            <a:r>
              <a:rPr lang="en-US" dirty="0"/>
              <a:t>Access denied.</a:t>
            </a:r>
          </a:p>
          <a:p>
            <a:endParaRPr lang="en-US" dirty="0"/>
          </a:p>
          <a:p>
            <a:r>
              <a:rPr lang="en-US" dirty="0"/>
              <a:t>RESULT:</a:t>
            </a:r>
          </a:p>
          <a:p>
            <a:endParaRPr lang="en-US" dirty="0"/>
          </a:p>
          <a:p>
            <a:r>
              <a:rPr lang="en-US" dirty="0"/>
              <a:t>PASS.</a:t>
            </a:r>
          </a:p>
          <a:p>
            <a:endParaRPr lang="en-US" dirty="0"/>
          </a:p>
          <a:p>
            <a:r>
              <a:rPr lang="en-US" dirty="0"/>
              <a:t>------------------------------------------------------------</a:t>
            </a:r>
          </a:p>
          <a:p>
            <a:endParaRPr lang="en-US" dirty="0"/>
          </a:p>
          <a:p>
            <a:r>
              <a:rPr lang="en-US" dirty="0"/>
              <a:t>WHEN YOU FIND A FAILURE</a:t>
            </a:r>
          </a:p>
          <a:p>
            <a:endParaRPr lang="en-US" dirty="0"/>
          </a:p>
          <a:p>
            <a:r>
              <a:rPr lang="en-US" dirty="0"/>
              <a:t>Say:</a:t>
            </a:r>
          </a:p>
          <a:p>
            <a:endParaRPr lang="en-US" dirty="0"/>
          </a:p>
          <a:p>
            <a:r>
              <a:rPr lang="en-US" dirty="0"/>
              <a:t>"Don't panic."</a:t>
            </a:r>
          </a:p>
          <a:p>
            <a:endParaRPr lang="en-US" dirty="0"/>
          </a:p>
          <a:p>
            <a:r>
              <a:rPr lang="en-US" dirty="0"/>
              <a:t>"Don't immediately change five things."</a:t>
            </a:r>
          </a:p>
          <a:p>
            <a:endParaRPr lang="en-US" dirty="0"/>
          </a:p>
          <a:p>
            <a:r>
              <a:rPr lang="en-US" dirty="0"/>
              <a:t>Document it first.</a:t>
            </a:r>
          </a:p>
          <a:p>
            <a:endParaRPr lang="en-US" dirty="0"/>
          </a:p>
          <a:p>
            <a:r>
              <a:rPr lang="en-US" dirty="0"/>
              <a:t>Record:</a:t>
            </a:r>
          </a:p>
          <a:p>
            <a:endParaRPr lang="en-US" dirty="0"/>
          </a:p>
          <a:p>
            <a:r>
              <a:rPr lang="en-US" dirty="0"/>
              <a:t>What happened.</a:t>
            </a:r>
          </a:p>
          <a:p>
            <a:endParaRPr lang="en-US" dirty="0"/>
          </a:p>
          <a:p>
            <a:r>
              <a:rPr lang="en-US" dirty="0"/>
              <a:t>Where it happened.</a:t>
            </a:r>
          </a:p>
          <a:p>
            <a:endParaRPr lang="en-US" dirty="0"/>
          </a:p>
          <a:p>
            <a:r>
              <a:rPr lang="en-US" dirty="0"/>
              <a:t>Why it matters.</a:t>
            </a:r>
          </a:p>
          <a:p>
            <a:endParaRPr lang="en-US" dirty="0"/>
          </a:p>
          <a:p>
            <a:r>
              <a:rPr lang="en-US" dirty="0"/>
              <a:t>Then fix it.</a:t>
            </a:r>
          </a:p>
          <a:p>
            <a:endParaRPr lang="en-US" dirty="0"/>
          </a:p>
          <a:p>
            <a:r>
              <a:rPr lang="en-US" dirty="0"/>
              <a:t>Then retest.</a:t>
            </a:r>
          </a:p>
          <a:p>
            <a:endParaRPr lang="en-US" dirty="0"/>
          </a:p>
          <a:p>
            <a:r>
              <a:rPr lang="en-US" dirty="0"/>
              <a:t>------------------------------------------------------------</a:t>
            </a:r>
          </a:p>
          <a:p>
            <a:endParaRPr lang="en-US" dirty="0"/>
          </a:p>
          <a:p>
            <a:r>
              <a:rPr lang="en-US" dirty="0"/>
              <a:t>DOCUMENT YOUR FINDINGS</a:t>
            </a:r>
          </a:p>
          <a:p>
            <a:endParaRPr lang="en-US" dirty="0"/>
          </a:p>
          <a:p>
            <a:r>
              <a:rPr lang="en-US" dirty="0"/>
              <a:t>Point to:</a:t>
            </a:r>
          </a:p>
          <a:p>
            <a:endParaRPr lang="en-US" dirty="0"/>
          </a:p>
          <a:p>
            <a:r>
              <a:rPr lang="en-US" dirty="0"/>
              <a:t>VULNERABILITY</a:t>
            </a:r>
          </a:p>
          <a:p>
            <a:endParaRPr lang="en-US" dirty="0"/>
          </a:p>
          <a:p>
            <a:r>
              <a:rPr lang="en-US" dirty="0"/>
              <a:t>↓</a:t>
            </a:r>
          </a:p>
          <a:p>
            <a:endParaRPr lang="en-US" dirty="0"/>
          </a:p>
          <a:p>
            <a:r>
              <a:rPr lang="en-US" dirty="0"/>
              <a:t>REPRODUCTION STEPS</a:t>
            </a:r>
          </a:p>
          <a:p>
            <a:endParaRPr lang="en-US" dirty="0"/>
          </a:p>
          <a:p>
            <a:r>
              <a:rPr lang="en-US" dirty="0"/>
              <a:t>↓</a:t>
            </a:r>
          </a:p>
          <a:p>
            <a:endParaRPr lang="en-US" dirty="0"/>
          </a:p>
          <a:p>
            <a:r>
              <a:rPr lang="en-US" dirty="0"/>
              <a:t>IMPACT</a:t>
            </a:r>
          </a:p>
          <a:p>
            <a:endParaRPr lang="en-US" dirty="0"/>
          </a:p>
          <a:p>
            <a:r>
              <a:rPr lang="en-US" dirty="0"/>
              <a:t>↓</a:t>
            </a:r>
          </a:p>
          <a:p>
            <a:endParaRPr lang="en-US" dirty="0"/>
          </a:p>
          <a:p>
            <a:r>
              <a:rPr lang="en-US" dirty="0"/>
              <a:t>EVIDENCE</a:t>
            </a:r>
          </a:p>
          <a:p>
            <a:endParaRPr lang="en-US" dirty="0"/>
          </a:p>
          <a:p>
            <a:r>
              <a:rPr lang="en-US" dirty="0"/>
              <a:t>↓</a:t>
            </a:r>
          </a:p>
          <a:p>
            <a:endParaRPr lang="en-US" dirty="0"/>
          </a:p>
          <a:p>
            <a:r>
              <a:rPr lang="en-US" dirty="0"/>
              <a:t>RISK LEVEL</a:t>
            </a:r>
          </a:p>
          <a:p>
            <a:endParaRPr lang="en-US" dirty="0"/>
          </a:p>
          <a:p>
            <a:r>
              <a:rPr lang="en-US" dirty="0"/>
              <a:t>↓</a:t>
            </a:r>
          </a:p>
          <a:p>
            <a:endParaRPr lang="en-US" dirty="0"/>
          </a:p>
          <a:p>
            <a:r>
              <a:rPr lang="en-US" dirty="0"/>
              <a:t>FIX</a:t>
            </a:r>
          </a:p>
          <a:p>
            <a:endParaRPr lang="en-US" dirty="0"/>
          </a:p>
          <a:p>
            <a:r>
              <a:rPr lang="en-US" dirty="0"/>
              <a:t>↓</a:t>
            </a:r>
          </a:p>
          <a:p>
            <a:endParaRPr lang="en-US" dirty="0"/>
          </a:p>
          <a:p>
            <a:r>
              <a:rPr lang="en-US" dirty="0"/>
              <a:t>RETEST RESULT</a:t>
            </a:r>
          </a:p>
          <a:p>
            <a:endParaRPr lang="en-US" dirty="0"/>
          </a:p>
          <a:p>
            <a:r>
              <a:rPr lang="en-US" dirty="0"/>
              <a:t>Explain:</a:t>
            </a:r>
          </a:p>
          <a:p>
            <a:endParaRPr lang="en-US" dirty="0"/>
          </a:p>
          <a:p>
            <a:r>
              <a:rPr lang="en-US" dirty="0"/>
              <a:t>"This is what professional security reporting looks like at a basic</a:t>
            </a:r>
          </a:p>
          <a:p>
            <a:r>
              <a:rPr lang="en-US" dirty="0"/>
              <a:t>level."</a:t>
            </a:r>
          </a:p>
          <a:p>
            <a:endParaRPr lang="en-US" dirty="0"/>
          </a:p>
          <a:p>
            <a:r>
              <a:rPr lang="en-US" dirty="0"/>
              <a:t>------------------------------------------------------------</a:t>
            </a:r>
          </a:p>
          <a:p>
            <a:endParaRPr lang="en-US" dirty="0"/>
          </a:p>
          <a:p>
            <a:r>
              <a:rPr lang="en-US" dirty="0"/>
              <a:t>RISK LEVELS</a:t>
            </a:r>
          </a:p>
          <a:p>
            <a:endParaRPr lang="en-US" dirty="0"/>
          </a:p>
          <a:p>
            <a:r>
              <a:rPr lang="en-US" dirty="0"/>
              <a:t>Introduce:</a:t>
            </a:r>
          </a:p>
          <a:p>
            <a:endParaRPr lang="en-US" dirty="0"/>
          </a:p>
          <a:p>
            <a:r>
              <a:rPr lang="en-US" dirty="0"/>
              <a:t>LOW</a:t>
            </a:r>
          </a:p>
          <a:p>
            <a:endParaRPr lang="en-US" dirty="0"/>
          </a:p>
          <a:p>
            <a:r>
              <a:rPr lang="en-US" dirty="0"/>
              <a:t>MEDIUM</a:t>
            </a:r>
          </a:p>
          <a:p>
            <a:endParaRPr lang="en-US" dirty="0"/>
          </a:p>
          <a:p>
            <a:r>
              <a:rPr lang="en-US" dirty="0"/>
              <a:t>HIGH</a:t>
            </a:r>
          </a:p>
          <a:p>
            <a:endParaRPr lang="en-US" dirty="0"/>
          </a:p>
          <a:p>
            <a:r>
              <a:rPr lang="en-US" dirty="0"/>
              <a:t>CRITICAL</a:t>
            </a:r>
          </a:p>
          <a:p>
            <a:endParaRPr lang="en-US" dirty="0"/>
          </a:p>
          <a:p>
            <a:r>
              <a:rPr lang="en-US" dirty="0"/>
              <a:t>Keep it simple.</a:t>
            </a:r>
          </a:p>
          <a:p>
            <a:endParaRPr lang="en-US" dirty="0"/>
          </a:p>
          <a:p>
            <a:r>
              <a:rPr lang="en-US" dirty="0"/>
              <a:t>LOW:</a:t>
            </a:r>
          </a:p>
          <a:p>
            <a:endParaRPr lang="en-US" dirty="0"/>
          </a:p>
          <a:p>
            <a:r>
              <a:rPr lang="en-US" dirty="0"/>
              <a:t>Limited impact.</a:t>
            </a:r>
          </a:p>
          <a:p>
            <a:endParaRPr lang="en-US" dirty="0"/>
          </a:p>
          <a:p>
            <a:r>
              <a:rPr lang="en-US" dirty="0"/>
              <a:t>MEDIUM:</a:t>
            </a:r>
          </a:p>
          <a:p>
            <a:endParaRPr lang="en-US" dirty="0"/>
          </a:p>
          <a:p>
            <a:r>
              <a:rPr lang="en-US" dirty="0"/>
              <a:t>Meaningful impact but limited scope.</a:t>
            </a:r>
          </a:p>
          <a:p>
            <a:endParaRPr lang="en-US" dirty="0"/>
          </a:p>
          <a:p>
            <a:r>
              <a:rPr lang="en-US" dirty="0"/>
              <a:t>HIGH:</a:t>
            </a:r>
          </a:p>
          <a:p>
            <a:endParaRPr lang="en-US" dirty="0"/>
          </a:p>
          <a:p>
            <a:r>
              <a:rPr lang="en-US" dirty="0"/>
              <a:t>Significant access or data exposure.</a:t>
            </a:r>
          </a:p>
          <a:p>
            <a:endParaRPr lang="en-US" dirty="0"/>
          </a:p>
          <a:p>
            <a:r>
              <a:rPr lang="en-US" dirty="0"/>
              <a:t>CRITICAL:</a:t>
            </a:r>
          </a:p>
          <a:p>
            <a:endParaRPr lang="en-US" dirty="0"/>
          </a:p>
          <a:p>
            <a:r>
              <a:rPr lang="en-US" dirty="0"/>
              <a:t>Potentially severe compromise of the application or its most</a:t>
            </a:r>
          </a:p>
          <a:p>
            <a:r>
              <a:rPr lang="en-US" dirty="0"/>
              <a:t>important resources.</a:t>
            </a:r>
          </a:p>
          <a:p>
            <a:endParaRPr lang="en-US" dirty="0"/>
          </a:p>
          <a:p>
            <a:r>
              <a:rPr lang="en-US" dirty="0"/>
              <a:t>Explain:</a:t>
            </a:r>
          </a:p>
          <a:p>
            <a:endParaRPr lang="en-US" dirty="0"/>
          </a:p>
          <a:p>
            <a:r>
              <a:rPr lang="en-US" dirty="0"/>
              <a:t>"The exact rating depends on context."</a:t>
            </a:r>
          </a:p>
          <a:p>
            <a:endParaRPr lang="en-US" dirty="0"/>
          </a:p>
          <a:p>
            <a:r>
              <a:rPr lang="en-US" dirty="0"/>
              <a:t>------------------------------------------------------------</a:t>
            </a:r>
          </a:p>
          <a:p>
            <a:endParaRPr lang="en-US" dirty="0"/>
          </a:p>
          <a:p>
            <a:r>
              <a:rPr lang="en-US" dirty="0"/>
              <a:t>EVIDENCE</a:t>
            </a:r>
          </a:p>
          <a:p>
            <a:endParaRPr lang="en-US" dirty="0"/>
          </a:p>
          <a:p>
            <a:r>
              <a:rPr lang="en-US" dirty="0"/>
              <a:t>Ask:</a:t>
            </a:r>
          </a:p>
          <a:p>
            <a:endParaRPr lang="en-US" dirty="0"/>
          </a:p>
          <a:p>
            <a:r>
              <a:rPr lang="en-US" dirty="0"/>
              <a:t>"What evidence can we collect?"</a:t>
            </a:r>
          </a:p>
          <a:p>
            <a:endParaRPr lang="en-US" dirty="0"/>
          </a:p>
          <a:p>
            <a:r>
              <a:rPr lang="en-US" dirty="0"/>
              <a:t>Examples:</a:t>
            </a:r>
          </a:p>
          <a:p>
            <a:endParaRPr lang="en-US" dirty="0"/>
          </a:p>
          <a:p>
            <a:r>
              <a:rPr lang="en-US" dirty="0"/>
              <a:t>Screenshot.</a:t>
            </a:r>
          </a:p>
          <a:p>
            <a:endParaRPr lang="en-US" dirty="0"/>
          </a:p>
          <a:p>
            <a:r>
              <a:rPr lang="en-US" dirty="0"/>
              <a:t>Application response.</a:t>
            </a:r>
          </a:p>
          <a:p>
            <a:endParaRPr lang="en-US" dirty="0"/>
          </a:p>
          <a:p>
            <a:r>
              <a:rPr lang="en-US" dirty="0"/>
              <a:t>Error message.</a:t>
            </a:r>
          </a:p>
          <a:p>
            <a:endParaRPr lang="en-US" dirty="0"/>
          </a:p>
          <a:p>
            <a:r>
              <a:rPr lang="en-US" dirty="0"/>
              <a:t>Log entry.</a:t>
            </a:r>
          </a:p>
          <a:p>
            <a:endParaRPr lang="en-US" dirty="0"/>
          </a:p>
          <a:p>
            <a:r>
              <a:rPr lang="en-US" dirty="0"/>
              <a:t>Test result.</a:t>
            </a:r>
          </a:p>
          <a:p>
            <a:endParaRPr lang="en-US" dirty="0"/>
          </a:p>
          <a:p>
            <a:r>
              <a:rPr lang="en-US" dirty="0"/>
              <a:t>Configuration evidence.</a:t>
            </a:r>
          </a:p>
          <a:p>
            <a:endParaRPr lang="en-US" dirty="0"/>
          </a:p>
          <a:p>
            <a:r>
              <a:rPr lang="en-US" dirty="0"/>
              <a:t>Explain:</a:t>
            </a:r>
          </a:p>
          <a:p>
            <a:endParaRPr lang="en-US" dirty="0"/>
          </a:p>
          <a:p>
            <a:r>
              <a:rPr lang="en-US" dirty="0"/>
              <a:t>"Evidence makes the finding reproducible."</a:t>
            </a:r>
          </a:p>
          <a:p>
            <a:endParaRPr lang="en-US" dirty="0"/>
          </a:p>
          <a:p>
            <a:r>
              <a:rPr lang="en-US" dirty="0"/>
              <a:t>------------------------------------------------------------</a:t>
            </a:r>
          </a:p>
          <a:p>
            <a:endParaRPr lang="en-US" dirty="0"/>
          </a:p>
          <a:p>
            <a:r>
              <a:rPr lang="en-US" dirty="0"/>
              <a:t>SAFETY BOUNDARY</a:t>
            </a:r>
          </a:p>
          <a:p>
            <a:endParaRPr lang="en-US" dirty="0"/>
          </a:p>
          <a:p>
            <a:r>
              <a:rPr lang="en-US" dirty="0"/>
              <a:t>Repeat:</a:t>
            </a:r>
          </a:p>
          <a:p>
            <a:endParaRPr lang="en-US" dirty="0"/>
          </a:p>
          <a:p>
            <a:r>
              <a:rPr lang="en-US" dirty="0"/>
              <a:t>"We test only Atlas </a:t>
            </a:r>
            <a:r>
              <a:rPr lang="en-US" dirty="0" err="1"/>
              <a:t>TaskFlow</a:t>
            </a:r>
            <a:r>
              <a:rPr lang="en-US" dirty="0"/>
              <a:t> and approved classroom environments."</a:t>
            </a:r>
          </a:p>
          <a:p>
            <a:endParaRPr lang="en-US" dirty="0"/>
          </a:p>
          <a:p>
            <a:r>
              <a:rPr lang="en-US" dirty="0"/>
              <a:t>Do not test:</a:t>
            </a:r>
          </a:p>
          <a:p>
            <a:endParaRPr lang="en-US" dirty="0"/>
          </a:p>
          <a:p>
            <a:r>
              <a:rPr lang="en-US" dirty="0"/>
              <a:t>Random websites.</a:t>
            </a:r>
          </a:p>
          <a:p>
            <a:endParaRPr lang="en-US" dirty="0"/>
          </a:p>
          <a:p>
            <a:r>
              <a:rPr lang="en-US" dirty="0"/>
              <a:t>School systems.</a:t>
            </a:r>
          </a:p>
          <a:p>
            <a:endParaRPr lang="en-US" dirty="0"/>
          </a:p>
          <a:p>
            <a:r>
              <a:rPr lang="en-US" dirty="0"/>
              <a:t>Public applications.</a:t>
            </a:r>
          </a:p>
          <a:p>
            <a:endParaRPr lang="en-US" dirty="0"/>
          </a:p>
          <a:p>
            <a:r>
              <a:rPr lang="en-US" dirty="0"/>
              <a:t>Other students' systems without permission.</a:t>
            </a:r>
          </a:p>
          <a:p>
            <a:endParaRPr lang="en-US" dirty="0"/>
          </a:p>
          <a:p>
            <a:r>
              <a:rPr lang="en-US" dirty="0"/>
              <a:t>Production systems unless explicitly authorized.</a:t>
            </a:r>
          </a:p>
          <a:p>
            <a:endParaRPr lang="en-US" dirty="0"/>
          </a:p>
          <a:p>
            <a:r>
              <a:rPr lang="en-US" dirty="0"/>
              <a:t>Explain:</a:t>
            </a:r>
          </a:p>
          <a:p>
            <a:endParaRPr lang="en-US" dirty="0"/>
          </a:p>
          <a:p>
            <a:r>
              <a:rPr lang="en-US" dirty="0"/>
              <a:t>"Ethical security testing requires permission."</a:t>
            </a:r>
          </a:p>
          <a:p>
            <a:endParaRPr lang="en-US" dirty="0"/>
          </a:p>
          <a:p>
            <a:r>
              <a:rPr lang="en-US" dirty="0"/>
              <a:t>------------------------------------------------------------</a:t>
            </a:r>
          </a:p>
          <a:p>
            <a:endParaRPr lang="en-US" dirty="0"/>
          </a:p>
          <a:p>
            <a:r>
              <a:rPr lang="en-US" dirty="0"/>
              <a:t>BUILD CHALLENGE</a:t>
            </a:r>
          </a:p>
          <a:p>
            <a:endParaRPr lang="en-US" dirty="0"/>
          </a:p>
          <a:p>
            <a:r>
              <a:rPr lang="en-US" dirty="0"/>
              <a:t>Students perform controlled security tests against Atlas.</a:t>
            </a:r>
          </a:p>
          <a:p>
            <a:endParaRPr lang="en-US" dirty="0"/>
          </a:p>
          <a:p>
            <a:r>
              <a:rPr lang="en-US" dirty="0"/>
              <a:t>Minimum tests:</a:t>
            </a:r>
          </a:p>
          <a:p>
            <a:endParaRPr lang="en-US" dirty="0"/>
          </a:p>
          <a:p>
            <a:r>
              <a:rPr lang="en-US" dirty="0"/>
              <a:t>1. Unauthenticated access.</a:t>
            </a:r>
          </a:p>
          <a:p>
            <a:endParaRPr lang="en-US" dirty="0"/>
          </a:p>
          <a:p>
            <a:r>
              <a:rPr lang="en-US" dirty="0"/>
              <a:t>2. User A → User B resource access.</a:t>
            </a:r>
          </a:p>
          <a:p>
            <a:endParaRPr lang="en-US" dirty="0"/>
          </a:p>
          <a:p>
            <a:r>
              <a:rPr lang="en-US" dirty="0"/>
              <a:t>3. Unauthorized edit.</a:t>
            </a:r>
          </a:p>
          <a:p>
            <a:endParaRPr lang="en-US" dirty="0"/>
          </a:p>
          <a:p>
            <a:r>
              <a:rPr lang="en-US" dirty="0"/>
              <a:t>4. Unauthorized delete.</a:t>
            </a:r>
          </a:p>
          <a:p>
            <a:endParaRPr lang="en-US" dirty="0"/>
          </a:p>
          <a:p>
            <a:r>
              <a:rPr lang="en-US" dirty="0"/>
              <a:t>5. Invalid input.</a:t>
            </a:r>
          </a:p>
          <a:p>
            <a:endParaRPr lang="en-US" dirty="0"/>
          </a:p>
          <a:p>
            <a:r>
              <a:rPr lang="en-US" dirty="0"/>
              <a:t>6. Configuration review.</a:t>
            </a:r>
          </a:p>
          <a:p>
            <a:endParaRPr lang="en-US" dirty="0"/>
          </a:p>
          <a:p>
            <a:r>
              <a:rPr lang="en-US" dirty="0"/>
              <a:t>7. Repository secret review.</a:t>
            </a:r>
          </a:p>
          <a:p>
            <a:endParaRPr lang="en-US" dirty="0"/>
          </a:p>
          <a:p>
            <a:r>
              <a:rPr lang="en-US" dirty="0"/>
              <a:t>8. Error disclosure review.</a:t>
            </a:r>
          </a:p>
          <a:p>
            <a:endParaRPr lang="en-US" dirty="0"/>
          </a:p>
          <a:p>
            <a:r>
              <a:rPr lang="en-US" dirty="0"/>
              <a:t>9. Business-rule bypass attempt.</a:t>
            </a:r>
          </a:p>
          <a:p>
            <a:endParaRPr lang="en-US" dirty="0"/>
          </a:p>
          <a:p>
            <a:r>
              <a:rPr lang="en-US" dirty="0"/>
              <a:t>10. Retest at least one fixed issue.</a:t>
            </a:r>
          </a:p>
          <a:p>
            <a:endParaRPr lang="en-US" dirty="0"/>
          </a:p>
          <a:p>
            <a:r>
              <a:rPr lang="en-US" dirty="0"/>
              <a:t>------------------------------------------------------------</a:t>
            </a:r>
          </a:p>
          <a:p>
            <a:endParaRPr lang="en-US" dirty="0"/>
          </a:p>
          <a:p>
            <a:r>
              <a:rPr lang="en-US" dirty="0"/>
              <a:t>THE BREAK / FIX / RETEST LOOP</a:t>
            </a:r>
          </a:p>
          <a:p>
            <a:endParaRPr lang="en-US" dirty="0"/>
          </a:p>
          <a:p>
            <a:r>
              <a:rPr lang="en-US" dirty="0"/>
              <a:t>Point to:</a:t>
            </a:r>
          </a:p>
          <a:p>
            <a:endParaRPr lang="en-US" dirty="0"/>
          </a:p>
          <a:p>
            <a:r>
              <a:rPr lang="en-US" dirty="0"/>
              <a:t>BREAK</a:t>
            </a:r>
          </a:p>
          <a:p>
            <a:endParaRPr lang="en-US" dirty="0"/>
          </a:p>
          <a:p>
            <a:r>
              <a:rPr lang="en-US" dirty="0"/>
              <a:t>↓</a:t>
            </a:r>
          </a:p>
          <a:p>
            <a:endParaRPr lang="en-US" dirty="0"/>
          </a:p>
          <a:p>
            <a:r>
              <a:rPr lang="en-US" dirty="0"/>
              <a:t>FIX</a:t>
            </a:r>
          </a:p>
          <a:p>
            <a:endParaRPr lang="en-US" dirty="0"/>
          </a:p>
          <a:p>
            <a:r>
              <a:rPr lang="en-US" dirty="0"/>
              <a:t>↓</a:t>
            </a:r>
          </a:p>
          <a:p>
            <a:endParaRPr lang="en-US" dirty="0"/>
          </a:p>
          <a:p>
            <a:r>
              <a:rPr lang="en-US" dirty="0"/>
              <a:t>RETEST</a:t>
            </a:r>
          </a:p>
          <a:p>
            <a:endParaRPr lang="en-US" dirty="0"/>
          </a:p>
          <a:p>
            <a:r>
              <a:rPr lang="en-US" dirty="0"/>
              <a:t>Say:</a:t>
            </a:r>
          </a:p>
          <a:p>
            <a:endParaRPr lang="en-US" dirty="0"/>
          </a:p>
          <a:p>
            <a:r>
              <a:rPr lang="en-US" dirty="0"/>
              <a:t>"This is the most important loop in today's lesson."</a:t>
            </a:r>
          </a:p>
          <a:p>
            <a:endParaRPr lang="en-US" dirty="0"/>
          </a:p>
          <a:p>
            <a:r>
              <a:rPr lang="en-US" dirty="0"/>
              <a:t>A vulnerability isn't the end.</a:t>
            </a:r>
          </a:p>
          <a:p>
            <a:endParaRPr lang="en-US" dirty="0"/>
          </a:p>
          <a:p>
            <a:r>
              <a:rPr lang="en-US" dirty="0"/>
              <a:t>It's the beginning of improvement.</a:t>
            </a:r>
          </a:p>
          <a:p>
            <a:endParaRPr lang="en-US" dirty="0"/>
          </a:p>
          <a:p>
            <a:r>
              <a:rPr lang="en-US" dirty="0"/>
              <a:t>------------------------------------------------------------</a:t>
            </a:r>
          </a:p>
          <a:p>
            <a:endParaRPr lang="en-US" dirty="0"/>
          </a:p>
          <a:p>
            <a:r>
              <a:rPr lang="en-US" dirty="0"/>
              <a:t>ENGINEERING INSIGHT</a:t>
            </a:r>
          </a:p>
          <a:p>
            <a:endParaRPr lang="en-US" dirty="0"/>
          </a:p>
          <a:p>
            <a:r>
              <a:rPr lang="en-US" dirty="0"/>
              <a:t>Point to:</a:t>
            </a:r>
          </a:p>
          <a:p>
            <a:endParaRPr lang="en-US" dirty="0"/>
          </a:p>
          <a:p>
            <a:r>
              <a:rPr lang="en-US" dirty="0"/>
              <a:t>"Security gets stronger through testing."</a:t>
            </a:r>
          </a:p>
          <a:p>
            <a:endParaRPr lang="en-US" dirty="0"/>
          </a:p>
          <a:p>
            <a:r>
              <a:rPr lang="en-US" dirty="0"/>
              <a:t>Say:</a:t>
            </a:r>
          </a:p>
          <a:p>
            <a:endParaRPr lang="en-US" dirty="0"/>
          </a:p>
          <a:p>
            <a:r>
              <a:rPr lang="en-US" dirty="0"/>
              <a:t>"We don't prove software is secure by looking at it."</a:t>
            </a:r>
          </a:p>
          <a:p>
            <a:endParaRPr lang="en-US" dirty="0"/>
          </a:p>
          <a:p>
            <a:r>
              <a:rPr lang="en-US" dirty="0"/>
              <a:t>"We gain confidence by testing it."</a:t>
            </a:r>
          </a:p>
          <a:p>
            <a:endParaRPr lang="en-US" dirty="0"/>
          </a:p>
          <a:p>
            <a:r>
              <a:rPr lang="en-US" dirty="0"/>
              <a:t>"Then testing it again."</a:t>
            </a:r>
          </a:p>
          <a:p>
            <a:endParaRPr lang="en-US" dirty="0"/>
          </a:p>
          <a:p>
            <a:r>
              <a:rPr lang="en-US" dirty="0"/>
              <a:t>------------------------------------------------------------</a:t>
            </a:r>
          </a:p>
          <a:p>
            <a:endParaRPr lang="en-US" dirty="0"/>
          </a:p>
          <a:p>
            <a:r>
              <a:rPr lang="en-US" dirty="0"/>
              <a:t>SPRINT CONNECTION</a:t>
            </a:r>
          </a:p>
          <a:p>
            <a:endParaRPr lang="en-US" dirty="0"/>
          </a:p>
          <a:p>
            <a:r>
              <a:rPr lang="en-US" dirty="0"/>
              <a:t>Point to:</a:t>
            </a:r>
          </a:p>
          <a:p>
            <a:endParaRPr lang="en-US" dirty="0"/>
          </a:p>
          <a:p>
            <a:r>
              <a:rPr lang="en-US" dirty="0"/>
              <a:t>⑥ PROTECT IT</a:t>
            </a:r>
          </a:p>
          <a:p>
            <a:endParaRPr lang="en-US" dirty="0"/>
          </a:p>
          <a:p>
            <a:r>
              <a:rPr lang="en-US" dirty="0"/>
              <a:t>Review:</a:t>
            </a:r>
          </a:p>
          <a:p>
            <a:endParaRPr lang="en-US" dirty="0"/>
          </a:p>
          <a:p>
            <a:r>
              <a:rPr lang="en-US" dirty="0"/>
              <a:t>Authentication.</a:t>
            </a:r>
          </a:p>
          <a:p>
            <a:endParaRPr lang="en-US" dirty="0"/>
          </a:p>
          <a:p>
            <a:r>
              <a:rPr lang="en-US" dirty="0"/>
              <a:t>Authorization.</a:t>
            </a:r>
          </a:p>
          <a:p>
            <a:endParaRPr lang="en-US" dirty="0"/>
          </a:p>
          <a:p>
            <a:r>
              <a:rPr lang="en-US" dirty="0"/>
              <a:t>Data protection.</a:t>
            </a:r>
          </a:p>
          <a:p>
            <a:endParaRPr lang="en-US" dirty="0"/>
          </a:p>
          <a:p>
            <a:r>
              <a:rPr lang="en-US" dirty="0"/>
              <a:t>Secure configuration.</a:t>
            </a:r>
          </a:p>
          <a:p>
            <a:endParaRPr lang="en-US" dirty="0"/>
          </a:p>
          <a:p>
            <a:r>
              <a:rPr lang="en-US" dirty="0"/>
              <a:t>Security testing.</a:t>
            </a:r>
          </a:p>
          <a:p>
            <a:endParaRPr lang="en-US" dirty="0"/>
          </a:p>
          <a:p>
            <a:r>
              <a:rPr lang="en-US" dirty="0"/>
              <a:t>Say:</a:t>
            </a:r>
          </a:p>
          <a:p>
            <a:endParaRPr lang="en-US" dirty="0"/>
          </a:p>
          <a:p>
            <a:r>
              <a:rPr lang="en-US" dirty="0"/>
              <a:t>"This is the culmination of Sprint 6."</a:t>
            </a:r>
          </a:p>
          <a:p>
            <a:endParaRPr lang="en-US" dirty="0"/>
          </a:p>
          <a:p>
            <a:r>
              <a:rPr lang="en-US" dirty="0"/>
              <a:t>"We didn't just learn security concepts."</a:t>
            </a:r>
          </a:p>
          <a:p>
            <a:endParaRPr lang="en-US" dirty="0"/>
          </a:p>
          <a:p>
            <a:r>
              <a:rPr lang="en-US" dirty="0"/>
              <a:t>"We applied them."</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SPRINT 7 — PREPARE IT.</a:t>
            </a:r>
          </a:p>
          <a:p>
            <a:endParaRPr lang="en-US" dirty="0"/>
          </a:p>
          <a:p>
            <a:r>
              <a:rPr lang="en-US" dirty="0"/>
              <a:t>Say:</a:t>
            </a:r>
          </a:p>
          <a:p>
            <a:endParaRPr lang="en-US" dirty="0"/>
          </a:p>
          <a:p>
            <a:r>
              <a:rPr lang="en-US" dirty="0"/>
              <a:t>"We've built."</a:t>
            </a:r>
          </a:p>
          <a:p>
            <a:endParaRPr lang="en-US" dirty="0"/>
          </a:p>
          <a:p>
            <a:r>
              <a:rPr lang="en-US" dirty="0"/>
              <a:t>"We've deployed."</a:t>
            </a:r>
          </a:p>
          <a:p>
            <a:endParaRPr lang="en-US" dirty="0"/>
          </a:p>
          <a:p>
            <a:r>
              <a:rPr lang="en-US" dirty="0"/>
              <a:t>"We've given Atlas memory."</a:t>
            </a:r>
          </a:p>
          <a:p>
            <a:endParaRPr lang="en-US" dirty="0"/>
          </a:p>
          <a:p>
            <a:r>
              <a:rPr lang="en-US" dirty="0"/>
              <a:t>"We've protected it."</a:t>
            </a:r>
          </a:p>
          <a:p>
            <a:endParaRPr lang="en-US" dirty="0"/>
          </a:p>
          <a:p>
            <a:r>
              <a:rPr lang="en-US" dirty="0"/>
              <a:t>"Now we have another question."</a:t>
            </a:r>
          </a:p>
          <a:p>
            <a:endParaRPr lang="en-US" dirty="0"/>
          </a:p>
          <a:p>
            <a:r>
              <a:rPr lang="en-US" dirty="0"/>
              <a:t>"Is Atlas ready for real-world use?"</a:t>
            </a:r>
          </a:p>
          <a:p>
            <a:endParaRPr lang="en-US" dirty="0"/>
          </a:p>
          <a:p>
            <a:r>
              <a:rPr lang="en-US" dirty="0"/>
              <a:t>That will lead us into:</a:t>
            </a:r>
          </a:p>
          <a:p>
            <a:endParaRPr lang="en-US" dirty="0"/>
          </a:p>
          <a:p>
            <a:r>
              <a:rPr lang="en-US" dirty="0"/>
              <a:t>Configuration.</a:t>
            </a:r>
          </a:p>
          <a:p>
            <a:endParaRPr lang="en-US" dirty="0"/>
          </a:p>
          <a:p>
            <a:r>
              <a:rPr lang="en-US" dirty="0"/>
              <a:t>Reliability.</a:t>
            </a:r>
          </a:p>
          <a:p>
            <a:endParaRPr lang="en-US" dirty="0"/>
          </a:p>
          <a:p>
            <a:r>
              <a:rPr lang="en-US" dirty="0"/>
              <a:t>Monitoring.</a:t>
            </a:r>
          </a:p>
          <a:p>
            <a:endParaRPr lang="en-US" dirty="0"/>
          </a:p>
          <a:p>
            <a:r>
              <a:rPr lang="en-US" dirty="0"/>
              <a:t>Documentation.</a:t>
            </a:r>
          </a:p>
          <a:p>
            <a:endParaRPr lang="en-US" dirty="0"/>
          </a:p>
          <a:p>
            <a:r>
              <a:rPr lang="en-US" dirty="0"/>
              <a:t>Production readiness.</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"The best time to find a security problem..."</a:t>
            </a:r>
          </a:p>
          <a:p>
            <a:endParaRPr lang="en-US" dirty="0"/>
          </a:p>
          <a:p>
            <a:r>
              <a:rPr lang="en-US" dirty="0"/>
              <a:t>Pause.</a:t>
            </a:r>
          </a:p>
          <a:p>
            <a:endParaRPr lang="en-US" dirty="0"/>
          </a:p>
          <a:p>
            <a:r>
              <a:rPr lang="en-US" dirty="0"/>
              <a:t>"...is before your users do."</a:t>
            </a:r>
          </a:p>
          <a:p>
            <a:endParaRPr lang="en-US" dirty="0"/>
          </a:p>
          <a:p>
            <a:r>
              <a:rPr lang="en-US" dirty="0"/>
              <a:t>Then:</a:t>
            </a:r>
          </a:p>
          <a:p>
            <a:endParaRPr lang="en-US" dirty="0"/>
          </a:p>
          <a:p>
            <a:r>
              <a:rPr lang="en-US" dirty="0"/>
              <a:t>"Think like an attacker."</a:t>
            </a:r>
          </a:p>
          <a:p>
            <a:endParaRPr lang="en-US" dirty="0"/>
          </a:p>
          <a:p>
            <a:r>
              <a:rPr lang="en-US" dirty="0"/>
              <a:t>"Test like an engineer."</a:t>
            </a:r>
          </a:p>
          <a:p>
            <a:endParaRPr lang="en-US" dirty="0"/>
          </a:p>
          <a:p>
            <a:r>
              <a:rPr lang="en-US" dirty="0"/>
              <a:t>"Fix what you find."</a:t>
            </a:r>
          </a:p>
          <a:p>
            <a:endParaRPr lang="en-US" dirty="0"/>
          </a:p>
          <a:p>
            <a:r>
              <a:rPr lang="en-US" dirty="0"/>
              <a:t>"And test it again."</a:t>
            </a:r>
          </a:p>
          <a:p>
            <a:endParaRPr lang="en-US" dirty="0"/>
          </a:p>
          <a:p>
            <a:r>
              <a:rPr lang="en-US" dirty="0"/>
              <a:t>============================================================</a:t>
            </a:r>
          </a:p>
          <a:p>
            <a:endParaRPr lang="en-US" dirty="0"/>
          </a:p>
          <a:p>
            <a:r>
              <a:rPr lang="en-US" dirty="0"/>
              <a:t>ESTIMATED TIME</a:t>
            </a:r>
          </a:p>
          <a:p>
            <a:endParaRPr lang="en-US" dirty="0"/>
          </a:p>
          <a:p>
            <a:r>
              <a:rPr lang="en-US" dirty="0"/>
              <a:t>Security Testing Introduction...........8 minutes</a:t>
            </a:r>
          </a:p>
          <a:p>
            <a:endParaRPr lang="en-US" dirty="0"/>
          </a:p>
          <a:p>
            <a:r>
              <a:rPr lang="en-US" dirty="0"/>
              <a:t>Recon &amp; Attack Surface..................10 minutes</a:t>
            </a:r>
          </a:p>
          <a:p>
            <a:endParaRPr lang="en-US" dirty="0"/>
          </a:p>
          <a:p>
            <a:r>
              <a:rPr lang="en-US" dirty="0"/>
              <a:t>Authentication Testing..................8 minutes</a:t>
            </a:r>
          </a:p>
          <a:p>
            <a:endParaRPr lang="en-US" dirty="0"/>
          </a:p>
          <a:p>
            <a:r>
              <a:rPr lang="en-US" dirty="0"/>
              <a:t>Authorization Testing..................10 minutes</a:t>
            </a:r>
          </a:p>
          <a:p>
            <a:endParaRPr lang="en-US" dirty="0"/>
          </a:p>
          <a:p>
            <a:r>
              <a:rPr lang="en-US" dirty="0"/>
              <a:t>Data/Input Testing......................8 minutes</a:t>
            </a:r>
          </a:p>
          <a:p>
            <a:endParaRPr lang="en-US" dirty="0"/>
          </a:p>
          <a:p>
            <a:r>
              <a:rPr lang="en-US" dirty="0"/>
              <a:t>Configuration &amp; Secrets..................7 minutes</a:t>
            </a:r>
          </a:p>
          <a:p>
            <a:endParaRPr lang="en-US" dirty="0"/>
          </a:p>
          <a:p>
            <a:r>
              <a:rPr lang="en-US" dirty="0"/>
              <a:t>Findings &amp; Documentation................8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should be a controlled lab activity.</a:t>
            </a:r>
          </a:p>
          <a:p>
            <a:endParaRPr lang="en-US" dirty="0"/>
          </a:p>
          <a:p>
            <a:r>
              <a:rPr lang="en-US" dirty="0"/>
              <a:t>Students should work only against their own Atlas </a:t>
            </a:r>
            <a:r>
              <a:rPr lang="en-US" dirty="0" err="1"/>
              <a:t>TaskFlow</a:t>
            </a:r>
            <a:r>
              <a:rPr lang="en-US" dirty="0"/>
              <a:t> application</a:t>
            </a:r>
          </a:p>
          <a:p>
            <a:r>
              <a:rPr lang="en-US" dirty="0"/>
              <a:t>or another environment explicitly provided for the exercise.</a:t>
            </a:r>
          </a:p>
          <a:p>
            <a:endParaRPr lang="en-US" dirty="0"/>
          </a:p>
          <a:p>
            <a:r>
              <a:rPr lang="en-US" dirty="0"/>
              <a:t>The emphasis is defensive:</a:t>
            </a:r>
          </a:p>
          <a:p>
            <a:endParaRPr lang="en-US" dirty="0"/>
          </a:p>
          <a:p>
            <a:r>
              <a:rPr lang="en-US" dirty="0"/>
              <a:t>Find.</a:t>
            </a:r>
          </a:p>
          <a:p>
            <a:endParaRPr lang="en-US" dirty="0"/>
          </a:p>
          <a:p>
            <a:r>
              <a:rPr lang="en-US" dirty="0"/>
              <a:t>Understand.</a:t>
            </a:r>
          </a:p>
          <a:p>
            <a:endParaRPr lang="en-US" dirty="0"/>
          </a:p>
          <a:p>
            <a:r>
              <a:rPr lang="en-US" dirty="0"/>
              <a:t>Fix.</a:t>
            </a:r>
          </a:p>
          <a:p>
            <a:endParaRPr lang="en-US" dirty="0"/>
          </a:p>
          <a:p>
            <a:r>
              <a:rPr lang="en-US" dirty="0"/>
              <a:t>Verify.</a:t>
            </a:r>
          </a:p>
          <a:p>
            <a:endParaRPr lang="en-US" dirty="0"/>
          </a:p>
          <a:p>
            <a:r>
              <a:rPr lang="en-US" dirty="0"/>
              <a:t>------------------------------------------------------------</a:t>
            </a:r>
          </a:p>
          <a:p>
            <a:endParaRPr lang="en-US" dirty="0"/>
          </a:p>
          <a:p>
            <a:r>
              <a:rPr lang="en-US" dirty="0"/>
              <a:t>IMPORTANT TEACHING MOVE</a:t>
            </a:r>
          </a:p>
          <a:p>
            <a:endParaRPr lang="en-US" dirty="0"/>
          </a:p>
          <a:p>
            <a:r>
              <a:rPr lang="en-US" dirty="0"/>
              <a:t>Don't give students a list of attacks and tell them to blindly try</a:t>
            </a:r>
          </a:p>
          <a:p>
            <a:r>
              <a:rPr lang="en-US" dirty="0"/>
              <a:t>them.</a:t>
            </a:r>
          </a:p>
          <a:p>
            <a:endParaRPr lang="en-US" dirty="0"/>
          </a:p>
          <a:p>
            <a:r>
              <a:rPr lang="en-US" dirty="0"/>
              <a:t>Give them questions.</a:t>
            </a:r>
          </a:p>
          <a:p>
            <a:endParaRPr lang="en-US" dirty="0"/>
          </a:p>
          <a:p>
            <a:r>
              <a:rPr lang="en-US" dirty="0"/>
              <a:t>For example:</a:t>
            </a:r>
          </a:p>
          <a:p>
            <a:endParaRPr lang="en-US" dirty="0"/>
          </a:p>
          <a:p>
            <a:r>
              <a:rPr lang="en-US" dirty="0"/>
              <a:t>"Can User A access User B's project?"</a:t>
            </a:r>
          </a:p>
          <a:p>
            <a:endParaRPr lang="en-US" dirty="0"/>
          </a:p>
          <a:p>
            <a:r>
              <a:rPr lang="en-US" dirty="0"/>
              <a:t>Then let them determine how to test that question.</a:t>
            </a:r>
          </a:p>
          <a:p>
            <a:endParaRPr lang="en-US" dirty="0"/>
          </a:p>
          <a:p>
            <a:r>
              <a:rPr lang="en-US" dirty="0"/>
              <a:t>This develops problem-solving skills rather than tool memorization.</a:t>
            </a:r>
          </a:p>
          <a:p>
            <a:endParaRPr lang="en-US" dirty="0"/>
          </a:p>
          <a:p>
            <a:r>
              <a:rPr lang="en-US" dirty="0"/>
              <a:t>------------------------------------------------------------</a:t>
            </a:r>
          </a:p>
          <a:p>
            <a:endParaRPr lang="en-US" dirty="0"/>
          </a:p>
          <a:p>
            <a:r>
              <a:rPr lang="en-US" dirty="0"/>
              <a:t>TOOL BOUNDARY</a:t>
            </a:r>
          </a:p>
          <a:p>
            <a:endParaRPr lang="en-US" dirty="0"/>
          </a:p>
          <a:p>
            <a:r>
              <a:rPr lang="en-US" dirty="0"/>
              <a:t>Students may use normal development/testing tools such as:</a:t>
            </a:r>
          </a:p>
          <a:p>
            <a:endParaRPr lang="en-US" dirty="0"/>
          </a:p>
          <a:p>
            <a:r>
              <a:rPr lang="en-US" dirty="0"/>
              <a:t>Browser Developer Tools.</a:t>
            </a:r>
          </a:p>
          <a:p>
            <a:endParaRPr lang="en-US" dirty="0"/>
          </a:p>
          <a:p>
            <a:r>
              <a:rPr lang="en-US" dirty="0"/>
              <a:t>Postman or similar API/testing tools if appropriate.</a:t>
            </a:r>
          </a:p>
          <a:p>
            <a:endParaRPr lang="en-US" dirty="0"/>
          </a:p>
          <a:p>
            <a:r>
              <a:rPr lang="en-US" dirty="0"/>
              <a:t>Application logs.</a:t>
            </a:r>
          </a:p>
          <a:p>
            <a:endParaRPr lang="en-US" dirty="0"/>
          </a:p>
          <a:p>
            <a:r>
              <a:rPr lang="en-US" dirty="0"/>
              <a:t>GitHub repository inspection.</a:t>
            </a:r>
          </a:p>
          <a:p>
            <a:endParaRPr lang="en-US" dirty="0"/>
          </a:p>
          <a:p>
            <a:r>
              <a:rPr lang="en-US" dirty="0"/>
              <a:t>Browser behavior.</a:t>
            </a:r>
          </a:p>
          <a:p>
            <a:endParaRPr lang="en-US" dirty="0"/>
          </a:p>
          <a:p>
            <a:r>
              <a:rPr lang="en-US" dirty="0"/>
              <a:t>Their development environment.</a:t>
            </a:r>
          </a:p>
          <a:p>
            <a:endParaRPr lang="en-US" dirty="0"/>
          </a:p>
          <a:p>
            <a:r>
              <a:rPr lang="en-US" dirty="0"/>
              <a:t>Keep testing controlled and authorized.</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QUESTION</a:t>
            </a:r>
          </a:p>
          <a:p>
            <a:endParaRPr lang="en-US" dirty="0"/>
          </a:p>
          <a:p>
            <a:r>
              <a:rPr lang="en-US" dirty="0"/>
              <a:t>↓</a:t>
            </a:r>
          </a:p>
          <a:p>
            <a:endParaRPr lang="en-US" dirty="0"/>
          </a:p>
          <a:p>
            <a:r>
              <a:rPr lang="en-US" dirty="0"/>
              <a:t>TEST</a:t>
            </a:r>
          </a:p>
          <a:p>
            <a:endParaRPr lang="en-US" dirty="0"/>
          </a:p>
          <a:p>
            <a:r>
              <a:rPr lang="en-US" dirty="0"/>
              <a:t>↓</a:t>
            </a:r>
          </a:p>
          <a:p>
            <a:endParaRPr lang="en-US" dirty="0"/>
          </a:p>
          <a:p>
            <a:r>
              <a:rPr lang="en-US" dirty="0"/>
              <a:t>EVIDENCE</a:t>
            </a:r>
          </a:p>
          <a:p>
            <a:endParaRPr lang="en-US" dirty="0"/>
          </a:p>
          <a:p>
            <a:r>
              <a:rPr lang="en-US" dirty="0"/>
              <a:t>↓</a:t>
            </a:r>
          </a:p>
          <a:p>
            <a:endParaRPr lang="en-US" dirty="0"/>
          </a:p>
          <a:p>
            <a:r>
              <a:rPr lang="en-US" dirty="0"/>
              <a:t>FIX</a:t>
            </a:r>
          </a:p>
          <a:p>
            <a:endParaRPr lang="en-US" dirty="0"/>
          </a:p>
          <a:p>
            <a:r>
              <a:rPr lang="en-US" dirty="0"/>
              <a:t>↓</a:t>
            </a:r>
          </a:p>
          <a:p>
            <a:endParaRPr lang="en-US" dirty="0"/>
          </a:p>
          <a:p>
            <a:r>
              <a:rPr lang="en-US" dirty="0"/>
              <a:t>RETEST</a:t>
            </a:r>
          </a:p>
          <a:p>
            <a:endParaRPr lang="en-US" dirty="0"/>
          </a:p>
          <a:p>
            <a:r>
              <a:rPr lang="en-US" dirty="0"/>
              <a:t>Then:</a:t>
            </a:r>
          </a:p>
          <a:p>
            <a:endParaRPr lang="en-US" dirty="0"/>
          </a:p>
          <a:p>
            <a:r>
              <a:rPr lang="en-US" dirty="0"/>
              <a:t>"Security requires evidence."</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"We don't assume our protections work."</a:t>
            </a:r>
          </a:p>
          <a:p>
            <a:endParaRPr lang="en-US" dirty="0"/>
          </a:p>
          <a:p>
            <a:r>
              <a:rPr lang="en-US" dirty="0"/>
              <a:t>"We challenge them."</a:t>
            </a:r>
          </a:p>
          <a:p>
            <a:endParaRPr lang="en-US" dirty="0"/>
          </a:p>
          <a:p>
            <a:r>
              <a:rPr lang="en-US" dirty="0"/>
              <a:t>"We test them."</a:t>
            </a:r>
          </a:p>
          <a:p>
            <a:endParaRPr lang="en-US" dirty="0"/>
          </a:p>
          <a:p>
            <a:r>
              <a:rPr lang="en-US" dirty="0"/>
              <a:t>"We fix what fails."</a:t>
            </a:r>
          </a:p>
          <a:p>
            <a:endParaRPr lang="en-US" dirty="0"/>
          </a:p>
          <a:p>
            <a:r>
              <a:rPr lang="en-US" dirty="0"/>
              <a:t>"And then..."</a:t>
            </a:r>
          </a:p>
          <a:p>
            <a:endParaRPr lang="en-US" dirty="0"/>
          </a:p>
          <a:p>
            <a:r>
              <a:rPr lang="en-US" dirty="0"/>
              <a:t>"We test again."</a:t>
            </a:r>
          </a:p>
          <a:p>
            <a:endParaRPr lang="en-US" dirty="0"/>
          </a:p>
          <a:p>
            <a:r>
              <a:rPr lang="en-US" dirty="0"/>
              <a:t>"That's how Atlas </a:t>
            </a:r>
            <a:r>
              <a:rPr lang="en-US" dirty="0" err="1"/>
              <a:t>TaskFlow</a:t>
            </a:r>
            <a:r>
              <a:rPr lang="en-US" dirty="0"/>
              <a:t> gets stronger."</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5</a:t>
            </a:fld>
            <a:endParaRPr lang="en-US"/>
          </a:p>
        </p:txBody>
      </p:sp>
    </p:spTree>
    <p:extLst>
      <p:ext uri="{BB962C8B-B14F-4D97-AF65-F5344CB8AC3E}">
        <p14:creationId xmlns:p14="http://schemas.microsoft.com/office/powerpoint/2010/main" val="3943029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SECURITY &amp; SAAS RESPONSIBILITY</a:t>
            </a:r>
          </a:p>
          <a:p>
            <a:endParaRPr lang="en-US" dirty="0"/>
          </a:p>
          <a:p>
            <a:r>
              <a:rPr lang="en-US" dirty="0"/>
              <a:t>"Building trust is a team effort."</a:t>
            </a:r>
          </a:p>
          <a:p>
            <a:endParaRPr lang="en-US" dirty="0"/>
          </a:p>
          <a:p>
            <a:r>
              <a:rPr lang="en-US" dirty="0"/>
              <a:t>============================================================</a:t>
            </a:r>
          </a:p>
          <a:p>
            <a:endParaRPr lang="en-US" dirty="0"/>
          </a:p>
          <a:p>
            <a:r>
              <a:rPr lang="en-US" dirty="0"/>
              <a:t>SLIDE PURPOSE</a:t>
            </a:r>
          </a:p>
          <a:p>
            <a:endParaRPr lang="en-US" dirty="0"/>
          </a:p>
          <a:p>
            <a:r>
              <a:rPr lang="en-US" dirty="0"/>
              <a:t>Help students understand that SaaS security extends beyond code.</a:t>
            </a:r>
          </a:p>
          <a:p>
            <a:endParaRPr lang="en-US" dirty="0"/>
          </a:p>
          <a:p>
            <a:r>
              <a:rPr lang="en-US" dirty="0"/>
              <a:t>A SaaS provider is responsible for protecting the trust users place</a:t>
            </a:r>
          </a:p>
          <a:p>
            <a:r>
              <a:rPr lang="en-US" dirty="0"/>
              <a:t>in the application.</a:t>
            </a:r>
          </a:p>
          <a:p>
            <a:endParaRPr lang="en-US" dirty="0"/>
          </a:p>
          <a:p>
            <a:r>
              <a:rPr lang="en-US" dirty="0"/>
              <a:t>Students should understand:</a:t>
            </a:r>
          </a:p>
          <a:p>
            <a:endParaRPr lang="en-US" dirty="0"/>
          </a:p>
          <a:p>
            <a:r>
              <a:rPr lang="en-US" dirty="0"/>
              <a:t>• Security</a:t>
            </a:r>
          </a:p>
          <a:p>
            <a:r>
              <a:rPr lang="en-US" dirty="0"/>
              <a:t>• Privacy</a:t>
            </a:r>
          </a:p>
          <a:p>
            <a:r>
              <a:rPr lang="en-US" dirty="0"/>
              <a:t>• Integrity</a:t>
            </a:r>
          </a:p>
          <a:p>
            <a:r>
              <a:rPr lang="en-US" dirty="0"/>
              <a:t>• Availability</a:t>
            </a:r>
          </a:p>
          <a:p>
            <a:r>
              <a:rPr lang="en-US" dirty="0"/>
              <a:t>• Transparency</a:t>
            </a:r>
          </a:p>
          <a:p>
            <a:r>
              <a:rPr lang="en-US" dirty="0"/>
              <a:t>• Responsibility</a:t>
            </a:r>
          </a:p>
          <a:p>
            <a:r>
              <a:rPr lang="en-US" dirty="0"/>
              <a:t>• Data ownership</a:t>
            </a:r>
          </a:p>
          <a:p>
            <a:r>
              <a:rPr lang="en-US" dirty="0"/>
              <a:t>• User expectations</a:t>
            </a:r>
          </a:p>
          <a:p>
            <a:r>
              <a:rPr lang="en-US" dirty="0"/>
              <a:t>• Incident response</a:t>
            </a:r>
          </a:p>
          <a:p>
            <a:r>
              <a:rPr lang="en-US" dirty="0"/>
              <a:t>• Reliability</a:t>
            </a:r>
          </a:p>
          <a:p>
            <a:r>
              <a:rPr lang="en-US" dirty="0"/>
              <a:t>• Security as a continuous process</a:t>
            </a:r>
          </a:p>
          <a:p>
            <a:endParaRPr lang="en-US" dirty="0"/>
          </a:p>
          <a:p>
            <a:r>
              <a:rPr lang="en-US" dirty="0"/>
              <a:t>The goal is to help students think like software engineers who are</a:t>
            </a:r>
          </a:p>
          <a:p>
            <a:r>
              <a:rPr lang="en-US" dirty="0"/>
              <a:t>responsible for a product—not simply programmers who write code.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"We've spent this sprint talking about security."</a:t>
            </a:r>
          </a:p>
          <a:p>
            <a:endParaRPr lang="en-US" dirty="0"/>
          </a:p>
          <a:p>
            <a:r>
              <a:rPr lang="en-US" dirty="0"/>
              <a:t>"We've authenticated users."</a:t>
            </a:r>
          </a:p>
          <a:p>
            <a:endParaRPr lang="en-US" dirty="0"/>
          </a:p>
          <a:p>
            <a:r>
              <a:rPr lang="en-US" dirty="0"/>
              <a:t>"We've authorized actions."</a:t>
            </a:r>
          </a:p>
          <a:p>
            <a:endParaRPr lang="en-US" dirty="0"/>
          </a:p>
          <a:p>
            <a:r>
              <a:rPr lang="en-US" dirty="0"/>
              <a:t>"We've protected data."</a:t>
            </a:r>
          </a:p>
          <a:p>
            <a:endParaRPr lang="en-US" dirty="0"/>
          </a:p>
          <a:p>
            <a:r>
              <a:rPr lang="en-US" dirty="0"/>
              <a:t>"We've tested our application."</a:t>
            </a:r>
          </a:p>
          <a:p>
            <a:endParaRPr lang="en-US" dirty="0"/>
          </a:p>
          <a:p>
            <a:r>
              <a:rPr lang="en-US" dirty="0"/>
              <a:t>Pause.</a:t>
            </a:r>
          </a:p>
          <a:p>
            <a:endParaRPr lang="en-US" dirty="0"/>
          </a:p>
          <a:p>
            <a:r>
              <a:rPr lang="en-US" dirty="0"/>
              <a:t>"But security isn't just about the code."</a:t>
            </a:r>
          </a:p>
          <a:p>
            <a:endParaRPr lang="en-US" dirty="0"/>
          </a:p>
          <a:p>
            <a:r>
              <a:rPr lang="en-US" dirty="0"/>
              <a:t>Point to:</a:t>
            </a:r>
          </a:p>
          <a:p>
            <a:endParaRPr lang="en-US" dirty="0"/>
          </a:p>
          <a:p>
            <a:r>
              <a:rPr lang="en-US" dirty="0"/>
              <a:t>TRUST.</a:t>
            </a:r>
          </a:p>
          <a:p>
            <a:endParaRPr lang="en-US" dirty="0"/>
          </a:p>
          <a:p>
            <a:r>
              <a:rPr lang="en-US" dirty="0"/>
              <a:t>Say:</a:t>
            </a:r>
          </a:p>
          <a:p>
            <a:endParaRPr lang="en-US" dirty="0"/>
          </a:p>
          <a:p>
            <a:r>
              <a:rPr lang="en-US" dirty="0"/>
              <a:t>"People are trusting us."</a:t>
            </a:r>
          </a:p>
          <a:p>
            <a:endParaRPr lang="en-US" dirty="0"/>
          </a:p>
          <a:p>
            <a:r>
              <a:rPr lang="en-US" dirty="0"/>
              <a:t>------------------------------------------------------------</a:t>
            </a:r>
          </a:p>
          <a:p>
            <a:endParaRPr lang="en-US" dirty="0"/>
          </a:p>
          <a:p>
            <a:r>
              <a:rPr lang="en-US" dirty="0"/>
              <a:t>THE BIG IDEA</a:t>
            </a:r>
          </a:p>
          <a:p>
            <a:endParaRPr lang="en-US" dirty="0"/>
          </a:p>
          <a:p>
            <a:r>
              <a:rPr lang="en-US" dirty="0"/>
              <a:t>Point to:</a:t>
            </a:r>
          </a:p>
          <a:p>
            <a:endParaRPr lang="en-US" dirty="0"/>
          </a:p>
          <a:p>
            <a:r>
              <a:rPr lang="en-US" dirty="0"/>
              <a:t>"Users trust Atlas </a:t>
            </a:r>
            <a:r>
              <a:rPr lang="en-US" dirty="0" err="1"/>
              <a:t>TaskFlow</a:t>
            </a:r>
            <a:r>
              <a:rPr lang="en-US" dirty="0"/>
              <a:t> with their information and their work."</a:t>
            </a:r>
          </a:p>
          <a:p>
            <a:endParaRPr lang="en-US" dirty="0"/>
          </a:p>
          <a:p>
            <a:r>
              <a:rPr lang="en-US" dirty="0"/>
              <a:t>Ask:</a:t>
            </a:r>
          </a:p>
          <a:p>
            <a:endParaRPr lang="en-US" dirty="0"/>
          </a:p>
          <a:p>
            <a:r>
              <a:rPr lang="en-US" dirty="0"/>
              <a:t>"What does that trust mean?"</a:t>
            </a:r>
          </a:p>
          <a:p>
            <a:endParaRPr lang="en-US" dirty="0"/>
          </a:p>
          <a:p>
            <a:r>
              <a:rPr lang="en-US" dirty="0"/>
              <a:t>Allow students to respond.</a:t>
            </a:r>
          </a:p>
          <a:p>
            <a:endParaRPr lang="en-US" dirty="0"/>
          </a:p>
          <a:p>
            <a:r>
              <a:rPr lang="en-US" dirty="0"/>
              <a:t>Possible answers:</a:t>
            </a:r>
          </a:p>
          <a:p>
            <a:endParaRPr lang="en-US" dirty="0"/>
          </a:p>
          <a:p>
            <a:r>
              <a:rPr lang="en-US" dirty="0"/>
              <a:t>The application should work.</a:t>
            </a:r>
          </a:p>
          <a:p>
            <a:endParaRPr lang="en-US" dirty="0"/>
          </a:p>
          <a:p>
            <a:r>
              <a:rPr lang="en-US" dirty="0"/>
              <a:t>Their information should be protected.</a:t>
            </a:r>
          </a:p>
          <a:p>
            <a:endParaRPr lang="en-US" dirty="0"/>
          </a:p>
          <a:p>
            <a:r>
              <a:rPr lang="en-US" dirty="0"/>
              <a:t>Other users shouldn't see private information.</a:t>
            </a:r>
          </a:p>
          <a:p>
            <a:endParaRPr lang="en-US" dirty="0"/>
          </a:p>
          <a:p>
            <a:r>
              <a:rPr lang="en-US" dirty="0"/>
              <a:t>Their data shouldn't disappear.</a:t>
            </a:r>
          </a:p>
          <a:p>
            <a:endParaRPr lang="en-US" dirty="0"/>
          </a:p>
          <a:p>
            <a:r>
              <a:rPr lang="en-US" dirty="0"/>
              <a:t>The application shouldn't lie to them.</a:t>
            </a:r>
          </a:p>
          <a:p>
            <a:endParaRPr lang="en-US" dirty="0"/>
          </a:p>
          <a:p>
            <a:r>
              <a:rPr lang="en-US" dirty="0"/>
              <a:t>Exactly.</a:t>
            </a:r>
          </a:p>
          <a:p>
            <a:endParaRPr lang="en-US" dirty="0"/>
          </a:p>
          <a:p>
            <a:r>
              <a:rPr lang="en-US" dirty="0"/>
              <a:t>Say:</a:t>
            </a:r>
          </a:p>
          <a:p>
            <a:endParaRPr lang="en-US" dirty="0"/>
          </a:p>
          <a:p>
            <a:r>
              <a:rPr lang="en-US" dirty="0"/>
              <a:t>"Trust is earned through responsible engineering."</a:t>
            </a:r>
          </a:p>
          <a:p>
            <a:endParaRPr lang="en-US" dirty="0"/>
          </a:p>
          <a:p>
            <a:r>
              <a:rPr lang="en-US" dirty="0"/>
              <a:t>------------------------------------------------------------</a:t>
            </a:r>
          </a:p>
          <a:p>
            <a:endParaRPr lang="en-US" dirty="0"/>
          </a:p>
          <a:p>
            <a:r>
              <a:rPr lang="en-US" dirty="0"/>
              <a:t>TRUST IS NOT A FEATURE</a:t>
            </a:r>
          </a:p>
          <a:p>
            <a:endParaRPr lang="en-US" dirty="0"/>
          </a:p>
          <a:p>
            <a:r>
              <a:rPr lang="en-US" dirty="0"/>
              <a:t>Point to:</a:t>
            </a:r>
          </a:p>
          <a:p>
            <a:endParaRPr lang="en-US" dirty="0"/>
          </a:p>
          <a:p>
            <a:r>
              <a:rPr lang="en-US" dirty="0"/>
              <a:t>"Trust is not a feature."</a:t>
            </a:r>
          </a:p>
          <a:p>
            <a:endParaRPr lang="en-US" dirty="0"/>
          </a:p>
          <a:p>
            <a:r>
              <a:rPr lang="en-US" dirty="0"/>
              <a:t>Say:</a:t>
            </a:r>
          </a:p>
          <a:p>
            <a:endParaRPr lang="en-US" dirty="0"/>
          </a:p>
          <a:p>
            <a:r>
              <a:rPr lang="en-US" dirty="0"/>
              <a:t>"You can't add a button called 'Trust.'"</a:t>
            </a:r>
          </a:p>
          <a:p>
            <a:endParaRPr lang="en-US" dirty="0"/>
          </a:p>
          <a:p>
            <a:r>
              <a:rPr lang="en-US" dirty="0"/>
              <a:t>Pause.</a:t>
            </a:r>
          </a:p>
          <a:p>
            <a:endParaRPr lang="en-US" dirty="0"/>
          </a:p>
          <a:p>
            <a:r>
              <a:rPr lang="en-US" dirty="0"/>
              <a:t>"Trust comes from everything the application does."</a:t>
            </a:r>
          </a:p>
          <a:p>
            <a:endParaRPr lang="en-US" dirty="0"/>
          </a:p>
          <a:p>
            <a:r>
              <a:rPr lang="en-US" dirty="0"/>
              <a:t>How we:</a:t>
            </a:r>
          </a:p>
          <a:p>
            <a:endParaRPr lang="en-US" dirty="0"/>
          </a:p>
          <a:p>
            <a:r>
              <a:rPr lang="en-US" dirty="0"/>
              <a:t>Design.</a:t>
            </a:r>
          </a:p>
          <a:p>
            <a:endParaRPr lang="en-US" dirty="0"/>
          </a:p>
          <a:p>
            <a:r>
              <a:rPr lang="en-US" dirty="0"/>
              <a:t>Build.</a:t>
            </a:r>
          </a:p>
          <a:p>
            <a:endParaRPr lang="en-US" dirty="0"/>
          </a:p>
          <a:p>
            <a:r>
              <a:rPr lang="en-US" dirty="0"/>
              <a:t>Secure.</a:t>
            </a:r>
          </a:p>
          <a:p>
            <a:endParaRPr lang="en-US" dirty="0"/>
          </a:p>
          <a:p>
            <a:r>
              <a:rPr lang="en-US" dirty="0"/>
              <a:t>Deploy.</a:t>
            </a:r>
          </a:p>
          <a:p>
            <a:endParaRPr lang="en-US" dirty="0"/>
          </a:p>
          <a:p>
            <a:r>
              <a:rPr lang="en-US" dirty="0"/>
              <a:t>Monitor.</a:t>
            </a:r>
          </a:p>
          <a:p>
            <a:endParaRPr lang="en-US" dirty="0"/>
          </a:p>
          <a:p>
            <a:r>
              <a:rPr lang="en-US" dirty="0"/>
              <a:t>Respond.</a:t>
            </a:r>
          </a:p>
          <a:p>
            <a:endParaRPr lang="en-US" dirty="0"/>
          </a:p>
          <a:p>
            <a:r>
              <a:rPr lang="en-US" dirty="0"/>
              <a:t>Communicate.</a:t>
            </a:r>
          </a:p>
          <a:p>
            <a:endParaRPr lang="en-US" dirty="0"/>
          </a:p>
          <a:p>
            <a:r>
              <a:rPr lang="en-US" dirty="0"/>
              <a:t>------------------------------------------------------------</a:t>
            </a:r>
          </a:p>
          <a:p>
            <a:endParaRPr lang="en-US" dirty="0"/>
          </a:p>
          <a:p>
            <a:r>
              <a:rPr lang="en-US" dirty="0"/>
              <a:t>THE PILLARS OF TRUST</a:t>
            </a:r>
          </a:p>
          <a:p>
            <a:endParaRPr lang="en-US" dirty="0"/>
          </a:p>
          <a:p>
            <a:r>
              <a:rPr lang="en-US" dirty="0"/>
              <a:t>Introduce the six pillars.</a:t>
            </a:r>
          </a:p>
          <a:p>
            <a:endParaRPr lang="en-US" dirty="0"/>
          </a:p>
          <a:p>
            <a:r>
              <a:rPr lang="en-US" dirty="0"/>
              <a:t>SECURITY</a:t>
            </a:r>
          </a:p>
          <a:p>
            <a:endParaRPr lang="en-US" dirty="0"/>
          </a:p>
          <a:p>
            <a:r>
              <a:rPr lang="en-US" dirty="0"/>
              <a:t>PRIVACY</a:t>
            </a:r>
          </a:p>
          <a:p>
            <a:endParaRPr lang="en-US" dirty="0"/>
          </a:p>
          <a:p>
            <a:r>
              <a:rPr lang="en-US" dirty="0"/>
              <a:t>INTEGRITY</a:t>
            </a:r>
          </a:p>
          <a:p>
            <a:endParaRPr lang="en-US" dirty="0"/>
          </a:p>
          <a:p>
            <a:r>
              <a:rPr lang="en-US" dirty="0"/>
              <a:t>AVAILABILITY</a:t>
            </a:r>
          </a:p>
          <a:p>
            <a:endParaRPr lang="en-US" dirty="0"/>
          </a:p>
          <a:p>
            <a:r>
              <a:rPr lang="en-US" dirty="0"/>
              <a:t>TRANSPARENCY</a:t>
            </a:r>
          </a:p>
          <a:p>
            <a:endParaRPr lang="en-US" dirty="0"/>
          </a:p>
          <a:p>
            <a:r>
              <a:rPr lang="en-US" dirty="0"/>
              <a:t>RESPONSIBILITY</a:t>
            </a:r>
          </a:p>
          <a:p>
            <a:endParaRPr lang="en-US" dirty="0"/>
          </a:p>
          <a:p>
            <a:r>
              <a:rPr lang="en-US" dirty="0"/>
              <a:t>Say:</a:t>
            </a:r>
          </a:p>
          <a:p>
            <a:endParaRPr lang="en-US" dirty="0"/>
          </a:p>
          <a:p>
            <a:r>
              <a:rPr lang="en-US" dirty="0"/>
              <a:t>"These are different ideas, but together they create trust."</a:t>
            </a:r>
          </a:p>
          <a:p>
            <a:endParaRPr lang="en-US" dirty="0"/>
          </a:p>
          <a:p>
            <a:r>
              <a:rPr lang="en-US" dirty="0"/>
              <a:t>------------------------------------------------------------</a:t>
            </a:r>
          </a:p>
          <a:p>
            <a:endParaRPr lang="en-US" dirty="0"/>
          </a:p>
          <a:p>
            <a:r>
              <a:rPr lang="en-US" dirty="0"/>
              <a:t>PILLAR 1 — SECURITY</a:t>
            </a:r>
          </a:p>
          <a:p>
            <a:endParaRPr lang="en-US" dirty="0"/>
          </a:p>
          <a:p>
            <a:r>
              <a:rPr lang="en-US" dirty="0"/>
              <a:t>Point to:</a:t>
            </a:r>
          </a:p>
          <a:p>
            <a:endParaRPr lang="en-US" dirty="0"/>
          </a:p>
          <a:p>
            <a:r>
              <a:rPr lang="en-US" dirty="0"/>
              <a:t>SECURITY.</a:t>
            </a:r>
          </a:p>
          <a:p>
            <a:endParaRPr lang="en-US" dirty="0"/>
          </a:p>
          <a:p>
            <a:r>
              <a:rPr lang="en-US" dirty="0"/>
              <a:t>Explain:</a:t>
            </a:r>
          </a:p>
          <a:p>
            <a:endParaRPr lang="en-US" dirty="0"/>
          </a:p>
          <a:p>
            <a:r>
              <a:rPr lang="en-US" dirty="0"/>
              <a:t>"Security means protecting systems and information from unauthorized</a:t>
            </a:r>
          </a:p>
          <a:p>
            <a:r>
              <a:rPr lang="en-US" dirty="0"/>
              <a:t>access, misuse, or damage."</a:t>
            </a:r>
          </a:p>
          <a:p>
            <a:endParaRPr lang="en-US" dirty="0"/>
          </a:p>
          <a:p>
            <a:r>
              <a:rPr lang="en-US" dirty="0"/>
              <a:t>Examples:</a:t>
            </a:r>
          </a:p>
          <a:p>
            <a:endParaRPr lang="en-US" dirty="0"/>
          </a:p>
          <a:p>
            <a:r>
              <a:rPr lang="en-US" dirty="0"/>
              <a:t>Authentication.</a:t>
            </a:r>
          </a:p>
          <a:p>
            <a:endParaRPr lang="en-US" dirty="0"/>
          </a:p>
          <a:p>
            <a:r>
              <a:rPr lang="en-US" dirty="0"/>
              <a:t>Authorization.</a:t>
            </a:r>
          </a:p>
          <a:p>
            <a:endParaRPr lang="en-US" dirty="0"/>
          </a:p>
          <a:p>
            <a:r>
              <a:rPr lang="en-US" dirty="0"/>
              <a:t>Secure configuration.</a:t>
            </a:r>
          </a:p>
          <a:p>
            <a:endParaRPr lang="en-US" dirty="0"/>
          </a:p>
          <a:p>
            <a:r>
              <a:rPr lang="en-US" dirty="0"/>
              <a:t>Protected data.</a:t>
            </a:r>
          </a:p>
          <a:p>
            <a:endParaRPr lang="en-US" dirty="0"/>
          </a:p>
          <a:p>
            <a:r>
              <a:rPr lang="en-US" dirty="0"/>
              <a:t>Secure development.</a:t>
            </a:r>
          </a:p>
          <a:p>
            <a:endParaRPr lang="en-US" dirty="0"/>
          </a:p>
          <a:p>
            <a:r>
              <a:rPr lang="en-US" dirty="0"/>
              <a:t>Ask:</a:t>
            </a:r>
          </a:p>
          <a:p>
            <a:endParaRPr lang="en-US" dirty="0"/>
          </a:p>
          <a:p>
            <a:r>
              <a:rPr lang="en-US" dirty="0"/>
              <a:t>"What happens if we don't take security seriously?"</a:t>
            </a:r>
          </a:p>
          <a:p>
            <a:endParaRPr lang="en-US" dirty="0"/>
          </a:p>
          <a:p>
            <a:r>
              <a:rPr lang="en-US" dirty="0"/>
              <a:t>Data exposure.</a:t>
            </a:r>
          </a:p>
          <a:p>
            <a:endParaRPr lang="en-US" dirty="0"/>
          </a:p>
          <a:p>
            <a:r>
              <a:rPr lang="en-US" dirty="0"/>
              <a:t>Account compromise.</a:t>
            </a:r>
          </a:p>
          <a:p>
            <a:endParaRPr lang="en-US" dirty="0"/>
          </a:p>
          <a:p>
            <a:r>
              <a:rPr lang="en-US" dirty="0"/>
              <a:t>Loss of trust.</a:t>
            </a:r>
          </a:p>
          <a:p>
            <a:endParaRPr lang="en-US" dirty="0"/>
          </a:p>
          <a:p>
            <a:r>
              <a:rPr lang="en-US" dirty="0"/>
              <a:t>------------------------------------------------------------</a:t>
            </a:r>
          </a:p>
          <a:p>
            <a:endParaRPr lang="en-US" dirty="0"/>
          </a:p>
          <a:p>
            <a:r>
              <a:rPr lang="en-US" dirty="0"/>
              <a:t>PILLAR 2 — PRIVACY</a:t>
            </a:r>
          </a:p>
          <a:p>
            <a:endParaRPr lang="en-US" dirty="0"/>
          </a:p>
          <a:p>
            <a:r>
              <a:rPr lang="en-US" dirty="0"/>
              <a:t>Point to:</a:t>
            </a:r>
          </a:p>
          <a:p>
            <a:endParaRPr lang="en-US" dirty="0"/>
          </a:p>
          <a:p>
            <a:r>
              <a:rPr lang="en-US" dirty="0"/>
              <a:t>PRIVACY.</a:t>
            </a:r>
          </a:p>
          <a:p>
            <a:endParaRPr lang="en-US" dirty="0"/>
          </a:p>
          <a:p>
            <a:r>
              <a:rPr lang="en-US" dirty="0"/>
              <a:t>Explain:</a:t>
            </a:r>
          </a:p>
          <a:p>
            <a:endParaRPr lang="en-US" dirty="0"/>
          </a:p>
          <a:p>
            <a:r>
              <a:rPr lang="en-US" dirty="0"/>
              <a:t>"Privacy is about how we collect, use, store, and share information."</a:t>
            </a:r>
          </a:p>
          <a:p>
            <a:endParaRPr lang="en-US" dirty="0"/>
          </a:p>
          <a:p>
            <a:r>
              <a:rPr lang="en-US" dirty="0"/>
              <a:t>Ask:</a:t>
            </a:r>
          </a:p>
          <a:p>
            <a:endParaRPr lang="en-US" dirty="0"/>
          </a:p>
          <a:p>
            <a:r>
              <a:rPr lang="en-US" dirty="0"/>
              <a:t>"Should Atlas collect information just because it can?"</a:t>
            </a:r>
          </a:p>
          <a:p>
            <a:endParaRPr lang="en-US" dirty="0"/>
          </a:p>
          <a:p>
            <a:r>
              <a:rPr lang="en-US" dirty="0"/>
              <a:t>No.</a:t>
            </a:r>
          </a:p>
          <a:p>
            <a:endParaRPr lang="en-US" dirty="0"/>
          </a:p>
          <a:p>
            <a:r>
              <a:rPr lang="en-US" dirty="0"/>
              <a:t>Say:</a:t>
            </a:r>
          </a:p>
          <a:p>
            <a:endParaRPr lang="en-US" dirty="0"/>
          </a:p>
          <a:p>
            <a:r>
              <a:rPr lang="en-US" dirty="0"/>
              <a:t>"We should collect what we need and use it responsibly."</a:t>
            </a:r>
          </a:p>
          <a:p>
            <a:endParaRPr lang="en-US" dirty="0"/>
          </a:p>
          <a:p>
            <a:r>
              <a:rPr lang="en-US" dirty="0"/>
              <a:t>Introduce:</a:t>
            </a:r>
          </a:p>
          <a:p>
            <a:endParaRPr lang="en-US" dirty="0"/>
          </a:p>
          <a:p>
            <a:r>
              <a:rPr lang="en-US" dirty="0"/>
              <a:t>DATA MINIMIZATION.</a:t>
            </a:r>
          </a:p>
          <a:p>
            <a:endParaRPr lang="en-US" dirty="0"/>
          </a:p>
          <a:p>
            <a:r>
              <a:rPr lang="en-US" dirty="0"/>
              <a:t>"Don't collect unnecessary information."</a:t>
            </a:r>
          </a:p>
          <a:p>
            <a:endParaRPr lang="en-US" dirty="0"/>
          </a:p>
          <a:p>
            <a:r>
              <a:rPr lang="en-US" dirty="0"/>
              <a:t>------------------------------------------------------------</a:t>
            </a:r>
          </a:p>
          <a:p>
            <a:endParaRPr lang="en-US" dirty="0"/>
          </a:p>
          <a:p>
            <a:r>
              <a:rPr lang="en-US" dirty="0"/>
              <a:t>PILLAR 3 — INTEGRITY</a:t>
            </a:r>
          </a:p>
          <a:p>
            <a:endParaRPr lang="en-US" dirty="0"/>
          </a:p>
          <a:p>
            <a:r>
              <a:rPr lang="en-US" dirty="0"/>
              <a:t>Point to:</a:t>
            </a:r>
          </a:p>
          <a:p>
            <a:endParaRPr lang="en-US" dirty="0"/>
          </a:p>
          <a:p>
            <a:r>
              <a:rPr lang="en-US" dirty="0"/>
              <a:t>INTEGRITY.</a:t>
            </a:r>
          </a:p>
          <a:p>
            <a:endParaRPr lang="en-US" dirty="0"/>
          </a:p>
          <a:p>
            <a:r>
              <a:rPr lang="en-US" dirty="0"/>
              <a:t>Explain:</a:t>
            </a:r>
          </a:p>
          <a:p>
            <a:endParaRPr lang="en-US" dirty="0"/>
          </a:p>
          <a:p>
            <a:r>
              <a:rPr lang="en-US" dirty="0"/>
              <a:t>"Integrity means information remains accurate and trustworthy."</a:t>
            </a:r>
          </a:p>
          <a:p>
            <a:endParaRPr lang="en-US" dirty="0"/>
          </a:p>
          <a:p>
            <a:r>
              <a:rPr lang="en-US" dirty="0"/>
              <a:t>Example:</a:t>
            </a:r>
          </a:p>
          <a:p>
            <a:endParaRPr lang="en-US" dirty="0"/>
          </a:p>
          <a:p>
            <a:r>
              <a:rPr lang="en-US" dirty="0"/>
              <a:t>If Taylor creates:</a:t>
            </a:r>
          </a:p>
          <a:p>
            <a:endParaRPr lang="en-US" dirty="0"/>
          </a:p>
          <a:p>
            <a:r>
              <a:rPr lang="en-US" dirty="0"/>
              <a:t>Task:</a:t>
            </a:r>
          </a:p>
          <a:p>
            <a:r>
              <a:rPr lang="en-US" dirty="0"/>
              <a:t>Submit Project</a:t>
            </a:r>
          </a:p>
          <a:p>
            <a:endParaRPr lang="en-US" dirty="0"/>
          </a:p>
          <a:p>
            <a:r>
              <a:rPr lang="en-US" dirty="0"/>
              <a:t>And someone else changes it to:</a:t>
            </a:r>
          </a:p>
          <a:p>
            <a:endParaRPr lang="en-US" dirty="0"/>
          </a:p>
          <a:p>
            <a:r>
              <a:rPr lang="en-US" dirty="0"/>
              <a:t>Task:</a:t>
            </a:r>
          </a:p>
          <a:p>
            <a:r>
              <a:rPr lang="en-US" dirty="0"/>
              <a:t>Delete Project</a:t>
            </a:r>
          </a:p>
          <a:p>
            <a:endParaRPr lang="en-US" dirty="0"/>
          </a:p>
          <a:p>
            <a:r>
              <a:rPr lang="en-US" dirty="0"/>
              <a:t>without authorization...</a:t>
            </a:r>
          </a:p>
          <a:p>
            <a:endParaRPr lang="en-US" dirty="0"/>
          </a:p>
          <a:p>
            <a:r>
              <a:rPr lang="en-US" dirty="0"/>
              <a:t>"We have an integrity problem."</a:t>
            </a:r>
          </a:p>
          <a:p>
            <a:endParaRPr lang="en-US" dirty="0"/>
          </a:p>
          <a:p>
            <a:r>
              <a:rPr lang="en-US" dirty="0"/>
              <a:t>Integrity means:</a:t>
            </a:r>
          </a:p>
          <a:p>
            <a:endParaRPr lang="en-US" dirty="0"/>
          </a:p>
          <a:p>
            <a:r>
              <a:rPr lang="en-US" dirty="0"/>
              <a:t>The right data.</a:t>
            </a:r>
          </a:p>
          <a:p>
            <a:endParaRPr lang="en-US" dirty="0"/>
          </a:p>
          <a:p>
            <a:r>
              <a:rPr lang="en-US" dirty="0"/>
              <a:t>Correct data.</a:t>
            </a:r>
          </a:p>
          <a:p>
            <a:endParaRPr lang="en-US" dirty="0"/>
          </a:p>
          <a:p>
            <a:r>
              <a:rPr lang="en-US" dirty="0"/>
              <a:t>Authorized changes.</a:t>
            </a:r>
          </a:p>
          <a:p>
            <a:endParaRPr lang="en-US" dirty="0"/>
          </a:p>
          <a:p>
            <a:r>
              <a:rPr lang="en-US" dirty="0"/>
              <a:t>------------------------------------------------------------</a:t>
            </a:r>
          </a:p>
          <a:p>
            <a:endParaRPr lang="en-US" dirty="0"/>
          </a:p>
          <a:p>
            <a:r>
              <a:rPr lang="en-US" dirty="0"/>
              <a:t>PILLAR 4 — AVAILABILITY</a:t>
            </a:r>
          </a:p>
          <a:p>
            <a:endParaRPr lang="en-US" dirty="0"/>
          </a:p>
          <a:p>
            <a:r>
              <a:rPr lang="en-US" dirty="0"/>
              <a:t>Point to:</a:t>
            </a:r>
          </a:p>
          <a:p>
            <a:endParaRPr lang="en-US" dirty="0"/>
          </a:p>
          <a:p>
            <a:r>
              <a:rPr lang="en-US" dirty="0"/>
              <a:t>AVAILABILITY.</a:t>
            </a:r>
          </a:p>
          <a:p>
            <a:endParaRPr lang="en-US" dirty="0"/>
          </a:p>
          <a:p>
            <a:r>
              <a:rPr lang="en-US" dirty="0"/>
              <a:t>Explain:</a:t>
            </a:r>
          </a:p>
          <a:p>
            <a:endParaRPr lang="en-US" dirty="0"/>
          </a:p>
          <a:p>
            <a:r>
              <a:rPr lang="en-US" dirty="0"/>
              <a:t>"Users expect SaaS applications to be available when they need them."</a:t>
            </a:r>
          </a:p>
          <a:p>
            <a:endParaRPr lang="en-US" dirty="0"/>
          </a:p>
          <a:p>
            <a:r>
              <a:rPr lang="en-US" dirty="0"/>
              <a:t>Ask:</a:t>
            </a:r>
          </a:p>
          <a:p>
            <a:endParaRPr lang="en-US" dirty="0"/>
          </a:p>
          <a:p>
            <a:r>
              <a:rPr lang="en-US" dirty="0"/>
              <a:t>"What good is a secure application if nobody can use it?"</a:t>
            </a:r>
          </a:p>
          <a:p>
            <a:endParaRPr lang="en-US" dirty="0"/>
          </a:p>
          <a:p>
            <a:r>
              <a:rPr lang="en-US" dirty="0"/>
              <a:t>Exactly.</a:t>
            </a:r>
          </a:p>
          <a:p>
            <a:endParaRPr lang="en-US" dirty="0"/>
          </a:p>
          <a:p>
            <a:r>
              <a:rPr lang="en-US" dirty="0"/>
              <a:t>Security and availability are connected.</a:t>
            </a:r>
          </a:p>
          <a:p>
            <a:endParaRPr lang="en-US" dirty="0"/>
          </a:p>
          <a:p>
            <a:r>
              <a:rPr lang="en-US" dirty="0"/>
              <a:t>Atlas needs to be:</a:t>
            </a:r>
          </a:p>
          <a:p>
            <a:endParaRPr lang="en-US" dirty="0"/>
          </a:p>
          <a:p>
            <a:r>
              <a:rPr lang="en-US" dirty="0"/>
              <a:t>Accessible.</a:t>
            </a:r>
          </a:p>
          <a:p>
            <a:endParaRPr lang="en-US" dirty="0"/>
          </a:p>
          <a:p>
            <a:r>
              <a:rPr lang="en-US" dirty="0"/>
              <a:t>Reliable.</a:t>
            </a:r>
          </a:p>
          <a:p>
            <a:endParaRPr lang="en-US" dirty="0"/>
          </a:p>
          <a:p>
            <a:r>
              <a:rPr lang="en-US" dirty="0"/>
              <a:t>Resilient.</a:t>
            </a:r>
          </a:p>
          <a:p>
            <a:endParaRPr lang="en-US" dirty="0"/>
          </a:p>
          <a:p>
            <a:r>
              <a:rPr lang="en-US" dirty="0"/>
              <a:t>------------------------------------------------------------</a:t>
            </a:r>
          </a:p>
          <a:p>
            <a:endParaRPr lang="en-US" dirty="0"/>
          </a:p>
          <a:p>
            <a:r>
              <a:rPr lang="en-US" dirty="0"/>
              <a:t>PILLAR 5 — TRANSPARENCY</a:t>
            </a:r>
          </a:p>
          <a:p>
            <a:endParaRPr lang="en-US" dirty="0"/>
          </a:p>
          <a:p>
            <a:r>
              <a:rPr lang="en-US" dirty="0"/>
              <a:t>Point to:</a:t>
            </a:r>
          </a:p>
          <a:p>
            <a:endParaRPr lang="en-US" dirty="0"/>
          </a:p>
          <a:p>
            <a:r>
              <a:rPr lang="en-US" dirty="0"/>
              <a:t>TRANSPARENCY.</a:t>
            </a:r>
          </a:p>
          <a:p>
            <a:endParaRPr lang="en-US" dirty="0"/>
          </a:p>
          <a:p>
            <a:r>
              <a:rPr lang="en-US" dirty="0"/>
              <a:t>Explain:</a:t>
            </a:r>
          </a:p>
          <a:p>
            <a:endParaRPr lang="en-US" dirty="0"/>
          </a:p>
          <a:p>
            <a:r>
              <a:rPr lang="en-US" dirty="0"/>
              <a:t>"Users deserve to understand important things about how their</a:t>
            </a:r>
          </a:p>
          <a:p>
            <a:r>
              <a:rPr lang="en-US" dirty="0"/>
              <a:t>information is handled."</a:t>
            </a:r>
          </a:p>
          <a:p>
            <a:endParaRPr lang="en-US" dirty="0"/>
          </a:p>
          <a:p>
            <a:r>
              <a:rPr lang="en-US" dirty="0"/>
              <a:t>Examples:</a:t>
            </a:r>
          </a:p>
          <a:p>
            <a:endParaRPr lang="en-US" dirty="0"/>
          </a:p>
          <a:p>
            <a:r>
              <a:rPr lang="en-US" dirty="0"/>
              <a:t>What information is collected?</a:t>
            </a:r>
          </a:p>
          <a:p>
            <a:endParaRPr lang="en-US" dirty="0"/>
          </a:p>
          <a:p>
            <a:r>
              <a:rPr lang="en-US" dirty="0"/>
              <a:t>Why is it collected?</a:t>
            </a:r>
          </a:p>
          <a:p>
            <a:endParaRPr lang="en-US" dirty="0"/>
          </a:p>
          <a:p>
            <a:r>
              <a:rPr lang="en-US" dirty="0"/>
              <a:t>Who can access it?</a:t>
            </a:r>
          </a:p>
          <a:p>
            <a:endParaRPr lang="en-US" dirty="0"/>
          </a:p>
          <a:p>
            <a:r>
              <a:rPr lang="en-US" dirty="0"/>
              <a:t>What happens if something goes wrong?</a:t>
            </a:r>
          </a:p>
          <a:p>
            <a:endParaRPr lang="en-US" dirty="0"/>
          </a:p>
          <a:p>
            <a:r>
              <a:rPr lang="en-US" dirty="0"/>
              <a:t>Say:</a:t>
            </a:r>
          </a:p>
          <a:p>
            <a:endParaRPr lang="en-US" dirty="0"/>
          </a:p>
          <a:p>
            <a:r>
              <a:rPr lang="en-US" dirty="0"/>
              <a:t>"Transparency builds trust."</a:t>
            </a:r>
          </a:p>
          <a:p>
            <a:endParaRPr lang="en-US" dirty="0"/>
          </a:p>
          <a:p>
            <a:r>
              <a:rPr lang="en-US" dirty="0"/>
              <a:t>------------------------------------------------------------</a:t>
            </a:r>
          </a:p>
          <a:p>
            <a:endParaRPr lang="en-US" dirty="0"/>
          </a:p>
          <a:p>
            <a:r>
              <a:rPr lang="en-US" dirty="0"/>
              <a:t>PILLAR 6 — RESPONSIBILITY</a:t>
            </a:r>
          </a:p>
          <a:p>
            <a:endParaRPr lang="en-US" dirty="0"/>
          </a:p>
          <a:p>
            <a:r>
              <a:rPr lang="en-US" dirty="0"/>
              <a:t>Point to:</a:t>
            </a:r>
          </a:p>
          <a:p>
            <a:endParaRPr lang="en-US" dirty="0"/>
          </a:p>
          <a:p>
            <a:r>
              <a:rPr lang="en-US" dirty="0"/>
              <a:t>RESPONSIBILITY.</a:t>
            </a:r>
          </a:p>
          <a:p>
            <a:endParaRPr lang="en-US" dirty="0"/>
          </a:p>
          <a:p>
            <a:r>
              <a:rPr lang="en-US" dirty="0"/>
              <a:t>Explain:</a:t>
            </a:r>
          </a:p>
          <a:p>
            <a:endParaRPr lang="en-US" dirty="0"/>
          </a:p>
          <a:p>
            <a:r>
              <a:rPr lang="en-US" dirty="0"/>
              <a:t>"If something goes wrong..."</a:t>
            </a:r>
          </a:p>
          <a:p>
            <a:endParaRPr lang="en-US" dirty="0"/>
          </a:p>
          <a:p>
            <a:r>
              <a:rPr lang="en-US" dirty="0"/>
              <a:t>"We don't ignore it."</a:t>
            </a:r>
          </a:p>
          <a:p>
            <a:endParaRPr lang="en-US" dirty="0"/>
          </a:p>
          <a:p>
            <a:r>
              <a:rPr lang="en-US" dirty="0"/>
              <a:t>"We investigate."</a:t>
            </a:r>
          </a:p>
          <a:p>
            <a:endParaRPr lang="en-US" dirty="0"/>
          </a:p>
          <a:p>
            <a:r>
              <a:rPr lang="en-US" dirty="0"/>
              <a:t>"We communicate."</a:t>
            </a:r>
          </a:p>
          <a:p>
            <a:endParaRPr lang="en-US" dirty="0"/>
          </a:p>
          <a:p>
            <a:r>
              <a:rPr lang="en-US" dirty="0"/>
              <a:t>"We fix the problem."</a:t>
            </a:r>
          </a:p>
          <a:p>
            <a:endParaRPr lang="en-US" dirty="0"/>
          </a:p>
          <a:p>
            <a:r>
              <a:rPr lang="en-US" dirty="0"/>
              <a:t>"We learn from it."</a:t>
            </a:r>
          </a:p>
          <a:p>
            <a:endParaRPr lang="en-US" dirty="0"/>
          </a:p>
          <a:p>
            <a:r>
              <a:rPr lang="en-US" dirty="0"/>
              <a:t>That's responsibility.</a:t>
            </a:r>
          </a:p>
          <a:p>
            <a:endParaRPr lang="en-US" dirty="0"/>
          </a:p>
          <a:p>
            <a:r>
              <a:rPr lang="en-US" dirty="0"/>
              <a:t>------------------------------------------------------------</a:t>
            </a:r>
          </a:p>
          <a:p>
            <a:endParaRPr lang="en-US" dirty="0"/>
          </a:p>
          <a:p>
            <a:r>
              <a:rPr lang="en-US" dirty="0"/>
              <a:t>WHY THIS MATTERS</a:t>
            </a:r>
          </a:p>
          <a:p>
            <a:endParaRPr lang="en-US" dirty="0"/>
          </a:p>
          <a:p>
            <a:r>
              <a:rPr lang="en-US" dirty="0"/>
              <a:t>Ask:</a:t>
            </a:r>
          </a:p>
          <a:p>
            <a:endParaRPr lang="en-US" dirty="0"/>
          </a:p>
          <a:p>
            <a:r>
              <a:rPr lang="en-US" dirty="0"/>
              <a:t>"Why should a software company care?"</a:t>
            </a:r>
          </a:p>
          <a:p>
            <a:endParaRPr lang="en-US" dirty="0"/>
          </a:p>
          <a:p>
            <a:r>
              <a:rPr lang="en-US" dirty="0"/>
              <a:t>Students may say:</a:t>
            </a:r>
          </a:p>
          <a:p>
            <a:endParaRPr lang="en-US" dirty="0"/>
          </a:p>
          <a:p>
            <a:r>
              <a:rPr lang="en-US" dirty="0"/>
              <a:t>Because of users.</a:t>
            </a:r>
          </a:p>
          <a:p>
            <a:endParaRPr lang="en-US" dirty="0"/>
          </a:p>
          <a:p>
            <a:r>
              <a:rPr lang="en-US" dirty="0"/>
              <a:t>Because of reputation.</a:t>
            </a:r>
          </a:p>
          <a:p>
            <a:endParaRPr lang="en-US" dirty="0"/>
          </a:p>
          <a:p>
            <a:r>
              <a:rPr lang="en-US" dirty="0"/>
              <a:t>Because of money.</a:t>
            </a:r>
          </a:p>
          <a:p>
            <a:endParaRPr lang="en-US" dirty="0"/>
          </a:p>
          <a:p>
            <a:r>
              <a:rPr lang="en-US" dirty="0"/>
              <a:t>Because of laws.</a:t>
            </a:r>
          </a:p>
          <a:p>
            <a:endParaRPr lang="en-US" dirty="0"/>
          </a:p>
          <a:p>
            <a:r>
              <a:rPr lang="en-US" dirty="0"/>
              <a:t>Because of ethics.</a:t>
            </a:r>
          </a:p>
          <a:p>
            <a:endParaRPr lang="en-US" dirty="0"/>
          </a:p>
          <a:p>
            <a:r>
              <a:rPr lang="en-US" dirty="0"/>
              <a:t>All are correct.</a:t>
            </a:r>
          </a:p>
          <a:p>
            <a:endParaRPr lang="en-US" dirty="0"/>
          </a:p>
          <a:p>
            <a:r>
              <a:rPr lang="en-US" dirty="0"/>
              <a:t>Say:</a:t>
            </a:r>
          </a:p>
          <a:p>
            <a:endParaRPr lang="en-US" dirty="0"/>
          </a:p>
          <a:p>
            <a:r>
              <a:rPr lang="en-US" dirty="0"/>
              <a:t>"Software can affect real people."</a:t>
            </a:r>
          </a:p>
          <a:p>
            <a:endParaRPr lang="en-US" dirty="0"/>
          </a:p>
          <a:p>
            <a:r>
              <a:rPr lang="en-US" dirty="0"/>
              <a:t>------------------------------------------------------------</a:t>
            </a:r>
          </a:p>
          <a:p>
            <a:endParaRPr lang="en-US" dirty="0"/>
          </a:p>
          <a:p>
            <a:r>
              <a:rPr lang="en-US" dirty="0"/>
              <a:t>REAL-WORLD CONSEQUENCES</a:t>
            </a:r>
          </a:p>
          <a:p>
            <a:endParaRPr lang="en-US" dirty="0"/>
          </a:p>
          <a:p>
            <a:r>
              <a:rPr lang="en-US" dirty="0"/>
              <a:t>Walk through the examples.</a:t>
            </a:r>
          </a:p>
          <a:p>
            <a:endParaRPr lang="en-US" dirty="0"/>
          </a:p>
          <a:p>
            <a:r>
              <a:rPr lang="en-US" dirty="0"/>
              <a:t>SECURITY BREACH</a:t>
            </a:r>
          </a:p>
          <a:p>
            <a:endParaRPr lang="en-US" dirty="0"/>
          </a:p>
          <a:p>
            <a:r>
              <a:rPr lang="en-US" dirty="0"/>
              <a:t>↓</a:t>
            </a:r>
          </a:p>
          <a:p>
            <a:endParaRPr lang="en-US" dirty="0"/>
          </a:p>
          <a:p>
            <a:r>
              <a:rPr lang="en-US" dirty="0"/>
              <a:t>Data exposure.</a:t>
            </a:r>
          </a:p>
          <a:p>
            <a:endParaRPr lang="en-US" dirty="0"/>
          </a:p>
          <a:p>
            <a:r>
              <a:rPr lang="en-US" dirty="0"/>
              <a:t>Loss of trust.</a:t>
            </a:r>
          </a:p>
          <a:p>
            <a:endParaRPr lang="en-US" dirty="0"/>
          </a:p>
          <a:p>
            <a:r>
              <a:rPr lang="en-US" dirty="0"/>
              <a:t>Potential legal consequences.</a:t>
            </a:r>
          </a:p>
          <a:p>
            <a:endParaRPr lang="en-US" dirty="0"/>
          </a:p>
          <a:p>
            <a:r>
              <a:rPr lang="en-US" dirty="0"/>
              <a:t>------------------------------------------------------------</a:t>
            </a:r>
          </a:p>
          <a:p>
            <a:endParaRPr lang="en-US" dirty="0"/>
          </a:p>
          <a:p>
            <a:r>
              <a:rPr lang="en-US" dirty="0"/>
              <a:t>POOR RELIABILITY</a:t>
            </a:r>
          </a:p>
          <a:p>
            <a:endParaRPr lang="en-US" dirty="0"/>
          </a:p>
          <a:p>
            <a:r>
              <a:rPr lang="en-US" dirty="0"/>
              <a:t>↓</a:t>
            </a:r>
          </a:p>
          <a:p>
            <a:endParaRPr lang="en-US" dirty="0"/>
          </a:p>
          <a:p>
            <a:r>
              <a:rPr lang="en-US" dirty="0"/>
              <a:t>Downtime.</a:t>
            </a:r>
          </a:p>
          <a:p>
            <a:endParaRPr lang="en-US" dirty="0"/>
          </a:p>
          <a:p>
            <a:r>
              <a:rPr lang="en-US" dirty="0"/>
              <a:t>Frustrated users.</a:t>
            </a:r>
          </a:p>
          <a:p>
            <a:endParaRPr lang="en-US" dirty="0"/>
          </a:p>
          <a:p>
            <a:r>
              <a:rPr lang="en-US" dirty="0"/>
              <a:t>Lost productivity.</a:t>
            </a:r>
          </a:p>
          <a:p>
            <a:endParaRPr lang="en-US" dirty="0"/>
          </a:p>
          <a:p>
            <a:r>
              <a:rPr lang="en-US" dirty="0"/>
              <a:t>Users leave.</a:t>
            </a:r>
          </a:p>
          <a:p>
            <a:endParaRPr lang="en-US" dirty="0"/>
          </a:p>
          <a:p>
            <a:r>
              <a:rPr lang="en-US" dirty="0"/>
              <a:t>------------------------------------------------------------</a:t>
            </a:r>
          </a:p>
          <a:p>
            <a:endParaRPr lang="en-US" dirty="0"/>
          </a:p>
          <a:p>
            <a:r>
              <a:rPr lang="en-US" dirty="0"/>
              <a:t>NON-COMPLIANCE</a:t>
            </a:r>
          </a:p>
          <a:p>
            <a:endParaRPr lang="en-US" dirty="0"/>
          </a:p>
          <a:p>
            <a:r>
              <a:rPr lang="en-US" dirty="0"/>
              <a:t>↓</a:t>
            </a:r>
          </a:p>
          <a:p>
            <a:endParaRPr lang="en-US" dirty="0"/>
          </a:p>
          <a:p>
            <a:r>
              <a:rPr lang="en-US" dirty="0"/>
              <a:t>Potential legal consequences.</a:t>
            </a:r>
          </a:p>
          <a:p>
            <a:endParaRPr lang="en-US" dirty="0"/>
          </a:p>
          <a:p>
            <a:r>
              <a:rPr lang="en-US" dirty="0"/>
              <a:t>Financial penalties.</a:t>
            </a:r>
          </a:p>
          <a:p>
            <a:endParaRPr lang="en-US" dirty="0"/>
          </a:p>
          <a:p>
            <a:r>
              <a:rPr lang="en-US" dirty="0"/>
              <a:t>Operational problems.</a:t>
            </a:r>
          </a:p>
          <a:p>
            <a:endParaRPr lang="en-US" dirty="0"/>
          </a:p>
          <a:p>
            <a:r>
              <a:rPr lang="en-US" dirty="0"/>
              <a:t>Reputation damage.</a:t>
            </a:r>
          </a:p>
          <a:p>
            <a:endParaRPr lang="en-US" dirty="0"/>
          </a:p>
          <a:p>
            <a:r>
              <a:rPr lang="en-US" dirty="0"/>
              <a:t>------------------------------------------------------------</a:t>
            </a:r>
          </a:p>
          <a:p>
            <a:endParaRPr lang="en-US" dirty="0"/>
          </a:p>
          <a:p>
            <a:r>
              <a:rPr lang="en-US" dirty="0"/>
              <a:t>LACK OF TRANSPARENCY</a:t>
            </a:r>
          </a:p>
          <a:p>
            <a:endParaRPr lang="en-US" dirty="0"/>
          </a:p>
          <a:p>
            <a:r>
              <a:rPr lang="en-US" dirty="0"/>
              <a:t>↓</a:t>
            </a:r>
          </a:p>
          <a:p>
            <a:endParaRPr lang="en-US" dirty="0"/>
          </a:p>
          <a:p>
            <a:r>
              <a:rPr lang="en-US" dirty="0"/>
              <a:t>Confusion.</a:t>
            </a:r>
          </a:p>
          <a:p>
            <a:endParaRPr lang="en-US" dirty="0"/>
          </a:p>
          <a:p>
            <a:r>
              <a:rPr lang="en-US" dirty="0"/>
              <a:t>Mistrust.</a:t>
            </a:r>
          </a:p>
          <a:p>
            <a:endParaRPr lang="en-US" dirty="0"/>
          </a:p>
          <a:p>
            <a:r>
              <a:rPr lang="en-US" dirty="0"/>
              <a:t>Damaged relationships.</a:t>
            </a:r>
          </a:p>
          <a:p>
            <a:endParaRPr lang="en-US" dirty="0"/>
          </a:p>
          <a:p>
            <a:r>
              <a:rPr lang="en-US" dirty="0"/>
              <a:t>Explain:</a:t>
            </a:r>
          </a:p>
          <a:p>
            <a:endParaRPr lang="en-US" dirty="0"/>
          </a:p>
          <a:p>
            <a:r>
              <a:rPr lang="en-US" dirty="0"/>
              <a:t>"Engineering decisions have consequences outside the code."</a:t>
            </a:r>
          </a:p>
          <a:p>
            <a:endParaRPr lang="en-US" dirty="0"/>
          </a:p>
          <a:p>
            <a:r>
              <a:rPr lang="en-US" dirty="0"/>
              <a:t>------------------------------------------------------------</a:t>
            </a:r>
          </a:p>
          <a:p>
            <a:endParaRPr lang="en-US" dirty="0"/>
          </a:p>
          <a:p>
            <a:r>
              <a:rPr lang="en-US" dirty="0"/>
              <a:t>WHAT USERS EXPECT</a:t>
            </a:r>
          </a:p>
          <a:p>
            <a:endParaRPr lang="en-US" dirty="0"/>
          </a:p>
          <a:p>
            <a:r>
              <a:rPr lang="en-US" dirty="0"/>
              <a:t>Point to the user expectations.</a:t>
            </a:r>
          </a:p>
          <a:p>
            <a:endParaRPr lang="en-US" dirty="0"/>
          </a:p>
          <a:p>
            <a:r>
              <a:rPr lang="en-US" dirty="0"/>
              <a:t>Read each one:</a:t>
            </a:r>
          </a:p>
          <a:p>
            <a:endParaRPr lang="en-US" dirty="0"/>
          </a:p>
          <a:p>
            <a:r>
              <a:rPr lang="en-US" dirty="0"/>
              <a:t>"My data is safe and private."</a:t>
            </a:r>
          </a:p>
          <a:p>
            <a:endParaRPr lang="en-US" dirty="0"/>
          </a:p>
          <a:p>
            <a:r>
              <a:rPr lang="en-US" dirty="0"/>
              <a:t>"The system is available when I need it."</a:t>
            </a:r>
          </a:p>
          <a:p>
            <a:endParaRPr lang="en-US" dirty="0"/>
          </a:p>
          <a:p>
            <a:r>
              <a:rPr lang="en-US" dirty="0"/>
              <a:t>"You will tell me if something goes wrong."</a:t>
            </a:r>
          </a:p>
          <a:p>
            <a:endParaRPr lang="en-US" dirty="0"/>
          </a:p>
          <a:p>
            <a:r>
              <a:rPr lang="en-US" dirty="0"/>
              <a:t>"You respect my rights and information."</a:t>
            </a:r>
          </a:p>
          <a:p>
            <a:endParaRPr lang="en-US" dirty="0"/>
          </a:p>
          <a:p>
            <a:r>
              <a:rPr lang="en-US" dirty="0"/>
              <a:t>"I can trust you with my work."</a:t>
            </a:r>
          </a:p>
          <a:p>
            <a:endParaRPr lang="en-US" dirty="0"/>
          </a:p>
          <a:p>
            <a:r>
              <a:rPr lang="en-US" dirty="0"/>
              <a:t>Pause.</a:t>
            </a:r>
          </a:p>
          <a:p>
            <a:endParaRPr lang="en-US" dirty="0"/>
          </a:p>
          <a:p>
            <a:r>
              <a:rPr lang="en-US" dirty="0"/>
              <a:t>Say:</a:t>
            </a:r>
          </a:p>
          <a:p>
            <a:endParaRPr lang="en-US" dirty="0"/>
          </a:p>
          <a:p>
            <a:r>
              <a:rPr lang="en-US" dirty="0"/>
              <a:t>"These aren't unreasonable expectations."</a:t>
            </a:r>
          </a:p>
          <a:p>
            <a:endParaRPr lang="en-US" dirty="0"/>
          </a:p>
          <a:p>
            <a:r>
              <a:rPr lang="en-US" dirty="0"/>
              <a:t>"They are the foundation of a SaaS relationship."</a:t>
            </a:r>
          </a:p>
          <a:p>
            <a:endParaRPr lang="en-US" dirty="0"/>
          </a:p>
          <a:p>
            <a:r>
              <a:rPr lang="en-US" dirty="0"/>
              <a:t>------------------------------------------------------------</a:t>
            </a:r>
          </a:p>
          <a:p>
            <a:endParaRPr lang="en-US" dirty="0"/>
          </a:p>
          <a:p>
            <a:r>
              <a:rPr lang="en-US" dirty="0"/>
              <a:t>THE SAAS DIFFERENCE</a:t>
            </a:r>
          </a:p>
          <a:p>
            <a:endParaRPr lang="en-US" dirty="0"/>
          </a:p>
          <a:p>
            <a:r>
              <a:rPr lang="en-US" dirty="0"/>
              <a:t>Point to the SaaS context.</a:t>
            </a:r>
          </a:p>
          <a:p>
            <a:endParaRPr lang="en-US" dirty="0"/>
          </a:p>
          <a:p>
            <a:r>
              <a:rPr lang="en-US" dirty="0"/>
              <a:t>Explain:</a:t>
            </a:r>
          </a:p>
          <a:p>
            <a:endParaRPr lang="en-US" dirty="0"/>
          </a:p>
          <a:p>
            <a:r>
              <a:rPr lang="en-US" dirty="0"/>
              <a:t>"When we give someone software they run on their own computer..."</a:t>
            </a:r>
          </a:p>
          <a:p>
            <a:endParaRPr lang="en-US" dirty="0"/>
          </a:p>
          <a:p>
            <a:r>
              <a:rPr lang="en-US" dirty="0"/>
              <a:t>"Their organization may manage much of the environment."</a:t>
            </a:r>
          </a:p>
          <a:p>
            <a:endParaRPr lang="en-US" dirty="0"/>
          </a:p>
          <a:p>
            <a:r>
              <a:rPr lang="en-US" dirty="0"/>
              <a:t>"But with SaaS..."</a:t>
            </a:r>
          </a:p>
          <a:p>
            <a:endParaRPr lang="en-US" dirty="0"/>
          </a:p>
          <a:p>
            <a:r>
              <a:rPr lang="en-US" dirty="0"/>
              <a:t>"We operate the service."</a:t>
            </a:r>
          </a:p>
          <a:p>
            <a:endParaRPr lang="en-US" dirty="0"/>
          </a:p>
          <a:p>
            <a:r>
              <a:rPr lang="en-US" dirty="0"/>
              <a:t>That means our responsibility extends beyond writing the application.</a:t>
            </a:r>
          </a:p>
          <a:p>
            <a:endParaRPr lang="en-US" dirty="0"/>
          </a:p>
          <a:p>
            <a:r>
              <a:rPr lang="en-US" dirty="0"/>
              <a:t>------------------------------------------------------------</a:t>
            </a:r>
          </a:p>
          <a:p>
            <a:endParaRPr lang="en-US" dirty="0"/>
          </a:p>
          <a:p>
            <a:r>
              <a:rPr lang="en-US" dirty="0"/>
              <a:t>SAAS RESPONSIBILITY</a:t>
            </a:r>
          </a:p>
          <a:p>
            <a:endParaRPr lang="en-US" dirty="0"/>
          </a:p>
          <a:p>
            <a:r>
              <a:rPr lang="en-US" dirty="0"/>
              <a:t>A SaaS provider may be responsible for:</a:t>
            </a:r>
          </a:p>
          <a:p>
            <a:endParaRPr lang="en-US" dirty="0"/>
          </a:p>
          <a:p>
            <a:r>
              <a:rPr lang="en-US" dirty="0"/>
              <a:t>Application security.</a:t>
            </a:r>
          </a:p>
          <a:p>
            <a:endParaRPr lang="en-US" dirty="0"/>
          </a:p>
          <a:p>
            <a:r>
              <a:rPr lang="en-US" dirty="0"/>
              <a:t>Infrastructure configuration.</a:t>
            </a:r>
          </a:p>
          <a:p>
            <a:endParaRPr lang="en-US" dirty="0"/>
          </a:p>
          <a:p>
            <a:r>
              <a:rPr lang="en-US" dirty="0"/>
              <a:t>Data protection.</a:t>
            </a:r>
          </a:p>
          <a:p>
            <a:endParaRPr lang="en-US" dirty="0"/>
          </a:p>
          <a:p>
            <a:r>
              <a:rPr lang="en-US" dirty="0"/>
              <a:t>Availability.</a:t>
            </a:r>
          </a:p>
          <a:p>
            <a:endParaRPr lang="en-US" dirty="0"/>
          </a:p>
          <a:p>
            <a:r>
              <a:rPr lang="en-US" dirty="0"/>
              <a:t>Backups.</a:t>
            </a:r>
          </a:p>
          <a:p>
            <a:endParaRPr lang="en-US" dirty="0"/>
          </a:p>
          <a:p>
            <a:r>
              <a:rPr lang="en-US" dirty="0"/>
              <a:t>Monitoring.</a:t>
            </a:r>
          </a:p>
          <a:p>
            <a:endParaRPr lang="en-US" dirty="0"/>
          </a:p>
          <a:p>
            <a:r>
              <a:rPr lang="en-US" dirty="0"/>
              <a:t>Incident response.</a:t>
            </a:r>
          </a:p>
          <a:p>
            <a:endParaRPr lang="en-US" dirty="0"/>
          </a:p>
          <a:p>
            <a:r>
              <a:rPr lang="en-US" dirty="0"/>
              <a:t>Updates.</a:t>
            </a:r>
          </a:p>
          <a:p>
            <a:endParaRPr lang="en-US" dirty="0"/>
          </a:p>
          <a:p>
            <a:r>
              <a:rPr lang="en-US" dirty="0"/>
              <a:t>User communication.</a:t>
            </a:r>
          </a:p>
          <a:p>
            <a:endParaRPr lang="en-US" dirty="0"/>
          </a:p>
          <a:p>
            <a:r>
              <a:rPr lang="en-US" dirty="0"/>
              <a:t>Explain:</a:t>
            </a:r>
          </a:p>
          <a:p>
            <a:endParaRPr lang="en-US" dirty="0"/>
          </a:p>
          <a:p>
            <a:r>
              <a:rPr lang="en-US" dirty="0"/>
              <a:t>"The application doesn't stop being our responsibility after we</a:t>
            </a:r>
          </a:p>
          <a:p>
            <a:r>
              <a:rPr lang="en-US" dirty="0"/>
              <a:t>deploy it."</a:t>
            </a:r>
          </a:p>
          <a:p>
            <a:endParaRPr lang="en-US" dirty="0"/>
          </a:p>
          <a:p>
            <a:r>
              <a:rPr lang="en-US" dirty="0"/>
              <a:t>------------------------------------------------------------</a:t>
            </a:r>
          </a:p>
          <a:p>
            <a:endParaRPr lang="en-US" dirty="0"/>
          </a:p>
          <a:p>
            <a:r>
              <a:rPr lang="en-US" dirty="0"/>
              <a:t>DESIGN SECURELY</a:t>
            </a:r>
          </a:p>
          <a:p>
            <a:endParaRPr lang="en-US" dirty="0"/>
          </a:p>
          <a:p>
            <a:r>
              <a:rPr lang="en-US" dirty="0"/>
              <a:t>Point to:</a:t>
            </a:r>
          </a:p>
          <a:p>
            <a:endParaRPr lang="en-US" dirty="0"/>
          </a:p>
          <a:p>
            <a:r>
              <a:rPr lang="en-US" dirty="0"/>
              <a:t>DESIGN SECURELY.</a:t>
            </a:r>
          </a:p>
          <a:p>
            <a:endParaRPr lang="en-US" dirty="0"/>
          </a:p>
          <a:p>
            <a:r>
              <a:rPr lang="en-US" dirty="0"/>
              <a:t>Explain:</a:t>
            </a:r>
          </a:p>
          <a:p>
            <a:endParaRPr lang="en-US" dirty="0"/>
          </a:p>
          <a:p>
            <a:r>
              <a:rPr lang="en-US" dirty="0"/>
              <a:t>"Security should begin before code."</a:t>
            </a:r>
          </a:p>
          <a:p>
            <a:endParaRPr lang="en-US" dirty="0"/>
          </a:p>
          <a:p>
            <a:r>
              <a:rPr lang="en-US" dirty="0"/>
              <a:t>Ask:</a:t>
            </a:r>
          </a:p>
          <a:p>
            <a:endParaRPr lang="en-US" dirty="0"/>
          </a:p>
          <a:p>
            <a:r>
              <a:rPr lang="en-US" dirty="0"/>
              <a:t>"Where could a user access something they shouldn't?"</a:t>
            </a:r>
          </a:p>
          <a:p>
            <a:endParaRPr lang="en-US" dirty="0"/>
          </a:p>
          <a:p>
            <a:r>
              <a:rPr lang="en-US" dirty="0"/>
              <a:t>"What information needs protection?"</a:t>
            </a:r>
          </a:p>
          <a:p>
            <a:endParaRPr lang="en-US" dirty="0"/>
          </a:p>
          <a:p>
            <a:r>
              <a:rPr lang="en-US" dirty="0"/>
              <a:t>"What happens if this feature fails?"</a:t>
            </a:r>
          </a:p>
          <a:p>
            <a:endParaRPr lang="en-US" dirty="0"/>
          </a:p>
          <a:p>
            <a:r>
              <a:rPr lang="en-US" dirty="0"/>
              <a:t>This connects security back to Sprint 3.</a:t>
            </a:r>
          </a:p>
          <a:p>
            <a:endParaRPr lang="en-US" dirty="0"/>
          </a:p>
          <a:p>
            <a:r>
              <a:rPr lang="en-US" dirty="0"/>
              <a:t>Say:</a:t>
            </a:r>
          </a:p>
          <a:p>
            <a:endParaRPr lang="en-US" dirty="0"/>
          </a:p>
          <a:p>
            <a:r>
              <a:rPr lang="en-US" dirty="0"/>
              <a:t>"Good security starts with good design."</a:t>
            </a:r>
          </a:p>
          <a:p>
            <a:endParaRPr lang="en-US" dirty="0"/>
          </a:p>
          <a:p>
            <a:r>
              <a:rPr lang="en-US" dirty="0"/>
              <a:t>------------------------------------------------------------</a:t>
            </a:r>
          </a:p>
          <a:p>
            <a:endParaRPr lang="en-US" dirty="0"/>
          </a:p>
          <a:p>
            <a:r>
              <a:rPr lang="en-US" dirty="0"/>
              <a:t>DEVELOP SECURELY</a:t>
            </a:r>
          </a:p>
          <a:p>
            <a:endParaRPr lang="en-US" dirty="0"/>
          </a:p>
          <a:p>
            <a:r>
              <a:rPr lang="en-US" dirty="0"/>
              <a:t>Point to:</a:t>
            </a:r>
          </a:p>
          <a:p>
            <a:endParaRPr lang="en-US" dirty="0"/>
          </a:p>
          <a:p>
            <a:r>
              <a:rPr lang="en-US" dirty="0"/>
              <a:t>DEVELOP SECURELY.</a:t>
            </a:r>
          </a:p>
          <a:p>
            <a:endParaRPr lang="en-US" dirty="0"/>
          </a:p>
          <a:p>
            <a:r>
              <a:rPr lang="en-US" dirty="0"/>
              <a:t>Review:</a:t>
            </a:r>
          </a:p>
          <a:p>
            <a:endParaRPr lang="en-US" dirty="0"/>
          </a:p>
          <a:p>
            <a:r>
              <a:rPr lang="en-US" dirty="0"/>
              <a:t>Validate input.</a:t>
            </a:r>
          </a:p>
          <a:p>
            <a:endParaRPr lang="en-US" dirty="0"/>
          </a:p>
          <a:p>
            <a:r>
              <a:rPr lang="en-US" dirty="0"/>
              <a:t>Handle errors safely.</a:t>
            </a:r>
          </a:p>
          <a:p>
            <a:endParaRPr lang="en-US" dirty="0"/>
          </a:p>
          <a:p>
            <a:r>
              <a:rPr lang="en-US" dirty="0"/>
              <a:t>Protect secrets.</a:t>
            </a:r>
          </a:p>
          <a:p>
            <a:endParaRPr lang="en-US" dirty="0"/>
          </a:p>
          <a:p>
            <a:r>
              <a:rPr lang="en-US" dirty="0"/>
              <a:t>Use established frameworks.</a:t>
            </a:r>
          </a:p>
          <a:p>
            <a:endParaRPr lang="en-US" dirty="0"/>
          </a:p>
          <a:p>
            <a:r>
              <a:rPr lang="en-US" dirty="0"/>
              <a:t>Test assumptions.</a:t>
            </a:r>
          </a:p>
          <a:p>
            <a:endParaRPr lang="en-US" dirty="0"/>
          </a:p>
          <a:p>
            <a:r>
              <a:rPr lang="en-US" dirty="0"/>
              <a:t>Say:</a:t>
            </a:r>
          </a:p>
          <a:p>
            <a:endParaRPr lang="en-US" dirty="0"/>
          </a:p>
          <a:p>
            <a:r>
              <a:rPr lang="en-US" dirty="0"/>
              <a:t>"Security practices have to exist in the code."</a:t>
            </a:r>
          </a:p>
          <a:p>
            <a:endParaRPr lang="en-US" dirty="0"/>
          </a:p>
          <a:p>
            <a:r>
              <a:rPr lang="en-US" dirty="0"/>
              <a:t>------------------------------------------------------------</a:t>
            </a:r>
          </a:p>
          <a:p>
            <a:endParaRPr lang="en-US" dirty="0"/>
          </a:p>
          <a:p>
            <a:r>
              <a:rPr lang="en-US" dirty="0"/>
              <a:t>DEPLOY SECURELY</a:t>
            </a:r>
          </a:p>
          <a:p>
            <a:endParaRPr lang="en-US" dirty="0"/>
          </a:p>
          <a:p>
            <a:r>
              <a:rPr lang="en-US" dirty="0"/>
              <a:t>Point to:</a:t>
            </a:r>
          </a:p>
          <a:p>
            <a:endParaRPr lang="en-US" dirty="0"/>
          </a:p>
          <a:p>
            <a:r>
              <a:rPr lang="en-US" dirty="0"/>
              <a:t>DEPLOY SECURELY.</a:t>
            </a:r>
          </a:p>
          <a:p>
            <a:endParaRPr lang="en-US" dirty="0"/>
          </a:p>
          <a:p>
            <a:r>
              <a:rPr lang="en-US" dirty="0"/>
              <a:t>Review:</a:t>
            </a:r>
          </a:p>
          <a:p>
            <a:endParaRPr lang="en-US" dirty="0"/>
          </a:p>
          <a:p>
            <a:r>
              <a:rPr lang="en-US" dirty="0"/>
              <a:t>HTTPS.</a:t>
            </a:r>
          </a:p>
          <a:p>
            <a:endParaRPr lang="en-US" dirty="0"/>
          </a:p>
          <a:p>
            <a:r>
              <a:rPr lang="en-US" dirty="0"/>
              <a:t>Secure configuration.</a:t>
            </a:r>
          </a:p>
          <a:p>
            <a:endParaRPr lang="en-US" dirty="0"/>
          </a:p>
          <a:p>
            <a:r>
              <a:rPr lang="en-US" dirty="0"/>
              <a:t>Protected credentials.</a:t>
            </a:r>
          </a:p>
          <a:p>
            <a:endParaRPr lang="en-US" dirty="0"/>
          </a:p>
          <a:p>
            <a:r>
              <a:rPr lang="en-US" dirty="0"/>
              <a:t>Appropriate environment settings.</a:t>
            </a:r>
          </a:p>
          <a:p>
            <a:endParaRPr lang="en-US" dirty="0"/>
          </a:p>
          <a:p>
            <a:r>
              <a:rPr lang="en-US" dirty="0"/>
              <a:t>Updated software.</a:t>
            </a:r>
          </a:p>
          <a:p>
            <a:endParaRPr lang="en-US" dirty="0"/>
          </a:p>
          <a:p>
            <a:r>
              <a:rPr lang="en-US" dirty="0"/>
              <a:t>Explain:</a:t>
            </a:r>
          </a:p>
          <a:p>
            <a:endParaRPr lang="en-US" dirty="0"/>
          </a:p>
          <a:p>
            <a:r>
              <a:rPr lang="en-US" dirty="0"/>
              <a:t>"A secure application can become insecure through an unsafe</a:t>
            </a:r>
          </a:p>
          <a:p>
            <a:r>
              <a:rPr lang="en-US" dirty="0"/>
              <a:t>deployment."</a:t>
            </a:r>
          </a:p>
          <a:p>
            <a:endParaRPr lang="en-US" dirty="0"/>
          </a:p>
          <a:p>
            <a:r>
              <a:rPr lang="en-US" dirty="0"/>
              <a:t>------------------------------------------------------------</a:t>
            </a:r>
          </a:p>
          <a:p>
            <a:endParaRPr lang="en-US" dirty="0"/>
          </a:p>
          <a:p>
            <a:r>
              <a:rPr lang="en-US" dirty="0"/>
              <a:t>MONITOR CONTINUOUSLY</a:t>
            </a:r>
          </a:p>
          <a:p>
            <a:endParaRPr lang="en-US" dirty="0"/>
          </a:p>
          <a:p>
            <a:r>
              <a:rPr lang="en-US" dirty="0"/>
              <a:t>Point to:</a:t>
            </a:r>
          </a:p>
          <a:p>
            <a:endParaRPr lang="en-US" dirty="0"/>
          </a:p>
          <a:p>
            <a:r>
              <a:rPr lang="en-US" dirty="0"/>
              <a:t>MONITOR CONTINUOUSLY.</a:t>
            </a:r>
          </a:p>
          <a:p>
            <a:endParaRPr lang="en-US" dirty="0"/>
          </a:p>
          <a:p>
            <a:r>
              <a:rPr lang="en-US" dirty="0"/>
              <a:t>Explain:</a:t>
            </a:r>
          </a:p>
          <a:p>
            <a:endParaRPr lang="en-US" dirty="0"/>
          </a:p>
          <a:p>
            <a:r>
              <a:rPr lang="en-US" dirty="0"/>
              <a:t>"Once Atlas is deployed..."</a:t>
            </a:r>
          </a:p>
          <a:p>
            <a:endParaRPr lang="en-US" dirty="0"/>
          </a:p>
          <a:p>
            <a:r>
              <a:rPr lang="en-US" dirty="0"/>
              <a:t>"We need to know what's happening."</a:t>
            </a:r>
          </a:p>
          <a:p>
            <a:endParaRPr lang="en-US" dirty="0"/>
          </a:p>
          <a:p>
            <a:r>
              <a:rPr lang="en-US" dirty="0"/>
              <a:t>Examples:</a:t>
            </a:r>
          </a:p>
          <a:p>
            <a:endParaRPr lang="en-US" dirty="0"/>
          </a:p>
          <a:p>
            <a:r>
              <a:rPr lang="en-US" dirty="0"/>
              <a:t>Logs.</a:t>
            </a:r>
          </a:p>
          <a:p>
            <a:endParaRPr lang="en-US" dirty="0"/>
          </a:p>
          <a:p>
            <a:r>
              <a:rPr lang="en-US" dirty="0"/>
              <a:t>Errors.</a:t>
            </a:r>
          </a:p>
          <a:p>
            <a:endParaRPr lang="en-US" dirty="0"/>
          </a:p>
          <a:p>
            <a:r>
              <a:rPr lang="en-US" dirty="0"/>
              <a:t>Performance.</a:t>
            </a:r>
          </a:p>
          <a:p>
            <a:endParaRPr lang="en-US" dirty="0"/>
          </a:p>
          <a:p>
            <a:r>
              <a:rPr lang="en-US" dirty="0"/>
              <a:t>Security events.</a:t>
            </a:r>
          </a:p>
          <a:p>
            <a:endParaRPr lang="en-US" dirty="0"/>
          </a:p>
          <a:p>
            <a:r>
              <a:rPr lang="en-US" dirty="0"/>
              <a:t>Availability.</a:t>
            </a:r>
          </a:p>
          <a:p>
            <a:endParaRPr lang="en-US" dirty="0"/>
          </a:p>
          <a:p>
            <a:r>
              <a:rPr lang="en-US" dirty="0"/>
              <a:t>Explain:</a:t>
            </a:r>
          </a:p>
          <a:p>
            <a:endParaRPr lang="en-US" dirty="0"/>
          </a:p>
          <a:p>
            <a:r>
              <a:rPr lang="en-US" dirty="0"/>
              <a:t>"You can't respond to a problem you don't know about."</a:t>
            </a:r>
          </a:p>
          <a:p>
            <a:endParaRPr lang="en-US" dirty="0"/>
          </a:p>
          <a:p>
            <a:r>
              <a:rPr lang="en-US" dirty="0"/>
              <a:t>------------------------------------------------------------</a:t>
            </a:r>
          </a:p>
          <a:p>
            <a:endParaRPr lang="en-US" dirty="0"/>
          </a:p>
          <a:p>
            <a:r>
              <a:rPr lang="en-US" dirty="0"/>
              <a:t>MANAGE ACCESS WISELY</a:t>
            </a:r>
          </a:p>
          <a:p>
            <a:endParaRPr lang="en-US" dirty="0"/>
          </a:p>
          <a:p>
            <a:r>
              <a:rPr lang="en-US" dirty="0"/>
              <a:t>Point to:</a:t>
            </a:r>
          </a:p>
          <a:p>
            <a:endParaRPr lang="en-US" dirty="0"/>
          </a:p>
          <a:p>
            <a:r>
              <a:rPr lang="en-US" dirty="0"/>
              <a:t>MANAGE ACCESS WISELY.</a:t>
            </a:r>
          </a:p>
          <a:p>
            <a:endParaRPr lang="en-US" dirty="0"/>
          </a:p>
          <a:p>
            <a:r>
              <a:rPr lang="en-US" dirty="0"/>
              <a:t>Review:</a:t>
            </a:r>
          </a:p>
          <a:p>
            <a:endParaRPr lang="en-US" dirty="0"/>
          </a:p>
          <a:p>
            <a:r>
              <a:rPr lang="en-US" dirty="0"/>
              <a:t>Least privilege.</a:t>
            </a:r>
          </a:p>
          <a:p>
            <a:endParaRPr lang="en-US" dirty="0"/>
          </a:p>
          <a:p>
            <a:r>
              <a:rPr lang="en-US" dirty="0"/>
              <a:t>Remove unused accounts.</a:t>
            </a:r>
          </a:p>
          <a:p>
            <a:endParaRPr lang="en-US" dirty="0"/>
          </a:p>
          <a:p>
            <a:r>
              <a:rPr lang="en-US" dirty="0"/>
              <a:t>Review permissions.</a:t>
            </a:r>
          </a:p>
          <a:p>
            <a:endParaRPr lang="en-US" dirty="0"/>
          </a:p>
          <a:p>
            <a:r>
              <a:rPr lang="en-US" dirty="0"/>
              <a:t>Protect administrative access.</a:t>
            </a:r>
          </a:p>
          <a:p>
            <a:endParaRPr lang="en-US" dirty="0"/>
          </a:p>
          <a:p>
            <a:r>
              <a:rPr lang="en-US" dirty="0"/>
              <a:t>Explain:</a:t>
            </a:r>
          </a:p>
          <a:p>
            <a:endParaRPr lang="en-US" dirty="0"/>
          </a:p>
          <a:p>
            <a:r>
              <a:rPr lang="en-US" dirty="0"/>
              <a:t>"Access should change as people and responsibilities change."</a:t>
            </a:r>
          </a:p>
          <a:p>
            <a:endParaRPr lang="en-US" dirty="0"/>
          </a:p>
          <a:p>
            <a:r>
              <a:rPr lang="en-US" dirty="0"/>
              <a:t>------------------------------------------------------------</a:t>
            </a:r>
          </a:p>
          <a:p>
            <a:endParaRPr lang="en-US" dirty="0"/>
          </a:p>
          <a:p>
            <a:r>
              <a:rPr lang="en-US" dirty="0"/>
              <a:t>PROTECT DATA ALWAYS</a:t>
            </a:r>
          </a:p>
          <a:p>
            <a:endParaRPr lang="en-US" dirty="0"/>
          </a:p>
          <a:p>
            <a:r>
              <a:rPr lang="en-US" dirty="0"/>
              <a:t>Point to:</a:t>
            </a:r>
          </a:p>
          <a:p>
            <a:endParaRPr lang="en-US" dirty="0"/>
          </a:p>
          <a:p>
            <a:r>
              <a:rPr lang="en-US" dirty="0"/>
              <a:t>PROTECT DATA ALWAYS.</a:t>
            </a:r>
          </a:p>
          <a:p>
            <a:endParaRPr lang="en-US" dirty="0"/>
          </a:p>
          <a:p>
            <a:r>
              <a:rPr lang="en-US" dirty="0"/>
              <a:t>Review:</a:t>
            </a:r>
          </a:p>
          <a:p>
            <a:endParaRPr lang="en-US" dirty="0"/>
          </a:p>
          <a:p>
            <a:r>
              <a:rPr lang="en-US" dirty="0"/>
              <a:t>Secure storage.</a:t>
            </a:r>
          </a:p>
          <a:p>
            <a:endParaRPr lang="en-US" dirty="0"/>
          </a:p>
          <a:p>
            <a:r>
              <a:rPr lang="en-US" dirty="0"/>
              <a:t>Encryption where appropriate.</a:t>
            </a:r>
          </a:p>
          <a:p>
            <a:endParaRPr lang="en-US" dirty="0"/>
          </a:p>
          <a:p>
            <a:r>
              <a:rPr lang="en-US" dirty="0"/>
              <a:t>Backups.</a:t>
            </a:r>
          </a:p>
          <a:p>
            <a:endParaRPr lang="en-US" dirty="0"/>
          </a:p>
          <a:p>
            <a:r>
              <a:rPr lang="en-US" dirty="0"/>
              <a:t>Access controls.</a:t>
            </a:r>
          </a:p>
          <a:p>
            <a:endParaRPr lang="en-US" dirty="0"/>
          </a:p>
          <a:p>
            <a:r>
              <a:rPr lang="en-US" dirty="0"/>
              <a:t>Data minimization.</a:t>
            </a:r>
          </a:p>
          <a:p>
            <a:endParaRPr lang="en-US" dirty="0"/>
          </a:p>
          <a:p>
            <a:r>
              <a:rPr lang="en-US" dirty="0"/>
              <a:t>Explain:</a:t>
            </a:r>
          </a:p>
          <a:p>
            <a:endParaRPr lang="en-US" dirty="0"/>
          </a:p>
          <a:p>
            <a:r>
              <a:rPr lang="en-US" dirty="0"/>
              <a:t>"Data protection is not something we do once."</a:t>
            </a:r>
          </a:p>
          <a:p>
            <a:endParaRPr lang="en-US" dirty="0"/>
          </a:p>
          <a:p>
            <a:r>
              <a:rPr lang="en-US" dirty="0"/>
              <a:t>------------------------------------------------------------</a:t>
            </a:r>
          </a:p>
          <a:p>
            <a:endParaRPr lang="en-US" dirty="0"/>
          </a:p>
          <a:p>
            <a:r>
              <a:rPr lang="en-US" dirty="0"/>
              <a:t>RESPOND RESPONSIBLY</a:t>
            </a:r>
          </a:p>
          <a:p>
            <a:endParaRPr lang="en-US" dirty="0"/>
          </a:p>
          <a:p>
            <a:r>
              <a:rPr lang="en-US" dirty="0"/>
              <a:t>Point to:</a:t>
            </a:r>
          </a:p>
          <a:p>
            <a:endParaRPr lang="en-US" dirty="0"/>
          </a:p>
          <a:p>
            <a:r>
              <a:rPr lang="en-US" dirty="0"/>
              <a:t>RESPOND RESPONSIBLY.</a:t>
            </a:r>
          </a:p>
          <a:p>
            <a:endParaRPr lang="en-US" dirty="0"/>
          </a:p>
          <a:p>
            <a:r>
              <a:rPr lang="en-US" dirty="0"/>
              <a:t>Ask:</a:t>
            </a:r>
          </a:p>
          <a:p>
            <a:endParaRPr lang="en-US" dirty="0"/>
          </a:p>
          <a:p>
            <a:r>
              <a:rPr lang="en-US" dirty="0"/>
              <a:t>"What happens if Atlas has a security problem?"</a:t>
            </a:r>
          </a:p>
          <a:p>
            <a:endParaRPr lang="en-US" dirty="0"/>
          </a:p>
          <a:p>
            <a:r>
              <a:rPr lang="en-US" dirty="0"/>
              <a:t>Students may say:</a:t>
            </a:r>
          </a:p>
          <a:p>
            <a:endParaRPr lang="en-US" dirty="0"/>
          </a:p>
          <a:p>
            <a:r>
              <a:rPr lang="en-US" dirty="0"/>
              <a:t>"Fix it."</a:t>
            </a:r>
          </a:p>
          <a:p>
            <a:endParaRPr lang="en-US" dirty="0"/>
          </a:p>
          <a:p>
            <a:r>
              <a:rPr lang="en-US" dirty="0"/>
              <a:t>Say:</a:t>
            </a:r>
          </a:p>
          <a:p>
            <a:endParaRPr lang="en-US" dirty="0"/>
          </a:p>
          <a:p>
            <a:r>
              <a:rPr lang="en-US" dirty="0"/>
              <a:t>"Yes—but that's only part of it."</a:t>
            </a:r>
          </a:p>
          <a:p>
            <a:endParaRPr lang="en-US" dirty="0"/>
          </a:p>
          <a:p>
            <a:r>
              <a:rPr lang="en-US" dirty="0"/>
              <a:t>We may need to:</a:t>
            </a:r>
          </a:p>
          <a:p>
            <a:endParaRPr lang="en-US" dirty="0"/>
          </a:p>
          <a:p>
            <a:r>
              <a:rPr lang="en-US" dirty="0"/>
              <a:t>Investigate.</a:t>
            </a:r>
          </a:p>
          <a:p>
            <a:endParaRPr lang="en-US" dirty="0"/>
          </a:p>
          <a:p>
            <a:r>
              <a:rPr lang="en-US" dirty="0"/>
              <a:t>Contain.</a:t>
            </a:r>
          </a:p>
          <a:p>
            <a:endParaRPr lang="en-US" dirty="0"/>
          </a:p>
          <a:p>
            <a:r>
              <a:rPr lang="en-US" dirty="0"/>
              <a:t>Fix.</a:t>
            </a:r>
          </a:p>
          <a:p>
            <a:endParaRPr lang="en-US" dirty="0"/>
          </a:p>
          <a:p>
            <a:r>
              <a:rPr lang="en-US" dirty="0"/>
              <a:t>Communicate.</a:t>
            </a:r>
          </a:p>
          <a:p>
            <a:endParaRPr lang="en-US" dirty="0"/>
          </a:p>
          <a:p>
            <a:r>
              <a:rPr lang="en-US" dirty="0"/>
              <a:t>Document.</a:t>
            </a:r>
          </a:p>
          <a:p>
            <a:endParaRPr lang="en-US" dirty="0"/>
          </a:p>
          <a:p>
            <a:r>
              <a:rPr lang="en-US" dirty="0"/>
              <a:t>Learn.</a:t>
            </a:r>
          </a:p>
          <a:p>
            <a:endParaRPr lang="en-US" dirty="0"/>
          </a:p>
          <a:p>
            <a:r>
              <a:rPr lang="en-US" dirty="0"/>
              <a:t>Improve.</a:t>
            </a:r>
          </a:p>
          <a:p>
            <a:endParaRPr lang="en-US" dirty="0"/>
          </a:p>
          <a:p>
            <a:r>
              <a:rPr lang="en-US" dirty="0"/>
              <a:t>------------------------------------------------------------</a:t>
            </a:r>
          </a:p>
          <a:p>
            <a:endParaRPr lang="en-US" dirty="0"/>
          </a:p>
          <a:p>
            <a:r>
              <a:rPr lang="en-US" dirty="0"/>
              <a:t>INCIDENT RESPONSE</a:t>
            </a:r>
          </a:p>
          <a:p>
            <a:endParaRPr lang="en-US" dirty="0"/>
          </a:p>
          <a:p>
            <a:r>
              <a:rPr lang="en-US" dirty="0"/>
              <a:t>Introduce the basic cycle:</a:t>
            </a:r>
          </a:p>
          <a:p>
            <a:endParaRPr lang="en-US" dirty="0"/>
          </a:p>
          <a:p>
            <a:r>
              <a:rPr lang="en-US" dirty="0"/>
              <a:t>DETECT</a:t>
            </a:r>
          </a:p>
          <a:p>
            <a:endParaRPr lang="en-US" dirty="0"/>
          </a:p>
          <a:p>
            <a:r>
              <a:rPr lang="en-US" dirty="0"/>
              <a:t>↓</a:t>
            </a:r>
          </a:p>
          <a:p>
            <a:endParaRPr lang="en-US" dirty="0"/>
          </a:p>
          <a:p>
            <a:r>
              <a:rPr lang="en-US" dirty="0"/>
              <a:t>INVESTIGATE</a:t>
            </a:r>
          </a:p>
          <a:p>
            <a:endParaRPr lang="en-US" dirty="0"/>
          </a:p>
          <a:p>
            <a:r>
              <a:rPr lang="en-US" dirty="0"/>
              <a:t>↓</a:t>
            </a:r>
          </a:p>
          <a:p>
            <a:endParaRPr lang="en-US" dirty="0"/>
          </a:p>
          <a:p>
            <a:r>
              <a:rPr lang="en-US" dirty="0"/>
              <a:t>CONTAIN</a:t>
            </a:r>
          </a:p>
          <a:p>
            <a:endParaRPr lang="en-US" dirty="0"/>
          </a:p>
          <a:p>
            <a:r>
              <a:rPr lang="en-US" dirty="0"/>
              <a:t>↓</a:t>
            </a:r>
          </a:p>
          <a:p>
            <a:endParaRPr lang="en-US" dirty="0"/>
          </a:p>
          <a:p>
            <a:r>
              <a:rPr lang="en-US" dirty="0"/>
              <a:t>FIX</a:t>
            </a:r>
          </a:p>
          <a:p>
            <a:endParaRPr lang="en-US" dirty="0"/>
          </a:p>
          <a:p>
            <a:r>
              <a:rPr lang="en-US" dirty="0"/>
              <a:t>↓</a:t>
            </a:r>
          </a:p>
          <a:p>
            <a:endParaRPr lang="en-US" dirty="0"/>
          </a:p>
          <a:p>
            <a:r>
              <a:rPr lang="en-US" dirty="0"/>
              <a:t>RECOVER</a:t>
            </a:r>
          </a:p>
          <a:p>
            <a:endParaRPr lang="en-US" dirty="0"/>
          </a:p>
          <a:p>
            <a:r>
              <a:rPr lang="en-US" dirty="0"/>
              <a:t>↓</a:t>
            </a:r>
          </a:p>
          <a:p>
            <a:endParaRPr lang="en-US" dirty="0"/>
          </a:p>
          <a:p>
            <a:r>
              <a:rPr lang="en-US" dirty="0"/>
              <a:t>LEARN</a:t>
            </a:r>
          </a:p>
          <a:p>
            <a:endParaRPr lang="en-US" dirty="0"/>
          </a:p>
          <a:p>
            <a:r>
              <a:rPr lang="en-US" dirty="0"/>
              <a:t>Explain:</a:t>
            </a:r>
          </a:p>
          <a:p>
            <a:endParaRPr lang="en-US" dirty="0"/>
          </a:p>
          <a:p>
            <a:r>
              <a:rPr lang="en-US" dirty="0"/>
              <a:t>"We aren't going to build a complete incident-response program."</a:t>
            </a:r>
          </a:p>
          <a:p>
            <a:endParaRPr lang="en-US" dirty="0"/>
          </a:p>
          <a:p>
            <a:r>
              <a:rPr lang="en-US" dirty="0"/>
              <a:t>"We just need to understand that responsible organizations have a</a:t>
            </a:r>
          </a:p>
          <a:p>
            <a:r>
              <a:rPr lang="en-US" dirty="0"/>
              <a:t>plan for when things go wrong."</a:t>
            </a:r>
          </a:p>
          <a:p>
            <a:endParaRPr lang="en-US" dirty="0"/>
          </a:p>
          <a:p>
            <a:r>
              <a:rPr lang="en-US" dirty="0"/>
              <a:t>------------------------------------------------------------</a:t>
            </a:r>
          </a:p>
          <a:p>
            <a:endParaRPr lang="en-US" dirty="0"/>
          </a:p>
          <a:p>
            <a:r>
              <a:rPr lang="en-US" dirty="0"/>
              <a:t>BACKUPS</a:t>
            </a:r>
          </a:p>
          <a:p>
            <a:endParaRPr lang="en-US" dirty="0"/>
          </a:p>
          <a:p>
            <a:r>
              <a:rPr lang="en-US" dirty="0"/>
              <a:t>Ask:</a:t>
            </a:r>
          </a:p>
          <a:p>
            <a:endParaRPr lang="en-US" dirty="0"/>
          </a:p>
          <a:p>
            <a:r>
              <a:rPr lang="en-US" dirty="0"/>
              <a:t>"What happens if our database disappears?"</a:t>
            </a:r>
          </a:p>
          <a:p>
            <a:endParaRPr lang="en-US" dirty="0"/>
          </a:p>
          <a:p>
            <a:r>
              <a:rPr lang="en-US" dirty="0"/>
              <a:t>Students:</a:t>
            </a:r>
          </a:p>
          <a:p>
            <a:endParaRPr lang="en-US" dirty="0"/>
          </a:p>
          <a:p>
            <a:r>
              <a:rPr lang="en-US" dirty="0"/>
              <a:t>"We restore it."</a:t>
            </a:r>
          </a:p>
          <a:p>
            <a:endParaRPr lang="en-US" dirty="0"/>
          </a:p>
          <a:p>
            <a:r>
              <a:rPr lang="en-US" dirty="0"/>
              <a:t>Ask:</a:t>
            </a:r>
          </a:p>
          <a:p>
            <a:endParaRPr lang="en-US" dirty="0"/>
          </a:p>
          <a:p>
            <a:r>
              <a:rPr lang="en-US" dirty="0"/>
              <a:t>"From where?"</a:t>
            </a:r>
          </a:p>
          <a:p>
            <a:endParaRPr lang="en-US" dirty="0"/>
          </a:p>
          <a:p>
            <a:r>
              <a:rPr lang="en-US" dirty="0"/>
              <a:t>Backups.</a:t>
            </a:r>
          </a:p>
          <a:p>
            <a:endParaRPr lang="en-US" dirty="0"/>
          </a:p>
          <a:p>
            <a:r>
              <a:rPr lang="en-US" dirty="0"/>
              <a:t>Explain:</a:t>
            </a:r>
          </a:p>
          <a:p>
            <a:endParaRPr lang="en-US" dirty="0"/>
          </a:p>
          <a:p>
            <a:r>
              <a:rPr lang="en-US" dirty="0"/>
              <a:t>"A backup is only useful if it can actually be restored."</a:t>
            </a:r>
          </a:p>
          <a:p>
            <a:endParaRPr lang="en-US" dirty="0"/>
          </a:p>
          <a:p>
            <a:r>
              <a:rPr lang="en-US" dirty="0"/>
              <a:t>Important principle:</a:t>
            </a:r>
          </a:p>
          <a:p>
            <a:endParaRPr lang="en-US" dirty="0"/>
          </a:p>
          <a:p>
            <a:r>
              <a:rPr lang="en-US" dirty="0"/>
              <a:t>"Backup success should be tested."</a:t>
            </a:r>
          </a:p>
          <a:p>
            <a:endParaRPr lang="en-US" dirty="0"/>
          </a:p>
          <a:p>
            <a:r>
              <a:rPr lang="en-US" dirty="0"/>
              <a:t>------------------------------------------------------------</a:t>
            </a:r>
          </a:p>
          <a:p>
            <a:endParaRPr lang="en-US" dirty="0"/>
          </a:p>
          <a:p>
            <a:r>
              <a:rPr lang="en-US" dirty="0"/>
              <a:t>AVAILABILITY IS SECURITY</a:t>
            </a:r>
          </a:p>
          <a:p>
            <a:endParaRPr lang="en-US" dirty="0"/>
          </a:p>
          <a:p>
            <a:r>
              <a:rPr lang="en-US" dirty="0"/>
              <a:t>Explain:</a:t>
            </a:r>
          </a:p>
          <a:p>
            <a:endParaRPr lang="en-US" dirty="0"/>
          </a:p>
          <a:p>
            <a:r>
              <a:rPr lang="en-US" dirty="0"/>
              <a:t>"People sometimes think security means keeping people out."</a:t>
            </a:r>
          </a:p>
          <a:p>
            <a:endParaRPr lang="en-US" dirty="0"/>
          </a:p>
          <a:p>
            <a:r>
              <a:rPr lang="en-US" dirty="0"/>
              <a:t>"But availability matters too."</a:t>
            </a:r>
          </a:p>
          <a:p>
            <a:endParaRPr lang="en-US" dirty="0"/>
          </a:p>
          <a:p>
            <a:r>
              <a:rPr lang="en-US" dirty="0"/>
              <a:t>If the application is:</a:t>
            </a:r>
          </a:p>
          <a:p>
            <a:endParaRPr lang="en-US" dirty="0"/>
          </a:p>
          <a:p>
            <a:r>
              <a:rPr lang="en-US" dirty="0"/>
              <a:t>Secure but always down...</a:t>
            </a:r>
          </a:p>
          <a:p>
            <a:endParaRPr lang="en-US" dirty="0"/>
          </a:p>
          <a:p>
            <a:r>
              <a:rPr lang="en-US" dirty="0"/>
              <a:t>Users still can't rely on it.</a:t>
            </a:r>
          </a:p>
          <a:p>
            <a:endParaRPr lang="en-US" dirty="0"/>
          </a:p>
          <a:p>
            <a:r>
              <a:rPr lang="en-US" dirty="0"/>
              <a:t>The goal is:</a:t>
            </a:r>
          </a:p>
          <a:p>
            <a:endParaRPr lang="en-US" dirty="0"/>
          </a:p>
          <a:p>
            <a:r>
              <a:rPr lang="en-US" dirty="0"/>
              <a:t>Secure.</a:t>
            </a:r>
          </a:p>
          <a:p>
            <a:endParaRPr lang="en-US" dirty="0"/>
          </a:p>
          <a:p>
            <a:r>
              <a:rPr lang="en-US" dirty="0"/>
              <a:t>Available.</a:t>
            </a:r>
          </a:p>
          <a:p>
            <a:endParaRPr lang="en-US" dirty="0"/>
          </a:p>
          <a:p>
            <a:r>
              <a:rPr lang="en-US" dirty="0"/>
              <a:t>Reliable.</a:t>
            </a:r>
          </a:p>
          <a:p>
            <a:endParaRPr lang="en-US" dirty="0"/>
          </a:p>
          <a:p>
            <a:r>
              <a:rPr lang="en-US" dirty="0"/>
              <a:t>------------------------------------------------------------</a:t>
            </a:r>
          </a:p>
          <a:p>
            <a:endParaRPr lang="en-US" dirty="0"/>
          </a:p>
          <a:p>
            <a:r>
              <a:rPr lang="en-US" dirty="0"/>
              <a:t>COMPLIANCE — CONCEPT ONLY</a:t>
            </a:r>
          </a:p>
          <a:p>
            <a:endParaRPr lang="en-US" dirty="0"/>
          </a:p>
          <a:p>
            <a:r>
              <a:rPr lang="en-US" dirty="0"/>
              <a:t>Briefly introduce:</a:t>
            </a:r>
          </a:p>
          <a:p>
            <a:endParaRPr lang="en-US" dirty="0"/>
          </a:p>
          <a:p>
            <a:r>
              <a:rPr lang="en-US" dirty="0"/>
              <a:t>"Organizations may also have legal and regulatory responsibilities</a:t>
            </a:r>
          </a:p>
          <a:p>
            <a:r>
              <a:rPr lang="en-US" dirty="0"/>
              <a:t>depending on the information and industry involved."</a:t>
            </a:r>
          </a:p>
          <a:p>
            <a:endParaRPr lang="en-US" dirty="0"/>
          </a:p>
          <a:p>
            <a:r>
              <a:rPr lang="en-US" dirty="0"/>
              <a:t>Examples may include:</a:t>
            </a:r>
          </a:p>
          <a:p>
            <a:endParaRPr lang="en-US" dirty="0"/>
          </a:p>
          <a:p>
            <a:r>
              <a:rPr lang="en-US" dirty="0"/>
              <a:t>Privacy laws.</a:t>
            </a:r>
          </a:p>
          <a:p>
            <a:endParaRPr lang="en-US" dirty="0"/>
          </a:p>
          <a:p>
            <a:r>
              <a:rPr lang="en-US" dirty="0"/>
              <a:t>Data protection requirements.</a:t>
            </a:r>
          </a:p>
          <a:p>
            <a:endParaRPr lang="en-US" dirty="0"/>
          </a:p>
          <a:p>
            <a:r>
              <a:rPr lang="en-US" dirty="0"/>
              <a:t>Industry regulations.</a:t>
            </a:r>
          </a:p>
          <a:p>
            <a:endParaRPr lang="en-US" dirty="0"/>
          </a:p>
          <a:p>
            <a:r>
              <a:rPr lang="en-US" dirty="0"/>
              <a:t>Institutional policies.</a:t>
            </a:r>
          </a:p>
          <a:p>
            <a:endParaRPr lang="en-US" dirty="0"/>
          </a:p>
          <a:p>
            <a:r>
              <a:rPr lang="en-US" dirty="0"/>
              <a:t>Explain:</a:t>
            </a:r>
          </a:p>
          <a:p>
            <a:endParaRPr lang="en-US" dirty="0"/>
          </a:p>
          <a:p>
            <a:r>
              <a:rPr lang="en-US" dirty="0"/>
              <a:t>"We don't need to memorize regulations for this class."</a:t>
            </a:r>
          </a:p>
          <a:p>
            <a:endParaRPr lang="en-US" dirty="0"/>
          </a:p>
          <a:p>
            <a:r>
              <a:rPr lang="en-US" dirty="0"/>
              <a:t>"The important lesson is that software operates within a larger</a:t>
            </a:r>
          </a:p>
          <a:p>
            <a:r>
              <a:rPr lang="en-US" dirty="0"/>
              <a:t>legal and organizational environment."</a:t>
            </a:r>
          </a:p>
          <a:p>
            <a:endParaRPr lang="en-US" dirty="0"/>
          </a:p>
          <a:p>
            <a:r>
              <a:rPr lang="en-US" dirty="0"/>
              <a:t>------------------------------------------------------------</a:t>
            </a:r>
          </a:p>
          <a:p>
            <a:endParaRPr lang="en-US" dirty="0"/>
          </a:p>
          <a:p>
            <a:r>
              <a:rPr lang="en-US" dirty="0"/>
              <a:t>DATA OWNERSHIP</a:t>
            </a:r>
          </a:p>
          <a:p>
            <a:endParaRPr lang="en-US" dirty="0"/>
          </a:p>
          <a:p>
            <a:r>
              <a:rPr lang="en-US" dirty="0"/>
              <a:t>Ask:</a:t>
            </a:r>
          </a:p>
          <a:p>
            <a:endParaRPr lang="en-US" dirty="0"/>
          </a:p>
          <a:p>
            <a:r>
              <a:rPr lang="en-US" dirty="0"/>
              <a:t>"If a user creates a project in Atlas..."</a:t>
            </a:r>
          </a:p>
          <a:p>
            <a:endParaRPr lang="en-US" dirty="0"/>
          </a:p>
          <a:p>
            <a:r>
              <a:rPr lang="en-US" dirty="0"/>
              <a:t>"Who does the information belong to?"</a:t>
            </a:r>
          </a:p>
          <a:p>
            <a:endParaRPr lang="en-US" dirty="0"/>
          </a:p>
          <a:p>
            <a:r>
              <a:rPr lang="en-US" dirty="0"/>
              <a:t>This can become complicated depending on the organization and</a:t>
            </a:r>
          </a:p>
          <a:p>
            <a:r>
              <a:rPr lang="en-US" dirty="0"/>
              <a:t>agreement.</a:t>
            </a:r>
          </a:p>
          <a:p>
            <a:endParaRPr lang="en-US" dirty="0"/>
          </a:p>
          <a:p>
            <a:r>
              <a:rPr lang="en-US" dirty="0"/>
              <a:t>Explain:</a:t>
            </a:r>
          </a:p>
          <a:p>
            <a:endParaRPr lang="en-US" dirty="0"/>
          </a:p>
          <a:p>
            <a:r>
              <a:rPr lang="en-US" dirty="0"/>
              <a:t>"Data ownership and data rights are business and legal questions."</a:t>
            </a:r>
          </a:p>
          <a:p>
            <a:endParaRPr lang="en-US" dirty="0"/>
          </a:p>
          <a:p>
            <a:r>
              <a:rPr lang="en-US" dirty="0"/>
              <a:t>"Software engineers need to understand that these questions exist."</a:t>
            </a:r>
          </a:p>
          <a:p>
            <a:endParaRPr lang="en-US" dirty="0"/>
          </a:p>
          <a:p>
            <a:r>
              <a:rPr lang="en-US" dirty="0"/>
              <a:t>------------------------------------------------------------</a:t>
            </a:r>
          </a:p>
          <a:p>
            <a:endParaRPr lang="en-US" dirty="0"/>
          </a:p>
          <a:p>
            <a:r>
              <a:rPr lang="en-US" dirty="0"/>
              <a:t>USER RIGHTS</a:t>
            </a:r>
          </a:p>
          <a:p>
            <a:endParaRPr lang="en-US" dirty="0"/>
          </a:p>
          <a:p>
            <a:r>
              <a:rPr lang="en-US" dirty="0"/>
              <a:t>Explain:</a:t>
            </a:r>
          </a:p>
          <a:p>
            <a:endParaRPr lang="en-US" dirty="0"/>
          </a:p>
          <a:p>
            <a:r>
              <a:rPr lang="en-US" dirty="0"/>
              <a:t>"Users may have expectations or legal rights concerning their</a:t>
            </a:r>
          </a:p>
          <a:p>
            <a:r>
              <a:rPr lang="en-US" dirty="0"/>
              <a:t>information."</a:t>
            </a:r>
          </a:p>
          <a:p>
            <a:endParaRPr lang="en-US" dirty="0"/>
          </a:p>
          <a:p>
            <a:r>
              <a:rPr lang="en-US" dirty="0"/>
              <a:t>Examples:</a:t>
            </a:r>
          </a:p>
          <a:p>
            <a:endParaRPr lang="en-US" dirty="0"/>
          </a:p>
          <a:p>
            <a:r>
              <a:rPr lang="en-US" dirty="0"/>
              <a:t>Access.</a:t>
            </a:r>
          </a:p>
          <a:p>
            <a:endParaRPr lang="en-US" dirty="0"/>
          </a:p>
          <a:p>
            <a:r>
              <a:rPr lang="en-US" dirty="0"/>
              <a:t>Correction.</a:t>
            </a:r>
          </a:p>
          <a:p>
            <a:endParaRPr lang="en-US" dirty="0"/>
          </a:p>
          <a:p>
            <a:r>
              <a:rPr lang="en-US" dirty="0"/>
              <a:t>Deletion.</a:t>
            </a:r>
          </a:p>
          <a:p>
            <a:endParaRPr lang="en-US" dirty="0"/>
          </a:p>
          <a:p>
            <a:r>
              <a:rPr lang="en-US" dirty="0"/>
              <a:t>Privacy.</a:t>
            </a:r>
          </a:p>
          <a:p>
            <a:endParaRPr lang="en-US" dirty="0"/>
          </a:p>
          <a:p>
            <a:r>
              <a:rPr lang="en-US" dirty="0"/>
              <a:t>Transparency.</a:t>
            </a:r>
          </a:p>
          <a:p>
            <a:endParaRPr lang="en-US" dirty="0"/>
          </a:p>
          <a:p>
            <a:r>
              <a:rPr lang="en-US" dirty="0"/>
              <a:t>Don't turn this into a law lecture.</a:t>
            </a:r>
          </a:p>
          <a:p>
            <a:endParaRPr lang="en-US" dirty="0"/>
          </a:p>
          <a:p>
            <a:r>
              <a:rPr lang="en-US" dirty="0"/>
              <a:t>The goal is awareness.</a:t>
            </a:r>
          </a:p>
          <a:p>
            <a:endParaRPr lang="en-US" dirty="0"/>
          </a:p>
          <a:p>
            <a:r>
              <a:rPr lang="en-US" dirty="0"/>
              <a:t>------------------------------------------------------------</a:t>
            </a:r>
          </a:p>
          <a:p>
            <a:endParaRPr lang="en-US" dirty="0"/>
          </a:p>
          <a:p>
            <a:r>
              <a:rPr lang="en-US" dirty="0"/>
              <a:t>SECURITY IS A TEAM SPORT</a:t>
            </a:r>
          </a:p>
          <a:p>
            <a:endParaRPr lang="en-US" dirty="0"/>
          </a:p>
          <a:p>
            <a:r>
              <a:rPr lang="en-US" dirty="0"/>
              <a:t>Point to the team section.</a:t>
            </a:r>
          </a:p>
          <a:p>
            <a:endParaRPr lang="en-US" dirty="0"/>
          </a:p>
          <a:p>
            <a:r>
              <a:rPr lang="en-US" dirty="0"/>
              <a:t>Explain:</a:t>
            </a:r>
          </a:p>
          <a:p>
            <a:endParaRPr lang="en-US" dirty="0"/>
          </a:p>
          <a:p>
            <a:r>
              <a:rPr lang="en-US" dirty="0"/>
              <a:t>"Security isn't just the developer's responsibility."</a:t>
            </a:r>
          </a:p>
          <a:p>
            <a:endParaRPr lang="en-US" dirty="0"/>
          </a:p>
          <a:p>
            <a:r>
              <a:rPr lang="en-US" dirty="0"/>
              <a:t>DEVELOPERS:</a:t>
            </a:r>
          </a:p>
          <a:p>
            <a:endParaRPr lang="en-US" dirty="0"/>
          </a:p>
          <a:p>
            <a:r>
              <a:rPr lang="en-US" dirty="0"/>
              <a:t>Write secure code.</a:t>
            </a:r>
          </a:p>
          <a:p>
            <a:endParaRPr lang="en-US" dirty="0"/>
          </a:p>
          <a:p>
            <a:r>
              <a:rPr lang="en-US" dirty="0"/>
              <a:t>TESTERS:</a:t>
            </a:r>
          </a:p>
          <a:p>
            <a:endParaRPr lang="en-US" dirty="0"/>
          </a:p>
          <a:p>
            <a:r>
              <a:rPr lang="en-US" dirty="0"/>
              <a:t>Find problems.</a:t>
            </a:r>
          </a:p>
          <a:p>
            <a:endParaRPr lang="en-US" dirty="0"/>
          </a:p>
          <a:p>
            <a:r>
              <a:rPr lang="en-US" dirty="0"/>
              <a:t>DEVOPS / ENGINEERS:</a:t>
            </a:r>
          </a:p>
          <a:p>
            <a:endParaRPr lang="en-US" dirty="0"/>
          </a:p>
          <a:p>
            <a:r>
              <a:rPr lang="en-US" dirty="0"/>
              <a:t>Secure deployments and infrastructure.</a:t>
            </a:r>
          </a:p>
          <a:p>
            <a:endParaRPr lang="en-US" dirty="0"/>
          </a:p>
          <a:p>
            <a:r>
              <a:rPr lang="en-US" dirty="0"/>
              <a:t>PRODUCT OWNERS:</a:t>
            </a:r>
          </a:p>
          <a:p>
            <a:endParaRPr lang="en-US" dirty="0"/>
          </a:p>
          <a:p>
            <a:r>
              <a:rPr lang="en-US" dirty="0"/>
              <a:t>Prioritize security requirements.</a:t>
            </a:r>
          </a:p>
          <a:p>
            <a:endParaRPr lang="en-US" dirty="0"/>
          </a:p>
          <a:p>
            <a:r>
              <a:rPr lang="en-US" dirty="0"/>
              <a:t>SUPPORT:</a:t>
            </a:r>
          </a:p>
          <a:p>
            <a:endParaRPr lang="en-US" dirty="0"/>
          </a:p>
          <a:p>
            <a:r>
              <a:rPr lang="en-US" dirty="0"/>
              <a:t>Respond to user issues.</a:t>
            </a:r>
          </a:p>
          <a:p>
            <a:endParaRPr lang="en-US" dirty="0"/>
          </a:p>
          <a:p>
            <a:r>
              <a:rPr lang="en-US" dirty="0"/>
              <a:t>EVERYONE:</a:t>
            </a:r>
          </a:p>
          <a:p>
            <a:endParaRPr lang="en-US" dirty="0"/>
          </a:p>
          <a:p>
            <a:r>
              <a:rPr lang="en-US" dirty="0"/>
              <a:t>Own security.</a:t>
            </a:r>
          </a:p>
          <a:p>
            <a:endParaRPr lang="en-US" dirty="0"/>
          </a:p>
          <a:p>
            <a:r>
              <a:rPr lang="en-US" dirty="0"/>
              <a:t>------------------------------------------------------------</a:t>
            </a:r>
          </a:p>
          <a:p>
            <a:endParaRPr lang="en-US" dirty="0"/>
          </a:p>
          <a:p>
            <a:r>
              <a:rPr lang="en-US" dirty="0"/>
              <a:t>THE REAL ENGINEERING LESSON</a:t>
            </a:r>
          </a:p>
          <a:p>
            <a:endParaRPr lang="en-US" dirty="0"/>
          </a:p>
          <a:p>
            <a:r>
              <a:rPr lang="en-US" dirty="0"/>
              <a:t>Say:</a:t>
            </a:r>
          </a:p>
          <a:p>
            <a:endParaRPr lang="en-US" dirty="0"/>
          </a:p>
          <a:p>
            <a:r>
              <a:rPr lang="en-US" dirty="0"/>
              <a:t>"If everyone assumes someone else is responsible for security..."</a:t>
            </a:r>
          </a:p>
          <a:p>
            <a:endParaRPr lang="en-US" dirty="0"/>
          </a:p>
          <a:p>
            <a:r>
              <a:rPr lang="en-US" dirty="0"/>
              <a:t>"Nobody is."</a:t>
            </a:r>
          </a:p>
          <a:p>
            <a:endParaRPr lang="en-US" dirty="0"/>
          </a:p>
          <a:p>
            <a:r>
              <a:rPr lang="en-US" dirty="0"/>
              <a:t>Security needs shared ownership.</a:t>
            </a:r>
          </a:p>
          <a:p>
            <a:endParaRPr lang="en-US" dirty="0"/>
          </a:p>
          <a:p>
            <a:r>
              <a:rPr lang="en-US" dirty="0"/>
              <a:t>------------------------------------------------------------</a:t>
            </a:r>
          </a:p>
          <a:p>
            <a:endParaRPr lang="en-US" dirty="0"/>
          </a:p>
          <a:p>
            <a:r>
              <a:rPr lang="en-US" dirty="0"/>
              <a:t>ATLAS TASKFLOW</a:t>
            </a:r>
          </a:p>
          <a:p>
            <a:endParaRPr lang="en-US" dirty="0"/>
          </a:p>
          <a:p>
            <a:r>
              <a:rPr lang="en-US" dirty="0"/>
              <a:t>Bring it back to the project.</a:t>
            </a:r>
          </a:p>
          <a:p>
            <a:endParaRPr lang="en-US" dirty="0"/>
          </a:p>
          <a:p>
            <a:r>
              <a:rPr lang="en-US" dirty="0"/>
              <a:t>Ask:</a:t>
            </a:r>
          </a:p>
          <a:p>
            <a:endParaRPr lang="en-US" dirty="0"/>
          </a:p>
          <a:p>
            <a:r>
              <a:rPr lang="en-US" dirty="0"/>
              <a:t>"What does Atlas need to do to earn user trust?"</a:t>
            </a:r>
          </a:p>
          <a:p>
            <a:endParaRPr lang="en-US" dirty="0"/>
          </a:p>
          <a:p>
            <a:r>
              <a:rPr lang="en-US" dirty="0"/>
              <a:t>Have students identify:</a:t>
            </a:r>
          </a:p>
          <a:p>
            <a:endParaRPr lang="en-US" dirty="0"/>
          </a:p>
          <a:p>
            <a:r>
              <a:rPr lang="en-US" dirty="0"/>
              <a:t>Protect accounts.</a:t>
            </a:r>
          </a:p>
          <a:p>
            <a:endParaRPr lang="en-US" dirty="0"/>
          </a:p>
          <a:p>
            <a:r>
              <a:rPr lang="en-US" dirty="0"/>
              <a:t>Protect data.</a:t>
            </a:r>
          </a:p>
          <a:p>
            <a:endParaRPr lang="en-US" dirty="0"/>
          </a:p>
          <a:p>
            <a:r>
              <a:rPr lang="en-US" dirty="0"/>
              <a:t>Limit access.</a:t>
            </a:r>
          </a:p>
          <a:p>
            <a:endParaRPr lang="en-US" dirty="0"/>
          </a:p>
          <a:p>
            <a:r>
              <a:rPr lang="en-US" dirty="0"/>
              <a:t>Remain available.</a:t>
            </a:r>
          </a:p>
          <a:p>
            <a:endParaRPr lang="en-US" dirty="0"/>
          </a:p>
          <a:p>
            <a:r>
              <a:rPr lang="en-US" dirty="0"/>
              <a:t>Handle failures.</a:t>
            </a:r>
          </a:p>
          <a:p>
            <a:endParaRPr lang="en-US" dirty="0"/>
          </a:p>
          <a:p>
            <a:r>
              <a:rPr lang="en-US" dirty="0"/>
              <a:t>Communicate honestly.</a:t>
            </a:r>
          </a:p>
          <a:p>
            <a:endParaRPr lang="en-US" dirty="0"/>
          </a:p>
          <a:p>
            <a:r>
              <a:rPr lang="en-US" dirty="0"/>
              <a:t>Maintain the application.</a:t>
            </a:r>
          </a:p>
          <a:p>
            <a:endParaRPr lang="en-US" dirty="0"/>
          </a:p>
          <a:p>
            <a:r>
              <a:rPr lang="en-US" dirty="0"/>
              <a:t>Respond to problems.</a:t>
            </a:r>
          </a:p>
          <a:p>
            <a:endParaRPr lang="en-US" dirty="0"/>
          </a:p>
          <a:p>
            <a:r>
              <a:rPr lang="en-US" dirty="0"/>
              <a:t>------------------------------------------------------------</a:t>
            </a:r>
          </a:p>
          <a:p>
            <a:endParaRPr lang="en-US" dirty="0"/>
          </a:p>
          <a:p>
            <a:r>
              <a:rPr lang="en-US" dirty="0"/>
              <a:t>THE TRUST TEST</a:t>
            </a:r>
          </a:p>
          <a:p>
            <a:endParaRPr lang="en-US" dirty="0"/>
          </a:p>
          <a:p>
            <a:r>
              <a:rPr lang="en-US" dirty="0"/>
              <a:t>Ask students:</a:t>
            </a:r>
          </a:p>
          <a:p>
            <a:endParaRPr lang="en-US" dirty="0"/>
          </a:p>
          <a:p>
            <a:r>
              <a:rPr lang="en-US" dirty="0"/>
              <a:t>"If you were a customer..."</a:t>
            </a:r>
          </a:p>
          <a:p>
            <a:endParaRPr lang="en-US" dirty="0"/>
          </a:p>
          <a:p>
            <a:r>
              <a:rPr lang="en-US" dirty="0"/>
              <a:t>"Would you trust Atlas </a:t>
            </a:r>
            <a:r>
              <a:rPr lang="en-US" dirty="0" err="1"/>
              <a:t>TaskFlow</a:t>
            </a:r>
            <a:r>
              <a:rPr lang="en-US" dirty="0"/>
              <a:t> with your work?"</a:t>
            </a:r>
          </a:p>
          <a:p>
            <a:endParaRPr lang="en-US" dirty="0"/>
          </a:p>
          <a:p>
            <a:r>
              <a:rPr lang="en-US" dirty="0"/>
              <a:t>Then:</a:t>
            </a:r>
          </a:p>
          <a:p>
            <a:endParaRPr lang="en-US" dirty="0"/>
          </a:p>
          <a:p>
            <a:r>
              <a:rPr lang="en-US" dirty="0"/>
              <a:t>"Why?"</a:t>
            </a:r>
          </a:p>
          <a:p>
            <a:endParaRPr lang="en-US" dirty="0"/>
          </a:p>
          <a:p>
            <a:r>
              <a:rPr lang="en-US" dirty="0"/>
              <a:t>Then:</a:t>
            </a:r>
          </a:p>
          <a:p>
            <a:endParaRPr lang="en-US" dirty="0"/>
          </a:p>
          <a:p>
            <a:r>
              <a:rPr lang="en-US" dirty="0"/>
              <a:t>"What would make you hesitate?"</a:t>
            </a:r>
          </a:p>
          <a:p>
            <a:endParaRPr lang="en-US" dirty="0"/>
          </a:p>
          <a:p>
            <a:r>
              <a:rPr lang="en-US" dirty="0"/>
              <a:t>This is a powerful discussion.</a:t>
            </a:r>
          </a:p>
          <a:p>
            <a:endParaRPr lang="en-US" dirty="0"/>
          </a:p>
          <a:p>
            <a:r>
              <a:rPr lang="en-US" dirty="0"/>
              <a:t>Let students identify weaknesses.</a:t>
            </a:r>
          </a:p>
          <a:p>
            <a:endParaRPr lang="en-US" dirty="0"/>
          </a:p>
          <a:p>
            <a:r>
              <a:rPr lang="en-US" dirty="0"/>
              <a:t>------------------------------------------------------------</a:t>
            </a:r>
          </a:p>
          <a:p>
            <a:endParaRPr lang="en-US" dirty="0"/>
          </a:p>
          <a:p>
            <a:r>
              <a:rPr lang="en-US" dirty="0"/>
              <a:t>ENGINEERING REFLECTION</a:t>
            </a:r>
          </a:p>
          <a:p>
            <a:endParaRPr lang="en-US" dirty="0"/>
          </a:p>
          <a:p>
            <a:r>
              <a:rPr lang="en-US" dirty="0"/>
              <a:t>Ask:</a:t>
            </a:r>
          </a:p>
          <a:p>
            <a:endParaRPr lang="en-US" dirty="0"/>
          </a:p>
          <a:p>
            <a:r>
              <a:rPr lang="en-US" dirty="0"/>
              <a:t>"What is the difference between..."</a:t>
            </a:r>
          </a:p>
          <a:p>
            <a:endParaRPr lang="en-US" dirty="0"/>
          </a:p>
          <a:p>
            <a:r>
              <a:rPr lang="en-US" dirty="0"/>
              <a:t>"An application that works?"</a:t>
            </a:r>
          </a:p>
          <a:p>
            <a:endParaRPr lang="en-US" dirty="0"/>
          </a:p>
          <a:p>
            <a:r>
              <a:rPr lang="en-US" dirty="0"/>
              <a:t>and:</a:t>
            </a:r>
          </a:p>
          <a:p>
            <a:endParaRPr lang="en-US" dirty="0"/>
          </a:p>
          <a:p>
            <a:r>
              <a:rPr lang="en-US" dirty="0"/>
              <a:t>"An application users can trust?"</a:t>
            </a:r>
          </a:p>
          <a:p>
            <a:endParaRPr lang="en-US" dirty="0"/>
          </a:p>
          <a:p>
            <a:r>
              <a:rPr lang="en-US" dirty="0"/>
              <a:t>Possible answers:</a:t>
            </a:r>
          </a:p>
          <a:p>
            <a:endParaRPr lang="en-US" dirty="0"/>
          </a:p>
          <a:p>
            <a:r>
              <a:rPr lang="en-US" dirty="0"/>
              <a:t>Security.</a:t>
            </a:r>
          </a:p>
          <a:p>
            <a:endParaRPr lang="en-US" dirty="0"/>
          </a:p>
          <a:p>
            <a:r>
              <a:rPr lang="en-US" dirty="0"/>
              <a:t>Reliability.</a:t>
            </a:r>
          </a:p>
          <a:p>
            <a:endParaRPr lang="en-US" dirty="0"/>
          </a:p>
          <a:p>
            <a:r>
              <a:rPr lang="en-US" dirty="0"/>
              <a:t>Availability.</a:t>
            </a:r>
          </a:p>
          <a:p>
            <a:endParaRPr lang="en-US" dirty="0"/>
          </a:p>
          <a:p>
            <a:r>
              <a:rPr lang="en-US" dirty="0"/>
              <a:t>Transparency.</a:t>
            </a:r>
          </a:p>
          <a:p>
            <a:endParaRPr lang="en-US" dirty="0"/>
          </a:p>
          <a:p>
            <a:r>
              <a:rPr lang="en-US" dirty="0"/>
              <a:t>Responsibility.</a:t>
            </a:r>
          </a:p>
          <a:p>
            <a:endParaRPr lang="en-US" dirty="0"/>
          </a:p>
          <a:p>
            <a:r>
              <a:rPr lang="en-US" dirty="0"/>
              <a:t>Support.</a:t>
            </a:r>
          </a:p>
          <a:p>
            <a:endParaRPr lang="en-US" dirty="0"/>
          </a:p>
          <a:p>
            <a:r>
              <a:rPr lang="en-US" dirty="0"/>
              <a:t>Maintenance.</a:t>
            </a:r>
          </a:p>
          <a:p>
            <a:endParaRPr lang="en-US" dirty="0"/>
          </a:p>
          <a:p>
            <a:r>
              <a:rPr lang="en-US" dirty="0"/>
              <a:t>Explain:</a:t>
            </a:r>
          </a:p>
          <a:p>
            <a:endParaRPr lang="en-US" dirty="0"/>
          </a:p>
          <a:p>
            <a:r>
              <a:rPr lang="en-US" dirty="0"/>
              <a:t>"That's the difference between software that functions and a service</a:t>
            </a:r>
          </a:p>
          <a:p>
            <a:r>
              <a:rPr lang="en-US" dirty="0"/>
              <a:t>people depend on."</a:t>
            </a:r>
          </a:p>
          <a:p>
            <a:endParaRPr lang="en-US" dirty="0"/>
          </a:p>
          <a:p>
            <a:r>
              <a:rPr lang="en-US" dirty="0"/>
              <a:t>------------------------------------------------------------</a:t>
            </a:r>
          </a:p>
          <a:p>
            <a:endParaRPr lang="en-US" dirty="0"/>
          </a:p>
          <a:p>
            <a:r>
              <a:rPr lang="en-US" dirty="0"/>
              <a:t>THE BOTTOM LINE</a:t>
            </a:r>
          </a:p>
          <a:p>
            <a:endParaRPr lang="en-US" dirty="0"/>
          </a:p>
          <a:p>
            <a:r>
              <a:rPr lang="en-US" dirty="0"/>
              <a:t>Point to:</a:t>
            </a:r>
          </a:p>
          <a:p>
            <a:endParaRPr lang="en-US" dirty="0"/>
          </a:p>
          <a:p>
            <a:r>
              <a:rPr lang="en-US" dirty="0"/>
              <a:t>"Security is how we earn trust."</a:t>
            </a:r>
          </a:p>
          <a:p>
            <a:endParaRPr lang="en-US" dirty="0"/>
          </a:p>
          <a:p>
            <a:r>
              <a:rPr lang="en-US" dirty="0"/>
              <a:t>"Trust is how we keep users."</a:t>
            </a:r>
          </a:p>
          <a:p>
            <a:endParaRPr lang="en-US" dirty="0"/>
          </a:p>
          <a:p>
            <a:r>
              <a:rPr lang="en-US" dirty="0"/>
              <a:t>Explain:</a:t>
            </a:r>
          </a:p>
          <a:p>
            <a:endParaRPr lang="en-US" dirty="0"/>
          </a:p>
          <a:p>
            <a:r>
              <a:rPr lang="en-US" dirty="0"/>
              <a:t>"Both matter."</a:t>
            </a:r>
          </a:p>
          <a:p>
            <a:endParaRPr lang="en-US" dirty="0"/>
          </a:p>
          <a:p>
            <a:r>
              <a:rPr lang="en-US" dirty="0"/>
              <a:t>A technically impressive application that users don't trust will fail.</a:t>
            </a:r>
          </a:p>
          <a:p>
            <a:endParaRPr lang="en-US" dirty="0"/>
          </a:p>
          <a:p>
            <a:r>
              <a:rPr lang="en-US" dirty="0"/>
              <a:t>------------------------------------------------------------</a:t>
            </a:r>
          </a:p>
          <a:p>
            <a:endParaRPr lang="en-US" dirty="0"/>
          </a:p>
          <a:p>
            <a:r>
              <a:rPr lang="en-US" dirty="0"/>
              <a:t>SPRINT 6 REVIEW</a:t>
            </a:r>
          </a:p>
          <a:p>
            <a:endParaRPr lang="en-US" dirty="0"/>
          </a:p>
          <a:p>
            <a:r>
              <a:rPr lang="en-US" dirty="0"/>
              <a:t>Review the entire sprint.</a:t>
            </a:r>
          </a:p>
          <a:p>
            <a:endParaRPr lang="en-US" dirty="0"/>
          </a:p>
          <a:p>
            <a:r>
              <a:rPr lang="en-US" dirty="0"/>
              <a:t>1. Authentication</a:t>
            </a:r>
          </a:p>
          <a:p>
            <a:endParaRPr lang="en-US" dirty="0"/>
          </a:p>
          <a:p>
            <a:r>
              <a:rPr lang="en-US" dirty="0"/>
              <a:t>Who are you?</a:t>
            </a:r>
          </a:p>
          <a:p>
            <a:endParaRPr lang="en-US" dirty="0"/>
          </a:p>
          <a:p>
            <a:r>
              <a:rPr lang="en-US" dirty="0"/>
              <a:t>2. Authorization</a:t>
            </a:r>
          </a:p>
          <a:p>
            <a:endParaRPr lang="en-US" dirty="0"/>
          </a:p>
          <a:p>
            <a:r>
              <a:rPr lang="en-US" dirty="0"/>
              <a:t>What can you do?</a:t>
            </a:r>
          </a:p>
          <a:p>
            <a:endParaRPr lang="en-US" dirty="0"/>
          </a:p>
          <a:p>
            <a:r>
              <a:rPr lang="en-US" dirty="0"/>
              <a:t>3. Data Protection</a:t>
            </a:r>
          </a:p>
          <a:p>
            <a:endParaRPr lang="en-US" dirty="0"/>
          </a:p>
          <a:p>
            <a:r>
              <a:rPr lang="en-US" dirty="0"/>
              <a:t>What are we protecting?</a:t>
            </a:r>
          </a:p>
          <a:p>
            <a:endParaRPr lang="en-US" dirty="0"/>
          </a:p>
          <a:p>
            <a:r>
              <a:rPr lang="en-US" dirty="0"/>
              <a:t>4. Security Review</a:t>
            </a:r>
          </a:p>
          <a:p>
            <a:endParaRPr lang="en-US" dirty="0"/>
          </a:p>
          <a:p>
            <a:r>
              <a:rPr lang="en-US" dirty="0"/>
              <a:t>Where are the weak points?</a:t>
            </a:r>
          </a:p>
          <a:p>
            <a:endParaRPr lang="en-US" dirty="0"/>
          </a:p>
          <a:p>
            <a:r>
              <a:rPr lang="en-US" dirty="0"/>
              <a:t>5. Security Testing</a:t>
            </a:r>
          </a:p>
          <a:p>
            <a:endParaRPr lang="en-US" dirty="0"/>
          </a:p>
          <a:p>
            <a:r>
              <a:rPr lang="en-US" dirty="0"/>
              <a:t>Can we break our protections?</a:t>
            </a:r>
          </a:p>
          <a:p>
            <a:endParaRPr lang="en-US" dirty="0"/>
          </a:p>
          <a:p>
            <a:r>
              <a:rPr lang="en-US" dirty="0"/>
              <a:t>6. SaaS Responsibility</a:t>
            </a:r>
          </a:p>
          <a:p>
            <a:endParaRPr lang="en-US" dirty="0"/>
          </a:p>
          <a:p>
            <a:r>
              <a:rPr lang="en-US" dirty="0"/>
              <a:t>What responsibility do we have to users?</a:t>
            </a:r>
          </a:p>
          <a:p>
            <a:endParaRPr lang="en-US" dirty="0"/>
          </a:p>
          <a:p>
            <a:r>
              <a:rPr lang="en-US" dirty="0"/>
              <a:t>------------------------------------------------------------</a:t>
            </a:r>
          </a:p>
          <a:p>
            <a:endParaRPr lang="en-US" dirty="0"/>
          </a:p>
          <a:p>
            <a:r>
              <a:rPr lang="en-US" dirty="0"/>
              <a:t>SPRINT 6 TRANSFORMATION</a:t>
            </a:r>
          </a:p>
          <a:p>
            <a:endParaRPr lang="en-US" dirty="0"/>
          </a:p>
          <a:p>
            <a:r>
              <a:rPr lang="en-US" dirty="0"/>
              <a:t>Say:</a:t>
            </a:r>
          </a:p>
          <a:p>
            <a:endParaRPr lang="en-US" dirty="0"/>
          </a:p>
          <a:p>
            <a:r>
              <a:rPr lang="en-US" dirty="0"/>
              <a:t>"We started Sprint 6 with a simple problem."</a:t>
            </a:r>
          </a:p>
          <a:p>
            <a:endParaRPr lang="en-US" dirty="0"/>
          </a:p>
          <a:p>
            <a:r>
              <a:rPr lang="en-US" dirty="0"/>
              <a:t>"Atlas remembers."</a:t>
            </a:r>
          </a:p>
          <a:p>
            <a:endParaRPr lang="en-US" dirty="0"/>
          </a:p>
          <a:p>
            <a:r>
              <a:rPr lang="en-US" dirty="0"/>
              <a:t>"Therefore..."</a:t>
            </a:r>
          </a:p>
          <a:p>
            <a:endParaRPr lang="en-US" dirty="0"/>
          </a:p>
          <a:p>
            <a:r>
              <a:rPr lang="en-US" dirty="0"/>
              <a:t>"We need to protect what it remembers."</a:t>
            </a:r>
          </a:p>
          <a:p>
            <a:endParaRPr lang="en-US" dirty="0"/>
          </a:p>
          <a:p>
            <a:r>
              <a:rPr lang="en-US" dirty="0"/>
              <a:t>Now:</a:t>
            </a:r>
          </a:p>
          <a:p>
            <a:endParaRPr lang="en-US" dirty="0"/>
          </a:p>
          <a:p>
            <a:r>
              <a:rPr lang="en-US" dirty="0"/>
              <a:t>Atlas knows who users are.</a:t>
            </a:r>
          </a:p>
          <a:p>
            <a:endParaRPr lang="en-US" dirty="0"/>
          </a:p>
          <a:p>
            <a:r>
              <a:rPr lang="en-US" dirty="0"/>
              <a:t>Atlas controls access.</a:t>
            </a:r>
          </a:p>
          <a:p>
            <a:endParaRPr lang="en-US" dirty="0"/>
          </a:p>
          <a:p>
            <a:r>
              <a:rPr lang="en-US" dirty="0"/>
              <a:t>Atlas protects information.</a:t>
            </a:r>
          </a:p>
          <a:p>
            <a:endParaRPr lang="en-US" dirty="0"/>
          </a:p>
          <a:p>
            <a:r>
              <a:rPr lang="en-US" dirty="0"/>
              <a:t>Atlas has been tested.</a:t>
            </a:r>
          </a:p>
          <a:p>
            <a:endParaRPr lang="en-US" dirty="0"/>
          </a:p>
          <a:p>
            <a:r>
              <a:rPr lang="en-US" dirty="0"/>
              <a:t>Atlas has a security mindset.</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IS ATLAS TRUSTWORTHY?</a:t>
            </a:r>
          </a:p>
          <a:p>
            <a:endParaRPr lang="en-US" dirty="0"/>
          </a:p>
          <a:p>
            <a:r>
              <a:rPr lang="en-US" dirty="0"/>
              <a:t>Say:</a:t>
            </a:r>
          </a:p>
          <a:p>
            <a:endParaRPr lang="en-US" dirty="0"/>
          </a:p>
          <a:p>
            <a:r>
              <a:rPr lang="en-US" dirty="0"/>
              <a:t>"Now we're going to stop and evaluate."</a:t>
            </a:r>
          </a:p>
          <a:p>
            <a:endParaRPr lang="en-US" dirty="0"/>
          </a:p>
          <a:p>
            <a:r>
              <a:rPr lang="en-US" dirty="0"/>
              <a:t>"Did we actually accomplish what we set out to do?"</a:t>
            </a:r>
          </a:p>
          <a:p>
            <a:endParaRPr lang="en-US" dirty="0"/>
          </a:p>
          <a:p>
            <a:r>
              <a:rPr lang="en-US" dirty="0"/>
              <a:t>"We're going to review the sprint."</a:t>
            </a:r>
          </a:p>
          <a:p>
            <a:endParaRPr lang="en-US" dirty="0"/>
          </a:p>
          <a:p>
            <a:r>
              <a:rPr lang="en-US" dirty="0"/>
              <a:t>"We're going to demonstrate the application."</a:t>
            </a:r>
          </a:p>
          <a:p>
            <a:endParaRPr lang="en-US" dirty="0"/>
          </a:p>
          <a:p>
            <a:r>
              <a:rPr lang="en-US" dirty="0"/>
              <a:t>"And we're going to identify what still needs work."</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 build software."</a:t>
            </a:r>
          </a:p>
          <a:p>
            <a:endParaRPr lang="en-US" dirty="0"/>
          </a:p>
          <a:p>
            <a:r>
              <a:rPr lang="en-US" dirty="0"/>
              <a:t>"But software engineers build more than software."</a:t>
            </a:r>
          </a:p>
          <a:p>
            <a:endParaRPr lang="en-US" dirty="0"/>
          </a:p>
          <a:p>
            <a:r>
              <a:rPr lang="en-US" dirty="0"/>
              <a:t>"We build systems that people trust."</a:t>
            </a:r>
          </a:p>
          <a:p>
            <a:endParaRPr lang="en-US" dirty="0"/>
          </a:p>
          <a:p>
            <a:r>
              <a:rPr lang="en-US" dirty="0"/>
              <a:t>Pause.</a:t>
            </a:r>
          </a:p>
          <a:p>
            <a:endParaRPr lang="en-US" dirty="0"/>
          </a:p>
          <a:p>
            <a:r>
              <a:rPr lang="en-US" dirty="0"/>
              <a:t>"That trust has to be earned."</a:t>
            </a:r>
          </a:p>
          <a:p>
            <a:endParaRPr lang="en-US" dirty="0"/>
          </a:p>
          <a:p>
            <a:r>
              <a:rPr lang="en-US" dirty="0"/>
              <a:t>"Every day."</a:t>
            </a:r>
          </a:p>
          <a:p>
            <a:endParaRPr lang="en-US" dirty="0"/>
          </a:p>
          <a:p>
            <a:r>
              <a:rPr lang="en-US" dirty="0"/>
              <a:t>"Every deployment."</a:t>
            </a:r>
          </a:p>
          <a:p>
            <a:endParaRPr lang="en-US" dirty="0"/>
          </a:p>
          <a:p>
            <a:r>
              <a:rPr lang="en-US" dirty="0"/>
              <a:t>"Every feature."</a:t>
            </a:r>
          </a:p>
          <a:p>
            <a:endParaRPr lang="en-US" dirty="0"/>
          </a:p>
          <a:p>
            <a:r>
              <a:rPr lang="en-US" dirty="0"/>
              <a:t>"Every line of code."</a:t>
            </a:r>
          </a:p>
          <a:p>
            <a:endParaRPr lang="en-US" dirty="0"/>
          </a:p>
          <a:p>
            <a:r>
              <a:rPr lang="en-US" dirty="0"/>
              <a:t>Then:</a:t>
            </a:r>
          </a:p>
          <a:p>
            <a:endParaRPr lang="en-US" dirty="0"/>
          </a:p>
          <a:p>
            <a:r>
              <a:rPr lang="en-US" dirty="0"/>
              <a:t>"That's our responsibility."</a:t>
            </a:r>
          </a:p>
          <a:p>
            <a:endParaRPr lang="en-US" dirty="0"/>
          </a:p>
          <a:p>
            <a:r>
              <a:rPr lang="en-US" dirty="0"/>
              <a:t>============================================================</a:t>
            </a:r>
          </a:p>
          <a:p>
            <a:endParaRPr lang="en-US" dirty="0"/>
          </a:p>
          <a:p>
            <a:r>
              <a:rPr lang="en-US" dirty="0"/>
              <a:t>ESTIMATED TIME</a:t>
            </a:r>
          </a:p>
          <a:p>
            <a:endParaRPr lang="en-US" dirty="0"/>
          </a:p>
          <a:p>
            <a:r>
              <a:rPr lang="en-US" dirty="0"/>
              <a:t>Opening &amp; Trust........................8 minutes</a:t>
            </a:r>
          </a:p>
          <a:p>
            <a:endParaRPr lang="en-US" dirty="0"/>
          </a:p>
          <a:p>
            <a:r>
              <a:rPr lang="en-US" dirty="0"/>
              <a:t>Six Pillars of Trust...................15 minutes</a:t>
            </a:r>
          </a:p>
          <a:p>
            <a:endParaRPr lang="en-US" dirty="0"/>
          </a:p>
          <a:p>
            <a:r>
              <a:rPr lang="en-US" dirty="0"/>
              <a:t>SaaS Responsibility....................10 minutes</a:t>
            </a:r>
          </a:p>
          <a:p>
            <a:endParaRPr lang="en-US" dirty="0"/>
          </a:p>
          <a:p>
            <a:r>
              <a:rPr lang="en-US" dirty="0"/>
              <a:t>Incident Response &amp; Reliability.........8 minutes</a:t>
            </a:r>
          </a:p>
          <a:p>
            <a:endParaRPr lang="en-US" dirty="0"/>
          </a:p>
          <a:p>
            <a:r>
              <a:rPr lang="en-US" dirty="0"/>
              <a:t>Security as a Team......................8 minutes</a:t>
            </a:r>
          </a:p>
          <a:p>
            <a:endParaRPr lang="en-US" dirty="0"/>
          </a:p>
          <a:p>
            <a:r>
              <a:rPr lang="en-US" dirty="0"/>
              <a:t>Atlas Trust Discussion..................10 minutes</a:t>
            </a:r>
          </a:p>
          <a:p>
            <a:endParaRPr lang="en-US" dirty="0"/>
          </a:p>
          <a:p>
            <a:r>
              <a:rPr lang="en-US" dirty="0"/>
              <a:t>Sprint Review / Closing..................6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is intentionally broader than the previous technical artifacts.</a:t>
            </a:r>
          </a:p>
          <a:p>
            <a:endParaRPr lang="en-US" dirty="0"/>
          </a:p>
          <a:p>
            <a:r>
              <a:rPr lang="en-US" dirty="0"/>
              <a:t>Do not turn this into a legal or compliance lecture.</a:t>
            </a:r>
          </a:p>
          <a:p>
            <a:endParaRPr lang="en-US" dirty="0"/>
          </a:p>
          <a:p>
            <a:r>
              <a:rPr lang="en-US" dirty="0"/>
              <a:t>The goal is professional awareness.</a:t>
            </a:r>
          </a:p>
          <a:p>
            <a:endParaRPr lang="en-US" dirty="0"/>
          </a:p>
          <a:p>
            <a:r>
              <a:rPr lang="en-US" dirty="0"/>
              <a:t>------------------------------------------------------------</a:t>
            </a:r>
          </a:p>
          <a:p>
            <a:endParaRPr lang="en-US" dirty="0"/>
          </a:p>
          <a:p>
            <a:r>
              <a:rPr lang="en-US" dirty="0"/>
              <a:t>IMPORTANT TEACHING MOVE</a:t>
            </a:r>
          </a:p>
          <a:p>
            <a:endParaRPr lang="en-US" dirty="0"/>
          </a:p>
          <a:p>
            <a:r>
              <a:rPr lang="en-US" dirty="0"/>
              <a:t>Keep bringing the conversation back to:</a:t>
            </a:r>
          </a:p>
          <a:p>
            <a:endParaRPr lang="en-US" dirty="0"/>
          </a:p>
          <a:p>
            <a:r>
              <a:rPr lang="en-US" dirty="0"/>
              <a:t>"Would you trust this application?"</a:t>
            </a:r>
          </a:p>
          <a:p>
            <a:endParaRPr lang="en-US" dirty="0"/>
          </a:p>
          <a:p>
            <a:r>
              <a:rPr lang="en-US" dirty="0"/>
              <a:t>Then:</a:t>
            </a:r>
          </a:p>
          <a:p>
            <a:endParaRPr lang="en-US" dirty="0"/>
          </a:p>
          <a:p>
            <a:r>
              <a:rPr lang="en-US" dirty="0"/>
              <a:t>"Why?"</a:t>
            </a:r>
          </a:p>
          <a:p>
            <a:endParaRPr lang="en-US" dirty="0"/>
          </a:p>
          <a:p>
            <a:r>
              <a:rPr lang="en-US" dirty="0"/>
              <a:t>Then:</a:t>
            </a:r>
          </a:p>
          <a:p>
            <a:endParaRPr lang="en-US" dirty="0"/>
          </a:p>
          <a:p>
            <a:r>
              <a:rPr lang="en-US" dirty="0"/>
              <a:t>"What would make you stop trusting it?"</a:t>
            </a:r>
          </a:p>
          <a:p>
            <a:endParaRPr lang="en-US" dirty="0"/>
          </a:p>
          <a:p>
            <a:r>
              <a:rPr lang="en-US" dirty="0"/>
              <a:t>Those questions make abstract security principles concrete.</a:t>
            </a:r>
          </a:p>
          <a:p>
            <a:endParaRPr lang="en-US" dirty="0"/>
          </a:p>
          <a:p>
            <a:r>
              <a:rPr lang="en-US" dirty="0"/>
              <a:t>------------------------------------------------------------</a:t>
            </a:r>
          </a:p>
          <a:p>
            <a:endParaRPr lang="en-US" dirty="0"/>
          </a:p>
          <a:p>
            <a:r>
              <a:rPr lang="en-US" dirty="0"/>
              <a:t>USE STUDENT EXAMPLES</a:t>
            </a:r>
          </a:p>
          <a:p>
            <a:endParaRPr lang="en-US" dirty="0"/>
          </a:p>
          <a:p>
            <a:r>
              <a:rPr lang="en-US" dirty="0"/>
              <a:t>When students identify something that would reduce trust, ask:</a:t>
            </a:r>
          </a:p>
          <a:p>
            <a:endParaRPr lang="en-US" dirty="0"/>
          </a:p>
          <a:p>
            <a:r>
              <a:rPr lang="en-US" dirty="0"/>
              <a:t>"What engineering decision would prevent that?"</a:t>
            </a:r>
          </a:p>
          <a:p>
            <a:endParaRPr lang="en-US" dirty="0"/>
          </a:p>
          <a:p>
            <a:r>
              <a:rPr lang="en-US" dirty="0"/>
              <a:t>Example:</a:t>
            </a:r>
          </a:p>
          <a:p>
            <a:endParaRPr lang="en-US" dirty="0"/>
          </a:p>
          <a:p>
            <a:r>
              <a:rPr lang="en-US" dirty="0"/>
              <a:t>"Users could see another user's tasks."</a:t>
            </a:r>
          </a:p>
          <a:p>
            <a:endParaRPr lang="en-US" dirty="0"/>
          </a:p>
          <a:p>
            <a:r>
              <a:rPr lang="en-US" dirty="0"/>
              <a:t>→ Authorization.</a:t>
            </a:r>
          </a:p>
          <a:p>
            <a:endParaRPr lang="en-US" dirty="0"/>
          </a:p>
          <a:p>
            <a:r>
              <a:rPr lang="en-US" dirty="0"/>
              <a:t>"The application loses data."</a:t>
            </a:r>
          </a:p>
          <a:p>
            <a:endParaRPr lang="en-US" dirty="0"/>
          </a:p>
          <a:p>
            <a:r>
              <a:rPr lang="en-US" dirty="0"/>
              <a:t>→ Backups / reliability.</a:t>
            </a:r>
          </a:p>
          <a:p>
            <a:endParaRPr lang="en-US" dirty="0"/>
          </a:p>
          <a:p>
            <a:r>
              <a:rPr lang="en-US" dirty="0"/>
              <a:t>"Passwords are exposed."</a:t>
            </a:r>
          </a:p>
          <a:p>
            <a:endParaRPr lang="en-US" dirty="0"/>
          </a:p>
          <a:p>
            <a:r>
              <a:rPr lang="en-US" dirty="0"/>
              <a:t>→ Secure credential handling.</a:t>
            </a:r>
          </a:p>
          <a:p>
            <a:endParaRPr lang="en-US" dirty="0"/>
          </a:p>
          <a:p>
            <a:r>
              <a:rPr lang="en-US" dirty="0"/>
              <a:t>"Nobody knows what happened during an outage."</a:t>
            </a:r>
          </a:p>
          <a:p>
            <a:endParaRPr lang="en-US" dirty="0"/>
          </a:p>
          <a:p>
            <a:r>
              <a:rPr lang="en-US" dirty="0"/>
              <a:t>→ Communication / incident response.</a:t>
            </a:r>
          </a:p>
          <a:p>
            <a:endParaRPr lang="en-US" dirty="0"/>
          </a:p>
          <a:p>
            <a:r>
              <a:rPr lang="en-US" dirty="0"/>
              <a:t>------------------------------------------------------------</a:t>
            </a:r>
          </a:p>
          <a:p>
            <a:endParaRPr lang="en-US" dirty="0"/>
          </a:p>
          <a:p>
            <a:r>
              <a:rPr lang="en-US" dirty="0"/>
              <a:t>IMPORTANT BOUNDARY</a:t>
            </a:r>
          </a:p>
          <a:p>
            <a:endParaRPr lang="en-US" dirty="0"/>
          </a:p>
          <a:p>
            <a:r>
              <a:rPr lang="en-US" dirty="0"/>
              <a:t>Do not teach detailed legal requirements.</a:t>
            </a:r>
          </a:p>
          <a:p>
            <a:endParaRPr lang="en-US" dirty="0"/>
          </a:p>
          <a:p>
            <a:r>
              <a:rPr lang="en-US" dirty="0"/>
              <a:t>Avoid deep dives into:</a:t>
            </a:r>
          </a:p>
          <a:p>
            <a:endParaRPr lang="en-US" dirty="0"/>
          </a:p>
          <a:p>
            <a:r>
              <a:rPr lang="en-US" dirty="0"/>
              <a:t>• GDPR</a:t>
            </a:r>
          </a:p>
          <a:p>
            <a:r>
              <a:rPr lang="en-US" dirty="0"/>
              <a:t>• HIPAA</a:t>
            </a:r>
          </a:p>
          <a:p>
            <a:r>
              <a:rPr lang="en-US" dirty="0"/>
              <a:t>• PCI-DSS</a:t>
            </a:r>
          </a:p>
          <a:p>
            <a:r>
              <a:rPr lang="en-US" dirty="0"/>
              <a:t>• SOC 2</a:t>
            </a:r>
          </a:p>
          <a:p>
            <a:r>
              <a:rPr lang="en-US" dirty="0"/>
              <a:t>• Legal contracts</a:t>
            </a:r>
          </a:p>
          <a:p>
            <a:r>
              <a:rPr lang="en-US" dirty="0"/>
              <a:t>• Regulatory compliance frameworks</a:t>
            </a:r>
          </a:p>
          <a:p>
            <a:endParaRPr lang="en-US" dirty="0"/>
          </a:p>
          <a:p>
            <a:r>
              <a:rPr lang="en-US" dirty="0"/>
              <a:t>Introduce the idea that regulations and policies exist.</a:t>
            </a:r>
          </a:p>
          <a:p>
            <a:endParaRPr lang="en-US" dirty="0"/>
          </a:p>
          <a:p>
            <a:r>
              <a:rPr lang="en-US" dirty="0"/>
              <a:t>Save detailed compliance work for courses or contexts where it is</a:t>
            </a:r>
          </a:p>
          <a:p>
            <a:r>
              <a:rPr lang="en-US" dirty="0"/>
              <a:t>appropriate.</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SECURITY</a:t>
            </a:r>
          </a:p>
          <a:p>
            <a:endParaRPr lang="en-US" dirty="0"/>
          </a:p>
          <a:p>
            <a:r>
              <a:rPr lang="en-US" dirty="0"/>
              <a:t>+</a:t>
            </a:r>
          </a:p>
          <a:p>
            <a:endParaRPr lang="en-US" dirty="0"/>
          </a:p>
          <a:p>
            <a:r>
              <a:rPr lang="en-US" dirty="0"/>
              <a:t>PRIVACY</a:t>
            </a:r>
          </a:p>
          <a:p>
            <a:endParaRPr lang="en-US" dirty="0"/>
          </a:p>
          <a:p>
            <a:r>
              <a:rPr lang="en-US" dirty="0"/>
              <a:t>+</a:t>
            </a:r>
          </a:p>
          <a:p>
            <a:endParaRPr lang="en-US" dirty="0"/>
          </a:p>
          <a:p>
            <a:r>
              <a:rPr lang="en-US" dirty="0"/>
              <a:t>INTEGRITY</a:t>
            </a:r>
          </a:p>
          <a:p>
            <a:endParaRPr lang="en-US" dirty="0"/>
          </a:p>
          <a:p>
            <a:r>
              <a:rPr lang="en-US" dirty="0"/>
              <a:t>+</a:t>
            </a:r>
          </a:p>
          <a:p>
            <a:endParaRPr lang="en-US" dirty="0"/>
          </a:p>
          <a:p>
            <a:r>
              <a:rPr lang="en-US" dirty="0"/>
              <a:t>AVAILABILITY</a:t>
            </a:r>
          </a:p>
          <a:p>
            <a:endParaRPr lang="en-US" dirty="0"/>
          </a:p>
          <a:p>
            <a:r>
              <a:rPr lang="en-US" dirty="0"/>
              <a:t>+</a:t>
            </a:r>
          </a:p>
          <a:p>
            <a:endParaRPr lang="en-US" dirty="0"/>
          </a:p>
          <a:p>
            <a:r>
              <a:rPr lang="en-US" dirty="0"/>
              <a:t>TRANSPARENCY</a:t>
            </a:r>
          </a:p>
          <a:p>
            <a:endParaRPr lang="en-US" dirty="0"/>
          </a:p>
          <a:p>
            <a:r>
              <a:rPr lang="en-US" dirty="0"/>
              <a:t>+</a:t>
            </a:r>
          </a:p>
          <a:p>
            <a:endParaRPr lang="en-US" dirty="0"/>
          </a:p>
          <a:p>
            <a:r>
              <a:rPr lang="en-US" dirty="0"/>
              <a:t>RESPONSIBILITY</a:t>
            </a:r>
          </a:p>
          <a:p>
            <a:endParaRPr lang="en-US" dirty="0"/>
          </a:p>
          <a:p>
            <a:r>
              <a:rPr lang="en-US" dirty="0"/>
              <a:t>=</a:t>
            </a:r>
          </a:p>
          <a:p>
            <a:endParaRPr lang="en-US" dirty="0"/>
          </a:p>
          <a:p>
            <a:r>
              <a:rPr lang="en-US" dirty="0"/>
              <a:t>TRUST</a:t>
            </a:r>
          </a:p>
          <a:p>
            <a:endParaRPr lang="en-US" dirty="0"/>
          </a:p>
          <a:p>
            <a:r>
              <a:rPr lang="en-US" dirty="0"/>
              <a:t>------------------------------------------------------------</a:t>
            </a:r>
          </a:p>
          <a:p>
            <a:endParaRPr lang="en-US" dirty="0"/>
          </a:p>
          <a:p>
            <a:r>
              <a:rPr lang="en-US" dirty="0"/>
              <a:t>FINAL STATEMENT</a:t>
            </a:r>
          </a:p>
          <a:p>
            <a:endParaRPr lang="en-US" dirty="0"/>
          </a:p>
          <a:p>
            <a:r>
              <a:rPr lang="en-US" dirty="0"/>
              <a:t>"Engineers build software."</a:t>
            </a:r>
          </a:p>
          <a:p>
            <a:endParaRPr lang="en-US" dirty="0"/>
          </a:p>
          <a:p>
            <a:r>
              <a:rPr lang="en-US" dirty="0"/>
              <a:t>"We build trust."</a:t>
            </a:r>
          </a:p>
          <a:p>
            <a:endParaRPr lang="en-US" dirty="0"/>
          </a:p>
          <a:p>
            <a:r>
              <a:rPr lang="en-US" dirty="0"/>
              <a:t>"And when users trust us with their information..."</a:t>
            </a:r>
          </a:p>
          <a:p>
            <a:endParaRPr lang="en-US" dirty="0"/>
          </a:p>
          <a:p>
            <a:r>
              <a:rPr lang="en-US" dirty="0"/>
              <a:t>"That trust becomes our responsibility."</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6</a:t>
            </a:fld>
            <a:endParaRPr lang="en-US"/>
          </a:p>
        </p:txBody>
      </p:sp>
    </p:spTree>
    <p:extLst>
      <p:ext uri="{BB962C8B-B14F-4D97-AF65-F5344CB8AC3E}">
        <p14:creationId xmlns:p14="http://schemas.microsoft.com/office/powerpoint/2010/main" val="1762497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6</a:t>
            </a:r>
          </a:p>
          <a:p>
            <a:endParaRPr lang="en-US" dirty="0"/>
          </a:p>
          <a:p>
            <a:r>
              <a:rPr lang="en-US" dirty="0"/>
              <a:t>IS ATLAS TRUSTWORTHY?</a:t>
            </a:r>
          </a:p>
          <a:p>
            <a:endParaRPr lang="en-US" dirty="0"/>
          </a:p>
          <a:p>
            <a:r>
              <a:rPr lang="en-US" dirty="0"/>
              <a:t>Sprint Review &amp; Reflection</a:t>
            </a:r>
          </a:p>
          <a:p>
            <a:endParaRPr lang="en-US" dirty="0"/>
          </a:p>
          <a:p>
            <a:r>
              <a:rPr lang="en-US" dirty="0"/>
              <a:t>"Proof. Progress. What's Next."</a:t>
            </a:r>
          </a:p>
          <a:p>
            <a:endParaRPr lang="en-US" dirty="0"/>
          </a:p>
          <a:p>
            <a:r>
              <a:rPr lang="en-US" dirty="0"/>
              <a:t>============================================================</a:t>
            </a:r>
          </a:p>
          <a:p>
            <a:endParaRPr lang="en-US" dirty="0"/>
          </a:p>
          <a:p>
            <a:r>
              <a:rPr lang="en-US" dirty="0"/>
              <a:t>SLIDE PURPOSE</a:t>
            </a:r>
          </a:p>
          <a:p>
            <a:endParaRPr lang="en-US" dirty="0"/>
          </a:p>
          <a:p>
            <a:r>
              <a:rPr lang="en-US" dirty="0"/>
              <a:t>Bring Sprint 6 together by evaluating whether Atlas </a:t>
            </a:r>
            <a:r>
              <a:rPr lang="en-US" dirty="0" err="1"/>
              <a:t>TaskFlow</a:t>
            </a:r>
            <a:r>
              <a:rPr lang="en-US" dirty="0"/>
              <a:t> has</a:t>
            </a:r>
          </a:p>
          <a:p>
            <a:r>
              <a:rPr lang="en-US" dirty="0"/>
              <a:t>become a trustworthy application.</a:t>
            </a:r>
          </a:p>
          <a:p>
            <a:endParaRPr lang="en-US" dirty="0"/>
          </a:p>
          <a:p>
            <a:r>
              <a:rPr lang="en-US" dirty="0"/>
              <a:t>Students will:</a:t>
            </a:r>
          </a:p>
          <a:p>
            <a:endParaRPr lang="en-US" dirty="0"/>
          </a:p>
          <a:p>
            <a:r>
              <a:rPr lang="en-US" dirty="0"/>
              <a:t>• Demonstrate authentication</a:t>
            </a:r>
          </a:p>
          <a:p>
            <a:r>
              <a:rPr lang="en-US" dirty="0"/>
              <a:t>• Demonstrate authorization</a:t>
            </a:r>
          </a:p>
          <a:p>
            <a:r>
              <a:rPr lang="en-US" dirty="0"/>
              <a:t>• Demonstrate resource ownership</a:t>
            </a:r>
          </a:p>
          <a:p>
            <a:r>
              <a:rPr lang="en-US" dirty="0"/>
              <a:t>• Demonstrate data protection</a:t>
            </a:r>
          </a:p>
          <a:p>
            <a:r>
              <a:rPr lang="en-US" dirty="0"/>
              <a:t>• Review secure configuration</a:t>
            </a:r>
          </a:p>
          <a:p>
            <a:r>
              <a:rPr lang="en-US" dirty="0"/>
              <a:t>• Demonstrate security testing</a:t>
            </a:r>
          </a:p>
          <a:p>
            <a:r>
              <a:rPr lang="en-US" dirty="0"/>
              <a:t>• Evaluate privacy and responsibility</a:t>
            </a:r>
          </a:p>
          <a:p>
            <a:r>
              <a:rPr lang="en-US" dirty="0"/>
              <a:t>• Identify remaining risks</a:t>
            </a:r>
          </a:p>
          <a:p>
            <a:r>
              <a:rPr lang="en-US" dirty="0"/>
              <a:t>• Reflect on their engineering decisions</a:t>
            </a:r>
          </a:p>
          <a:p>
            <a:r>
              <a:rPr lang="en-US" dirty="0"/>
              <a:t>• Decide whether Atlas is ready to move forward</a:t>
            </a:r>
          </a:p>
          <a:p>
            <a:endParaRPr lang="en-US" dirty="0"/>
          </a:p>
          <a:p>
            <a:r>
              <a:rPr lang="en-US" dirty="0"/>
              <a:t>This is NOT a claim that Atlas is "perfectly secure."</a:t>
            </a:r>
          </a:p>
          <a:p>
            <a:endParaRPr lang="en-US" dirty="0"/>
          </a:p>
          <a:p>
            <a:r>
              <a:rPr lang="en-US" dirty="0"/>
              <a:t>The goal is to determine whether the team has identified important</a:t>
            </a:r>
          </a:p>
          <a:p>
            <a:r>
              <a:rPr lang="en-US" dirty="0"/>
              <a:t>risks, implemented reasonable protections, tested those protections,</a:t>
            </a:r>
          </a:p>
          <a:p>
            <a:r>
              <a:rPr lang="en-US" dirty="0"/>
              <a:t>and understands what remains.</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"We've reached the end of Sprint 6."</a:t>
            </a:r>
          </a:p>
          <a:p>
            <a:endParaRPr lang="en-US" dirty="0"/>
          </a:p>
          <a:p>
            <a:r>
              <a:rPr lang="en-US" dirty="0"/>
              <a:t>Pause.</a:t>
            </a:r>
          </a:p>
          <a:p>
            <a:endParaRPr lang="en-US" dirty="0"/>
          </a:p>
          <a:p>
            <a:r>
              <a:rPr lang="en-US" dirty="0"/>
              <a:t>"Let's think about where Atlas started."</a:t>
            </a:r>
          </a:p>
          <a:p>
            <a:endParaRPr lang="en-US" dirty="0"/>
          </a:p>
          <a:p>
            <a:r>
              <a:rPr lang="en-US" dirty="0"/>
              <a:t>"Sprint 4..."</a:t>
            </a:r>
          </a:p>
          <a:p>
            <a:endParaRPr lang="en-US" dirty="0"/>
          </a:p>
          <a:p>
            <a:r>
              <a:rPr lang="en-US" dirty="0"/>
              <a:t>"Atlas could run in the cloud."</a:t>
            </a:r>
          </a:p>
          <a:p>
            <a:endParaRPr lang="en-US" dirty="0"/>
          </a:p>
          <a:p>
            <a:r>
              <a:rPr lang="en-US" dirty="0"/>
              <a:t>"Sprint 5..."</a:t>
            </a:r>
          </a:p>
          <a:p>
            <a:endParaRPr lang="en-US" dirty="0"/>
          </a:p>
          <a:p>
            <a:r>
              <a:rPr lang="en-US" dirty="0"/>
              <a:t>"Atlas could remember."</a:t>
            </a:r>
          </a:p>
          <a:p>
            <a:endParaRPr lang="en-US" dirty="0"/>
          </a:p>
          <a:p>
            <a:r>
              <a:rPr lang="en-US" dirty="0"/>
              <a:t>"Sprint 6..."</a:t>
            </a:r>
          </a:p>
          <a:p>
            <a:endParaRPr lang="en-US" dirty="0"/>
          </a:p>
          <a:p>
            <a:r>
              <a:rPr lang="en-US" dirty="0"/>
              <a:t>"Atlas learned how to protect what it remembers."</a:t>
            </a:r>
          </a:p>
          <a:p>
            <a:endParaRPr lang="en-US" dirty="0"/>
          </a:p>
          <a:p>
            <a:r>
              <a:rPr lang="en-US" dirty="0"/>
              <a:t>Pause.</a:t>
            </a:r>
          </a:p>
          <a:p>
            <a:endParaRPr lang="en-US" dirty="0"/>
          </a:p>
          <a:p>
            <a:r>
              <a:rPr lang="en-US" dirty="0"/>
              <a:t>"Now we have one question."</a:t>
            </a:r>
          </a:p>
          <a:p>
            <a:endParaRPr lang="en-US" dirty="0"/>
          </a:p>
          <a:p>
            <a:r>
              <a:rPr lang="en-US" dirty="0"/>
              <a:t>Point to the title:</a:t>
            </a:r>
          </a:p>
          <a:p>
            <a:endParaRPr lang="en-US" dirty="0"/>
          </a:p>
          <a:p>
            <a:r>
              <a:rPr lang="en-US" dirty="0"/>
              <a:t>"Is Atlas trustworthy?"</a:t>
            </a:r>
          </a:p>
          <a:p>
            <a:endParaRPr lang="en-US" dirty="0"/>
          </a:p>
          <a:p>
            <a:r>
              <a:rPr lang="en-US" dirty="0"/>
              <a:t>------------------------------------------------------------</a:t>
            </a:r>
          </a:p>
          <a:p>
            <a:endParaRPr lang="en-US" dirty="0"/>
          </a:p>
          <a:p>
            <a:r>
              <a:rPr lang="en-US" dirty="0"/>
              <a:t>THE QUESTION</a:t>
            </a:r>
          </a:p>
          <a:p>
            <a:endParaRPr lang="en-US" dirty="0"/>
          </a:p>
          <a:p>
            <a:r>
              <a:rPr lang="en-US" dirty="0"/>
              <a:t>Read the left panel.</a:t>
            </a:r>
          </a:p>
          <a:p>
            <a:endParaRPr lang="en-US" dirty="0"/>
          </a:p>
          <a:p>
            <a:r>
              <a:rPr lang="en-US" dirty="0"/>
              <a:t>"We built it."</a:t>
            </a:r>
          </a:p>
          <a:p>
            <a:endParaRPr lang="en-US" dirty="0"/>
          </a:p>
          <a:p>
            <a:r>
              <a:rPr lang="en-US" dirty="0"/>
              <a:t>"We protected it."</a:t>
            </a:r>
          </a:p>
          <a:p>
            <a:endParaRPr lang="en-US" dirty="0"/>
          </a:p>
          <a:p>
            <a:r>
              <a:rPr lang="en-US" dirty="0"/>
              <a:t>"We tested it."</a:t>
            </a:r>
          </a:p>
          <a:p>
            <a:endParaRPr lang="en-US" dirty="0"/>
          </a:p>
          <a:p>
            <a:r>
              <a:rPr lang="en-US" dirty="0"/>
              <a:t>Then:</a:t>
            </a:r>
          </a:p>
          <a:p>
            <a:endParaRPr lang="en-US" dirty="0"/>
          </a:p>
          <a:p>
            <a:r>
              <a:rPr lang="en-US" dirty="0"/>
              <a:t>"Is Atlas </a:t>
            </a:r>
            <a:r>
              <a:rPr lang="en-US" dirty="0" err="1"/>
              <a:t>TaskFlow</a:t>
            </a:r>
            <a:r>
              <a:rPr lang="en-US" dirty="0"/>
              <a:t> trustworthy enough for real users to rely on?"</a:t>
            </a:r>
          </a:p>
          <a:p>
            <a:endParaRPr lang="en-US" dirty="0"/>
          </a:p>
          <a:p>
            <a:r>
              <a:rPr lang="en-US" dirty="0"/>
              <a:t>Explain:</a:t>
            </a:r>
          </a:p>
          <a:p>
            <a:endParaRPr lang="en-US" dirty="0"/>
          </a:p>
          <a:p>
            <a:r>
              <a:rPr lang="en-US" dirty="0"/>
              <a:t>"Notice the wording."</a:t>
            </a:r>
          </a:p>
          <a:p>
            <a:endParaRPr lang="en-US" dirty="0"/>
          </a:p>
          <a:p>
            <a:r>
              <a:rPr lang="en-US" dirty="0"/>
              <a:t>"We're not asking whether Atlas is perfect."</a:t>
            </a:r>
          </a:p>
          <a:p>
            <a:endParaRPr lang="en-US" dirty="0"/>
          </a:p>
          <a:p>
            <a:r>
              <a:rPr lang="en-US" dirty="0"/>
              <a:t>"We're asking whether we've done the engineering work necessary to</a:t>
            </a:r>
          </a:p>
          <a:p>
            <a:r>
              <a:rPr lang="en-US" dirty="0"/>
              <a:t>earn reasonable trust."</a:t>
            </a:r>
          </a:p>
          <a:p>
            <a:endParaRPr lang="en-US" dirty="0"/>
          </a:p>
          <a:p>
            <a:r>
              <a:rPr lang="en-US" dirty="0"/>
              <a:t>------------------------------------------------------------</a:t>
            </a:r>
          </a:p>
          <a:p>
            <a:endParaRPr lang="en-US" dirty="0"/>
          </a:p>
          <a:p>
            <a:r>
              <a:rPr lang="en-US" dirty="0"/>
              <a:t>OUR GOAL</a:t>
            </a:r>
          </a:p>
          <a:p>
            <a:endParaRPr lang="en-US" dirty="0"/>
          </a:p>
          <a:p>
            <a:r>
              <a:rPr lang="en-US" dirty="0"/>
              <a:t>Point to:</a:t>
            </a:r>
          </a:p>
          <a:p>
            <a:endParaRPr lang="en-US" dirty="0"/>
          </a:p>
          <a:p>
            <a:r>
              <a:rPr lang="en-US" dirty="0"/>
              <a:t>DEMONSTRATE.</a:t>
            </a:r>
          </a:p>
          <a:p>
            <a:endParaRPr lang="en-US" dirty="0"/>
          </a:p>
          <a:p>
            <a:r>
              <a:rPr lang="en-US" dirty="0"/>
              <a:t>PROVE.</a:t>
            </a:r>
          </a:p>
          <a:p>
            <a:endParaRPr lang="en-US" dirty="0"/>
          </a:p>
          <a:p>
            <a:r>
              <a:rPr lang="en-US" dirty="0"/>
              <a:t>IDENTIFY.</a:t>
            </a:r>
          </a:p>
          <a:p>
            <a:endParaRPr lang="en-US" dirty="0"/>
          </a:p>
          <a:p>
            <a:r>
              <a:rPr lang="en-US" dirty="0"/>
              <a:t>Explain:</a:t>
            </a:r>
          </a:p>
          <a:p>
            <a:endParaRPr lang="en-US" dirty="0"/>
          </a:p>
          <a:p>
            <a:r>
              <a:rPr lang="en-US" dirty="0"/>
              <a:t>"Today isn't about telling me that your application works."</a:t>
            </a:r>
          </a:p>
          <a:p>
            <a:endParaRPr lang="en-US" dirty="0"/>
          </a:p>
          <a:p>
            <a:r>
              <a:rPr lang="en-US" dirty="0"/>
              <a:t>"You're going to show me."</a:t>
            </a:r>
          </a:p>
          <a:p>
            <a:endParaRPr lang="en-US" dirty="0"/>
          </a:p>
          <a:p>
            <a:r>
              <a:rPr lang="en-US" dirty="0"/>
              <a:t>And:</a:t>
            </a:r>
          </a:p>
          <a:p>
            <a:endParaRPr lang="en-US" dirty="0"/>
          </a:p>
          <a:p>
            <a:r>
              <a:rPr lang="en-US" dirty="0"/>
              <a:t>"You're going to identify what still needs work."</a:t>
            </a:r>
          </a:p>
          <a:p>
            <a:endParaRPr lang="en-US" dirty="0"/>
          </a:p>
          <a:p>
            <a:r>
              <a:rPr lang="en-US" dirty="0"/>
              <a:t>------------------------------------------------------------</a:t>
            </a:r>
          </a:p>
          <a:p>
            <a:endParaRPr lang="en-US" dirty="0"/>
          </a:p>
          <a:p>
            <a:r>
              <a:rPr lang="en-US" dirty="0"/>
              <a:t>THE SPRINT 6 JOURNEY</a:t>
            </a:r>
          </a:p>
          <a:p>
            <a:endParaRPr lang="en-US" dirty="0"/>
          </a:p>
          <a:p>
            <a:r>
              <a:rPr lang="en-US" dirty="0"/>
              <a:t>Walk through the six steps.</a:t>
            </a:r>
          </a:p>
          <a:p>
            <a:endParaRPr lang="en-US" dirty="0"/>
          </a:p>
          <a:p>
            <a:r>
              <a:rPr lang="en-US" dirty="0"/>
              <a:t>1. AUTHENTICATE</a:t>
            </a:r>
          </a:p>
          <a:p>
            <a:endParaRPr lang="en-US" dirty="0"/>
          </a:p>
          <a:p>
            <a:r>
              <a:rPr lang="en-US" dirty="0"/>
              <a:t>Who are you?</a:t>
            </a:r>
          </a:p>
          <a:p>
            <a:endParaRPr lang="en-US" dirty="0"/>
          </a:p>
          <a:p>
            <a:r>
              <a:rPr lang="en-US" dirty="0"/>
              <a:t>2. AUTHORIZE</a:t>
            </a:r>
          </a:p>
          <a:p>
            <a:endParaRPr lang="en-US" dirty="0"/>
          </a:p>
          <a:p>
            <a:r>
              <a:rPr lang="en-US" dirty="0"/>
              <a:t>What can you do?</a:t>
            </a:r>
          </a:p>
          <a:p>
            <a:endParaRPr lang="en-US" dirty="0"/>
          </a:p>
          <a:p>
            <a:r>
              <a:rPr lang="en-US" dirty="0"/>
              <a:t>3. PROTECT USER DATA</a:t>
            </a:r>
          </a:p>
          <a:p>
            <a:endParaRPr lang="en-US" dirty="0"/>
          </a:p>
          <a:p>
            <a:r>
              <a:rPr lang="en-US" dirty="0"/>
              <a:t>What are we protecting?</a:t>
            </a:r>
          </a:p>
          <a:p>
            <a:endParaRPr lang="en-US" dirty="0"/>
          </a:p>
          <a:p>
            <a:r>
              <a:rPr lang="en-US" dirty="0"/>
              <a:t>4. SECURE IN PRACTICE</a:t>
            </a:r>
          </a:p>
          <a:p>
            <a:endParaRPr lang="en-US" dirty="0"/>
          </a:p>
          <a:p>
            <a:r>
              <a:rPr lang="en-US" dirty="0"/>
              <a:t>Where are we vulnerable?</a:t>
            </a:r>
          </a:p>
          <a:p>
            <a:endParaRPr lang="en-US" dirty="0"/>
          </a:p>
          <a:p>
            <a:r>
              <a:rPr lang="en-US" dirty="0"/>
              <a:t>5. BREAK IT</a:t>
            </a:r>
          </a:p>
          <a:p>
            <a:endParaRPr lang="en-US" dirty="0"/>
          </a:p>
          <a:p>
            <a:r>
              <a:rPr lang="en-US" dirty="0"/>
              <a:t>Can we break our protections?</a:t>
            </a:r>
          </a:p>
          <a:p>
            <a:endParaRPr lang="en-US" dirty="0"/>
          </a:p>
          <a:p>
            <a:r>
              <a:rPr lang="en-US" dirty="0"/>
              <a:t>6. OWN THE RESPONSIBILITY</a:t>
            </a:r>
          </a:p>
          <a:p>
            <a:endParaRPr lang="en-US" dirty="0"/>
          </a:p>
          <a:p>
            <a:r>
              <a:rPr lang="en-US" dirty="0"/>
              <a:t>What do users trust us to do?</a:t>
            </a:r>
          </a:p>
          <a:p>
            <a:endParaRPr lang="en-US" dirty="0"/>
          </a:p>
          <a:p>
            <a:r>
              <a:rPr lang="en-US" dirty="0"/>
              <a:t>Say:</a:t>
            </a:r>
          </a:p>
          <a:p>
            <a:endParaRPr lang="en-US" dirty="0"/>
          </a:p>
          <a:p>
            <a:r>
              <a:rPr lang="en-US" dirty="0"/>
              <a:t>"That is the journey we've taken."</a:t>
            </a:r>
          </a:p>
          <a:p>
            <a:endParaRPr lang="en-US" dirty="0"/>
          </a:p>
          <a:p>
            <a:r>
              <a:rPr lang="en-US" dirty="0"/>
              <a:t>------------------------------------------------------------</a:t>
            </a:r>
          </a:p>
          <a:p>
            <a:endParaRPr lang="en-US" dirty="0"/>
          </a:p>
          <a:p>
            <a:r>
              <a:rPr lang="en-US" dirty="0"/>
              <a:t>ACHIEVEMENT 1 — AUTHENTICATION</a:t>
            </a:r>
          </a:p>
          <a:p>
            <a:endParaRPr lang="en-US" dirty="0"/>
          </a:p>
          <a:p>
            <a:r>
              <a:rPr lang="en-US" dirty="0"/>
              <a:t>Point to Authentication.</a:t>
            </a:r>
          </a:p>
          <a:p>
            <a:endParaRPr lang="en-US" dirty="0"/>
          </a:p>
          <a:p>
            <a:r>
              <a:rPr lang="en-US" dirty="0"/>
              <a:t>Ask:</a:t>
            </a:r>
          </a:p>
          <a:p>
            <a:endParaRPr lang="en-US" dirty="0"/>
          </a:p>
          <a:p>
            <a:r>
              <a:rPr lang="en-US" dirty="0"/>
              <a:t>"Can a user prove who they are?"</a:t>
            </a:r>
          </a:p>
          <a:p>
            <a:endParaRPr lang="en-US" dirty="0"/>
          </a:p>
          <a:p>
            <a:r>
              <a:rPr lang="en-US" dirty="0"/>
              <a:t>Demonstrate:</a:t>
            </a:r>
          </a:p>
          <a:p>
            <a:endParaRPr lang="en-US" dirty="0"/>
          </a:p>
          <a:p>
            <a:r>
              <a:rPr lang="en-US" dirty="0"/>
              <a:t>Register or existing account.</a:t>
            </a:r>
          </a:p>
          <a:p>
            <a:endParaRPr lang="en-US" dirty="0"/>
          </a:p>
          <a:p>
            <a:r>
              <a:rPr lang="en-US" dirty="0"/>
              <a:t>Login.</a:t>
            </a:r>
          </a:p>
          <a:p>
            <a:endParaRPr lang="en-US" dirty="0"/>
          </a:p>
          <a:p>
            <a:r>
              <a:rPr lang="en-US" dirty="0"/>
              <a:t>Logout.</a:t>
            </a:r>
          </a:p>
          <a:p>
            <a:endParaRPr lang="en-US" dirty="0"/>
          </a:p>
          <a:p>
            <a:r>
              <a:rPr lang="en-US" dirty="0"/>
              <a:t>Invalid login.</a:t>
            </a:r>
          </a:p>
          <a:p>
            <a:endParaRPr lang="en-US" dirty="0"/>
          </a:p>
          <a:p>
            <a:r>
              <a:rPr lang="en-US" dirty="0"/>
              <a:t>Protected page without authentication.</a:t>
            </a:r>
          </a:p>
          <a:p>
            <a:endParaRPr lang="en-US" dirty="0"/>
          </a:p>
          <a:p>
            <a:r>
              <a:rPr lang="en-US" dirty="0"/>
              <a:t>Expected:</a:t>
            </a:r>
          </a:p>
          <a:p>
            <a:endParaRPr lang="en-US" dirty="0"/>
          </a:p>
          <a:p>
            <a:r>
              <a:rPr lang="en-US" dirty="0"/>
              <a:t>Authenticated users can access appropriate areas.</a:t>
            </a:r>
          </a:p>
          <a:p>
            <a:endParaRPr lang="en-US" dirty="0"/>
          </a:p>
          <a:p>
            <a:r>
              <a:rPr lang="en-US" dirty="0"/>
              <a:t>Unauthenticated users cannot access protected resources.</a:t>
            </a:r>
          </a:p>
          <a:p>
            <a:endParaRPr lang="en-US" dirty="0"/>
          </a:p>
          <a:p>
            <a:r>
              <a:rPr lang="en-US" dirty="0"/>
              <a:t>------------------------------------------------------------</a:t>
            </a:r>
          </a:p>
          <a:p>
            <a:endParaRPr lang="en-US" dirty="0"/>
          </a:p>
          <a:p>
            <a:r>
              <a:rPr lang="en-US" dirty="0"/>
              <a:t>ACHIEVEMENT 2 — AUTHORIZATION</a:t>
            </a:r>
          </a:p>
          <a:p>
            <a:endParaRPr lang="en-US" dirty="0"/>
          </a:p>
          <a:p>
            <a:r>
              <a:rPr lang="en-US" dirty="0"/>
              <a:t>Point to Authorization.</a:t>
            </a:r>
          </a:p>
          <a:p>
            <a:endParaRPr lang="en-US" dirty="0"/>
          </a:p>
          <a:p>
            <a:r>
              <a:rPr lang="en-US" dirty="0"/>
              <a:t>Ask:</a:t>
            </a:r>
          </a:p>
          <a:p>
            <a:endParaRPr lang="en-US" dirty="0"/>
          </a:p>
          <a:p>
            <a:r>
              <a:rPr lang="en-US" dirty="0"/>
              <a:t>"Once Atlas knows who you are..."</a:t>
            </a:r>
          </a:p>
          <a:p>
            <a:endParaRPr lang="en-US" dirty="0"/>
          </a:p>
          <a:p>
            <a:r>
              <a:rPr lang="en-US" dirty="0"/>
              <a:t>"What are you allowed to do?"</a:t>
            </a:r>
          </a:p>
          <a:p>
            <a:endParaRPr lang="en-US" dirty="0"/>
          </a:p>
          <a:p>
            <a:r>
              <a:rPr lang="en-US" dirty="0"/>
              <a:t>Demonstrate:</a:t>
            </a:r>
          </a:p>
          <a:p>
            <a:endParaRPr lang="en-US" dirty="0"/>
          </a:p>
          <a:p>
            <a:r>
              <a:rPr lang="en-US" dirty="0"/>
              <a:t>Role-based permissions.</a:t>
            </a:r>
          </a:p>
          <a:p>
            <a:endParaRPr lang="en-US" dirty="0"/>
          </a:p>
          <a:p>
            <a:r>
              <a:rPr lang="en-US" dirty="0"/>
              <a:t>Restricted actions.</a:t>
            </a:r>
          </a:p>
          <a:p>
            <a:endParaRPr lang="en-US" dirty="0"/>
          </a:p>
          <a:p>
            <a:r>
              <a:rPr lang="en-US" dirty="0"/>
              <a:t>Protected routes.</a:t>
            </a:r>
          </a:p>
          <a:p>
            <a:endParaRPr lang="en-US" dirty="0"/>
          </a:p>
          <a:p>
            <a:r>
              <a:rPr lang="en-US" dirty="0"/>
              <a:t>Access denial.</a:t>
            </a:r>
          </a:p>
          <a:p>
            <a:endParaRPr lang="en-US" dirty="0"/>
          </a:p>
          <a:p>
            <a:r>
              <a:rPr lang="en-US" dirty="0"/>
              <a:t>Explain:</a:t>
            </a:r>
          </a:p>
          <a:p>
            <a:endParaRPr lang="en-US" dirty="0"/>
          </a:p>
          <a:p>
            <a:r>
              <a:rPr lang="en-US" dirty="0"/>
              <a:t>"Authentication got us to the door."</a:t>
            </a:r>
          </a:p>
          <a:p>
            <a:endParaRPr lang="en-US" dirty="0"/>
          </a:p>
          <a:p>
            <a:r>
              <a:rPr lang="en-US" dirty="0"/>
              <a:t>"Authorization decides which doors open."</a:t>
            </a:r>
          </a:p>
          <a:p>
            <a:endParaRPr lang="en-US" dirty="0"/>
          </a:p>
          <a:p>
            <a:r>
              <a:rPr lang="en-US" dirty="0"/>
              <a:t>------------------------------------------------------------</a:t>
            </a:r>
          </a:p>
          <a:p>
            <a:endParaRPr lang="en-US" dirty="0"/>
          </a:p>
          <a:p>
            <a:r>
              <a:rPr lang="en-US" dirty="0"/>
              <a:t>ACHIEVEMENT 3 — RESOURCE OWNERSHIP</a:t>
            </a:r>
          </a:p>
          <a:p>
            <a:endParaRPr lang="en-US" dirty="0"/>
          </a:p>
          <a:p>
            <a:r>
              <a:rPr lang="en-US" dirty="0"/>
              <a:t>Point to:</a:t>
            </a:r>
          </a:p>
          <a:p>
            <a:endParaRPr lang="en-US" dirty="0"/>
          </a:p>
          <a:p>
            <a:r>
              <a:rPr lang="en-US" dirty="0"/>
              <a:t>RESOURCE OWNERSHIP.</a:t>
            </a:r>
          </a:p>
          <a:p>
            <a:endParaRPr lang="en-US" dirty="0"/>
          </a:p>
          <a:p>
            <a:r>
              <a:rPr lang="en-US" dirty="0"/>
              <a:t>Set up:</a:t>
            </a:r>
          </a:p>
          <a:p>
            <a:endParaRPr lang="en-US" dirty="0"/>
          </a:p>
          <a:p>
            <a:r>
              <a:rPr lang="en-US" dirty="0"/>
              <a:t>User A.</a:t>
            </a:r>
          </a:p>
          <a:p>
            <a:endParaRPr lang="en-US" dirty="0"/>
          </a:p>
          <a:p>
            <a:r>
              <a:rPr lang="en-US" dirty="0"/>
              <a:t>User B.</a:t>
            </a:r>
          </a:p>
          <a:p>
            <a:endParaRPr lang="en-US" dirty="0"/>
          </a:p>
          <a:p>
            <a:r>
              <a:rPr lang="en-US" dirty="0"/>
              <a:t>Project A.</a:t>
            </a:r>
          </a:p>
          <a:p>
            <a:endParaRPr lang="en-US" dirty="0"/>
          </a:p>
          <a:p>
            <a:r>
              <a:rPr lang="en-US" dirty="0"/>
              <a:t>Project B.</a:t>
            </a:r>
          </a:p>
          <a:p>
            <a:endParaRPr lang="en-US" dirty="0"/>
          </a:p>
          <a:p>
            <a:r>
              <a:rPr lang="en-US" dirty="0"/>
              <a:t>Demonstrate:</a:t>
            </a:r>
          </a:p>
          <a:p>
            <a:endParaRPr lang="en-US" dirty="0"/>
          </a:p>
          <a:p>
            <a:r>
              <a:rPr lang="en-US" dirty="0"/>
              <a:t>User A accessing User B's resource.</a:t>
            </a:r>
          </a:p>
          <a:p>
            <a:endParaRPr lang="en-US" dirty="0"/>
          </a:p>
          <a:p>
            <a:r>
              <a:rPr lang="en-US" dirty="0"/>
              <a:t>Expected:</a:t>
            </a:r>
          </a:p>
          <a:p>
            <a:endParaRPr lang="en-US" dirty="0"/>
          </a:p>
          <a:p>
            <a:r>
              <a:rPr lang="en-US" dirty="0"/>
              <a:t>Denied.</a:t>
            </a:r>
          </a:p>
          <a:p>
            <a:endParaRPr lang="en-US" dirty="0"/>
          </a:p>
          <a:p>
            <a:r>
              <a:rPr lang="en-US" dirty="0"/>
              <a:t>Then:</a:t>
            </a:r>
          </a:p>
          <a:p>
            <a:endParaRPr lang="en-US" dirty="0"/>
          </a:p>
          <a:p>
            <a:r>
              <a:rPr lang="en-US" dirty="0"/>
              <a:t>User A accessing their own resource.</a:t>
            </a:r>
          </a:p>
          <a:p>
            <a:endParaRPr lang="en-US" dirty="0"/>
          </a:p>
          <a:p>
            <a:r>
              <a:rPr lang="en-US" dirty="0"/>
              <a:t>Expected:</a:t>
            </a:r>
          </a:p>
          <a:p>
            <a:endParaRPr lang="en-US" dirty="0"/>
          </a:p>
          <a:p>
            <a:r>
              <a:rPr lang="en-US" dirty="0"/>
              <a:t>Allowed.</a:t>
            </a:r>
          </a:p>
          <a:p>
            <a:endParaRPr lang="en-US" dirty="0"/>
          </a:p>
          <a:p>
            <a:r>
              <a:rPr lang="en-US" dirty="0"/>
              <a:t>Say:</a:t>
            </a:r>
          </a:p>
          <a:p>
            <a:endParaRPr lang="en-US" dirty="0"/>
          </a:p>
          <a:p>
            <a:r>
              <a:rPr lang="en-US" dirty="0"/>
              <a:t>"This is where security becomes very real."</a:t>
            </a:r>
          </a:p>
          <a:p>
            <a:endParaRPr lang="en-US" dirty="0"/>
          </a:p>
          <a:p>
            <a:r>
              <a:rPr lang="en-US" dirty="0"/>
              <a:t>------------------------------------------------------------</a:t>
            </a:r>
          </a:p>
          <a:p>
            <a:endParaRPr lang="en-US" dirty="0"/>
          </a:p>
          <a:p>
            <a:r>
              <a:rPr lang="en-US" dirty="0"/>
              <a:t>ACHIEVEMENT 4 — DATA PROTECTION</a:t>
            </a:r>
          </a:p>
          <a:p>
            <a:endParaRPr lang="en-US" dirty="0"/>
          </a:p>
          <a:p>
            <a:r>
              <a:rPr lang="en-US" dirty="0"/>
              <a:t>Point to:</a:t>
            </a:r>
          </a:p>
          <a:p>
            <a:endParaRPr lang="en-US" dirty="0"/>
          </a:p>
          <a:p>
            <a:r>
              <a:rPr lang="en-US" dirty="0"/>
              <a:t>DATA PROTECTION.</a:t>
            </a:r>
          </a:p>
          <a:p>
            <a:endParaRPr lang="en-US" dirty="0"/>
          </a:p>
          <a:p>
            <a:r>
              <a:rPr lang="en-US" dirty="0"/>
              <a:t>Review:</a:t>
            </a:r>
          </a:p>
          <a:p>
            <a:endParaRPr lang="en-US" dirty="0"/>
          </a:p>
          <a:p>
            <a:r>
              <a:rPr lang="en-US" dirty="0"/>
              <a:t>Sensitive data.</a:t>
            </a:r>
          </a:p>
          <a:p>
            <a:endParaRPr lang="en-US" dirty="0"/>
          </a:p>
          <a:p>
            <a:r>
              <a:rPr lang="en-US" dirty="0"/>
              <a:t>Passwords.</a:t>
            </a:r>
          </a:p>
          <a:p>
            <a:endParaRPr lang="en-US" dirty="0"/>
          </a:p>
          <a:p>
            <a:r>
              <a:rPr lang="en-US" dirty="0"/>
              <a:t>HTTPS.</a:t>
            </a:r>
          </a:p>
          <a:p>
            <a:endParaRPr lang="en-US" dirty="0"/>
          </a:p>
          <a:p>
            <a:r>
              <a:rPr lang="en-US" dirty="0"/>
              <a:t>Secure errors.</a:t>
            </a:r>
          </a:p>
          <a:p>
            <a:endParaRPr lang="en-US" dirty="0"/>
          </a:p>
          <a:p>
            <a:r>
              <a:rPr lang="en-US" dirty="0"/>
              <a:t>Access controls.</a:t>
            </a:r>
          </a:p>
          <a:p>
            <a:endParaRPr lang="en-US" dirty="0"/>
          </a:p>
          <a:p>
            <a:r>
              <a:rPr lang="en-US" dirty="0"/>
              <a:t>Explain:</a:t>
            </a:r>
          </a:p>
          <a:p>
            <a:endParaRPr lang="en-US" dirty="0"/>
          </a:p>
          <a:p>
            <a:r>
              <a:rPr lang="en-US" dirty="0"/>
              <a:t>"We're protecting information both from unauthorized users and</a:t>
            </a:r>
          </a:p>
          <a:p>
            <a:r>
              <a:rPr lang="en-US" dirty="0"/>
              <a:t>unnecessary exposure."</a:t>
            </a:r>
          </a:p>
          <a:p>
            <a:endParaRPr lang="en-US" dirty="0"/>
          </a:p>
          <a:p>
            <a:r>
              <a:rPr lang="en-US" dirty="0"/>
              <a:t>------------------------------------------------------------</a:t>
            </a:r>
          </a:p>
          <a:p>
            <a:endParaRPr lang="en-US" dirty="0"/>
          </a:p>
          <a:p>
            <a:r>
              <a:rPr lang="en-US" dirty="0"/>
              <a:t>ACHIEVEMENT 5 — SECURE CONFIGURATION</a:t>
            </a:r>
          </a:p>
          <a:p>
            <a:endParaRPr lang="en-US" dirty="0"/>
          </a:p>
          <a:p>
            <a:r>
              <a:rPr lang="en-US" dirty="0"/>
              <a:t>Point to:</a:t>
            </a:r>
          </a:p>
          <a:p>
            <a:endParaRPr lang="en-US" dirty="0"/>
          </a:p>
          <a:p>
            <a:r>
              <a:rPr lang="en-US" dirty="0"/>
              <a:t>SECURE CONFIGURATION.</a:t>
            </a:r>
          </a:p>
          <a:p>
            <a:endParaRPr lang="en-US" dirty="0"/>
          </a:p>
          <a:p>
            <a:r>
              <a:rPr lang="en-US" dirty="0"/>
              <a:t>Ask:</a:t>
            </a:r>
          </a:p>
          <a:p>
            <a:endParaRPr lang="en-US" dirty="0"/>
          </a:p>
          <a:p>
            <a:r>
              <a:rPr lang="en-US" dirty="0"/>
              <a:t>"Are secrets sitting in the repository?"</a:t>
            </a:r>
          </a:p>
          <a:p>
            <a:endParaRPr lang="en-US" dirty="0"/>
          </a:p>
          <a:p>
            <a:r>
              <a:rPr lang="en-US" dirty="0"/>
              <a:t>Check:</a:t>
            </a:r>
          </a:p>
          <a:p>
            <a:endParaRPr lang="en-US" dirty="0"/>
          </a:p>
          <a:p>
            <a:r>
              <a:rPr lang="en-US" dirty="0"/>
              <a:t>GitHub.</a:t>
            </a:r>
          </a:p>
          <a:p>
            <a:endParaRPr lang="en-US" dirty="0"/>
          </a:p>
          <a:p>
            <a:r>
              <a:rPr lang="en-US" dirty="0"/>
              <a:t>Configuration.</a:t>
            </a:r>
          </a:p>
          <a:p>
            <a:endParaRPr lang="en-US" dirty="0"/>
          </a:p>
          <a:p>
            <a:r>
              <a:rPr lang="en-US" dirty="0"/>
              <a:t>Environment settings.</a:t>
            </a:r>
          </a:p>
          <a:p>
            <a:endParaRPr lang="en-US" dirty="0"/>
          </a:p>
          <a:p>
            <a:r>
              <a:rPr lang="en-US" dirty="0"/>
              <a:t>Connection strings.</a:t>
            </a:r>
          </a:p>
          <a:p>
            <a:endParaRPr lang="en-US" dirty="0"/>
          </a:p>
          <a:p>
            <a:r>
              <a:rPr lang="en-US" dirty="0"/>
              <a:t>API keys.</a:t>
            </a:r>
          </a:p>
          <a:p>
            <a:endParaRPr lang="en-US" dirty="0"/>
          </a:p>
          <a:p>
            <a:r>
              <a:rPr lang="en-US" dirty="0"/>
              <a:t>Tokens.</a:t>
            </a:r>
          </a:p>
          <a:p>
            <a:endParaRPr lang="en-US" dirty="0"/>
          </a:p>
          <a:p>
            <a:r>
              <a:rPr lang="en-US" dirty="0"/>
              <a:t>Expected:</a:t>
            </a:r>
          </a:p>
          <a:p>
            <a:endParaRPr lang="en-US" dirty="0"/>
          </a:p>
          <a:p>
            <a:r>
              <a:rPr lang="en-US" dirty="0"/>
              <a:t>No production secrets committed to source control.</a:t>
            </a:r>
          </a:p>
          <a:p>
            <a:endParaRPr lang="en-US" dirty="0"/>
          </a:p>
          <a:p>
            <a:r>
              <a:rPr lang="en-US" dirty="0"/>
              <a:t>------------------------------------------------------------</a:t>
            </a:r>
          </a:p>
          <a:p>
            <a:endParaRPr lang="en-US" dirty="0"/>
          </a:p>
          <a:p>
            <a:r>
              <a:rPr lang="en-US" dirty="0"/>
              <a:t>ACHIEVEMENT 6 — SECURITY TESTING</a:t>
            </a:r>
          </a:p>
          <a:p>
            <a:endParaRPr lang="en-US" dirty="0"/>
          </a:p>
          <a:p>
            <a:r>
              <a:rPr lang="en-US" dirty="0"/>
              <a:t>Point to:</a:t>
            </a:r>
          </a:p>
          <a:p>
            <a:endParaRPr lang="en-US" dirty="0"/>
          </a:p>
          <a:p>
            <a:r>
              <a:rPr lang="en-US" dirty="0"/>
              <a:t>SECURITY TESTING.</a:t>
            </a:r>
          </a:p>
          <a:p>
            <a:endParaRPr lang="en-US" dirty="0"/>
          </a:p>
          <a:p>
            <a:r>
              <a:rPr lang="en-US" dirty="0"/>
              <a:t>Ask:</a:t>
            </a:r>
          </a:p>
          <a:p>
            <a:endParaRPr lang="en-US" dirty="0"/>
          </a:p>
          <a:p>
            <a:r>
              <a:rPr lang="en-US" dirty="0"/>
              <a:t>"Did we actually try to break our protections?"</a:t>
            </a:r>
          </a:p>
          <a:p>
            <a:endParaRPr lang="en-US" dirty="0"/>
          </a:p>
          <a:p>
            <a:r>
              <a:rPr lang="en-US" dirty="0"/>
              <a:t>Review:</a:t>
            </a:r>
          </a:p>
          <a:p>
            <a:endParaRPr lang="en-US" dirty="0"/>
          </a:p>
          <a:p>
            <a:r>
              <a:rPr lang="en-US" dirty="0"/>
              <a:t>Unauthorized access.</a:t>
            </a:r>
          </a:p>
          <a:p>
            <a:endParaRPr lang="en-US" dirty="0"/>
          </a:p>
          <a:p>
            <a:r>
              <a:rPr lang="en-US" dirty="0"/>
              <a:t>Ownership bypass.</a:t>
            </a:r>
          </a:p>
          <a:p>
            <a:endParaRPr lang="en-US" dirty="0"/>
          </a:p>
          <a:p>
            <a:r>
              <a:rPr lang="en-US" dirty="0"/>
              <a:t>Invalid input.</a:t>
            </a:r>
          </a:p>
          <a:p>
            <a:endParaRPr lang="en-US" dirty="0"/>
          </a:p>
          <a:p>
            <a:r>
              <a:rPr lang="en-US" dirty="0"/>
              <a:t>Direct access attempts.</a:t>
            </a:r>
          </a:p>
          <a:p>
            <a:endParaRPr lang="en-US" dirty="0"/>
          </a:p>
          <a:p>
            <a:r>
              <a:rPr lang="en-US" dirty="0"/>
              <a:t>Configuration issues.</a:t>
            </a:r>
          </a:p>
          <a:p>
            <a:endParaRPr lang="en-US" dirty="0"/>
          </a:p>
          <a:p>
            <a:r>
              <a:rPr lang="en-US" dirty="0"/>
              <a:t>Error disclosure.</a:t>
            </a:r>
          </a:p>
          <a:p>
            <a:endParaRPr lang="en-US" dirty="0"/>
          </a:p>
          <a:p>
            <a:r>
              <a:rPr lang="en-US" dirty="0"/>
              <a:t>Explain:</a:t>
            </a:r>
          </a:p>
          <a:p>
            <a:endParaRPr lang="en-US" dirty="0"/>
          </a:p>
          <a:p>
            <a:r>
              <a:rPr lang="en-US" dirty="0"/>
              <a:t>"We don't get credit for saying something is secure."</a:t>
            </a:r>
          </a:p>
          <a:p>
            <a:endParaRPr lang="en-US" dirty="0"/>
          </a:p>
          <a:p>
            <a:r>
              <a:rPr lang="en-US" dirty="0"/>
              <a:t>"We get confidence from testing it."</a:t>
            </a:r>
          </a:p>
          <a:p>
            <a:endParaRPr lang="en-US" dirty="0"/>
          </a:p>
          <a:p>
            <a:r>
              <a:rPr lang="en-US" dirty="0"/>
              <a:t>------------------------------------------------------------</a:t>
            </a:r>
          </a:p>
          <a:p>
            <a:endParaRPr lang="en-US" dirty="0"/>
          </a:p>
          <a:p>
            <a:r>
              <a:rPr lang="en-US" dirty="0"/>
              <a:t>ACHIEVEMENT 7 — RESPONSIBLE SaaS</a:t>
            </a:r>
          </a:p>
          <a:p>
            <a:endParaRPr lang="en-US" dirty="0"/>
          </a:p>
          <a:p>
            <a:r>
              <a:rPr lang="en-US" dirty="0"/>
              <a:t>Point to:</a:t>
            </a:r>
          </a:p>
          <a:p>
            <a:endParaRPr lang="en-US" dirty="0"/>
          </a:p>
          <a:p>
            <a:r>
              <a:rPr lang="en-US" dirty="0"/>
              <a:t>RESPONSIBLE SaaS.</a:t>
            </a:r>
          </a:p>
          <a:p>
            <a:endParaRPr lang="en-US" dirty="0"/>
          </a:p>
          <a:p>
            <a:r>
              <a:rPr lang="en-US" dirty="0"/>
              <a:t>Review:</a:t>
            </a:r>
          </a:p>
          <a:p>
            <a:endParaRPr lang="en-US" dirty="0"/>
          </a:p>
          <a:p>
            <a:r>
              <a:rPr lang="en-US" dirty="0"/>
              <a:t>Privacy.</a:t>
            </a:r>
          </a:p>
          <a:p>
            <a:endParaRPr lang="en-US" dirty="0"/>
          </a:p>
          <a:p>
            <a:r>
              <a:rPr lang="en-US" dirty="0"/>
              <a:t>Availability.</a:t>
            </a:r>
          </a:p>
          <a:p>
            <a:endParaRPr lang="en-US" dirty="0"/>
          </a:p>
          <a:p>
            <a:r>
              <a:rPr lang="en-US" dirty="0"/>
              <a:t>Integrity.</a:t>
            </a:r>
          </a:p>
          <a:p>
            <a:endParaRPr lang="en-US" dirty="0"/>
          </a:p>
          <a:p>
            <a:r>
              <a:rPr lang="en-US" dirty="0"/>
              <a:t>Transparency.</a:t>
            </a:r>
          </a:p>
          <a:p>
            <a:endParaRPr lang="en-US" dirty="0"/>
          </a:p>
          <a:p>
            <a:r>
              <a:rPr lang="en-US" dirty="0"/>
              <a:t>Responsibility.</a:t>
            </a:r>
          </a:p>
          <a:p>
            <a:endParaRPr lang="en-US" dirty="0"/>
          </a:p>
          <a:p>
            <a:r>
              <a:rPr lang="en-US" dirty="0"/>
              <a:t>Say:</a:t>
            </a:r>
          </a:p>
          <a:p>
            <a:endParaRPr lang="en-US" dirty="0"/>
          </a:p>
          <a:p>
            <a:r>
              <a:rPr lang="en-US" dirty="0"/>
              <a:t>"Security isn't only about preventing attackers."</a:t>
            </a:r>
          </a:p>
          <a:p>
            <a:endParaRPr lang="en-US" dirty="0"/>
          </a:p>
          <a:p>
            <a:r>
              <a:rPr lang="en-US" dirty="0"/>
              <a:t>"It's also about being responsible for the service we operate."</a:t>
            </a:r>
          </a:p>
          <a:p>
            <a:endParaRPr lang="en-US" dirty="0"/>
          </a:p>
          <a:p>
            <a:r>
              <a:rPr lang="en-US" dirty="0"/>
              <a:t>------------------------------------------------------------</a:t>
            </a:r>
          </a:p>
          <a:p>
            <a:endParaRPr lang="en-US" dirty="0"/>
          </a:p>
          <a:p>
            <a:r>
              <a:rPr lang="en-US" dirty="0"/>
              <a:t>THE TRUST REVIEW</a:t>
            </a:r>
          </a:p>
          <a:p>
            <a:endParaRPr lang="en-US" dirty="0"/>
          </a:p>
          <a:p>
            <a:r>
              <a:rPr lang="en-US" dirty="0"/>
              <a:t>Move to the Trust Review Checklist.</a:t>
            </a:r>
          </a:p>
          <a:p>
            <a:endParaRPr lang="en-US" dirty="0"/>
          </a:p>
          <a:p>
            <a:r>
              <a:rPr lang="en-US" dirty="0"/>
              <a:t>Explain:</a:t>
            </a:r>
          </a:p>
          <a:p>
            <a:endParaRPr lang="en-US" dirty="0"/>
          </a:p>
          <a:p>
            <a:r>
              <a:rPr lang="en-US" dirty="0"/>
              <a:t>"We're going to evaluate Atlas across six trust areas."</a:t>
            </a:r>
          </a:p>
          <a:p>
            <a:endParaRPr lang="en-US" dirty="0"/>
          </a:p>
          <a:p>
            <a:r>
              <a:rPr lang="en-US" dirty="0"/>
              <a:t>------------------------------------------------------------</a:t>
            </a:r>
          </a:p>
          <a:p>
            <a:endParaRPr lang="en-US" dirty="0"/>
          </a:p>
          <a:p>
            <a:r>
              <a:rPr lang="en-US" dirty="0"/>
              <a:t>SECURITY</a:t>
            </a:r>
          </a:p>
          <a:p>
            <a:endParaRPr lang="en-US" dirty="0"/>
          </a:p>
          <a:p>
            <a:r>
              <a:rPr lang="en-US" dirty="0"/>
              <a:t>Objective:</a:t>
            </a:r>
          </a:p>
          <a:p>
            <a:endParaRPr lang="en-US" dirty="0"/>
          </a:p>
          <a:p>
            <a:r>
              <a:rPr lang="en-US" dirty="0"/>
              <a:t>Protect systems and data from unauthorized access.</a:t>
            </a:r>
          </a:p>
          <a:p>
            <a:endParaRPr lang="en-US" dirty="0"/>
          </a:p>
          <a:p>
            <a:r>
              <a:rPr lang="en-US" dirty="0"/>
              <a:t>Evidence:</a:t>
            </a:r>
          </a:p>
          <a:p>
            <a:endParaRPr lang="en-US" dirty="0"/>
          </a:p>
          <a:p>
            <a:r>
              <a:rPr lang="en-US" dirty="0"/>
              <a:t>Authentication enforced.</a:t>
            </a:r>
          </a:p>
          <a:p>
            <a:endParaRPr lang="en-US" dirty="0"/>
          </a:p>
          <a:p>
            <a:r>
              <a:rPr lang="en-US" dirty="0"/>
              <a:t>Authorization validated.</a:t>
            </a:r>
          </a:p>
          <a:p>
            <a:endParaRPr lang="en-US" dirty="0"/>
          </a:p>
          <a:p>
            <a:r>
              <a:rPr lang="en-US" dirty="0"/>
              <a:t>Input validated.</a:t>
            </a:r>
          </a:p>
          <a:p>
            <a:endParaRPr lang="en-US" dirty="0"/>
          </a:p>
          <a:p>
            <a:r>
              <a:rPr lang="en-US" dirty="0"/>
              <a:t>Secrets protected.</a:t>
            </a:r>
          </a:p>
          <a:p>
            <a:endParaRPr lang="en-US" dirty="0"/>
          </a:p>
          <a:p>
            <a:r>
              <a:rPr lang="en-US" dirty="0"/>
              <a:t>Ask:</a:t>
            </a:r>
          </a:p>
          <a:p>
            <a:endParaRPr lang="en-US" dirty="0"/>
          </a:p>
          <a:p>
            <a:r>
              <a:rPr lang="en-US" dirty="0"/>
              <a:t>"Can we prove each of these?"</a:t>
            </a:r>
          </a:p>
          <a:p>
            <a:endParaRPr lang="en-US" dirty="0"/>
          </a:p>
          <a:p>
            <a:r>
              <a:rPr lang="en-US" dirty="0"/>
              <a:t>------------------------------------------------------------</a:t>
            </a:r>
          </a:p>
          <a:p>
            <a:endParaRPr lang="en-US" dirty="0"/>
          </a:p>
          <a:p>
            <a:r>
              <a:rPr lang="en-US" dirty="0"/>
              <a:t>PRIVACY</a:t>
            </a:r>
          </a:p>
          <a:p>
            <a:endParaRPr lang="en-US" dirty="0"/>
          </a:p>
          <a:p>
            <a:r>
              <a:rPr lang="en-US" dirty="0"/>
              <a:t>Objective:</a:t>
            </a:r>
          </a:p>
          <a:p>
            <a:endParaRPr lang="en-US" dirty="0"/>
          </a:p>
          <a:p>
            <a:r>
              <a:rPr lang="en-US" dirty="0"/>
              <a:t>Collect only what we need and use it responsibly.</a:t>
            </a:r>
          </a:p>
          <a:p>
            <a:endParaRPr lang="en-US" dirty="0"/>
          </a:p>
          <a:p>
            <a:r>
              <a:rPr lang="en-US" dirty="0"/>
              <a:t>Evidence:</a:t>
            </a:r>
          </a:p>
          <a:p>
            <a:endParaRPr lang="en-US" dirty="0"/>
          </a:p>
          <a:p>
            <a:r>
              <a:rPr lang="en-US" dirty="0"/>
              <a:t>Data minimization.</a:t>
            </a:r>
          </a:p>
          <a:p>
            <a:endParaRPr lang="en-US" dirty="0"/>
          </a:p>
          <a:p>
            <a:r>
              <a:rPr lang="en-US" dirty="0"/>
              <a:t>No unnecessary information.</a:t>
            </a:r>
          </a:p>
          <a:p>
            <a:endParaRPr lang="en-US" dirty="0"/>
          </a:p>
          <a:p>
            <a:r>
              <a:rPr lang="en-US" dirty="0"/>
              <a:t>Users understand how information is used.</a:t>
            </a:r>
          </a:p>
          <a:p>
            <a:endParaRPr lang="en-US" dirty="0"/>
          </a:p>
          <a:p>
            <a:r>
              <a:rPr lang="en-US" dirty="0"/>
              <a:t>Ask:</a:t>
            </a:r>
          </a:p>
          <a:p>
            <a:endParaRPr lang="en-US" dirty="0"/>
          </a:p>
          <a:p>
            <a:r>
              <a:rPr lang="en-US" dirty="0"/>
              <a:t>"Are we collecting information just because we can?"</a:t>
            </a:r>
          </a:p>
          <a:p>
            <a:endParaRPr lang="en-US" dirty="0"/>
          </a:p>
          <a:p>
            <a:r>
              <a:rPr lang="en-US" dirty="0"/>
              <a:t>"No."</a:t>
            </a:r>
          </a:p>
          <a:p>
            <a:endParaRPr lang="en-US" dirty="0"/>
          </a:p>
          <a:p>
            <a:r>
              <a:rPr lang="en-US" dirty="0"/>
              <a:t>"We should collect what the application actually needs."</a:t>
            </a:r>
          </a:p>
          <a:p>
            <a:endParaRPr lang="en-US" dirty="0"/>
          </a:p>
          <a:p>
            <a:r>
              <a:rPr lang="en-US" dirty="0"/>
              <a:t>------------------------------------------------------------</a:t>
            </a:r>
          </a:p>
          <a:p>
            <a:endParaRPr lang="en-US" dirty="0"/>
          </a:p>
          <a:p>
            <a:r>
              <a:rPr lang="en-US" dirty="0"/>
              <a:t>INTEGRITY</a:t>
            </a:r>
          </a:p>
          <a:p>
            <a:endParaRPr lang="en-US" dirty="0"/>
          </a:p>
          <a:p>
            <a:r>
              <a:rPr lang="en-US" dirty="0"/>
              <a:t>Objective:</a:t>
            </a:r>
          </a:p>
          <a:p>
            <a:endParaRPr lang="en-US" dirty="0"/>
          </a:p>
          <a:p>
            <a:r>
              <a:rPr lang="en-US" dirty="0"/>
              <a:t>Keep data accurate, consistent, and protected from unauthorized</a:t>
            </a:r>
          </a:p>
          <a:p>
            <a:r>
              <a:rPr lang="en-US" dirty="0"/>
              <a:t>changes.</a:t>
            </a:r>
          </a:p>
          <a:p>
            <a:endParaRPr lang="en-US" dirty="0"/>
          </a:p>
          <a:p>
            <a:r>
              <a:rPr lang="en-US" dirty="0"/>
              <a:t>Evidence:</a:t>
            </a:r>
          </a:p>
          <a:p>
            <a:endParaRPr lang="en-US" dirty="0"/>
          </a:p>
          <a:p>
            <a:r>
              <a:rPr lang="en-US" dirty="0"/>
              <a:t>Server-side validation.</a:t>
            </a:r>
          </a:p>
          <a:p>
            <a:endParaRPr lang="en-US" dirty="0"/>
          </a:p>
          <a:p>
            <a:r>
              <a:rPr lang="en-US" dirty="0"/>
              <a:t>Ownership enforcement.</a:t>
            </a:r>
          </a:p>
          <a:p>
            <a:endParaRPr lang="en-US" dirty="0"/>
          </a:p>
          <a:p>
            <a:r>
              <a:rPr lang="en-US" dirty="0"/>
              <a:t>Authorized actions.</a:t>
            </a:r>
          </a:p>
          <a:p>
            <a:endParaRPr lang="en-US" dirty="0"/>
          </a:p>
          <a:p>
            <a:r>
              <a:rPr lang="en-US" dirty="0"/>
              <a:t>Ask:</a:t>
            </a:r>
          </a:p>
          <a:p>
            <a:endParaRPr lang="en-US" dirty="0"/>
          </a:p>
          <a:p>
            <a:r>
              <a:rPr lang="en-US" dirty="0"/>
              <a:t>"Can another user change information they don't own?"</a:t>
            </a:r>
          </a:p>
          <a:p>
            <a:endParaRPr lang="en-US" dirty="0"/>
          </a:p>
          <a:p>
            <a:r>
              <a:rPr lang="en-US" dirty="0"/>
              <a:t>Expected:</a:t>
            </a:r>
          </a:p>
          <a:p>
            <a:endParaRPr lang="en-US" dirty="0"/>
          </a:p>
          <a:p>
            <a:r>
              <a:rPr lang="en-US" dirty="0"/>
              <a:t>"No."</a:t>
            </a:r>
          </a:p>
          <a:p>
            <a:endParaRPr lang="en-US" dirty="0"/>
          </a:p>
          <a:p>
            <a:r>
              <a:rPr lang="en-US" dirty="0"/>
              <a:t>------------------------------------------------------------</a:t>
            </a:r>
          </a:p>
          <a:p>
            <a:endParaRPr lang="en-US" dirty="0"/>
          </a:p>
          <a:p>
            <a:r>
              <a:rPr lang="en-US" dirty="0"/>
              <a:t>AVAILABILITY</a:t>
            </a:r>
          </a:p>
          <a:p>
            <a:endParaRPr lang="en-US" dirty="0"/>
          </a:p>
          <a:p>
            <a:r>
              <a:rPr lang="en-US" dirty="0"/>
              <a:t>Objective:</a:t>
            </a:r>
          </a:p>
          <a:p>
            <a:endParaRPr lang="en-US" dirty="0"/>
          </a:p>
          <a:p>
            <a:r>
              <a:rPr lang="en-US" dirty="0"/>
              <a:t>Keep Atlas accessible when users need it.</a:t>
            </a:r>
          </a:p>
          <a:p>
            <a:endParaRPr lang="en-US" dirty="0"/>
          </a:p>
          <a:p>
            <a:r>
              <a:rPr lang="en-US" dirty="0"/>
              <a:t>Evidence:</a:t>
            </a:r>
          </a:p>
          <a:p>
            <a:endParaRPr lang="en-US" dirty="0"/>
          </a:p>
          <a:p>
            <a:r>
              <a:rPr lang="en-US" dirty="0"/>
              <a:t>Application is available.</a:t>
            </a:r>
          </a:p>
          <a:p>
            <a:endParaRPr lang="en-US" dirty="0"/>
          </a:p>
          <a:p>
            <a:r>
              <a:rPr lang="en-US" dirty="0"/>
              <a:t>No obvious single point of failure discovered.</a:t>
            </a:r>
          </a:p>
          <a:p>
            <a:endParaRPr lang="en-US" dirty="0"/>
          </a:p>
          <a:p>
            <a:r>
              <a:rPr lang="en-US" dirty="0"/>
              <a:t>Monitoring/logging exists where appropriate.</a:t>
            </a:r>
          </a:p>
          <a:p>
            <a:endParaRPr lang="en-US" dirty="0"/>
          </a:p>
          <a:p>
            <a:r>
              <a:rPr lang="en-US" dirty="0"/>
              <a:t>Explain:</a:t>
            </a:r>
          </a:p>
          <a:p>
            <a:endParaRPr lang="en-US" dirty="0"/>
          </a:p>
          <a:p>
            <a:r>
              <a:rPr lang="en-US" dirty="0"/>
              <a:t>"A secure application that is constantly unavailable isn't a good SaaS</a:t>
            </a:r>
          </a:p>
          <a:p>
            <a:r>
              <a:rPr lang="en-US" dirty="0"/>
              <a:t>service."</a:t>
            </a:r>
          </a:p>
          <a:p>
            <a:endParaRPr lang="en-US" dirty="0"/>
          </a:p>
          <a:p>
            <a:r>
              <a:rPr lang="en-US" dirty="0"/>
              <a:t>------------------------------------------------------------</a:t>
            </a:r>
          </a:p>
          <a:p>
            <a:endParaRPr lang="en-US" dirty="0"/>
          </a:p>
          <a:p>
            <a:r>
              <a:rPr lang="en-US" dirty="0"/>
              <a:t>TRANSPARENCY</a:t>
            </a:r>
          </a:p>
          <a:p>
            <a:endParaRPr lang="en-US" dirty="0"/>
          </a:p>
          <a:p>
            <a:r>
              <a:rPr lang="en-US" dirty="0"/>
              <a:t>Objective:</a:t>
            </a:r>
          </a:p>
          <a:p>
            <a:endParaRPr lang="en-US" dirty="0"/>
          </a:p>
          <a:p>
            <a:r>
              <a:rPr lang="en-US" dirty="0"/>
              <a:t>Communicate clearly about data and security practices.</a:t>
            </a:r>
          </a:p>
          <a:p>
            <a:endParaRPr lang="en-US" dirty="0"/>
          </a:p>
          <a:p>
            <a:r>
              <a:rPr lang="en-US" dirty="0"/>
              <a:t>Evidence:</a:t>
            </a:r>
          </a:p>
          <a:p>
            <a:endParaRPr lang="en-US" dirty="0"/>
          </a:p>
          <a:p>
            <a:r>
              <a:rPr lang="en-US" dirty="0"/>
              <a:t>Clear error messages.</a:t>
            </a:r>
          </a:p>
          <a:p>
            <a:endParaRPr lang="en-US" dirty="0"/>
          </a:p>
          <a:p>
            <a:r>
              <a:rPr lang="en-US" dirty="0"/>
              <a:t>Appropriate user communication.</a:t>
            </a:r>
          </a:p>
          <a:p>
            <a:endParaRPr lang="en-US" dirty="0"/>
          </a:p>
          <a:p>
            <a:r>
              <a:rPr lang="en-US" dirty="0"/>
              <a:t>Documentation or policies where appropriate.</a:t>
            </a:r>
          </a:p>
          <a:p>
            <a:endParaRPr lang="en-US" dirty="0"/>
          </a:p>
          <a:p>
            <a:r>
              <a:rPr lang="en-US" dirty="0"/>
              <a:t>Explain:</a:t>
            </a:r>
          </a:p>
          <a:p>
            <a:endParaRPr lang="en-US" dirty="0"/>
          </a:p>
          <a:p>
            <a:r>
              <a:rPr lang="en-US" dirty="0"/>
              <a:t>"Users should not have to guess what the application is doing."</a:t>
            </a:r>
          </a:p>
          <a:p>
            <a:endParaRPr lang="en-US" dirty="0"/>
          </a:p>
          <a:p>
            <a:r>
              <a:rPr lang="en-US" dirty="0"/>
              <a:t>------------------------------------------------------------</a:t>
            </a:r>
          </a:p>
          <a:p>
            <a:endParaRPr lang="en-US" dirty="0"/>
          </a:p>
          <a:p>
            <a:r>
              <a:rPr lang="en-US" dirty="0"/>
              <a:t>RESPONSIBILITY</a:t>
            </a:r>
          </a:p>
          <a:p>
            <a:endParaRPr lang="en-US" dirty="0"/>
          </a:p>
          <a:p>
            <a:r>
              <a:rPr lang="en-US" dirty="0"/>
              <a:t>Objective:</a:t>
            </a:r>
          </a:p>
          <a:p>
            <a:endParaRPr lang="en-US" dirty="0"/>
          </a:p>
          <a:p>
            <a:r>
              <a:rPr lang="en-US" dirty="0"/>
              <a:t>Own the system, respond to problems, and keep improving.</a:t>
            </a:r>
          </a:p>
          <a:p>
            <a:endParaRPr lang="en-US" dirty="0"/>
          </a:p>
          <a:p>
            <a:r>
              <a:rPr lang="en-US" dirty="0"/>
              <a:t>Evidence:</a:t>
            </a:r>
          </a:p>
          <a:p>
            <a:endParaRPr lang="en-US" dirty="0"/>
          </a:p>
          <a:p>
            <a:r>
              <a:rPr lang="en-US" dirty="0"/>
              <a:t>Incident response thinking.</a:t>
            </a:r>
          </a:p>
          <a:p>
            <a:endParaRPr lang="en-US" dirty="0"/>
          </a:p>
          <a:p>
            <a:r>
              <a:rPr lang="en-US" dirty="0"/>
              <a:t>Backups.</a:t>
            </a:r>
          </a:p>
          <a:p>
            <a:endParaRPr lang="en-US" dirty="0"/>
          </a:p>
          <a:p>
            <a:r>
              <a:rPr lang="en-US" dirty="0"/>
              <a:t>Testing.</a:t>
            </a:r>
          </a:p>
          <a:p>
            <a:endParaRPr lang="en-US" dirty="0"/>
          </a:p>
          <a:p>
            <a:r>
              <a:rPr lang="en-US" dirty="0"/>
              <a:t>Documented findings.</a:t>
            </a:r>
          </a:p>
          <a:p>
            <a:endParaRPr lang="en-US" dirty="0"/>
          </a:p>
          <a:p>
            <a:r>
              <a:rPr lang="en-US" dirty="0"/>
              <a:t>Fixes.</a:t>
            </a:r>
          </a:p>
          <a:p>
            <a:endParaRPr lang="en-US" dirty="0"/>
          </a:p>
          <a:p>
            <a:r>
              <a:rPr lang="en-US" dirty="0"/>
              <a:t>Lessons learned.</a:t>
            </a:r>
          </a:p>
          <a:p>
            <a:endParaRPr lang="en-US" dirty="0"/>
          </a:p>
          <a:p>
            <a:r>
              <a:rPr lang="en-US" dirty="0"/>
              <a:t>Say:</a:t>
            </a:r>
          </a:p>
          <a:p>
            <a:endParaRPr lang="en-US" dirty="0"/>
          </a:p>
          <a:p>
            <a:r>
              <a:rPr lang="en-US" dirty="0"/>
              <a:t>"Responsibility means we don't stop caring after deployment."</a:t>
            </a:r>
          </a:p>
          <a:p>
            <a:endParaRPr lang="en-US" dirty="0"/>
          </a:p>
          <a:p>
            <a:r>
              <a:rPr lang="en-US" dirty="0"/>
              <a:t>------------------------------------------------------------</a:t>
            </a:r>
          </a:p>
          <a:p>
            <a:endParaRPr lang="en-US" dirty="0"/>
          </a:p>
          <a:p>
            <a:r>
              <a:rPr lang="en-US" dirty="0"/>
              <a:t>STATUS</a:t>
            </a:r>
          </a:p>
          <a:p>
            <a:endParaRPr lang="en-US" dirty="0"/>
          </a:p>
          <a:p>
            <a:r>
              <a:rPr lang="en-US" dirty="0"/>
              <a:t>Point to:</a:t>
            </a:r>
          </a:p>
          <a:p>
            <a:endParaRPr lang="en-US" dirty="0"/>
          </a:p>
          <a:p>
            <a:r>
              <a:rPr lang="en-US" dirty="0"/>
              <a:t>MET</a:t>
            </a:r>
          </a:p>
          <a:p>
            <a:endParaRPr lang="en-US" dirty="0"/>
          </a:p>
          <a:p>
            <a:r>
              <a:rPr lang="en-US" dirty="0"/>
              <a:t>PARTIALLY MET</a:t>
            </a:r>
          </a:p>
          <a:p>
            <a:endParaRPr lang="en-US" dirty="0"/>
          </a:p>
          <a:p>
            <a:r>
              <a:rPr lang="en-US" dirty="0"/>
              <a:t>NEEDS WORK</a:t>
            </a:r>
          </a:p>
          <a:p>
            <a:endParaRPr lang="en-US" dirty="0"/>
          </a:p>
          <a:p>
            <a:r>
              <a:rPr lang="en-US" dirty="0"/>
              <a:t>Explain:</a:t>
            </a:r>
          </a:p>
          <a:p>
            <a:endParaRPr lang="en-US" dirty="0"/>
          </a:p>
          <a:p>
            <a:r>
              <a:rPr lang="en-US" dirty="0"/>
              <a:t>"Not everything has to be marked MET."</a:t>
            </a:r>
          </a:p>
          <a:p>
            <a:endParaRPr lang="en-US" dirty="0"/>
          </a:p>
          <a:p>
            <a:r>
              <a:rPr lang="en-US" dirty="0"/>
              <a:t>Pause.</a:t>
            </a:r>
          </a:p>
          <a:p>
            <a:endParaRPr lang="en-US" dirty="0"/>
          </a:p>
          <a:p>
            <a:r>
              <a:rPr lang="en-US" dirty="0"/>
              <a:t>"In fact..."</a:t>
            </a:r>
          </a:p>
          <a:p>
            <a:endParaRPr lang="en-US" dirty="0"/>
          </a:p>
          <a:p>
            <a:r>
              <a:rPr lang="en-US" dirty="0"/>
              <a:t>"If you discover something that needs work, that's useful information."</a:t>
            </a:r>
          </a:p>
          <a:p>
            <a:endParaRPr lang="en-US" dirty="0"/>
          </a:p>
          <a:p>
            <a:r>
              <a:rPr lang="en-US" dirty="0"/>
              <a:t>"The goal is an honest engineering assessment."</a:t>
            </a:r>
          </a:p>
          <a:p>
            <a:endParaRPr lang="en-US" dirty="0"/>
          </a:p>
          <a:p>
            <a:r>
              <a:rPr lang="en-US" dirty="0"/>
              <a:t>------------------------------------------------------------</a:t>
            </a:r>
          </a:p>
          <a:p>
            <a:endParaRPr lang="en-US" dirty="0"/>
          </a:p>
          <a:p>
            <a:r>
              <a:rPr lang="en-US" dirty="0"/>
              <a:t>DEMO &amp; VERIFICATION PLAN</a:t>
            </a:r>
          </a:p>
          <a:p>
            <a:endParaRPr lang="en-US" dirty="0"/>
          </a:p>
          <a:p>
            <a:r>
              <a:rPr lang="en-US" dirty="0"/>
              <a:t>Move to the demonstration section.</a:t>
            </a:r>
          </a:p>
          <a:p>
            <a:endParaRPr lang="en-US" dirty="0"/>
          </a:p>
          <a:p>
            <a:r>
              <a:rPr lang="en-US" dirty="0"/>
              <a:t>Tell students:</a:t>
            </a:r>
          </a:p>
          <a:p>
            <a:endParaRPr lang="en-US" dirty="0"/>
          </a:p>
          <a:p>
            <a:r>
              <a:rPr lang="en-US" dirty="0"/>
              <a:t>"Here's what you're going to demonstrate."</a:t>
            </a:r>
          </a:p>
          <a:p>
            <a:endParaRPr lang="en-US" dirty="0"/>
          </a:p>
          <a:p>
            <a:r>
              <a:rPr lang="en-US" dirty="0"/>
              <a:t>1. Secure login and logout.</a:t>
            </a:r>
          </a:p>
          <a:p>
            <a:endParaRPr lang="en-US" dirty="0"/>
          </a:p>
          <a:p>
            <a:r>
              <a:rPr lang="en-US" dirty="0"/>
              <a:t>2. Access control and role enforcement.</a:t>
            </a:r>
          </a:p>
          <a:p>
            <a:endParaRPr lang="en-US" dirty="0"/>
          </a:p>
          <a:p>
            <a:r>
              <a:rPr lang="en-US" dirty="0"/>
              <a:t>3. Resource ownership protection.</a:t>
            </a:r>
          </a:p>
          <a:p>
            <a:endParaRPr lang="en-US" dirty="0"/>
          </a:p>
          <a:p>
            <a:r>
              <a:rPr lang="en-US" dirty="0"/>
              <a:t>4. Data protection.</a:t>
            </a:r>
          </a:p>
          <a:p>
            <a:endParaRPr lang="en-US" dirty="0"/>
          </a:p>
          <a:p>
            <a:r>
              <a:rPr lang="en-US" dirty="0"/>
              <a:t>5. Secrets and configuration.</a:t>
            </a:r>
          </a:p>
          <a:p>
            <a:endParaRPr lang="en-US" dirty="0"/>
          </a:p>
          <a:p>
            <a:r>
              <a:rPr lang="en-US" dirty="0"/>
              <a:t>6. Security testing results.</a:t>
            </a:r>
          </a:p>
          <a:p>
            <a:endParaRPr lang="en-US" dirty="0"/>
          </a:p>
          <a:p>
            <a:r>
              <a:rPr lang="en-US" dirty="0"/>
              <a:t>7. Monitoring/reliability evidence.</a:t>
            </a:r>
          </a:p>
          <a:p>
            <a:endParaRPr lang="en-US" dirty="0"/>
          </a:p>
          <a:p>
            <a:r>
              <a:rPr lang="en-US" dirty="0"/>
              <a:t>8. Security review evidence.</a:t>
            </a:r>
          </a:p>
          <a:p>
            <a:endParaRPr lang="en-US" dirty="0"/>
          </a:p>
          <a:p>
            <a:r>
              <a:rPr lang="en-US" dirty="0"/>
              <a:t>------------------------------------------------------------</a:t>
            </a:r>
          </a:p>
          <a:p>
            <a:endParaRPr lang="en-US" dirty="0"/>
          </a:p>
          <a:p>
            <a:r>
              <a:rPr lang="en-US" dirty="0"/>
              <a:t>DEMONSTRATION RULE</a:t>
            </a:r>
          </a:p>
          <a:p>
            <a:endParaRPr lang="en-US" dirty="0"/>
          </a:p>
          <a:p>
            <a:r>
              <a:rPr lang="en-US" dirty="0"/>
              <a:t>Say:</a:t>
            </a:r>
          </a:p>
          <a:p>
            <a:endParaRPr lang="en-US" dirty="0"/>
          </a:p>
          <a:p>
            <a:r>
              <a:rPr lang="en-US" dirty="0"/>
              <a:t>"Show me the behavior."</a:t>
            </a:r>
          </a:p>
          <a:p>
            <a:endParaRPr lang="en-US" dirty="0"/>
          </a:p>
          <a:p>
            <a:r>
              <a:rPr lang="en-US" dirty="0"/>
              <a:t>Not:</a:t>
            </a:r>
          </a:p>
          <a:p>
            <a:endParaRPr lang="en-US" dirty="0"/>
          </a:p>
          <a:p>
            <a:r>
              <a:rPr lang="en-US" dirty="0"/>
              <a:t>"Tell me the behavior."</a:t>
            </a:r>
          </a:p>
          <a:p>
            <a:endParaRPr lang="en-US" dirty="0"/>
          </a:p>
          <a:p>
            <a:r>
              <a:rPr lang="en-US" dirty="0"/>
              <a:t>Example:</a:t>
            </a:r>
          </a:p>
          <a:p>
            <a:endParaRPr lang="en-US" dirty="0"/>
          </a:p>
          <a:p>
            <a:r>
              <a:rPr lang="en-US" dirty="0"/>
              <a:t>Don't say:</a:t>
            </a:r>
          </a:p>
          <a:p>
            <a:endParaRPr lang="en-US" dirty="0"/>
          </a:p>
          <a:p>
            <a:r>
              <a:rPr lang="en-US" dirty="0"/>
              <a:t>"Users can't access other people's projects."</a:t>
            </a:r>
          </a:p>
          <a:p>
            <a:endParaRPr lang="en-US" dirty="0"/>
          </a:p>
          <a:p>
            <a:r>
              <a:rPr lang="en-US" dirty="0"/>
              <a:t>Show:</a:t>
            </a:r>
          </a:p>
          <a:p>
            <a:endParaRPr lang="en-US" dirty="0"/>
          </a:p>
          <a:p>
            <a:r>
              <a:rPr lang="en-US" dirty="0"/>
              <a:t>User A.</a:t>
            </a:r>
          </a:p>
          <a:p>
            <a:endParaRPr lang="en-US" dirty="0"/>
          </a:p>
          <a:p>
            <a:r>
              <a:rPr lang="en-US" dirty="0"/>
              <a:t>User B.</a:t>
            </a:r>
          </a:p>
          <a:p>
            <a:endParaRPr lang="en-US" dirty="0"/>
          </a:p>
          <a:p>
            <a:r>
              <a:rPr lang="en-US" dirty="0"/>
              <a:t>Attempt access.</a:t>
            </a:r>
          </a:p>
          <a:p>
            <a:endParaRPr lang="en-US" dirty="0"/>
          </a:p>
          <a:p>
            <a:r>
              <a:rPr lang="en-US" dirty="0"/>
              <a:t>Access denied.</a:t>
            </a:r>
          </a:p>
          <a:p>
            <a:endParaRPr lang="en-US" dirty="0"/>
          </a:p>
          <a:p>
            <a:r>
              <a:rPr lang="en-US" dirty="0"/>
              <a:t>That's evidence.</a:t>
            </a:r>
          </a:p>
          <a:p>
            <a:endParaRPr lang="en-US" dirty="0"/>
          </a:p>
          <a:p>
            <a:r>
              <a:rPr lang="en-US" dirty="0"/>
              <a:t>------------------------------------------------------------</a:t>
            </a:r>
          </a:p>
          <a:p>
            <a:endParaRPr lang="en-US" dirty="0"/>
          </a:p>
          <a:p>
            <a:r>
              <a:rPr lang="en-US" dirty="0"/>
              <a:t>EVIDENCE TYPES</a:t>
            </a:r>
          </a:p>
          <a:p>
            <a:endParaRPr lang="en-US" dirty="0"/>
          </a:p>
          <a:p>
            <a:r>
              <a:rPr lang="en-US" dirty="0"/>
              <a:t>Point to:</a:t>
            </a:r>
          </a:p>
          <a:p>
            <a:endParaRPr lang="en-US" dirty="0"/>
          </a:p>
          <a:p>
            <a:r>
              <a:rPr lang="en-US" dirty="0"/>
              <a:t>TEST CASES.</a:t>
            </a:r>
          </a:p>
          <a:p>
            <a:endParaRPr lang="en-US" dirty="0"/>
          </a:p>
          <a:p>
            <a:r>
              <a:rPr lang="en-US" dirty="0"/>
              <a:t>AUDIT CHECKLIST.</a:t>
            </a:r>
          </a:p>
          <a:p>
            <a:endParaRPr lang="en-US" dirty="0"/>
          </a:p>
          <a:p>
            <a:r>
              <a:rPr lang="en-US" dirty="0"/>
              <a:t>GITHUB REVIEW.</a:t>
            </a:r>
          </a:p>
          <a:p>
            <a:endParaRPr lang="en-US" dirty="0"/>
          </a:p>
          <a:p>
            <a:r>
              <a:rPr lang="en-US" dirty="0"/>
              <a:t>SCREENSHOTS.</a:t>
            </a:r>
          </a:p>
          <a:p>
            <a:endParaRPr lang="en-US" dirty="0"/>
          </a:p>
          <a:p>
            <a:r>
              <a:rPr lang="en-US" dirty="0"/>
              <a:t>REFLECTION REPORT.</a:t>
            </a:r>
          </a:p>
          <a:p>
            <a:endParaRPr lang="en-US" dirty="0"/>
          </a:p>
          <a:p>
            <a:r>
              <a:rPr lang="en-US" dirty="0"/>
              <a:t>Explain:</a:t>
            </a:r>
          </a:p>
          <a:p>
            <a:endParaRPr lang="en-US" dirty="0"/>
          </a:p>
          <a:p>
            <a:r>
              <a:rPr lang="en-US" dirty="0"/>
              <a:t>"Professional engineering decisions should be supported by evidence."</a:t>
            </a:r>
          </a:p>
          <a:p>
            <a:endParaRPr lang="en-US" dirty="0"/>
          </a:p>
          <a:p>
            <a:r>
              <a:rPr lang="en-US" dirty="0"/>
              <a:t>------------------------------------------------------------</a:t>
            </a:r>
          </a:p>
          <a:p>
            <a:endParaRPr lang="en-US" dirty="0"/>
          </a:p>
          <a:p>
            <a:r>
              <a:rPr lang="en-US" dirty="0"/>
              <a:t>REMAINING RISKS</a:t>
            </a:r>
          </a:p>
          <a:p>
            <a:endParaRPr lang="en-US" dirty="0"/>
          </a:p>
          <a:p>
            <a:r>
              <a:rPr lang="en-US" dirty="0"/>
              <a:t>Move to the right panel.</a:t>
            </a:r>
          </a:p>
          <a:p>
            <a:endParaRPr lang="en-US" dirty="0"/>
          </a:p>
          <a:p>
            <a:r>
              <a:rPr lang="en-US" dirty="0"/>
              <a:t>Read:</a:t>
            </a:r>
          </a:p>
          <a:p>
            <a:endParaRPr lang="en-US" dirty="0"/>
          </a:p>
          <a:p>
            <a:r>
              <a:rPr lang="en-US" dirty="0"/>
              <a:t>"No system is perfect."</a:t>
            </a:r>
          </a:p>
          <a:p>
            <a:endParaRPr lang="en-US" dirty="0"/>
          </a:p>
          <a:p>
            <a:r>
              <a:rPr lang="en-US" dirty="0"/>
              <a:t>Say:</a:t>
            </a:r>
          </a:p>
          <a:p>
            <a:endParaRPr lang="en-US" dirty="0"/>
          </a:p>
          <a:p>
            <a:r>
              <a:rPr lang="en-US" dirty="0"/>
              <a:t>"This is important."</a:t>
            </a:r>
          </a:p>
          <a:p>
            <a:endParaRPr lang="en-US" dirty="0"/>
          </a:p>
          <a:p>
            <a:r>
              <a:rPr lang="en-US" dirty="0"/>
              <a:t>"We are not going to pretend Atlas has zero risk."</a:t>
            </a:r>
          </a:p>
          <a:p>
            <a:endParaRPr lang="en-US" dirty="0"/>
          </a:p>
          <a:p>
            <a:r>
              <a:rPr lang="en-US" dirty="0"/>
              <a:t>Ask:</a:t>
            </a:r>
          </a:p>
          <a:p>
            <a:endParaRPr lang="en-US" dirty="0"/>
          </a:p>
          <a:p>
            <a:r>
              <a:rPr lang="en-US" dirty="0"/>
              <a:t>"What risks still exist?"</a:t>
            </a:r>
          </a:p>
          <a:p>
            <a:endParaRPr lang="en-US" dirty="0"/>
          </a:p>
          <a:p>
            <a:r>
              <a:rPr lang="en-US" dirty="0"/>
              <a:t>Possible answers:</a:t>
            </a:r>
          </a:p>
          <a:p>
            <a:endParaRPr lang="en-US" dirty="0"/>
          </a:p>
          <a:p>
            <a:r>
              <a:rPr lang="en-US" dirty="0"/>
              <a:t>Incomplete testing.</a:t>
            </a:r>
          </a:p>
          <a:p>
            <a:endParaRPr lang="en-US" dirty="0"/>
          </a:p>
          <a:p>
            <a:r>
              <a:rPr lang="en-US" dirty="0"/>
              <a:t>Limited monitoring.</a:t>
            </a:r>
          </a:p>
          <a:p>
            <a:endParaRPr lang="en-US" dirty="0"/>
          </a:p>
          <a:p>
            <a:r>
              <a:rPr lang="en-US" dirty="0"/>
              <a:t>Scaling concerns.</a:t>
            </a:r>
          </a:p>
          <a:p>
            <a:endParaRPr lang="en-US" dirty="0"/>
          </a:p>
          <a:p>
            <a:r>
              <a:rPr lang="en-US" dirty="0"/>
              <a:t>Backup limitations.</a:t>
            </a:r>
          </a:p>
          <a:p>
            <a:endParaRPr lang="en-US" dirty="0"/>
          </a:p>
          <a:p>
            <a:r>
              <a:rPr lang="en-US" dirty="0"/>
              <a:t>Advanced security concerns.</a:t>
            </a:r>
          </a:p>
          <a:p>
            <a:endParaRPr lang="en-US" dirty="0"/>
          </a:p>
          <a:p>
            <a:r>
              <a:rPr lang="en-US" dirty="0"/>
              <a:t>Missing features.</a:t>
            </a:r>
          </a:p>
          <a:p>
            <a:endParaRPr lang="en-US" dirty="0"/>
          </a:p>
          <a:p>
            <a:r>
              <a:rPr lang="en-US" dirty="0"/>
              <a:t>Potential edge cases.</a:t>
            </a:r>
          </a:p>
          <a:p>
            <a:endParaRPr lang="en-US" dirty="0"/>
          </a:p>
          <a:p>
            <a:r>
              <a:rPr lang="en-US" dirty="0"/>
              <a:t>Explain:</a:t>
            </a:r>
          </a:p>
          <a:p>
            <a:endParaRPr lang="en-US" dirty="0"/>
          </a:p>
          <a:p>
            <a:r>
              <a:rPr lang="en-US" dirty="0"/>
              <a:t>"Identifying remaining risks demonstrates maturity."</a:t>
            </a:r>
          </a:p>
          <a:p>
            <a:endParaRPr lang="en-US" dirty="0"/>
          </a:p>
          <a:p>
            <a:r>
              <a:rPr lang="en-US" dirty="0"/>
              <a:t>------------------------------------------------------------</a:t>
            </a:r>
          </a:p>
          <a:p>
            <a:endParaRPr lang="en-US" dirty="0"/>
          </a:p>
          <a:p>
            <a:r>
              <a:rPr lang="en-US" dirty="0"/>
              <a:t>THE RISK QUESTION</a:t>
            </a:r>
          </a:p>
          <a:p>
            <a:endParaRPr lang="en-US" dirty="0"/>
          </a:p>
          <a:p>
            <a:r>
              <a:rPr lang="en-US" dirty="0"/>
              <a:t>For every remaining risk, ask:</a:t>
            </a:r>
          </a:p>
          <a:p>
            <a:endParaRPr lang="en-US" dirty="0"/>
          </a:p>
          <a:p>
            <a:r>
              <a:rPr lang="en-US" dirty="0"/>
              <a:t>"What could happen?"</a:t>
            </a:r>
          </a:p>
          <a:p>
            <a:endParaRPr lang="en-US" dirty="0"/>
          </a:p>
          <a:p>
            <a:r>
              <a:rPr lang="en-US" dirty="0"/>
              <a:t>"Who could be affected?"</a:t>
            </a:r>
          </a:p>
          <a:p>
            <a:endParaRPr lang="en-US" dirty="0"/>
          </a:p>
          <a:p>
            <a:r>
              <a:rPr lang="en-US" dirty="0"/>
              <a:t>"How likely is it?"</a:t>
            </a:r>
          </a:p>
          <a:p>
            <a:endParaRPr lang="en-US" dirty="0"/>
          </a:p>
          <a:p>
            <a:r>
              <a:rPr lang="en-US" dirty="0"/>
              <a:t>"How would we reduce the risk?"</a:t>
            </a:r>
          </a:p>
          <a:p>
            <a:endParaRPr lang="en-US" dirty="0"/>
          </a:p>
          <a:p>
            <a:r>
              <a:rPr lang="en-US" dirty="0"/>
              <a:t>This turns a vague concern into an engineering problem.</a:t>
            </a:r>
          </a:p>
          <a:p>
            <a:endParaRPr lang="en-US" dirty="0"/>
          </a:p>
          <a:p>
            <a:r>
              <a:rPr lang="en-US" dirty="0"/>
              <a:t>------------------------------------------------------------</a:t>
            </a:r>
          </a:p>
          <a:p>
            <a:endParaRPr lang="en-US" dirty="0"/>
          </a:p>
          <a:p>
            <a:r>
              <a:rPr lang="en-US" dirty="0"/>
              <a:t>WOULD WE TRUST ATLAS?</a:t>
            </a:r>
          </a:p>
          <a:p>
            <a:endParaRPr lang="en-US" dirty="0"/>
          </a:p>
          <a:p>
            <a:r>
              <a:rPr lang="en-US" dirty="0"/>
              <a:t>Move to the bottom decision panel.</a:t>
            </a:r>
          </a:p>
          <a:p>
            <a:endParaRPr lang="en-US" dirty="0"/>
          </a:p>
          <a:p>
            <a:r>
              <a:rPr lang="en-US" dirty="0"/>
              <a:t>There are three possible outcomes:</a:t>
            </a:r>
          </a:p>
          <a:p>
            <a:endParaRPr lang="en-US" dirty="0"/>
          </a:p>
          <a:p>
            <a:r>
              <a:rPr lang="en-US" dirty="0"/>
              <a:t>YES.</a:t>
            </a:r>
          </a:p>
          <a:p>
            <a:endParaRPr lang="en-US" dirty="0"/>
          </a:p>
          <a:p>
            <a:r>
              <a:rPr lang="en-US" dirty="0"/>
              <a:t>WITH CONDITIONS.</a:t>
            </a:r>
          </a:p>
          <a:p>
            <a:endParaRPr lang="en-US" dirty="0"/>
          </a:p>
          <a:p>
            <a:r>
              <a:rPr lang="en-US" dirty="0"/>
              <a:t>NOT YET.</a:t>
            </a:r>
          </a:p>
          <a:p>
            <a:endParaRPr lang="en-US" dirty="0"/>
          </a:p>
          <a:p>
            <a:r>
              <a:rPr lang="en-US" dirty="0"/>
              <a:t>Explain each.</a:t>
            </a:r>
          </a:p>
          <a:p>
            <a:endParaRPr lang="en-US" dirty="0"/>
          </a:p>
          <a:p>
            <a:r>
              <a:rPr lang="en-US" dirty="0"/>
              <a:t>------------------------------------------------------------</a:t>
            </a:r>
          </a:p>
          <a:p>
            <a:endParaRPr lang="en-US" dirty="0"/>
          </a:p>
          <a:p>
            <a:r>
              <a:rPr lang="en-US" dirty="0"/>
              <a:t>YES</a:t>
            </a:r>
          </a:p>
          <a:p>
            <a:endParaRPr lang="en-US" dirty="0"/>
          </a:p>
          <a:p>
            <a:r>
              <a:rPr lang="en-US" dirty="0"/>
              <a:t>"Atlas meets our objectives and is ready for real users."</a:t>
            </a:r>
          </a:p>
          <a:p>
            <a:endParaRPr lang="en-US" dirty="0"/>
          </a:p>
          <a:p>
            <a:r>
              <a:rPr lang="en-US" dirty="0"/>
              <a:t>This means:</a:t>
            </a:r>
          </a:p>
          <a:p>
            <a:endParaRPr lang="en-US" dirty="0"/>
          </a:p>
          <a:p>
            <a:r>
              <a:rPr lang="en-US" dirty="0"/>
              <a:t>Major security requirements are met.</a:t>
            </a:r>
          </a:p>
          <a:p>
            <a:endParaRPr lang="en-US" dirty="0"/>
          </a:p>
          <a:p>
            <a:r>
              <a:rPr lang="en-US" dirty="0"/>
              <a:t>Testing provides reasonable confidence.</a:t>
            </a:r>
          </a:p>
          <a:p>
            <a:endParaRPr lang="en-US" dirty="0"/>
          </a:p>
          <a:p>
            <a:r>
              <a:rPr lang="en-US" dirty="0"/>
              <a:t>Remaining risks are acceptable for the current scope.</a:t>
            </a:r>
          </a:p>
          <a:p>
            <a:endParaRPr lang="en-US" dirty="0"/>
          </a:p>
          <a:p>
            <a:r>
              <a:rPr lang="en-US" dirty="0"/>
              <a:t>------------------------------------------------------------</a:t>
            </a:r>
          </a:p>
          <a:p>
            <a:endParaRPr lang="en-US" dirty="0"/>
          </a:p>
          <a:p>
            <a:r>
              <a:rPr lang="en-US" dirty="0"/>
              <a:t>WITH CONDITIONS</a:t>
            </a:r>
          </a:p>
          <a:p>
            <a:endParaRPr lang="en-US" dirty="0"/>
          </a:p>
          <a:p>
            <a:r>
              <a:rPr lang="en-US" dirty="0"/>
              <a:t>"Atlas is close, but we must address known risks first."</a:t>
            </a:r>
          </a:p>
          <a:p>
            <a:endParaRPr lang="en-US" dirty="0"/>
          </a:p>
          <a:p>
            <a:r>
              <a:rPr lang="en-US" dirty="0"/>
              <a:t>Explain:</a:t>
            </a:r>
          </a:p>
          <a:p>
            <a:endParaRPr lang="en-US" dirty="0"/>
          </a:p>
          <a:p>
            <a:r>
              <a:rPr lang="en-US" dirty="0"/>
              <a:t>"This is probably the most realistic result for a Version 1 product."</a:t>
            </a:r>
          </a:p>
          <a:p>
            <a:endParaRPr lang="en-US" dirty="0"/>
          </a:p>
          <a:p>
            <a:r>
              <a:rPr lang="en-US" dirty="0"/>
              <a:t>Some things may still need improvement.</a:t>
            </a:r>
          </a:p>
          <a:p>
            <a:endParaRPr lang="en-US" dirty="0"/>
          </a:p>
          <a:p>
            <a:r>
              <a:rPr lang="en-US" dirty="0"/>
              <a:t>------------------------------------------------------------</a:t>
            </a:r>
          </a:p>
          <a:p>
            <a:endParaRPr lang="en-US" dirty="0"/>
          </a:p>
          <a:p>
            <a:r>
              <a:rPr lang="en-US" dirty="0"/>
              <a:t>NOT YET</a:t>
            </a:r>
          </a:p>
          <a:p>
            <a:endParaRPr lang="en-US" dirty="0"/>
          </a:p>
          <a:p>
            <a:r>
              <a:rPr lang="en-US" dirty="0"/>
              <a:t>"Atlas needs more work before real users should rely on it."</a:t>
            </a:r>
          </a:p>
          <a:p>
            <a:endParaRPr lang="en-US" dirty="0"/>
          </a:p>
          <a:p>
            <a:r>
              <a:rPr lang="en-US" dirty="0"/>
              <a:t>Explain:</a:t>
            </a:r>
          </a:p>
          <a:p>
            <a:endParaRPr lang="en-US" dirty="0"/>
          </a:p>
          <a:p>
            <a:r>
              <a:rPr lang="en-US" dirty="0"/>
              <a:t>"If serious risks remain..."</a:t>
            </a:r>
          </a:p>
          <a:p>
            <a:endParaRPr lang="en-US" dirty="0"/>
          </a:p>
          <a:p>
            <a:r>
              <a:rPr lang="en-US" dirty="0"/>
              <a:t>"We don't pretend they're gone."</a:t>
            </a:r>
          </a:p>
          <a:p>
            <a:endParaRPr lang="en-US" dirty="0"/>
          </a:p>
          <a:p>
            <a:r>
              <a:rPr lang="en-US" dirty="0"/>
              <a:t>"We fix them."</a:t>
            </a:r>
          </a:p>
          <a:p>
            <a:endParaRPr lang="en-US" dirty="0"/>
          </a:p>
          <a:p>
            <a:r>
              <a:rPr lang="en-US" dirty="0"/>
              <a:t>------------------------------------------------------------</a:t>
            </a:r>
          </a:p>
          <a:p>
            <a:endParaRPr lang="en-US" dirty="0"/>
          </a:p>
          <a:p>
            <a:r>
              <a:rPr lang="en-US" dirty="0"/>
              <a:t>THE DECISION</a:t>
            </a:r>
          </a:p>
          <a:p>
            <a:endParaRPr lang="en-US" dirty="0"/>
          </a:p>
          <a:p>
            <a:r>
              <a:rPr lang="en-US" dirty="0"/>
              <a:t>Ask students:</a:t>
            </a:r>
          </a:p>
          <a:p>
            <a:endParaRPr lang="en-US" dirty="0"/>
          </a:p>
          <a:p>
            <a:r>
              <a:rPr lang="en-US" dirty="0"/>
              <a:t>"Which one would you choose for Atlas?"</a:t>
            </a:r>
          </a:p>
          <a:p>
            <a:endParaRPr lang="en-US" dirty="0"/>
          </a:p>
          <a:p>
            <a:r>
              <a:rPr lang="en-US" dirty="0"/>
              <a:t>Then:</a:t>
            </a:r>
          </a:p>
          <a:p>
            <a:endParaRPr lang="en-US" dirty="0"/>
          </a:p>
          <a:p>
            <a:r>
              <a:rPr lang="en-US" dirty="0"/>
              <a:t>"Why?"</a:t>
            </a:r>
          </a:p>
          <a:p>
            <a:endParaRPr lang="en-US" dirty="0"/>
          </a:p>
          <a:p>
            <a:r>
              <a:rPr lang="en-US" dirty="0"/>
              <a:t>Require evidence.</a:t>
            </a:r>
          </a:p>
          <a:p>
            <a:endParaRPr lang="en-US" dirty="0"/>
          </a:p>
          <a:p>
            <a:r>
              <a:rPr lang="en-US" dirty="0"/>
              <a:t>Don't accept:</a:t>
            </a:r>
          </a:p>
          <a:p>
            <a:endParaRPr lang="en-US" dirty="0"/>
          </a:p>
          <a:p>
            <a:r>
              <a:rPr lang="en-US" dirty="0"/>
              <a:t>"Because I think it's ready."</a:t>
            </a:r>
          </a:p>
          <a:p>
            <a:endParaRPr lang="en-US" dirty="0"/>
          </a:p>
          <a:p>
            <a:r>
              <a:rPr lang="en-US" dirty="0"/>
              <a:t>Ask:</a:t>
            </a:r>
          </a:p>
          <a:p>
            <a:endParaRPr lang="en-US" dirty="0"/>
          </a:p>
          <a:p>
            <a:r>
              <a:rPr lang="en-US" dirty="0"/>
              <a:t>"What evidence supports that decision?"</a:t>
            </a:r>
          </a:p>
          <a:p>
            <a:endParaRPr lang="en-US" dirty="0"/>
          </a:p>
          <a:p>
            <a:r>
              <a:rPr lang="en-US" dirty="0"/>
              <a:t>------------------------------------------------------------</a:t>
            </a:r>
          </a:p>
          <a:p>
            <a:endParaRPr lang="en-US" dirty="0"/>
          </a:p>
          <a:p>
            <a:r>
              <a:rPr lang="en-US" dirty="0"/>
              <a:t>JUSTIFY YOUR ANSWER</a:t>
            </a:r>
          </a:p>
          <a:p>
            <a:endParaRPr lang="en-US" dirty="0"/>
          </a:p>
          <a:p>
            <a:r>
              <a:rPr lang="en-US" dirty="0"/>
              <a:t>Point to:</a:t>
            </a:r>
          </a:p>
          <a:p>
            <a:endParaRPr lang="en-US" dirty="0"/>
          </a:p>
          <a:p>
            <a:r>
              <a:rPr lang="en-US" dirty="0"/>
              <a:t>"What gives you confidence?"</a:t>
            </a:r>
          </a:p>
          <a:p>
            <a:endParaRPr lang="en-US" dirty="0"/>
          </a:p>
          <a:p>
            <a:r>
              <a:rPr lang="en-US" dirty="0"/>
              <a:t>"What concerns remain?"</a:t>
            </a:r>
          </a:p>
          <a:p>
            <a:endParaRPr lang="en-US" dirty="0"/>
          </a:p>
          <a:p>
            <a:r>
              <a:rPr lang="en-US" dirty="0"/>
              <a:t>"What would you improve next?"</a:t>
            </a:r>
          </a:p>
          <a:p>
            <a:endParaRPr lang="en-US" dirty="0"/>
          </a:p>
          <a:p>
            <a:r>
              <a:rPr lang="en-US" dirty="0"/>
              <a:t>Give students time to answer.</a:t>
            </a:r>
          </a:p>
          <a:p>
            <a:endParaRPr lang="en-US" dirty="0"/>
          </a:p>
          <a:p>
            <a:r>
              <a:rPr lang="en-US" dirty="0"/>
              <a:t>This is the most important reflection portion.</a:t>
            </a:r>
          </a:p>
          <a:p>
            <a:endParaRPr lang="en-US" dirty="0"/>
          </a:p>
          <a:p>
            <a:r>
              <a:rPr lang="en-US" dirty="0"/>
              <a:t>------------------------------------------------------------</a:t>
            </a:r>
          </a:p>
          <a:p>
            <a:endParaRPr lang="en-US" dirty="0"/>
          </a:p>
          <a:p>
            <a:r>
              <a:rPr lang="en-US" dirty="0"/>
              <a:t>SPRINT 6 REFLECTION</a:t>
            </a:r>
          </a:p>
          <a:p>
            <a:endParaRPr lang="en-US" dirty="0"/>
          </a:p>
          <a:p>
            <a:r>
              <a:rPr lang="en-US" dirty="0"/>
              <a:t>Move to the reflection questions.</a:t>
            </a:r>
          </a:p>
          <a:p>
            <a:endParaRPr lang="en-US" dirty="0"/>
          </a:p>
          <a:p>
            <a:r>
              <a:rPr lang="en-US" dirty="0"/>
              <a:t>1.</a:t>
            </a:r>
          </a:p>
          <a:p>
            <a:endParaRPr lang="en-US" dirty="0"/>
          </a:p>
          <a:p>
            <a:r>
              <a:rPr lang="en-US" dirty="0"/>
              <a:t>"What are we most proud of in Sprint 6?"</a:t>
            </a:r>
          </a:p>
          <a:p>
            <a:endParaRPr lang="en-US" dirty="0"/>
          </a:p>
          <a:p>
            <a:r>
              <a:rPr lang="en-US" dirty="0"/>
              <a:t>Encourage students to identify a real accomplishment.</a:t>
            </a:r>
          </a:p>
          <a:p>
            <a:endParaRPr lang="en-US" dirty="0"/>
          </a:p>
          <a:p>
            <a:r>
              <a:rPr lang="en-US" dirty="0"/>
              <a:t>------------------------------------------------------------</a:t>
            </a:r>
          </a:p>
          <a:p>
            <a:endParaRPr lang="en-US" dirty="0"/>
          </a:p>
          <a:p>
            <a:r>
              <a:rPr lang="en-US" dirty="0"/>
              <a:t>QUESTION 2</a:t>
            </a:r>
          </a:p>
          <a:p>
            <a:endParaRPr lang="en-US" dirty="0"/>
          </a:p>
          <a:p>
            <a:r>
              <a:rPr lang="en-US" dirty="0"/>
              <a:t>"What was the biggest security challenge we faced?"</a:t>
            </a:r>
          </a:p>
          <a:p>
            <a:endParaRPr lang="en-US" dirty="0"/>
          </a:p>
          <a:p>
            <a:r>
              <a:rPr lang="en-US" dirty="0"/>
              <a:t>Possible answers:</a:t>
            </a:r>
          </a:p>
          <a:p>
            <a:endParaRPr lang="en-US" dirty="0"/>
          </a:p>
          <a:p>
            <a:r>
              <a:rPr lang="en-US" dirty="0"/>
              <a:t>Authentication.</a:t>
            </a:r>
          </a:p>
          <a:p>
            <a:endParaRPr lang="en-US" dirty="0"/>
          </a:p>
          <a:p>
            <a:r>
              <a:rPr lang="en-US" dirty="0"/>
              <a:t>Authorization.</a:t>
            </a:r>
          </a:p>
          <a:p>
            <a:endParaRPr lang="en-US" dirty="0"/>
          </a:p>
          <a:p>
            <a:r>
              <a:rPr lang="en-US" dirty="0"/>
              <a:t>Ownership.</a:t>
            </a:r>
          </a:p>
          <a:p>
            <a:endParaRPr lang="en-US" dirty="0"/>
          </a:p>
          <a:p>
            <a:r>
              <a:rPr lang="en-US" dirty="0"/>
              <a:t>Configuration.</a:t>
            </a:r>
          </a:p>
          <a:p>
            <a:endParaRPr lang="en-US" dirty="0"/>
          </a:p>
          <a:p>
            <a:r>
              <a:rPr lang="en-US" dirty="0"/>
              <a:t>Debugging.</a:t>
            </a:r>
          </a:p>
          <a:p>
            <a:endParaRPr lang="en-US" dirty="0"/>
          </a:p>
          <a:p>
            <a:r>
              <a:rPr lang="en-US" dirty="0"/>
              <a:t>Understanding security concepts.</a:t>
            </a:r>
          </a:p>
          <a:p>
            <a:endParaRPr lang="en-US" dirty="0"/>
          </a:p>
          <a:p>
            <a:r>
              <a:rPr lang="en-US" dirty="0"/>
              <a:t>------------------------------------------------------------</a:t>
            </a:r>
          </a:p>
          <a:p>
            <a:endParaRPr lang="en-US" dirty="0"/>
          </a:p>
          <a:p>
            <a:r>
              <a:rPr lang="en-US" dirty="0"/>
              <a:t>QUESTION 3</a:t>
            </a:r>
          </a:p>
          <a:p>
            <a:endParaRPr lang="en-US" dirty="0"/>
          </a:p>
          <a:p>
            <a:r>
              <a:rPr lang="en-US" dirty="0"/>
              <a:t>"What vulnerabilities were most surprising?"</a:t>
            </a:r>
          </a:p>
          <a:p>
            <a:endParaRPr lang="en-US" dirty="0"/>
          </a:p>
          <a:p>
            <a:r>
              <a:rPr lang="en-US" dirty="0"/>
              <a:t>This is an important question.</a:t>
            </a:r>
          </a:p>
          <a:p>
            <a:endParaRPr lang="en-US" dirty="0"/>
          </a:p>
          <a:p>
            <a:r>
              <a:rPr lang="en-US" dirty="0"/>
              <a:t>Students may realize:</a:t>
            </a:r>
          </a:p>
          <a:p>
            <a:endParaRPr lang="en-US" dirty="0"/>
          </a:p>
          <a:p>
            <a:r>
              <a:rPr lang="en-US" dirty="0"/>
              <a:t>"Hiding the button wasn't enough."</a:t>
            </a:r>
          </a:p>
          <a:p>
            <a:endParaRPr lang="en-US" dirty="0"/>
          </a:p>
          <a:p>
            <a:r>
              <a:rPr lang="en-US" dirty="0"/>
              <a:t>"Users could access URLs directly."</a:t>
            </a:r>
          </a:p>
          <a:p>
            <a:endParaRPr lang="en-US" dirty="0"/>
          </a:p>
          <a:p>
            <a:r>
              <a:rPr lang="en-US" dirty="0"/>
              <a:t>"Ownership wasn't enforced."</a:t>
            </a:r>
          </a:p>
          <a:p>
            <a:endParaRPr lang="en-US" dirty="0"/>
          </a:p>
          <a:p>
            <a:r>
              <a:rPr lang="en-US" dirty="0"/>
              <a:t>"Secrets were exposed."</a:t>
            </a:r>
          </a:p>
          <a:p>
            <a:endParaRPr lang="en-US" dirty="0"/>
          </a:p>
          <a:p>
            <a:r>
              <a:rPr lang="en-US" dirty="0"/>
              <a:t>------------------------------------------------------------</a:t>
            </a:r>
          </a:p>
          <a:p>
            <a:endParaRPr lang="en-US" dirty="0"/>
          </a:p>
          <a:p>
            <a:r>
              <a:rPr lang="en-US" dirty="0"/>
              <a:t>QUESTION 4</a:t>
            </a:r>
          </a:p>
          <a:p>
            <a:endParaRPr lang="en-US" dirty="0"/>
          </a:p>
          <a:p>
            <a:r>
              <a:rPr lang="en-US" dirty="0"/>
              <a:t>"What would a real attacker target first?"</a:t>
            </a:r>
          </a:p>
          <a:p>
            <a:endParaRPr lang="en-US" dirty="0"/>
          </a:p>
          <a:p>
            <a:r>
              <a:rPr lang="en-US" dirty="0"/>
              <a:t>Ask:</a:t>
            </a:r>
          </a:p>
          <a:p>
            <a:endParaRPr lang="en-US" dirty="0"/>
          </a:p>
          <a:p>
            <a:r>
              <a:rPr lang="en-US" dirty="0"/>
              <a:t>"Why?"</a:t>
            </a:r>
          </a:p>
          <a:p>
            <a:endParaRPr lang="en-US" dirty="0"/>
          </a:p>
          <a:p>
            <a:r>
              <a:rPr lang="en-US" dirty="0"/>
              <a:t>Students should begin thinking about:</a:t>
            </a:r>
          </a:p>
          <a:p>
            <a:endParaRPr lang="en-US" dirty="0"/>
          </a:p>
          <a:p>
            <a:r>
              <a:rPr lang="en-US" dirty="0"/>
              <a:t>Accounts.</a:t>
            </a:r>
          </a:p>
          <a:p>
            <a:endParaRPr lang="en-US" dirty="0"/>
          </a:p>
          <a:p>
            <a:r>
              <a:rPr lang="en-US" dirty="0"/>
              <a:t>Passwords.</a:t>
            </a:r>
          </a:p>
          <a:p>
            <a:endParaRPr lang="en-US" dirty="0"/>
          </a:p>
          <a:p>
            <a:r>
              <a:rPr lang="en-US" dirty="0"/>
              <a:t>Administrative access.</a:t>
            </a:r>
          </a:p>
          <a:p>
            <a:endParaRPr lang="en-US" dirty="0"/>
          </a:p>
          <a:p>
            <a:r>
              <a:rPr lang="en-US" dirty="0"/>
              <a:t>Sensitive data.</a:t>
            </a:r>
          </a:p>
          <a:p>
            <a:endParaRPr lang="en-US" dirty="0"/>
          </a:p>
          <a:p>
            <a:r>
              <a:rPr lang="en-US" dirty="0"/>
              <a:t>Weak authorization.</a:t>
            </a:r>
          </a:p>
          <a:p>
            <a:endParaRPr lang="en-US" dirty="0"/>
          </a:p>
          <a:p>
            <a:r>
              <a:rPr lang="en-US" dirty="0"/>
              <a:t>Exposed secrets.</a:t>
            </a:r>
          </a:p>
          <a:p>
            <a:endParaRPr lang="en-US" dirty="0"/>
          </a:p>
          <a:p>
            <a:r>
              <a:rPr lang="en-US" dirty="0"/>
              <a:t>------------------------------------------------------------</a:t>
            </a:r>
          </a:p>
          <a:p>
            <a:endParaRPr lang="en-US" dirty="0"/>
          </a:p>
          <a:p>
            <a:r>
              <a:rPr lang="en-US" dirty="0"/>
              <a:t>QUESTION 5</a:t>
            </a:r>
          </a:p>
          <a:p>
            <a:endParaRPr lang="en-US" dirty="0"/>
          </a:p>
          <a:p>
            <a:r>
              <a:rPr lang="en-US" dirty="0"/>
              <a:t>"What risks still exist?"</a:t>
            </a:r>
          </a:p>
          <a:p>
            <a:endParaRPr lang="en-US" dirty="0"/>
          </a:p>
          <a:p>
            <a:r>
              <a:rPr lang="en-US" dirty="0"/>
              <a:t>Tell students:</a:t>
            </a:r>
          </a:p>
          <a:p>
            <a:endParaRPr lang="en-US" dirty="0"/>
          </a:p>
          <a:p>
            <a:r>
              <a:rPr lang="en-US" dirty="0"/>
              <a:t>"Be honest."</a:t>
            </a:r>
          </a:p>
          <a:p>
            <a:endParaRPr lang="en-US" dirty="0"/>
          </a:p>
          <a:p>
            <a:r>
              <a:rPr lang="en-US" dirty="0"/>
              <a:t>"Every system has risk."</a:t>
            </a:r>
          </a:p>
          <a:p>
            <a:endParaRPr lang="en-US" dirty="0"/>
          </a:p>
          <a:p>
            <a:r>
              <a:rPr lang="en-US" dirty="0"/>
              <a:t>------------------------------------------------------------</a:t>
            </a:r>
          </a:p>
          <a:p>
            <a:endParaRPr lang="en-US" dirty="0"/>
          </a:p>
          <a:p>
            <a:r>
              <a:rPr lang="en-US" dirty="0"/>
              <a:t>QUESTION 6</a:t>
            </a:r>
          </a:p>
          <a:p>
            <a:endParaRPr lang="en-US" dirty="0"/>
          </a:p>
          <a:p>
            <a:r>
              <a:rPr lang="en-US" dirty="0"/>
              <a:t>"How can we keep improving?"</a:t>
            </a:r>
          </a:p>
          <a:p>
            <a:endParaRPr lang="en-US" dirty="0"/>
          </a:p>
          <a:p>
            <a:r>
              <a:rPr lang="en-US" dirty="0"/>
              <a:t>Possible answers:</a:t>
            </a:r>
          </a:p>
          <a:p>
            <a:endParaRPr lang="en-US" dirty="0"/>
          </a:p>
          <a:p>
            <a:r>
              <a:rPr lang="en-US" dirty="0"/>
              <a:t>More testing.</a:t>
            </a:r>
          </a:p>
          <a:p>
            <a:endParaRPr lang="en-US" dirty="0"/>
          </a:p>
          <a:p>
            <a:r>
              <a:rPr lang="en-US" dirty="0"/>
              <a:t>Better monitoring.</a:t>
            </a:r>
          </a:p>
          <a:p>
            <a:endParaRPr lang="en-US" dirty="0"/>
          </a:p>
          <a:p>
            <a:r>
              <a:rPr lang="en-US" dirty="0"/>
              <a:t>Stronger authentication.</a:t>
            </a:r>
          </a:p>
          <a:p>
            <a:endParaRPr lang="en-US" dirty="0"/>
          </a:p>
          <a:p>
            <a:r>
              <a:rPr lang="en-US" dirty="0"/>
              <a:t>Improved authorization.</a:t>
            </a:r>
          </a:p>
          <a:p>
            <a:endParaRPr lang="en-US" dirty="0"/>
          </a:p>
          <a:p>
            <a:r>
              <a:rPr lang="en-US" dirty="0"/>
              <a:t>Better documentation.</a:t>
            </a:r>
          </a:p>
          <a:p>
            <a:endParaRPr lang="en-US" dirty="0"/>
          </a:p>
          <a:p>
            <a:r>
              <a:rPr lang="en-US" dirty="0"/>
              <a:t>More backups.</a:t>
            </a:r>
          </a:p>
          <a:p>
            <a:endParaRPr lang="en-US" dirty="0"/>
          </a:p>
          <a:p>
            <a:r>
              <a:rPr lang="en-US" dirty="0"/>
              <a:t>More security reviews.</a:t>
            </a:r>
          </a:p>
          <a:p>
            <a:endParaRPr lang="en-US" dirty="0"/>
          </a:p>
          <a:p>
            <a:r>
              <a:rPr lang="en-US" dirty="0"/>
              <a:t>Regular updates.</a:t>
            </a:r>
          </a:p>
          <a:p>
            <a:endParaRPr lang="en-US" dirty="0"/>
          </a:p>
          <a:p>
            <a:r>
              <a:rPr lang="en-US" dirty="0"/>
              <a:t>------------------------------------------------------------</a:t>
            </a:r>
          </a:p>
          <a:p>
            <a:endParaRPr lang="en-US" dirty="0"/>
          </a:p>
          <a:p>
            <a:r>
              <a:rPr lang="en-US" dirty="0"/>
              <a:t>THE COMMITMENT</a:t>
            </a:r>
          </a:p>
          <a:p>
            <a:endParaRPr lang="en-US" dirty="0"/>
          </a:p>
          <a:p>
            <a:r>
              <a:rPr lang="en-US" dirty="0"/>
              <a:t>Point to:</a:t>
            </a:r>
          </a:p>
          <a:p>
            <a:endParaRPr lang="en-US" dirty="0"/>
          </a:p>
          <a:p>
            <a:r>
              <a:rPr lang="en-US" dirty="0"/>
              <a:t>"We commit to building software that earns and keeps user trust."</a:t>
            </a:r>
          </a:p>
          <a:p>
            <a:endParaRPr lang="en-US" dirty="0"/>
          </a:p>
          <a:p>
            <a:r>
              <a:rPr lang="en-US" dirty="0"/>
              <a:t>Read it.</a:t>
            </a:r>
          </a:p>
          <a:p>
            <a:endParaRPr lang="en-US" dirty="0"/>
          </a:p>
          <a:p>
            <a:r>
              <a:rPr lang="en-US" dirty="0"/>
              <a:t>Then:</a:t>
            </a:r>
          </a:p>
          <a:p>
            <a:endParaRPr lang="en-US" dirty="0"/>
          </a:p>
          <a:p>
            <a:r>
              <a:rPr lang="en-US" dirty="0"/>
              <a:t>"Security isn't one sprint."</a:t>
            </a:r>
          </a:p>
          <a:p>
            <a:endParaRPr lang="en-US" dirty="0"/>
          </a:p>
          <a:p>
            <a:r>
              <a:rPr lang="en-US" dirty="0"/>
              <a:t>"It's how we build."</a:t>
            </a:r>
          </a:p>
          <a:p>
            <a:endParaRPr lang="en-US" dirty="0"/>
          </a:p>
          <a:p>
            <a:r>
              <a:rPr lang="en-US" dirty="0"/>
              <a:t>------------------------------------------------------------</a:t>
            </a:r>
          </a:p>
          <a:p>
            <a:endParaRPr lang="en-US" dirty="0"/>
          </a:p>
          <a:p>
            <a:r>
              <a:rPr lang="en-US" dirty="0"/>
              <a:t>SECURITY IS CONTINUOUS</a:t>
            </a:r>
          </a:p>
          <a:p>
            <a:endParaRPr lang="en-US" dirty="0"/>
          </a:p>
          <a:p>
            <a:r>
              <a:rPr lang="en-US" dirty="0"/>
              <a:t>Say:</a:t>
            </a:r>
          </a:p>
          <a:p>
            <a:endParaRPr lang="en-US" dirty="0"/>
          </a:p>
          <a:p>
            <a:r>
              <a:rPr lang="en-US" dirty="0"/>
              <a:t>"Today's secure application can become tomorrow's vulnerable</a:t>
            </a:r>
          </a:p>
          <a:p>
            <a:r>
              <a:rPr lang="en-US" dirty="0"/>
              <a:t>application."</a:t>
            </a:r>
          </a:p>
          <a:p>
            <a:endParaRPr lang="en-US" dirty="0"/>
          </a:p>
          <a:p>
            <a:r>
              <a:rPr lang="en-US" dirty="0"/>
              <a:t>Why?</a:t>
            </a:r>
          </a:p>
          <a:p>
            <a:endParaRPr lang="en-US" dirty="0"/>
          </a:p>
          <a:p>
            <a:r>
              <a:rPr lang="en-US" dirty="0"/>
              <a:t>New vulnerabilities.</a:t>
            </a:r>
          </a:p>
          <a:p>
            <a:endParaRPr lang="en-US" dirty="0"/>
          </a:p>
          <a:p>
            <a:r>
              <a:rPr lang="en-US" dirty="0"/>
              <a:t>New dependencies.</a:t>
            </a:r>
          </a:p>
          <a:p>
            <a:endParaRPr lang="en-US" dirty="0"/>
          </a:p>
          <a:p>
            <a:r>
              <a:rPr lang="en-US" dirty="0"/>
              <a:t>New users.</a:t>
            </a:r>
          </a:p>
          <a:p>
            <a:endParaRPr lang="en-US" dirty="0"/>
          </a:p>
          <a:p>
            <a:r>
              <a:rPr lang="en-US" dirty="0"/>
              <a:t>New features.</a:t>
            </a:r>
          </a:p>
          <a:p>
            <a:endParaRPr lang="en-US" dirty="0"/>
          </a:p>
          <a:p>
            <a:r>
              <a:rPr lang="en-US" dirty="0"/>
              <a:t>New threats.</a:t>
            </a:r>
          </a:p>
          <a:p>
            <a:endParaRPr lang="en-US" dirty="0"/>
          </a:p>
          <a:p>
            <a:r>
              <a:rPr lang="en-US" dirty="0"/>
              <a:t>Changing requirements.</a:t>
            </a:r>
          </a:p>
          <a:p>
            <a:endParaRPr lang="en-US" dirty="0"/>
          </a:p>
          <a:p>
            <a:r>
              <a:rPr lang="en-US" dirty="0"/>
              <a:t>Therefore:</a:t>
            </a:r>
          </a:p>
          <a:p>
            <a:endParaRPr lang="en-US" dirty="0"/>
          </a:p>
          <a:p>
            <a:r>
              <a:rPr lang="en-US" dirty="0"/>
              <a:t>"Security continues after Sprint 6."</a:t>
            </a:r>
          </a:p>
          <a:p>
            <a:endParaRPr lang="en-US" dirty="0"/>
          </a:p>
          <a:p>
            <a:r>
              <a:rPr lang="en-US" dirty="0"/>
              <a:t>------------------------------------------------------------</a:t>
            </a:r>
          </a:p>
          <a:p>
            <a:endParaRPr lang="en-US" dirty="0"/>
          </a:p>
          <a:p>
            <a:r>
              <a:rPr lang="en-US" dirty="0"/>
              <a:t>THE BIGGER ENGINEERING LESSON</a:t>
            </a:r>
          </a:p>
          <a:p>
            <a:endParaRPr lang="en-US" dirty="0"/>
          </a:p>
          <a:p>
            <a:r>
              <a:rPr lang="en-US" dirty="0"/>
              <a:t>Point to the quote:</a:t>
            </a:r>
          </a:p>
          <a:p>
            <a:endParaRPr lang="en-US" dirty="0"/>
          </a:p>
          <a:p>
            <a:r>
              <a:rPr lang="en-US" dirty="0"/>
              <a:t>"Trust is not given."</a:t>
            </a:r>
          </a:p>
          <a:p>
            <a:endParaRPr lang="en-US" dirty="0"/>
          </a:p>
          <a:p>
            <a:r>
              <a:rPr lang="en-US" dirty="0"/>
              <a:t>"Trust is earned."</a:t>
            </a:r>
          </a:p>
          <a:p>
            <a:endParaRPr lang="en-US" dirty="0"/>
          </a:p>
          <a:p>
            <a:r>
              <a:rPr lang="en-US" dirty="0"/>
              <a:t>Explain:</a:t>
            </a:r>
          </a:p>
          <a:p>
            <a:endParaRPr lang="en-US" dirty="0"/>
          </a:p>
          <a:p>
            <a:r>
              <a:rPr lang="en-US" dirty="0"/>
              <a:t>"Every design decision contributes."</a:t>
            </a:r>
          </a:p>
          <a:p>
            <a:endParaRPr lang="en-US" dirty="0"/>
          </a:p>
          <a:p>
            <a:r>
              <a:rPr lang="en-US" dirty="0"/>
              <a:t>"Every feature contributes."</a:t>
            </a:r>
          </a:p>
          <a:p>
            <a:endParaRPr lang="en-US" dirty="0"/>
          </a:p>
          <a:p>
            <a:r>
              <a:rPr lang="en-US" dirty="0"/>
              <a:t>"Every deployment contributes."</a:t>
            </a:r>
          </a:p>
          <a:p>
            <a:endParaRPr lang="en-US" dirty="0"/>
          </a:p>
          <a:p>
            <a:r>
              <a:rPr lang="en-US" dirty="0"/>
              <a:t>"Every response to a problem contributes."</a:t>
            </a:r>
          </a:p>
          <a:p>
            <a:endParaRPr lang="en-US" dirty="0"/>
          </a:p>
          <a:p>
            <a:r>
              <a:rPr lang="en-US" dirty="0"/>
              <a:t>------------------------------------------------------------</a:t>
            </a:r>
          </a:p>
          <a:p>
            <a:endParaRPr lang="en-US" dirty="0"/>
          </a:p>
          <a:p>
            <a:r>
              <a:rPr lang="en-US" dirty="0"/>
              <a:t>SPRINT 6 TRANSFORMATION</a:t>
            </a:r>
          </a:p>
          <a:p>
            <a:endParaRPr lang="en-US" dirty="0"/>
          </a:p>
          <a:p>
            <a:r>
              <a:rPr lang="en-US" dirty="0"/>
              <a:t>Show:</a:t>
            </a:r>
          </a:p>
          <a:p>
            <a:endParaRPr lang="en-US" dirty="0"/>
          </a:p>
          <a:p>
            <a:r>
              <a:rPr lang="en-US" dirty="0"/>
              <a:t>START:</a:t>
            </a:r>
          </a:p>
          <a:p>
            <a:endParaRPr lang="en-US" dirty="0"/>
          </a:p>
          <a:p>
            <a:r>
              <a:rPr lang="en-US" dirty="0"/>
              <a:t>Atlas remembers.</a:t>
            </a:r>
          </a:p>
          <a:p>
            <a:endParaRPr lang="en-US" dirty="0"/>
          </a:p>
          <a:p>
            <a:r>
              <a:rPr lang="en-US" dirty="0"/>
              <a:t>QUESTION:</a:t>
            </a:r>
          </a:p>
          <a:p>
            <a:endParaRPr lang="en-US" dirty="0"/>
          </a:p>
          <a:p>
            <a:r>
              <a:rPr lang="en-US" dirty="0"/>
              <a:t>How do we protect it?</a:t>
            </a:r>
          </a:p>
          <a:p>
            <a:endParaRPr lang="en-US" dirty="0"/>
          </a:p>
          <a:p>
            <a:r>
              <a:rPr lang="en-US" dirty="0"/>
              <a:t>PROCESS:</a:t>
            </a:r>
          </a:p>
          <a:p>
            <a:endParaRPr lang="en-US" dirty="0"/>
          </a:p>
          <a:p>
            <a:r>
              <a:rPr lang="en-US" dirty="0"/>
              <a:t>Authenticate.</a:t>
            </a:r>
          </a:p>
          <a:p>
            <a:endParaRPr lang="en-US" dirty="0"/>
          </a:p>
          <a:p>
            <a:r>
              <a:rPr lang="en-US" dirty="0"/>
              <a:t>Authorize.</a:t>
            </a:r>
          </a:p>
          <a:p>
            <a:endParaRPr lang="en-US" dirty="0"/>
          </a:p>
          <a:p>
            <a:r>
              <a:rPr lang="en-US" dirty="0"/>
              <a:t>Protect.</a:t>
            </a:r>
          </a:p>
          <a:p>
            <a:endParaRPr lang="en-US" dirty="0"/>
          </a:p>
          <a:p>
            <a:r>
              <a:rPr lang="en-US" dirty="0"/>
              <a:t>Test.</a:t>
            </a:r>
          </a:p>
          <a:p>
            <a:endParaRPr lang="en-US" dirty="0"/>
          </a:p>
          <a:p>
            <a:r>
              <a:rPr lang="en-US" dirty="0"/>
              <a:t>Review.</a:t>
            </a:r>
          </a:p>
          <a:p>
            <a:endParaRPr lang="en-US" dirty="0"/>
          </a:p>
          <a:p>
            <a:r>
              <a:rPr lang="en-US" dirty="0"/>
              <a:t>RESULT:</a:t>
            </a:r>
          </a:p>
          <a:p>
            <a:endParaRPr lang="en-US" dirty="0"/>
          </a:p>
          <a:p>
            <a:r>
              <a:rPr lang="en-US" dirty="0"/>
              <a:t>Atlas is more trustworthy.</a:t>
            </a:r>
          </a:p>
          <a:p>
            <a:endParaRPr lang="en-US" dirty="0"/>
          </a:p>
          <a:p>
            <a:r>
              <a:rPr lang="en-US" dirty="0"/>
              <a:t>------------------------------------------------------------</a:t>
            </a:r>
          </a:p>
          <a:p>
            <a:endParaRPr lang="en-US" dirty="0"/>
          </a:p>
          <a:p>
            <a:r>
              <a:rPr lang="en-US" dirty="0"/>
              <a:t>THE ATLAS PRINCIPLE</a:t>
            </a:r>
          </a:p>
          <a:p>
            <a:endParaRPr lang="en-US" dirty="0"/>
          </a:p>
          <a:p>
            <a:r>
              <a:rPr lang="en-US" dirty="0"/>
              <a:t>Say:</a:t>
            </a:r>
          </a:p>
          <a:p>
            <a:endParaRPr lang="en-US" dirty="0"/>
          </a:p>
          <a:p>
            <a:r>
              <a:rPr lang="en-US" dirty="0"/>
              <a:t>"Atlas isn't trustworthy because we say it is."</a:t>
            </a:r>
          </a:p>
          <a:p>
            <a:endParaRPr lang="en-US" dirty="0"/>
          </a:p>
          <a:p>
            <a:r>
              <a:rPr lang="en-US" dirty="0"/>
              <a:t>"It's trustworthy because we can demonstrate the protections we built."</a:t>
            </a:r>
          </a:p>
          <a:p>
            <a:endParaRPr lang="en-US" dirty="0"/>
          </a:p>
          <a:p>
            <a:r>
              <a:rPr lang="en-US" dirty="0"/>
              <a:t>This is the key lesson.</a:t>
            </a:r>
          </a:p>
          <a:p>
            <a:endParaRPr lang="en-US" dirty="0"/>
          </a:p>
          <a:p>
            <a:r>
              <a:rPr lang="en-US" dirty="0"/>
              <a:t>------------------------------------------------------------</a:t>
            </a:r>
          </a:p>
          <a:p>
            <a:endParaRPr lang="en-US" dirty="0"/>
          </a:p>
          <a:p>
            <a:r>
              <a:rPr lang="en-US" dirty="0"/>
              <a:t>SPRINT 6 COMPLETE</a:t>
            </a:r>
          </a:p>
          <a:p>
            <a:endParaRPr lang="en-US" dirty="0"/>
          </a:p>
          <a:p>
            <a:r>
              <a:rPr lang="en-US" dirty="0"/>
              <a:t>Point to the roadmap.</a:t>
            </a:r>
          </a:p>
          <a:p>
            <a:endParaRPr lang="en-US" dirty="0"/>
          </a:p>
          <a:p>
            <a:r>
              <a:rPr lang="en-US" dirty="0"/>
              <a:t>Sprint 6:</a:t>
            </a:r>
          </a:p>
          <a:p>
            <a:endParaRPr lang="en-US" dirty="0"/>
          </a:p>
          <a:p>
            <a:r>
              <a:rPr lang="en-US" dirty="0"/>
              <a:t>PROTECT IT</a:t>
            </a:r>
          </a:p>
          <a:p>
            <a:endParaRPr lang="en-US" dirty="0"/>
          </a:p>
          <a:p>
            <a:r>
              <a:rPr lang="en-US" dirty="0"/>
              <a:t>Check it off.</a:t>
            </a:r>
          </a:p>
          <a:p>
            <a:endParaRPr lang="en-US" dirty="0"/>
          </a:p>
          <a:p>
            <a:r>
              <a:rPr lang="en-US" dirty="0"/>
              <a:t>Say:</a:t>
            </a:r>
          </a:p>
          <a:p>
            <a:endParaRPr lang="en-US" dirty="0"/>
          </a:p>
          <a:p>
            <a:r>
              <a:rPr lang="en-US" dirty="0"/>
              <a:t>"We are done with Protect It."</a:t>
            </a:r>
          </a:p>
          <a:p>
            <a:endParaRPr lang="en-US" dirty="0"/>
          </a:p>
          <a:p>
            <a:r>
              <a:rPr lang="en-US" dirty="0"/>
              <a:t>Pause.</a:t>
            </a:r>
          </a:p>
          <a:p>
            <a:endParaRPr lang="en-US" dirty="0"/>
          </a:p>
          <a:p>
            <a:r>
              <a:rPr lang="en-US" dirty="0"/>
              <a:t>"But the product isn't finished."</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SPRINT 7 — PREPARE IT.</a:t>
            </a:r>
          </a:p>
          <a:p>
            <a:endParaRPr lang="en-US" dirty="0"/>
          </a:p>
          <a:p>
            <a:r>
              <a:rPr lang="en-US" dirty="0"/>
              <a:t>Say:</a:t>
            </a:r>
          </a:p>
          <a:p>
            <a:endParaRPr lang="en-US" dirty="0"/>
          </a:p>
          <a:p>
            <a:r>
              <a:rPr lang="en-US" dirty="0"/>
              <a:t>"Now we ask a different question."</a:t>
            </a:r>
          </a:p>
          <a:p>
            <a:endParaRPr lang="en-US" dirty="0"/>
          </a:p>
          <a:p>
            <a:r>
              <a:rPr lang="en-US" dirty="0"/>
              <a:t>"Is Atlas ready?"</a:t>
            </a:r>
          </a:p>
          <a:p>
            <a:endParaRPr lang="en-US" dirty="0"/>
          </a:p>
          <a:p>
            <a:r>
              <a:rPr lang="en-US" dirty="0"/>
              <a:t>Ready for:</a:t>
            </a:r>
          </a:p>
          <a:p>
            <a:endParaRPr lang="en-US" dirty="0"/>
          </a:p>
          <a:p>
            <a:r>
              <a:rPr lang="en-US" dirty="0"/>
              <a:t>Real users.</a:t>
            </a:r>
          </a:p>
          <a:p>
            <a:endParaRPr lang="en-US" dirty="0"/>
          </a:p>
          <a:p>
            <a:r>
              <a:rPr lang="en-US" dirty="0"/>
              <a:t>Real traffic.</a:t>
            </a:r>
          </a:p>
          <a:p>
            <a:endParaRPr lang="en-US" dirty="0"/>
          </a:p>
          <a:p>
            <a:r>
              <a:rPr lang="en-US" dirty="0"/>
              <a:t>Real failures.</a:t>
            </a:r>
          </a:p>
          <a:p>
            <a:endParaRPr lang="en-US" dirty="0"/>
          </a:p>
          <a:p>
            <a:r>
              <a:rPr lang="en-US" dirty="0"/>
              <a:t>Real maintenance.</a:t>
            </a:r>
          </a:p>
          <a:p>
            <a:endParaRPr lang="en-US" dirty="0"/>
          </a:p>
          <a:p>
            <a:r>
              <a:rPr lang="en-US" dirty="0"/>
              <a:t>Real deployment conditions.</a:t>
            </a:r>
          </a:p>
          <a:p>
            <a:endParaRPr lang="en-US" dirty="0"/>
          </a:p>
          <a:p>
            <a:r>
              <a:rPr lang="en-US" dirty="0"/>
              <a:t>Explain:</a:t>
            </a:r>
          </a:p>
          <a:p>
            <a:endParaRPr lang="en-US" dirty="0"/>
          </a:p>
          <a:p>
            <a:r>
              <a:rPr lang="en-US" dirty="0"/>
              <a:t>"Sprint 7 is about readiness."</a:t>
            </a:r>
          </a:p>
          <a:p>
            <a:endParaRPr lang="en-US" dirty="0"/>
          </a:p>
          <a:p>
            <a:r>
              <a:rPr lang="en-US" dirty="0"/>
              <a:t>------------------------------------------------------------</a:t>
            </a:r>
          </a:p>
          <a:p>
            <a:endParaRPr lang="en-US" dirty="0"/>
          </a:p>
          <a:p>
            <a:r>
              <a:rPr lang="en-US" dirty="0"/>
              <a:t>FINAL CLOSING</a:t>
            </a:r>
          </a:p>
          <a:p>
            <a:endParaRPr lang="en-US" dirty="0"/>
          </a:p>
          <a:p>
            <a:r>
              <a:rPr lang="en-US" dirty="0"/>
              <a:t>Say:</a:t>
            </a:r>
          </a:p>
          <a:p>
            <a:endParaRPr lang="en-US" dirty="0"/>
          </a:p>
          <a:p>
            <a:r>
              <a:rPr lang="en-US" dirty="0"/>
              <a:t>"Engineers..."</a:t>
            </a:r>
          </a:p>
          <a:p>
            <a:endParaRPr lang="en-US" dirty="0"/>
          </a:p>
          <a:p>
            <a:r>
              <a:rPr lang="en-US" dirty="0"/>
              <a:t>"We built Atlas."</a:t>
            </a:r>
          </a:p>
          <a:p>
            <a:endParaRPr lang="en-US" dirty="0"/>
          </a:p>
          <a:p>
            <a:r>
              <a:rPr lang="en-US" dirty="0"/>
              <a:t>"We deployed Atlas."</a:t>
            </a:r>
          </a:p>
          <a:p>
            <a:endParaRPr lang="en-US" dirty="0"/>
          </a:p>
          <a:p>
            <a:r>
              <a:rPr lang="en-US" dirty="0"/>
              <a:t>"We gave Atlas memory."</a:t>
            </a:r>
          </a:p>
          <a:p>
            <a:endParaRPr lang="en-US" dirty="0"/>
          </a:p>
          <a:p>
            <a:r>
              <a:rPr lang="en-US" dirty="0"/>
              <a:t>"We protected Atlas."</a:t>
            </a:r>
          </a:p>
          <a:p>
            <a:endParaRPr lang="en-US" dirty="0"/>
          </a:p>
          <a:p>
            <a:r>
              <a:rPr lang="en-US" dirty="0"/>
              <a:t>"We tested Atlas."</a:t>
            </a:r>
          </a:p>
          <a:p>
            <a:endParaRPr lang="en-US" dirty="0"/>
          </a:p>
          <a:p>
            <a:r>
              <a:rPr lang="en-US" dirty="0"/>
              <a:t>Pause.</a:t>
            </a:r>
          </a:p>
          <a:p>
            <a:endParaRPr lang="en-US" dirty="0"/>
          </a:p>
          <a:p>
            <a:r>
              <a:rPr lang="en-US" dirty="0"/>
              <a:t>"Now..."</a:t>
            </a:r>
          </a:p>
          <a:p>
            <a:endParaRPr lang="en-US" dirty="0"/>
          </a:p>
          <a:p>
            <a:r>
              <a:rPr lang="en-US" dirty="0"/>
              <a:t>"We have to decide whether Atlas is ready for the world."</a:t>
            </a:r>
          </a:p>
          <a:p>
            <a:endParaRPr lang="en-US" dirty="0"/>
          </a:p>
          <a:p>
            <a:r>
              <a:rPr lang="en-US" dirty="0"/>
              <a:t>Then:</a:t>
            </a:r>
          </a:p>
          <a:p>
            <a:endParaRPr lang="en-US" dirty="0"/>
          </a:p>
          <a:p>
            <a:r>
              <a:rPr lang="en-US" dirty="0"/>
              <a:t>"That's what comes next."</a:t>
            </a:r>
          </a:p>
          <a:p>
            <a:endParaRPr lang="en-US" dirty="0"/>
          </a:p>
          <a:p>
            <a:r>
              <a:rPr lang="en-US" dirty="0"/>
              <a:t>============================================================</a:t>
            </a:r>
          </a:p>
          <a:p>
            <a:endParaRPr lang="en-US" dirty="0"/>
          </a:p>
          <a:p>
            <a:r>
              <a:rPr lang="en-US" dirty="0"/>
              <a:t>ESTIMATED TIME</a:t>
            </a:r>
          </a:p>
          <a:p>
            <a:endParaRPr lang="en-US" dirty="0"/>
          </a:p>
          <a:p>
            <a:r>
              <a:rPr lang="en-US" dirty="0"/>
              <a:t>Sprint 6 Review........................10 minutes</a:t>
            </a:r>
          </a:p>
          <a:p>
            <a:endParaRPr lang="en-US" dirty="0"/>
          </a:p>
          <a:p>
            <a:r>
              <a:rPr lang="en-US" dirty="0"/>
              <a:t>Security Demonstration................20 minutes</a:t>
            </a:r>
          </a:p>
          <a:p>
            <a:endParaRPr lang="en-US" dirty="0"/>
          </a:p>
          <a:p>
            <a:r>
              <a:rPr lang="en-US" dirty="0"/>
              <a:t>Trust Checklist........................10 minutes</a:t>
            </a:r>
          </a:p>
          <a:p>
            <a:endParaRPr lang="en-US" dirty="0"/>
          </a:p>
          <a:p>
            <a:r>
              <a:rPr lang="en-US" dirty="0"/>
              <a:t>Risk Review.............................8 minutes</a:t>
            </a:r>
          </a:p>
          <a:p>
            <a:endParaRPr lang="en-US" dirty="0"/>
          </a:p>
          <a:p>
            <a:r>
              <a:rPr lang="en-US" dirty="0"/>
              <a:t>Trust Decision..........................7 minutes</a:t>
            </a:r>
          </a:p>
          <a:p>
            <a:endParaRPr lang="en-US" dirty="0"/>
          </a:p>
          <a:p>
            <a:r>
              <a:rPr lang="en-US" dirty="0"/>
              <a:t>Reflection.............................15 minutes</a:t>
            </a:r>
          </a:p>
          <a:p>
            <a:endParaRPr lang="en-US" dirty="0"/>
          </a:p>
          <a:p>
            <a:r>
              <a:rPr lang="en-US" dirty="0"/>
              <a:t>Sprint 7 Preview........................5 minutes</a:t>
            </a:r>
          </a:p>
          <a:p>
            <a:endParaRPr lang="en-US" dirty="0"/>
          </a:p>
          <a:p>
            <a:r>
              <a:rPr lang="en-US" dirty="0"/>
              <a:t>TOTAL...................................75 minutes</a:t>
            </a:r>
          </a:p>
          <a:p>
            <a:endParaRPr lang="en-US" dirty="0"/>
          </a:p>
          <a:p>
            <a:r>
              <a:rPr lang="en-US" dirty="0"/>
              <a:t>============================================================</a:t>
            </a:r>
          </a:p>
          <a:p>
            <a:endParaRPr lang="en-US" dirty="0"/>
          </a:p>
          <a:p>
            <a:r>
              <a:rPr lang="en-US" dirty="0"/>
              <a:t>INSTRUCTOR NOTES</a:t>
            </a:r>
          </a:p>
          <a:p>
            <a:endParaRPr lang="en-US" dirty="0"/>
          </a:p>
          <a:p>
            <a:r>
              <a:rPr lang="en-US" dirty="0"/>
              <a:t>This should function as the Sprint 6 assessment and retrospective.</a:t>
            </a:r>
          </a:p>
          <a:p>
            <a:endParaRPr lang="en-US" dirty="0"/>
          </a:p>
          <a:p>
            <a:r>
              <a:rPr lang="en-US" dirty="0"/>
              <a:t>Students should demonstrate their actual Atlas </a:t>
            </a:r>
            <a:r>
              <a:rPr lang="en-US" dirty="0" err="1"/>
              <a:t>TaskFlow</a:t>
            </a:r>
            <a:r>
              <a:rPr lang="en-US" dirty="0"/>
              <a:t> application.</a:t>
            </a:r>
          </a:p>
          <a:p>
            <a:endParaRPr lang="en-US" dirty="0"/>
          </a:p>
          <a:p>
            <a:r>
              <a:rPr lang="en-US" dirty="0"/>
              <a:t>Avoid turning this into another lecture.</a:t>
            </a:r>
          </a:p>
          <a:p>
            <a:endParaRPr lang="en-US" dirty="0"/>
          </a:p>
          <a:p>
            <a:r>
              <a:rPr lang="en-US" dirty="0"/>
              <a:t>The majority of the session should be:</a:t>
            </a:r>
          </a:p>
          <a:p>
            <a:endParaRPr lang="en-US" dirty="0"/>
          </a:p>
          <a:p>
            <a:r>
              <a:rPr lang="en-US" dirty="0"/>
              <a:t>DEMONSTRATE</a:t>
            </a:r>
          </a:p>
          <a:p>
            <a:endParaRPr lang="en-US" dirty="0"/>
          </a:p>
          <a:p>
            <a:r>
              <a:rPr lang="en-US" dirty="0"/>
              <a:t>DISCUSS</a:t>
            </a:r>
          </a:p>
          <a:p>
            <a:endParaRPr lang="en-US" dirty="0"/>
          </a:p>
          <a:p>
            <a:r>
              <a:rPr lang="en-US" dirty="0"/>
              <a:t>REFLECT</a:t>
            </a:r>
          </a:p>
          <a:p>
            <a:endParaRPr lang="en-US" dirty="0"/>
          </a:p>
          <a:p>
            <a:r>
              <a:rPr lang="en-US" dirty="0"/>
              <a:t>------------------------------------------------------------</a:t>
            </a:r>
          </a:p>
          <a:p>
            <a:endParaRPr lang="en-US" dirty="0"/>
          </a:p>
          <a:p>
            <a:r>
              <a:rPr lang="en-US" dirty="0"/>
              <a:t>RECOMMENDED DEMONSTRATION</a:t>
            </a:r>
          </a:p>
          <a:p>
            <a:endParaRPr lang="en-US" dirty="0"/>
          </a:p>
          <a:p>
            <a:r>
              <a:rPr lang="en-US" dirty="0"/>
              <a:t>Each student/team should demonstrate:</a:t>
            </a:r>
          </a:p>
          <a:p>
            <a:endParaRPr lang="en-US" dirty="0"/>
          </a:p>
          <a:p>
            <a:r>
              <a:rPr lang="en-US" dirty="0"/>
              <a:t>1. Login.</a:t>
            </a:r>
          </a:p>
          <a:p>
            <a:endParaRPr lang="en-US" dirty="0"/>
          </a:p>
          <a:p>
            <a:r>
              <a:rPr lang="en-US" dirty="0"/>
              <a:t>2. Logout.</a:t>
            </a:r>
          </a:p>
          <a:p>
            <a:endParaRPr lang="en-US" dirty="0"/>
          </a:p>
          <a:p>
            <a:r>
              <a:rPr lang="en-US" dirty="0"/>
              <a:t>3. Protected page.</a:t>
            </a:r>
          </a:p>
          <a:p>
            <a:endParaRPr lang="en-US" dirty="0"/>
          </a:p>
          <a:p>
            <a:r>
              <a:rPr lang="en-US" dirty="0"/>
              <a:t>4. Authorized action.</a:t>
            </a:r>
          </a:p>
          <a:p>
            <a:endParaRPr lang="en-US" dirty="0"/>
          </a:p>
          <a:p>
            <a:r>
              <a:rPr lang="en-US" dirty="0"/>
              <a:t>5. Unauthorized action.</a:t>
            </a:r>
          </a:p>
          <a:p>
            <a:endParaRPr lang="en-US" dirty="0"/>
          </a:p>
          <a:p>
            <a:r>
              <a:rPr lang="en-US" dirty="0"/>
              <a:t>6. Ownership protection.</a:t>
            </a:r>
          </a:p>
          <a:p>
            <a:endParaRPr lang="en-US" dirty="0"/>
          </a:p>
          <a:p>
            <a:r>
              <a:rPr lang="en-US" dirty="0"/>
              <a:t>7. Data protection.</a:t>
            </a:r>
          </a:p>
          <a:p>
            <a:endParaRPr lang="en-US" dirty="0"/>
          </a:p>
          <a:p>
            <a:r>
              <a:rPr lang="en-US" dirty="0"/>
              <a:t>8. Security testing result.</a:t>
            </a:r>
          </a:p>
          <a:p>
            <a:endParaRPr lang="en-US" dirty="0"/>
          </a:p>
          <a:p>
            <a:r>
              <a:rPr lang="en-US" dirty="0"/>
              <a:t>9. Repository/configuration review.</a:t>
            </a:r>
          </a:p>
          <a:p>
            <a:endParaRPr lang="en-US" dirty="0"/>
          </a:p>
          <a:p>
            <a:r>
              <a:rPr lang="en-US" dirty="0"/>
              <a:t>10. One remaining risk.</a:t>
            </a:r>
          </a:p>
          <a:p>
            <a:endParaRPr lang="en-US" dirty="0"/>
          </a:p>
          <a:p>
            <a:r>
              <a:rPr lang="en-US" dirty="0"/>
              <a:t>------------------------------------------------------------</a:t>
            </a:r>
          </a:p>
          <a:p>
            <a:endParaRPr lang="en-US" dirty="0"/>
          </a:p>
          <a:p>
            <a:r>
              <a:rPr lang="en-US" dirty="0"/>
              <a:t>ASSESSMENT EMPHASIS</a:t>
            </a:r>
          </a:p>
          <a:p>
            <a:endParaRPr lang="en-US" dirty="0"/>
          </a:p>
          <a:p>
            <a:r>
              <a:rPr lang="en-US" dirty="0"/>
              <a:t>Evaluate:</a:t>
            </a:r>
          </a:p>
          <a:p>
            <a:endParaRPr lang="en-US" dirty="0"/>
          </a:p>
          <a:p>
            <a:r>
              <a:rPr lang="en-US" dirty="0"/>
              <a:t>✓ Understanding of authentication.</a:t>
            </a:r>
          </a:p>
          <a:p>
            <a:endParaRPr lang="en-US" dirty="0"/>
          </a:p>
          <a:p>
            <a:r>
              <a:rPr lang="en-US" dirty="0"/>
              <a:t>✓ Understanding of authorization.</a:t>
            </a:r>
          </a:p>
          <a:p>
            <a:endParaRPr lang="en-US" dirty="0"/>
          </a:p>
          <a:p>
            <a:r>
              <a:rPr lang="en-US" dirty="0"/>
              <a:t>✓ Ability to demonstrate access controls.</a:t>
            </a:r>
          </a:p>
          <a:p>
            <a:endParaRPr lang="en-US" dirty="0"/>
          </a:p>
          <a:p>
            <a:r>
              <a:rPr lang="en-US" dirty="0"/>
              <a:t>✓ Understanding of data protection.</a:t>
            </a:r>
          </a:p>
          <a:p>
            <a:endParaRPr lang="en-US" dirty="0"/>
          </a:p>
          <a:p>
            <a:r>
              <a:rPr lang="en-US" dirty="0"/>
              <a:t>✓ Security testing.</a:t>
            </a:r>
          </a:p>
          <a:p>
            <a:endParaRPr lang="en-US" dirty="0"/>
          </a:p>
          <a:p>
            <a:r>
              <a:rPr lang="en-US" dirty="0"/>
              <a:t>✓ Ability to identify risk.</a:t>
            </a:r>
          </a:p>
          <a:p>
            <a:endParaRPr lang="en-US" dirty="0"/>
          </a:p>
          <a:p>
            <a:r>
              <a:rPr lang="en-US" dirty="0"/>
              <a:t>✓ Ability to explain engineering decisions.</a:t>
            </a:r>
          </a:p>
          <a:p>
            <a:endParaRPr lang="en-US" dirty="0"/>
          </a:p>
          <a:p>
            <a:r>
              <a:rPr lang="en-US" dirty="0"/>
              <a:t>✓ Honest reflection.</a:t>
            </a:r>
          </a:p>
          <a:p>
            <a:endParaRPr lang="en-US" dirty="0"/>
          </a:p>
          <a:p>
            <a:r>
              <a:rPr lang="en-US" dirty="0"/>
              <a:t>Do not grade students solely on whether their application is</a:t>
            </a:r>
          </a:p>
          <a:p>
            <a:r>
              <a:rPr lang="en-US" dirty="0"/>
              <a:t>"perfect."</a:t>
            </a:r>
          </a:p>
          <a:p>
            <a:endParaRPr lang="en-US" dirty="0"/>
          </a:p>
          <a:p>
            <a:r>
              <a:rPr lang="en-US" dirty="0"/>
              <a:t>------------------------------------------------------------</a:t>
            </a:r>
          </a:p>
          <a:p>
            <a:endParaRPr lang="en-US" dirty="0"/>
          </a:p>
          <a:p>
            <a:r>
              <a:rPr lang="en-US" dirty="0"/>
              <a:t>IMPORTANT TEACHING POINT</a:t>
            </a:r>
          </a:p>
          <a:p>
            <a:endParaRPr lang="en-US" dirty="0"/>
          </a:p>
          <a:p>
            <a:r>
              <a:rPr lang="en-US" dirty="0"/>
              <a:t>A student who says:</a:t>
            </a:r>
          </a:p>
          <a:p>
            <a:endParaRPr lang="en-US" dirty="0"/>
          </a:p>
          <a:p>
            <a:r>
              <a:rPr lang="en-US" dirty="0"/>
              <a:t>"I found a vulnerability, fixed it, and here's how I verified the fix."</a:t>
            </a:r>
          </a:p>
          <a:p>
            <a:endParaRPr lang="en-US" dirty="0"/>
          </a:p>
          <a:p>
            <a:r>
              <a:rPr lang="en-US" dirty="0"/>
              <a:t>has demonstrated strong engineering thinking.</a:t>
            </a:r>
          </a:p>
          <a:p>
            <a:endParaRPr lang="en-US" dirty="0"/>
          </a:p>
          <a:p>
            <a:r>
              <a:rPr lang="en-US" dirty="0"/>
              <a:t>A student who says:</a:t>
            </a:r>
          </a:p>
          <a:p>
            <a:endParaRPr lang="en-US" dirty="0"/>
          </a:p>
          <a:p>
            <a:r>
              <a:rPr lang="en-US" dirty="0"/>
              <a:t>"My application has no vulnerabilities."</a:t>
            </a:r>
          </a:p>
          <a:p>
            <a:endParaRPr lang="en-US" dirty="0"/>
          </a:p>
          <a:p>
            <a:r>
              <a:rPr lang="en-US" dirty="0"/>
              <a:t>without evidence has not.</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BUILD</a:t>
            </a:r>
          </a:p>
          <a:p>
            <a:endParaRPr lang="en-US" dirty="0"/>
          </a:p>
          <a:p>
            <a:r>
              <a:rPr lang="en-US" dirty="0"/>
              <a:t>↓</a:t>
            </a:r>
          </a:p>
          <a:p>
            <a:endParaRPr lang="en-US" dirty="0"/>
          </a:p>
          <a:p>
            <a:r>
              <a:rPr lang="en-US" dirty="0"/>
              <a:t>PROTECT</a:t>
            </a:r>
          </a:p>
          <a:p>
            <a:endParaRPr lang="en-US" dirty="0"/>
          </a:p>
          <a:p>
            <a:r>
              <a:rPr lang="en-US" dirty="0"/>
              <a:t>↓</a:t>
            </a:r>
          </a:p>
          <a:p>
            <a:endParaRPr lang="en-US" dirty="0"/>
          </a:p>
          <a:p>
            <a:r>
              <a:rPr lang="en-US" dirty="0"/>
              <a:t>TEST</a:t>
            </a:r>
          </a:p>
          <a:p>
            <a:endParaRPr lang="en-US" dirty="0"/>
          </a:p>
          <a:p>
            <a:r>
              <a:rPr lang="en-US" dirty="0"/>
              <a:t>↓</a:t>
            </a:r>
          </a:p>
          <a:p>
            <a:endParaRPr lang="en-US" dirty="0"/>
          </a:p>
          <a:p>
            <a:r>
              <a:rPr lang="en-US" dirty="0"/>
              <a:t>PROVE</a:t>
            </a:r>
          </a:p>
          <a:p>
            <a:endParaRPr lang="en-US" dirty="0"/>
          </a:p>
          <a:p>
            <a:r>
              <a:rPr lang="en-US" dirty="0"/>
              <a:t>↓</a:t>
            </a:r>
          </a:p>
          <a:p>
            <a:endParaRPr lang="en-US" dirty="0"/>
          </a:p>
          <a:p>
            <a:r>
              <a:rPr lang="en-US" dirty="0"/>
              <a:t>IMPROVE</a:t>
            </a:r>
          </a:p>
          <a:p>
            <a:endParaRPr lang="en-US" dirty="0"/>
          </a:p>
          <a:p>
            <a:r>
              <a:rPr lang="en-US" dirty="0"/>
              <a:t>Then:</a:t>
            </a:r>
          </a:p>
          <a:p>
            <a:endParaRPr lang="en-US" dirty="0"/>
          </a:p>
          <a:p>
            <a:r>
              <a:rPr lang="en-US" dirty="0"/>
              <a:t>"Trust requires evidence."</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"Trust isn't something we claim."</a:t>
            </a:r>
          </a:p>
          <a:p>
            <a:endParaRPr lang="en-US" dirty="0"/>
          </a:p>
          <a:p>
            <a:r>
              <a:rPr lang="en-US" dirty="0"/>
              <a:t>"It's something we earn."</a:t>
            </a:r>
          </a:p>
          <a:p>
            <a:endParaRPr lang="en-US" dirty="0"/>
          </a:p>
          <a:p>
            <a:r>
              <a:rPr lang="en-US" dirty="0"/>
              <a:t>"And we earn it by building responsibly..."</a:t>
            </a:r>
          </a:p>
          <a:p>
            <a:endParaRPr lang="en-US" dirty="0"/>
          </a:p>
          <a:p>
            <a:r>
              <a:rPr lang="en-US" dirty="0"/>
              <a:t>"...testing honestly..."</a:t>
            </a:r>
          </a:p>
          <a:p>
            <a:endParaRPr lang="en-US" dirty="0"/>
          </a:p>
          <a:p>
            <a:r>
              <a:rPr lang="en-US" dirty="0"/>
              <a:t>"...and improving continuously."</a:t>
            </a:r>
          </a:p>
          <a:p>
            <a:endParaRPr lang="en-US" dirty="0"/>
          </a:p>
          <a:p>
            <a:r>
              <a:rPr lang="en-US" dirty="0"/>
              <a:t>============================================================</a:t>
            </a:r>
          </a:p>
        </p:txBody>
      </p:sp>
      <p:sp>
        <p:nvSpPr>
          <p:cNvPr id="4" name="Slide Number Placeholder 3"/>
          <p:cNvSpPr>
            <a:spLocks noGrp="1"/>
          </p:cNvSpPr>
          <p:nvPr>
            <p:ph type="sldNum" sz="quarter" idx="5"/>
          </p:nvPr>
        </p:nvSpPr>
        <p:spPr/>
        <p:txBody>
          <a:bodyPr/>
          <a:lstStyle/>
          <a:p>
            <a:fld id="{BB4C0751-951B-4697-95E5-DB2699F1C302}" type="slidenum">
              <a:rPr lang="en-US" smtClean="0"/>
              <a:t>7</a:t>
            </a:fld>
            <a:endParaRPr lang="en-US"/>
          </a:p>
        </p:txBody>
      </p:sp>
    </p:spTree>
    <p:extLst>
      <p:ext uri="{BB962C8B-B14F-4D97-AF65-F5344CB8AC3E}">
        <p14:creationId xmlns:p14="http://schemas.microsoft.com/office/powerpoint/2010/main" val="2810584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15A5-D030-5544-7575-26240CD87D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131474-11F6-DC63-D347-09E300E15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C2D9DF-13BD-4837-08C7-ED37D3716EDA}"/>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5" name="Footer Placeholder 4">
            <a:extLst>
              <a:ext uri="{FF2B5EF4-FFF2-40B4-BE49-F238E27FC236}">
                <a16:creationId xmlns:a16="http://schemas.microsoft.com/office/drawing/2014/main" id="{7EEF64C2-424F-8777-64BA-218546267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4DCD5-AE92-D600-FF3B-0FA5177817F6}"/>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287741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FF0EA-789E-8A13-6637-40AC2E225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DD5C78-2184-766D-A61E-ED9095F16F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2134E-AD1A-AD8C-2F99-6736696582B5}"/>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5" name="Footer Placeholder 4">
            <a:extLst>
              <a:ext uri="{FF2B5EF4-FFF2-40B4-BE49-F238E27FC236}">
                <a16:creationId xmlns:a16="http://schemas.microsoft.com/office/drawing/2014/main" id="{58A7D7F1-2B4E-CB8E-99E0-CBED11E3D6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4953AB-6646-BCFD-892E-588FBF17C0C8}"/>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2716182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AF14-8756-6C27-367A-256876F6F3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2D22CA-DF87-932F-6295-A73FBDD90B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CA0034-CF1D-C398-1A09-6A97CF40938F}"/>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5" name="Footer Placeholder 4">
            <a:extLst>
              <a:ext uri="{FF2B5EF4-FFF2-40B4-BE49-F238E27FC236}">
                <a16:creationId xmlns:a16="http://schemas.microsoft.com/office/drawing/2014/main" id="{1C31A2E6-E722-6CA1-42D1-8D3498F24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4775E-6B8D-4F53-23C7-A3FFEA0ACA4F}"/>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1447173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4F20-3461-D780-D479-04D0A1AA77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A69E80-679F-AC89-5D19-5B31BF95CD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F21974-A815-3096-81B3-C942AA19A4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366EE6-7F98-875E-C469-DE50B1183387}"/>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6" name="Footer Placeholder 5">
            <a:extLst>
              <a:ext uri="{FF2B5EF4-FFF2-40B4-BE49-F238E27FC236}">
                <a16:creationId xmlns:a16="http://schemas.microsoft.com/office/drawing/2014/main" id="{62C4DFF7-DB18-21D1-EF43-0AD144D524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C7FD01-5DED-3D9F-9801-D8FB0597505B}"/>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121760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BCC02-E32E-BBC4-78F3-DE53921121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A57071-3F9D-C9F6-F11A-857B5E740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79E2C7-559C-4262-B77A-60BE750090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679676-1A44-8DB7-89E2-897CA6F921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9DBE7A-FF25-0354-F6C0-ECDEE6198D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CF0659-6169-5D7C-C759-8E9C658C1F30}"/>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8" name="Footer Placeholder 7">
            <a:extLst>
              <a:ext uri="{FF2B5EF4-FFF2-40B4-BE49-F238E27FC236}">
                <a16:creationId xmlns:a16="http://schemas.microsoft.com/office/drawing/2014/main" id="{FBD50340-82E7-9AA6-5682-203BAC6D68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0CBFFB-70D1-91CA-FFE1-B605AF41F3E0}"/>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3249519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7324-3342-A94C-9CAF-E6AC11B318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92F02A-84AF-0804-7426-8CEE21D4D38C}"/>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4" name="Footer Placeholder 3">
            <a:extLst>
              <a:ext uri="{FF2B5EF4-FFF2-40B4-BE49-F238E27FC236}">
                <a16:creationId xmlns:a16="http://schemas.microsoft.com/office/drawing/2014/main" id="{FB8EE83F-5149-D2CD-D0CC-6E3F81D44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0E7F61-B4BE-18E1-D784-F1CF6DE5EA6F}"/>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3063022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F21463-7895-0D12-D710-293647D3B7F4}"/>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3" name="Footer Placeholder 2">
            <a:extLst>
              <a:ext uri="{FF2B5EF4-FFF2-40B4-BE49-F238E27FC236}">
                <a16:creationId xmlns:a16="http://schemas.microsoft.com/office/drawing/2014/main" id="{AEEB6346-DAC2-B354-6AF0-26D626D95F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389C00-A75B-1A03-4D5C-56F0B7B3B9C0}"/>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221323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11333-01DE-1B8A-204D-6CB546B12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44DEC6-0367-7ABB-1922-D49B16C1DF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014986-29B0-CE23-D16B-E0E9B513B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64E75-E6B5-1CCF-9EDA-CDB1494B11FB}"/>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6" name="Footer Placeholder 5">
            <a:extLst>
              <a:ext uri="{FF2B5EF4-FFF2-40B4-BE49-F238E27FC236}">
                <a16:creationId xmlns:a16="http://schemas.microsoft.com/office/drawing/2014/main" id="{2E133B9D-736B-6DDC-FD1E-4EB285674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06DB0-9DDA-8935-ABC7-A7CCA19BEBCB}"/>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2373743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0E47-A7B6-920D-2BF8-E0C6B0E3D8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BAC104-1124-B3F0-6EF0-1C9CBD0FAA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51C621-FA70-4E0E-9AFC-8B73FBB01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507E72-EDB9-ABB2-D85E-CC303C33FF03}"/>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6" name="Footer Placeholder 5">
            <a:extLst>
              <a:ext uri="{FF2B5EF4-FFF2-40B4-BE49-F238E27FC236}">
                <a16:creationId xmlns:a16="http://schemas.microsoft.com/office/drawing/2014/main" id="{04545A7E-DC9D-31EA-955A-3D21D7367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5D51AD-DDBF-F782-2325-61410511FB2D}"/>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3086302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B284-961B-FEEE-68F0-005806694D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245F18-B5C8-4A69-3784-78CBA24048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8B0EC9-3E1C-6FA0-3588-ECD5750CE0CC}"/>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5" name="Footer Placeholder 4">
            <a:extLst>
              <a:ext uri="{FF2B5EF4-FFF2-40B4-BE49-F238E27FC236}">
                <a16:creationId xmlns:a16="http://schemas.microsoft.com/office/drawing/2014/main" id="{2E9D47A7-2D16-B8E3-F9DF-CEE81D740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363CCE-B15B-4E3C-38C4-7BF99C83D07B}"/>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1061397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2D6CDF-6AEA-23CF-AFE7-F3169D9E68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BD6681-E2F5-EC45-3D59-E259AEAC01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2E6362-4FE3-5EA5-4475-79C02B24B827}"/>
              </a:ext>
            </a:extLst>
          </p:cNvPr>
          <p:cNvSpPr>
            <a:spLocks noGrp="1"/>
          </p:cNvSpPr>
          <p:nvPr>
            <p:ph type="dt" sz="half" idx="10"/>
          </p:nvPr>
        </p:nvSpPr>
        <p:spPr/>
        <p:txBody>
          <a:bodyPr/>
          <a:lstStyle/>
          <a:p>
            <a:fld id="{92F5CAFC-A0A4-487D-B906-2DCB582A9E33}" type="datetimeFigureOut">
              <a:rPr lang="en-US" smtClean="0"/>
              <a:t>8/13/2026</a:t>
            </a:fld>
            <a:endParaRPr lang="en-US"/>
          </a:p>
        </p:txBody>
      </p:sp>
      <p:sp>
        <p:nvSpPr>
          <p:cNvPr id="5" name="Footer Placeholder 4">
            <a:extLst>
              <a:ext uri="{FF2B5EF4-FFF2-40B4-BE49-F238E27FC236}">
                <a16:creationId xmlns:a16="http://schemas.microsoft.com/office/drawing/2014/main" id="{353FCA2A-9F76-17FF-5DF4-D74869D6E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0FDD30-9B55-73E7-3BDA-BC01ED330D75}"/>
              </a:ext>
            </a:extLst>
          </p:cNvPr>
          <p:cNvSpPr>
            <a:spLocks noGrp="1"/>
          </p:cNvSpPr>
          <p:nvPr>
            <p:ph type="sldNum" sz="quarter" idx="12"/>
          </p:nvPr>
        </p:nvSpPr>
        <p:spPr/>
        <p:txBody>
          <a:bodyPr/>
          <a:lstStyle/>
          <a:p>
            <a:fld id="{FE4E0B40-AAC4-41EE-B00E-A0985F70CB46}" type="slidenum">
              <a:rPr lang="en-US" smtClean="0"/>
              <a:t>‹#›</a:t>
            </a:fld>
            <a:endParaRPr lang="en-US"/>
          </a:p>
        </p:txBody>
      </p:sp>
    </p:spTree>
    <p:extLst>
      <p:ext uri="{BB962C8B-B14F-4D97-AF65-F5344CB8AC3E}">
        <p14:creationId xmlns:p14="http://schemas.microsoft.com/office/powerpoint/2010/main" val="1360152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D19F27-EA57-083A-165E-06F6F5D057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D01388-4DD2-FCCE-7FE9-402965D828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39F1D-53E2-5EE1-11C2-BA1CD0168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F5CAFC-A0A4-487D-B906-2DCB582A9E33}" type="datetimeFigureOut">
              <a:rPr lang="en-US" smtClean="0"/>
              <a:t>8/13/2026</a:t>
            </a:fld>
            <a:endParaRPr lang="en-US"/>
          </a:p>
        </p:txBody>
      </p:sp>
      <p:sp>
        <p:nvSpPr>
          <p:cNvPr id="5" name="Footer Placeholder 4">
            <a:extLst>
              <a:ext uri="{FF2B5EF4-FFF2-40B4-BE49-F238E27FC236}">
                <a16:creationId xmlns:a16="http://schemas.microsoft.com/office/drawing/2014/main" id="{EFF9288C-F638-A162-5ACE-B5CC94D1FE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9FBC9EF-BFAB-F4F3-CD08-D16C5A4A3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4E0B40-AAC4-41EE-B00E-A0985F70CB46}" type="slidenum">
              <a:rPr lang="en-US" smtClean="0"/>
              <a:t>‹#›</a:t>
            </a:fld>
            <a:endParaRPr lang="en-US"/>
          </a:p>
        </p:txBody>
      </p:sp>
    </p:spTree>
    <p:extLst>
      <p:ext uri="{BB962C8B-B14F-4D97-AF65-F5344CB8AC3E}">
        <p14:creationId xmlns:p14="http://schemas.microsoft.com/office/powerpoint/2010/main" val="3326692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0C87-C07C-F872-5EF2-B51FE9B5B524}"/>
              </a:ext>
            </a:extLst>
          </p:cNvPr>
          <p:cNvSpPr>
            <a:spLocks noGrp="1"/>
          </p:cNvSpPr>
          <p:nvPr>
            <p:ph type="ctrTitle"/>
          </p:nvPr>
        </p:nvSpPr>
        <p:spPr/>
        <p:txBody>
          <a:bodyPr/>
          <a:lstStyle/>
          <a:p>
            <a:r>
              <a:rPr lang="en-US" dirty="0"/>
              <a:t>6-01</a:t>
            </a:r>
          </a:p>
        </p:txBody>
      </p:sp>
      <p:sp>
        <p:nvSpPr>
          <p:cNvPr id="3" name="Subtitle 2">
            <a:extLst>
              <a:ext uri="{FF2B5EF4-FFF2-40B4-BE49-F238E27FC236}">
                <a16:creationId xmlns:a16="http://schemas.microsoft.com/office/drawing/2014/main" id="{4D8823DC-BDEB-3E95-2281-60BB21D01E0D}"/>
              </a:ext>
            </a:extLst>
          </p:cNvPr>
          <p:cNvSpPr>
            <a:spLocks noGrp="1"/>
          </p:cNvSpPr>
          <p:nvPr>
            <p:ph type="subTitle" idx="1"/>
          </p:nvPr>
        </p:nvSpPr>
        <p:spPr/>
        <p:txBody>
          <a:bodyPr/>
          <a:lstStyle/>
          <a:p>
            <a:endParaRPr lang="en-US"/>
          </a:p>
        </p:txBody>
      </p:sp>
      <p:pic>
        <p:nvPicPr>
          <p:cNvPr id="5" name="Picture 4" descr="Infographic poster explaining Atlas TaskFlow's security measures, focusing on protecting users, data, and applications through authentication, authorization, data protection, and threat detection. It features a central lock icon, layered security components (browser, application, database, infrastructure), key learning points, potential risks, and emphasizes building trust and responsibility in software security.&#10;">
            <a:extLst>
              <a:ext uri="{FF2B5EF4-FFF2-40B4-BE49-F238E27FC236}">
                <a16:creationId xmlns:a16="http://schemas.microsoft.com/office/drawing/2014/main" id="{2332E50A-E333-6E4B-F295-B2D7D55AF357}"/>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857699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32003-D5D3-ADEE-7935-6EA8867FB266}"/>
              </a:ext>
            </a:extLst>
          </p:cNvPr>
          <p:cNvSpPr>
            <a:spLocks noGrp="1"/>
          </p:cNvSpPr>
          <p:nvPr>
            <p:ph type="title"/>
          </p:nvPr>
        </p:nvSpPr>
        <p:spPr/>
        <p:txBody>
          <a:bodyPr/>
          <a:lstStyle/>
          <a:p>
            <a:r>
              <a:rPr lang="en-US" dirty="0"/>
              <a:t>6-02</a:t>
            </a:r>
          </a:p>
        </p:txBody>
      </p:sp>
      <p:sp>
        <p:nvSpPr>
          <p:cNvPr id="3" name="Content Placeholder 2">
            <a:extLst>
              <a:ext uri="{FF2B5EF4-FFF2-40B4-BE49-F238E27FC236}">
                <a16:creationId xmlns:a16="http://schemas.microsoft.com/office/drawing/2014/main" id="{0363D5D9-2115-1103-6286-9778D3E42730}"/>
              </a:ext>
            </a:extLst>
          </p:cNvPr>
          <p:cNvSpPr>
            <a:spLocks noGrp="1"/>
          </p:cNvSpPr>
          <p:nvPr>
            <p:ph idx="1"/>
          </p:nvPr>
        </p:nvSpPr>
        <p:spPr/>
        <p:txBody>
          <a:bodyPr/>
          <a:lstStyle/>
          <a:p>
            <a:endParaRPr lang="en-US"/>
          </a:p>
        </p:txBody>
      </p:sp>
      <p:pic>
        <p:nvPicPr>
          <p:cNvPr id="5" name="Picture 4" descr="A detailed infographic explaining authorization concepts in software, focusing on who can perform specific tasks based on user roles and permissions. It includes sections on problems, solutions, authorization rules, role-based and resource-based access, key concepts, best practices, and future steps, using color-coded icons, flowcharts, and labeled boxes to illustrate authentication, authorization decisions, and enforcement.&#10;">
            <a:extLst>
              <a:ext uri="{FF2B5EF4-FFF2-40B4-BE49-F238E27FC236}">
                <a16:creationId xmlns:a16="http://schemas.microsoft.com/office/drawing/2014/main" id="{90F31D6E-3CC1-F347-1570-B09C604E0B8C}"/>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756157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1A605-1247-2536-B29E-6BA10C122991}"/>
              </a:ext>
            </a:extLst>
          </p:cNvPr>
          <p:cNvSpPr>
            <a:spLocks noGrp="1"/>
          </p:cNvSpPr>
          <p:nvPr>
            <p:ph type="title"/>
          </p:nvPr>
        </p:nvSpPr>
        <p:spPr/>
        <p:txBody>
          <a:bodyPr/>
          <a:lstStyle/>
          <a:p>
            <a:r>
              <a:rPr lang="en-US" dirty="0"/>
              <a:t>6-03</a:t>
            </a:r>
          </a:p>
        </p:txBody>
      </p:sp>
      <p:sp>
        <p:nvSpPr>
          <p:cNvPr id="3" name="Content Placeholder 2">
            <a:extLst>
              <a:ext uri="{FF2B5EF4-FFF2-40B4-BE49-F238E27FC236}">
                <a16:creationId xmlns:a16="http://schemas.microsoft.com/office/drawing/2014/main" id="{965403CF-FC52-EC0F-7E52-E051D15C6103}"/>
              </a:ext>
            </a:extLst>
          </p:cNvPr>
          <p:cNvSpPr>
            <a:spLocks noGrp="1"/>
          </p:cNvSpPr>
          <p:nvPr>
            <p:ph idx="1"/>
          </p:nvPr>
        </p:nvSpPr>
        <p:spPr/>
        <p:txBody>
          <a:bodyPr/>
          <a:lstStyle/>
          <a:p>
            <a:endParaRPr lang="en-US"/>
          </a:p>
        </p:txBody>
      </p:sp>
      <p:pic>
        <p:nvPicPr>
          <p:cNvPr id="7" name="Picture 6" descr="Infographic poster titled &quot;Protecting User Data&quot; from Sprint 6 Learning Poster 4 by Atlas TaskFlow, outlining types of data to protect, methods of protection, and key concepts for data security. It uses color-coded sections with icons and text to highlight data categories like user credentials and sensitive data, protection steps such as encryption and access control, and emphasizes best practices and consequences of data breaches.&#10;">
            <a:extLst>
              <a:ext uri="{FF2B5EF4-FFF2-40B4-BE49-F238E27FC236}">
                <a16:creationId xmlns:a16="http://schemas.microsoft.com/office/drawing/2014/main" id="{3FFFFACD-B64F-8CCE-6DC1-DD01107A50B8}"/>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899569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B075-CF2E-A2F5-399B-F2C67C6689F8}"/>
              </a:ext>
            </a:extLst>
          </p:cNvPr>
          <p:cNvSpPr>
            <a:spLocks noGrp="1"/>
          </p:cNvSpPr>
          <p:nvPr>
            <p:ph type="title"/>
          </p:nvPr>
        </p:nvSpPr>
        <p:spPr/>
        <p:txBody>
          <a:bodyPr/>
          <a:lstStyle/>
          <a:p>
            <a:r>
              <a:rPr lang="en-US" dirty="0"/>
              <a:t>6-04</a:t>
            </a:r>
          </a:p>
        </p:txBody>
      </p:sp>
      <p:sp>
        <p:nvSpPr>
          <p:cNvPr id="3" name="Content Placeholder 2">
            <a:extLst>
              <a:ext uri="{FF2B5EF4-FFF2-40B4-BE49-F238E27FC236}">
                <a16:creationId xmlns:a16="http://schemas.microsoft.com/office/drawing/2014/main" id="{54B3BF36-5C2C-1F0E-9230-A7B335CA8CD7}"/>
              </a:ext>
            </a:extLst>
          </p:cNvPr>
          <p:cNvSpPr>
            <a:spLocks noGrp="1"/>
          </p:cNvSpPr>
          <p:nvPr>
            <p:ph idx="1"/>
          </p:nvPr>
        </p:nvSpPr>
        <p:spPr/>
        <p:txBody>
          <a:bodyPr/>
          <a:lstStyle/>
          <a:p>
            <a:endParaRPr lang="en-US"/>
          </a:p>
        </p:txBody>
      </p:sp>
      <p:pic>
        <p:nvPicPr>
          <p:cNvPr id="5" name="Picture 4" descr="Infographic poster detailing security best practices for securing Atlas Taskflow, focusing on authentication, authorization, data protection, secrets and configuration management, transport, and errors and logging. It includes a color-coded checklist, key security areas, practical steps, example risk scenarios, and expected results to guide users in strengthening application security.&#10;">
            <a:extLst>
              <a:ext uri="{FF2B5EF4-FFF2-40B4-BE49-F238E27FC236}">
                <a16:creationId xmlns:a16="http://schemas.microsoft.com/office/drawing/2014/main" id="{7B6E28C7-402C-6A98-09EA-109F22BBA74B}"/>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673725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4CA91-0E1D-6EB5-3396-5F15D356118C}"/>
              </a:ext>
            </a:extLst>
          </p:cNvPr>
          <p:cNvSpPr>
            <a:spLocks noGrp="1"/>
          </p:cNvSpPr>
          <p:nvPr>
            <p:ph type="title"/>
          </p:nvPr>
        </p:nvSpPr>
        <p:spPr/>
        <p:txBody>
          <a:bodyPr/>
          <a:lstStyle/>
          <a:p>
            <a:r>
              <a:rPr lang="en-US" dirty="0"/>
              <a:t>6-05</a:t>
            </a:r>
          </a:p>
        </p:txBody>
      </p:sp>
      <p:sp>
        <p:nvSpPr>
          <p:cNvPr id="3" name="Content Placeholder 2">
            <a:extLst>
              <a:ext uri="{FF2B5EF4-FFF2-40B4-BE49-F238E27FC236}">
                <a16:creationId xmlns:a16="http://schemas.microsoft.com/office/drawing/2014/main" id="{29646B48-32F7-D749-5D14-6B6D48E2A02E}"/>
              </a:ext>
            </a:extLst>
          </p:cNvPr>
          <p:cNvSpPr>
            <a:spLocks noGrp="1"/>
          </p:cNvSpPr>
          <p:nvPr>
            <p:ph idx="1"/>
          </p:nvPr>
        </p:nvSpPr>
        <p:spPr/>
        <p:txBody>
          <a:bodyPr/>
          <a:lstStyle/>
          <a:p>
            <a:endParaRPr lang="en-US"/>
          </a:p>
        </p:txBody>
      </p:sp>
      <p:pic>
        <p:nvPicPr>
          <p:cNvPr id="5" name="Picture 4" descr="Infographic titled &quot;Sprint 6 Learning Poster 6&quot; from Atlas Taskflow focuses on cybersecurity awareness, emphasizing proactive defense against attacks through a structured approach including mission, approach, and tools. It features sections on attack sources, a checklist for testing security, common attack types, example attacks, and the importance of collaboration, using color-coded icons and clear headers to guide users in strengthening system defenses.&#10;&#10;">
            <a:extLst>
              <a:ext uri="{FF2B5EF4-FFF2-40B4-BE49-F238E27FC236}">
                <a16:creationId xmlns:a16="http://schemas.microsoft.com/office/drawing/2014/main" id="{2E15AAE2-8B0D-F974-42DD-98354D1A1BC4}"/>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048836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45AC-5DAD-4030-22A7-872A9C88E206}"/>
              </a:ext>
            </a:extLst>
          </p:cNvPr>
          <p:cNvSpPr>
            <a:spLocks noGrp="1"/>
          </p:cNvSpPr>
          <p:nvPr>
            <p:ph type="title"/>
          </p:nvPr>
        </p:nvSpPr>
        <p:spPr/>
        <p:txBody>
          <a:bodyPr/>
          <a:lstStyle/>
          <a:p>
            <a:r>
              <a:rPr lang="en-US" dirty="0"/>
              <a:t>6-06</a:t>
            </a:r>
          </a:p>
        </p:txBody>
      </p:sp>
      <p:sp>
        <p:nvSpPr>
          <p:cNvPr id="3" name="Content Placeholder 2">
            <a:extLst>
              <a:ext uri="{FF2B5EF4-FFF2-40B4-BE49-F238E27FC236}">
                <a16:creationId xmlns:a16="http://schemas.microsoft.com/office/drawing/2014/main" id="{DE4B1C02-B1BC-5F40-D544-D6CBFE37CAF6}"/>
              </a:ext>
            </a:extLst>
          </p:cNvPr>
          <p:cNvSpPr>
            <a:spLocks noGrp="1"/>
          </p:cNvSpPr>
          <p:nvPr>
            <p:ph idx="1"/>
          </p:nvPr>
        </p:nvSpPr>
        <p:spPr/>
        <p:txBody>
          <a:bodyPr/>
          <a:lstStyle/>
          <a:p>
            <a:endParaRPr lang="en-US" dirty="0"/>
          </a:p>
        </p:txBody>
      </p:sp>
      <p:pic>
        <p:nvPicPr>
          <p:cNvPr id="5" name="Picture 4" descr="Infographic poster titled &quot;Security &amp; SaaS Responsibility&quot; from Atlas TaskFlow outlines key principles and responsibilities for secure SaaS application development. It features sections on user roles, security pillars like design, deploy, and monitor securely, and emphasizes teamwork with icons, color-coded categories, and a timeline of sprint goals at the bottom.&#10;">
            <a:extLst>
              <a:ext uri="{FF2B5EF4-FFF2-40B4-BE49-F238E27FC236}">
                <a16:creationId xmlns:a16="http://schemas.microsoft.com/office/drawing/2014/main" id="{991EB53F-FF72-A960-35B3-B5DE52961611}"/>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26567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C2152-7D24-F06F-0771-64ED4CFE2344}"/>
              </a:ext>
            </a:extLst>
          </p:cNvPr>
          <p:cNvSpPr>
            <a:spLocks noGrp="1"/>
          </p:cNvSpPr>
          <p:nvPr>
            <p:ph type="title"/>
          </p:nvPr>
        </p:nvSpPr>
        <p:spPr/>
        <p:txBody>
          <a:bodyPr/>
          <a:lstStyle/>
          <a:p>
            <a:r>
              <a:rPr lang="en-US" dirty="0"/>
              <a:t>6-07</a:t>
            </a:r>
          </a:p>
        </p:txBody>
      </p:sp>
      <p:sp>
        <p:nvSpPr>
          <p:cNvPr id="3" name="Content Placeholder 2">
            <a:extLst>
              <a:ext uri="{FF2B5EF4-FFF2-40B4-BE49-F238E27FC236}">
                <a16:creationId xmlns:a16="http://schemas.microsoft.com/office/drawing/2014/main" id="{A6CF128E-7F84-C58B-4D4D-8BB08F83311C}"/>
              </a:ext>
            </a:extLst>
          </p:cNvPr>
          <p:cNvSpPr>
            <a:spLocks noGrp="1"/>
          </p:cNvSpPr>
          <p:nvPr>
            <p:ph idx="1"/>
          </p:nvPr>
        </p:nvSpPr>
        <p:spPr/>
        <p:txBody>
          <a:bodyPr/>
          <a:lstStyle/>
          <a:p>
            <a:endParaRPr lang="en-US"/>
          </a:p>
        </p:txBody>
      </p:sp>
      <p:pic>
        <p:nvPicPr>
          <p:cNvPr id="5" name="Picture 4" descr="An infographic poster titled &quot;Is Atlas Trustworthy?&quot; presents a sprint review and reflection for Sprint 6, focusing on proof, progress, and next steps related to Atlas TaskFlow's trustworthiness. It features sections on sprint achievements, a trust review checklist with categories like data protection and security configuration, a data and verification plan, remaining risks, and a commitment statement, using color-coded icons and labels to highlight key points and milestones.&#10;">
            <a:extLst>
              <a:ext uri="{FF2B5EF4-FFF2-40B4-BE49-F238E27FC236}">
                <a16:creationId xmlns:a16="http://schemas.microsoft.com/office/drawing/2014/main" id="{3DCF5A73-FD57-6322-34F9-3C845F6BE35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901852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16608</Words>
  <Application>Microsoft Office PowerPoint</Application>
  <PresentationFormat>Widescreen</PresentationFormat>
  <Paragraphs>7835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6-01</vt:lpstr>
      <vt:lpstr>6-02</vt:lpstr>
      <vt:lpstr>6-03</vt:lpstr>
      <vt:lpstr>6-04</vt:lpstr>
      <vt:lpstr>6-05</vt:lpstr>
      <vt:lpstr>6-06</vt:lpstr>
      <vt:lpstr>6-07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3</cp:revision>
  <dcterms:created xsi:type="dcterms:W3CDTF">2026-08-11T16:56:12Z</dcterms:created>
  <dcterms:modified xsi:type="dcterms:W3CDTF">2026-08-13T18:06:48Z</dcterms:modified>
</cp:coreProperties>
</file>