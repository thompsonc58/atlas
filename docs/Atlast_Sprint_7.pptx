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78" d="100"/>
          <a:sy n="78" d="100"/>
        </p:scale>
        <p:origin x="120" y="48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27588-995B-4691-BCA8-409856620FCC}"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FC1053-384D-42E4-B963-6C2B9553F5DF}" type="slidenum">
              <a:rPr lang="en-US" smtClean="0"/>
              <a:t>‹#›</a:t>
            </a:fld>
            <a:endParaRPr lang="en-US"/>
          </a:p>
        </p:txBody>
      </p:sp>
    </p:spTree>
    <p:extLst>
      <p:ext uri="{BB962C8B-B14F-4D97-AF65-F5344CB8AC3E}">
        <p14:creationId xmlns:p14="http://schemas.microsoft.com/office/powerpoint/2010/main" val="3109423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7</a:t>
            </a:r>
          </a:p>
          <a:p>
            <a:endParaRPr lang="en-US" dirty="0"/>
          </a:p>
          <a:p>
            <a:r>
              <a:rPr lang="en-US" dirty="0"/>
              <a:t>ENGINEERING BRIEF — IS ATLAS READY?</a:t>
            </a:r>
          </a:p>
          <a:p>
            <a:endParaRPr lang="en-US" dirty="0"/>
          </a:p>
          <a:p>
            <a:r>
              <a:rPr lang="en-US" dirty="0"/>
              <a:t>"Prepare Atlas </a:t>
            </a:r>
            <a:r>
              <a:rPr lang="en-US" dirty="0" err="1"/>
              <a:t>TaskFlow</a:t>
            </a:r>
            <a:r>
              <a:rPr lang="en-US" dirty="0"/>
              <a:t> for reliable, professional delivery."</a:t>
            </a:r>
          </a:p>
          <a:p>
            <a:endParaRPr lang="en-US" dirty="0"/>
          </a:p>
          <a:p>
            <a:r>
              <a:rPr lang="en-US" dirty="0"/>
              <a:t>============================================================</a:t>
            </a:r>
          </a:p>
          <a:p>
            <a:endParaRPr lang="en-US" dirty="0"/>
          </a:p>
          <a:p>
            <a:r>
              <a:rPr lang="en-US" dirty="0"/>
              <a:t>SLIDE PURPOSE</a:t>
            </a:r>
          </a:p>
          <a:p>
            <a:endParaRPr lang="en-US" dirty="0"/>
          </a:p>
          <a:p>
            <a:r>
              <a:rPr lang="en-US" dirty="0"/>
              <a:t>Introduce Sprint 7 as the transition from a working application to a</a:t>
            </a:r>
          </a:p>
          <a:p>
            <a:r>
              <a:rPr lang="en-US" dirty="0"/>
              <a:t>production-ready application.</a:t>
            </a:r>
          </a:p>
          <a:p>
            <a:endParaRPr lang="en-US" dirty="0"/>
          </a:p>
          <a:p>
            <a:r>
              <a:rPr lang="en-US" dirty="0"/>
              <a:t>Students should understand that:</a:t>
            </a:r>
          </a:p>
          <a:p>
            <a:endParaRPr lang="en-US" dirty="0"/>
          </a:p>
          <a:p>
            <a:r>
              <a:rPr lang="en-US" dirty="0"/>
              <a:t>WORKING ≠ READY</a:t>
            </a:r>
          </a:p>
          <a:p>
            <a:endParaRPr lang="en-US" dirty="0"/>
          </a:p>
          <a:p>
            <a:r>
              <a:rPr lang="en-US" dirty="0"/>
              <a:t>A production-ready application must be:</a:t>
            </a:r>
          </a:p>
          <a:p>
            <a:endParaRPr lang="en-US" dirty="0"/>
          </a:p>
          <a:p>
            <a:r>
              <a:rPr lang="en-US" dirty="0"/>
              <a:t>• Functional</a:t>
            </a:r>
          </a:p>
          <a:p>
            <a:r>
              <a:rPr lang="en-US" dirty="0"/>
              <a:t>• Reliable</a:t>
            </a:r>
          </a:p>
          <a:p>
            <a:r>
              <a:rPr lang="en-US" dirty="0"/>
              <a:t>• Secure</a:t>
            </a:r>
          </a:p>
          <a:p>
            <a:r>
              <a:rPr lang="en-US" dirty="0"/>
              <a:t>• Properly configured</a:t>
            </a:r>
          </a:p>
          <a:p>
            <a:r>
              <a:rPr lang="en-US" dirty="0"/>
              <a:t>• Tested</a:t>
            </a:r>
          </a:p>
          <a:p>
            <a:r>
              <a:rPr lang="en-US" dirty="0"/>
              <a:t>• Usable</a:t>
            </a:r>
          </a:p>
          <a:p>
            <a:r>
              <a:rPr lang="en-US" dirty="0"/>
              <a:t>• Documented</a:t>
            </a:r>
          </a:p>
          <a:p>
            <a:r>
              <a:rPr lang="en-US" dirty="0"/>
              <a:t>• Observable</a:t>
            </a:r>
          </a:p>
          <a:p>
            <a:r>
              <a:rPr lang="en-US" dirty="0"/>
              <a:t>• Maintainable</a:t>
            </a:r>
          </a:p>
          <a:p>
            <a:endParaRPr lang="en-US" dirty="0"/>
          </a:p>
          <a:p>
            <a:r>
              <a:rPr lang="en-US" dirty="0"/>
              <a:t>The purpose of this sprint is not to make Atlas perfect.</a:t>
            </a:r>
          </a:p>
          <a:p>
            <a:endParaRPr lang="en-US" dirty="0"/>
          </a:p>
          <a:p>
            <a:r>
              <a:rPr lang="en-US" dirty="0"/>
              <a:t>The purpose is to prepare Atlas for responsible real-world use.</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"Look at where Atlas </a:t>
            </a:r>
            <a:r>
              <a:rPr lang="en-US" dirty="0" err="1"/>
              <a:t>TaskFlow</a:t>
            </a:r>
            <a:r>
              <a:rPr lang="en-US" dirty="0"/>
              <a:t> is today."</a:t>
            </a:r>
          </a:p>
          <a:p>
            <a:endParaRPr lang="en-US" dirty="0"/>
          </a:p>
          <a:p>
            <a:r>
              <a:rPr lang="en-US" dirty="0"/>
              <a:t>"It runs."</a:t>
            </a:r>
          </a:p>
          <a:p>
            <a:endParaRPr lang="en-US" dirty="0"/>
          </a:p>
          <a:p>
            <a:r>
              <a:rPr lang="en-US" dirty="0"/>
              <a:t>"It has a database."</a:t>
            </a:r>
          </a:p>
          <a:p>
            <a:endParaRPr lang="en-US" dirty="0"/>
          </a:p>
          <a:p>
            <a:r>
              <a:rPr lang="en-US" dirty="0"/>
              <a:t>"It remembers information."</a:t>
            </a:r>
          </a:p>
          <a:p>
            <a:endParaRPr lang="en-US" dirty="0"/>
          </a:p>
          <a:p>
            <a:r>
              <a:rPr lang="en-US" dirty="0"/>
              <a:t>"It knows who users are."</a:t>
            </a:r>
          </a:p>
          <a:p>
            <a:endParaRPr lang="en-US" dirty="0"/>
          </a:p>
          <a:p>
            <a:r>
              <a:rPr lang="en-US" dirty="0"/>
              <a:t>"It controls access."</a:t>
            </a:r>
          </a:p>
          <a:p>
            <a:endParaRPr lang="en-US" dirty="0"/>
          </a:p>
          <a:p>
            <a:r>
              <a:rPr lang="en-US" dirty="0"/>
              <a:t>"We've tested its security."</a:t>
            </a:r>
          </a:p>
          <a:p>
            <a:endParaRPr lang="en-US" dirty="0"/>
          </a:p>
          <a:p>
            <a:r>
              <a:rPr lang="en-US" dirty="0"/>
              <a:t>Pause.</a:t>
            </a:r>
          </a:p>
          <a:p>
            <a:endParaRPr lang="en-US" dirty="0"/>
          </a:p>
          <a:p>
            <a:r>
              <a:rPr lang="en-US" dirty="0"/>
              <a:t>"So..."</a:t>
            </a:r>
          </a:p>
          <a:p>
            <a:endParaRPr lang="en-US" dirty="0"/>
          </a:p>
          <a:p>
            <a:r>
              <a:rPr lang="en-US" dirty="0"/>
              <a:t>"Are we ready to give it to real users?"</a:t>
            </a:r>
          </a:p>
          <a:p>
            <a:endParaRPr lang="en-US" dirty="0"/>
          </a:p>
          <a:p>
            <a:r>
              <a:rPr lang="en-US" dirty="0"/>
              <a:t>Students will likely say:</a:t>
            </a:r>
          </a:p>
          <a:p>
            <a:endParaRPr lang="en-US" dirty="0"/>
          </a:p>
          <a:p>
            <a:r>
              <a:rPr lang="en-US" dirty="0"/>
              <a:t>"Maybe."</a:t>
            </a:r>
          </a:p>
          <a:p>
            <a:endParaRPr lang="en-US" dirty="0"/>
          </a:p>
          <a:p>
            <a:r>
              <a:rPr lang="en-US" dirty="0"/>
              <a:t>Exactly.</a:t>
            </a:r>
          </a:p>
          <a:p>
            <a:endParaRPr lang="en-US" dirty="0"/>
          </a:p>
          <a:p>
            <a:r>
              <a:rPr lang="en-US" dirty="0"/>
              <a:t>Say:</a:t>
            </a:r>
          </a:p>
          <a:p>
            <a:endParaRPr lang="en-US" dirty="0"/>
          </a:p>
          <a:p>
            <a:r>
              <a:rPr lang="en-US" dirty="0"/>
              <a:t>"That's the question Sprint 7 is going to answer."</a:t>
            </a:r>
          </a:p>
          <a:p>
            <a:endParaRPr lang="en-US" dirty="0"/>
          </a:p>
          <a:p>
            <a:r>
              <a:rPr lang="en-US" dirty="0"/>
              <a:t>------------------------------------------------------------</a:t>
            </a:r>
          </a:p>
          <a:p>
            <a:endParaRPr lang="en-US" dirty="0"/>
          </a:p>
          <a:p>
            <a:r>
              <a:rPr lang="en-US" dirty="0"/>
              <a:t>THE ENGINEERING QUESTION</a:t>
            </a:r>
          </a:p>
          <a:p>
            <a:endParaRPr lang="en-US" dirty="0"/>
          </a:p>
          <a:p>
            <a:r>
              <a:rPr lang="en-US" dirty="0"/>
              <a:t>Point to:</a:t>
            </a:r>
          </a:p>
          <a:p>
            <a:endParaRPr lang="en-US" dirty="0"/>
          </a:p>
          <a:p>
            <a:r>
              <a:rPr lang="en-US" dirty="0"/>
              <a:t>WHAT DOES "READY" ACTUALLY MEAN?</a:t>
            </a:r>
          </a:p>
          <a:p>
            <a:endParaRPr lang="en-US" dirty="0"/>
          </a:p>
          <a:p>
            <a:r>
              <a:rPr lang="en-US" dirty="0"/>
              <a:t>Say:</a:t>
            </a:r>
          </a:p>
          <a:p>
            <a:endParaRPr lang="en-US" dirty="0"/>
          </a:p>
          <a:p>
            <a:r>
              <a:rPr lang="en-US" dirty="0"/>
              <a:t>"Think about the applications you use every day."</a:t>
            </a:r>
          </a:p>
          <a:p>
            <a:endParaRPr lang="en-US" dirty="0"/>
          </a:p>
          <a:p>
            <a:r>
              <a:rPr lang="en-US" dirty="0"/>
              <a:t>"Do they simply need to work?"</a:t>
            </a:r>
          </a:p>
          <a:p>
            <a:endParaRPr lang="en-US" dirty="0"/>
          </a:p>
          <a:p>
            <a:r>
              <a:rPr lang="en-US" dirty="0"/>
              <a:t>Or do you expect them to:</a:t>
            </a:r>
          </a:p>
          <a:p>
            <a:endParaRPr lang="en-US" dirty="0"/>
          </a:p>
          <a:p>
            <a:r>
              <a:rPr lang="en-US" dirty="0"/>
              <a:t>Work reliably.</a:t>
            </a:r>
          </a:p>
          <a:p>
            <a:endParaRPr lang="en-US" dirty="0"/>
          </a:p>
          <a:p>
            <a:r>
              <a:rPr lang="en-US" dirty="0"/>
              <a:t>Protect your information.</a:t>
            </a:r>
          </a:p>
          <a:p>
            <a:endParaRPr lang="en-US" dirty="0"/>
          </a:p>
          <a:p>
            <a:r>
              <a:rPr lang="en-US" dirty="0"/>
              <a:t>Handle errors.</a:t>
            </a:r>
          </a:p>
          <a:p>
            <a:endParaRPr lang="en-US" dirty="0"/>
          </a:p>
          <a:p>
            <a:r>
              <a:rPr lang="en-US" dirty="0"/>
              <a:t>Be available.</a:t>
            </a:r>
          </a:p>
          <a:p>
            <a:endParaRPr lang="en-US" dirty="0"/>
          </a:p>
          <a:p>
            <a:r>
              <a:rPr lang="en-US" dirty="0"/>
              <a:t>Be understandable.</a:t>
            </a:r>
          </a:p>
          <a:p>
            <a:endParaRPr lang="en-US" dirty="0"/>
          </a:p>
          <a:p>
            <a:r>
              <a:rPr lang="en-US" dirty="0"/>
              <a:t>Look professional.</a:t>
            </a:r>
          </a:p>
          <a:p>
            <a:endParaRPr lang="en-US" dirty="0"/>
          </a:p>
          <a:p>
            <a:r>
              <a:rPr lang="en-US" dirty="0"/>
              <a:t>Recover from problems.</a:t>
            </a:r>
          </a:p>
          <a:p>
            <a:endParaRPr lang="en-US" dirty="0"/>
          </a:p>
          <a:p>
            <a:r>
              <a:rPr lang="en-US" dirty="0"/>
              <a:t>Be maintained.</a:t>
            </a:r>
          </a:p>
          <a:p>
            <a:endParaRPr lang="en-US" dirty="0"/>
          </a:p>
          <a:p>
            <a:r>
              <a:rPr lang="en-US" dirty="0"/>
              <a:t>Exactly.</a:t>
            </a:r>
          </a:p>
          <a:p>
            <a:endParaRPr lang="en-US" dirty="0"/>
          </a:p>
          <a:p>
            <a:r>
              <a:rPr lang="en-US" dirty="0"/>
              <a:t>"That's what ready means."</a:t>
            </a:r>
          </a:p>
          <a:p>
            <a:endParaRPr lang="en-US" dirty="0"/>
          </a:p>
          <a:p>
            <a:r>
              <a:rPr lang="en-US" dirty="0"/>
              <a:t>------------------------------------------------------------</a:t>
            </a:r>
          </a:p>
          <a:p>
            <a:endParaRPr lang="en-US" dirty="0"/>
          </a:p>
          <a:p>
            <a:r>
              <a:rPr lang="en-US" dirty="0"/>
              <a:t>WORKING VS READY</a:t>
            </a:r>
          </a:p>
          <a:p>
            <a:endParaRPr lang="en-US" dirty="0"/>
          </a:p>
          <a:p>
            <a:r>
              <a:rPr lang="en-US" dirty="0"/>
              <a:t>Write on the board:</a:t>
            </a:r>
          </a:p>
          <a:p>
            <a:endParaRPr lang="en-US" dirty="0"/>
          </a:p>
          <a:p>
            <a:r>
              <a:rPr lang="en-US" dirty="0"/>
              <a:t>WORKING</a:t>
            </a:r>
          </a:p>
          <a:p>
            <a:endParaRPr lang="en-US" dirty="0"/>
          </a:p>
          <a:p>
            <a:r>
              <a:rPr lang="en-US" dirty="0"/>
              <a:t>≠</a:t>
            </a:r>
          </a:p>
          <a:p>
            <a:endParaRPr lang="en-US" dirty="0"/>
          </a:p>
          <a:p>
            <a:r>
              <a:rPr lang="en-US" dirty="0"/>
              <a:t>READY</a:t>
            </a:r>
          </a:p>
          <a:p>
            <a:endParaRPr lang="en-US" dirty="0"/>
          </a:p>
          <a:p>
            <a:r>
              <a:rPr lang="en-US" dirty="0"/>
              <a:t>Explain:</a:t>
            </a:r>
          </a:p>
          <a:p>
            <a:endParaRPr lang="en-US" dirty="0"/>
          </a:p>
          <a:p>
            <a:r>
              <a:rPr lang="en-US" dirty="0"/>
              <a:t>"An application can work perfectly during a classroom demonstration</a:t>
            </a:r>
          </a:p>
          <a:p>
            <a:r>
              <a:rPr lang="en-US" dirty="0"/>
              <a:t>and still not be ready for real users."</a:t>
            </a:r>
          </a:p>
          <a:p>
            <a:endParaRPr lang="en-US" dirty="0"/>
          </a:p>
          <a:p>
            <a:r>
              <a:rPr lang="en-US" dirty="0"/>
              <a:t>Examples:</a:t>
            </a:r>
          </a:p>
          <a:p>
            <a:endParaRPr lang="en-US" dirty="0"/>
          </a:p>
          <a:p>
            <a:r>
              <a:rPr lang="en-US" dirty="0"/>
              <a:t>Debug mode is enabled.</a:t>
            </a:r>
          </a:p>
          <a:p>
            <a:endParaRPr lang="en-US" dirty="0"/>
          </a:p>
          <a:p>
            <a:r>
              <a:rPr lang="en-US" dirty="0"/>
              <a:t>Secrets are hard-coded.</a:t>
            </a:r>
          </a:p>
          <a:p>
            <a:endParaRPr lang="en-US" dirty="0"/>
          </a:p>
          <a:p>
            <a:r>
              <a:rPr lang="en-US" dirty="0"/>
              <a:t>Errors expose technical details.</a:t>
            </a:r>
          </a:p>
          <a:p>
            <a:endParaRPr lang="en-US" dirty="0"/>
          </a:p>
          <a:p>
            <a:r>
              <a:rPr lang="en-US" dirty="0"/>
              <a:t>There are no backups.</a:t>
            </a:r>
          </a:p>
          <a:p>
            <a:endParaRPr lang="en-US" dirty="0"/>
          </a:p>
          <a:p>
            <a:r>
              <a:rPr lang="en-US" dirty="0"/>
              <a:t>Nobody knows when the application fails.</a:t>
            </a:r>
          </a:p>
          <a:p>
            <a:endParaRPr lang="en-US" dirty="0"/>
          </a:p>
          <a:p>
            <a:r>
              <a:rPr lang="en-US" dirty="0"/>
              <a:t>The interface is confusing.</a:t>
            </a:r>
          </a:p>
          <a:p>
            <a:endParaRPr lang="en-US" dirty="0"/>
          </a:p>
          <a:p>
            <a:r>
              <a:rPr lang="en-US" dirty="0"/>
              <a:t>No documentation exists.</a:t>
            </a:r>
          </a:p>
          <a:p>
            <a:endParaRPr lang="en-US" dirty="0"/>
          </a:p>
          <a:p>
            <a:r>
              <a:rPr lang="en-US" dirty="0"/>
              <a:t>Testing is incomplete.</a:t>
            </a:r>
          </a:p>
          <a:p>
            <a:endParaRPr lang="en-US" dirty="0"/>
          </a:p>
          <a:p>
            <a:r>
              <a:rPr lang="en-US" dirty="0"/>
              <a:t>Say:</a:t>
            </a:r>
          </a:p>
          <a:p>
            <a:endParaRPr lang="en-US" dirty="0"/>
          </a:p>
          <a:p>
            <a:r>
              <a:rPr lang="en-US" dirty="0"/>
              <a:t>"Working is the starting point."</a:t>
            </a:r>
          </a:p>
          <a:p>
            <a:endParaRPr lang="en-US" dirty="0"/>
          </a:p>
          <a:p>
            <a:r>
              <a:rPr lang="en-US" dirty="0"/>
              <a:t>"Readiness is the next level."</a:t>
            </a:r>
          </a:p>
          <a:p>
            <a:endParaRPr lang="en-US" dirty="0"/>
          </a:p>
          <a:p>
            <a:r>
              <a:rPr lang="en-US" dirty="0"/>
              <a:t>------------------------------------------------------------</a:t>
            </a:r>
          </a:p>
          <a:p>
            <a:endParaRPr lang="en-US" dirty="0"/>
          </a:p>
          <a:p>
            <a:r>
              <a:rPr lang="en-US" dirty="0"/>
              <a:t>THE MISSION</a:t>
            </a:r>
          </a:p>
          <a:p>
            <a:endParaRPr lang="en-US" dirty="0"/>
          </a:p>
          <a:p>
            <a:r>
              <a:rPr lang="en-US" dirty="0"/>
              <a:t>Point to:</a:t>
            </a:r>
          </a:p>
          <a:p>
            <a:endParaRPr lang="en-US" dirty="0"/>
          </a:p>
          <a:p>
            <a:r>
              <a:rPr lang="en-US" dirty="0"/>
              <a:t>THE MISSION.</a:t>
            </a:r>
          </a:p>
          <a:p>
            <a:endParaRPr lang="en-US" dirty="0"/>
          </a:p>
          <a:p>
            <a:r>
              <a:rPr lang="en-US" dirty="0"/>
              <a:t>Read:</a:t>
            </a:r>
          </a:p>
          <a:p>
            <a:endParaRPr lang="en-US" dirty="0"/>
          </a:p>
          <a:p>
            <a:r>
              <a:rPr lang="en-US" dirty="0"/>
              <a:t>"Prepare Atlas </a:t>
            </a:r>
            <a:r>
              <a:rPr lang="en-US" dirty="0" err="1"/>
              <a:t>TaskFlow</a:t>
            </a:r>
            <a:r>
              <a:rPr lang="en-US" dirty="0"/>
              <a:t> for reliable, professional delivery by</a:t>
            </a:r>
          </a:p>
          <a:p>
            <a:r>
              <a:rPr lang="en-US" dirty="0"/>
              <a:t>testing, configuring, documenting, and evaluating the application</a:t>
            </a:r>
          </a:p>
          <a:p>
            <a:r>
              <a:rPr lang="en-US" dirty="0"/>
              <a:t>for real-world use."</a:t>
            </a:r>
          </a:p>
          <a:p>
            <a:endParaRPr lang="en-US" dirty="0"/>
          </a:p>
          <a:p>
            <a:r>
              <a:rPr lang="en-US" dirty="0"/>
              <a:t>Explain:</a:t>
            </a:r>
          </a:p>
          <a:p>
            <a:endParaRPr lang="en-US" dirty="0"/>
          </a:p>
          <a:p>
            <a:r>
              <a:rPr lang="en-US" dirty="0"/>
              <a:t>"This sprint is about preparation."</a:t>
            </a:r>
          </a:p>
          <a:p>
            <a:endParaRPr lang="en-US" dirty="0"/>
          </a:p>
          <a:p>
            <a:r>
              <a:rPr lang="en-US" dirty="0"/>
              <a:t>"We're taking what we built..."</a:t>
            </a:r>
          </a:p>
          <a:p>
            <a:endParaRPr lang="en-US" dirty="0"/>
          </a:p>
          <a:p>
            <a:r>
              <a:rPr lang="en-US" dirty="0"/>
              <a:t>"...and making it something we could responsibly hand to users."</a:t>
            </a:r>
          </a:p>
          <a:p>
            <a:endParaRPr lang="en-US" dirty="0"/>
          </a:p>
          <a:p>
            <a:r>
              <a:rPr lang="en-US" dirty="0"/>
              <a:t>------------------------------------------------------------</a:t>
            </a:r>
          </a:p>
          <a:p>
            <a:endParaRPr lang="en-US" dirty="0"/>
          </a:p>
          <a:p>
            <a:r>
              <a:rPr lang="en-US" dirty="0"/>
              <a:t>WHAT READY MEANS</a:t>
            </a:r>
          </a:p>
          <a:p>
            <a:endParaRPr lang="en-US" dirty="0"/>
          </a:p>
          <a:p>
            <a:r>
              <a:rPr lang="en-US" dirty="0"/>
              <a:t>Point to the eight areas.</a:t>
            </a:r>
          </a:p>
          <a:p>
            <a:endParaRPr lang="en-US" dirty="0"/>
          </a:p>
          <a:p>
            <a:r>
              <a:rPr lang="en-US" dirty="0"/>
              <a:t>FUNCTIONALITY</a:t>
            </a:r>
          </a:p>
          <a:p>
            <a:endParaRPr lang="en-US" dirty="0"/>
          </a:p>
          <a:p>
            <a:r>
              <a:rPr lang="en-US" dirty="0"/>
              <a:t>RELIABILITY</a:t>
            </a:r>
          </a:p>
          <a:p>
            <a:endParaRPr lang="en-US" dirty="0"/>
          </a:p>
          <a:p>
            <a:r>
              <a:rPr lang="en-US" dirty="0"/>
              <a:t>SECURITY</a:t>
            </a:r>
          </a:p>
          <a:p>
            <a:endParaRPr lang="en-US" dirty="0"/>
          </a:p>
          <a:p>
            <a:r>
              <a:rPr lang="en-US" dirty="0"/>
              <a:t>CONFIGURATION</a:t>
            </a:r>
          </a:p>
          <a:p>
            <a:endParaRPr lang="en-US" dirty="0"/>
          </a:p>
          <a:p>
            <a:r>
              <a:rPr lang="en-US" dirty="0"/>
              <a:t>TESTING</a:t>
            </a:r>
          </a:p>
          <a:p>
            <a:endParaRPr lang="en-US" dirty="0"/>
          </a:p>
          <a:p>
            <a:r>
              <a:rPr lang="en-US" dirty="0"/>
              <a:t>USABILITY</a:t>
            </a:r>
          </a:p>
          <a:p>
            <a:endParaRPr lang="en-US" dirty="0"/>
          </a:p>
          <a:p>
            <a:r>
              <a:rPr lang="en-US" dirty="0"/>
              <a:t>DOCUMENTATION</a:t>
            </a:r>
          </a:p>
          <a:p>
            <a:endParaRPr lang="en-US" dirty="0"/>
          </a:p>
          <a:p>
            <a:r>
              <a:rPr lang="en-US" dirty="0"/>
              <a:t>OPERATIONS</a:t>
            </a:r>
          </a:p>
          <a:p>
            <a:endParaRPr lang="en-US" dirty="0"/>
          </a:p>
          <a:p>
            <a:r>
              <a:rPr lang="en-US" dirty="0"/>
              <a:t>Say:</a:t>
            </a:r>
          </a:p>
          <a:p>
            <a:endParaRPr lang="en-US" dirty="0"/>
          </a:p>
          <a:p>
            <a:r>
              <a:rPr lang="en-US" dirty="0"/>
              <a:t>"These are our readiness categories."</a:t>
            </a:r>
          </a:p>
          <a:p>
            <a:endParaRPr lang="en-US" dirty="0"/>
          </a:p>
          <a:p>
            <a:r>
              <a:rPr lang="en-US" dirty="0"/>
              <a:t>"We're going to examine each one."</a:t>
            </a:r>
          </a:p>
          <a:p>
            <a:endParaRPr lang="en-US" dirty="0"/>
          </a:p>
          <a:p>
            <a:r>
              <a:rPr lang="en-US" dirty="0"/>
              <a:t>------------------------------------------------------------</a:t>
            </a:r>
          </a:p>
          <a:p>
            <a:endParaRPr lang="en-US" dirty="0"/>
          </a:p>
          <a:p>
            <a:r>
              <a:rPr lang="en-US" dirty="0"/>
              <a:t>FUNCTIONALITY</a:t>
            </a:r>
          </a:p>
          <a:p>
            <a:endParaRPr lang="en-US" dirty="0"/>
          </a:p>
          <a:p>
            <a:r>
              <a:rPr lang="en-US" dirty="0"/>
              <a:t>Point to:</a:t>
            </a:r>
          </a:p>
          <a:p>
            <a:endParaRPr lang="en-US" dirty="0"/>
          </a:p>
          <a:p>
            <a:r>
              <a:rPr lang="en-US" dirty="0"/>
              <a:t>FUNCTIONALITY.</a:t>
            </a:r>
          </a:p>
          <a:p>
            <a:endParaRPr lang="en-US" dirty="0"/>
          </a:p>
          <a:p>
            <a:r>
              <a:rPr lang="en-US" dirty="0"/>
              <a:t>Ask:</a:t>
            </a:r>
          </a:p>
          <a:p>
            <a:endParaRPr lang="en-US" dirty="0"/>
          </a:p>
          <a:p>
            <a:r>
              <a:rPr lang="en-US" dirty="0"/>
              <a:t>"Does Atlas do what it's supposed to do?"</a:t>
            </a:r>
          </a:p>
          <a:p>
            <a:endParaRPr lang="en-US" dirty="0"/>
          </a:p>
          <a:p>
            <a:r>
              <a:rPr lang="en-US" dirty="0"/>
              <a:t>Review:</a:t>
            </a:r>
          </a:p>
          <a:p>
            <a:endParaRPr lang="en-US" dirty="0"/>
          </a:p>
          <a:p>
            <a:r>
              <a:rPr lang="en-US" dirty="0"/>
              <a:t>Requirements.</a:t>
            </a:r>
          </a:p>
          <a:p>
            <a:endParaRPr lang="en-US" dirty="0"/>
          </a:p>
          <a:p>
            <a:r>
              <a:rPr lang="en-US" dirty="0"/>
              <a:t>Features.</a:t>
            </a:r>
          </a:p>
          <a:p>
            <a:endParaRPr lang="en-US" dirty="0"/>
          </a:p>
          <a:p>
            <a:r>
              <a:rPr lang="en-US" dirty="0"/>
              <a:t>User stories.</a:t>
            </a:r>
          </a:p>
          <a:p>
            <a:endParaRPr lang="en-US" dirty="0"/>
          </a:p>
          <a:p>
            <a:r>
              <a:rPr lang="en-US" dirty="0"/>
              <a:t>Workflows.</a:t>
            </a:r>
          </a:p>
          <a:p>
            <a:endParaRPr lang="en-US" dirty="0"/>
          </a:p>
          <a:p>
            <a:r>
              <a:rPr lang="en-US" dirty="0"/>
              <a:t>Expected behavior.</a:t>
            </a:r>
          </a:p>
          <a:p>
            <a:endParaRPr lang="en-US" dirty="0"/>
          </a:p>
          <a:p>
            <a:r>
              <a:rPr lang="en-US" dirty="0"/>
              <a:t>Explain:</a:t>
            </a:r>
          </a:p>
          <a:p>
            <a:endParaRPr lang="en-US" dirty="0"/>
          </a:p>
          <a:p>
            <a:r>
              <a:rPr lang="en-US" dirty="0"/>
              <a:t>"Functionality is still our foundation."</a:t>
            </a:r>
          </a:p>
          <a:p>
            <a:endParaRPr lang="en-US" dirty="0"/>
          </a:p>
          <a:p>
            <a:r>
              <a:rPr lang="en-US" dirty="0"/>
              <a:t>"If the application doesn't perform its core purpose..."</a:t>
            </a:r>
          </a:p>
          <a:p>
            <a:endParaRPr lang="en-US" dirty="0"/>
          </a:p>
          <a:p>
            <a:r>
              <a:rPr lang="en-US" dirty="0"/>
              <a:t>"Nothing else matters."</a:t>
            </a:r>
          </a:p>
          <a:p>
            <a:endParaRPr lang="en-US" dirty="0"/>
          </a:p>
          <a:p>
            <a:r>
              <a:rPr lang="en-US" dirty="0"/>
              <a:t>------------------------------------------------------------</a:t>
            </a:r>
          </a:p>
          <a:p>
            <a:endParaRPr lang="en-US" dirty="0"/>
          </a:p>
          <a:p>
            <a:r>
              <a:rPr lang="en-US" dirty="0"/>
              <a:t>RELIABILITY</a:t>
            </a:r>
          </a:p>
          <a:p>
            <a:endParaRPr lang="en-US" dirty="0"/>
          </a:p>
          <a:p>
            <a:r>
              <a:rPr lang="en-US" dirty="0"/>
              <a:t>Point to:</a:t>
            </a:r>
          </a:p>
          <a:p>
            <a:endParaRPr lang="en-US" dirty="0"/>
          </a:p>
          <a:p>
            <a:r>
              <a:rPr lang="en-US" dirty="0"/>
              <a:t>RELIABILITY.</a:t>
            </a:r>
          </a:p>
          <a:p>
            <a:endParaRPr lang="en-US" dirty="0"/>
          </a:p>
          <a:p>
            <a:r>
              <a:rPr lang="en-US" dirty="0"/>
              <a:t>Ask:</a:t>
            </a:r>
          </a:p>
          <a:p>
            <a:endParaRPr lang="en-US" dirty="0"/>
          </a:p>
          <a:p>
            <a:r>
              <a:rPr lang="en-US" dirty="0"/>
              <a:t>"What happens when something goes wrong?"</a:t>
            </a:r>
          </a:p>
          <a:p>
            <a:endParaRPr lang="en-US" dirty="0"/>
          </a:p>
          <a:p>
            <a:r>
              <a:rPr lang="en-US" dirty="0"/>
              <a:t>Examples:</a:t>
            </a:r>
          </a:p>
          <a:p>
            <a:endParaRPr lang="en-US" dirty="0"/>
          </a:p>
          <a:p>
            <a:r>
              <a:rPr lang="en-US" dirty="0"/>
              <a:t>Database unavailable.</a:t>
            </a:r>
          </a:p>
          <a:p>
            <a:endParaRPr lang="en-US" dirty="0"/>
          </a:p>
          <a:p>
            <a:r>
              <a:rPr lang="en-US" dirty="0"/>
              <a:t>Invalid input.</a:t>
            </a:r>
          </a:p>
          <a:p>
            <a:endParaRPr lang="en-US" dirty="0"/>
          </a:p>
          <a:p>
            <a:r>
              <a:rPr lang="en-US" dirty="0"/>
              <a:t>Missing information.</a:t>
            </a:r>
          </a:p>
          <a:p>
            <a:endParaRPr lang="en-US" dirty="0"/>
          </a:p>
          <a:p>
            <a:r>
              <a:rPr lang="en-US" dirty="0"/>
              <a:t>Unexpected error.</a:t>
            </a:r>
          </a:p>
          <a:p>
            <a:endParaRPr lang="en-US" dirty="0"/>
          </a:p>
          <a:p>
            <a:r>
              <a:rPr lang="en-US" dirty="0"/>
              <a:t>Network problem.</a:t>
            </a:r>
          </a:p>
          <a:p>
            <a:endParaRPr lang="en-US" dirty="0"/>
          </a:p>
          <a:p>
            <a:r>
              <a:rPr lang="en-US" dirty="0"/>
              <a:t>Explain:</a:t>
            </a:r>
          </a:p>
          <a:p>
            <a:endParaRPr lang="en-US" dirty="0"/>
          </a:p>
          <a:p>
            <a:r>
              <a:rPr lang="en-US" dirty="0"/>
              <a:t>"A reliable application doesn't necessarily prevent every problem."</a:t>
            </a:r>
          </a:p>
          <a:p>
            <a:endParaRPr lang="en-US" dirty="0"/>
          </a:p>
          <a:p>
            <a:r>
              <a:rPr lang="en-US" dirty="0"/>
              <a:t>"It handles problems gracefully."</a:t>
            </a:r>
          </a:p>
          <a:p>
            <a:endParaRPr lang="en-US" dirty="0"/>
          </a:p>
          <a:p>
            <a:r>
              <a:rPr lang="en-US" dirty="0"/>
              <a:t>------------------------------------------------------------</a:t>
            </a:r>
          </a:p>
          <a:p>
            <a:endParaRPr lang="en-US" dirty="0"/>
          </a:p>
          <a:p>
            <a:r>
              <a:rPr lang="en-US" dirty="0"/>
              <a:t>GRACEFUL FAILURE</a:t>
            </a:r>
          </a:p>
          <a:p>
            <a:endParaRPr lang="en-US" dirty="0"/>
          </a:p>
          <a:p>
            <a:r>
              <a:rPr lang="en-US" dirty="0"/>
              <a:t>Give an example.</a:t>
            </a:r>
          </a:p>
          <a:p>
            <a:endParaRPr lang="en-US" dirty="0"/>
          </a:p>
          <a:p>
            <a:r>
              <a:rPr lang="en-US" dirty="0"/>
              <a:t>Bad:</a:t>
            </a:r>
          </a:p>
          <a:p>
            <a:endParaRPr lang="en-US" dirty="0"/>
          </a:p>
          <a:p>
            <a:r>
              <a:rPr lang="en-US" dirty="0"/>
              <a:t>Application crashes.</a:t>
            </a:r>
          </a:p>
          <a:p>
            <a:endParaRPr lang="en-US" dirty="0"/>
          </a:p>
          <a:p>
            <a:r>
              <a:rPr lang="en-US" dirty="0"/>
              <a:t>User sees a stack trace.</a:t>
            </a:r>
          </a:p>
          <a:p>
            <a:endParaRPr lang="en-US" dirty="0"/>
          </a:p>
          <a:p>
            <a:r>
              <a:rPr lang="en-US" dirty="0"/>
              <a:t>Data is lost.</a:t>
            </a:r>
          </a:p>
          <a:p>
            <a:endParaRPr lang="en-US" dirty="0"/>
          </a:p>
          <a:p>
            <a:r>
              <a:rPr lang="en-US" dirty="0"/>
              <a:t>Better:</a:t>
            </a:r>
          </a:p>
          <a:p>
            <a:endParaRPr lang="en-US" dirty="0"/>
          </a:p>
          <a:p>
            <a:r>
              <a:rPr lang="en-US" dirty="0"/>
              <a:t>Application detects the problem.</a:t>
            </a:r>
          </a:p>
          <a:p>
            <a:endParaRPr lang="en-US" dirty="0"/>
          </a:p>
          <a:p>
            <a:r>
              <a:rPr lang="en-US" dirty="0"/>
              <a:t>User receives a useful message.</a:t>
            </a:r>
          </a:p>
          <a:p>
            <a:endParaRPr lang="en-US" dirty="0"/>
          </a:p>
          <a:p>
            <a:r>
              <a:rPr lang="en-US" dirty="0"/>
              <a:t>The failure is logged.</a:t>
            </a:r>
          </a:p>
          <a:p>
            <a:endParaRPr lang="en-US" dirty="0"/>
          </a:p>
          <a:p>
            <a:r>
              <a:rPr lang="en-US" dirty="0"/>
              <a:t>The application remains stable.</a:t>
            </a:r>
          </a:p>
          <a:p>
            <a:endParaRPr lang="en-US" dirty="0"/>
          </a:p>
          <a:p>
            <a:r>
              <a:rPr lang="en-US" dirty="0"/>
              <a:t>Explain:</a:t>
            </a:r>
          </a:p>
          <a:p>
            <a:endParaRPr lang="en-US" dirty="0"/>
          </a:p>
          <a:p>
            <a:r>
              <a:rPr lang="en-US" dirty="0"/>
              <a:t>"That's graceful failure."</a:t>
            </a:r>
          </a:p>
          <a:p>
            <a:endParaRPr lang="en-US" dirty="0"/>
          </a:p>
          <a:p>
            <a:r>
              <a:rPr lang="en-US" dirty="0"/>
              <a:t>------------------------------------------------------------</a:t>
            </a:r>
          </a:p>
          <a:p>
            <a:endParaRPr lang="en-US" dirty="0"/>
          </a:p>
          <a:p>
            <a:r>
              <a:rPr lang="en-US" dirty="0"/>
              <a:t>SECURITY</a:t>
            </a:r>
          </a:p>
          <a:p>
            <a:endParaRPr lang="en-US" dirty="0"/>
          </a:p>
          <a:p>
            <a:r>
              <a:rPr lang="en-US" dirty="0"/>
              <a:t>Point to:</a:t>
            </a:r>
          </a:p>
          <a:p>
            <a:endParaRPr lang="en-US" dirty="0"/>
          </a:p>
          <a:p>
            <a:r>
              <a:rPr lang="en-US" dirty="0"/>
              <a:t>SECURITY.</a:t>
            </a:r>
          </a:p>
          <a:p>
            <a:endParaRPr lang="en-US" dirty="0"/>
          </a:p>
          <a:p>
            <a:r>
              <a:rPr lang="en-US" dirty="0"/>
              <a:t>Say:</a:t>
            </a:r>
          </a:p>
          <a:p>
            <a:endParaRPr lang="en-US" dirty="0"/>
          </a:p>
          <a:p>
            <a:r>
              <a:rPr lang="en-US" dirty="0"/>
              <a:t>"We just spent an entire sprint on this."</a:t>
            </a:r>
          </a:p>
          <a:p>
            <a:endParaRPr lang="en-US" dirty="0"/>
          </a:p>
          <a:p>
            <a:r>
              <a:rPr lang="en-US" dirty="0"/>
              <a:t>Review:</a:t>
            </a:r>
          </a:p>
          <a:p>
            <a:endParaRPr lang="en-US" dirty="0"/>
          </a:p>
          <a:p>
            <a:r>
              <a:rPr lang="en-US" dirty="0"/>
              <a:t>Authentication.</a:t>
            </a:r>
          </a:p>
          <a:p>
            <a:endParaRPr lang="en-US" dirty="0"/>
          </a:p>
          <a:p>
            <a:r>
              <a:rPr lang="en-US" dirty="0"/>
              <a:t>Authorization.</a:t>
            </a:r>
          </a:p>
          <a:p>
            <a:endParaRPr lang="en-US" dirty="0"/>
          </a:p>
          <a:p>
            <a:r>
              <a:rPr lang="en-US" dirty="0"/>
              <a:t>Data protection.</a:t>
            </a:r>
          </a:p>
          <a:p>
            <a:endParaRPr lang="en-US" dirty="0"/>
          </a:p>
          <a:p>
            <a:r>
              <a:rPr lang="en-US" dirty="0"/>
              <a:t>Secrets.</a:t>
            </a:r>
          </a:p>
          <a:p>
            <a:endParaRPr lang="en-US" dirty="0"/>
          </a:p>
          <a:p>
            <a:r>
              <a:rPr lang="en-US" dirty="0"/>
              <a:t>HTTPS.</a:t>
            </a:r>
          </a:p>
          <a:p>
            <a:endParaRPr lang="en-US" dirty="0"/>
          </a:p>
          <a:p>
            <a:r>
              <a:rPr lang="en-US" dirty="0"/>
              <a:t>Security testing.</a:t>
            </a:r>
          </a:p>
          <a:p>
            <a:endParaRPr lang="en-US" dirty="0"/>
          </a:p>
          <a:p>
            <a:r>
              <a:rPr lang="en-US" dirty="0"/>
              <a:t>Explain:</a:t>
            </a:r>
          </a:p>
          <a:p>
            <a:endParaRPr lang="en-US" dirty="0"/>
          </a:p>
          <a:p>
            <a:r>
              <a:rPr lang="en-US" dirty="0"/>
              <a:t>"Security doesn't disappear because we're entering Sprint 7."</a:t>
            </a:r>
          </a:p>
          <a:p>
            <a:endParaRPr lang="en-US" dirty="0"/>
          </a:p>
          <a:p>
            <a:r>
              <a:rPr lang="en-US" dirty="0"/>
              <a:t>"It becomes part of our readiness evaluation."</a:t>
            </a:r>
          </a:p>
          <a:p>
            <a:endParaRPr lang="en-US" dirty="0"/>
          </a:p>
          <a:p>
            <a:r>
              <a:rPr lang="en-US" dirty="0"/>
              <a:t>------------------------------------------------------------</a:t>
            </a:r>
          </a:p>
          <a:p>
            <a:endParaRPr lang="en-US" dirty="0"/>
          </a:p>
          <a:p>
            <a:r>
              <a:rPr lang="en-US" dirty="0"/>
              <a:t>CONFIGURATION</a:t>
            </a:r>
          </a:p>
          <a:p>
            <a:endParaRPr lang="en-US" dirty="0"/>
          </a:p>
          <a:p>
            <a:r>
              <a:rPr lang="en-US" dirty="0"/>
              <a:t>Point to:</a:t>
            </a:r>
          </a:p>
          <a:p>
            <a:endParaRPr lang="en-US" dirty="0"/>
          </a:p>
          <a:p>
            <a:r>
              <a:rPr lang="en-US" dirty="0"/>
              <a:t>CONFIGURATION.</a:t>
            </a:r>
          </a:p>
          <a:p>
            <a:endParaRPr lang="en-US" dirty="0"/>
          </a:p>
          <a:p>
            <a:r>
              <a:rPr lang="en-US" dirty="0"/>
              <a:t>Ask:</a:t>
            </a:r>
          </a:p>
          <a:p>
            <a:endParaRPr lang="en-US" dirty="0"/>
          </a:p>
          <a:p>
            <a:r>
              <a:rPr lang="en-US" dirty="0"/>
              <a:t>"Would you deploy your development environment exactly as it is?"</a:t>
            </a:r>
          </a:p>
          <a:p>
            <a:endParaRPr lang="en-US" dirty="0"/>
          </a:p>
          <a:p>
            <a:r>
              <a:rPr lang="en-US" dirty="0"/>
              <a:t>Students may say:</a:t>
            </a:r>
          </a:p>
          <a:p>
            <a:endParaRPr lang="en-US" dirty="0"/>
          </a:p>
          <a:p>
            <a:r>
              <a:rPr lang="en-US" dirty="0"/>
              <a:t>"No."</a:t>
            </a:r>
          </a:p>
          <a:p>
            <a:endParaRPr lang="en-US" dirty="0"/>
          </a:p>
          <a:p>
            <a:r>
              <a:rPr lang="en-US" dirty="0"/>
              <a:t>Exactly.</a:t>
            </a:r>
          </a:p>
          <a:p>
            <a:endParaRPr lang="en-US" dirty="0"/>
          </a:p>
          <a:p>
            <a:r>
              <a:rPr lang="en-US" dirty="0"/>
              <a:t>Explain:</a:t>
            </a:r>
          </a:p>
          <a:p>
            <a:endParaRPr lang="en-US" dirty="0"/>
          </a:p>
          <a:p>
            <a:r>
              <a:rPr lang="en-US" dirty="0"/>
              <a:t>"Development and production have different requirements."</a:t>
            </a:r>
          </a:p>
          <a:p>
            <a:endParaRPr lang="en-US" dirty="0"/>
          </a:p>
          <a:p>
            <a:r>
              <a:rPr lang="en-US" dirty="0"/>
              <a:t>Examples:</a:t>
            </a:r>
          </a:p>
          <a:p>
            <a:endParaRPr lang="en-US" dirty="0"/>
          </a:p>
          <a:p>
            <a:r>
              <a:rPr lang="en-US" dirty="0"/>
              <a:t>Debugging.</a:t>
            </a:r>
          </a:p>
          <a:p>
            <a:endParaRPr lang="en-US" dirty="0"/>
          </a:p>
          <a:p>
            <a:r>
              <a:rPr lang="en-US" dirty="0"/>
              <a:t>Connection strings.</a:t>
            </a:r>
          </a:p>
          <a:p>
            <a:endParaRPr lang="en-US" dirty="0"/>
          </a:p>
          <a:p>
            <a:r>
              <a:rPr lang="en-US" dirty="0"/>
              <a:t>Secrets.</a:t>
            </a:r>
          </a:p>
          <a:p>
            <a:endParaRPr lang="en-US" dirty="0"/>
          </a:p>
          <a:p>
            <a:r>
              <a:rPr lang="en-US" dirty="0"/>
              <a:t>Environment variables.</a:t>
            </a:r>
          </a:p>
          <a:p>
            <a:endParaRPr lang="en-US" dirty="0"/>
          </a:p>
          <a:p>
            <a:r>
              <a:rPr lang="en-US" dirty="0"/>
              <a:t>Error handling.</a:t>
            </a:r>
          </a:p>
          <a:p>
            <a:endParaRPr lang="en-US" dirty="0"/>
          </a:p>
          <a:p>
            <a:r>
              <a:rPr lang="en-US" dirty="0"/>
              <a:t>Application settings.</a:t>
            </a:r>
          </a:p>
          <a:p>
            <a:endParaRPr lang="en-US" dirty="0"/>
          </a:p>
          <a:p>
            <a:r>
              <a:rPr lang="en-US" dirty="0"/>
              <a:t>Explain:</a:t>
            </a:r>
          </a:p>
          <a:p>
            <a:endParaRPr lang="en-US" dirty="0"/>
          </a:p>
          <a:p>
            <a:r>
              <a:rPr lang="en-US" dirty="0"/>
              <a:t>"We need to make sure Atlas is configured appropriately for where it</a:t>
            </a:r>
          </a:p>
          <a:p>
            <a:r>
              <a:rPr lang="en-US" dirty="0"/>
              <a:t>is running."</a:t>
            </a:r>
          </a:p>
          <a:p>
            <a:endParaRPr lang="en-US" dirty="0"/>
          </a:p>
          <a:p>
            <a:r>
              <a:rPr lang="en-US" dirty="0"/>
              <a:t>------------------------------------------------------------</a:t>
            </a:r>
          </a:p>
          <a:p>
            <a:endParaRPr lang="en-US" dirty="0"/>
          </a:p>
          <a:p>
            <a:r>
              <a:rPr lang="en-US" dirty="0"/>
              <a:t>TESTING</a:t>
            </a:r>
          </a:p>
          <a:p>
            <a:endParaRPr lang="en-US" dirty="0"/>
          </a:p>
          <a:p>
            <a:r>
              <a:rPr lang="en-US" dirty="0"/>
              <a:t>Point to:</a:t>
            </a:r>
          </a:p>
          <a:p>
            <a:endParaRPr lang="en-US" dirty="0"/>
          </a:p>
          <a:p>
            <a:r>
              <a:rPr lang="en-US" dirty="0"/>
              <a:t>TESTING.</a:t>
            </a:r>
          </a:p>
          <a:p>
            <a:endParaRPr lang="en-US" dirty="0"/>
          </a:p>
          <a:p>
            <a:r>
              <a:rPr lang="en-US" dirty="0"/>
              <a:t>Say:</a:t>
            </a:r>
          </a:p>
          <a:p>
            <a:endParaRPr lang="en-US" dirty="0"/>
          </a:p>
          <a:p>
            <a:r>
              <a:rPr lang="en-US" dirty="0"/>
              <a:t>"How do we know Atlas is ready?"</a:t>
            </a:r>
          </a:p>
          <a:p>
            <a:endParaRPr lang="en-US" dirty="0"/>
          </a:p>
          <a:p>
            <a:r>
              <a:rPr lang="en-US" dirty="0"/>
              <a:t>"Evidence."</a:t>
            </a:r>
          </a:p>
          <a:p>
            <a:endParaRPr lang="en-US" dirty="0"/>
          </a:p>
          <a:p>
            <a:r>
              <a:rPr lang="en-US" dirty="0"/>
              <a:t>Testing gives us evidence.</a:t>
            </a:r>
          </a:p>
          <a:p>
            <a:endParaRPr lang="en-US" dirty="0"/>
          </a:p>
          <a:p>
            <a:r>
              <a:rPr lang="en-US" dirty="0"/>
              <a:t>Review:</a:t>
            </a:r>
          </a:p>
          <a:p>
            <a:endParaRPr lang="en-US" dirty="0"/>
          </a:p>
          <a:p>
            <a:r>
              <a:rPr lang="en-US" dirty="0"/>
              <a:t>Functional tests.</a:t>
            </a:r>
          </a:p>
          <a:p>
            <a:endParaRPr lang="en-US" dirty="0"/>
          </a:p>
          <a:p>
            <a:r>
              <a:rPr lang="en-US" dirty="0"/>
              <a:t>End-to-end tests.</a:t>
            </a:r>
          </a:p>
          <a:p>
            <a:endParaRPr lang="en-US" dirty="0"/>
          </a:p>
          <a:p>
            <a:r>
              <a:rPr lang="en-US" dirty="0"/>
              <a:t>Regression tests.</a:t>
            </a:r>
          </a:p>
          <a:p>
            <a:endParaRPr lang="en-US" dirty="0"/>
          </a:p>
          <a:p>
            <a:r>
              <a:rPr lang="en-US" dirty="0"/>
              <a:t>User scenarios.</a:t>
            </a:r>
          </a:p>
          <a:p>
            <a:endParaRPr lang="en-US" dirty="0"/>
          </a:p>
          <a:p>
            <a:r>
              <a:rPr lang="en-US" dirty="0"/>
              <a:t>Security tests.</a:t>
            </a:r>
          </a:p>
          <a:p>
            <a:endParaRPr lang="en-US" dirty="0"/>
          </a:p>
          <a:p>
            <a:r>
              <a:rPr lang="en-US" dirty="0"/>
              <a:t>Deployment tests.</a:t>
            </a:r>
          </a:p>
          <a:p>
            <a:endParaRPr lang="en-US" dirty="0"/>
          </a:p>
          <a:p>
            <a:r>
              <a:rPr lang="en-US" dirty="0"/>
              <a:t>Explain:</a:t>
            </a:r>
          </a:p>
          <a:p>
            <a:endParaRPr lang="en-US" dirty="0"/>
          </a:p>
          <a:p>
            <a:r>
              <a:rPr lang="en-US" dirty="0"/>
              <a:t>"Testing isn't just something we do before the deadline."</a:t>
            </a:r>
          </a:p>
          <a:p>
            <a:endParaRPr lang="en-US" dirty="0"/>
          </a:p>
          <a:p>
            <a:r>
              <a:rPr lang="en-US" dirty="0"/>
              <a:t>"Testing is how we build confidence."</a:t>
            </a:r>
          </a:p>
          <a:p>
            <a:endParaRPr lang="en-US" dirty="0"/>
          </a:p>
          <a:p>
            <a:r>
              <a:rPr lang="en-US" dirty="0"/>
              <a:t>------------------------------------------------------------</a:t>
            </a:r>
          </a:p>
          <a:p>
            <a:endParaRPr lang="en-US" dirty="0"/>
          </a:p>
          <a:p>
            <a:r>
              <a:rPr lang="en-US" dirty="0"/>
              <a:t>USABILITY</a:t>
            </a:r>
          </a:p>
          <a:p>
            <a:endParaRPr lang="en-US" dirty="0"/>
          </a:p>
          <a:p>
            <a:r>
              <a:rPr lang="en-US" dirty="0"/>
              <a:t>Point to:</a:t>
            </a:r>
          </a:p>
          <a:p>
            <a:endParaRPr lang="en-US" dirty="0"/>
          </a:p>
          <a:p>
            <a:r>
              <a:rPr lang="en-US" dirty="0"/>
              <a:t>USABILITY.</a:t>
            </a:r>
          </a:p>
          <a:p>
            <a:endParaRPr lang="en-US" dirty="0"/>
          </a:p>
          <a:p>
            <a:r>
              <a:rPr lang="en-US" dirty="0"/>
              <a:t>Ask:</a:t>
            </a:r>
          </a:p>
          <a:p>
            <a:endParaRPr lang="en-US" dirty="0"/>
          </a:p>
          <a:p>
            <a:r>
              <a:rPr lang="en-US" dirty="0"/>
              <a:t>"Can someone actually use Atlas without us standing beside them?"</a:t>
            </a:r>
          </a:p>
          <a:p>
            <a:endParaRPr lang="en-US" dirty="0"/>
          </a:p>
          <a:p>
            <a:r>
              <a:rPr lang="en-US" dirty="0"/>
              <a:t>Look at:</a:t>
            </a:r>
          </a:p>
          <a:p>
            <a:endParaRPr lang="en-US" dirty="0"/>
          </a:p>
          <a:p>
            <a:r>
              <a:rPr lang="en-US" dirty="0"/>
              <a:t>Navigation.</a:t>
            </a:r>
          </a:p>
          <a:p>
            <a:endParaRPr lang="en-US" dirty="0"/>
          </a:p>
          <a:p>
            <a:r>
              <a:rPr lang="en-US" dirty="0"/>
              <a:t>Forms.</a:t>
            </a:r>
          </a:p>
          <a:p>
            <a:endParaRPr lang="en-US" dirty="0"/>
          </a:p>
          <a:p>
            <a:r>
              <a:rPr lang="en-US" dirty="0"/>
              <a:t>Buttons.</a:t>
            </a:r>
          </a:p>
          <a:p>
            <a:endParaRPr lang="en-US" dirty="0"/>
          </a:p>
          <a:p>
            <a:r>
              <a:rPr lang="en-US" dirty="0"/>
              <a:t>Messages.</a:t>
            </a:r>
          </a:p>
          <a:p>
            <a:endParaRPr lang="en-US" dirty="0"/>
          </a:p>
          <a:p>
            <a:r>
              <a:rPr lang="en-US" dirty="0"/>
              <a:t>Layout.</a:t>
            </a:r>
          </a:p>
          <a:p>
            <a:endParaRPr lang="en-US" dirty="0"/>
          </a:p>
          <a:p>
            <a:r>
              <a:rPr lang="en-US" dirty="0"/>
              <a:t>Responsive behavior.</a:t>
            </a:r>
          </a:p>
          <a:p>
            <a:endParaRPr lang="en-US" dirty="0"/>
          </a:p>
          <a:p>
            <a:r>
              <a:rPr lang="en-US" dirty="0"/>
              <a:t>Accessibility.</a:t>
            </a:r>
          </a:p>
          <a:p>
            <a:endParaRPr lang="en-US" dirty="0"/>
          </a:p>
          <a:p>
            <a:r>
              <a:rPr lang="en-US" dirty="0"/>
              <a:t>Consistency.</a:t>
            </a:r>
          </a:p>
          <a:p>
            <a:endParaRPr lang="en-US" dirty="0"/>
          </a:p>
          <a:p>
            <a:r>
              <a:rPr lang="en-US" dirty="0"/>
              <a:t>Explain:</a:t>
            </a:r>
          </a:p>
          <a:p>
            <a:endParaRPr lang="en-US" dirty="0"/>
          </a:p>
          <a:p>
            <a:r>
              <a:rPr lang="en-US" dirty="0"/>
              <a:t>"Users don't care how elegant our controller code is."</a:t>
            </a:r>
          </a:p>
          <a:p>
            <a:endParaRPr lang="en-US" dirty="0"/>
          </a:p>
          <a:p>
            <a:r>
              <a:rPr lang="en-US" dirty="0"/>
              <a:t>"They care whether they can accomplish their task."</a:t>
            </a:r>
          </a:p>
          <a:p>
            <a:endParaRPr lang="en-US" dirty="0"/>
          </a:p>
          <a:p>
            <a:r>
              <a:rPr lang="en-US" dirty="0"/>
              <a:t>------------------------------------------------------------</a:t>
            </a:r>
          </a:p>
          <a:p>
            <a:endParaRPr lang="en-US" dirty="0"/>
          </a:p>
          <a:p>
            <a:r>
              <a:rPr lang="en-US" dirty="0"/>
              <a:t>DOCUMENTATION</a:t>
            </a:r>
          </a:p>
          <a:p>
            <a:endParaRPr lang="en-US" dirty="0"/>
          </a:p>
          <a:p>
            <a:r>
              <a:rPr lang="en-US" dirty="0"/>
              <a:t>Point to:</a:t>
            </a:r>
          </a:p>
          <a:p>
            <a:endParaRPr lang="en-US" dirty="0"/>
          </a:p>
          <a:p>
            <a:r>
              <a:rPr lang="en-US" dirty="0"/>
              <a:t>DOCUMENTATION.</a:t>
            </a:r>
          </a:p>
          <a:p>
            <a:endParaRPr lang="en-US" dirty="0"/>
          </a:p>
          <a:p>
            <a:r>
              <a:rPr lang="en-US" dirty="0"/>
              <a:t>Ask:</a:t>
            </a:r>
          </a:p>
          <a:p>
            <a:endParaRPr lang="en-US" dirty="0"/>
          </a:p>
          <a:p>
            <a:r>
              <a:rPr lang="en-US" dirty="0"/>
              <a:t>"If you disappeared tomorrow..."</a:t>
            </a:r>
          </a:p>
          <a:p>
            <a:endParaRPr lang="en-US" dirty="0"/>
          </a:p>
          <a:p>
            <a:r>
              <a:rPr lang="en-US" dirty="0"/>
              <a:t>"Could another developer understand Atlas?"</a:t>
            </a:r>
          </a:p>
          <a:p>
            <a:endParaRPr lang="en-US" dirty="0"/>
          </a:p>
          <a:p>
            <a:r>
              <a:rPr lang="en-US" dirty="0"/>
              <a:t>Could they:</a:t>
            </a:r>
          </a:p>
          <a:p>
            <a:endParaRPr lang="en-US" dirty="0"/>
          </a:p>
          <a:p>
            <a:r>
              <a:rPr lang="en-US" dirty="0"/>
              <a:t>Run it?</a:t>
            </a:r>
          </a:p>
          <a:p>
            <a:endParaRPr lang="en-US" dirty="0"/>
          </a:p>
          <a:p>
            <a:r>
              <a:rPr lang="en-US" dirty="0"/>
              <a:t>Configure it?</a:t>
            </a:r>
          </a:p>
          <a:p>
            <a:endParaRPr lang="en-US" dirty="0"/>
          </a:p>
          <a:p>
            <a:r>
              <a:rPr lang="en-US" dirty="0"/>
              <a:t>Deploy it?</a:t>
            </a:r>
          </a:p>
          <a:p>
            <a:endParaRPr lang="en-US" dirty="0"/>
          </a:p>
          <a:p>
            <a:r>
              <a:rPr lang="en-US" dirty="0"/>
              <a:t>Troubleshoot it?</a:t>
            </a:r>
          </a:p>
          <a:p>
            <a:endParaRPr lang="en-US" dirty="0"/>
          </a:p>
          <a:p>
            <a:r>
              <a:rPr lang="en-US" dirty="0"/>
              <a:t>Understand the database?</a:t>
            </a:r>
          </a:p>
          <a:p>
            <a:endParaRPr lang="en-US" dirty="0"/>
          </a:p>
          <a:p>
            <a:r>
              <a:rPr lang="en-US" dirty="0"/>
              <a:t>Understand the major features?</a:t>
            </a:r>
          </a:p>
          <a:p>
            <a:endParaRPr lang="en-US" dirty="0"/>
          </a:p>
          <a:p>
            <a:r>
              <a:rPr lang="en-US" dirty="0"/>
              <a:t>Explain:</a:t>
            </a:r>
          </a:p>
          <a:p>
            <a:endParaRPr lang="en-US" dirty="0"/>
          </a:p>
          <a:p>
            <a:r>
              <a:rPr lang="en-US" dirty="0"/>
              <a:t>"Documentation transfers knowledge."</a:t>
            </a:r>
          </a:p>
          <a:p>
            <a:endParaRPr lang="en-US" dirty="0"/>
          </a:p>
          <a:p>
            <a:r>
              <a:rPr lang="en-US" dirty="0"/>
              <a:t>------------------------------------------------------------</a:t>
            </a:r>
          </a:p>
          <a:p>
            <a:endParaRPr lang="en-US" dirty="0"/>
          </a:p>
          <a:p>
            <a:r>
              <a:rPr lang="en-US" dirty="0"/>
              <a:t>OPERATIONS</a:t>
            </a:r>
          </a:p>
          <a:p>
            <a:endParaRPr lang="en-US" dirty="0"/>
          </a:p>
          <a:p>
            <a:r>
              <a:rPr lang="en-US" dirty="0"/>
              <a:t>Point to:</a:t>
            </a:r>
          </a:p>
          <a:p>
            <a:endParaRPr lang="en-US" dirty="0"/>
          </a:p>
          <a:p>
            <a:r>
              <a:rPr lang="en-US" dirty="0"/>
              <a:t>OPERATIONS.</a:t>
            </a:r>
          </a:p>
          <a:p>
            <a:endParaRPr lang="en-US" dirty="0"/>
          </a:p>
          <a:p>
            <a:r>
              <a:rPr lang="en-US" dirty="0"/>
              <a:t>Ask:</a:t>
            </a:r>
          </a:p>
          <a:p>
            <a:endParaRPr lang="en-US" dirty="0"/>
          </a:p>
          <a:p>
            <a:r>
              <a:rPr lang="en-US" dirty="0"/>
              <a:t>"After we deploy Atlas..."</a:t>
            </a:r>
          </a:p>
          <a:p>
            <a:endParaRPr lang="en-US" dirty="0"/>
          </a:p>
          <a:p>
            <a:r>
              <a:rPr lang="en-US" dirty="0"/>
              <a:t>"Who knows when something breaks?"</a:t>
            </a:r>
          </a:p>
          <a:p>
            <a:endParaRPr lang="en-US" dirty="0"/>
          </a:p>
          <a:p>
            <a:r>
              <a:rPr lang="en-US" dirty="0"/>
              <a:t>This introduces observability.</a:t>
            </a:r>
          </a:p>
          <a:p>
            <a:endParaRPr lang="en-US" dirty="0"/>
          </a:p>
          <a:p>
            <a:r>
              <a:rPr lang="en-US" dirty="0"/>
              <a:t>We need:</a:t>
            </a:r>
          </a:p>
          <a:p>
            <a:endParaRPr lang="en-US" dirty="0"/>
          </a:p>
          <a:p>
            <a:r>
              <a:rPr lang="en-US" dirty="0"/>
              <a:t>Logs.</a:t>
            </a:r>
          </a:p>
          <a:p>
            <a:endParaRPr lang="en-US" dirty="0"/>
          </a:p>
          <a:p>
            <a:r>
              <a:rPr lang="en-US" dirty="0"/>
              <a:t>Monitoring.</a:t>
            </a:r>
          </a:p>
          <a:p>
            <a:endParaRPr lang="en-US" dirty="0"/>
          </a:p>
          <a:p>
            <a:r>
              <a:rPr lang="en-US" dirty="0"/>
              <a:t>Health checks.</a:t>
            </a:r>
          </a:p>
          <a:p>
            <a:endParaRPr lang="en-US" dirty="0"/>
          </a:p>
          <a:p>
            <a:r>
              <a:rPr lang="en-US" dirty="0"/>
              <a:t>Backups.</a:t>
            </a:r>
          </a:p>
          <a:p>
            <a:endParaRPr lang="en-US" dirty="0"/>
          </a:p>
          <a:p>
            <a:r>
              <a:rPr lang="en-US" dirty="0"/>
              <a:t>Recovery plans.</a:t>
            </a:r>
          </a:p>
          <a:p>
            <a:endParaRPr lang="en-US" dirty="0"/>
          </a:p>
          <a:p>
            <a:r>
              <a:rPr lang="en-US" dirty="0"/>
              <a:t>Incident thinking.</a:t>
            </a:r>
          </a:p>
          <a:p>
            <a:endParaRPr lang="en-US" dirty="0"/>
          </a:p>
          <a:p>
            <a:r>
              <a:rPr lang="en-US" dirty="0"/>
              <a:t>Explain:</a:t>
            </a:r>
          </a:p>
          <a:p>
            <a:endParaRPr lang="en-US" dirty="0"/>
          </a:p>
          <a:p>
            <a:r>
              <a:rPr lang="en-US" dirty="0"/>
              <a:t>"Deployment isn't the end."</a:t>
            </a:r>
          </a:p>
          <a:p>
            <a:endParaRPr lang="en-US" dirty="0"/>
          </a:p>
          <a:p>
            <a:r>
              <a:rPr lang="en-US" dirty="0"/>
              <a:t>"It's the beginning of operating the application."</a:t>
            </a:r>
          </a:p>
          <a:p>
            <a:endParaRPr lang="en-US" dirty="0"/>
          </a:p>
          <a:p>
            <a:r>
              <a:rPr lang="en-US" dirty="0"/>
              <a:t>------------------------------------------------------------</a:t>
            </a:r>
          </a:p>
          <a:p>
            <a:endParaRPr lang="en-US" dirty="0"/>
          </a:p>
          <a:p>
            <a:r>
              <a:rPr lang="en-US" dirty="0"/>
              <a:t>DEFINITION OF READY</a:t>
            </a:r>
          </a:p>
          <a:p>
            <a:endParaRPr lang="en-US" dirty="0"/>
          </a:p>
          <a:p>
            <a:r>
              <a:rPr lang="en-US" dirty="0"/>
              <a:t>Point to the green box.</a:t>
            </a:r>
          </a:p>
          <a:p>
            <a:endParaRPr lang="en-US" dirty="0"/>
          </a:p>
          <a:p>
            <a:r>
              <a:rPr lang="en-US" dirty="0"/>
              <a:t>Read:</a:t>
            </a:r>
          </a:p>
          <a:p>
            <a:endParaRPr lang="en-US" dirty="0"/>
          </a:p>
          <a:p>
            <a:r>
              <a:rPr lang="en-US" dirty="0"/>
              <a:t>"Atlas is ready when it works, is secure, reliable, observable, and</a:t>
            </a:r>
          </a:p>
          <a:p>
            <a:r>
              <a:rPr lang="en-US" dirty="0"/>
              <a:t>maintainable."</a:t>
            </a:r>
          </a:p>
          <a:p>
            <a:endParaRPr lang="en-US" dirty="0"/>
          </a:p>
          <a:p>
            <a:r>
              <a:rPr lang="en-US" dirty="0"/>
              <a:t>Pause.</a:t>
            </a:r>
          </a:p>
          <a:p>
            <a:endParaRPr lang="en-US" dirty="0"/>
          </a:p>
          <a:p>
            <a:r>
              <a:rPr lang="en-US" dirty="0"/>
              <a:t>"This is our definition of ready."</a:t>
            </a:r>
          </a:p>
          <a:p>
            <a:endParaRPr lang="en-US" dirty="0"/>
          </a:p>
          <a:p>
            <a:r>
              <a:rPr lang="en-US" dirty="0"/>
              <a:t>Then emphasize:</a:t>
            </a:r>
          </a:p>
          <a:p>
            <a:endParaRPr lang="en-US" dirty="0"/>
          </a:p>
          <a:p>
            <a:r>
              <a:rPr lang="en-US" dirty="0"/>
              <a:t>"Ready does not mean perfect."</a:t>
            </a:r>
          </a:p>
          <a:p>
            <a:endParaRPr lang="en-US" dirty="0"/>
          </a:p>
          <a:p>
            <a:r>
              <a:rPr lang="en-US" dirty="0"/>
              <a:t>"It means we have enough evidence and preparation to responsibly move</a:t>
            </a:r>
          </a:p>
          <a:p>
            <a:r>
              <a:rPr lang="en-US" dirty="0"/>
              <a:t>forward."</a:t>
            </a:r>
          </a:p>
          <a:p>
            <a:endParaRPr lang="en-US" dirty="0"/>
          </a:p>
          <a:p>
            <a:r>
              <a:rPr lang="en-US" dirty="0"/>
              <a:t>------------------------------------------------------------</a:t>
            </a:r>
          </a:p>
          <a:p>
            <a:endParaRPr lang="en-US" dirty="0"/>
          </a:p>
          <a:p>
            <a:r>
              <a:rPr lang="en-US" dirty="0"/>
              <a:t>FROM DEVELOPMENT TO PRODUCTION</a:t>
            </a:r>
          </a:p>
          <a:p>
            <a:endParaRPr lang="en-US" dirty="0"/>
          </a:p>
          <a:p>
            <a:r>
              <a:rPr lang="en-US" dirty="0"/>
              <a:t>Move to the development-to-production diagram.</a:t>
            </a:r>
          </a:p>
          <a:p>
            <a:endParaRPr lang="en-US" dirty="0"/>
          </a:p>
          <a:p>
            <a:r>
              <a:rPr lang="en-US" dirty="0"/>
              <a:t>Say:</a:t>
            </a:r>
          </a:p>
          <a:p>
            <a:endParaRPr lang="en-US" dirty="0"/>
          </a:p>
          <a:p>
            <a:r>
              <a:rPr lang="en-US" dirty="0"/>
              <a:t>"Atlas doesn't jump directly from our laptop to real users."</a:t>
            </a:r>
          </a:p>
          <a:p>
            <a:endParaRPr lang="en-US" dirty="0"/>
          </a:p>
          <a:p>
            <a:r>
              <a:rPr lang="en-US" dirty="0"/>
              <a:t>We move through environments.</a:t>
            </a:r>
          </a:p>
          <a:p>
            <a:endParaRPr lang="en-US" dirty="0"/>
          </a:p>
          <a:p>
            <a:r>
              <a:rPr lang="en-US" dirty="0"/>
              <a:t>DEVELOPMENT</a:t>
            </a:r>
          </a:p>
          <a:p>
            <a:endParaRPr lang="en-US" dirty="0"/>
          </a:p>
          <a:p>
            <a:r>
              <a:rPr lang="en-US" dirty="0"/>
              <a:t>↓</a:t>
            </a:r>
          </a:p>
          <a:p>
            <a:endParaRPr lang="en-US" dirty="0"/>
          </a:p>
          <a:p>
            <a:r>
              <a:rPr lang="en-US" dirty="0"/>
              <a:t>TESTING</a:t>
            </a:r>
          </a:p>
          <a:p>
            <a:endParaRPr lang="en-US" dirty="0"/>
          </a:p>
          <a:p>
            <a:r>
              <a:rPr lang="en-US" dirty="0"/>
              <a:t>↓</a:t>
            </a:r>
          </a:p>
          <a:p>
            <a:endParaRPr lang="en-US" dirty="0"/>
          </a:p>
          <a:p>
            <a:r>
              <a:rPr lang="en-US" dirty="0"/>
              <a:t>STAGING</a:t>
            </a:r>
          </a:p>
          <a:p>
            <a:endParaRPr lang="en-US" dirty="0"/>
          </a:p>
          <a:p>
            <a:r>
              <a:rPr lang="en-US" dirty="0"/>
              <a:t>↓</a:t>
            </a:r>
          </a:p>
          <a:p>
            <a:endParaRPr lang="en-US" dirty="0"/>
          </a:p>
          <a:p>
            <a:r>
              <a:rPr lang="en-US" dirty="0"/>
              <a:t>PRODUCTION</a:t>
            </a:r>
          </a:p>
          <a:p>
            <a:endParaRPr lang="en-US" dirty="0"/>
          </a:p>
          <a:p>
            <a:r>
              <a:rPr lang="en-US" dirty="0"/>
              <a:t>Explain:</a:t>
            </a:r>
          </a:p>
          <a:p>
            <a:endParaRPr lang="en-US" dirty="0"/>
          </a:p>
          <a:p>
            <a:r>
              <a:rPr lang="en-US" dirty="0"/>
              <a:t>"Each stage gives us another opportunity to discover problems."</a:t>
            </a:r>
          </a:p>
          <a:p>
            <a:endParaRPr lang="en-US" dirty="0"/>
          </a:p>
          <a:p>
            <a:r>
              <a:rPr lang="en-US" dirty="0"/>
              <a:t>------------------------------------------------------------</a:t>
            </a:r>
          </a:p>
          <a:p>
            <a:endParaRPr lang="en-US" dirty="0"/>
          </a:p>
          <a:p>
            <a:r>
              <a:rPr lang="en-US" dirty="0"/>
              <a:t>DEVELOPMENT</a:t>
            </a:r>
          </a:p>
          <a:p>
            <a:endParaRPr lang="en-US" dirty="0"/>
          </a:p>
          <a:p>
            <a:r>
              <a:rPr lang="en-US" dirty="0"/>
              <a:t>Point to Development.</a:t>
            </a:r>
          </a:p>
          <a:p>
            <a:endParaRPr lang="en-US" dirty="0"/>
          </a:p>
          <a:p>
            <a:r>
              <a:rPr lang="en-US" dirty="0"/>
              <a:t>Explain:</a:t>
            </a:r>
          </a:p>
          <a:p>
            <a:endParaRPr lang="en-US" dirty="0"/>
          </a:p>
          <a:p>
            <a:r>
              <a:rPr lang="en-US" dirty="0"/>
              <a:t>"This is where we build."</a:t>
            </a:r>
          </a:p>
          <a:p>
            <a:endParaRPr lang="en-US" dirty="0"/>
          </a:p>
          <a:p>
            <a:r>
              <a:rPr lang="en-US" dirty="0"/>
              <a:t>Characteristics:</a:t>
            </a:r>
          </a:p>
          <a:p>
            <a:endParaRPr lang="en-US" dirty="0"/>
          </a:p>
          <a:p>
            <a:r>
              <a:rPr lang="en-US" dirty="0"/>
              <a:t>Fast iteration.</a:t>
            </a:r>
          </a:p>
          <a:p>
            <a:endParaRPr lang="en-US" dirty="0"/>
          </a:p>
          <a:p>
            <a:r>
              <a:rPr lang="en-US" dirty="0"/>
              <a:t>Debugging.</a:t>
            </a:r>
          </a:p>
          <a:p>
            <a:endParaRPr lang="en-US" dirty="0"/>
          </a:p>
          <a:p>
            <a:r>
              <a:rPr lang="en-US" dirty="0"/>
              <a:t>Development data.</a:t>
            </a:r>
          </a:p>
          <a:p>
            <a:endParaRPr lang="en-US" dirty="0"/>
          </a:p>
          <a:p>
            <a:r>
              <a:rPr lang="en-US" dirty="0"/>
              <a:t>Frequent changes.</a:t>
            </a:r>
          </a:p>
          <a:p>
            <a:endParaRPr lang="en-US" dirty="0"/>
          </a:p>
          <a:p>
            <a:r>
              <a:rPr lang="en-US" dirty="0"/>
              <a:t>Experimental work.</a:t>
            </a:r>
          </a:p>
          <a:p>
            <a:endParaRPr lang="en-US" dirty="0"/>
          </a:p>
          <a:p>
            <a:r>
              <a:rPr lang="en-US" dirty="0"/>
              <a:t>Say:</a:t>
            </a:r>
          </a:p>
          <a:p>
            <a:endParaRPr lang="en-US" dirty="0"/>
          </a:p>
          <a:p>
            <a:r>
              <a:rPr lang="en-US" dirty="0"/>
              <a:t>"Development is allowed to be messy."</a:t>
            </a:r>
          </a:p>
          <a:p>
            <a:endParaRPr lang="en-US" dirty="0"/>
          </a:p>
          <a:p>
            <a:r>
              <a:rPr lang="en-US" dirty="0"/>
              <a:t>"But production isn't."</a:t>
            </a:r>
          </a:p>
          <a:p>
            <a:endParaRPr lang="en-US" dirty="0"/>
          </a:p>
          <a:p>
            <a:r>
              <a:rPr lang="en-US" dirty="0"/>
              <a:t>------------------------------------------------------------</a:t>
            </a:r>
          </a:p>
          <a:p>
            <a:endParaRPr lang="en-US" dirty="0"/>
          </a:p>
          <a:p>
            <a:r>
              <a:rPr lang="en-US" dirty="0"/>
              <a:t>TESTING</a:t>
            </a:r>
          </a:p>
          <a:p>
            <a:endParaRPr lang="en-US" dirty="0"/>
          </a:p>
          <a:p>
            <a:r>
              <a:rPr lang="en-US" dirty="0"/>
              <a:t>Point to Testing.</a:t>
            </a:r>
          </a:p>
          <a:p>
            <a:endParaRPr lang="en-US" dirty="0"/>
          </a:p>
          <a:p>
            <a:r>
              <a:rPr lang="en-US" dirty="0"/>
              <a:t>Explain:</a:t>
            </a:r>
          </a:p>
          <a:p>
            <a:endParaRPr lang="en-US" dirty="0"/>
          </a:p>
          <a:p>
            <a:r>
              <a:rPr lang="en-US" dirty="0"/>
              <a:t>"Testing asks whether the application behaves correctly."</a:t>
            </a:r>
          </a:p>
          <a:p>
            <a:endParaRPr lang="en-US" dirty="0"/>
          </a:p>
          <a:p>
            <a:r>
              <a:rPr lang="en-US" dirty="0"/>
              <a:t>We:</a:t>
            </a:r>
          </a:p>
          <a:p>
            <a:endParaRPr lang="en-US" dirty="0"/>
          </a:p>
          <a:p>
            <a:r>
              <a:rPr lang="en-US" dirty="0"/>
              <a:t>Validate features.</a:t>
            </a:r>
          </a:p>
          <a:p>
            <a:endParaRPr lang="en-US" dirty="0"/>
          </a:p>
          <a:p>
            <a:r>
              <a:rPr lang="en-US" dirty="0"/>
              <a:t>Find problems.</a:t>
            </a:r>
          </a:p>
          <a:p>
            <a:endParaRPr lang="en-US" dirty="0"/>
          </a:p>
          <a:p>
            <a:r>
              <a:rPr lang="en-US" dirty="0"/>
              <a:t>Run test scenarios.</a:t>
            </a:r>
          </a:p>
          <a:p>
            <a:endParaRPr lang="en-US" dirty="0"/>
          </a:p>
          <a:p>
            <a:r>
              <a:rPr lang="en-US" dirty="0"/>
              <a:t>Improve quality.</a:t>
            </a:r>
          </a:p>
          <a:p>
            <a:endParaRPr lang="en-US" dirty="0"/>
          </a:p>
          <a:p>
            <a:r>
              <a:rPr lang="en-US" dirty="0"/>
              <a:t>Say:</a:t>
            </a:r>
          </a:p>
          <a:p>
            <a:endParaRPr lang="en-US" dirty="0"/>
          </a:p>
          <a:p>
            <a:r>
              <a:rPr lang="en-US" dirty="0"/>
              <a:t>"Testing is where we gain evidence."</a:t>
            </a:r>
          </a:p>
          <a:p>
            <a:endParaRPr lang="en-US" dirty="0"/>
          </a:p>
          <a:p>
            <a:r>
              <a:rPr lang="en-US" dirty="0"/>
              <a:t>------------------------------------------------------------</a:t>
            </a:r>
          </a:p>
          <a:p>
            <a:endParaRPr lang="en-US" dirty="0"/>
          </a:p>
          <a:p>
            <a:r>
              <a:rPr lang="en-US" dirty="0"/>
              <a:t>STAGING</a:t>
            </a:r>
          </a:p>
          <a:p>
            <a:endParaRPr lang="en-US" dirty="0"/>
          </a:p>
          <a:p>
            <a:r>
              <a:rPr lang="en-US" dirty="0"/>
              <a:t>Point to Staging.</a:t>
            </a:r>
          </a:p>
          <a:p>
            <a:endParaRPr lang="en-US" dirty="0"/>
          </a:p>
          <a:p>
            <a:r>
              <a:rPr lang="en-US" dirty="0"/>
              <a:t>Explain:</a:t>
            </a:r>
          </a:p>
          <a:p>
            <a:endParaRPr lang="en-US" dirty="0"/>
          </a:p>
          <a:p>
            <a:r>
              <a:rPr lang="en-US" dirty="0"/>
              <a:t>"Staging is a production-like environment used for final validation."</a:t>
            </a:r>
          </a:p>
          <a:p>
            <a:endParaRPr lang="en-US" dirty="0"/>
          </a:p>
          <a:p>
            <a:r>
              <a:rPr lang="en-US" dirty="0"/>
              <a:t>This can include:</a:t>
            </a:r>
          </a:p>
          <a:p>
            <a:endParaRPr lang="en-US" dirty="0"/>
          </a:p>
          <a:p>
            <a:r>
              <a:rPr lang="en-US" dirty="0"/>
              <a:t>Production-like configuration.</a:t>
            </a:r>
          </a:p>
          <a:p>
            <a:endParaRPr lang="en-US" dirty="0"/>
          </a:p>
          <a:p>
            <a:r>
              <a:rPr lang="en-US" dirty="0"/>
              <a:t>Deployment testing.</a:t>
            </a:r>
          </a:p>
          <a:p>
            <a:endParaRPr lang="en-US" dirty="0"/>
          </a:p>
          <a:p>
            <a:r>
              <a:rPr lang="en-US" dirty="0"/>
              <a:t>Final validation.</a:t>
            </a:r>
          </a:p>
          <a:p>
            <a:endParaRPr lang="en-US" dirty="0"/>
          </a:p>
          <a:p>
            <a:r>
              <a:rPr lang="en-US" dirty="0"/>
              <a:t>Readiness checks.</a:t>
            </a:r>
          </a:p>
          <a:p>
            <a:endParaRPr lang="en-US" dirty="0"/>
          </a:p>
          <a:p>
            <a:r>
              <a:rPr lang="en-US" dirty="0"/>
              <a:t>Explain:</a:t>
            </a:r>
          </a:p>
          <a:p>
            <a:endParaRPr lang="en-US" dirty="0"/>
          </a:p>
          <a:p>
            <a:r>
              <a:rPr lang="en-US" dirty="0"/>
              <a:t>"We're not just testing the code."</a:t>
            </a:r>
          </a:p>
          <a:p>
            <a:endParaRPr lang="en-US" dirty="0"/>
          </a:p>
          <a:p>
            <a:r>
              <a:rPr lang="en-US" dirty="0"/>
              <a:t>"We're testing the environment and deployment process."</a:t>
            </a:r>
          </a:p>
          <a:p>
            <a:endParaRPr lang="en-US" dirty="0"/>
          </a:p>
          <a:p>
            <a:r>
              <a:rPr lang="en-US" dirty="0"/>
              <a:t>------------------------------------------------------------</a:t>
            </a:r>
          </a:p>
          <a:p>
            <a:endParaRPr lang="en-US" dirty="0"/>
          </a:p>
          <a:p>
            <a:r>
              <a:rPr lang="en-US" dirty="0"/>
              <a:t>PRODUCTION</a:t>
            </a:r>
          </a:p>
          <a:p>
            <a:endParaRPr lang="en-US" dirty="0"/>
          </a:p>
          <a:p>
            <a:r>
              <a:rPr lang="en-US" dirty="0"/>
              <a:t>Point to Production.</a:t>
            </a:r>
          </a:p>
          <a:p>
            <a:endParaRPr lang="en-US" dirty="0"/>
          </a:p>
          <a:p>
            <a:r>
              <a:rPr lang="en-US" dirty="0"/>
              <a:t>Explain:</a:t>
            </a:r>
          </a:p>
          <a:p>
            <a:endParaRPr lang="en-US" dirty="0"/>
          </a:p>
          <a:p>
            <a:r>
              <a:rPr lang="en-US" dirty="0"/>
              <a:t>"This is where real users interact with the application."</a:t>
            </a:r>
          </a:p>
          <a:p>
            <a:endParaRPr lang="en-US" dirty="0"/>
          </a:p>
          <a:p>
            <a:r>
              <a:rPr lang="en-US" dirty="0"/>
              <a:t>Production requires:</a:t>
            </a:r>
          </a:p>
          <a:p>
            <a:endParaRPr lang="en-US" dirty="0"/>
          </a:p>
          <a:p>
            <a:r>
              <a:rPr lang="en-US" dirty="0"/>
              <a:t>Reliable configuration.</a:t>
            </a:r>
          </a:p>
          <a:p>
            <a:endParaRPr lang="en-US" dirty="0"/>
          </a:p>
          <a:p>
            <a:r>
              <a:rPr lang="en-US" dirty="0"/>
              <a:t>Secure settings.</a:t>
            </a:r>
          </a:p>
          <a:p>
            <a:endParaRPr lang="en-US" dirty="0"/>
          </a:p>
          <a:p>
            <a:r>
              <a:rPr lang="en-US" dirty="0"/>
              <a:t>Monitoring.</a:t>
            </a:r>
          </a:p>
          <a:p>
            <a:endParaRPr lang="en-US" dirty="0"/>
          </a:p>
          <a:p>
            <a:r>
              <a:rPr lang="en-US" dirty="0"/>
              <a:t>Availability.</a:t>
            </a:r>
          </a:p>
          <a:p>
            <a:endParaRPr lang="en-US" dirty="0"/>
          </a:p>
          <a:p>
            <a:r>
              <a:rPr lang="en-US" dirty="0"/>
              <a:t>Support.</a:t>
            </a:r>
          </a:p>
          <a:p>
            <a:endParaRPr lang="en-US" dirty="0"/>
          </a:p>
          <a:p>
            <a:r>
              <a:rPr lang="en-US" dirty="0"/>
              <a:t>Maintenance.</a:t>
            </a:r>
          </a:p>
          <a:p>
            <a:endParaRPr lang="en-US" dirty="0"/>
          </a:p>
          <a:p>
            <a:r>
              <a:rPr lang="en-US" dirty="0"/>
              <a:t>Say:</a:t>
            </a:r>
          </a:p>
          <a:p>
            <a:endParaRPr lang="en-US" dirty="0"/>
          </a:p>
          <a:p>
            <a:r>
              <a:rPr lang="en-US" dirty="0"/>
              <a:t>"The expectations change when real people depend on the system."</a:t>
            </a:r>
          </a:p>
          <a:p>
            <a:endParaRPr lang="en-US" dirty="0"/>
          </a:p>
          <a:p>
            <a:r>
              <a:rPr lang="en-US" dirty="0"/>
              <a:t>------------------------------------------------------------</a:t>
            </a:r>
          </a:p>
          <a:p>
            <a:endParaRPr lang="en-US" dirty="0"/>
          </a:p>
          <a:p>
            <a:r>
              <a:rPr lang="en-US" dirty="0"/>
              <a:t>SAME APPLICATION — DIFFERENT EXPECTATIONS</a:t>
            </a:r>
          </a:p>
          <a:p>
            <a:endParaRPr lang="en-US" dirty="0"/>
          </a:p>
          <a:p>
            <a:r>
              <a:rPr lang="en-US" dirty="0"/>
              <a:t>Point to the purple statement.</a:t>
            </a:r>
          </a:p>
          <a:p>
            <a:endParaRPr lang="en-US" dirty="0"/>
          </a:p>
          <a:p>
            <a:r>
              <a:rPr lang="en-US" dirty="0"/>
              <a:t>Read:</a:t>
            </a:r>
          </a:p>
          <a:p>
            <a:endParaRPr lang="en-US" dirty="0"/>
          </a:p>
          <a:p>
            <a:r>
              <a:rPr lang="en-US" dirty="0"/>
              <a:t>"Same application. Different expectations."</a:t>
            </a:r>
          </a:p>
          <a:p>
            <a:endParaRPr lang="en-US" dirty="0"/>
          </a:p>
          <a:p>
            <a:r>
              <a:rPr lang="en-US" dirty="0"/>
              <a:t>Explain:</a:t>
            </a:r>
          </a:p>
          <a:p>
            <a:endParaRPr lang="en-US" dirty="0"/>
          </a:p>
          <a:p>
            <a:r>
              <a:rPr lang="en-US" dirty="0"/>
              <a:t>"The code may be similar."</a:t>
            </a:r>
          </a:p>
          <a:p>
            <a:endParaRPr lang="en-US" dirty="0"/>
          </a:p>
          <a:p>
            <a:r>
              <a:rPr lang="en-US" dirty="0"/>
              <a:t>"But the environment changes the level of responsibility."</a:t>
            </a:r>
          </a:p>
          <a:p>
            <a:endParaRPr lang="en-US" dirty="0"/>
          </a:p>
          <a:p>
            <a:r>
              <a:rPr lang="en-US" dirty="0"/>
              <a:t>A development error:</a:t>
            </a:r>
          </a:p>
          <a:p>
            <a:endParaRPr lang="en-US" dirty="0"/>
          </a:p>
          <a:p>
            <a:r>
              <a:rPr lang="en-US" dirty="0"/>
              <a:t>Annoying.</a:t>
            </a:r>
          </a:p>
          <a:p>
            <a:endParaRPr lang="en-US" dirty="0"/>
          </a:p>
          <a:p>
            <a:r>
              <a:rPr lang="en-US" dirty="0"/>
              <a:t>A production error:</a:t>
            </a:r>
          </a:p>
          <a:p>
            <a:endParaRPr lang="en-US" dirty="0"/>
          </a:p>
          <a:p>
            <a:r>
              <a:rPr lang="en-US" dirty="0"/>
              <a:t>Potentially impacts users.</a:t>
            </a:r>
          </a:p>
          <a:p>
            <a:endParaRPr lang="en-US" dirty="0"/>
          </a:p>
          <a:p>
            <a:r>
              <a:rPr lang="en-US" dirty="0"/>
              <a:t>------------------------------------------------------------</a:t>
            </a:r>
          </a:p>
          <a:p>
            <a:endParaRPr lang="en-US" dirty="0"/>
          </a:p>
          <a:p>
            <a:r>
              <a:rPr lang="en-US" dirty="0"/>
              <a:t>OUR SPRINT 7 GOALS</a:t>
            </a:r>
          </a:p>
          <a:p>
            <a:endParaRPr lang="en-US" dirty="0"/>
          </a:p>
          <a:p>
            <a:r>
              <a:rPr lang="en-US" dirty="0"/>
              <a:t>Point to:</a:t>
            </a:r>
          </a:p>
          <a:p>
            <a:endParaRPr lang="en-US" dirty="0"/>
          </a:p>
          <a:p>
            <a:r>
              <a:rPr lang="en-US" dirty="0"/>
              <a:t>OUR GOAL.</a:t>
            </a:r>
          </a:p>
          <a:p>
            <a:endParaRPr lang="en-US" dirty="0"/>
          </a:p>
          <a:p>
            <a:r>
              <a:rPr lang="en-US" dirty="0"/>
              <a:t>Read each:</a:t>
            </a:r>
          </a:p>
          <a:p>
            <a:endParaRPr lang="en-US" dirty="0"/>
          </a:p>
          <a:p>
            <a:r>
              <a:rPr lang="en-US" dirty="0"/>
              <a:t>Make Atlas reliable.</a:t>
            </a:r>
          </a:p>
          <a:p>
            <a:endParaRPr lang="en-US" dirty="0"/>
          </a:p>
          <a:p>
            <a:r>
              <a:rPr lang="en-US" dirty="0"/>
              <a:t>Make Atlas observable.</a:t>
            </a:r>
          </a:p>
          <a:p>
            <a:endParaRPr lang="en-US" dirty="0"/>
          </a:p>
          <a:p>
            <a:r>
              <a:rPr lang="en-US" dirty="0"/>
              <a:t>Test the whole product.</a:t>
            </a:r>
          </a:p>
          <a:p>
            <a:endParaRPr lang="en-US" dirty="0"/>
          </a:p>
          <a:p>
            <a:r>
              <a:rPr lang="en-US" dirty="0"/>
              <a:t>Polish the user experience.</a:t>
            </a:r>
          </a:p>
          <a:p>
            <a:endParaRPr lang="en-US" dirty="0"/>
          </a:p>
          <a:p>
            <a:r>
              <a:rPr lang="en-US" dirty="0"/>
              <a:t>Document what we built.</a:t>
            </a:r>
          </a:p>
          <a:p>
            <a:endParaRPr lang="en-US" dirty="0"/>
          </a:p>
          <a:p>
            <a:r>
              <a:rPr lang="en-US" dirty="0"/>
              <a:t>Prepare for release.</a:t>
            </a:r>
          </a:p>
          <a:p>
            <a:endParaRPr lang="en-US" dirty="0"/>
          </a:p>
          <a:p>
            <a:r>
              <a:rPr lang="en-US" dirty="0"/>
              <a:t>Explain:</a:t>
            </a:r>
          </a:p>
          <a:p>
            <a:endParaRPr lang="en-US" dirty="0"/>
          </a:p>
          <a:p>
            <a:r>
              <a:rPr lang="en-US" dirty="0"/>
              <a:t>"Everything we do in this sprint supports one of those goals."</a:t>
            </a:r>
          </a:p>
          <a:p>
            <a:endParaRPr lang="en-US" dirty="0"/>
          </a:p>
          <a:p>
            <a:r>
              <a:rPr lang="en-US" dirty="0"/>
              <a:t>------------------------------------------------------------</a:t>
            </a:r>
          </a:p>
          <a:p>
            <a:endParaRPr lang="en-US" dirty="0"/>
          </a:p>
          <a:p>
            <a:r>
              <a:rPr lang="en-US" dirty="0"/>
              <a:t>RELIABILITY</a:t>
            </a:r>
          </a:p>
          <a:p>
            <a:endParaRPr lang="en-US" dirty="0"/>
          </a:p>
          <a:p>
            <a:r>
              <a:rPr lang="en-US" dirty="0"/>
              <a:t>Introduce the first major workstream.</a:t>
            </a:r>
          </a:p>
          <a:p>
            <a:endParaRPr lang="en-US" dirty="0"/>
          </a:p>
          <a:p>
            <a:r>
              <a:rPr lang="en-US" dirty="0"/>
              <a:t>Students will investigate:</a:t>
            </a:r>
          </a:p>
          <a:p>
            <a:endParaRPr lang="en-US" dirty="0"/>
          </a:p>
          <a:p>
            <a:r>
              <a:rPr lang="en-US" dirty="0"/>
              <a:t>Failure handling.</a:t>
            </a:r>
          </a:p>
          <a:p>
            <a:endParaRPr lang="en-US" dirty="0"/>
          </a:p>
          <a:p>
            <a:r>
              <a:rPr lang="en-US" dirty="0"/>
              <a:t>Graceful errors.</a:t>
            </a:r>
          </a:p>
          <a:p>
            <a:endParaRPr lang="en-US" dirty="0"/>
          </a:p>
          <a:p>
            <a:r>
              <a:rPr lang="en-US" dirty="0"/>
              <a:t>Data recovery.</a:t>
            </a:r>
          </a:p>
          <a:p>
            <a:endParaRPr lang="en-US" dirty="0"/>
          </a:p>
          <a:p>
            <a:r>
              <a:rPr lang="en-US" dirty="0"/>
              <a:t>Backups.</a:t>
            </a:r>
          </a:p>
          <a:p>
            <a:endParaRPr lang="en-US" dirty="0"/>
          </a:p>
          <a:p>
            <a:r>
              <a:rPr lang="en-US" dirty="0"/>
              <a:t>Ask:</a:t>
            </a:r>
          </a:p>
          <a:p>
            <a:endParaRPr lang="en-US" dirty="0"/>
          </a:p>
          <a:p>
            <a:r>
              <a:rPr lang="en-US" dirty="0"/>
              <a:t>"If Atlas crashes tomorrow..."</a:t>
            </a:r>
          </a:p>
          <a:p>
            <a:endParaRPr lang="en-US" dirty="0"/>
          </a:p>
          <a:p>
            <a:r>
              <a:rPr lang="en-US" dirty="0"/>
              <a:t>"How do we recover?"</a:t>
            </a:r>
          </a:p>
          <a:p>
            <a:endParaRPr lang="en-US" dirty="0"/>
          </a:p>
          <a:p>
            <a:r>
              <a:rPr lang="en-US" dirty="0"/>
              <a:t>------------------------------------------------------------</a:t>
            </a:r>
          </a:p>
          <a:p>
            <a:endParaRPr lang="en-US" dirty="0"/>
          </a:p>
          <a:p>
            <a:r>
              <a:rPr lang="en-US" dirty="0"/>
              <a:t>OBSERVABILITY</a:t>
            </a:r>
          </a:p>
          <a:p>
            <a:endParaRPr lang="en-US" dirty="0"/>
          </a:p>
          <a:p>
            <a:r>
              <a:rPr lang="en-US" dirty="0"/>
              <a:t>Introduce the second major workstream.</a:t>
            </a:r>
          </a:p>
          <a:p>
            <a:endParaRPr lang="en-US" dirty="0"/>
          </a:p>
          <a:p>
            <a:r>
              <a:rPr lang="en-US" dirty="0"/>
              <a:t>Ask:</a:t>
            </a:r>
          </a:p>
          <a:p>
            <a:endParaRPr lang="en-US" dirty="0"/>
          </a:p>
          <a:p>
            <a:r>
              <a:rPr lang="en-US" dirty="0"/>
              <a:t>"If Atlas breaks at 2 AM..."</a:t>
            </a:r>
          </a:p>
          <a:p>
            <a:endParaRPr lang="en-US" dirty="0"/>
          </a:p>
          <a:p>
            <a:r>
              <a:rPr lang="en-US" dirty="0"/>
              <a:t>"How would we know?"</a:t>
            </a:r>
          </a:p>
          <a:p>
            <a:endParaRPr lang="en-US" dirty="0"/>
          </a:p>
          <a:p>
            <a:r>
              <a:rPr lang="en-US" dirty="0"/>
              <a:t>Students may say:</a:t>
            </a:r>
          </a:p>
          <a:p>
            <a:endParaRPr lang="en-US" dirty="0"/>
          </a:p>
          <a:p>
            <a:r>
              <a:rPr lang="en-US" dirty="0"/>
              <a:t>"Someone tells us."</a:t>
            </a:r>
          </a:p>
          <a:p>
            <a:endParaRPr lang="en-US" dirty="0"/>
          </a:p>
          <a:p>
            <a:r>
              <a:rPr lang="en-US" dirty="0"/>
              <a:t>Explain:</a:t>
            </a:r>
          </a:p>
          <a:p>
            <a:endParaRPr lang="en-US" dirty="0"/>
          </a:p>
          <a:p>
            <a:r>
              <a:rPr lang="en-US" dirty="0"/>
              <a:t>"That's not enough."</a:t>
            </a:r>
          </a:p>
          <a:p>
            <a:endParaRPr lang="en-US" dirty="0"/>
          </a:p>
          <a:p>
            <a:r>
              <a:rPr lang="en-US" dirty="0"/>
              <a:t>We need:</a:t>
            </a:r>
          </a:p>
          <a:p>
            <a:endParaRPr lang="en-US" dirty="0"/>
          </a:p>
          <a:p>
            <a:r>
              <a:rPr lang="en-US" dirty="0"/>
              <a:t>Logs.</a:t>
            </a:r>
          </a:p>
          <a:p>
            <a:endParaRPr lang="en-US" dirty="0"/>
          </a:p>
          <a:p>
            <a:r>
              <a:rPr lang="en-US" dirty="0"/>
              <a:t>Monitoring.</a:t>
            </a:r>
          </a:p>
          <a:p>
            <a:endParaRPr lang="en-US" dirty="0"/>
          </a:p>
          <a:p>
            <a:r>
              <a:rPr lang="en-US" dirty="0"/>
              <a:t>Health checks.</a:t>
            </a:r>
          </a:p>
          <a:p>
            <a:endParaRPr lang="en-US" dirty="0"/>
          </a:p>
          <a:p>
            <a:r>
              <a:rPr lang="en-US" dirty="0"/>
              <a:t>Alerts where appropriate.</a:t>
            </a:r>
          </a:p>
          <a:p>
            <a:endParaRPr lang="en-US" dirty="0"/>
          </a:p>
          <a:p>
            <a:r>
              <a:rPr lang="en-US" dirty="0"/>
              <a:t>Explain:</a:t>
            </a:r>
          </a:p>
          <a:p>
            <a:endParaRPr lang="en-US" dirty="0"/>
          </a:p>
          <a:p>
            <a:r>
              <a:rPr lang="en-US" dirty="0"/>
              <a:t>"Observability helps us understand what the system is doing."</a:t>
            </a:r>
          </a:p>
          <a:p>
            <a:endParaRPr lang="en-US" dirty="0"/>
          </a:p>
          <a:p>
            <a:r>
              <a:rPr lang="en-US" dirty="0"/>
              <a:t>------------------------------------------------------------</a:t>
            </a:r>
          </a:p>
          <a:p>
            <a:endParaRPr lang="en-US" dirty="0"/>
          </a:p>
          <a:p>
            <a:r>
              <a:rPr lang="en-US" dirty="0"/>
              <a:t>TESTING</a:t>
            </a:r>
          </a:p>
          <a:p>
            <a:endParaRPr lang="en-US" dirty="0"/>
          </a:p>
          <a:p>
            <a:r>
              <a:rPr lang="en-US" dirty="0"/>
              <a:t>Third workstream.</a:t>
            </a:r>
          </a:p>
          <a:p>
            <a:endParaRPr lang="en-US" dirty="0"/>
          </a:p>
          <a:p>
            <a:r>
              <a:rPr lang="en-US" dirty="0"/>
              <a:t>Say:</a:t>
            </a:r>
          </a:p>
          <a:p>
            <a:endParaRPr lang="en-US" dirty="0"/>
          </a:p>
          <a:p>
            <a:r>
              <a:rPr lang="en-US" dirty="0"/>
              <a:t>"We're going beyond testing individual features."</a:t>
            </a:r>
          </a:p>
          <a:p>
            <a:endParaRPr lang="en-US" dirty="0"/>
          </a:p>
          <a:p>
            <a:r>
              <a:rPr lang="en-US" dirty="0"/>
              <a:t>"We're testing the whole product."</a:t>
            </a:r>
          </a:p>
          <a:p>
            <a:endParaRPr lang="en-US" dirty="0"/>
          </a:p>
          <a:p>
            <a:r>
              <a:rPr lang="en-US" dirty="0"/>
              <a:t>Examples:</a:t>
            </a:r>
          </a:p>
          <a:p>
            <a:endParaRPr lang="en-US" dirty="0"/>
          </a:p>
          <a:p>
            <a:r>
              <a:rPr lang="en-US" dirty="0"/>
              <a:t>Create account.</a:t>
            </a:r>
          </a:p>
          <a:p>
            <a:endParaRPr lang="en-US" dirty="0"/>
          </a:p>
          <a:p>
            <a:r>
              <a:rPr lang="en-US" dirty="0"/>
              <a:t>Login.</a:t>
            </a:r>
          </a:p>
          <a:p>
            <a:endParaRPr lang="en-US" dirty="0"/>
          </a:p>
          <a:p>
            <a:r>
              <a:rPr lang="en-US" dirty="0"/>
              <a:t>Create project.</a:t>
            </a:r>
          </a:p>
          <a:p>
            <a:endParaRPr lang="en-US" dirty="0"/>
          </a:p>
          <a:p>
            <a:r>
              <a:rPr lang="en-US" dirty="0"/>
              <a:t>Create task.</a:t>
            </a:r>
          </a:p>
          <a:p>
            <a:endParaRPr lang="en-US" dirty="0"/>
          </a:p>
          <a:p>
            <a:r>
              <a:rPr lang="en-US" dirty="0"/>
              <a:t>Edit task.</a:t>
            </a:r>
          </a:p>
          <a:p>
            <a:endParaRPr lang="en-US" dirty="0"/>
          </a:p>
          <a:p>
            <a:r>
              <a:rPr lang="en-US" dirty="0"/>
              <a:t>Complete task.</a:t>
            </a:r>
          </a:p>
          <a:p>
            <a:endParaRPr lang="en-US" dirty="0"/>
          </a:p>
          <a:p>
            <a:r>
              <a:rPr lang="en-US" dirty="0"/>
              <a:t>Logout.</a:t>
            </a:r>
          </a:p>
          <a:p>
            <a:endParaRPr lang="en-US" dirty="0"/>
          </a:p>
          <a:p>
            <a:r>
              <a:rPr lang="en-US" dirty="0"/>
              <a:t>Login again.</a:t>
            </a:r>
          </a:p>
          <a:p>
            <a:endParaRPr lang="en-US" dirty="0"/>
          </a:p>
          <a:p>
            <a:r>
              <a:rPr lang="en-US" dirty="0"/>
              <a:t>Verify data.</a:t>
            </a:r>
          </a:p>
          <a:p>
            <a:endParaRPr lang="en-US" dirty="0"/>
          </a:p>
          <a:p>
            <a:r>
              <a:rPr lang="en-US" dirty="0"/>
              <a:t>Test unauthorized access.</a:t>
            </a:r>
          </a:p>
          <a:p>
            <a:endParaRPr lang="en-US" dirty="0"/>
          </a:p>
          <a:p>
            <a:r>
              <a:rPr lang="en-US" dirty="0"/>
              <a:t>This is end-to-end thinking.</a:t>
            </a:r>
          </a:p>
          <a:p>
            <a:endParaRPr lang="en-US" dirty="0"/>
          </a:p>
          <a:p>
            <a:r>
              <a:rPr lang="en-US" dirty="0"/>
              <a:t>------------------------------------------------------------</a:t>
            </a:r>
          </a:p>
          <a:p>
            <a:endParaRPr lang="en-US" dirty="0"/>
          </a:p>
          <a:p>
            <a:r>
              <a:rPr lang="en-US" dirty="0"/>
              <a:t>POLISH</a:t>
            </a:r>
          </a:p>
          <a:p>
            <a:endParaRPr lang="en-US" dirty="0"/>
          </a:p>
          <a:p>
            <a:r>
              <a:rPr lang="en-US" dirty="0"/>
              <a:t>Point to:</a:t>
            </a:r>
          </a:p>
          <a:p>
            <a:endParaRPr lang="en-US" dirty="0"/>
          </a:p>
          <a:p>
            <a:r>
              <a:rPr lang="en-US" dirty="0"/>
              <a:t>POLISH.</a:t>
            </a:r>
          </a:p>
          <a:p>
            <a:endParaRPr lang="en-US" dirty="0"/>
          </a:p>
          <a:p>
            <a:r>
              <a:rPr lang="en-US" dirty="0"/>
              <a:t>Explain:</a:t>
            </a:r>
          </a:p>
          <a:p>
            <a:endParaRPr lang="en-US" dirty="0"/>
          </a:p>
          <a:p>
            <a:r>
              <a:rPr lang="en-US" dirty="0"/>
              <a:t>"Atlas should feel intentional."</a:t>
            </a:r>
          </a:p>
          <a:p>
            <a:endParaRPr lang="en-US" dirty="0"/>
          </a:p>
          <a:p>
            <a:r>
              <a:rPr lang="en-US" dirty="0"/>
              <a:t>Look for:</a:t>
            </a:r>
          </a:p>
          <a:p>
            <a:endParaRPr lang="en-US" dirty="0"/>
          </a:p>
          <a:p>
            <a:r>
              <a:rPr lang="en-US" dirty="0"/>
              <a:t>Inconsistent buttons.</a:t>
            </a:r>
          </a:p>
          <a:p>
            <a:endParaRPr lang="en-US" dirty="0"/>
          </a:p>
          <a:p>
            <a:r>
              <a:rPr lang="en-US" dirty="0"/>
              <a:t>Broken layouts.</a:t>
            </a:r>
          </a:p>
          <a:p>
            <a:endParaRPr lang="en-US" dirty="0"/>
          </a:p>
          <a:p>
            <a:r>
              <a:rPr lang="en-US" dirty="0"/>
              <a:t>Confusing messages.</a:t>
            </a:r>
          </a:p>
          <a:p>
            <a:endParaRPr lang="en-US" dirty="0"/>
          </a:p>
          <a:p>
            <a:r>
              <a:rPr lang="en-US" dirty="0"/>
              <a:t>Missing confirmation.</a:t>
            </a:r>
          </a:p>
          <a:p>
            <a:endParaRPr lang="en-US" dirty="0"/>
          </a:p>
          <a:p>
            <a:r>
              <a:rPr lang="en-US" dirty="0"/>
              <a:t>Poor navigation.</a:t>
            </a:r>
          </a:p>
          <a:p>
            <a:endParaRPr lang="en-US" dirty="0"/>
          </a:p>
          <a:p>
            <a:r>
              <a:rPr lang="en-US" dirty="0"/>
              <a:t>Unclear forms.</a:t>
            </a:r>
          </a:p>
          <a:p>
            <a:endParaRPr lang="en-US" dirty="0"/>
          </a:p>
          <a:p>
            <a:r>
              <a:rPr lang="en-US" dirty="0"/>
              <a:t>Accessibility issues.</a:t>
            </a:r>
          </a:p>
          <a:p>
            <a:endParaRPr lang="en-US" dirty="0"/>
          </a:p>
          <a:p>
            <a:r>
              <a:rPr lang="en-US" dirty="0"/>
              <a:t>Say:</a:t>
            </a:r>
          </a:p>
          <a:p>
            <a:endParaRPr lang="en-US" dirty="0"/>
          </a:p>
          <a:p>
            <a:r>
              <a:rPr lang="en-US" dirty="0"/>
              <a:t>"Small details influence whether users trust the product."</a:t>
            </a:r>
          </a:p>
          <a:p>
            <a:endParaRPr lang="en-US" dirty="0"/>
          </a:p>
          <a:p>
            <a:r>
              <a:rPr lang="en-US" dirty="0"/>
              <a:t>------------------------------------------------------------</a:t>
            </a:r>
          </a:p>
          <a:p>
            <a:endParaRPr lang="en-US" dirty="0"/>
          </a:p>
          <a:p>
            <a:r>
              <a:rPr lang="en-US" dirty="0"/>
              <a:t>DOCUMENTATION</a:t>
            </a:r>
          </a:p>
          <a:p>
            <a:endParaRPr lang="en-US" dirty="0"/>
          </a:p>
          <a:p>
            <a:r>
              <a:rPr lang="en-US" dirty="0"/>
              <a:t>Point to:</a:t>
            </a:r>
          </a:p>
          <a:p>
            <a:endParaRPr lang="en-US" dirty="0"/>
          </a:p>
          <a:p>
            <a:r>
              <a:rPr lang="en-US" dirty="0"/>
              <a:t>DOCUMENTATION.</a:t>
            </a:r>
          </a:p>
          <a:p>
            <a:endParaRPr lang="en-US" dirty="0"/>
          </a:p>
          <a:p>
            <a:r>
              <a:rPr lang="en-US" dirty="0"/>
              <a:t>Explain:</a:t>
            </a:r>
          </a:p>
          <a:p>
            <a:endParaRPr lang="en-US" dirty="0"/>
          </a:p>
          <a:p>
            <a:r>
              <a:rPr lang="en-US" dirty="0"/>
              <a:t>"We need to document both the user experience and the technical</a:t>
            </a:r>
          </a:p>
          <a:p>
            <a:r>
              <a:rPr lang="en-US" dirty="0"/>
              <a:t>system."</a:t>
            </a:r>
          </a:p>
          <a:p>
            <a:endParaRPr lang="en-US" dirty="0"/>
          </a:p>
          <a:p>
            <a:r>
              <a:rPr lang="en-US" dirty="0"/>
              <a:t>User:</a:t>
            </a:r>
          </a:p>
          <a:p>
            <a:endParaRPr lang="en-US" dirty="0"/>
          </a:p>
          <a:p>
            <a:r>
              <a:rPr lang="en-US" dirty="0"/>
              <a:t>"How do I use Atlas?"</a:t>
            </a:r>
          </a:p>
          <a:p>
            <a:endParaRPr lang="en-US" dirty="0"/>
          </a:p>
          <a:p>
            <a:r>
              <a:rPr lang="en-US" dirty="0"/>
              <a:t>Developer:</a:t>
            </a:r>
          </a:p>
          <a:p>
            <a:endParaRPr lang="en-US" dirty="0"/>
          </a:p>
          <a:p>
            <a:r>
              <a:rPr lang="en-US" dirty="0"/>
              <a:t>"How does Atlas work?"</a:t>
            </a:r>
          </a:p>
          <a:p>
            <a:endParaRPr lang="en-US" dirty="0"/>
          </a:p>
          <a:p>
            <a:r>
              <a:rPr lang="en-US" dirty="0"/>
              <a:t>Administrator:</a:t>
            </a:r>
          </a:p>
          <a:p>
            <a:endParaRPr lang="en-US" dirty="0"/>
          </a:p>
          <a:p>
            <a:r>
              <a:rPr lang="en-US" dirty="0"/>
              <a:t>"How do I operate Atlas?"</a:t>
            </a:r>
          </a:p>
          <a:p>
            <a:endParaRPr lang="en-US" dirty="0"/>
          </a:p>
          <a:p>
            <a:r>
              <a:rPr lang="en-US" dirty="0"/>
              <a:t>Those are different questions.</a:t>
            </a:r>
          </a:p>
          <a:p>
            <a:endParaRPr lang="en-US" dirty="0"/>
          </a:p>
          <a:p>
            <a:r>
              <a:rPr lang="en-US" dirty="0"/>
              <a:t>------------------------------------------------------------</a:t>
            </a:r>
          </a:p>
          <a:p>
            <a:endParaRPr lang="en-US" dirty="0"/>
          </a:p>
          <a:p>
            <a:r>
              <a:rPr lang="en-US" dirty="0"/>
              <a:t>OPERATIONS</a:t>
            </a:r>
          </a:p>
          <a:p>
            <a:endParaRPr lang="en-US" dirty="0"/>
          </a:p>
          <a:p>
            <a:r>
              <a:rPr lang="en-US" dirty="0"/>
              <a:t>Point to:</a:t>
            </a:r>
          </a:p>
          <a:p>
            <a:endParaRPr lang="en-US" dirty="0"/>
          </a:p>
          <a:p>
            <a:r>
              <a:rPr lang="en-US" dirty="0"/>
              <a:t>OPERATIONS.</a:t>
            </a:r>
          </a:p>
          <a:p>
            <a:endParaRPr lang="en-US" dirty="0"/>
          </a:p>
          <a:p>
            <a:r>
              <a:rPr lang="en-US" dirty="0"/>
              <a:t>Explain:</a:t>
            </a:r>
          </a:p>
          <a:p>
            <a:endParaRPr lang="en-US" dirty="0"/>
          </a:p>
          <a:p>
            <a:r>
              <a:rPr lang="en-US" dirty="0"/>
              <a:t>"Operations is what happens after deployment."</a:t>
            </a:r>
          </a:p>
          <a:p>
            <a:endParaRPr lang="en-US" dirty="0"/>
          </a:p>
          <a:p>
            <a:r>
              <a:rPr lang="en-US" dirty="0"/>
              <a:t>Examples:</a:t>
            </a:r>
          </a:p>
          <a:p>
            <a:endParaRPr lang="en-US" dirty="0"/>
          </a:p>
          <a:p>
            <a:r>
              <a:rPr lang="en-US" dirty="0"/>
              <a:t>Backups.</a:t>
            </a:r>
          </a:p>
          <a:p>
            <a:endParaRPr lang="en-US" dirty="0"/>
          </a:p>
          <a:p>
            <a:r>
              <a:rPr lang="en-US" dirty="0"/>
              <a:t>Incident response.</a:t>
            </a:r>
          </a:p>
          <a:p>
            <a:endParaRPr lang="en-US" dirty="0"/>
          </a:p>
          <a:p>
            <a:r>
              <a:rPr lang="en-US" dirty="0"/>
              <a:t>Monitoring.</a:t>
            </a:r>
          </a:p>
          <a:p>
            <a:endParaRPr lang="en-US" dirty="0"/>
          </a:p>
          <a:p>
            <a:r>
              <a:rPr lang="en-US" dirty="0"/>
              <a:t>Continuous improvement.</a:t>
            </a:r>
          </a:p>
          <a:p>
            <a:endParaRPr lang="en-US" dirty="0"/>
          </a:p>
          <a:p>
            <a:r>
              <a:rPr lang="en-US" dirty="0"/>
              <a:t>Updates.</a:t>
            </a:r>
          </a:p>
          <a:p>
            <a:endParaRPr lang="en-US" dirty="0"/>
          </a:p>
          <a:p>
            <a:r>
              <a:rPr lang="en-US" dirty="0"/>
              <a:t>Maintenance.</a:t>
            </a:r>
          </a:p>
          <a:p>
            <a:endParaRPr lang="en-US" dirty="0"/>
          </a:p>
          <a:p>
            <a:r>
              <a:rPr lang="en-US" dirty="0"/>
              <a:t>Say:</a:t>
            </a:r>
          </a:p>
          <a:p>
            <a:endParaRPr lang="en-US" dirty="0"/>
          </a:p>
          <a:p>
            <a:r>
              <a:rPr lang="en-US" dirty="0"/>
              <a:t>"A SaaS application isn't finished when we deploy it."</a:t>
            </a:r>
          </a:p>
          <a:p>
            <a:endParaRPr lang="en-US" dirty="0"/>
          </a:p>
          <a:p>
            <a:r>
              <a:rPr lang="en-US" dirty="0"/>
              <a:t>------------------------------------------------------------</a:t>
            </a:r>
          </a:p>
          <a:p>
            <a:endParaRPr lang="en-US" dirty="0"/>
          </a:p>
          <a:p>
            <a:r>
              <a:rPr lang="en-US" dirty="0"/>
              <a:t>READINESS QUESTIONS</a:t>
            </a:r>
          </a:p>
          <a:p>
            <a:endParaRPr lang="en-US" dirty="0"/>
          </a:p>
          <a:p>
            <a:r>
              <a:rPr lang="en-US" dirty="0"/>
              <a:t>Move to the right side of the poster.</a:t>
            </a:r>
          </a:p>
          <a:p>
            <a:endParaRPr lang="en-US" dirty="0"/>
          </a:p>
          <a:p>
            <a:r>
              <a:rPr lang="en-US" dirty="0"/>
              <a:t>Read each question.</a:t>
            </a:r>
          </a:p>
          <a:p>
            <a:endParaRPr lang="en-US" dirty="0"/>
          </a:p>
          <a:p>
            <a:r>
              <a:rPr lang="en-US" dirty="0"/>
              <a:t>1.</a:t>
            </a:r>
          </a:p>
          <a:p>
            <a:endParaRPr lang="en-US" dirty="0"/>
          </a:p>
          <a:p>
            <a:r>
              <a:rPr lang="en-US" dirty="0"/>
              <a:t>"Is Atlas configured correctly for production?"</a:t>
            </a:r>
          </a:p>
          <a:p>
            <a:endParaRPr lang="en-US" dirty="0"/>
          </a:p>
          <a:p>
            <a:r>
              <a:rPr lang="en-US" dirty="0"/>
              <a:t>2.</a:t>
            </a:r>
          </a:p>
          <a:p>
            <a:endParaRPr lang="en-US" dirty="0"/>
          </a:p>
          <a:p>
            <a:r>
              <a:rPr lang="en-US" dirty="0"/>
              <a:t>"Is the application reliable when things go wrong?"</a:t>
            </a:r>
          </a:p>
          <a:p>
            <a:endParaRPr lang="en-US" dirty="0"/>
          </a:p>
          <a:p>
            <a:r>
              <a:rPr lang="en-US" dirty="0"/>
              <a:t>3.</a:t>
            </a:r>
          </a:p>
          <a:p>
            <a:endParaRPr lang="en-US" dirty="0"/>
          </a:p>
          <a:p>
            <a:r>
              <a:rPr lang="en-US" dirty="0"/>
              <a:t>"Can we monitor what's happening?"</a:t>
            </a:r>
          </a:p>
          <a:p>
            <a:endParaRPr lang="en-US" dirty="0"/>
          </a:p>
          <a:p>
            <a:r>
              <a:rPr lang="en-US" dirty="0"/>
              <a:t>4.</a:t>
            </a:r>
          </a:p>
          <a:p>
            <a:endParaRPr lang="en-US" dirty="0"/>
          </a:p>
          <a:p>
            <a:r>
              <a:rPr lang="en-US" dirty="0"/>
              <a:t>"Does it still work end-to-end?"</a:t>
            </a:r>
          </a:p>
          <a:p>
            <a:endParaRPr lang="en-US" dirty="0"/>
          </a:p>
          <a:p>
            <a:r>
              <a:rPr lang="en-US" dirty="0"/>
              <a:t>5.</a:t>
            </a:r>
          </a:p>
          <a:p>
            <a:endParaRPr lang="en-US" dirty="0"/>
          </a:p>
          <a:p>
            <a:r>
              <a:rPr lang="en-US" dirty="0"/>
              <a:t>"Does it feel professional and easy to use?"</a:t>
            </a:r>
          </a:p>
          <a:p>
            <a:endParaRPr lang="en-US" dirty="0"/>
          </a:p>
          <a:p>
            <a:r>
              <a:rPr lang="en-US" dirty="0"/>
              <a:t>6.</a:t>
            </a:r>
          </a:p>
          <a:p>
            <a:endParaRPr lang="en-US" dirty="0"/>
          </a:p>
          <a:p>
            <a:r>
              <a:rPr lang="en-US" dirty="0"/>
              <a:t>"Can someone else understand and maintain it?"</a:t>
            </a:r>
          </a:p>
          <a:p>
            <a:endParaRPr lang="en-US" dirty="0"/>
          </a:p>
          <a:p>
            <a:r>
              <a:rPr lang="en-US" dirty="0"/>
              <a:t>7.</a:t>
            </a:r>
          </a:p>
          <a:p>
            <a:endParaRPr lang="en-US" dirty="0"/>
          </a:p>
          <a:p>
            <a:r>
              <a:rPr lang="en-US" dirty="0"/>
              <a:t>"Are we ready to deliver value to real users?"</a:t>
            </a:r>
          </a:p>
          <a:p>
            <a:endParaRPr lang="en-US" dirty="0"/>
          </a:p>
          <a:p>
            <a:r>
              <a:rPr lang="en-US" dirty="0"/>
              <a:t>8.</a:t>
            </a:r>
          </a:p>
          <a:p>
            <a:endParaRPr lang="en-US" dirty="0"/>
          </a:p>
          <a:p>
            <a:r>
              <a:rPr lang="en-US" dirty="0"/>
              <a:t>"What remains before full release?"</a:t>
            </a:r>
          </a:p>
          <a:p>
            <a:endParaRPr lang="en-US" dirty="0"/>
          </a:p>
          <a:p>
            <a:r>
              <a:rPr lang="en-US" dirty="0"/>
              <a:t>Explain:</a:t>
            </a:r>
          </a:p>
          <a:p>
            <a:endParaRPr lang="en-US" dirty="0"/>
          </a:p>
          <a:p>
            <a:r>
              <a:rPr lang="en-US" dirty="0"/>
              <a:t>"These questions will guide Sprint 7."</a:t>
            </a:r>
          </a:p>
          <a:p>
            <a:endParaRPr lang="en-US" dirty="0"/>
          </a:p>
          <a:p>
            <a:r>
              <a:rPr lang="en-US" dirty="0"/>
              <a:t>------------------------------------------------------------</a:t>
            </a:r>
          </a:p>
          <a:p>
            <a:endParaRPr lang="en-US" dirty="0"/>
          </a:p>
          <a:p>
            <a:r>
              <a:rPr lang="en-US" dirty="0"/>
              <a:t>READINESS CHECKLIST</a:t>
            </a:r>
          </a:p>
          <a:p>
            <a:endParaRPr lang="en-US" dirty="0"/>
          </a:p>
          <a:p>
            <a:r>
              <a:rPr lang="en-US" dirty="0"/>
              <a:t>Point to the checklist.</a:t>
            </a:r>
          </a:p>
          <a:p>
            <a:endParaRPr lang="en-US" dirty="0"/>
          </a:p>
          <a:p>
            <a:r>
              <a:rPr lang="en-US" dirty="0"/>
              <a:t>Walk through:</a:t>
            </a:r>
          </a:p>
          <a:p>
            <a:endParaRPr lang="en-US" dirty="0"/>
          </a:p>
          <a:p>
            <a:r>
              <a:rPr lang="en-US" dirty="0"/>
              <a:t>Functionality.</a:t>
            </a:r>
          </a:p>
          <a:p>
            <a:endParaRPr lang="en-US" dirty="0"/>
          </a:p>
          <a:p>
            <a:r>
              <a:rPr lang="en-US" dirty="0"/>
              <a:t>Reliability.</a:t>
            </a:r>
          </a:p>
          <a:p>
            <a:endParaRPr lang="en-US" dirty="0"/>
          </a:p>
          <a:p>
            <a:r>
              <a:rPr lang="en-US" dirty="0"/>
              <a:t>Security.</a:t>
            </a:r>
          </a:p>
          <a:p>
            <a:endParaRPr lang="en-US" dirty="0"/>
          </a:p>
          <a:p>
            <a:r>
              <a:rPr lang="en-US" dirty="0"/>
              <a:t>Usability.</a:t>
            </a:r>
          </a:p>
          <a:p>
            <a:endParaRPr lang="en-US" dirty="0"/>
          </a:p>
          <a:p>
            <a:r>
              <a:rPr lang="en-US" dirty="0"/>
              <a:t>Configuration.</a:t>
            </a:r>
          </a:p>
          <a:p>
            <a:endParaRPr lang="en-US" dirty="0"/>
          </a:p>
          <a:p>
            <a:r>
              <a:rPr lang="en-US" dirty="0"/>
              <a:t>Testing.</a:t>
            </a:r>
          </a:p>
          <a:p>
            <a:endParaRPr lang="en-US" dirty="0"/>
          </a:p>
          <a:p>
            <a:r>
              <a:rPr lang="en-US" dirty="0"/>
              <a:t>Documentation.</a:t>
            </a:r>
          </a:p>
          <a:p>
            <a:endParaRPr lang="en-US" dirty="0"/>
          </a:p>
          <a:p>
            <a:r>
              <a:rPr lang="en-US" dirty="0"/>
              <a:t>Operations.</a:t>
            </a:r>
          </a:p>
          <a:p>
            <a:endParaRPr lang="en-US" dirty="0"/>
          </a:p>
          <a:p>
            <a:r>
              <a:rPr lang="en-US" dirty="0"/>
              <a:t>Explain:</a:t>
            </a:r>
          </a:p>
          <a:p>
            <a:endParaRPr lang="en-US" dirty="0"/>
          </a:p>
          <a:p>
            <a:r>
              <a:rPr lang="en-US" dirty="0"/>
              <a:t>"Every category needs evidence."</a:t>
            </a:r>
          </a:p>
          <a:p>
            <a:endParaRPr lang="en-US" dirty="0"/>
          </a:p>
          <a:p>
            <a:r>
              <a:rPr lang="en-US" dirty="0"/>
              <a:t>------------------------------------------------------------</a:t>
            </a:r>
          </a:p>
          <a:p>
            <a:endParaRPr lang="en-US" dirty="0"/>
          </a:p>
          <a:p>
            <a:r>
              <a:rPr lang="en-US" dirty="0"/>
              <a:t>EVIDENCE, NOT OPINION</a:t>
            </a:r>
          </a:p>
          <a:p>
            <a:endParaRPr lang="en-US" dirty="0"/>
          </a:p>
          <a:p>
            <a:r>
              <a:rPr lang="en-US" dirty="0"/>
              <a:t>Point to the green statement.</a:t>
            </a:r>
          </a:p>
          <a:p>
            <a:endParaRPr lang="en-US" dirty="0"/>
          </a:p>
          <a:p>
            <a:r>
              <a:rPr lang="en-US" dirty="0"/>
              <a:t>Read:</a:t>
            </a:r>
          </a:p>
          <a:p>
            <a:endParaRPr lang="en-US" dirty="0"/>
          </a:p>
          <a:p>
            <a:r>
              <a:rPr lang="en-US" dirty="0"/>
              <a:t>"Ready = Evidence, not opinion."</a:t>
            </a:r>
          </a:p>
          <a:p>
            <a:endParaRPr lang="en-US" dirty="0"/>
          </a:p>
          <a:p>
            <a:r>
              <a:rPr lang="en-US" dirty="0"/>
              <a:t>Say:</a:t>
            </a:r>
          </a:p>
          <a:p>
            <a:endParaRPr lang="en-US" dirty="0"/>
          </a:p>
          <a:p>
            <a:r>
              <a:rPr lang="en-US" dirty="0"/>
              <a:t>"Don't tell me Atlas is ready because you feel like it's ready."</a:t>
            </a:r>
          </a:p>
          <a:p>
            <a:endParaRPr lang="en-US" dirty="0"/>
          </a:p>
          <a:p>
            <a:r>
              <a:rPr lang="en-US" dirty="0"/>
              <a:t>"Show me."</a:t>
            </a:r>
          </a:p>
          <a:p>
            <a:endParaRPr lang="en-US" dirty="0"/>
          </a:p>
          <a:p>
            <a:r>
              <a:rPr lang="en-US" dirty="0"/>
              <a:t>Examples:</a:t>
            </a:r>
          </a:p>
          <a:p>
            <a:endParaRPr lang="en-US" dirty="0"/>
          </a:p>
          <a:p>
            <a:r>
              <a:rPr lang="en-US" dirty="0"/>
              <a:t>Test results.</a:t>
            </a:r>
          </a:p>
          <a:p>
            <a:endParaRPr lang="en-US" dirty="0"/>
          </a:p>
          <a:p>
            <a:r>
              <a:rPr lang="en-US" dirty="0"/>
              <a:t>Screenshots.</a:t>
            </a:r>
          </a:p>
          <a:p>
            <a:endParaRPr lang="en-US" dirty="0"/>
          </a:p>
          <a:p>
            <a:r>
              <a:rPr lang="en-US" dirty="0"/>
              <a:t>Logs.</a:t>
            </a:r>
          </a:p>
          <a:p>
            <a:endParaRPr lang="en-US" dirty="0"/>
          </a:p>
          <a:p>
            <a:r>
              <a:rPr lang="en-US" dirty="0"/>
              <a:t>Successful deployment.</a:t>
            </a:r>
          </a:p>
          <a:p>
            <a:endParaRPr lang="en-US" dirty="0"/>
          </a:p>
          <a:p>
            <a:r>
              <a:rPr lang="en-US" dirty="0"/>
              <a:t>Backup test.</a:t>
            </a:r>
          </a:p>
          <a:p>
            <a:endParaRPr lang="en-US" dirty="0"/>
          </a:p>
          <a:p>
            <a:r>
              <a:rPr lang="en-US" dirty="0"/>
              <a:t>Security test.</a:t>
            </a:r>
          </a:p>
          <a:p>
            <a:endParaRPr lang="en-US" dirty="0"/>
          </a:p>
          <a:p>
            <a:r>
              <a:rPr lang="en-US" dirty="0"/>
              <a:t>Documentation.</a:t>
            </a:r>
          </a:p>
          <a:p>
            <a:endParaRPr lang="en-US" dirty="0"/>
          </a:p>
          <a:p>
            <a:r>
              <a:rPr lang="en-US" dirty="0"/>
              <a:t>User testing.</a:t>
            </a:r>
          </a:p>
          <a:p>
            <a:endParaRPr lang="en-US" dirty="0"/>
          </a:p>
          <a:p>
            <a:r>
              <a:rPr lang="en-US" dirty="0"/>
              <a:t>Explain:</a:t>
            </a:r>
          </a:p>
          <a:p>
            <a:endParaRPr lang="en-US" dirty="0"/>
          </a:p>
          <a:p>
            <a:r>
              <a:rPr lang="en-US" dirty="0"/>
              <a:t>"Engineering decisions should be supported by evidence."</a:t>
            </a:r>
          </a:p>
          <a:p>
            <a:endParaRPr lang="en-US" dirty="0"/>
          </a:p>
          <a:p>
            <a:r>
              <a:rPr lang="en-US" dirty="0"/>
              <a:t>------------------------------------------------------------</a:t>
            </a:r>
          </a:p>
          <a:p>
            <a:endParaRPr lang="en-US" dirty="0"/>
          </a:p>
          <a:p>
            <a:r>
              <a:rPr lang="en-US" dirty="0"/>
              <a:t>THE READINESS SCORECARD</a:t>
            </a:r>
          </a:p>
          <a:p>
            <a:endParaRPr lang="en-US" dirty="0"/>
          </a:p>
          <a:p>
            <a:r>
              <a:rPr lang="en-US" dirty="0"/>
              <a:t>Tell students:</a:t>
            </a:r>
          </a:p>
          <a:p>
            <a:endParaRPr lang="en-US" dirty="0"/>
          </a:p>
          <a:p>
            <a:r>
              <a:rPr lang="en-US" dirty="0"/>
              <a:t>"Throughout Sprint 7, we're going to build evidence for each category."</a:t>
            </a:r>
          </a:p>
          <a:p>
            <a:endParaRPr lang="en-US" dirty="0"/>
          </a:p>
          <a:p>
            <a:r>
              <a:rPr lang="en-US" dirty="0"/>
              <a:t>For example:</a:t>
            </a:r>
          </a:p>
          <a:p>
            <a:endParaRPr lang="en-US" dirty="0"/>
          </a:p>
          <a:p>
            <a:r>
              <a:rPr lang="en-US" dirty="0"/>
              <a:t>FUNCTIONALITY</a:t>
            </a:r>
          </a:p>
          <a:p>
            <a:endParaRPr lang="en-US" dirty="0"/>
          </a:p>
          <a:p>
            <a:r>
              <a:rPr lang="en-US" dirty="0"/>
              <a:t>✓ Requirements tested.</a:t>
            </a:r>
          </a:p>
          <a:p>
            <a:endParaRPr lang="en-US" dirty="0"/>
          </a:p>
          <a:p>
            <a:r>
              <a:rPr lang="en-US" dirty="0"/>
              <a:t>RELIABILITY</a:t>
            </a:r>
          </a:p>
          <a:p>
            <a:endParaRPr lang="en-US" dirty="0"/>
          </a:p>
          <a:p>
            <a:r>
              <a:rPr lang="en-US" dirty="0"/>
              <a:t>✓ Failure scenarios tested.</a:t>
            </a:r>
          </a:p>
          <a:p>
            <a:endParaRPr lang="en-US" dirty="0"/>
          </a:p>
          <a:p>
            <a:r>
              <a:rPr lang="en-US" dirty="0"/>
              <a:t>SECURITY</a:t>
            </a:r>
          </a:p>
          <a:p>
            <a:endParaRPr lang="en-US" dirty="0"/>
          </a:p>
          <a:p>
            <a:r>
              <a:rPr lang="en-US" dirty="0"/>
              <a:t>✓ Security controls verified.</a:t>
            </a:r>
          </a:p>
          <a:p>
            <a:endParaRPr lang="en-US" dirty="0"/>
          </a:p>
          <a:p>
            <a:r>
              <a:rPr lang="en-US" dirty="0"/>
              <a:t>CONFIGURATION</a:t>
            </a:r>
          </a:p>
          <a:p>
            <a:endParaRPr lang="en-US" dirty="0"/>
          </a:p>
          <a:p>
            <a:r>
              <a:rPr lang="en-US" dirty="0"/>
              <a:t>✓ Production settings reviewed.</a:t>
            </a:r>
          </a:p>
          <a:p>
            <a:endParaRPr lang="en-US" dirty="0"/>
          </a:p>
          <a:p>
            <a:r>
              <a:rPr lang="en-US" dirty="0"/>
              <a:t>TESTING</a:t>
            </a:r>
          </a:p>
          <a:p>
            <a:endParaRPr lang="en-US" dirty="0"/>
          </a:p>
          <a:p>
            <a:r>
              <a:rPr lang="en-US" dirty="0"/>
              <a:t>✓ End-to-end scenarios completed.</a:t>
            </a:r>
          </a:p>
          <a:p>
            <a:endParaRPr lang="en-US" dirty="0"/>
          </a:p>
          <a:p>
            <a:r>
              <a:rPr lang="en-US" dirty="0"/>
              <a:t>USABILITY</a:t>
            </a:r>
          </a:p>
          <a:p>
            <a:endParaRPr lang="en-US" dirty="0"/>
          </a:p>
          <a:p>
            <a:r>
              <a:rPr lang="en-US" dirty="0"/>
              <a:t>✓ User experience reviewed.</a:t>
            </a:r>
          </a:p>
          <a:p>
            <a:endParaRPr lang="en-US" dirty="0"/>
          </a:p>
          <a:p>
            <a:r>
              <a:rPr lang="en-US" dirty="0"/>
              <a:t>DOCUMENTATION</a:t>
            </a:r>
          </a:p>
          <a:p>
            <a:endParaRPr lang="en-US" dirty="0"/>
          </a:p>
          <a:p>
            <a:r>
              <a:rPr lang="en-US" dirty="0"/>
              <a:t>✓ Guides completed.</a:t>
            </a:r>
          </a:p>
          <a:p>
            <a:endParaRPr lang="en-US" dirty="0"/>
          </a:p>
          <a:p>
            <a:r>
              <a:rPr lang="en-US" dirty="0"/>
              <a:t>OPERATIONS</a:t>
            </a:r>
          </a:p>
          <a:p>
            <a:endParaRPr lang="en-US" dirty="0"/>
          </a:p>
          <a:p>
            <a:r>
              <a:rPr lang="en-US" dirty="0"/>
              <a:t>✓ Monitoring and recovery considered.</a:t>
            </a:r>
          </a:p>
          <a:p>
            <a:endParaRPr lang="en-US" dirty="0"/>
          </a:p>
          <a:p>
            <a:r>
              <a:rPr lang="en-US" dirty="0"/>
              <a:t>------------------------------------------------------------</a:t>
            </a:r>
          </a:p>
          <a:p>
            <a:endParaRPr lang="en-US" dirty="0"/>
          </a:p>
          <a:p>
            <a:r>
              <a:rPr lang="en-US" dirty="0"/>
              <a:t>THE RESULT</a:t>
            </a:r>
          </a:p>
          <a:p>
            <a:endParaRPr lang="en-US" dirty="0"/>
          </a:p>
          <a:p>
            <a:r>
              <a:rPr lang="en-US" dirty="0"/>
              <a:t>Point to:</a:t>
            </a:r>
          </a:p>
          <a:p>
            <a:endParaRPr lang="en-US" dirty="0"/>
          </a:p>
          <a:p>
            <a:r>
              <a:rPr lang="en-US" dirty="0"/>
              <a:t>THE RESULT.</a:t>
            </a:r>
          </a:p>
          <a:p>
            <a:endParaRPr lang="en-US" dirty="0"/>
          </a:p>
          <a:p>
            <a:r>
              <a:rPr lang="en-US" dirty="0"/>
              <a:t>Read:</a:t>
            </a:r>
          </a:p>
          <a:p>
            <a:endParaRPr lang="en-US" dirty="0"/>
          </a:p>
          <a:p>
            <a:r>
              <a:rPr lang="en-US" dirty="0"/>
              <a:t>"A production-ready Atlas </a:t>
            </a:r>
            <a:r>
              <a:rPr lang="en-US" dirty="0" err="1"/>
              <a:t>TaskFlow</a:t>
            </a:r>
            <a:r>
              <a:rPr lang="en-US" dirty="0"/>
              <a:t> application that is reliable,</a:t>
            </a:r>
          </a:p>
          <a:p>
            <a:r>
              <a:rPr lang="en-US" dirty="0"/>
              <a:t>secure, maintainable, and ready for real users."</a:t>
            </a:r>
          </a:p>
          <a:p>
            <a:endParaRPr lang="en-US" dirty="0"/>
          </a:p>
          <a:p>
            <a:r>
              <a:rPr lang="en-US" dirty="0"/>
              <a:t>Explain:</a:t>
            </a:r>
          </a:p>
          <a:p>
            <a:endParaRPr lang="en-US" dirty="0"/>
          </a:p>
          <a:p>
            <a:r>
              <a:rPr lang="en-US" dirty="0"/>
              <a:t>"That's our destination."</a:t>
            </a:r>
          </a:p>
          <a:p>
            <a:endParaRPr lang="en-US" dirty="0"/>
          </a:p>
          <a:p>
            <a:r>
              <a:rPr lang="en-US" dirty="0"/>
              <a:t>------------------------------------------------------------</a:t>
            </a:r>
          </a:p>
          <a:p>
            <a:endParaRPr lang="en-US" dirty="0"/>
          </a:p>
          <a:p>
            <a:r>
              <a:rPr lang="en-US" dirty="0"/>
              <a:t>IMPORTANT DISTINCTION</a:t>
            </a:r>
          </a:p>
          <a:p>
            <a:endParaRPr lang="en-US" dirty="0"/>
          </a:p>
          <a:p>
            <a:r>
              <a:rPr lang="en-US" dirty="0"/>
              <a:t>Say:</a:t>
            </a:r>
          </a:p>
          <a:p>
            <a:endParaRPr lang="en-US" dirty="0"/>
          </a:p>
          <a:p>
            <a:r>
              <a:rPr lang="en-US" dirty="0"/>
              <a:t>"Sprint 6 asked..."</a:t>
            </a:r>
          </a:p>
          <a:p>
            <a:endParaRPr lang="en-US" dirty="0"/>
          </a:p>
          <a:p>
            <a:r>
              <a:rPr lang="en-US" dirty="0"/>
              <a:t>"Can we trust Atlas?"</a:t>
            </a:r>
          </a:p>
          <a:p>
            <a:endParaRPr lang="en-US" dirty="0"/>
          </a:p>
          <a:p>
            <a:r>
              <a:rPr lang="en-US" dirty="0"/>
              <a:t>"Sprint 7 asks..."</a:t>
            </a:r>
          </a:p>
          <a:p>
            <a:endParaRPr lang="en-US" dirty="0"/>
          </a:p>
          <a:p>
            <a:r>
              <a:rPr lang="en-US" dirty="0"/>
              <a:t>"Can we operate and deliver Atlas responsibly?"</a:t>
            </a:r>
          </a:p>
          <a:p>
            <a:endParaRPr lang="en-US" dirty="0"/>
          </a:p>
          <a:p>
            <a:r>
              <a:rPr lang="en-US" dirty="0"/>
              <a:t>"Sprint 8 will ask..."</a:t>
            </a:r>
          </a:p>
          <a:p>
            <a:endParaRPr lang="en-US" dirty="0"/>
          </a:p>
          <a:p>
            <a:r>
              <a:rPr lang="en-US" dirty="0"/>
              <a:t>"Can we release Atlas?"</a:t>
            </a:r>
          </a:p>
          <a:p>
            <a:endParaRPr lang="en-US" dirty="0"/>
          </a:p>
          <a:p>
            <a:r>
              <a:rPr lang="en-US" dirty="0"/>
              <a:t>Pause.</a:t>
            </a:r>
          </a:p>
          <a:p>
            <a:endParaRPr lang="en-US" dirty="0"/>
          </a:p>
          <a:p>
            <a:r>
              <a:rPr lang="en-US" dirty="0"/>
              <a:t>"These are three different engineering questions."</a:t>
            </a:r>
          </a:p>
          <a:p>
            <a:endParaRPr lang="en-US" dirty="0"/>
          </a:p>
          <a:p>
            <a:r>
              <a:rPr lang="en-US" dirty="0"/>
              <a:t>------------------------------------------------------------</a:t>
            </a:r>
          </a:p>
          <a:p>
            <a:endParaRPr lang="en-US" dirty="0"/>
          </a:p>
          <a:p>
            <a:r>
              <a:rPr lang="en-US" dirty="0"/>
              <a:t>SPRINT 7 JOURNEY</a:t>
            </a:r>
          </a:p>
          <a:p>
            <a:endParaRPr lang="en-US" dirty="0"/>
          </a:p>
          <a:p>
            <a:r>
              <a:rPr lang="en-US" dirty="0"/>
              <a:t>Point to the roadmap.</a:t>
            </a:r>
          </a:p>
          <a:p>
            <a:endParaRPr lang="en-US" dirty="0"/>
          </a:p>
          <a:p>
            <a:r>
              <a:rPr lang="en-US" dirty="0"/>
              <a:t>Say:</a:t>
            </a:r>
          </a:p>
          <a:p>
            <a:endParaRPr lang="en-US" dirty="0"/>
          </a:p>
          <a:p>
            <a:r>
              <a:rPr lang="en-US" dirty="0"/>
              <a:t>"We're moving from a protected application..."</a:t>
            </a:r>
          </a:p>
          <a:p>
            <a:endParaRPr lang="en-US" dirty="0"/>
          </a:p>
          <a:p>
            <a:r>
              <a:rPr lang="en-US" dirty="0"/>
              <a:t>"...to a production-ready SaaS product."</a:t>
            </a:r>
          </a:p>
          <a:p>
            <a:endParaRPr lang="en-US" dirty="0"/>
          </a:p>
          <a:p>
            <a:r>
              <a:rPr lang="en-US" dirty="0"/>
              <a:t>This sprint is about:</a:t>
            </a:r>
          </a:p>
          <a:p>
            <a:endParaRPr lang="en-US" dirty="0"/>
          </a:p>
          <a:p>
            <a:r>
              <a:rPr lang="en-US" dirty="0"/>
              <a:t>Preparation.</a:t>
            </a:r>
          </a:p>
          <a:p>
            <a:endParaRPr lang="en-US" dirty="0"/>
          </a:p>
          <a:p>
            <a:r>
              <a:rPr lang="en-US" dirty="0"/>
              <a:t>Validation.</a:t>
            </a:r>
          </a:p>
          <a:p>
            <a:endParaRPr lang="en-US" dirty="0"/>
          </a:p>
          <a:p>
            <a:r>
              <a:rPr lang="en-US" dirty="0"/>
              <a:t>Polish.</a:t>
            </a:r>
          </a:p>
          <a:p>
            <a:endParaRPr lang="en-US" dirty="0"/>
          </a:p>
          <a:p>
            <a:r>
              <a:rPr lang="en-US" dirty="0"/>
              <a:t>Documentation.</a:t>
            </a:r>
          </a:p>
          <a:p>
            <a:endParaRPr lang="en-US" dirty="0"/>
          </a:p>
          <a:p>
            <a:r>
              <a:rPr lang="en-US" dirty="0"/>
              <a:t>Operational readiness.</a:t>
            </a:r>
          </a:p>
          <a:p>
            <a:endParaRPr lang="en-US" dirty="0"/>
          </a:p>
          <a:p>
            <a:r>
              <a:rPr lang="en-US" dirty="0"/>
              <a:t>------------------------------------------------------------</a:t>
            </a:r>
          </a:p>
          <a:p>
            <a:endParaRPr lang="en-US" dirty="0"/>
          </a:p>
          <a:p>
            <a:r>
              <a:rPr lang="en-US" dirty="0"/>
              <a:t>ATLAS ENGINEERING PRINCIPLE</a:t>
            </a:r>
          </a:p>
          <a:p>
            <a:endParaRPr lang="en-US" dirty="0"/>
          </a:p>
          <a:p>
            <a:r>
              <a:rPr lang="en-US" dirty="0"/>
              <a:t>Point to the quote:</a:t>
            </a:r>
          </a:p>
          <a:p>
            <a:endParaRPr lang="en-US" dirty="0"/>
          </a:p>
          <a:p>
            <a:r>
              <a:rPr lang="en-US" dirty="0"/>
              <a:t>"Reliability builds confidence.</a:t>
            </a:r>
          </a:p>
          <a:p>
            <a:endParaRPr lang="en-US" dirty="0"/>
          </a:p>
          <a:p>
            <a:r>
              <a:rPr lang="en-US" dirty="0"/>
              <a:t>Confidence builds trust."</a:t>
            </a:r>
          </a:p>
          <a:p>
            <a:endParaRPr lang="en-US" dirty="0"/>
          </a:p>
          <a:p>
            <a:r>
              <a:rPr lang="en-US" dirty="0"/>
              <a:t>Explain:</a:t>
            </a:r>
          </a:p>
          <a:p>
            <a:endParaRPr lang="en-US" dirty="0"/>
          </a:p>
          <a:p>
            <a:r>
              <a:rPr lang="en-US" dirty="0"/>
              <a:t>"Security helps us earn trust."</a:t>
            </a:r>
          </a:p>
          <a:p>
            <a:endParaRPr lang="en-US" dirty="0"/>
          </a:p>
          <a:p>
            <a:r>
              <a:rPr lang="en-US" dirty="0"/>
              <a:t>"Reliability helps us keep it."</a:t>
            </a:r>
          </a:p>
          <a:p>
            <a:endParaRPr lang="en-US" dirty="0"/>
          </a:p>
          <a:p>
            <a:r>
              <a:rPr lang="en-US" dirty="0"/>
              <a:t>------------------------------------------------------------</a:t>
            </a:r>
          </a:p>
          <a:p>
            <a:endParaRPr lang="en-US" dirty="0"/>
          </a:p>
          <a:p>
            <a:r>
              <a:rPr lang="en-US" dirty="0"/>
              <a:t>DISCUSSION QUESTION</a:t>
            </a:r>
          </a:p>
          <a:p>
            <a:endParaRPr lang="en-US" dirty="0"/>
          </a:p>
          <a:p>
            <a:r>
              <a:rPr lang="en-US" dirty="0"/>
              <a:t>Ask the class:</a:t>
            </a:r>
          </a:p>
          <a:p>
            <a:endParaRPr lang="en-US" dirty="0"/>
          </a:p>
          <a:p>
            <a:r>
              <a:rPr lang="en-US" dirty="0"/>
              <a:t>"What is one thing that would make you hesitate to give Atlas to a</a:t>
            </a:r>
          </a:p>
          <a:p>
            <a:r>
              <a:rPr lang="en-US" dirty="0"/>
              <a:t>real customer today?"</a:t>
            </a:r>
          </a:p>
          <a:p>
            <a:endParaRPr lang="en-US" dirty="0"/>
          </a:p>
          <a:p>
            <a:r>
              <a:rPr lang="en-US" dirty="0"/>
              <a:t>Let students discuss.</a:t>
            </a:r>
          </a:p>
          <a:p>
            <a:endParaRPr lang="en-US" dirty="0"/>
          </a:p>
          <a:p>
            <a:r>
              <a:rPr lang="en-US" dirty="0"/>
              <a:t>Write their answers on the board.</a:t>
            </a:r>
          </a:p>
          <a:p>
            <a:endParaRPr lang="en-US" dirty="0"/>
          </a:p>
          <a:p>
            <a:r>
              <a:rPr lang="en-US" dirty="0"/>
              <a:t>Potential answers:</a:t>
            </a:r>
          </a:p>
          <a:p>
            <a:endParaRPr lang="en-US" dirty="0"/>
          </a:p>
          <a:p>
            <a:r>
              <a:rPr lang="en-US" dirty="0"/>
              <a:t>Bugs.</a:t>
            </a:r>
          </a:p>
          <a:p>
            <a:endParaRPr lang="en-US" dirty="0"/>
          </a:p>
          <a:p>
            <a:r>
              <a:rPr lang="en-US" dirty="0"/>
              <a:t>Performance.</a:t>
            </a:r>
          </a:p>
          <a:p>
            <a:endParaRPr lang="en-US" dirty="0"/>
          </a:p>
          <a:p>
            <a:r>
              <a:rPr lang="en-US" dirty="0"/>
              <a:t>Backups.</a:t>
            </a:r>
          </a:p>
          <a:p>
            <a:endParaRPr lang="en-US" dirty="0"/>
          </a:p>
          <a:p>
            <a:r>
              <a:rPr lang="en-US" dirty="0"/>
              <a:t>Security.</a:t>
            </a:r>
          </a:p>
          <a:p>
            <a:endParaRPr lang="en-US" dirty="0"/>
          </a:p>
          <a:p>
            <a:r>
              <a:rPr lang="en-US" dirty="0"/>
              <a:t>Documentation.</a:t>
            </a:r>
          </a:p>
          <a:p>
            <a:endParaRPr lang="en-US" dirty="0"/>
          </a:p>
          <a:p>
            <a:r>
              <a:rPr lang="en-US" dirty="0"/>
              <a:t>User experience.</a:t>
            </a:r>
          </a:p>
          <a:p>
            <a:endParaRPr lang="en-US" dirty="0"/>
          </a:p>
          <a:p>
            <a:r>
              <a:rPr lang="en-US" dirty="0"/>
              <a:t>Monitoring.</a:t>
            </a:r>
          </a:p>
          <a:p>
            <a:endParaRPr lang="en-US" dirty="0"/>
          </a:p>
          <a:p>
            <a:r>
              <a:rPr lang="en-US" dirty="0"/>
              <a:t>Missing features.</a:t>
            </a:r>
          </a:p>
          <a:p>
            <a:endParaRPr lang="en-US" dirty="0"/>
          </a:p>
          <a:p>
            <a:r>
              <a:rPr lang="en-US" dirty="0"/>
              <a:t>Explain:</a:t>
            </a:r>
          </a:p>
          <a:p>
            <a:endParaRPr lang="en-US" dirty="0"/>
          </a:p>
          <a:p>
            <a:r>
              <a:rPr lang="en-US" dirty="0"/>
              <a:t>"Those concerns become our Sprint 7 work."</a:t>
            </a:r>
          </a:p>
          <a:p>
            <a:endParaRPr lang="en-US" dirty="0"/>
          </a:p>
          <a:p>
            <a:r>
              <a:rPr lang="en-US" dirty="0"/>
              <a:t>------------------------------------------------------------</a:t>
            </a:r>
          </a:p>
          <a:p>
            <a:endParaRPr lang="en-US" dirty="0"/>
          </a:p>
          <a:p>
            <a:r>
              <a:rPr lang="en-US" dirty="0"/>
              <a:t>ANOTHER QUESTION</a:t>
            </a:r>
          </a:p>
          <a:p>
            <a:endParaRPr lang="en-US" dirty="0"/>
          </a:p>
          <a:p>
            <a:r>
              <a:rPr lang="en-US" dirty="0"/>
              <a:t>Ask:</a:t>
            </a:r>
          </a:p>
          <a:p>
            <a:endParaRPr lang="en-US" dirty="0"/>
          </a:p>
          <a:p>
            <a:r>
              <a:rPr lang="en-US" dirty="0"/>
              <a:t>"What is the difference between..."</a:t>
            </a:r>
          </a:p>
          <a:p>
            <a:endParaRPr lang="en-US" dirty="0"/>
          </a:p>
          <a:p>
            <a:r>
              <a:rPr lang="en-US" dirty="0"/>
              <a:t>"A developer saying 'It works.'"</a:t>
            </a:r>
          </a:p>
          <a:p>
            <a:endParaRPr lang="en-US" dirty="0"/>
          </a:p>
          <a:p>
            <a:r>
              <a:rPr lang="en-US" dirty="0"/>
              <a:t>and:</a:t>
            </a:r>
          </a:p>
          <a:p>
            <a:endParaRPr lang="en-US" dirty="0"/>
          </a:p>
          <a:p>
            <a:r>
              <a:rPr lang="en-US" dirty="0"/>
              <a:t>"An engineer saying 'It's ready.'"</a:t>
            </a:r>
          </a:p>
          <a:p>
            <a:endParaRPr lang="en-US" dirty="0"/>
          </a:p>
          <a:p>
            <a:r>
              <a:rPr lang="en-US" dirty="0"/>
              <a:t>Expected discussion:</a:t>
            </a:r>
          </a:p>
          <a:p>
            <a:endParaRPr lang="en-US" dirty="0"/>
          </a:p>
          <a:p>
            <a:r>
              <a:rPr lang="en-US" dirty="0"/>
              <a:t>Evidence.</a:t>
            </a:r>
          </a:p>
          <a:p>
            <a:endParaRPr lang="en-US" dirty="0"/>
          </a:p>
          <a:p>
            <a:r>
              <a:rPr lang="en-US" dirty="0"/>
              <a:t>Testing.</a:t>
            </a:r>
          </a:p>
          <a:p>
            <a:endParaRPr lang="en-US" dirty="0"/>
          </a:p>
          <a:p>
            <a:r>
              <a:rPr lang="en-US" dirty="0"/>
              <a:t>Reliability.</a:t>
            </a:r>
          </a:p>
          <a:p>
            <a:endParaRPr lang="en-US" dirty="0"/>
          </a:p>
          <a:p>
            <a:r>
              <a:rPr lang="en-US" dirty="0"/>
              <a:t>Documentation.</a:t>
            </a:r>
          </a:p>
          <a:p>
            <a:endParaRPr lang="en-US" dirty="0"/>
          </a:p>
          <a:p>
            <a:r>
              <a:rPr lang="en-US" dirty="0"/>
              <a:t>Configuration.</a:t>
            </a:r>
          </a:p>
          <a:p>
            <a:endParaRPr lang="en-US" dirty="0"/>
          </a:p>
          <a:p>
            <a:r>
              <a:rPr lang="en-US" dirty="0"/>
              <a:t>Operational planning.</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SPRINT 8 — RELEASE IT.</a:t>
            </a:r>
          </a:p>
          <a:p>
            <a:endParaRPr lang="en-US" dirty="0"/>
          </a:p>
          <a:p>
            <a:r>
              <a:rPr lang="en-US" dirty="0"/>
              <a:t>Say:</a:t>
            </a:r>
          </a:p>
          <a:p>
            <a:endParaRPr lang="en-US" dirty="0"/>
          </a:p>
          <a:p>
            <a:r>
              <a:rPr lang="en-US" dirty="0"/>
              <a:t>"Everything we're doing now prepares us for the final step."</a:t>
            </a:r>
          </a:p>
          <a:p>
            <a:endParaRPr lang="en-US" dirty="0"/>
          </a:p>
          <a:p>
            <a:r>
              <a:rPr lang="en-US" dirty="0"/>
              <a:t>Sprint 8 will be about:</a:t>
            </a:r>
          </a:p>
          <a:p>
            <a:endParaRPr lang="en-US" dirty="0"/>
          </a:p>
          <a:p>
            <a:r>
              <a:rPr lang="en-US" dirty="0"/>
              <a:t>Final delivery.</a:t>
            </a:r>
          </a:p>
          <a:p>
            <a:endParaRPr lang="en-US" dirty="0"/>
          </a:p>
          <a:p>
            <a:r>
              <a:rPr lang="en-US" dirty="0"/>
              <a:t>Final demonstration.</a:t>
            </a:r>
          </a:p>
          <a:p>
            <a:endParaRPr lang="en-US" dirty="0"/>
          </a:p>
          <a:p>
            <a:r>
              <a:rPr lang="en-US" dirty="0"/>
              <a:t>Final evaluation.</a:t>
            </a:r>
          </a:p>
          <a:p>
            <a:endParaRPr lang="en-US" dirty="0"/>
          </a:p>
          <a:p>
            <a:r>
              <a:rPr lang="en-US" dirty="0"/>
              <a:t>Version 1.0.</a:t>
            </a:r>
          </a:p>
          <a:p>
            <a:endParaRPr lang="en-US" dirty="0"/>
          </a:p>
          <a:p>
            <a:r>
              <a:rPr lang="en-US" dirty="0"/>
              <a:t>But:</a:t>
            </a:r>
          </a:p>
          <a:p>
            <a:endParaRPr lang="en-US" dirty="0"/>
          </a:p>
          <a:p>
            <a:r>
              <a:rPr lang="en-US" dirty="0"/>
              <a:t>"We aren't ready to release yet."</a:t>
            </a:r>
          </a:p>
          <a:p>
            <a:endParaRPr lang="en-US" dirty="0"/>
          </a:p>
          <a:p>
            <a:r>
              <a:rPr lang="en-US" dirty="0"/>
              <a:t>"First..."</a:t>
            </a:r>
          </a:p>
          <a:p>
            <a:endParaRPr lang="en-US" dirty="0"/>
          </a:p>
          <a:p>
            <a:r>
              <a:rPr lang="en-US" dirty="0"/>
              <a:t>"We prepare."</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"Engineers don't stop at 'It works.'"</a:t>
            </a:r>
          </a:p>
          <a:p>
            <a:endParaRPr lang="en-US" dirty="0"/>
          </a:p>
          <a:p>
            <a:r>
              <a:rPr lang="en-US" dirty="0"/>
              <a:t>Pause.</a:t>
            </a:r>
          </a:p>
          <a:p>
            <a:endParaRPr lang="en-US" dirty="0"/>
          </a:p>
          <a:p>
            <a:r>
              <a:rPr lang="en-US" dirty="0"/>
              <a:t>"We ask..."</a:t>
            </a:r>
          </a:p>
          <a:p>
            <a:endParaRPr lang="en-US" dirty="0"/>
          </a:p>
          <a:p>
            <a:r>
              <a:rPr lang="en-US" dirty="0"/>
              <a:t>"Can we trust it?"</a:t>
            </a:r>
          </a:p>
          <a:p>
            <a:endParaRPr lang="en-US" dirty="0"/>
          </a:p>
          <a:p>
            <a:r>
              <a:rPr lang="en-US" dirty="0"/>
              <a:t>"We already did that."</a:t>
            </a:r>
          </a:p>
          <a:p>
            <a:endParaRPr lang="en-US" dirty="0"/>
          </a:p>
          <a:p>
            <a:r>
              <a:rPr lang="en-US" dirty="0"/>
              <a:t>Then:</a:t>
            </a:r>
          </a:p>
          <a:p>
            <a:endParaRPr lang="en-US" dirty="0"/>
          </a:p>
          <a:p>
            <a:r>
              <a:rPr lang="en-US" dirty="0"/>
              <a:t>"Can we operate it?"</a:t>
            </a:r>
          </a:p>
          <a:p>
            <a:endParaRPr lang="en-US" dirty="0"/>
          </a:p>
          <a:p>
            <a:r>
              <a:rPr lang="en-US" dirty="0"/>
              <a:t>"Can we maintain it?"</a:t>
            </a:r>
          </a:p>
          <a:p>
            <a:endParaRPr lang="en-US" dirty="0"/>
          </a:p>
          <a:p>
            <a:r>
              <a:rPr lang="en-US" dirty="0"/>
              <a:t>"Can we support it?"</a:t>
            </a:r>
          </a:p>
          <a:p>
            <a:endParaRPr lang="en-US" dirty="0"/>
          </a:p>
          <a:p>
            <a:r>
              <a:rPr lang="en-US" dirty="0"/>
              <a:t>"Can we deliver it?"</a:t>
            </a:r>
          </a:p>
          <a:p>
            <a:endParaRPr lang="en-US" dirty="0"/>
          </a:p>
          <a:p>
            <a:r>
              <a:rPr lang="en-US" dirty="0"/>
              <a:t>Pause.</a:t>
            </a:r>
          </a:p>
          <a:p>
            <a:endParaRPr lang="en-US" dirty="0"/>
          </a:p>
          <a:p>
            <a:r>
              <a:rPr lang="en-US" dirty="0"/>
              <a:t>"That's Sprint 7."</a:t>
            </a:r>
          </a:p>
          <a:p>
            <a:endParaRPr lang="en-US" dirty="0"/>
          </a:p>
          <a:p>
            <a:r>
              <a:rPr lang="en-US" dirty="0"/>
              <a:t>============================================================</a:t>
            </a:r>
          </a:p>
          <a:p>
            <a:endParaRPr lang="en-US" dirty="0"/>
          </a:p>
          <a:p>
            <a:r>
              <a:rPr lang="en-US" dirty="0"/>
              <a:t>ESTIMATED TIME</a:t>
            </a:r>
          </a:p>
          <a:p>
            <a:endParaRPr lang="en-US" dirty="0"/>
          </a:p>
          <a:p>
            <a:r>
              <a:rPr lang="en-US" dirty="0"/>
              <a:t>Opening / Working vs Ready.............8 minutes</a:t>
            </a:r>
          </a:p>
          <a:p>
            <a:endParaRPr lang="en-US" dirty="0"/>
          </a:p>
          <a:p>
            <a:r>
              <a:rPr lang="en-US" dirty="0"/>
              <a:t>Eight Readiness Areas..................15 minutes</a:t>
            </a:r>
          </a:p>
          <a:p>
            <a:endParaRPr lang="en-US" dirty="0"/>
          </a:p>
          <a:p>
            <a:r>
              <a:rPr lang="en-US" dirty="0"/>
              <a:t>Development → Production...............10 minutes</a:t>
            </a:r>
          </a:p>
          <a:p>
            <a:endParaRPr lang="en-US" dirty="0"/>
          </a:p>
          <a:p>
            <a:r>
              <a:rPr lang="en-US" dirty="0"/>
              <a:t>Sprint 7 Workstreams....................10 minutes</a:t>
            </a:r>
          </a:p>
          <a:p>
            <a:endParaRPr lang="en-US" dirty="0"/>
          </a:p>
          <a:p>
            <a:r>
              <a:rPr lang="en-US" dirty="0"/>
              <a:t>Readiness Questions.....................8 minutes</a:t>
            </a:r>
          </a:p>
          <a:p>
            <a:endParaRPr lang="en-US" dirty="0"/>
          </a:p>
          <a:p>
            <a:r>
              <a:rPr lang="en-US" dirty="0"/>
              <a:t>Discussion..............................9 minutes</a:t>
            </a:r>
          </a:p>
          <a:p>
            <a:endParaRPr lang="en-US" dirty="0"/>
          </a:p>
          <a:p>
            <a:r>
              <a:rPr lang="en-US" dirty="0"/>
              <a:t>Sprint 8 Preview........................5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is the framing lesson for the entire sprint.</a:t>
            </a:r>
          </a:p>
          <a:p>
            <a:endParaRPr lang="en-US" dirty="0"/>
          </a:p>
          <a:p>
            <a:r>
              <a:rPr lang="en-US" dirty="0"/>
              <a:t>Students should leave understanding that Sprint 7 is not simply</a:t>
            </a:r>
          </a:p>
          <a:p>
            <a:r>
              <a:rPr lang="en-US" dirty="0"/>
              <a:t>"more features."</a:t>
            </a:r>
          </a:p>
          <a:p>
            <a:endParaRPr lang="en-US" dirty="0"/>
          </a:p>
          <a:p>
            <a:r>
              <a:rPr lang="en-US" dirty="0"/>
              <a:t>It is about making the existing product ready for responsible use.</a:t>
            </a:r>
          </a:p>
          <a:p>
            <a:endParaRPr lang="en-US" dirty="0"/>
          </a:p>
          <a:p>
            <a:r>
              <a:rPr lang="en-US" dirty="0"/>
              <a:t>------------------------------------------------------------</a:t>
            </a:r>
          </a:p>
          <a:p>
            <a:endParaRPr lang="en-US" dirty="0"/>
          </a:p>
          <a:p>
            <a:r>
              <a:rPr lang="en-US" dirty="0"/>
              <a:t>IMPORTANT TEACHING MOVE</a:t>
            </a:r>
          </a:p>
          <a:p>
            <a:endParaRPr lang="en-US" dirty="0"/>
          </a:p>
          <a:p>
            <a:r>
              <a:rPr lang="en-US" dirty="0"/>
              <a:t>Keep returning to:</a:t>
            </a:r>
          </a:p>
          <a:p>
            <a:endParaRPr lang="en-US" dirty="0"/>
          </a:p>
          <a:p>
            <a:r>
              <a:rPr lang="en-US" dirty="0"/>
              <a:t>WORKING ≠ READY</a:t>
            </a:r>
          </a:p>
          <a:p>
            <a:endParaRPr lang="en-US" dirty="0"/>
          </a:p>
          <a:p>
            <a:r>
              <a:rPr lang="en-US" dirty="0"/>
              <a:t>When a student says:</a:t>
            </a:r>
          </a:p>
          <a:p>
            <a:endParaRPr lang="en-US" dirty="0"/>
          </a:p>
          <a:p>
            <a:r>
              <a:rPr lang="en-US" dirty="0"/>
              <a:t>"But it works."</a:t>
            </a:r>
          </a:p>
          <a:p>
            <a:endParaRPr lang="en-US" dirty="0"/>
          </a:p>
          <a:p>
            <a:r>
              <a:rPr lang="en-US" dirty="0"/>
              <a:t>Ask:</a:t>
            </a:r>
          </a:p>
          <a:p>
            <a:endParaRPr lang="en-US" dirty="0"/>
          </a:p>
          <a:p>
            <a:r>
              <a:rPr lang="en-US" dirty="0"/>
              <a:t>"Is it reliable?"</a:t>
            </a:r>
          </a:p>
          <a:p>
            <a:endParaRPr lang="en-US" dirty="0"/>
          </a:p>
          <a:p>
            <a:r>
              <a:rPr lang="en-US" dirty="0"/>
              <a:t>"Is it documented?"</a:t>
            </a:r>
          </a:p>
          <a:p>
            <a:endParaRPr lang="en-US" dirty="0"/>
          </a:p>
          <a:p>
            <a:r>
              <a:rPr lang="en-US" dirty="0"/>
              <a:t>"Can someone else maintain it?"</a:t>
            </a:r>
          </a:p>
          <a:p>
            <a:endParaRPr lang="en-US" dirty="0"/>
          </a:p>
          <a:p>
            <a:r>
              <a:rPr lang="en-US" dirty="0"/>
              <a:t>"Can we monitor it?"</a:t>
            </a:r>
          </a:p>
          <a:p>
            <a:endParaRPr lang="en-US" dirty="0"/>
          </a:p>
          <a:p>
            <a:r>
              <a:rPr lang="en-US" dirty="0"/>
              <a:t>"Can we recover it?"</a:t>
            </a:r>
          </a:p>
          <a:p>
            <a:endParaRPr lang="en-US" dirty="0"/>
          </a:p>
          <a:p>
            <a:r>
              <a:rPr lang="en-US" dirty="0"/>
              <a:t>"Is production configured correctly?"</a:t>
            </a:r>
          </a:p>
          <a:p>
            <a:endParaRPr lang="en-US" dirty="0"/>
          </a:p>
          <a:p>
            <a:r>
              <a:rPr lang="en-US" dirty="0"/>
              <a:t>This reinforces the difference between programming and engineering.</a:t>
            </a:r>
          </a:p>
          <a:p>
            <a:endParaRPr lang="en-US" dirty="0"/>
          </a:p>
          <a:p>
            <a:r>
              <a:rPr lang="en-US" dirty="0"/>
              <a:t>------------------------------------------------------------</a:t>
            </a:r>
          </a:p>
          <a:p>
            <a:endParaRPr lang="en-US" dirty="0"/>
          </a:p>
          <a:p>
            <a:r>
              <a:rPr lang="en-US" dirty="0"/>
              <a:t>DO NOT OVER-ENGINEER</a:t>
            </a:r>
          </a:p>
          <a:p>
            <a:endParaRPr lang="en-US" dirty="0"/>
          </a:p>
          <a:p>
            <a:r>
              <a:rPr lang="en-US" dirty="0"/>
              <a:t>Keep the concepts practical.</a:t>
            </a:r>
          </a:p>
          <a:p>
            <a:endParaRPr lang="en-US" dirty="0"/>
          </a:p>
          <a:p>
            <a:r>
              <a:rPr lang="en-US" dirty="0"/>
              <a:t>Students do not need to build:</a:t>
            </a:r>
          </a:p>
          <a:p>
            <a:endParaRPr lang="en-US" dirty="0"/>
          </a:p>
          <a:p>
            <a:r>
              <a:rPr lang="en-US" dirty="0"/>
              <a:t>• Enterprise CI/CD infrastructure</a:t>
            </a:r>
          </a:p>
          <a:p>
            <a:r>
              <a:rPr lang="en-US" dirty="0"/>
              <a:t>• Complex Kubernetes environments</a:t>
            </a:r>
          </a:p>
          <a:p>
            <a:r>
              <a:rPr lang="en-US" dirty="0"/>
              <a:t>• Advanced distributed systems</a:t>
            </a:r>
          </a:p>
          <a:p>
            <a:r>
              <a:rPr lang="en-US" dirty="0"/>
              <a:t>• Enterprise monitoring platforms</a:t>
            </a:r>
          </a:p>
          <a:p>
            <a:r>
              <a:rPr lang="en-US" dirty="0"/>
              <a:t>• Full disaster recovery architecture</a:t>
            </a:r>
          </a:p>
          <a:p>
            <a:endParaRPr lang="en-US" dirty="0"/>
          </a:p>
          <a:p>
            <a:r>
              <a:rPr lang="en-US" dirty="0"/>
              <a:t>They need to understand the principles and apply reasonable practices</a:t>
            </a:r>
          </a:p>
          <a:p>
            <a:r>
              <a:rPr lang="en-US" dirty="0"/>
              <a:t>to Atlas.</a:t>
            </a:r>
          </a:p>
          <a:p>
            <a:endParaRPr lang="en-US" dirty="0"/>
          </a:p>
          <a:p>
            <a:r>
              <a:rPr lang="en-US" dirty="0"/>
              <a:t>------------------------------------------------------------</a:t>
            </a:r>
          </a:p>
          <a:p>
            <a:endParaRPr lang="en-US" dirty="0"/>
          </a:p>
          <a:p>
            <a:r>
              <a:rPr lang="en-US" dirty="0"/>
              <a:t>PRODUCTION BOUNDARY</a:t>
            </a:r>
          </a:p>
          <a:p>
            <a:endParaRPr lang="en-US" dirty="0"/>
          </a:p>
          <a:p>
            <a:r>
              <a:rPr lang="en-US" dirty="0"/>
              <a:t>Explain that "production ready" in this course means:</a:t>
            </a:r>
          </a:p>
          <a:p>
            <a:endParaRPr lang="en-US" dirty="0"/>
          </a:p>
          <a:p>
            <a:r>
              <a:rPr lang="en-US" dirty="0"/>
              <a:t>Ready for the scope and requirements of Atlas </a:t>
            </a:r>
            <a:r>
              <a:rPr lang="en-US" dirty="0" err="1"/>
              <a:t>TaskFlow</a:t>
            </a:r>
            <a:r>
              <a:rPr lang="en-US" dirty="0"/>
              <a:t> Version 1.0.</a:t>
            </a:r>
          </a:p>
          <a:p>
            <a:endParaRPr lang="en-US" dirty="0"/>
          </a:p>
          <a:p>
            <a:r>
              <a:rPr lang="en-US" dirty="0"/>
              <a:t>It does NOT mean:</a:t>
            </a:r>
          </a:p>
          <a:p>
            <a:endParaRPr lang="en-US" dirty="0"/>
          </a:p>
          <a:p>
            <a:r>
              <a:rPr lang="en-US" dirty="0"/>
              <a:t>"Ready to compete with Microsoft, Google, or Salesforce."</a:t>
            </a:r>
          </a:p>
          <a:p>
            <a:endParaRPr lang="en-US" dirty="0"/>
          </a:p>
          <a:p>
            <a:r>
              <a:rPr lang="en-US" dirty="0"/>
              <a:t>The goal is professional student-level SaaS engineering.</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WORKING</a:t>
            </a:r>
          </a:p>
          <a:p>
            <a:endParaRPr lang="en-US" dirty="0"/>
          </a:p>
          <a:p>
            <a:r>
              <a:rPr lang="en-US" dirty="0"/>
              <a:t>≠</a:t>
            </a:r>
          </a:p>
          <a:p>
            <a:endParaRPr lang="en-US" dirty="0"/>
          </a:p>
          <a:p>
            <a:r>
              <a:rPr lang="en-US" dirty="0"/>
              <a:t>READY</a:t>
            </a:r>
          </a:p>
          <a:p>
            <a:endParaRPr lang="en-US" dirty="0"/>
          </a:p>
          <a:p>
            <a:r>
              <a:rPr lang="en-US" dirty="0"/>
              <a:t>Then:</a:t>
            </a:r>
          </a:p>
          <a:p>
            <a:endParaRPr lang="en-US" dirty="0"/>
          </a:p>
          <a:p>
            <a:r>
              <a:rPr lang="en-US" dirty="0"/>
              <a:t>READY =</a:t>
            </a:r>
          </a:p>
          <a:p>
            <a:endParaRPr lang="en-US" dirty="0"/>
          </a:p>
          <a:p>
            <a:r>
              <a:rPr lang="en-US" dirty="0"/>
              <a:t>FUNCTIONAL</a:t>
            </a:r>
          </a:p>
          <a:p>
            <a:endParaRPr lang="en-US" dirty="0"/>
          </a:p>
          <a:p>
            <a:r>
              <a:rPr lang="en-US" dirty="0"/>
              <a:t>+</a:t>
            </a:r>
          </a:p>
          <a:p>
            <a:endParaRPr lang="en-US" dirty="0"/>
          </a:p>
          <a:p>
            <a:r>
              <a:rPr lang="en-US" dirty="0"/>
              <a:t>RELIABLE</a:t>
            </a:r>
          </a:p>
          <a:p>
            <a:endParaRPr lang="en-US" dirty="0"/>
          </a:p>
          <a:p>
            <a:r>
              <a:rPr lang="en-US" dirty="0"/>
              <a:t>+</a:t>
            </a:r>
          </a:p>
          <a:p>
            <a:endParaRPr lang="en-US" dirty="0"/>
          </a:p>
          <a:p>
            <a:r>
              <a:rPr lang="en-US" dirty="0"/>
              <a:t>SECURE</a:t>
            </a:r>
          </a:p>
          <a:p>
            <a:endParaRPr lang="en-US" dirty="0"/>
          </a:p>
          <a:p>
            <a:r>
              <a:rPr lang="en-US" dirty="0"/>
              <a:t>+</a:t>
            </a:r>
          </a:p>
          <a:p>
            <a:endParaRPr lang="en-US" dirty="0"/>
          </a:p>
          <a:p>
            <a:r>
              <a:rPr lang="en-US" dirty="0"/>
              <a:t>TESTED</a:t>
            </a:r>
          </a:p>
          <a:p>
            <a:endParaRPr lang="en-US" dirty="0"/>
          </a:p>
          <a:p>
            <a:r>
              <a:rPr lang="en-US" dirty="0"/>
              <a:t>+</a:t>
            </a:r>
          </a:p>
          <a:p>
            <a:endParaRPr lang="en-US" dirty="0"/>
          </a:p>
          <a:p>
            <a:r>
              <a:rPr lang="en-US" dirty="0"/>
              <a:t>USABLE</a:t>
            </a:r>
          </a:p>
          <a:p>
            <a:endParaRPr lang="en-US" dirty="0"/>
          </a:p>
          <a:p>
            <a:r>
              <a:rPr lang="en-US" dirty="0"/>
              <a:t>+</a:t>
            </a:r>
          </a:p>
          <a:p>
            <a:endParaRPr lang="en-US" dirty="0"/>
          </a:p>
          <a:p>
            <a:r>
              <a:rPr lang="en-US" dirty="0"/>
              <a:t>DOCUMENTED</a:t>
            </a:r>
          </a:p>
          <a:p>
            <a:endParaRPr lang="en-US" dirty="0"/>
          </a:p>
          <a:p>
            <a:r>
              <a:rPr lang="en-US" dirty="0"/>
              <a:t>+</a:t>
            </a:r>
          </a:p>
          <a:p>
            <a:endParaRPr lang="en-US" dirty="0"/>
          </a:p>
          <a:p>
            <a:r>
              <a:rPr lang="en-US" dirty="0"/>
              <a:t>OBSERVABLE</a:t>
            </a:r>
          </a:p>
          <a:p>
            <a:endParaRPr lang="en-US" dirty="0"/>
          </a:p>
          <a:p>
            <a:r>
              <a:rPr lang="en-US" dirty="0"/>
              <a:t>+</a:t>
            </a:r>
          </a:p>
          <a:p>
            <a:endParaRPr lang="en-US" dirty="0"/>
          </a:p>
          <a:p>
            <a:r>
              <a:rPr lang="en-US" dirty="0"/>
              <a:t>MAINTAINABLE</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"Anyone can say, 'It works.'"</a:t>
            </a:r>
          </a:p>
          <a:p>
            <a:endParaRPr lang="en-US" dirty="0"/>
          </a:p>
          <a:p>
            <a:r>
              <a:rPr lang="en-US" dirty="0"/>
              <a:t>"Our job is to be able to say..."</a:t>
            </a:r>
          </a:p>
          <a:p>
            <a:endParaRPr lang="en-US" dirty="0"/>
          </a:p>
          <a:p>
            <a:r>
              <a:rPr lang="en-US" dirty="0"/>
              <a:t>"'It's ready.'"</a:t>
            </a:r>
          </a:p>
          <a:p>
            <a:endParaRPr lang="en-US" dirty="0"/>
          </a:p>
          <a:p>
            <a:r>
              <a:rPr lang="en-US" dirty="0"/>
              <a:t>"And then..."</a:t>
            </a:r>
          </a:p>
          <a:p>
            <a:endParaRPr lang="en-US" dirty="0"/>
          </a:p>
          <a:p>
            <a:r>
              <a:rPr lang="en-US" dirty="0"/>
              <a:t>"Show the evidence."</a:t>
            </a:r>
          </a:p>
          <a:p>
            <a:endParaRPr lang="en-US" dirty="0"/>
          </a:p>
          <a:p>
            <a:r>
              <a:rPr lang="en-US" dirty="0"/>
              <a:t>============================================================</a:t>
            </a:r>
          </a:p>
        </p:txBody>
      </p:sp>
      <p:sp>
        <p:nvSpPr>
          <p:cNvPr id="4" name="Slide Number Placeholder 3"/>
          <p:cNvSpPr>
            <a:spLocks noGrp="1"/>
          </p:cNvSpPr>
          <p:nvPr>
            <p:ph type="sldNum" sz="quarter" idx="5"/>
          </p:nvPr>
        </p:nvSpPr>
        <p:spPr/>
        <p:txBody>
          <a:bodyPr/>
          <a:lstStyle/>
          <a:p>
            <a:fld id="{5AFC1053-384D-42E4-B963-6C2B9553F5DF}" type="slidenum">
              <a:rPr lang="en-US" smtClean="0"/>
              <a:t>1</a:t>
            </a:fld>
            <a:endParaRPr lang="en-US"/>
          </a:p>
        </p:txBody>
      </p:sp>
    </p:spTree>
    <p:extLst>
      <p:ext uri="{BB962C8B-B14F-4D97-AF65-F5344CB8AC3E}">
        <p14:creationId xmlns:p14="http://schemas.microsoft.com/office/powerpoint/2010/main" val="1171853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7</a:t>
            </a:r>
          </a:p>
          <a:p>
            <a:endParaRPr lang="en-US" dirty="0"/>
          </a:p>
          <a:p>
            <a:r>
              <a:rPr lang="en-US" dirty="0"/>
              <a:t>FROM DEVELOPMENT TO PRODUCTION</a:t>
            </a:r>
          </a:p>
          <a:p>
            <a:endParaRPr lang="en-US" dirty="0"/>
          </a:p>
          <a:p>
            <a:r>
              <a:rPr lang="en-US" dirty="0"/>
              <a:t>"Different environments. Different purposes. Same Atlas."</a:t>
            </a:r>
          </a:p>
          <a:p>
            <a:endParaRPr lang="en-US" dirty="0"/>
          </a:p>
          <a:p>
            <a:r>
              <a:rPr lang="en-US" dirty="0"/>
              <a:t>============================================================</a:t>
            </a:r>
          </a:p>
          <a:p>
            <a:endParaRPr lang="en-US" dirty="0"/>
          </a:p>
          <a:p>
            <a:r>
              <a:rPr lang="en-US" dirty="0"/>
              <a:t>SLIDE PURPOSE</a:t>
            </a:r>
          </a:p>
          <a:p>
            <a:endParaRPr lang="en-US" dirty="0"/>
          </a:p>
          <a:p>
            <a:r>
              <a:rPr lang="en-US" dirty="0"/>
              <a:t>Help students understand why software moves through different</a:t>
            </a:r>
          </a:p>
          <a:p>
            <a:r>
              <a:rPr lang="en-US" dirty="0"/>
              <a:t>environments before reaching real users.</a:t>
            </a:r>
          </a:p>
          <a:p>
            <a:endParaRPr lang="en-US" dirty="0"/>
          </a:p>
          <a:p>
            <a:r>
              <a:rPr lang="en-US" dirty="0"/>
              <a:t>Students should understand:</a:t>
            </a:r>
          </a:p>
          <a:p>
            <a:endParaRPr lang="en-US" dirty="0"/>
          </a:p>
          <a:p>
            <a:r>
              <a:rPr lang="en-US" dirty="0"/>
              <a:t>• Development</a:t>
            </a:r>
          </a:p>
          <a:p>
            <a:r>
              <a:rPr lang="en-US" dirty="0"/>
              <a:t>• Testing</a:t>
            </a:r>
          </a:p>
          <a:p>
            <a:r>
              <a:rPr lang="en-US" dirty="0"/>
              <a:t>• Staging</a:t>
            </a:r>
          </a:p>
          <a:p>
            <a:r>
              <a:rPr lang="en-US" dirty="0"/>
              <a:t>• Production</a:t>
            </a:r>
          </a:p>
          <a:p>
            <a:r>
              <a:rPr lang="en-US" dirty="0"/>
              <a:t>• Environment-specific configuration</a:t>
            </a:r>
          </a:p>
          <a:p>
            <a:r>
              <a:rPr lang="en-US" dirty="0"/>
              <a:t>• Secrets management</a:t>
            </a:r>
          </a:p>
          <a:p>
            <a:r>
              <a:rPr lang="en-US" dirty="0"/>
              <a:t>• Deployment validation</a:t>
            </a:r>
          </a:p>
          <a:p>
            <a:r>
              <a:rPr lang="en-US" dirty="0"/>
              <a:t>• Monitoring</a:t>
            </a:r>
          </a:p>
          <a:p>
            <a:r>
              <a:rPr lang="en-US" dirty="0"/>
              <a:t>• Why production requires higher standards</a:t>
            </a:r>
          </a:p>
          <a:p>
            <a:r>
              <a:rPr lang="en-US" dirty="0"/>
              <a:t>• Why we should promote software with confidence</a:t>
            </a:r>
          </a:p>
          <a:p>
            <a:endParaRPr lang="en-US" dirty="0"/>
          </a:p>
          <a:p>
            <a:r>
              <a:rPr lang="en-US" dirty="0"/>
              <a:t>The goal is not to teach enterprise DevOps.</a:t>
            </a:r>
          </a:p>
          <a:p>
            <a:endParaRPr lang="en-US" dirty="0"/>
          </a:p>
          <a:p>
            <a:r>
              <a:rPr lang="en-US" dirty="0"/>
              <a:t>The goal is to teach students how professional software moves from</a:t>
            </a:r>
          </a:p>
          <a:p>
            <a:r>
              <a:rPr lang="en-US" dirty="0"/>
              <a:t>"it works on my machine" toward reliable real-world operation.</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"How many of you have ever had something work perfectly on your</a:t>
            </a:r>
          </a:p>
          <a:p>
            <a:r>
              <a:rPr lang="en-US" dirty="0"/>
              <a:t>computer..."</a:t>
            </a:r>
          </a:p>
          <a:p>
            <a:endParaRPr lang="en-US" dirty="0"/>
          </a:p>
          <a:p>
            <a:r>
              <a:rPr lang="en-US" dirty="0"/>
              <a:t>"...and then not work somewhere else?"</a:t>
            </a:r>
          </a:p>
          <a:p>
            <a:endParaRPr lang="en-US" dirty="0"/>
          </a:p>
          <a:p>
            <a:r>
              <a:rPr lang="en-US" dirty="0"/>
              <a:t>Pause.</a:t>
            </a:r>
          </a:p>
          <a:p>
            <a:endParaRPr lang="en-US" dirty="0"/>
          </a:p>
          <a:p>
            <a:r>
              <a:rPr lang="en-US" dirty="0"/>
              <a:t>"Welcome to software development."</a:t>
            </a:r>
          </a:p>
          <a:p>
            <a:endParaRPr lang="en-US" dirty="0"/>
          </a:p>
          <a:p>
            <a:r>
              <a:rPr lang="en-US" dirty="0"/>
              <a:t>Students will likely laugh.</a:t>
            </a:r>
          </a:p>
          <a:p>
            <a:endParaRPr lang="en-US" dirty="0"/>
          </a:p>
          <a:p>
            <a:r>
              <a:rPr lang="en-US" dirty="0"/>
              <a:t>Say:</a:t>
            </a:r>
          </a:p>
          <a:p>
            <a:endParaRPr lang="en-US" dirty="0"/>
          </a:p>
          <a:p>
            <a:r>
              <a:rPr lang="en-US" dirty="0"/>
              <a:t>"That problem is one reason environments exist."</a:t>
            </a:r>
          </a:p>
          <a:p>
            <a:endParaRPr lang="en-US" dirty="0"/>
          </a:p>
          <a:p>
            <a:r>
              <a:rPr lang="en-US" dirty="0"/>
              <a:t>------------------------------------------------------------</a:t>
            </a:r>
          </a:p>
          <a:p>
            <a:endParaRPr lang="en-US" dirty="0"/>
          </a:p>
          <a:p>
            <a:r>
              <a:rPr lang="en-US" dirty="0"/>
              <a:t>THE BIG QUESTION</a:t>
            </a:r>
          </a:p>
          <a:p>
            <a:endParaRPr lang="en-US" dirty="0"/>
          </a:p>
          <a:p>
            <a:r>
              <a:rPr lang="en-US" dirty="0"/>
              <a:t>Point to:</a:t>
            </a:r>
          </a:p>
          <a:p>
            <a:endParaRPr lang="en-US" dirty="0"/>
          </a:p>
          <a:p>
            <a:r>
              <a:rPr lang="en-US" dirty="0"/>
              <a:t>"Why isn't production just another copy of our development</a:t>
            </a:r>
          </a:p>
          <a:p>
            <a:r>
              <a:rPr lang="en-US" dirty="0"/>
              <a:t>environment?"</a:t>
            </a:r>
          </a:p>
          <a:p>
            <a:endParaRPr lang="en-US" dirty="0"/>
          </a:p>
          <a:p>
            <a:r>
              <a:rPr lang="en-US" dirty="0"/>
              <a:t>Answer:</a:t>
            </a:r>
          </a:p>
          <a:p>
            <a:endParaRPr lang="en-US" dirty="0"/>
          </a:p>
          <a:p>
            <a:r>
              <a:rPr lang="en-US" dirty="0"/>
              <a:t>"Because the expectations are different."</a:t>
            </a:r>
          </a:p>
          <a:p>
            <a:endParaRPr lang="en-US" dirty="0"/>
          </a:p>
          <a:p>
            <a:r>
              <a:rPr lang="en-US" dirty="0"/>
              <a:t>Development is optimized for:</a:t>
            </a:r>
          </a:p>
          <a:p>
            <a:endParaRPr lang="en-US" dirty="0"/>
          </a:p>
          <a:p>
            <a:r>
              <a:rPr lang="en-US" dirty="0"/>
              <a:t>Speed.</a:t>
            </a:r>
          </a:p>
          <a:p>
            <a:endParaRPr lang="en-US" dirty="0"/>
          </a:p>
          <a:p>
            <a:r>
              <a:rPr lang="en-US" dirty="0"/>
              <a:t>Experimentation.</a:t>
            </a:r>
          </a:p>
          <a:p>
            <a:endParaRPr lang="en-US" dirty="0"/>
          </a:p>
          <a:p>
            <a:r>
              <a:rPr lang="en-US" dirty="0"/>
              <a:t>Debugging.</a:t>
            </a:r>
          </a:p>
          <a:p>
            <a:endParaRPr lang="en-US" dirty="0"/>
          </a:p>
          <a:p>
            <a:r>
              <a:rPr lang="en-US" dirty="0"/>
              <a:t>Production is optimized for:</a:t>
            </a:r>
          </a:p>
          <a:p>
            <a:endParaRPr lang="en-US" dirty="0"/>
          </a:p>
          <a:p>
            <a:r>
              <a:rPr lang="en-US" dirty="0"/>
              <a:t>Reliability.</a:t>
            </a:r>
          </a:p>
          <a:p>
            <a:endParaRPr lang="en-US" dirty="0"/>
          </a:p>
          <a:p>
            <a:r>
              <a:rPr lang="en-US" dirty="0"/>
              <a:t>Security.</a:t>
            </a:r>
          </a:p>
          <a:p>
            <a:endParaRPr lang="en-US" dirty="0"/>
          </a:p>
          <a:p>
            <a:r>
              <a:rPr lang="en-US" dirty="0"/>
              <a:t>Availability.</a:t>
            </a:r>
          </a:p>
          <a:p>
            <a:endParaRPr lang="en-US" dirty="0"/>
          </a:p>
          <a:p>
            <a:r>
              <a:rPr lang="en-US" dirty="0"/>
              <a:t>Real users.</a:t>
            </a:r>
          </a:p>
          <a:p>
            <a:endParaRPr lang="en-US" dirty="0"/>
          </a:p>
          <a:p>
            <a:r>
              <a:rPr lang="en-US" dirty="0"/>
              <a:t>------------------------------------------------------------</a:t>
            </a:r>
          </a:p>
          <a:p>
            <a:endParaRPr lang="en-US" dirty="0"/>
          </a:p>
          <a:p>
            <a:r>
              <a:rPr lang="en-US" dirty="0"/>
              <a:t>THE BIG IDEA</a:t>
            </a:r>
          </a:p>
          <a:p>
            <a:endParaRPr lang="en-US" dirty="0"/>
          </a:p>
          <a:p>
            <a:r>
              <a:rPr lang="en-US" dirty="0"/>
              <a:t>Point to:</a:t>
            </a:r>
          </a:p>
          <a:p>
            <a:endParaRPr lang="en-US" dirty="0"/>
          </a:p>
          <a:p>
            <a:r>
              <a:rPr lang="en-US" dirty="0"/>
              <a:t>"Production is different."</a:t>
            </a:r>
          </a:p>
          <a:p>
            <a:endParaRPr lang="en-US" dirty="0"/>
          </a:p>
          <a:p>
            <a:r>
              <a:rPr lang="en-US" dirty="0"/>
              <a:t>Say:</a:t>
            </a:r>
          </a:p>
          <a:p>
            <a:endParaRPr lang="en-US" dirty="0"/>
          </a:p>
          <a:p>
            <a:r>
              <a:rPr lang="en-US" dirty="0"/>
              <a:t>"Production isn't just where we put the application."</a:t>
            </a:r>
          </a:p>
          <a:p>
            <a:endParaRPr lang="en-US" dirty="0"/>
          </a:p>
          <a:p>
            <a:r>
              <a:rPr lang="en-US" dirty="0"/>
              <a:t>"Production is where people depend on the application."</a:t>
            </a:r>
          </a:p>
          <a:p>
            <a:endParaRPr lang="en-US" dirty="0"/>
          </a:p>
          <a:p>
            <a:r>
              <a:rPr lang="en-US" dirty="0"/>
              <a:t>That's the distinction.</a:t>
            </a:r>
          </a:p>
          <a:p>
            <a:endParaRPr lang="en-US" dirty="0"/>
          </a:p>
          <a:p>
            <a:r>
              <a:rPr lang="en-US" dirty="0"/>
              <a:t>------------------------------------------------------------</a:t>
            </a:r>
          </a:p>
          <a:p>
            <a:endParaRPr lang="en-US" dirty="0"/>
          </a:p>
          <a:p>
            <a:r>
              <a:rPr lang="en-US" dirty="0"/>
              <a:t>THE SOFTWARE LIFECYCLE PIPELINE</a:t>
            </a:r>
          </a:p>
          <a:p>
            <a:endParaRPr lang="en-US" dirty="0"/>
          </a:p>
          <a:p>
            <a:r>
              <a:rPr lang="en-US" dirty="0"/>
              <a:t>Point to:</a:t>
            </a:r>
          </a:p>
          <a:p>
            <a:endParaRPr lang="en-US" dirty="0"/>
          </a:p>
          <a:p>
            <a:r>
              <a:rPr lang="en-US" dirty="0"/>
              <a:t>DEVELOPMENT</a:t>
            </a:r>
          </a:p>
          <a:p>
            <a:endParaRPr lang="en-US" dirty="0"/>
          </a:p>
          <a:p>
            <a:r>
              <a:rPr lang="en-US" dirty="0"/>
              <a:t>↓</a:t>
            </a:r>
          </a:p>
          <a:p>
            <a:endParaRPr lang="en-US" dirty="0"/>
          </a:p>
          <a:p>
            <a:r>
              <a:rPr lang="en-US" dirty="0"/>
              <a:t>TESTING</a:t>
            </a:r>
          </a:p>
          <a:p>
            <a:endParaRPr lang="en-US" dirty="0"/>
          </a:p>
          <a:p>
            <a:r>
              <a:rPr lang="en-US" dirty="0"/>
              <a:t>↓</a:t>
            </a:r>
          </a:p>
          <a:p>
            <a:endParaRPr lang="en-US" dirty="0"/>
          </a:p>
          <a:p>
            <a:r>
              <a:rPr lang="en-US" dirty="0"/>
              <a:t>STAGING</a:t>
            </a:r>
          </a:p>
          <a:p>
            <a:endParaRPr lang="en-US" dirty="0"/>
          </a:p>
          <a:p>
            <a:r>
              <a:rPr lang="en-US" dirty="0"/>
              <a:t>↓</a:t>
            </a:r>
          </a:p>
          <a:p>
            <a:endParaRPr lang="en-US" dirty="0"/>
          </a:p>
          <a:p>
            <a:r>
              <a:rPr lang="en-US" dirty="0"/>
              <a:t>PRODUCTION</a:t>
            </a:r>
          </a:p>
          <a:p>
            <a:endParaRPr lang="en-US" dirty="0"/>
          </a:p>
          <a:p>
            <a:r>
              <a:rPr lang="en-US" dirty="0"/>
              <a:t>Say:</a:t>
            </a:r>
          </a:p>
          <a:p>
            <a:endParaRPr lang="en-US" dirty="0"/>
          </a:p>
          <a:p>
            <a:r>
              <a:rPr lang="en-US" dirty="0"/>
              <a:t>"Atlas moves through these stages."</a:t>
            </a:r>
          </a:p>
          <a:p>
            <a:endParaRPr lang="en-US" dirty="0"/>
          </a:p>
          <a:p>
            <a:r>
              <a:rPr lang="en-US" dirty="0"/>
              <a:t>"Each stage gives us another opportunity to find problems before</a:t>
            </a:r>
          </a:p>
          <a:p>
            <a:r>
              <a:rPr lang="en-US" dirty="0"/>
              <a:t>real users experience them."</a:t>
            </a:r>
          </a:p>
          <a:p>
            <a:endParaRPr lang="en-US" dirty="0"/>
          </a:p>
          <a:p>
            <a:r>
              <a:rPr lang="en-US" dirty="0"/>
              <a:t>------------------------------------------------------------</a:t>
            </a:r>
          </a:p>
          <a:p>
            <a:endParaRPr lang="en-US" dirty="0"/>
          </a:p>
          <a:p>
            <a:r>
              <a:rPr lang="en-US" dirty="0"/>
              <a:t>DEVELOPMENT</a:t>
            </a:r>
          </a:p>
          <a:p>
            <a:endParaRPr lang="en-US" dirty="0"/>
          </a:p>
          <a:p>
            <a:r>
              <a:rPr lang="en-US" dirty="0"/>
              <a:t>Point to Development.</a:t>
            </a:r>
          </a:p>
          <a:p>
            <a:endParaRPr lang="en-US" dirty="0"/>
          </a:p>
          <a:p>
            <a:r>
              <a:rPr lang="en-US" dirty="0"/>
              <a:t>Ask:</a:t>
            </a:r>
          </a:p>
          <a:p>
            <a:endParaRPr lang="en-US" dirty="0"/>
          </a:p>
          <a:p>
            <a:r>
              <a:rPr lang="en-US" dirty="0"/>
              <a:t>"What happens here?"</a:t>
            </a:r>
          </a:p>
          <a:p>
            <a:endParaRPr lang="en-US" dirty="0"/>
          </a:p>
          <a:p>
            <a:r>
              <a:rPr lang="en-US" dirty="0"/>
              <a:t>Students:</a:t>
            </a:r>
          </a:p>
          <a:p>
            <a:endParaRPr lang="en-US" dirty="0"/>
          </a:p>
          <a:p>
            <a:r>
              <a:rPr lang="en-US" dirty="0"/>
              <a:t>Build.</a:t>
            </a:r>
          </a:p>
          <a:p>
            <a:endParaRPr lang="en-US" dirty="0"/>
          </a:p>
          <a:p>
            <a:r>
              <a:rPr lang="en-US" dirty="0"/>
              <a:t>Code.</a:t>
            </a:r>
          </a:p>
          <a:p>
            <a:endParaRPr lang="en-US" dirty="0"/>
          </a:p>
          <a:p>
            <a:r>
              <a:rPr lang="en-US" dirty="0"/>
              <a:t>Debug.</a:t>
            </a:r>
          </a:p>
          <a:p>
            <a:endParaRPr lang="en-US" dirty="0"/>
          </a:p>
          <a:p>
            <a:r>
              <a:rPr lang="en-US" dirty="0"/>
              <a:t>Experiment.</a:t>
            </a:r>
          </a:p>
          <a:p>
            <a:endParaRPr lang="en-US" dirty="0"/>
          </a:p>
          <a:p>
            <a:r>
              <a:rPr lang="en-US" dirty="0"/>
              <a:t>Exactly.</a:t>
            </a:r>
          </a:p>
          <a:p>
            <a:endParaRPr lang="en-US" dirty="0"/>
          </a:p>
          <a:p>
            <a:r>
              <a:rPr lang="en-US" dirty="0"/>
              <a:t>Development is where we move quickly.</a:t>
            </a:r>
          </a:p>
          <a:p>
            <a:endParaRPr lang="en-US" dirty="0"/>
          </a:p>
          <a:p>
            <a:r>
              <a:rPr lang="en-US" dirty="0"/>
              <a:t>Characteristics:</a:t>
            </a:r>
          </a:p>
          <a:p>
            <a:endParaRPr lang="en-US" dirty="0"/>
          </a:p>
          <a:p>
            <a:r>
              <a:rPr lang="en-US" dirty="0"/>
              <a:t>Fast iteration.</a:t>
            </a:r>
          </a:p>
          <a:p>
            <a:endParaRPr lang="en-US" dirty="0"/>
          </a:p>
          <a:p>
            <a:r>
              <a:rPr lang="en-US" dirty="0"/>
              <a:t>Debugging.</a:t>
            </a:r>
          </a:p>
          <a:p>
            <a:endParaRPr lang="en-US" dirty="0"/>
          </a:p>
          <a:p>
            <a:r>
              <a:rPr lang="en-US" dirty="0"/>
              <a:t>Development data.</a:t>
            </a:r>
          </a:p>
          <a:p>
            <a:endParaRPr lang="en-US" dirty="0"/>
          </a:p>
          <a:p>
            <a:r>
              <a:rPr lang="en-US" dirty="0"/>
              <a:t>Frequent changes.</a:t>
            </a:r>
          </a:p>
          <a:p>
            <a:endParaRPr lang="en-US" dirty="0"/>
          </a:p>
          <a:p>
            <a:r>
              <a:rPr lang="en-US" dirty="0"/>
              <a:t>Experimental work.</a:t>
            </a:r>
          </a:p>
          <a:p>
            <a:endParaRPr lang="en-US" dirty="0"/>
          </a:p>
          <a:p>
            <a:r>
              <a:rPr lang="en-US" dirty="0"/>
              <a:t>------------------------------------------------------------</a:t>
            </a:r>
          </a:p>
          <a:p>
            <a:endParaRPr lang="en-US" dirty="0"/>
          </a:p>
          <a:p>
            <a:r>
              <a:rPr lang="en-US" dirty="0"/>
              <a:t>WHY DEVELOPMENT CAN BE MESSY</a:t>
            </a:r>
          </a:p>
          <a:p>
            <a:endParaRPr lang="en-US" dirty="0"/>
          </a:p>
          <a:p>
            <a:r>
              <a:rPr lang="en-US" dirty="0"/>
              <a:t>Say:</a:t>
            </a:r>
          </a:p>
          <a:p>
            <a:endParaRPr lang="en-US" dirty="0"/>
          </a:p>
          <a:p>
            <a:r>
              <a:rPr lang="en-US" dirty="0"/>
              <a:t>"Development is allowed to be messy."</a:t>
            </a:r>
          </a:p>
          <a:p>
            <a:endParaRPr lang="en-US" dirty="0"/>
          </a:p>
          <a:p>
            <a:r>
              <a:rPr lang="en-US" dirty="0"/>
              <a:t>You may have:</a:t>
            </a:r>
          </a:p>
          <a:p>
            <a:endParaRPr lang="en-US" dirty="0"/>
          </a:p>
          <a:p>
            <a:r>
              <a:rPr lang="en-US" dirty="0"/>
              <a:t>Debugging enabled.</a:t>
            </a:r>
          </a:p>
          <a:p>
            <a:endParaRPr lang="en-US" dirty="0"/>
          </a:p>
          <a:p>
            <a:r>
              <a:rPr lang="en-US" dirty="0"/>
              <a:t>Temporary data.</a:t>
            </a:r>
          </a:p>
          <a:p>
            <a:endParaRPr lang="en-US" dirty="0"/>
          </a:p>
          <a:p>
            <a:r>
              <a:rPr lang="en-US" dirty="0"/>
              <a:t>Test accounts.</a:t>
            </a:r>
          </a:p>
          <a:p>
            <a:endParaRPr lang="en-US" dirty="0"/>
          </a:p>
          <a:p>
            <a:r>
              <a:rPr lang="en-US" dirty="0"/>
              <a:t>Developer tools.</a:t>
            </a:r>
          </a:p>
          <a:p>
            <a:endParaRPr lang="en-US" dirty="0"/>
          </a:p>
          <a:p>
            <a:r>
              <a:rPr lang="en-US" dirty="0"/>
              <a:t>Frequent code changes.</a:t>
            </a:r>
          </a:p>
          <a:p>
            <a:endParaRPr lang="en-US" dirty="0"/>
          </a:p>
          <a:p>
            <a:r>
              <a:rPr lang="en-US" dirty="0"/>
              <a:t>Explain:</a:t>
            </a:r>
          </a:p>
          <a:p>
            <a:endParaRPr lang="en-US" dirty="0"/>
          </a:p>
          <a:p>
            <a:r>
              <a:rPr lang="en-US" dirty="0"/>
              <a:t>"That's okay."</a:t>
            </a:r>
          </a:p>
          <a:p>
            <a:endParaRPr lang="en-US" dirty="0"/>
          </a:p>
          <a:p>
            <a:r>
              <a:rPr lang="en-US" dirty="0"/>
              <a:t>"But we don't want those same settings automatically going into</a:t>
            </a:r>
          </a:p>
          <a:p>
            <a:r>
              <a:rPr lang="en-US" dirty="0"/>
              <a:t>production."</a:t>
            </a:r>
          </a:p>
          <a:p>
            <a:endParaRPr lang="en-US" dirty="0"/>
          </a:p>
          <a:p>
            <a:r>
              <a:rPr lang="en-US" dirty="0"/>
              <a:t>------------------------------------------------------------</a:t>
            </a:r>
          </a:p>
          <a:p>
            <a:endParaRPr lang="en-US" dirty="0"/>
          </a:p>
          <a:p>
            <a:r>
              <a:rPr lang="en-US" dirty="0"/>
              <a:t>DEVELOPMENT GOAL</a:t>
            </a:r>
          </a:p>
          <a:p>
            <a:endParaRPr lang="en-US" dirty="0"/>
          </a:p>
          <a:p>
            <a:r>
              <a:rPr lang="en-US" dirty="0"/>
              <a:t>Point to:</a:t>
            </a:r>
          </a:p>
          <a:p>
            <a:endParaRPr lang="en-US" dirty="0"/>
          </a:p>
          <a:p>
            <a:r>
              <a:rPr lang="en-US" dirty="0"/>
              <a:t>BUILD IT.</a:t>
            </a:r>
          </a:p>
          <a:p>
            <a:endParaRPr lang="en-US" dirty="0"/>
          </a:p>
          <a:p>
            <a:r>
              <a:rPr lang="en-US" dirty="0"/>
              <a:t>Say:</a:t>
            </a:r>
          </a:p>
          <a:p>
            <a:endParaRPr lang="en-US" dirty="0"/>
          </a:p>
          <a:p>
            <a:r>
              <a:rPr lang="en-US" dirty="0"/>
              <a:t>"The goal of development is to build."</a:t>
            </a:r>
          </a:p>
          <a:p>
            <a:endParaRPr lang="en-US" dirty="0"/>
          </a:p>
          <a:p>
            <a:r>
              <a:rPr lang="en-US" dirty="0"/>
              <a:t>Not:</a:t>
            </a:r>
          </a:p>
          <a:p>
            <a:endParaRPr lang="en-US" dirty="0"/>
          </a:p>
          <a:p>
            <a:r>
              <a:rPr lang="en-US" dirty="0"/>
              <a:t>Operate.</a:t>
            </a:r>
          </a:p>
          <a:p>
            <a:endParaRPr lang="en-US" dirty="0"/>
          </a:p>
          <a:p>
            <a:r>
              <a:rPr lang="en-US" dirty="0"/>
              <a:t>Monitor.</a:t>
            </a:r>
          </a:p>
          <a:p>
            <a:endParaRPr lang="en-US" dirty="0"/>
          </a:p>
          <a:p>
            <a:r>
              <a:rPr lang="en-US" dirty="0"/>
              <a:t>Support.</a:t>
            </a:r>
          </a:p>
          <a:p>
            <a:endParaRPr lang="en-US" dirty="0"/>
          </a:p>
          <a:p>
            <a:r>
              <a:rPr lang="en-US" dirty="0"/>
              <a:t>Serve thousands of users.</a:t>
            </a:r>
          </a:p>
          <a:p>
            <a:endParaRPr lang="en-US" dirty="0"/>
          </a:p>
          <a:p>
            <a:r>
              <a:rPr lang="en-US" dirty="0"/>
              <a:t>Build.</a:t>
            </a:r>
          </a:p>
          <a:p>
            <a:endParaRPr lang="en-US" dirty="0"/>
          </a:p>
          <a:p>
            <a:r>
              <a:rPr lang="en-US" dirty="0"/>
              <a:t>------------------------------------------------------------</a:t>
            </a:r>
          </a:p>
          <a:p>
            <a:endParaRPr lang="en-US" dirty="0"/>
          </a:p>
          <a:p>
            <a:r>
              <a:rPr lang="en-US" dirty="0"/>
              <a:t>TESTING</a:t>
            </a:r>
          </a:p>
          <a:p>
            <a:endParaRPr lang="en-US" dirty="0"/>
          </a:p>
          <a:p>
            <a:r>
              <a:rPr lang="en-US" dirty="0"/>
              <a:t>Point to Testing.</a:t>
            </a:r>
          </a:p>
          <a:p>
            <a:endParaRPr lang="en-US" dirty="0"/>
          </a:p>
          <a:p>
            <a:r>
              <a:rPr lang="en-US" dirty="0"/>
              <a:t>Ask:</a:t>
            </a:r>
          </a:p>
          <a:p>
            <a:endParaRPr lang="en-US" dirty="0"/>
          </a:p>
          <a:p>
            <a:r>
              <a:rPr lang="en-US" dirty="0"/>
              <a:t>"What happens here?"</a:t>
            </a:r>
          </a:p>
          <a:p>
            <a:endParaRPr lang="en-US" dirty="0"/>
          </a:p>
          <a:p>
            <a:r>
              <a:rPr lang="en-US" dirty="0"/>
              <a:t>Students:</a:t>
            </a:r>
          </a:p>
          <a:p>
            <a:endParaRPr lang="en-US" dirty="0"/>
          </a:p>
          <a:p>
            <a:r>
              <a:rPr lang="en-US" dirty="0"/>
              <a:t>Test features.</a:t>
            </a:r>
          </a:p>
          <a:p>
            <a:endParaRPr lang="en-US" dirty="0"/>
          </a:p>
          <a:p>
            <a:r>
              <a:rPr lang="en-US" dirty="0"/>
              <a:t>Find bugs.</a:t>
            </a:r>
          </a:p>
          <a:p>
            <a:endParaRPr lang="en-US" dirty="0"/>
          </a:p>
          <a:p>
            <a:r>
              <a:rPr lang="en-US" dirty="0"/>
              <a:t>Validate behavior.</a:t>
            </a:r>
          </a:p>
          <a:p>
            <a:endParaRPr lang="en-US" dirty="0"/>
          </a:p>
          <a:p>
            <a:r>
              <a:rPr lang="en-US" dirty="0"/>
              <a:t>Exactly.</a:t>
            </a:r>
          </a:p>
          <a:p>
            <a:endParaRPr lang="en-US" dirty="0"/>
          </a:p>
          <a:p>
            <a:r>
              <a:rPr lang="en-US" dirty="0"/>
              <a:t>Explain:</a:t>
            </a:r>
          </a:p>
          <a:p>
            <a:endParaRPr lang="en-US" dirty="0"/>
          </a:p>
          <a:p>
            <a:r>
              <a:rPr lang="en-US" dirty="0"/>
              <a:t>"Testing gives us evidence."</a:t>
            </a:r>
          </a:p>
          <a:p>
            <a:endParaRPr lang="en-US" dirty="0"/>
          </a:p>
          <a:p>
            <a:r>
              <a:rPr lang="en-US" dirty="0"/>
              <a:t>We ask:</a:t>
            </a:r>
          </a:p>
          <a:p>
            <a:endParaRPr lang="en-US" dirty="0"/>
          </a:p>
          <a:p>
            <a:r>
              <a:rPr lang="en-US" dirty="0"/>
              <a:t>Does it work?</a:t>
            </a:r>
          </a:p>
          <a:p>
            <a:endParaRPr lang="en-US" dirty="0"/>
          </a:p>
          <a:p>
            <a:r>
              <a:rPr lang="en-US" dirty="0"/>
              <a:t>Does it work when users make mistakes?</a:t>
            </a:r>
          </a:p>
          <a:p>
            <a:endParaRPr lang="en-US" dirty="0"/>
          </a:p>
          <a:p>
            <a:r>
              <a:rPr lang="en-US" dirty="0"/>
              <a:t>Does it work after changes?</a:t>
            </a:r>
          </a:p>
          <a:p>
            <a:endParaRPr lang="en-US" dirty="0"/>
          </a:p>
          <a:p>
            <a:r>
              <a:rPr lang="en-US" dirty="0"/>
              <a:t>Does it still work with existing features?</a:t>
            </a:r>
          </a:p>
          <a:p>
            <a:endParaRPr lang="en-US" dirty="0"/>
          </a:p>
          <a:p>
            <a:r>
              <a:rPr lang="en-US" dirty="0"/>
              <a:t>------------------------------------------------------------</a:t>
            </a:r>
          </a:p>
          <a:p>
            <a:endParaRPr lang="en-US" dirty="0"/>
          </a:p>
          <a:p>
            <a:r>
              <a:rPr lang="en-US" dirty="0"/>
              <a:t>TESTING GOAL</a:t>
            </a:r>
          </a:p>
          <a:p>
            <a:endParaRPr lang="en-US" dirty="0"/>
          </a:p>
          <a:p>
            <a:r>
              <a:rPr lang="en-US" dirty="0"/>
              <a:t>Point to:</a:t>
            </a:r>
          </a:p>
          <a:p>
            <a:endParaRPr lang="en-US" dirty="0"/>
          </a:p>
          <a:p>
            <a:r>
              <a:rPr lang="en-US" dirty="0"/>
              <a:t>PROVE IT.</a:t>
            </a:r>
          </a:p>
          <a:p>
            <a:endParaRPr lang="en-US" dirty="0"/>
          </a:p>
          <a:p>
            <a:r>
              <a:rPr lang="en-US" dirty="0"/>
              <a:t>Say:</a:t>
            </a:r>
          </a:p>
          <a:p>
            <a:endParaRPr lang="en-US" dirty="0"/>
          </a:p>
          <a:p>
            <a:r>
              <a:rPr lang="en-US" dirty="0"/>
              <a:t>"Testing is about proving behavior."</a:t>
            </a:r>
          </a:p>
          <a:p>
            <a:endParaRPr lang="en-US" dirty="0"/>
          </a:p>
          <a:p>
            <a:r>
              <a:rPr lang="en-US" dirty="0"/>
              <a:t>Not proving that the application is perfect.</a:t>
            </a:r>
          </a:p>
          <a:p>
            <a:endParaRPr lang="en-US" dirty="0"/>
          </a:p>
          <a:p>
            <a:r>
              <a:rPr lang="en-US" dirty="0"/>
              <a:t>Proving that expected behavior occurs.</a:t>
            </a:r>
          </a:p>
          <a:p>
            <a:endParaRPr lang="en-US" dirty="0"/>
          </a:p>
          <a:p>
            <a:r>
              <a:rPr lang="en-US" dirty="0"/>
              <a:t>------------------------------------------------------------</a:t>
            </a:r>
          </a:p>
          <a:p>
            <a:endParaRPr lang="en-US" dirty="0"/>
          </a:p>
          <a:p>
            <a:r>
              <a:rPr lang="en-US" dirty="0"/>
              <a:t>STAGING</a:t>
            </a:r>
          </a:p>
          <a:p>
            <a:endParaRPr lang="en-US" dirty="0"/>
          </a:p>
          <a:p>
            <a:r>
              <a:rPr lang="en-US" dirty="0"/>
              <a:t>Point to Staging.</a:t>
            </a:r>
          </a:p>
          <a:p>
            <a:endParaRPr lang="en-US" dirty="0"/>
          </a:p>
          <a:p>
            <a:r>
              <a:rPr lang="en-US" dirty="0"/>
              <a:t>Ask:</a:t>
            </a:r>
          </a:p>
          <a:p>
            <a:endParaRPr lang="en-US" dirty="0"/>
          </a:p>
          <a:p>
            <a:r>
              <a:rPr lang="en-US" dirty="0"/>
              <a:t>"What makes staging different?"</a:t>
            </a:r>
          </a:p>
          <a:p>
            <a:endParaRPr lang="en-US" dirty="0"/>
          </a:p>
          <a:p>
            <a:r>
              <a:rPr lang="en-US" dirty="0"/>
              <a:t>Answer:</a:t>
            </a:r>
          </a:p>
          <a:p>
            <a:endParaRPr lang="en-US" dirty="0"/>
          </a:p>
          <a:p>
            <a:r>
              <a:rPr lang="en-US" dirty="0"/>
              <a:t>"It should resemble production."</a:t>
            </a:r>
          </a:p>
          <a:p>
            <a:endParaRPr lang="en-US" dirty="0"/>
          </a:p>
          <a:p>
            <a:r>
              <a:rPr lang="en-US" dirty="0"/>
              <a:t>Explain:</a:t>
            </a:r>
          </a:p>
          <a:p>
            <a:endParaRPr lang="en-US" dirty="0"/>
          </a:p>
          <a:p>
            <a:r>
              <a:rPr lang="en-US" dirty="0"/>
              <a:t>"Staging is our rehearsal."</a:t>
            </a:r>
          </a:p>
          <a:p>
            <a:endParaRPr lang="en-US" dirty="0"/>
          </a:p>
          <a:p>
            <a:r>
              <a:rPr lang="en-US" dirty="0"/>
              <a:t>We can test:</a:t>
            </a:r>
          </a:p>
          <a:p>
            <a:endParaRPr lang="en-US" dirty="0"/>
          </a:p>
          <a:p>
            <a:r>
              <a:rPr lang="en-US" dirty="0"/>
              <a:t>Deployment.</a:t>
            </a:r>
          </a:p>
          <a:p>
            <a:endParaRPr lang="en-US" dirty="0"/>
          </a:p>
          <a:p>
            <a:r>
              <a:rPr lang="en-US" dirty="0"/>
              <a:t>Configuration.</a:t>
            </a:r>
          </a:p>
          <a:p>
            <a:endParaRPr lang="en-US" dirty="0"/>
          </a:p>
          <a:p>
            <a:r>
              <a:rPr lang="en-US" dirty="0"/>
              <a:t>Database connection.</a:t>
            </a:r>
          </a:p>
          <a:p>
            <a:endParaRPr lang="en-US" dirty="0"/>
          </a:p>
          <a:p>
            <a:r>
              <a:rPr lang="en-US" dirty="0"/>
              <a:t>Application behavior.</a:t>
            </a:r>
          </a:p>
          <a:p>
            <a:endParaRPr lang="en-US" dirty="0"/>
          </a:p>
          <a:p>
            <a:r>
              <a:rPr lang="en-US" dirty="0"/>
              <a:t>Production-like settings.</a:t>
            </a:r>
          </a:p>
          <a:p>
            <a:endParaRPr lang="en-US" dirty="0"/>
          </a:p>
          <a:p>
            <a:r>
              <a:rPr lang="en-US" dirty="0"/>
              <a:t>Final validation.</a:t>
            </a:r>
          </a:p>
          <a:p>
            <a:endParaRPr lang="en-US" dirty="0"/>
          </a:p>
          <a:p>
            <a:r>
              <a:rPr lang="en-US" dirty="0"/>
              <a:t>------------------------------------------------------------</a:t>
            </a:r>
          </a:p>
          <a:p>
            <a:endParaRPr lang="en-US" dirty="0"/>
          </a:p>
          <a:p>
            <a:r>
              <a:rPr lang="en-US" dirty="0"/>
              <a:t>STAGING GOAL</a:t>
            </a:r>
          </a:p>
          <a:p>
            <a:endParaRPr lang="en-US" dirty="0"/>
          </a:p>
          <a:p>
            <a:r>
              <a:rPr lang="en-US" dirty="0"/>
              <a:t>Point to:</a:t>
            </a:r>
          </a:p>
          <a:p>
            <a:endParaRPr lang="en-US" dirty="0"/>
          </a:p>
          <a:p>
            <a:r>
              <a:rPr lang="en-US" dirty="0"/>
              <a:t>PREPARE IT.</a:t>
            </a:r>
          </a:p>
          <a:p>
            <a:endParaRPr lang="en-US" dirty="0"/>
          </a:p>
          <a:p>
            <a:r>
              <a:rPr lang="en-US" dirty="0"/>
              <a:t>Say:</a:t>
            </a:r>
          </a:p>
          <a:p>
            <a:endParaRPr lang="en-US" dirty="0"/>
          </a:p>
          <a:p>
            <a:r>
              <a:rPr lang="en-US" dirty="0"/>
              <a:t>"Staging asks..."</a:t>
            </a:r>
          </a:p>
          <a:p>
            <a:endParaRPr lang="en-US" dirty="0"/>
          </a:p>
          <a:p>
            <a:r>
              <a:rPr lang="en-US" dirty="0"/>
              <a:t>"If we put this into production..."</a:t>
            </a:r>
          </a:p>
          <a:p>
            <a:endParaRPr lang="en-US" dirty="0"/>
          </a:p>
          <a:p>
            <a:r>
              <a:rPr lang="en-US" dirty="0"/>
              <a:t>"Will it behave the way we expect?"</a:t>
            </a:r>
          </a:p>
          <a:p>
            <a:endParaRPr lang="en-US" dirty="0"/>
          </a:p>
          <a:p>
            <a:r>
              <a:rPr lang="en-US" dirty="0"/>
              <a:t>------------------------------------------------------------</a:t>
            </a:r>
          </a:p>
          <a:p>
            <a:endParaRPr lang="en-US" dirty="0"/>
          </a:p>
          <a:p>
            <a:r>
              <a:rPr lang="en-US" dirty="0"/>
              <a:t>PRODUCTION</a:t>
            </a:r>
          </a:p>
          <a:p>
            <a:endParaRPr lang="en-US" dirty="0"/>
          </a:p>
          <a:p>
            <a:r>
              <a:rPr lang="en-US" dirty="0"/>
              <a:t>Point to Production.</a:t>
            </a:r>
          </a:p>
          <a:p>
            <a:endParaRPr lang="en-US" dirty="0"/>
          </a:p>
          <a:p>
            <a:r>
              <a:rPr lang="en-US" dirty="0"/>
              <a:t>Say:</a:t>
            </a:r>
          </a:p>
          <a:p>
            <a:endParaRPr lang="en-US" dirty="0"/>
          </a:p>
          <a:p>
            <a:r>
              <a:rPr lang="en-US" dirty="0"/>
              <a:t>"This is where real users are."</a:t>
            </a:r>
          </a:p>
          <a:p>
            <a:endParaRPr lang="en-US" dirty="0"/>
          </a:p>
          <a:p>
            <a:r>
              <a:rPr lang="en-US" dirty="0"/>
              <a:t>That changes everything.</a:t>
            </a:r>
          </a:p>
          <a:p>
            <a:endParaRPr lang="en-US" dirty="0"/>
          </a:p>
          <a:p>
            <a:r>
              <a:rPr lang="en-US" dirty="0"/>
              <a:t>Production has:</a:t>
            </a:r>
          </a:p>
          <a:p>
            <a:endParaRPr lang="en-US" dirty="0"/>
          </a:p>
          <a:p>
            <a:r>
              <a:rPr lang="en-US" dirty="0"/>
              <a:t>Real data.</a:t>
            </a:r>
          </a:p>
          <a:p>
            <a:endParaRPr lang="en-US" dirty="0"/>
          </a:p>
          <a:p>
            <a:r>
              <a:rPr lang="en-US" dirty="0"/>
              <a:t>Real users.</a:t>
            </a:r>
          </a:p>
          <a:p>
            <a:endParaRPr lang="en-US" dirty="0"/>
          </a:p>
          <a:p>
            <a:r>
              <a:rPr lang="en-US" dirty="0"/>
              <a:t>Real expectations.</a:t>
            </a:r>
          </a:p>
          <a:p>
            <a:endParaRPr lang="en-US" dirty="0"/>
          </a:p>
          <a:p>
            <a:r>
              <a:rPr lang="en-US" dirty="0"/>
              <a:t>High availability requirements.</a:t>
            </a:r>
          </a:p>
          <a:p>
            <a:endParaRPr lang="en-US" dirty="0"/>
          </a:p>
          <a:p>
            <a:r>
              <a:rPr lang="en-US" dirty="0"/>
              <a:t>Monitoring.</a:t>
            </a:r>
          </a:p>
          <a:p>
            <a:endParaRPr lang="en-US" dirty="0"/>
          </a:p>
          <a:p>
            <a:r>
              <a:rPr lang="en-US" dirty="0"/>
              <a:t>Controlled changes.</a:t>
            </a:r>
          </a:p>
          <a:p>
            <a:endParaRPr lang="en-US" dirty="0"/>
          </a:p>
          <a:p>
            <a:r>
              <a:rPr lang="en-US" dirty="0"/>
              <a:t>Explain:</a:t>
            </a:r>
          </a:p>
          <a:p>
            <a:endParaRPr lang="en-US" dirty="0"/>
          </a:p>
          <a:p>
            <a:r>
              <a:rPr lang="en-US" dirty="0"/>
              <a:t>"Production isn't the place to experiment."</a:t>
            </a:r>
          </a:p>
          <a:p>
            <a:endParaRPr lang="en-US" dirty="0"/>
          </a:p>
          <a:p>
            <a:r>
              <a:rPr lang="en-US" dirty="0"/>
              <a:t>------------------------------------------------------------</a:t>
            </a:r>
          </a:p>
          <a:p>
            <a:endParaRPr lang="en-US" dirty="0"/>
          </a:p>
          <a:p>
            <a:r>
              <a:rPr lang="en-US" dirty="0"/>
              <a:t>PRODUCTION GOAL</a:t>
            </a:r>
          </a:p>
          <a:p>
            <a:endParaRPr lang="en-US" dirty="0"/>
          </a:p>
          <a:p>
            <a:r>
              <a:rPr lang="en-US" dirty="0"/>
              <a:t>Point to:</a:t>
            </a:r>
          </a:p>
          <a:p>
            <a:endParaRPr lang="en-US" dirty="0"/>
          </a:p>
          <a:p>
            <a:r>
              <a:rPr lang="en-US" dirty="0"/>
              <a:t>OPERATE IT.</a:t>
            </a:r>
          </a:p>
          <a:p>
            <a:endParaRPr lang="en-US" dirty="0"/>
          </a:p>
          <a:p>
            <a:r>
              <a:rPr lang="en-US" dirty="0"/>
              <a:t>Say:</a:t>
            </a:r>
          </a:p>
          <a:p>
            <a:endParaRPr lang="en-US" dirty="0"/>
          </a:p>
          <a:p>
            <a:r>
              <a:rPr lang="en-US" dirty="0"/>
              <a:t>"Production is where we operate the service."</a:t>
            </a:r>
          </a:p>
          <a:p>
            <a:endParaRPr lang="en-US" dirty="0"/>
          </a:p>
          <a:p>
            <a:r>
              <a:rPr lang="en-US" dirty="0"/>
              <a:t>That means:</a:t>
            </a:r>
          </a:p>
          <a:p>
            <a:endParaRPr lang="en-US" dirty="0"/>
          </a:p>
          <a:p>
            <a:r>
              <a:rPr lang="en-US" dirty="0"/>
              <a:t>Monitor.</a:t>
            </a:r>
          </a:p>
          <a:p>
            <a:endParaRPr lang="en-US" dirty="0"/>
          </a:p>
          <a:p>
            <a:r>
              <a:rPr lang="en-US" dirty="0"/>
              <a:t>Maintain.</a:t>
            </a:r>
          </a:p>
          <a:p>
            <a:endParaRPr lang="en-US" dirty="0"/>
          </a:p>
          <a:p>
            <a:r>
              <a:rPr lang="en-US" dirty="0"/>
              <a:t>Support.</a:t>
            </a:r>
          </a:p>
          <a:p>
            <a:endParaRPr lang="en-US" dirty="0"/>
          </a:p>
          <a:p>
            <a:r>
              <a:rPr lang="en-US" dirty="0"/>
              <a:t>Recover.</a:t>
            </a:r>
          </a:p>
          <a:p>
            <a:endParaRPr lang="en-US" dirty="0"/>
          </a:p>
          <a:p>
            <a:r>
              <a:rPr lang="en-US" dirty="0"/>
              <a:t>Improve.</a:t>
            </a:r>
          </a:p>
          <a:p>
            <a:endParaRPr lang="en-US" dirty="0"/>
          </a:p>
          <a:p>
            <a:r>
              <a:rPr lang="en-US" dirty="0"/>
              <a:t>------------------------------------------------------------</a:t>
            </a:r>
          </a:p>
          <a:p>
            <a:endParaRPr lang="en-US" dirty="0"/>
          </a:p>
          <a:p>
            <a:r>
              <a:rPr lang="en-US" dirty="0"/>
              <a:t>SAME APPLICATION — DIFFERENT EXPECTATIONS</a:t>
            </a:r>
          </a:p>
          <a:p>
            <a:endParaRPr lang="en-US" dirty="0"/>
          </a:p>
          <a:p>
            <a:r>
              <a:rPr lang="en-US" dirty="0"/>
              <a:t>Point to the purple banner.</a:t>
            </a:r>
          </a:p>
          <a:p>
            <a:endParaRPr lang="en-US" dirty="0"/>
          </a:p>
          <a:p>
            <a:r>
              <a:rPr lang="en-US" dirty="0"/>
              <a:t>Read:</a:t>
            </a:r>
          </a:p>
          <a:p>
            <a:endParaRPr lang="en-US" dirty="0"/>
          </a:p>
          <a:p>
            <a:r>
              <a:rPr lang="en-US" dirty="0"/>
              <a:t>"Same application. Different expectations."</a:t>
            </a:r>
          </a:p>
          <a:p>
            <a:endParaRPr lang="en-US" dirty="0"/>
          </a:p>
          <a:p>
            <a:r>
              <a:rPr lang="en-US" dirty="0"/>
              <a:t>Explain:</a:t>
            </a:r>
          </a:p>
          <a:p>
            <a:endParaRPr lang="en-US" dirty="0"/>
          </a:p>
          <a:p>
            <a:r>
              <a:rPr lang="en-US" dirty="0"/>
              <a:t>"Atlas is still Atlas."</a:t>
            </a:r>
          </a:p>
          <a:p>
            <a:endParaRPr lang="en-US" dirty="0"/>
          </a:p>
          <a:p>
            <a:r>
              <a:rPr lang="en-US" dirty="0"/>
              <a:t>"But our responsibilities change."</a:t>
            </a:r>
          </a:p>
          <a:p>
            <a:endParaRPr lang="en-US" dirty="0"/>
          </a:p>
          <a:p>
            <a:r>
              <a:rPr lang="en-US" dirty="0"/>
              <a:t>Development:</a:t>
            </a:r>
          </a:p>
          <a:p>
            <a:endParaRPr lang="en-US" dirty="0"/>
          </a:p>
          <a:p>
            <a:r>
              <a:rPr lang="en-US" dirty="0"/>
              <a:t>Speed.</a:t>
            </a:r>
          </a:p>
          <a:p>
            <a:endParaRPr lang="en-US" dirty="0"/>
          </a:p>
          <a:p>
            <a:r>
              <a:rPr lang="en-US" dirty="0"/>
              <a:t>Testing:</a:t>
            </a:r>
          </a:p>
          <a:p>
            <a:endParaRPr lang="en-US" dirty="0"/>
          </a:p>
          <a:p>
            <a:r>
              <a:rPr lang="en-US" dirty="0"/>
              <a:t>Quality.</a:t>
            </a:r>
          </a:p>
          <a:p>
            <a:endParaRPr lang="en-US" dirty="0"/>
          </a:p>
          <a:p>
            <a:r>
              <a:rPr lang="en-US" dirty="0"/>
              <a:t>Staging:</a:t>
            </a:r>
          </a:p>
          <a:p>
            <a:endParaRPr lang="en-US" dirty="0"/>
          </a:p>
          <a:p>
            <a:r>
              <a:rPr lang="en-US" dirty="0"/>
              <a:t>Readiness.</a:t>
            </a:r>
          </a:p>
          <a:p>
            <a:endParaRPr lang="en-US" dirty="0"/>
          </a:p>
          <a:p>
            <a:r>
              <a:rPr lang="en-US" dirty="0"/>
              <a:t>Production:</a:t>
            </a:r>
          </a:p>
          <a:p>
            <a:endParaRPr lang="en-US" dirty="0"/>
          </a:p>
          <a:p>
            <a:r>
              <a:rPr lang="en-US" dirty="0"/>
              <a:t>Reliability.</a:t>
            </a:r>
          </a:p>
          <a:p>
            <a:endParaRPr lang="en-US" dirty="0"/>
          </a:p>
          <a:p>
            <a:r>
              <a:rPr lang="en-US" dirty="0"/>
              <a:t>------------------------------------------------------------</a:t>
            </a:r>
          </a:p>
          <a:p>
            <a:endParaRPr lang="en-US" dirty="0"/>
          </a:p>
          <a:p>
            <a:r>
              <a:rPr lang="en-US" dirty="0"/>
              <a:t>ENVIRONMENT COMPARISON</a:t>
            </a:r>
          </a:p>
          <a:p>
            <a:endParaRPr lang="en-US" dirty="0"/>
          </a:p>
          <a:p>
            <a:r>
              <a:rPr lang="en-US" dirty="0"/>
              <a:t>Walk through the table.</a:t>
            </a:r>
          </a:p>
          <a:p>
            <a:endParaRPr lang="en-US" dirty="0"/>
          </a:p>
          <a:p>
            <a:r>
              <a:rPr lang="en-US" dirty="0"/>
              <a:t>PURPOSE:</a:t>
            </a:r>
          </a:p>
          <a:p>
            <a:endParaRPr lang="en-US" dirty="0"/>
          </a:p>
          <a:p>
            <a:r>
              <a:rPr lang="en-US" dirty="0"/>
              <a:t>Development → Build.</a:t>
            </a:r>
          </a:p>
          <a:p>
            <a:endParaRPr lang="en-US" dirty="0"/>
          </a:p>
          <a:p>
            <a:r>
              <a:rPr lang="en-US" dirty="0"/>
              <a:t>Testing → Validate.</a:t>
            </a:r>
          </a:p>
          <a:p>
            <a:endParaRPr lang="en-US" dirty="0"/>
          </a:p>
          <a:p>
            <a:r>
              <a:rPr lang="en-US" dirty="0"/>
              <a:t>Staging → Final check.</a:t>
            </a:r>
          </a:p>
          <a:p>
            <a:endParaRPr lang="en-US" dirty="0"/>
          </a:p>
          <a:p>
            <a:r>
              <a:rPr lang="en-US" dirty="0"/>
              <a:t>Production → Real users.</a:t>
            </a:r>
          </a:p>
          <a:p>
            <a:endParaRPr lang="en-US" dirty="0"/>
          </a:p>
          <a:p>
            <a:r>
              <a:rPr lang="en-US" dirty="0"/>
              <a:t>DATA:</a:t>
            </a:r>
          </a:p>
          <a:p>
            <a:endParaRPr lang="en-US" dirty="0"/>
          </a:p>
          <a:p>
            <a:r>
              <a:rPr lang="en-US" dirty="0"/>
              <a:t>Development → Development data.</a:t>
            </a:r>
          </a:p>
          <a:p>
            <a:endParaRPr lang="en-US" dirty="0"/>
          </a:p>
          <a:p>
            <a:r>
              <a:rPr lang="en-US" dirty="0"/>
              <a:t>Testing → Test data.</a:t>
            </a:r>
          </a:p>
          <a:p>
            <a:endParaRPr lang="en-US" dirty="0"/>
          </a:p>
          <a:p>
            <a:r>
              <a:rPr lang="en-US" dirty="0"/>
              <a:t>Staging → Production-like data.</a:t>
            </a:r>
          </a:p>
          <a:p>
            <a:endParaRPr lang="en-US" dirty="0"/>
          </a:p>
          <a:p>
            <a:r>
              <a:rPr lang="en-US" dirty="0"/>
              <a:t>Production → Real data.</a:t>
            </a:r>
          </a:p>
          <a:p>
            <a:endParaRPr lang="en-US" dirty="0"/>
          </a:p>
          <a:p>
            <a:r>
              <a:rPr lang="en-US" dirty="0"/>
              <a:t>Explain:</a:t>
            </a:r>
          </a:p>
          <a:p>
            <a:endParaRPr lang="en-US" dirty="0"/>
          </a:p>
          <a:p>
            <a:r>
              <a:rPr lang="en-US" dirty="0"/>
              <a:t>"We should be especially careful when moving toward real data."</a:t>
            </a:r>
          </a:p>
          <a:p>
            <a:endParaRPr lang="en-US" dirty="0"/>
          </a:p>
          <a:p>
            <a:r>
              <a:rPr lang="en-US" dirty="0"/>
              <a:t>------------------------------------------------------------</a:t>
            </a:r>
          </a:p>
          <a:p>
            <a:endParaRPr lang="en-US" dirty="0"/>
          </a:p>
          <a:p>
            <a:r>
              <a:rPr lang="en-US" dirty="0"/>
              <a:t>DEBUGGING</a:t>
            </a:r>
          </a:p>
          <a:p>
            <a:endParaRPr lang="en-US" dirty="0"/>
          </a:p>
          <a:p>
            <a:r>
              <a:rPr lang="en-US" dirty="0"/>
              <a:t>Point to Debugging.</a:t>
            </a:r>
          </a:p>
          <a:p>
            <a:endParaRPr lang="en-US" dirty="0"/>
          </a:p>
          <a:p>
            <a:r>
              <a:rPr lang="en-US" dirty="0"/>
              <a:t>Development:</a:t>
            </a:r>
          </a:p>
          <a:p>
            <a:endParaRPr lang="en-US" dirty="0"/>
          </a:p>
          <a:p>
            <a:r>
              <a:rPr lang="en-US" dirty="0"/>
              <a:t>Debugging enabled.</a:t>
            </a:r>
          </a:p>
          <a:p>
            <a:endParaRPr lang="en-US" dirty="0"/>
          </a:p>
          <a:p>
            <a:r>
              <a:rPr lang="en-US" dirty="0"/>
              <a:t>Production:</a:t>
            </a:r>
          </a:p>
          <a:p>
            <a:endParaRPr lang="en-US" dirty="0"/>
          </a:p>
          <a:p>
            <a:r>
              <a:rPr lang="en-US" dirty="0"/>
              <a:t>Appropriate production configuration.</a:t>
            </a:r>
          </a:p>
          <a:p>
            <a:endParaRPr lang="en-US" dirty="0"/>
          </a:p>
          <a:p>
            <a:r>
              <a:rPr lang="en-US" dirty="0"/>
              <a:t>Explain:</a:t>
            </a:r>
          </a:p>
          <a:p>
            <a:endParaRPr lang="en-US" dirty="0"/>
          </a:p>
          <a:p>
            <a:r>
              <a:rPr lang="en-US" dirty="0"/>
              <a:t>"Detailed debugging information is useful for developers."</a:t>
            </a:r>
          </a:p>
          <a:p>
            <a:endParaRPr lang="en-US" dirty="0"/>
          </a:p>
          <a:p>
            <a:r>
              <a:rPr lang="en-US" dirty="0"/>
              <a:t>"But it can expose information we don't want users to see."</a:t>
            </a:r>
          </a:p>
          <a:p>
            <a:endParaRPr lang="en-US" dirty="0"/>
          </a:p>
          <a:p>
            <a:r>
              <a:rPr lang="en-US" dirty="0"/>
              <a:t>Connect this back to Sprint 6.</a:t>
            </a:r>
          </a:p>
          <a:p>
            <a:endParaRPr lang="en-US" dirty="0"/>
          </a:p>
          <a:p>
            <a:r>
              <a:rPr lang="en-US" dirty="0"/>
              <a:t>------------------------------------------------------------</a:t>
            </a:r>
          </a:p>
          <a:p>
            <a:endParaRPr lang="en-US" dirty="0"/>
          </a:p>
          <a:p>
            <a:r>
              <a:rPr lang="en-US" dirty="0"/>
              <a:t>LOGGING</a:t>
            </a:r>
          </a:p>
          <a:p>
            <a:endParaRPr lang="en-US" dirty="0"/>
          </a:p>
          <a:p>
            <a:r>
              <a:rPr lang="en-US" dirty="0"/>
              <a:t>Development:</a:t>
            </a:r>
          </a:p>
          <a:p>
            <a:endParaRPr lang="en-US" dirty="0"/>
          </a:p>
          <a:p>
            <a:r>
              <a:rPr lang="en-US" dirty="0"/>
              <a:t>Minimal or detailed logs may be useful.</a:t>
            </a:r>
          </a:p>
          <a:p>
            <a:endParaRPr lang="en-US" dirty="0"/>
          </a:p>
          <a:p>
            <a:r>
              <a:rPr lang="en-US" dirty="0"/>
              <a:t>Production:</a:t>
            </a:r>
          </a:p>
          <a:p>
            <a:endParaRPr lang="en-US" dirty="0"/>
          </a:p>
          <a:p>
            <a:r>
              <a:rPr lang="en-US" dirty="0"/>
              <a:t>Useful operational logging.</a:t>
            </a:r>
          </a:p>
          <a:p>
            <a:endParaRPr lang="en-US" dirty="0"/>
          </a:p>
          <a:p>
            <a:r>
              <a:rPr lang="en-US" dirty="0"/>
              <a:t>Explain:</a:t>
            </a:r>
          </a:p>
          <a:p>
            <a:endParaRPr lang="en-US" dirty="0"/>
          </a:p>
          <a:p>
            <a:r>
              <a:rPr lang="en-US" dirty="0"/>
              <a:t>"We want enough information to diagnose problems..."</a:t>
            </a:r>
          </a:p>
          <a:p>
            <a:endParaRPr lang="en-US" dirty="0"/>
          </a:p>
          <a:p>
            <a:r>
              <a:rPr lang="en-US" dirty="0"/>
              <a:t>"...without logging sensitive information."</a:t>
            </a:r>
          </a:p>
          <a:p>
            <a:endParaRPr lang="en-US" dirty="0"/>
          </a:p>
          <a:p>
            <a:r>
              <a:rPr lang="en-US" dirty="0"/>
              <a:t>------------------------------------------------------------</a:t>
            </a:r>
          </a:p>
          <a:p>
            <a:endParaRPr lang="en-US" dirty="0"/>
          </a:p>
          <a:p>
            <a:r>
              <a:rPr lang="en-US" dirty="0"/>
              <a:t>RISK INCREASES</a:t>
            </a:r>
          </a:p>
          <a:p>
            <a:endParaRPr lang="en-US" dirty="0"/>
          </a:p>
          <a:p>
            <a:r>
              <a:rPr lang="en-US" dirty="0"/>
              <a:t>Point to the Risk row.</a:t>
            </a:r>
          </a:p>
          <a:p>
            <a:endParaRPr lang="en-US" dirty="0"/>
          </a:p>
          <a:p>
            <a:r>
              <a:rPr lang="en-US" dirty="0"/>
              <a:t>Say:</a:t>
            </a:r>
          </a:p>
          <a:p>
            <a:endParaRPr lang="en-US" dirty="0"/>
          </a:p>
          <a:p>
            <a:r>
              <a:rPr lang="en-US" dirty="0"/>
              <a:t>"As we move toward production..."</a:t>
            </a:r>
          </a:p>
          <a:p>
            <a:endParaRPr lang="en-US" dirty="0"/>
          </a:p>
          <a:p>
            <a:r>
              <a:rPr lang="en-US" dirty="0"/>
              <a:t>"The consequences of mistakes increase."</a:t>
            </a:r>
          </a:p>
          <a:p>
            <a:endParaRPr lang="en-US" dirty="0"/>
          </a:p>
          <a:p>
            <a:r>
              <a:rPr lang="en-US" dirty="0"/>
              <a:t>Development mistake:</a:t>
            </a:r>
          </a:p>
          <a:p>
            <a:endParaRPr lang="en-US" dirty="0"/>
          </a:p>
          <a:p>
            <a:r>
              <a:rPr lang="en-US" dirty="0"/>
              <a:t>Developer fixes it.</a:t>
            </a:r>
          </a:p>
          <a:p>
            <a:endParaRPr lang="en-US" dirty="0"/>
          </a:p>
          <a:p>
            <a:r>
              <a:rPr lang="en-US" dirty="0"/>
              <a:t>Testing mistake:</a:t>
            </a:r>
          </a:p>
          <a:p>
            <a:endParaRPr lang="en-US" dirty="0"/>
          </a:p>
          <a:p>
            <a:r>
              <a:rPr lang="en-US" dirty="0"/>
              <a:t>Tester finds it.</a:t>
            </a:r>
          </a:p>
          <a:p>
            <a:endParaRPr lang="en-US" dirty="0"/>
          </a:p>
          <a:p>
            <a:r>
              <a:rPr lang="en-US" dirty="0"/>
              <a:t>Staging mistake:</a:t>
            </a:r>
          </a:p>
          <a:p>
            <a:endParaRPr lang="en-US" dirty="0"/>
          </a:p>
          <a:p>
            <a:r>
              <a:rPr lang="en-US" dirty="0"/>
              <a:t>Team corrects it before release.</a:t>
            </a:r>
          </a:p>
          <a:p>
            <a:endParaRPr lang="en-US" dirty="0"/>
          </a:p>
          <a:p>
            <a:r>
              <a:rPr lang="en-US" dirty="0"/>
              <a:t>Production mistake:</a:t>
            </a:r>
          </a:p>
          <a:p>
            <a:endParaRPr lang="en-US" dirty="0"/>
          </a:p>
          <a:p>
            <a:r>
              <a:rPr lang="en-US" dirty="0"/>
              <a:t>Real users may be affected.</a:t>
            </a:r>
          </a:p>
          <a:p>
            <a:endParaRPr lang="en-US" dirty="0"/>
          </a:p>
          <a:p>
            <a:r>
              <a:rPr lang="en-US" dirty="0"/>
              <a:t>------------------------------------------------------------</a:t>
            </a:r>
          </a:p>
          <a:p>
            <a:endParaRPr lang="en-US" dirty="0"/>
          </a:p>
          <a:p>
            <a:r>
              <a:rPr lang="en-US" dirty="0"/>
              <a:t>CONFIGURATION CHANGES</a:t>
            </a:r>
          </a:p>
          <a:p>
            <a:endParaRPr lang="en-US" dirty="0"/>
          </a:p>
          <a:p>
            <a:r>
              <a:rPr lang="en-US" dirty="0"/>
              <a:t>Point to:</a:t>
            </a:r>
          </a:p>
          <a:p>
            <a:endParaRPr lang="en-US" dirty="0"/>
          </a:p>
          <a:p>
            <a:r>
              <a:rPr lang="en-US" dirty="0"/>
              <a:t>CONFIGURATION CHANGES.</a:t>
            </a:r>
          </a:p>
          <a:p>
            <a:endParaRPr lang="en-US" dirty="0"/>
          </a:p>
          <a:p>
            <a:r>
              <a:rPr lang="en-US" dirty="0"/>
              <a:t>Say:</a:t>
            </a:r>
          </a:p>
          <a:p>
            <a:endParaRPr lang="en-US" dirty="0"/>
          </a:p>
          <a:p>
            <a:r>
              <a:rPr lang="en-US" dirty="0"/>
              <a:t>"One of the most important ideas today..."</a:t>
            </a:r>
          </a:p>
          <a:p>
            <a:endParaRPr lang="en-US" dirty="0"/>
          </a:p>
          <a:p>
            <a:r>
              <a:rPr lang="en-US" dirty="0"/>
              <a:t>"The code may stay the same."</a:t>
            </a:r>
          </a:p>
          <a:p>
            <a:endParaRPr lang="en-US" dirty="0"/>
          </a:p>
          <a:p>
            <a:r>
              <a:rPr lang="en-US" dirty="0"/>
              <a:t>"The configuration changes."</a:t>
            </a:r>
          </a:p>
          <a:p>
            <a:endParaRPr lang="en-US" dirty="0"/>
          </a:p>
          <a:p>
            <a:r>
              <a:rPr lang="en-US" dirty="0"/>
              <a:t>Examples:</a:t>
            </a:r>
          </a:p>
          <a:p>
            <a:endParaRPr lang="en-US" dirty="0"/>
          </a:p>
          <a:p>
            <a:r>
              <a:rPr lang="en-US" dirty="0"/>
              <a:t>Connection strings.</a:t>
            </a:r>
          </a:p>
          <a:p>
            <a:endParaRPr lang="en-US" dirty="0"/>
          </a:p>
          <a:p>
            <a:r>
              <a:rPr lang="en-US" dirty="0"/>
              <a:t>Secrets.</a:t>
            </a:r>
          </a:p>
          <a:p>
            <a:endParaRPr lang="en-US" dirty="0"/>
          </a:p>
          <a:p>
            <a:r>
              <a:rPr lang="en-US" dirty="0"/>
              <a:t>Email services.</a:t>
            </a:r>
          </a:p>
          <a:p>
            <a:endParaRPr lang="en-US" dirty="0"/>
          </a:p>
          <a:p>
            <a:r>
              <a:rPr lang="en-US" dirty="0"/>
              <a:t>External services.</a:t>
            </a:r>
          </a:p>
          <a:p>
            <a:endParaRPr lang="en-US" dirty="0"/>
          </a:p>
          <a:p>
            <a:r>
              <a:rPr lang="en-US" dirty="0"/>
              <a:t>Logging.</a:t>
            </a:r>
          </a:p>
          <a:p>
            <a:endParaRPr lang="en-US" dirty="0"/>
          </a:p>
          <a:p>
            <a:r>
              <a:rPr lang="en-US" dirty="0"/>
              <a:t>Feature flags.</a:t>
            </a:r>
          </a:p>
          <a:p>
            <a:endParaRPr lang="en-US" dirty="0"/>
          </a:p>
          <a:p>
            <a:r>
              <a:rPr lang="en-US" dirty="0"/>
              <a:t>Error handling.</a:t>
            </a:r>
          </a:p>
          <a:p>
            <a:endParaRPr lang="en-US" dirty="0"/>
          </a:p>
          <a:p>
            <a:r>
              <a:rPr lang="en-US" dirty="0"/>
              <a:t>------------------------------------------------------------</a:t>
            </a:r>
          </a:p>
          <a:p>
            <a:endParaRPr lang="en-US" dirty="0"/>
          </a:p>
          <a:p>
            <a:r>
              <a:rPr lang="en-US" dirty="0"/>
              <a:t>CONNECTION STRINGS</a:t>
            </a:r>
          </a:p>
          <a:p>
            <a:endParaRPr lang="en-US" dirty="0"/>
          </a:p>
          <a:p>
            <a:r>
              <a:rPr lang="en-US" dirty="0"/>
              <a:t>Explain:</a:t>
            </a:r>
          </a:p>
          <a:p>
            <a:endParaRPr lang="en-US" dirty="0"/>
          </a:p>
          <a:p>
            <a:r>
              <a:rPr lang="en-US" dirty="0"/>
              <a:t>"Development may point to a local database."</a:t>
            </a:r>
          </a:p>
          <a:p>
            <a:endParaRPr lang="en-US" dirty="0"/>
          </a:p>
          <a:p>
            <a:r>
              <a:rPr lang="en-US" dirty="0"/>
              <a:t>"Production may point to a cloud database."</a:t>
            </a:r>
          </a:p>
          <a:p>
            <a:endParaRPr lang="en-US" dirty="0"/>
          </a:p>
          <a:p>
            <a:r>
              <a:rPr lang="en-US" dirty="0"/>
              <a:t>The application code shouldn't need to be rewritten simply because</a:t>
            </a:r>
          </a:p>
          <a:p>
            <a:r>
              <a:rPr lang="en-US" dirty="0"/>
              <a:t>the environment changes.</a:t>
            </a:r>
          </a:p>
          <a:p>
            <a:endParaRPr lang="en-US" dirty="0"/>
          </a:p>
          <a:p>
            <a:r>
              <a:rPr lang="en-US" dirty="0"/>
              <a:t>------------------------------------------------------------</a:t>
            </a:r>
          </a:p>
          <a:p>
            <a:endParaRPr lang="en-US" dirty="0"/>
          </a:p>
          <a:p>
            <a:r>
              <a:rPr lang="en-US" dirty="0"/>
              <a:t>SECRETS &amp; KEYS</a:t>
            </a:r>
          </a:p>
          <a:p>
            <a:endParaRPr lang="en-US" dirty="0"/>
          </a:p>
          <a:p>
            <a:r>
              <a:rPr lang="en-US" dirty="0"/>
              <a:t>Point to:</a:t>
            </a:r>
          </a:p>
          <a:p>
            <a:endParaRPr lang="en-US" dirty="0"/>
          </a:p>
          <a:p>
            <a:r>
              <a:rPr lang="en-US" dirty="0"/>
              <a:t>SECRETS &amp; KEYS.</a:t>
            </a:r>
          </a:p>
          <a:p>
            <a:endParaRPr lang="en-US" dirty="0"/>
          </a:p>
          <a:p>
            <a:r>
              <a:rPr lang="en-US" dirty="0"/>
              <a:t>Say:</a:t>
            </a:r>
          </a:p>
          <a:p>
            <a:endParaRPr lang="en-US" dirty="0"/>
          </a:p>
          <a:p>
            <a:r>
              <a:rPr lang="en-US" dirty="0"/>
              <a:t>"Production credentials are secrets."</a:t>
            </a:r>
          </a:p>
          <a:p>
            <a:endParaRPr lang="en-US" dirty="0"/>
          </a:p>
          <a:p>
            <a:r>
              <a:rPr lang="en-US" dirty="0"/>
              <a:t>Examples:</a:t>
            </a:r>
          </a:p>
          <a:p>
            <a:endParaRPr lang="en-US" dirty="0"/>
          </a:p>
          <a:p>
            <a:r>
              <a:rPr lang="en-US" dirty="0"/>
              <a:t>Database passwords.</a:t>
            </a:r>
          </a:p>
          <a:p>
            <a:endParaRPr lang="en-US" dirty="0"/>
          </a:p>
          <a:p>
            <a:r>
              <a:rPr lang="en-US" dirty="0"/>
              <a:t>API keys.</a:t>
            </a:r>
          </a:p>
          <a:p>
            <a:endParaRPr lang="en-US" dirty="0"/>
          </a:p>
          <a:p>
            <a:r>
              <a:rPr lang="en-US" dirty="0"/>
              <a:t>Service credentials.</a:t>
            </a:r>
          </a:p>
          <a:p>
            <a:endParaRPr lang="en-US" dirty="0"/>
          </a:p>
          <a:p>
            <a:r>
              <a:rPr lang="en-US" dirty="0"/>
              <a:t>Tokens.</a:t>
            </a:r>
          </a:p>
          <a:p>
            <a:endParaRPr lang="en-US" dirty="0"/>
          </a:p>
          <a:p>
            <a:r>
              <a:rPr lang="en-US" dirty="0"/>
              <a:t>Explain:</a:t>
            </a:r>
          </a:p>
          <a:p>
            <a:endParaRPr lang="en-US" dirty="0"/>
          </a:p>
          <a:p>
            <a:r>
              <a:rPr lang="en-US" dirty="0"/>
              <a:t>"These should not be committed to source control."</a:t>
            </a:r>
          </a:p>
          <a:p>
            <a:endParaRPr lang="en-US" dirty="0"/>
          </a:p>
          <a:p>
            <a:r>
              <a:rPr lang="en-US" dirty="0"/>
              <a:t>Repeat:</a:t>
            </a:r>
          </a:p>
          <a:p>
            <a:endParaRPr lang="en-US" dirty="0"/>
          </a:p>
          <a:p>
            <a:r>
              <a:rPr lang="en-US" dirty="0"/>
              <a:t>&gt; "Never store secrets in code or source control."</a:t>
            </a:r>
          </a:p>
          <a:p>
            <a:endParaRPr lang="en-US" dirty="0"/>
          </a:p>
          <a:p>
            <a:r>
              <a:rPr lang="en-US" dirty="0"/>
              <a:t>------------------------------------------------------------</a:t>
            </a:r>
          </a:p>
          <a:p>
            <a:endParaRPr lang="en-US" dirty="0"/>
          </a:p>
          <a:p>
            <a:r>
              <a:rPr lang="en-US" dirty="0"/>
              <a:t>ENVIRONMENT VARIABLES</a:t>
            </a:r>
          </a:p>
          <a:p>
            <a:endParaRPr lang="en-US" dirty="0"/>
          </a:p>
          <a:p>
            <a:r>
              <a:rPr lang="en-US" dirty="0"/>
              <a:t>Explain:</a:t>
            </a:r>
          </a:p>
          <a:p>
            <a:endParaRPr lang="en-US" dirty="0"/>
          </a:p>
          <a:p>
            <a:r>
              <a:rPr lang="en-US" dirty="0"/>
              <a:t>"One common way to provide environment-specific configuration is</a:t>
            </a:r>
          </a:p>
          <a:p>
            <a:r>
              <a:rPr lang="en-US" dirty="0"/>
              <a:t>through environment variables or secure configuration stores."</a:t>
            </a:r>
          </a:p>
          <a:p>
            <a:endParaRPr lang="en-US" dirty="0"/>
          </a:p>
          <a:p>
            <a:r>
              <a:rPr lang="en-US" dirty="0"/>
              <a:t>Conceptually:</a:t>
            </a:r>
          </a:p>
          <a:p>
            <a:endParaRPr lang="en-US" dirty="0"/>
          </a:p>
          <a:p>
            <a:r>
              <a:rPr lang="en-US" dirty="0"/>
              <a:t>DEVELOPMENT</a:t>
            </a:r>
          </a:p>
          <a:p>
            <a:endParaRPr lang="en-US" dirty="0"/>
          </a:p>
          <a:p>
            <a:r>
              <a:rPr lang="en-US" dirty="0"/>
              <a:t>→ Development configuration.</a:t>
            </a:r>
          </a:p>
          <a:p>
            <a:endParaRPr lang="en-US" dirty="0"/>
          </a:p>
          <a:p>
            <a:r>
              <a:rPr lang="en-US" dirty="0"/>
              <a:t>PRODUCTION</a:t>
            </a:r>
          </a:p>
          <a:p>
            <a:endParaRPr lang="en-US" dirty="0"/>
          </a:p>
          <a:p>
            <a:r>
              <a:rPr lang="en-US" dirty="0"/>
              <a:t>→ Production configuration.</a:t>
            </a:r>
          </a:p>
          <a:p>
            <a:endParaRPr lang="en-US" dirty="0"/>
          </a:p>
          <a:p>
            <a:r>
              <a:rPr lang="en-US" dirty="0"/>
              <a:t>Same application.</a:t>
            </a:r>
          </a:p>
          <a:p>
            <a:endParaRPr lang="en-US" dirty="0"/>
          </a:p>
          <a:p>
            <a:r>
              <a:rPr lang="en-US" dirty="0"/>
              <a:t>Different settings.</a:t>
            </a:r>
          </a:p>
          <a:p>
            <a:endParaRPr lang="en-US" dirty="0"/>
          </a:p>
          <a:p>
            <a:r>
              <a:rPr lang="en-US" dirty="0"/>
              <a:t>------------------------------------------------------------</a:t>
            </a:r>
          </a:p>
          <a:p>
            <a:endParaRPr lang="en-US" dirty="0"/>
          </a:p>
          <a:p>
            <a:r>
              <a:rPr lang="en-US" dirty="0"/>
              <a:t>EMAIL &amp; EXTERNAL SERVICES</a:t>
            </a:r>
          </a:p>
          <a:p>
            <a:endParaRPr lang="en-US" dirty="0"/>
          </a:p>
          <a:p>
            <a:r>
              <a:rPr lang="en-US" dirty="0"/>
              <a:t>Explain:</a:t>
            </a:r>
          </a:p>
          <a:p>
            <a:endParaRPr lang="en-US" dirty="0"/>
          </a:p>
          <a:p>
            <a:r>
              <a:rPr lang="en-US" dirty="0"/>
              <a:t>"Applications often connect to external services."</a:t>
            </a:r>
          </a:p>
          <a:p>
            <a:endParaRPr lang="en-US" dirty="0"/>
          </a:p>
          <a:p>
            <a:r>
              <a:rPr lang="en-US" dirty="0"/>
              <a:t>Examples:</a:t>
            </a:r>
          </a:p>
          <a:p>
            <a:endParaRPr lang="en-US" dirty="0"/>
          </a:p>
          <a:p>
            <a:r>
              <a:rPr lang="en-US" dirty="0"/>
              <a:t>Email.</a:t>
            </a:r>
          </a:p>
          <a:p>
            <a:endParaRPr lang="en-US" dirty="0"/>
          </a:p>
          <a:p>
            <a:r>
              <a:rPr lang="en-US" dirty="0"/>
              <a:t>Payment services.</a:t>
            </a:r>
          </a:p>
          <a:p>
            <a:endParaRPr lang="en-US" dirty="0"/>
          </a:p>
          <a:p>
            <a:r>
              <a:rPr lang="en-US" dirty="0"/>
              <a:t>APIs.</a:t>
            </a:r>
          </a:p>
          <a:p>
            <a:endParaRPr lang="en-US" dirty="0"/>
          </a:p>
          <a:p>
            <a:r>
              <a:rPr lang="en-US" dirty="0"/>
              <a:t>Storage.</a:t>
            </a:r>
          </a:p>
          <a:p>
            <a:endParaRPr lang="en-US" dirty="0"/>
          </a:p>
          <a:p>
            <a:r>
              <a:rPr lang="en-US" dirty="0"/>
              <a:t>Analytics.</a:t>
            </a:r>
          </a:p>
          <a:p>
            <a:endParaRPr lang="en-US" dirty="0"/>
          </a:p>
          <a:p>
            <a:r>
              <a:rPr lang="en-US" dirty="0"/>
              <a:t>Explain:</a:t>
            </a:r>
          </a:p>
          <a:p>
            <a:endParaRPr lang="en-US" dirty="0"/>
          </a:p>
          <a:p>
            <a:r>
              <a:rPr lang="en-US" dirty="0"/>
              <a:t>"Development might use a test service."</a:t>
            </a:r>
          </a:p>
          <a:p>
            <a:endParaRPr lang="en-US" dirty="0"/>
          </a:p>
          <a:p>
            <a:r>
              <a:rPr lang="en-US" dirty="0"/>
              <a:t>"Production should use the appropriate production service."</a:t>
            </a:r>
          </a:p>
          <a:p>
            <a:endParaRPr lang="en-US" dirty="0"/>
          </a:p>
          <a:p>
            <a:r>
              <a:rPr lang="en-US" dirty="0"/>
              <a:t>------------------------------------------------------------</a:t>
            </a:r>
          </a:p>
          <a:p>
            <a:endParaRPr lang="en-US" dirty="0"/>
          </a:p>
          <a:p>
            <a:r>
              <a:rPr lang="en-US" dirty="0"/>
              <a:t>ERROR HANDLING</a:t>
            </a:r>
          </a:p>
          <a:p>
            <a:endParaRPr lang="en-US" dirty="0"/>
          </a:p>
          <a:p>
            <a:r>
              <a:rPr lang="en-US" dirty="0"/>
              <a:t>Point to Error Handling.</a:t>
            </a:r>
          </a:p>
          <a:p>
            <a:endParaRPr lang="en-US" dirty="0"/>
          </a:p>
          <a:p>
            <a:r>
              <a:rPr lang="en-US" dirty="0"/>
              <a:t>Development:</a:t>
            </a:r>
          </a:p>
          <a:p>
            <a:endParaRPr lang="en-US" dirty="0"/>
          </a:p>
          <a:p>
            <a:r>
              <a:rPr lang="en-US" dirty="0"/>
              <a:t>Detailed information can help developers.</a:t>
            </a:r>
          </a:p>
          <a:p>
            <a:endParaRPr lang="en-US" dirty="0"/>
          </a:p>
          <a:p>
            <a:r>
              <a:rPr lang="en-US" dirty="0"/>
              <a:t>Production:</a:t>
            </a:r>
          </a:p>
          <a:p>
            <a:endParaRPr lang="en-US" dirty="0"/>
          </a:p>
          <a:p>
            <a:r>
              <a:rPr lang="en-US" dirty="0"/>
              <a:t>User-friendly errors.</a:t>
            </a:r>
          </a:p>
          <a:p>
            <a:endParaRPr lang="en-US" dirty="0"/>
          </a:p>
          <a:p>
            <a:r>
              <a:rPr lang="en-US" dirty="0"/>
              <a:t>Appropriate logging.</a:t>
            </a:r>
          </a:p>
          <a:p>
            <a:endParaRPr lang="en-US" dirty="0"/>
          </a:p>
          <a:p>
            <a:r>
              <a:rPr lang="en-US" dirty="0"/>
              <a:t>Explain:</a:t>
            </a:r>
          </a:p>
          <a:p>
            <a:endParaRPr lang="en-US" dirty="0"/>
          </a:p>
          <a:p>
            <a:r>
              <a:rPr lang="en-US" dirty="0"/>
              <a:t>"Users don't need a stack trace."</a:t>
            </a:r>
          </a:p>
          <a:p>
            <a:endParaRPr lang="en-US" dirty="0"/>
          </a:p>
          <a:p>
            <a:r>
              <a:rPr lang="en-US" dirty="0"/>
              <a:t>"They need to know what happened and what they should do next."</a:t>
            </a:r>
          </a:p>
          <a:p>
            <a:endParaRPr lang="en-US" dirty="0"/>
          </a:p>
          <a:p>
            <a:r>
              <a:rPr lang="en-US" dirty="0"/>
              <a:t>------------------------------------------------------------</a:t>
            </a:r>
          </a:p>
          <a:p>
            <a:endParaRPr lang="en-US" dirty="0"/>
          </a:p>
          <a:p>
            <a:r>
              <a:rPr lang="en-US" dirty="0"/>
              <a:t>LOGGING &amp; MONITORING</a:t>
            </a:r>
          </a:p>
          <a:p>
            <a:endParaRPr lang="en-US" dirty="0"/>
          </a:p>
          <a:p>
            <a:r>
              <a:rPr lang="en-US" dirty="0"/>
              <a:t>Point to:</a:t>
            </a:r>
          </a:p>
          <a:p>
            <a:endParaRPr lang="en-US" dirty="0"/>
          </a:p>
          <a:p>
            <a:r>
              <a:rPr lang="en-US" dirty="0"/>
              <a:t>LOGGING &amp; MONITORING.</a:t>
            </a:r>
          </a:p>
          <a:p>
            <a:endParaRPr lang="en-US" dirty="0"/>
          </a:p>
          <a:p>
            <a:r>
              <a:rPr lang="en-US" dirty="0"/>
              <a:t>Ask:</a:t>
            </a:r>
          </a:p>
          <a:p>
            <a:endParaRPr lang="en-US" dirty="0"/>
          </a:p>
          <a:p>
            <a:r>
              <a:rPr lang="en-US" dirty="0"/>
              <a:t>"How do we know something went wrong?"</a:t>
            </a:r>
          </a:p>
          <a:p>
            <a:endParaRPr lang="en-US" dirty="0"/>
          </a:p>
          <a:p>
            <a:r>
              <a:rPr lang="en-US" dirty="0"/>
              <a:t>Logs.</a:t>
            </a:r>
          </a:p>
          <a:p>
            <a:endParaRPr lang="en-US" dirty="0"/>
          </a:p>
          <a:p>
            <a:r>
              <a:rPr lang="en-US" dirty="0"/>
              <a:t>Metrics.</a:t>
            </a:r>
          </a:p>
          <a:p>
            <a:endParaRPr lang="en-US" dirty="0"/>
          </a:p>
          <a:p>
            <a:r>
              <a:rPr lang="en-US" dirty="0"/>
              <a:t>Health checks.</a:t>
            </a:r>
          </a:p>
          <a:p>
            <a:endParaRPr lang="en-US" dirty="0"/>
          </a:p>
          <a:p>
            <a:r>
              <a:rPr lang="en-US" dirty="0"/>
              <a:t>Monitoring.</a:t>
            </a:r>
          </a:p>
          <a:p>
            <a:endParaRPr lang="en-US" dirty="0"/>
          </a:p>
          <a:p>
            <a:r>
              <a:rPr lang="en-US" dirty="0"/>
              <a:t>Alerts.</a:t>
            </a:r>
          </a:p>
          <a:p>
            <a:endParaRPr lang="en-US" dirty="0"/>
          </a:p>
          <a:p>
            <a:r>
              <a:rPr lang="en-US" dirty="0"/>
              <a:t>Explain:</a:t>
            </a:r>
          </a:p>
          <a:p>
            <a:endParaRPr lang="en-US" dirty="0"/>
          </a:p>
          <a:p>
            <a:r>
              <a:rPr lang="en-US" dirty="0"/>
              <a:t>"This becomes much more important in production."</a:t>
            </a:r>
          </a:p>
          <a:p>
            <a:endParaRPr lang="en-US" dirty="0"/>
          </a:p>
          <a:p>
            <a:r>
              <a:rPr lang="en-US" dirty="0"/>
              <a:t>------------------------------------------------------------</a:t>
            </a:r>
          </a:p>
          <a:p>
            <a:endParaRPr lang="en-US" dirty="0"/>
          </a:p>
          <a:p>
            <a:r>
              <a:rPr lang="en-US" dirty="0"/>
              <a:t>FEATURE FLAGS</a:t>
            </a:r>
          </a:p>
          <a:p>
            <a:endParaRPr lang="en-US" dirty="0"/>
          </a:p>
          <a:p>
            <a:r>
              <a:rPr lang="en-US" dirty="0"/>
              <a:t>Briefly introduce:</a:t>
            </a:r>
          </a:p>
          <a:p>
            <a:endParaRPr lang="en-US" dirty="0"/>
          </a:p>
          <a:p>
            <a:r>
              <a:rPr lang="en-US" dirty="0"/>
              <a:t>"Sometimes we want code deployed without making a feature available</a:t>
            </a:r>
          </a:p>
          <a:p>
            <a:r>
              <a:rPr lang="en-US" dirty="0"/>
              <a:t>to every user."</a:t>
            </a:r>
          </a:p>
          <a:p>
            <a:endParaRPr lang="en-US" dirty="0"/>
          </a:p>
          <a:p>
            <a:r>
              <a:rPr lang="en-US" dirty="0"/>
              <a:t>A feature flag can allow us to:</a:t>
            </a:r>
          </a:p>
          <a:p>
            <a:endParaRPr lang="en-US" dirty="0"/>
          </a:p>
          <a:p>
            <a:r>
              <a:rPr lang="en-US" dirty="0"/>
              <a:t>Enable a feature.</a:t>
            </a:r>
          </a:p>
          <a:p>
            <a:endParaRPr lang="en-US" dirty="0"/>
          </a:p>
          <a:p>
            <a:r>
              <a:rPr lang="en-US" dirty="0"/>
              <a:t>Disable a feature.</a:t>
            </a:r>
          </a:p>
          <a:p>
            <a:endParaRPr lang="en-US" dirty="0"/>
          </a:p>
          <a:p>
            <a:r>
              <a:rPr lang="en-US" dirty="0"/>
              <a:t>Test a feature.</a:t>
            </a:r>
          </a:p>
          <a:p>
            <a:endParaRPr lang="en-US" dirty="0"/>
          </a:p>
          <a:p>
            <a:r>
              <a:rPr lang="en-US" dirty="0"/>
              <a:t>Gradually release a feature.</a:t>
            </a:r>
          </a:p>
          <a:p>
            <a:endParaRPr lang="en-US" dirty="0"/>
          </a:p>
          <a:p>
            <a:r>
              <a:rPr lang="en-US" dirty="0"/>
              <a:t>Keep this conceptual.</a:t>
            </a:r>
          </a:p>
          <a:p>
            <a:endParaRPr lang="en-US" dirty="0"/>
          </a:p>
          <a:p>
            <a:r>
              <a:rPr lang="en-US" dirty="0"/>
              <a:t>------------------------------------------------------------</a:t>
            </a:r>
          </a:p>
          <a:p>
            <a:endParaRPr lang="en-US" dirty="0"/>
          </a:p>
          <a:p>
            <a:r>
              <a:rPr lang="en-US" dirty="0"/>
              <a:t>PROMOTE WITH CONFIDENCE</a:t>
            </a:r>
          </a:p>
          <a:p>
            <a:endParaRPr lang="en-US" dirty="0"/>
          </a:p>
          <a:p>
            <a:r>
              <a:rPr lang="en-US" dirty="0"/>
              <a:t>Point to the deployment flow.</a:t>
            </a:r>
          </a:p>
          <a:p>
            <a:endParaRPr lang="en-US" dirty="0"/>
          </a:p>
          <a:p>
            <a:r>
              <a:rPr lang="en-US" dirty="0"/>
              <a:t>1. BUILD &amp; COMMIT</a:t>
            </a:r>
          </a:p>
          <a:p>
            <a:endParaRPr lang="en-US" dirty="0"/>
          </a:p>
          <a:p>
            <a:r>
              <a:rPr lang="en-US" dirty="0"/>
              <a:t>Code is written, tested, and pushed.</a:t>
            </a:r>
          </a:p>
          <a:p>
            <a:endParaRPr lang="en-US" dirty="0"/>
          </a:p>
          <a:p>
            <a:r>
              <a:rPr lang="en-US" dirty="0"/>
              <a:t>2. VALIDATE IN TESTING</a:t>
            </a:r>
          </a:p>
          <a:p>
            <a:endParaRPr lang="en-US" dirty="0"/>
          </a:p>
          <a:p>
            <a:r>
              <a:rPr lang="en-US" dirty="0"/>
              <a:t>Automated and manual tests provide evidence.</a:t>
            </a:r>
          </a:p>
          <a:p>
            <a:endParaRPr lang="en-US" dirty="0"/>
          </a:p>
          <a:p>
            <a:r>
              <a:rPr lang="en-US" dirty="0"/>
              <a:t>3. DEPLOY TO STAGING</a:t>
            </a:r>
          </a:p>
          <a:p>
            <a:endParaRPr lang="en-US" dirty="0"/>
          </a:p>
          <a:p>
            <a:r>
              <a:rPr lang="en-US" dirty="0"/>
              <a:t>Test the deployment and environment.</a:t>
            </a:r>
          </a:p>
          <a:p>
            <a:endParaRPr lang="en-US" dirty="0"/>
          </a:p>
          <a:p>
            <a:r>
              <a:rPr lang="en-US" dirty="0"/>
              <a:t>4. APPROVE FOR PRODUCTION</a:t>
            </a:r>
          </a:p>
          <a:p>
            <a:endParaRPr lang="en-US" dirty="0"/>
          </a:p>
          <a:p>
            <a:r>
              <a:rPr lang="en-US" dirty="0"/>
              <a:t>Review.</a:t>
            </a:r>
          </a:p>
          <a:p>
            <a:endParaRPr lang="en-US" dirty="0"/>
          </a:p>
          <a:p>
            <a:r>
              <a:rPr lang="en-US" dirty="0"/>
              <a:t>Sign off.</a:t>
            </a:r>
          </a:p>
          <a:p>
            <a:endParaRPr lang="en-US" dirty="0"/>
          </a:p>
          <a:p>
            <a:r>
              <a:rPr lang="en-US" dirty="0"/>
              <a:t>Rollback plan if needed.</a:t>
            </a:r>
          </a:p>
          <a:p>
            <a:endParaRPr lang="en-US" dirty="0"/>
          </a:p>
          <a:p>
            <a:r>
              <a:rPr lang="en-US" dirty="0"/>
              <a:t>5. DEPLOY TO PRODUCTION</a:t>
            </a:r>
          </a:p>
          <a:p>
            <a:endParaRPr lang="en-US" dirty="0"/>
          </a:p>
          <a:p>
            <a:r>
              <a:rPr lang="en-US" dirty="0"/>
              <a:t>Release with confidence.</a:t>
            </a:r>
          </a:p>
          <a:p>
            <a:endParaRPr lang="en-US" dirty="0"/>
          </a:p>
          <a:p>
            <a:r>
              <a:rPr lang="en-US" dirty="0"/>
              <a:t>6. MONITOR</a:t>
            </a:r>
          </a:p>
          <a:p>
            <a:endParaRPr lang="en-US" dirty="0"/>
          </a:p>
          <a:p>
            <a:r>
              <a:rPr lang="en-US" dirty="0"/>
              <a:t>Watch the application after release.</a:t>
            </a:r>
          </a:p>
          <a:p>
            <a:endParaRPr lang="en-US" dirty="0"/>
          </a:p>
          <a:p>
            <a:r>
              <a:rPr lang="en-US" dirty="0"/>
              <a:t>Explain:</a:t>
            </a:r>
          </a:p>
          <a:p>
            <a:endParaRPr lang="en-US" dirty="0"/>
          </a:p>
          <a:p>
            <a:r>
              <a:rPr lang="en-US" dirty="0"/>
              <a:t>"This is the professional mindset."</a:t>
            </a:r>
          </a:p>
          <a:p>
            <a:endParaRPr lang="en-US" dirty="0"/>
          </a:p>
          <a:p>
            <a:r>
              <a:rPr lang="en-US" dirty="0"/>
              <a:t>------------------------------------------------------------</a:t>
            </a:r>
          </a:p>
          <a:p>
            <a:endParaRPr lang="en-US" dirty="0"/>
          </a:p>
          <a:p>
            <a:r>
              <a:rPr lang="en-US" dirty="0"/>
              <a:t>BUILD &amp; COMMIT</a:t>
            </a:r>
          </a:p>
          <a:p>
            <a:endParaRPr lang="en-US" dirty="0"/>
          </a:p>
          <a:p>
            <a:r>
              <a:rPr lang="en-US" dirty="0"/>
              <a:t>Ask:</a:t>
            </a:r>
          </a:p>
          <a:p>
            <a:endParaRPr lang="en-US" dirty="0"/>
          </a:p>
          <a:p>
            <a:r>
              <a:rPr lang="en-US" dirty="0"/>
              <a:t>"What should happen before we push code?"</a:t>
            </a:r>
          </a:p>
          <a:p>
            <a:endParaRPr lang="en-US" dirty="0"/>
          </a:p>
          <a:p>
            <a:r>
              <a:rPr lang="en-US" dirty="0"/>
              <a:t>Students:</a:t>
            </a:r>
          </a:p>
          <a:p>
            <a:endParaRPr lang="en-US" dirty="0"/>
          </a:p>
          <a:p>
            <a:r>
              <a:rPr lang="en-US" dirty="0"/>
              <a:t>Test.</a:t>
            </a:r>
          </a:p>
          <a:p>
            <a:endParaRPr lang="en-US" dirty="0"/>
          </a:p>
          <a:p>
            <a:r>
              <a:rPr lang="en-US" dirty="0"/>
              <a:t>Review.</a:t>
            </a:r>
          </a:p>
          <a:p>
            <a:endParaRPr lang="en-US" dirty="0"/>
          </a:p>
          <a:p>
            <a:r>
              <a:rPr lang="en-US" dirty="0"/>
              <a:t>Commit.</a:t>
            </a:r>
          </a:p>
          <a:p>
            <a:endParaRPr lang="en-US" dirty="0"/>
          </a:p>
          <a:p>
            <a:r>
              <a:rPr lang="en-US" dirty="0"/>
              <a:t>Explain:</a:t>
            </a:r>
          </a:p>
          <a:p>
            <a:endParaRPr lang="en-US" dirty="0"/>
          </a:p>
          <a:p>
            <a:r>
              <a:rPr lang="en-US" dirty="0"/>
              <a:t>"We don't want known broken code moving forward."</a:t>
            </a:r>
          </a:p>
          <a:p>
            <a:endParaRPr lang="en-US" dirty="0"/>
          </a:p>
          <a:p>
            <a:r>
              <a:rPr lang="en-US" dirty="0"/>
              <a:t>------------------------------------------------------------</a:t>
            </a:r>
          </a:p>
          <a:p>
            <a:endParaRPr lang="en-US" dirty="0"/>
          </a:p>
          <a:p>
            <a:r>
              <a:rPr lang="en-US" dirty="0"/>
              <a:t>VALIDATE IN TESTING</a:t>
            </a:r>
          </a:p>
          <a:p>
            <a:endParaRPr lang="en-US" dirty="0"/>
          </a:p>
          <a:p>
            <a:r>
              <a:rPr lang="en-US" dirty="0"/>
              <a:t>Ask:</a:t>
            </a:r>
          </a:p>
          <a:p>
            <a:endParaRPr lang="en-US" dirty="0"/>
          </a:p>
          <a:p>
            <a:r>
              <a:rPr lang="en-US" dirty="0"/>
              <a:t>"What's the purpose of testing?"</a:t>
            </a:r>
          </a:p>
          <a:p>
            <a:endParaRPr lang="en-US" dirty="0"/>
          </a:p>
          <a:p>
            <a:r>
              <a:rPr lang="en-US" dirty="0"/>
              <a:t>Evidence.</a:t>
            </a:r>
          </a:p>
          <a:p>
            <a:endParaRPr lang="en-US" dirty="0"/>
          </a:p>
          <a:p>
            <a:r>
              <a:rPr lang="en-US" dirty="0"/>
              <a:t>Review:</a:t>
            </a:r>
          </a:p>
          <a:p>
            <a:endParaRPr lang="en-US" dirty="0"/>
          </a:p>
          <a:p>
            <a:r>
              <a:rPr lang="en-US" dirty="0"/>
              <a:t>Functional testing.</a:t>
            </a:r>
          </a:p>
          <a:p>
            <a:endParaRPr lang="en-US" dirty="0"/>
          </a:p>
          <a:p>
            <a:r>
              <a:rPr lang="en-US" dirty="0"/>
              <a:t>Regression testing.</a:t>
            </a:r>
          </a:p>
          <a:p>
            <a:endParaRPr lang="en-US" dirty="0"/>
          </a:p>
          <a:p>
            <a:r>
              <a:rPr lang="en-US" dirty="0"/>
              <a:t>Security testing.</a:t>
            </a:r>
          </a:p>
          <a:p>
            <a:endParaRPr lang="en-US" dirty="0"/>
          </a:p>
          <a:p>
            <a:r>
              <a:rPr lang="en-US" dirty="0"/>
              <a:t>End-to-end testing.</a:t>
            </a:r>
          </a:p>
          <a:p>
            <a:endParaRPr lang="en-US" dirty="0"/>
          </a:p>
          <a:p>
            <a:r>
              <a:rPr lang="en-US" dirty="0"/>
              <a:t>------------------------------------------------------------</a:t>
            </a:r>
          </a:p>
          <a:p>
            <a:endParaRPr lang="en-US" dirty="0"/>
          </a:p>
          <a:p>
            <a:r>
              <a:rPr lang="en-US" dirty="0"/>
              <a:t>DEPLOY TO STAGING</a:t>
            </a:r>
          </a:p>
          <a:p>
            <a:endParaRPr lang="en-US" dirty="0"/>
          </a:p>
          <a:p>
            <a:r>
              <a:rPr lang="en-US" dirty="0"/>
              <a:t>Say:</a:t>
            </a:r>
          </a:p>
          <a:p>
            <a:endParaRPr lang="en-US" dirty="0"/>
          </a:p>
          <a:p>
            <a:r>
              <a:rPr lang="en-US" dirty="0"/>
              <a:t>"Now we're testing more than the code."</a:t>
            </a:r>
          </a:p>
          <a:p>
            <a:endParaRPr lang="en-US" dirty="0"/>
          </a:p>
          <a:p>
            <a:r>
              <a:rPr lang="en-US" dirty="0"/>
              <a:t>"We're testing the deployment."</a:t>
            </a:r>
          </a:p>
          <a:p>
            <a:endParaRPr lang="en-US" dirty="0"/>
          </a:p>
          <a:p>
            <a:r>
              <a:rPr lang="en-US" dirty="0"/>
              <a:t>Ask:</a:t>
            </a:r>
          </a:p>
          <a:p>
            <a:endParaRPr lang="en-US" dirty="0"/>
          </a:p>
          <a:p>
            <a:r>
              <a:rPr lang="en-US" dirty="0"/>
              <a:t>"Did configuration work?"</a:t>
            </a:r>
          </a:p>
          <a:p>
            <a:endParaRPr lang="en-US" dirty="0"/>
          </a:p>
          <a:p>
            <a:r>
              <a:rPr lang="en-US" dirty="0"/>
              <a:t>"Did the database connect?"</a:t>
            </a:r>
          </a:p>
          <a:p>
            <a:endParaRPr lang="en-US" dirty="0"/>
          </a:p>
          <a:p>
            <a:r>
              <a:rPr lang="en-US" dirty="0"/>
              <a:t>"Did the application start?"</a:t>
            </a:r>
          </a:p>
          <a:p>
            <a:endParaRPr lang="en-US" dirty="0"/>
          </a:p>
          <a:p>
            <a:r>
              <a:rPr lang="en-US" dirty="0"/>
              <a:t>"Does the deployed application behave correctly?"</a:t>
            </a:r>
          </a:p>
          <a:p>
            <a:endParaRPr lang="en-US" dirty="0"/>
          </a:p>
          <a:p>
            <a:r>
              <a:rPr lang="en-US" dirty="0"/>
              <a:t>------------------------------------------------------------</a:t>
            </a:r>
          </a:p>
          <a:p>
            <a:endParaRPr lang="en-US" dirty="0"/>
          </a:p>
          <a:p>
            <a:r>
              <a:rPr lang="en-US" dirty="0"/>
              <a:t>APPROVE FOR PRODUCTION</a:t>
            </a:r>
          </a:p>
          <a:p>
            <a:endParaRPr lang="en-US" dirty="0"/>
          </a:p>
          <a:p>
            <a:r>
              <a:rPr lang="en-US" dirty="0"/>
              <a:t>Explain:</a:t>
            </a:r>
          </a:p>
          <a:p>
            <a:endParaRPr lang="en-US" dirty="0"/>
          </a:p>
          <a:p>
            <a:r>
              <a:rPr lang="en-US" dirty="0"/>
              <a:t>"Before production, we need a decision."</a:t>
            </a:r>
          </a:p>
          <a:p>
            <a:endParaRPr lang="en-US" dirty="0"/>
          </a:p>
          <a:p>
            <a:r>
              <a:rPr lang="en-US" dirty="0"/>
              <a:t>Is it ready?</a:t>
            </a:r>
          </a:p>
          <a:p>
            <a:endParaRPr lang="en-US" dirty="0"/>
          </a:p>
          <a:p>
            <a:r>
              <a:rPr lang="en-US" dirty="0"/>
              <a:t>Are known issues acceptable?</a:t>
            </a:r>
          </a:p>
          <a:p>
            <a:endParaRPr lang="en-US" dirty="0"/>
          </a:p>
          <a:p>
            <a:r>
              <a:rPr lang="en-US" dirty="0"/>
              <a:t>Do we have a rollback plan?</a:t>
            </a:r>
          </a:p>
          <a:p>
            <a:endParaRPr lang="en-US" dirty="0"/>
          </a:p>
          <a:p>
            <a:r>
              <a:rPr lang="en-US" dirty="0"/>
              <a:t>Do we have monitoring?</a:t>
            </a:r>
          </a:p>
          <a:p>
            <a:endParaRPr lang="en-US" dirty="0"/>
          </a:p>
          <a:p>
            <a:r>
              <a:rPr lang="en-US" dirty="0"/>
              <a:t>Are the required tests complete?</a:t>
            </a:r>
          </a:p>
          <a:p>
            <a:endParaRPr lang="en-US" dirty="0"/>
          </a:p>
          <a:p>
            <a:r>
              <a:rPr lang="en-US" dirty="0"/>
              <a:t>This is a readiness gate.</a:t>
            </a:r>
          </a:p>
          <a:p>
            <a:endParaRPr lang="en-US" dirty="0"/>
          </a:p>
          <a:p>
            <a:r>
              <a:rPr lang="en-US" dirty="0"/>
              <a:t>------------------------------------------------------------</a:t>
            </a:r>
          </a:p>
          <a:p>
            <a:endParaRPr lang="en-US" dirty="0"/>
          </a:p>
          <a:p>
            <a:r>
              <a:rPr lang="en-US" dirty="0"/>
              <a:t>DEPLOY TO PRODUCTION</a:t>
            </a:r>
          </a:p>
          <a:p>
            <a:endParaRPr lang="en-US" dirty="0"/>
          </a:p>
          <a:p>
            <a:r>
              <a:rPr lang="en-US" dirty="0"/>
              <a:t>Say:</a:t>
            </a:r>
          </a:p>
          <a:p>
            <a:endParaRPr lang="en-US" dirty="0"/>
          </a:p>
          <a:p>
            <a:r>
              <a:rPr lang="en-US" dirty="0"/>
              <a:t>"Now we're releasing to real users."</a:t>
            </a:r>
          </a:p>
          <a:p>
            <a:endParaRPr lang="en-US" dirty="0"/>
          </a:p>
          <a:p>
            <a:r>
              <a:rPr lang="en-US" dirty="0"/>
              <a:t>But:</a:t>
            </a:r>
          </a:p>
          <a:p>
            <a:endParaRPr lang="en-US" dirty="0"/>
          </a:p>
          <a:p>
            <a:r>
              <a:rPr lang="en-US" dirty="0"/>
              <a:t>"Deployment isn't the end."</a:t>
            </a:r>
          </a:p>
          <a:p>
            <a:endParaRPr lang="en-US" dirty="0"/>
          </a:p>
          <a:p>
            <a:r>
              <a:rPr lang="en-US" dirty="0"/>
              <a:t>------------------------------------------------------------</a:t>
            </a:r>
          </a:p>
          <a:p>
            <a:endParaRPr lang="en-US" dirty="0"/>
          </a:p>
          <a:p>
            <a:r>
              <a:rPr lang="en-US" dirty="0"/>
              <a:t>MONITOR</a:t>
            </a:r>
          </a:p>
          <a:p>
            <a:endParaRPr lang="en-US" dirty="0"/>
          </a:p>
          <a:p>
            <a:r>
              <a:rPr lang="en-US" dirty="0"/>
              <a:t>Point to Monitor.</a:t>
            </a:r>
          </a:p>
          <a:p>
            <a:endParaRPr lang="en-US" dirty="0"/>
          </a:p>
          <a:p>
            <a:r>
              <a:rPr lang="en-US" dirty="0"/>
              <a:t>Ask:</a:t>
            </a:r>
          </a:p>
          <a:p>
            <a:endParaRPr lang="en-US" dirty="0"/>
          </a:p>
          <a:p>
            <a:r>
              <a:rPr lang="en-US" dirty="0"/>
              <a:t>"What happens immediately after deployment?"</a:t>
            </a:r>
          </a:p>
          <a:p>
            <a:endParaRPr lang="en-US" dirty="0"/>
          </a:p>
          <a:p>
            <a:r>
              <a:rPr lang="en-US" dirty="0"/>
              <a:t>We watch.</a:t>
            </a:r>
          </a:p>
          <a:p>
            <a:endParaRPr lang="en-US" dirty="0"/>
          </a:p>
          <a:p>
            <a:r>
              <a:rPr lang="en-US" dirty="0"/>
              <a:t>Look for:</a:t>
            </a:r>
          </a:p>
          <a:p>
            <a:endParaRPr lang="en-US" dirty="0"/>
          </a:p>
          <a:p>
            <a:r>
              <a:rPr lang="en-US" dirty="0"/>
              <a:t>Errors.</a:t>
            </a:r>
          </a:p>
          <a:p>
            <a:endParaRPr lang="en-US" dirty="0"/>
          </a:p>
          <a:p>
            <a:r>
              <a:rPr lang="en-US" dirty="0"/>
              <a:t>Performance problems.</a:t>
            </a:r>
          </a:p>
          <a:p>
            <a:endParaRPr lang="en-US" dirty="0"/>
          </a:p>
          <a:p>
            <a:r>
              <a:rPr lang="en-US" dirty="0"/>
              <a:t>Availability issues.</a:t>
            </a:r>
          </a:p>
          <a:p>
            <a:endParaRPr lang="en-US" dirty="0"/>
          </a:p>
          <a:p>
            <a:r>
              <a:rPr lang="en-US" dirty="0"/>
              <a:t>Unexpected behavior.</a:t>
            </a:r>
          </a:p>
          <a:p>
            <a:endParaRPr lang="en-US" dirty="0"/>
          </a:p>
          <a:p>
            <a:r>
              <a:rPr lang="en-US" dirty="0"/>
              <a:t>Explain:</a:t>
            </a:r>
          </a:p>
          <a:p>
            <a:endParaRPr lang="en-US" dirty="0"/>
          </a:p>
          <a:p>
            <a:r>
              <a:rPr lang="en-US" dirty="0"/>
              <a:t>"A successful deployment can still reveal problems."</a:t>
            </a:r>
          </a:p>
          <a:p>
            <a:endParaRPr lang="en-US" dirty="0"/>
          </a:p>
          <a:p>
            <a:r>
              <a:rPr lang="en-US" dirty="0"/>
              <a:t>------------------------------------------------------------</a:t>
            </a:r>
          </a:p>
          <a:p>
            <a:endParaRPr lang="en-US" dirty="0"/>
          </a:p>
          <a:p>
            <a:r>
              <a:rPr lang="en-US" dirty="0"/>
              <a:t>COMMON PITFALLS</a:t>
            </a:r>
          </a:p>
          <a:p>
            <a:endParaRPr lang="en-US" dirty="0"/>
          </a:p>
          <a:p>
            <a:r>
              <a:rPr lang="en-US" dirty="0"/>
              <a:t>Walk through the red section.</a:t>
            </a:r>
          </a:p>
          <a:p>
            <a:endParaRPr lang="en-US" dirty="0"/>
          </a:p>
          <a:p>
            <a:r>
              <a:rPr lang="en-US" dirty="0"/>
              <a:t>HARD-CODED CONNECTION STRINGS OR SECRETS.</a:t>
            </a:r>
          </a:p>
          <a:p>
            <a:endParaRPr lang="en-US" dirty="0"/>
          </a:p>
          <a:p>
            <a:r>
              <a:rPr lang="en-US" dirty="0"/>
              <a:t>Ask:</a:t>
            </a:r>
          </a:p>
          <a:p>
            <a:endParaRPr lang="en-US" dirty="0"/>
          </a:p>
          <a:p>
            <a:r>
              <a:rPr lang="en-US" dirty="0"/>
              <a:t>"Why is this dangerous?"</a:t>
            </a:r>
          </a:p>
          <a:p>
            <a:endParaRPr lang="en-US" dirty="0"/>
          </a:p>
          <a:p>
            <a:r>
              <a:rPr lang="en-US" dirty="0"/>
              <a:t>Because secrets can be exposed.</a:t>
            </a:r>
          </a:p>
          <a:p>
            <a:endParaRPr lang="en-US" dirty="0"/>
          </a:p>
          <a:p>
            <a:r>
              <a:rPr lang="en-US" dirty="0"/>
              <a:t>------------------------------------------------------------</a:t>
            </a:r>
          </a:p>
          <a:p>
            <a:endParaRPr lang="en-US" dirty="0"/>
          </a:p>
          <a:p>
            <a:r>
              <a:rPr lang="en-US" dirty="0"/>
              <a:t>LEAVING DEBUGGING ENABLED</a:t>
            </a:r>
          </a:p>
          <a:p>
            <a:endParaRPr lang="en-US" dirty="0"/>
          </a:p>
          <a:p>
            <a:r>
              <a:rPr lang="en-US" dirty="0"/>
              <a:t>Ask:</a:t>
            </a:r>
          </a:p>
          <a:p>
            <a:endParaRPr lang="en-US" dirty="0"/>
          </a:p>
          <a:p>
            <a:r>
              <a:rPr lang="en-US" dirty="0"/>
              <a:t>"Why is this dangerous?"</a:t>
            </a:r>
          </a:p>
          <a:p>
            <a:endParaRPr lang="en-US" dirty="0"/>
          </a:p>
          <a:p>
            <a:r>
              <a:rPr lang="en-US" dirty="0"/>
              <a:t>Potential information exposure.</a:t>
            </a:r>
          </a:p>
          <a:p>
            <a:endParaRPr lang="en-US" dirty="0"/>
          </a:p>
          <a:p>
            <a:r>
              <a:rPr lang="en-US" dirty="0"/>
              <a:t>Unexpected behavior.</a:t>
            </a:r>
          </a:p>
          <a:p>
            <a:endParaRPr lang="en-US" dirty="0"/>
          </a:p>
          <a:p>
            <a:r>
              <a:rPr lang="en-US" dirty="0"/>
              <a:t>Poor performance.</a:t>
            </a:r>
          </a:p>
          <a:p>
            <a:endParaRPr lang="en-US" dirty="0"/>
          </a:p>
          <a:p>
            <a:r>
              <a:rPr lang="en-US" dirty="0"/>
              <a:t>------------------------------------------------------------</a:t>
            </a:r>
          </a:p>
          <a:p>
            <a:endParaRPr lang="en-US" dirty="0"/>
          </a:p>
          <a:p>
            <a:r>
              <a:rPr lang="en-US" dirty="0"/>
              <a:t>USING DEVELOPMENT DATA IN PRODUCTION</a:t>
            </a:r>
          </a:p>
          <a:p>
            <a:endParaRPr lang="en-US" dirty="0"/>
          </a:p>
          <a:p>
            <a:r>
              <a:rPr lang="en-US" dirty="0"/>
              <a:t>Ask:</a:t>
            </a:r>
          </a:p>
          <a:p>
            <a:endParaRPr lang="en-US" dirty="0"/>
          </a:p>
          <a:p>
            <a:r>
              <a:rPr lang="en-US" dirty="0"/>
              <a:t>"Would we want real users interacting with fake development data?"</a:t>
            </a:r>
          </a:p>
          <a:p>
            <a:endParaRPr lang="en-US" dirty="0"/>
          </a:p>
          <a:p>
            <a:r>
              <a:rPr lang="en-US" dirty="0"/>
              <a:t>No.</a:t>
            </a:r>
          </a:p>
          <a:p>
            <a:endParaRPr lang="en-US" dirty="0"/>
          </a:p>
          <a:p>
            <a:r>
              <a:rPr lang="en-US" dirty="0"/>
              <a:t>Explain:</a:t>
            </a:r>
          </a:p>
          <a:p>
            <a:endParaRPr lang="en-US" dirty="0"/>
          </a:p>
          <a:p>
            <a:r>
              <a:rPr lang="en-US" dirty="0"/>
              <a:t>"Production data should be intentionally managed."</a:t>
            </a:r>
          </a:p>
          <a:p>
            <a:endParaRPr lang="en-US" dirty="0"/>
          </a:p>
          <a:p>
            <a:r>
              <a:rPr lang="en-US" dirty="0"/>
              <a:t>------------------------------------------------------------</a:t>
            </a:r>
          </a:p>
          <a:p>
            <a:endParaRPr lang="en-US" dirty="0"/>
          </a:p>
          <a:p>
            <a:r>
              <a:rPr lang="en-US" dirty="0"/>
              <a:t>SKIPPING STAGING OR DEPLOYMENT TESTING</a:t>
            </a:r>
          </a:p>
          <a:p>
            <a:endParaRPr lang="en-US" dirty="0"/>
          </a:p>
          <a:p>
            <a:r>
              <a:rPr lang="en-US" dirty="0"/>
              <a:t>Ask:</a:t>
            </a:r>
          </a:p>
          <a:p>
            <a:endParaRPr lang="en-US" dirty="0"/>
          </a:p>
          <a:p>
            <a:r>
              <a:rPr lang="en-US" dirty="0"/>
              <a:t>"What happens if the deployment itself is broken?"</a:t>
            </a:r>
          </a:p>
          <a:p>
            <a:endParaRPr lang="en-US" dirty="0"/>
          </a:p>
          <a:p>
            <a:r>
              <a:rPr lang="en-US" dirty="0"/>
              <a:t>We discover it in production.</a:t>
            </a:r>
          </a:p>
          <a:p>
            <a:endParaRPr lang="en-US" dirty="0"/>
          </a:p>
          <a:p>
            <a:r>
              <a:rPr lang="en-US" dirty="0"/>
              <a:t>That's exactly what we're trying to avoid.</a:t>
            </a:r>
          </a:p>
          <a:p>
            <a:endParaRPr lang="en-US" dirty="0"/>
          </a:p>
          <a:p>
            <a:r>
              <a:rPr lang="en-US" dirty="0"/>
              <a:t>------------------------------------------------------------</a:t>
            </a:r>
          </a:p>
          <a:p>
            <a:endParaRPr lang="en-US" dirty="0"/>
          </a:p>
          <a:p>
            <a:r>
              <a:rPr lang="en-US" dirty="0"/>
              <a:t>NO BACKUPS OR RECOVERY PLAN</a:t>
            </a:r>
          </a:p>
          <a:p>
            <a:endParaRPr lang="en-US" dirty="0"/>
          </a:p>
          <a:p>
            <a:r>
              <a:rPr lang="en-US" dirty="0"/>
              <a:t>Ask:</a:t>
            </a:r>
          </a:p>
          <a:p>
            <a:endParaRPr lang="en-US" dirty="0"/>
          </a:p>
          <a:p>
            <a:r>
              <a:rPr lang="en-US" dirty="0"/>
              <a:t>"What happens if the database disappears?"</a:t>
            </a:r>
          </a:p>
          <a:p>
            <a:endParaRPr lang="en-US" dirty="0"/>
          </a:p>
          <a:p>
            <a:r>
              <a:rPr lang="en-US" dirty="0"/>
              <a:t>Silence.</a:t>
            </a:r>
          </a:p>
          <a:p>
            <a:endParaRPr lang="en-US" dirty="0"/>
          </a:p>
          <a:p>
            <a:r>
              <a:rPr lang="en-US" dirty="0"/>
              <a:t>Then:</a:t>
            </a:r>
          </a:p>
          <a:p>
            <a:endParaRPr lang="en-US" dirty="0"/>
          </a:p>
          <a:p>
            <a:r>
              <a:rPr lang="en-US" dirty="0"/>
              <a:t>"Exactly."</a:t>
            </a:r>
          </a:p>
          <a:p>
            <a:endParaRPr lang="en-US" dirty="0"/>
          </a:p>
          <a:p>
            <a:r>
              <a:rPr lang="en-US" dirty="0"/>
              <a:t>We need a plan.</a:t>
            </a:r>
          </a:p>
          <a:p>
            <a:endParaRPr lang="en-US" dirty="0"/>
          </a:p>
          <a:p>
            <a:r>
              <a:rPr lang="en-US" dirty="0"/>
              <a:t>------------------------------------------------------------</a:t>
            </a:r>
          </a:p>
          <a:p>
            <a:endParaRPr lang="en-US" dirty="0"/>
          </a:p>
          <a:p>
            <a:r>
              <a:rPr lang="en-US" dirty="0"/>
              <a:t>NO MONITORING</a:t>
            </a:r>
          </a:p>
          <a:p>
            <a:endParaRPr lang="en-US" dirty="0"/>
          </a:p>
          <a:p>
            <a:r>
              <a:rPr lang="en-US" dirty="0"/>
              <a:t>Ask:</a:t>
            </a:r>
          </a:p>
          <a:p>
            <a:endParaRPr lang="en-US" dirty="0"/>
          </a:p>
          <a:p>
            <a:r>
              <a:rPr lang="en-US" dirty="0"/>
              <a:t>"What if Atlas fails and nobody knows?"</a:t>
            </a:r>
          </a:p>
          <a:p>
            <a:endParaRPr lang="en-US" dirty="0"/>
          </a:p>
          <a:p>
            <a:r>
              <a:rPr lang="en-US" dirty="0"/>
              <a:t>We can't respond effectively.</a:t>
            </a:r>
          </a:p>
          <a:p>
            <a:endParaRPr lang="en-US" dirty="0"/>
          </a:p>
          <a:p>
            <a:r>
              <a:rPr lang="en-US" dirty="0"/>
              <a:t>------------------------------------------------------------</a:t>
            </a:r>
          </a:p>
          <a:p>
            <a:endParaRPr lang="en-US" dirty="0"/>
          </a:p>
          <a:p>
            <a:r>
              <a:rPr lang="en-US" dirty="0"/>
              <a:t>MAKING UNTESTED CHANGES DIRECTLY IN PRODUCTION</a:t>
            </a:r>
          </a:p>
          <a:p>
            <a:endParaRPr lang="en-US" dirty="0"/>
          </a:p>
          <a:p>
            <a:r>
              <a:rPr lang="en-US" dirty="0"/>
              <a:t>Say:</a:t>
            </a:r>
          </a:p>
          <a:p>
            <a:endParaRPr lang="en-US" dirty="0"/>
          </a:p>
          <a:p>
            <a:r>
              <a:rPr lang="en-US" dirty="0"/>
              <a:t>"This is one of the habits we're trying to eliminate."</a:t>
            </a:r>
          </a:p>
          <a:p>
            <a:endParaRPr lang="en-US" dirty="0"/>
          </a:p>
          <a:p>
            <a:r>
              <a:rPr lang="en-US" dirty="0"/>
              <a:t>Production should not become our development environment.</a:t>
            </a:r>
          </a:p>
          <a:p>
            <a:endParaRPr lang="en-US" dirty="0"/>
          </a:p>
          <a:p>
            <a:r>
              <a:rPr lang="en-US" dirty="0"/>
              <a:t>------------------------------------------------------------</a:t>
            </a:r>
          </a:p>
          <a:p>
            <a:endParaRPr lang="en-US" dirty="0"/>
          </a:p>
          <a:p>
            <a:r>
              <a:rPr lang="en-US" dirty="0"/>
              <a:t>THE DEPLOYMENT READINESS FLOW</a:t>
            </a:r>
          </a:p>
          <a:p>
            <a:endParaRPr lang="en-US" dirty="0"/>
          </a:p>
          <a:p>
            <a:r>
              <a:rPr lang="en-US" dirty="0"/>
              <a:t>Point to:</a:t>
            </a:r>
          </a:p>
          <a:p>
            <a:endParaRPr lang="en-US" dirty="0"/>
          </a:p>
          <a:p>
            <a:r>
              <a:rPr lang="en-US" dirty="0"/>
              <a:t>BUILD</a:t>
            </a:r>
          </a:p>
          <a:p>
            <a:endParaRPr lang="en-US" dirty="0"/>
          </a:p>
          <a:p>
            <a:r>
              <a:rPr lang="en-US" dirty="0"/>
              <a:t>↓</a:t>
            </a:r>
          </a:p>
          <a:p>
            <a:endParaRPr lang="en-US" dirty="0"/>
          </a:p>
          <a:p>
            <a:r>
              <a:rPr lang="en-US" dirty="0"/>
              <a:t>VALIDATE</a:t>
            </a:r>
          </a:p>
          <a:p>
            <a:endParaRPr lang="en-US" dirty="0"/>
          </a:p>
          <a:p>
            <a:r>
              <a:rPr lang="en-US" dirty="0"/>
              <a:t>↓</a:t>
            </a:r>
          </a:p>
          <a:p>
            <a:endParaRPr lang="en-US" dirty="0"/>
          </a:p>
          <a:p>
            <a:r>
              <a:rPr lang="en-US" dirty="0"/>
              <a:t>CONFIGURE</a:t>
            </a:r>
          </a:p>
          <a:p>
            <a:endParaRPr lang="en-US" dirty="0"/>
          </a:p>
          <a:p>
            <a:r>
              <a:rPr lang="en-US" dirty="0"/>
              <a:t>↓</a:t>
            </a:r>
          </a:p>
          <a:p>
            <a:endParaRPr lang="en-US" dirty="0"/>
          </a:p>
          <a:p>
            <a:r>
              <a:rPr lang="en-US" dirty="0"/>
              <a:t>DEPLOY</a:t>
            </a:r>
          </a:p>
          <a:p>
            <a:endParaRPr lang="en-US" dirty="0"/>
          </a:p>
          <a:p>
            <a:r>
              <a:rPr lang="en-US" dirty="0"/>
              <a:t>↓</a:t>
            </a:r>
          </a:p>
          <a:p>
            <a:endParaRPr lang="en-US" dirty="0"/>
          </a:p>
          <a:p>
            <a:r>
              <a:rPr lang="en-US" dirty="0"/>
              <a:t>MONITOR</a:t>
            </a:r>
          </a:p>
          <a:p>
            <a:endParaRPr lang="en-US" dirty="0"/>
          </a:p>
          <a:p>
            <a:r>
              <a:rPr lang="en-US" dirty="0"/>
              <a:t>Explain:</a:t>
            </a:r>
          </a:p>
          <a:p>
            <a:endParaRPr lang="en-US" dirty="0"/>
          </a:p>
          <a:p>
            <a:r>
              <a:rPr lang="en-US" dirty="0"/>
              <a:t>"This is our basic deployment cycle."</a:t>
            </a:r>
          </a:p>
          <a:p>
            <a:endParaRPr lang="en-US" dirty="0"/>
          </a:p>
          <a:p>
            <a:r>
              <a:rPr lang="en-US" dirty="0"/>
              <a:t>Every step exists for a reason.</a:t>
            </a:r>
          </a:p>
          <a:p>
            <a:endParaRPr lang="en-US" dirty="0"/>
          </a:p>
          <a:p>
            <a:r>
              <a:rPr lang="en-US" dirty="0"/>
              <a:t>------------------------------------------------------------</a:t>
            </a:r>
          </a:p>
          <a:p>
            <a:endParaRPr lang="en-US" dirty="0"/>
          </a:p>
          <a:p>
            <a:r>
              <a:rPr lang="en-US" dirty="0"/>
              <a:t>MONITORING &amp; OPERATIONS</a:t>
            </a:r>
          </a:p>
          <a:p>
            <a:endParaRPr lang="en-US" dirty="0"/>
          </a:p>
          <a:p>
            <a:r>
              <a:rPr lang="en-US" dirty="0"/>
              <a:t>Walk across the five elements.</a:t>
            </a:r>
          </a:p>
          <a:p>
            <a:endParaRPr lang="en-US" dirty="0"/>
          </a:p>
          <a:p>
            <a:r>
              <a:rPr lang="en-US" dirty="0"/>
              <a:t>LOGS</a:t>
            </a:r>
          </a:p>
          <a:p>
            <a:endParaRPr lang="en-US" dirty="0"/>
          </a:p>
          <a:p>
            <a:r>
              <a:rPr lang="en-US" dirty="0"/>
              <a:t>Track errors and events.</a:t>
            </a:r>
          </a:p>
          <a:p>
            <a:endParaRPr lang="en-US" dirty="0"/>
          </a:p>
          <a:p>
            <a:r>
              <a:rPr lang="en-US" dirty="0"/>
              <a:t>HEALTH CHECKS</a:t>
            </a:r>
          </a:p>
          <a:p>
            <a:endParaRPr lang="en-US" dirty="0"/>
          </a:p>
          <a:p>
            <a:r>
              <a:rPr lang="en-US" dirty="0"/>
              <a:t>Know whether the service is functioning.</a:t>
            </a:r>
          </a:p>
          <a:p>
            <a:endParaRPr lang="en-US" dirty="0"/>
          </a:p>
          <a:p>
            <a:r>
              <a:rPr lang="en-US" dirty="0"/>
              <a:t>ALERTS</a:t>
            </a:r>
          </a:p>
          <a:p>
            <a:endParaRPr lang="en-US" dirty="0"/>
          </a:p>
          <a:p>
            <a:r>
              <a:rPr lang="en-US" dirty="0"/>
              <a:t>Respond quickly.</a:t>
            </a:r>
          </a:p>
          <a:p>
            <a:endParaRPr lang="en-US" dirty="0"/>
          </a:p>
          <a:p>
            <a:r>
              <a:rPr lang="en-US" dirty="0"/>
              <a:t>METRICS</a:t>
            </a:r>
          </a:p>
          <a:p>
            <a:endParaRPr lang="en-US" dirty="0"/>
          </a:p>
          <a:p>
            <a:r>
              <a:rPr lang="en-US" dirty="0"/>
              <a:t>Watch performance and trends.</a:t>
            </a:r>
          </a:p>
          <a:p>
            <a:endParaRPr lang="en-US" dirty="0"/>
          </a:p>
          <a:p>
            <a:r>
              <a:rPr lang="en-US" dirty="0"/>
              <a:t>RECOVERY</a:t>
            </a:r>
          </a:p>
          <a:p>
            <a:endParaRPr lang="en-US" dirty="0"/>
          </a:p>
          <a:p>
            <a:r>
              <a:rPr lang="en-US" dirty="0"/>
              <a:t>Restore service when needed.</a:t>
            </a:r>
          </a:p>
          <a:p>
            <a:endParaRPr lang="en-US" dirty="0"/>
          </a:p>
          <a:p>
            <a:r>
              <a:rPr lang="en-US" dirty="0"/>
              <a:t>Say:</a:t>
            </a:r>
          </a:p>
          <a:p>
            <a:endParaRPr lang="en-US" dirty="0"/>
          </a:p>
          <a:p>
            <a:r>
              <a:rPr lang="en-US" dirty="0"/>
              <a:t>"These are the beginnings of operating a real service."</a:t>
            </a:r>
          </a:p>
          <a:p>
            <a:endParaRPr lang="en-US" dirty="0"/>
          </a:p>
          <a:p>
            <a:r>
              <a:rPr lang="en-US" dirty="0"/>
              <a:t>------------------------------------------------------------</a:t>
            </a:r>
          </a:p>
          <a:p>
            <a:endParaRPr lang="en-US" dirty="0"/>
          </a:p>
          <a:p>
            <a:r>
              <a:rPr lang="en-US" dirty="0"/>
              <a:t>BACKUPS</a:t>
            </a:r>
          </a:p>
          <a:p>
            <a:endParaRPr lang="en-US" dirty="0"/>
          </a:p>
          <a:p>
            <a:r>
              <a:rPr lang="en-US" dirty="0"/>
              <a:t>Ask:</a:t>
            </a:r>
          </a:p>
          <a:p>
            <a:endParaRPr lang="en-US" dirty="0"/>
          </a:p>
          <a:p>
            <a:r>
              <a:rPr lang="en-US" dirty="0"/>
              <a:t>"What's the difference between having a backup and having a recovery</a:t>
            </a:r>
          </a:p>
          <a:p>
            <a:r>
              <a:rPr lang="en-US" dirty="0"/>
              <a:t>plan?"</a:t>
            </a:r>
          </a:p>
          <a:p>
            <a:endParaRPr lang="en-US" dirty="0"/>
          </a:p>
          <a:p>
            <a:r>
              <a:rPr lang="en-US" dirty="0"/>
              <a:t>A backup is the data.</a:t>
            </a:r>
          </a:p>
          <a:p>
            <a:endParaRPr lang="en-US" dirty="0"/>
          </a:p>
          <a:p>
            <a:r>
              <a:rPr lang="en-US" dirty="0"/>
              <a:t>Recovery is knowing how to restore and verify it.</a:t>
            </a:r>
          </a:p>
          <a:p>
            <a:endParaRPr lang="en-US" dirty="0"/>
          </a:p>
          <a:p>
            <a:r>
              <a:rPr lang="en-US" dirty="0"/>
              <a:t>Connect this to Sprint 6.</a:t>
            </a:r>
          </a:p>
          <a:p>
            <a:endParaRPr lang="en-US" dirty="0"/>
          </a:p>
          <a:p>
            <a:r>
              <a:rPr lang="en-US" dirty="0"/>
              <a:t>------------------------------------------------------------</a:t>
            </a:r>
          </a:p>
          <a:p>
            <a:endParaRPr lang="en-US" dirty="0"/>
          </a:p>
          <a:p>
            <a:r>
              <a:rPr lang="en-US" dirty="0"/>
              <a:t>THE MINDSET</a:t>
            </a:r>
          </a:p>
          <a:p>
            <a:endParaRPr lang="en-US" dirty="0"/>
          </a:p>
          <a:p>
            <a:r>
              <a:rPr lang="en-US" dirty="0"/>
              <a:t>Point to:</a:t>
            </a:r>
          </a:p>
          <a:p>
            <a:endParaRPr lang="en-US" dirty="0"/>
          </a:p>
          <a:p>
            <a:r>
              <a:rPr lang="en-US" dirty="0"/>
              <a:t>"Think ahead to failure."</a:t>
            </a:r>
          </a:p>
          <a:p>
            <a:endParaRPr lang="en-US" dirty="0"/>
          </a:p>
          <a:p>
            <a:r>
              <a:rPr lang="en-US" dirty="0"/>
              <a:t>Say:</a:t>
            </a:r>
          </a:p>
          <a:p>
            <a:endParaRPr lang="en-US" dirty="0"/>
          </a:p>
          <a:p>
            <a:r>
              <a:rPr lang="en-US" dirty="0"/>
              <a:t>"We don't plan for failure because we expect Atlas to fail."</a:t>
            </a:r>
          </a:p>
          <a:p>
            <a:endParaRPr lang="en-US" dirty="0"/>
          </a:p>
          <a:p>
            <a:r>
              <a:rPr lang="en-US" dirty="0"/>
              <a:t>"We plan because responsible engineers understand that systems can</a:t>
            </a:r>
          </a:p>
          <a:p>
            <a:r>
              <a:rPr lang="en-US" dirty="0"/>
              <a:t>fail."</a:t>
            </a:r>
          </a:p>
          <a:p>
            <a:endParaRPr lang="en-US" dirty="0"/>
          </a:p>
          <a:p>
            <a:r>
              <a:rPr lang="en-US" dirty="0"/>
              <a:t>------------------------------------------------------------</a:t>
            </a:r>
          </a:p>
          <a:p>
            <a:endParaRPr lang="en-US" dirty="0"/>
          </a:p>
          <a:p>
            <a:r>
              <a:rPr lang="en-US" dirty="0"/>
              <a:t>PRODUCTION ISN'T A PLACE</a:t>
            </a:r>
          </a:p>
          <a:p>
            <a:endParaRPr lang="en-US" dirty="0"/>
          </a:p>
          <a:p>
            <a:r>
              <a:rPr lang="en-US" dirty="0"/>
              <a:t>Point to the statement:</a:t>
            </a:r>
          </a:p>
          <a:p>
            <a:endParaRPr lang="en-US" dirty="0"/>
          </a:p>
          <a:p>
            <a:r>
              <a:rPr lang="en-US" dirty="0"/>
              <a:t>"Production isn't a place — it's a promise."</a:t>
            </a:r>
          </a:p>
          <a:p>
            <a:endParaRPr lang="en-US" dirty="0"/>
          </a:p>
          <a:p>
            <a:r>
              <a:rPr lang="en-US" dirty="0"/>
              <a:t>Explain:</a:t>
            </a:r>
          </a:p>
          <a:p>
            <a:endParaRPr lang="en-US" dirty="0"/>
          </a:p>
          <a:p>
            <a:r>
              <a:rPr lang="en-US" dirty="0"/>
              <a:t>"Production means we're promising users something."</a:t>
            </a:r>
          </a:p>
          <a:p>
            <a:endParaRPr lang="en-US" dirty="0"/>
          </a:p>
          <a:p>
            <a:r>
              <a:rPr lang="en-US" dirty="0"/>
              <a:t>We're promising:</a:t>
            </a:r>
          </a:p>
          <a:p>
            <a:endParaRPr lang="en-US" dirty="0"/>
          </a:p>
          <a:p>
            <a:r>
              <a:rPr lang="en-US" dirty="0"/>
              <a:t>The application will work.</a:t>
            </a:r>
          </a:p>
          <a:p>
            <a:endParaRPr lang="en-US" dirty="0"/>
          </a:p>
          <a:p>
            <a:r>
              <a:rPr lang="en-US" dirty="0"/>
              <a:t>Their information will be protected.</a:t>
            </a:r>
          </a:p>
          <a:p>
            <a:endParaRPr lang="en-US" dirty="0"/>
          </a:p>
          <a:p>
            <a:r>
              <a:rPr lang="en-US" dirty="0"/>
              <a:t>We'll know when problems occur.</a:t>
            </a:r>
          </a:p>
          <a:p>
            <a:endParaRPr lang="en-US" dirty="0"/>
          </a:p>
          <a:p>
            <a:r>
              <a:rPr lang="en-US" dirty="0"/>
              <a:t>We'll respond to problems.</a:t>
            </a:r>
          </a:p>
          <a:p>
            <a:endParaRPr lang="en-US" dirty="0"/>
          </a:p>
          <a:p>
            <a:r>
              <a:rPr lang="en-US" dirty="0"/>
              <a:t>We'll maintain the service.</a:t>
            </a:r>
          </a:p>
          <a:p>
            <a:endParaRPr lang="en-US" dirty="0"/>
          </a:p>
          <a:p>
            <a:r>
              <a:rPr lang="en-US" dirty="0"/>
              <a:t>------------------------------------------------------------</a:t>
            </a:r>
          </a:p>
          <a:p>
            <a:endParaRPr lang="en-US" dirty="0"/>
          </a:p>
          <a:p>
            <a:r>
              <a:rPr lang="en-US" dirty="0"/>
              <a:t>READY FOR REAL USERS?</a:t>
            </a:r>
          </a:p>
          <a:p>
            <a:endParaRPr lang="en-US" dirty="0"/>
          </a:p>
          <a:p>
            <a:r>
              <a:rPr lang="en-US" dirty="0"/>
              <a:t>Point to the green section.</a:t>
            </a:r>
          </a:p>
          <a:p>
            <a:endParaRPr lang="en-US" dirty="0"/>
          </a:p>
          <a:p>
            <a:r>
              <a:rPr lang="en-US" dirty="0"/>
              <a:t>Ask:</a:t>
            </a:r>
          </a:p>
          <a:p>
            <a:endParaRPr lang="en-US" dirty="0"/>
          </a:p>
          <a:p>
            <a:r>
              <a:rPr lang="en-US" dirty="0"/>
              <a:t>"When is Atlas ready?"</a:t>
            </a:r>
          </a:p>
          <a:p>
            <a:endParaRPr lang="en-US" dirty="0"/>
          </a:p>
          <a:p>
            <a:r>
              <a:rPr lang="en-US" dirty="0"/>
              <a:t>Answer:</a:t>
            </a:r>
          </a:p>
          <a:p>
            <a:endParaRPr lang="en-US" dirty="0"/>
          </a:p>
          <a:p>
            <a:r>
              <a:rPr lang="en-US" dirty="0"/>
              <a:t>"When Atlas is configured, tested, monitored, and ready to operate."</a:t>
            </a:r>
          </a:p>
          <a:p>
            <a:endParaRPr lang="en-US" dirty="0"/>
          </a:p>
          <a:p>
            <a:r>
              <a:rPr lang="en-US" dirty="0"/>
              <a:t>Not:</a:t>
            </a:r>
          </a:p>
          <a:p>
            <a:endParaRPr lang="en-US" dirty="0"/>
          </a:p>
          <a:p>
            <a:r>
              <a:rPr lang="en-US" dirty="0"/>
              <a:t>"When the code compiles."</a:t>
            </a:r>
          </a:p>
          <a:p>
            <a:endParaRPr lang="en-US" dirty="0"/>
          </a:p>
          <a:p>
            <a:r>
              <a:rPr lang="en-US" dirty="0"/>
              <a:t>Not:</a:t>
            </a:r>
          </a:p>
          <a:p>
            <a:endParaRPr lang="en-US" dirty="0"/>
          </a:p>
          <a:p>
            <a:r>
              <a:rPr lang="en-US" dirty="0"/>
              <a:t>"When the demo works."</a:t>
            </a:r>
          </a:p>
          <a:p>
            <a:endParaRPr lang="en-US" dirty="0"/>
          </a:p>
          <a:p>
            <a:r>
              <a:rPr lang="en-US" dirty="0"/>
              <a:t>Not:</a:t>
            </a:r>
          </a:p>
          <a:p>
            <a:endParaRPr lang="en-US" dirty="0"/>
          </a:p>
          <a:p>
            <a:r>
              <a:rPr lang="en-US" dirty="0"/>
              <a:t>"When the deadline arrives."</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"Which environment should be the most carefully controlled?"</a:t>
            </a:r>
          </a:p>
          <a:p>
            <a:endParaRPr lang="en-US" dirty="0"/>
          </a:p>
          <a:p>
            <a:r>
              <a:rPr lang="en-US" dirty="0"/>
              <a:t>Production.</a:t>
            </a:r>
          </a:p>
          <a:p>
            <a:endParaRPr lang="en-US" dirty="0"/>
          </a:p>
          <a:p>
            <a:r>
              <a:rPr lang="en-US" dirty="0"/>
              <a:t>Ask:</a:t>
            </a:r>
          </a:p>
          <a:p>
            <a:endParaRPr lang="en-US" dirty="0"/>
          </a:p>
          <a:p>
            <a:r>
              <a:rPr lang="en-US" dirty="0"/>
              <a:t>"Which environment should change most frequently?"</a:t>
            </a:r>
          </a:p>
          <a:p>
            <a:endParaRPr lang="en-US" dirty="0"/>
          </a:p>
          <a:p>
            <a:r>
              <a:rPr lang="en-US" dirty="0"/>
              <a:t>Development.</a:t>
            </a:r>
          </a:p>
          <a:p>
            <a:endParaRPr lang="en-US" dirty="0"/>
          </a:p>
          <a:p>
            <a:r>
              <a:rPr lang="en-US" dirty="0"/>
              <a:t>Ask:</a:t>
            </a:r>
          </a:p>
          <a:p>
            <a:endParaRPr lang="en-US" dirty="0"/>
          </a:p>
          <a:p>
            <a:r>
              <a:rPr lang="en-US" dirty="0"/>
              <a:t>"Which environment should most closely resemble production?"</a:t>
            </a:r>
          </a:p>
          <a:p>
            <a:endParaRPr lang="en-US" dirty="0"/>
          </a:p>
          <a:p>
            <a:r>
              <a:rPr lang="en-US" dirty="0"/>
              <a:t>Staging.</a:t>
            </a:r>
          </a:p>
          <a:p>
            <a:endParaRPr lang="en-US" dirty="0"/>
          </a:p>
          <a:p>
            <a:r>
              <a:rPr lang="en-US" dirty="0"/>
              <a:t>Ask:</a:t>
            </a:r>
          </a:p>
          <a:p>
            <a:endParaRPr lang="en-US" dirty="0"/>
          </a:p>
          <a:p>
            <a:r>
              <a:rPr lang="en-US" dirty="0"/>
              <a:t>"Which environment gives us evidence?"</a:t>
            </a:r>
          </a:p>
          <a:p>
            <a:endParaRPr lang="en-US" dirty="0"/>
          </a:p>
          <a:p>
            <a:r>
              <a:rPr lang="en-US" dirty="0"/>
              <a:t>Testing.</a:t>
            </a:r>
          </a:p>
          <a:p>
            <a:endParaRPr lang="en-US" dirty="0"/>
          </a:p>
          <a:p>
            <a:r>
              <a:rPr lang="en-US" dirty="0"/>
              <a:t>------------------------------------------------------------</a:t>
            </a:r>
          </a:p>
          <a:p>
            <a:endParaRPr lang="en-US" dirty="0"/>
          </a:p>
          <a:p>
            <a:r>
              <a:rPr lang="en-US" dirty="0"/>
              <a:t>ATLAS EXAMPLE</a:t>
            </a:r>
          </a:p>
          <a:p>
            <a:endParaRPr lang="en-US" dirty="0"/>
          </a:p>
          <a:p>
            <a:r>
              <a:rPr lang="en-US" dirty="0"/>
              <a:t>Walk through a hypothetical Atlas change.</a:t>
            </a:r>
          </a:p>
          <a:p>
            <a:endParaRPr lang="en-US" dirty="0"/>
          </a:p>
          <a:p>
            <a:r>
              <a:rPr lang="en-US" dirty="0"/>
              <a:t>Feature:</a:t>
            </a:r>
          </a:p>
          <a:p>
            <a:endParaRPr lang="en-US" dirty="0"/>
          </a:p>
          <a:p>
            <a:r>
              <a:rPr lang="en-US" dirty="0"/>
              <a:t>"Task Due Date Notifications"</a:t>
            </a:r>
          </a:p>
          <a:p>
            <a:endParaRPr lang="en-US" dirty="0"/>
          </a:p>
          <a:p>
            <a:r>
              <a:rPr lang="en-US" dirty="0"/>
              <a:t>Development:</a:t>
            </a:r>
          </a:p>
          <a:p>
            <a:endParaRPr lang="en-US" dirty="0"/>
          </a:p>
          <a:p>
            <a:r>
              <a:rPr lang="en-US" dirty="0"/>
              <a:t>Build feature.</a:t>
            </a:r>
          </a:p>
          <a:p>
            <a:endParaRPr lang="en-US" dirty="0"/>
          </a:p>
          <a:p>
            <a:r>
              <a:rPr lang="en-US" dirty="0"/>
              <a:t>Testing:</a:t>
            </a:r>
          </a:p>
          <a:p>
            <a:endParaRPr lang="en-US" dirty="0"/>
          </a:p>
          <a:p>
            <a:r>
              <a:rPr lang="en-US" dirty="0"/>
              <a:t>Verify behavior.</a:t>
            </a:r>
          </a:p>
          <a:p>
            <a:endParaRPr lang="en-US" dirty="0"/>
          </a:p>
          <a:p>
            <a:r>
              <a:rPr lang="en-US" dirty="0"/>
              <a:t>Staging:</a:t>
            </a:r>
          </a:p>
          <a:p>
            <a:endParaRPr lang="en-US" dirty="0"/>
          </a:p>
          <a:p>
            <a:r>
              <a:rPr lang="en-US" dirty="0"/>
              <a:t>Verify deployment and configuration.</a:t>
            </a:r>
          </a:p>
          <a:p>
            <a:endParaRPr lang="en-US" dirty="0"/>
          </a:p>
          <a:p>
            <a:r>
              <a:rPr lang="en-US" dirty="0"/>
              <a:t>Production:</a:t>
            </a:r>
          </a:p>
          <a:p>
            <a:endParaRPr lang="en-US" dirty="0"/>
          </a:p>
          <a:p>
            <a:r>
              <a:rPr lang="en-US" dirty="0"/>
              <a:t>Release.</a:t>
            </a:r>
          </a:p>
          <a:p>
            <a:endParaRPr lang="en-US" dirty="0"/>
          </a:p>
          <a:p>
            <a:r>
              <a:rPr lang="en-US" dirty="0"/>
              <a:t>Monitor.</a:t>
            </a:r>
          </a:p>
          <a:p>
            <a:endParaRPr lang="en-US" dirty="0"/>
          </a:p>
          <a:p>
            <a:r>
              <a:rPr lang="en-US" dirty="0"/>
              <a:t>Explain:</a:t>
            </a:r>
          </a:p>
          <a:p>
            <a:endParaRPr lang="en-US" dirty="0"/>
          </a:p>
          <a:p>
            <a:r>
              <a:rPr lang="en-US" dirty="0"/>
              <a:t>"We don't want the first time we discover a deployment problem to</a:t>
            </a:r>
          </a:p>
          <a:p>
            <a:r>
              <a:rPr lang="en-US" dirty="0"/>
              <a:t>be when a customer is waiting for the feature."</a:t>
            </a:r>
          </a:p>
          <a:p>
            <a:endParaRPr lang="en-US" dirty="0"/>
          </a:p>
          <a:p>
            <a:r>
              <a:rPr lang="en-US" dirty="0"/>
              <a:t>------------------------------------------------------------</a:t>
            </a:r>
          </a:p>
          <a:p>
            <a:endParaRPr lang="en-US" dirty="0"/>
          </a:p>
          <a:p>
            <a:r>
              <a:rPr lang="en-US" dirty="0"/>
              <a:t>ENGINEERING PRINCIPLE</a:t>
            </a:r>
          </a:p>
          <a:p>
            <a:endParaRPr lang="en-US" dirty="0"/>
          </a:p>
          <a:p>
            <a:r>
              <a:rPr lang="en-US" dirty="0"/>
              <a:t>Point to:</a:t>
            </a:r>
          </a:p>
          <a:p>
            <a:endParaRPr lang="en-US" dirty="0"/>
          </a:p>
          <a:p>
            <a:r>
              <a:rPr lang="en-US" dirty="0"/>
              <a:t>"Plan the work.</a:t>
            </a:r>
          </a:p>
          <a:p>
            <a:endParaRPr lang="en-US" dirty="0"/>
          </a:p>
          <a:p>
            <a:r>
              <a:rPr lang="en-US" dirty="0"/>
              <a:t>Test the work.</a:t>
            </a:r>
          </a:p>
          <a:p>
            <a:endParaRPr lang="en-US" dirty="0"/>
          </a:p>
          <a:p>
            <a:r>
              <a:rPr lang="en-US" dirty="0"/>
              <a:t>Validate the work.</a:t>
            </a:r>
          </a:p>
          <a:p>
            <a:endParaRPr lang="en-US" dirty="0"/>
          </a:p>
          <a:p>
            <a:r>
              <a:rPr lang="en-US" dirty="0"/>
              <a:t>Then, and only then, release the work."</a:t>
            </a:r>
          </a:p>
          <a:p>
            <a:endParaRPr lang="en-US" dirty="0"/>
          </a:p>
          <a:p>
            <a:r>
              <a:rPr lang="en-US" dirty="0"/>
              <a:t>Explain:</a:t>
            </a:r>
          </a:p>
          <a:p>
            <a:endParaRPr lang="en-US" dirty="0"/>
          </a:p>
          <a:p>
            <a:r>
              <a:rPr lang="en-US" dirty="0"/>
              <a:t>"This is the discipline that separates a controlled deployment from</a:t>
            </a:r>
          </a:p>
          <a:p>
            <a:r>
              <a:rPr lang="en-US" dirty="0"/>
              <a:t>a hopeful deployment."</a:t>
            </a:r>
          </a:p>
          <a:p>
            <a:endParaRPr lang="en-US" dirty="0"/>
          </a:p>
          <a:p>
            <a:r>
              <a:rPr lang="en-US" dirty="0"/>
              <a:t>------------------------------------------------------------</a:t>
            </a:r>
          </a:p>
          <a:p>
            <a:endParaRPr lang="en-US" dirty="0"/>
          </a:p>
          <a:p>
            <a:r>
              <a:rPr lang="en-US" dirty="0"/>
              <a:t>SPRINT CONNECTION</a:t>
            </a:r>
          </a:p>
          <a:p>
            <a:endParaRPr lang="en-US" dirty="0"/>
          </a:p>
          <a:p>
            <a:r>
              <a:rPr lang="en-US" dirty="0"/>
              <a:t>Point to Sprint 7.</a:t>
            </a:r>
          </a:p>
          <a:p>
            <a:endParaRPr lang="en-US" dirty="0"/>
          </a:p>
          <a:p>
            <a:r>
              <a:rPr lang="en-US" dirty="0"/>
              <a:t>Say:</a:t>
            </a:r>
          </a:p>
          <a:p>
            <a:endParaRPr lang="en-US" dirty="0"/>
          </a:p>
          <a:p>
            <a:r>
              <a:rPr lang="en-US" dirty="0"/>
              <a:t>"We're preparing Atlas."</a:t>
            </a:r>
          </a:p>
          <a:p>
            <a:endParaRPr lang="en-US" dirty="0"/>
          </a:p>
          <a:p>
            <a:r>
              <a:rPr lang="en-US" dirty="0"/>
              <a:t>We've now discussed:</a:t>
            </a:r>
          </a:p>
          <a:p>
            <a:endParaRPr lang="en-US" dirty="0"/>
          </a:p>
          <a:p>
            <a:r>
              <a:rPr lang="en-US" dirty="0"/>
              <a:t>Readiness.</a:t>
            </a:r>
          </a:p>
          <a:p>
            <a:endParaRPr lang="en-US" dirty="0"/>
          </a:p>
          <a:p>
            <a:r>
              <a:rPr lang="en-US" dirty="0"/>
              <a:t>Environments.</a:t>
            </a:r>
          </a:p>
          <a:p>
            <a:endParaRPr lang="en-US" dirty="0"/>
          </a:p>
          <a:p>
            <a:r>
              <a:rPr lang="en-US" dirty="0"/>
              <a:t>Configuration.</a:t>
            </a:r>
          </a:p>
          <a:p>
            <a:endParaRPr lang="en-US" dirty="0"/>
          </a:p>
          <a:p>
            <a:r>
              <a:rPr lang="en-US" dirty="0"/>
              <a:t>Deployment.</a:t>
            </a:r>
          </a:p>
          <a:p>
            <a:endParaRPr lang="en-US" dirty="0"/>
          </a:p>
          <a:p>
            <a:r>
              <a:rPr lang="en-US" dirty="0"/>
              <a:t>Monitoring.</a:t>
            </a:r>
          </a:p>
          <a:p>
            <a:endParaRPr lang="en-US" dirty="0"/>
          </a:p>
          <a:p>
            <a:r>
              <a:rPr lang="en-US" dirty="0"/>
              <a:t>Next:</a:t>
            </a:r>
          </a:p>
          <a:p>
            <a:endParaRPr lang="en-US" dirty="0"/>
          </a:p>
          <a:p>
            <a:r>
              <a:rPr lang="en-US" dirty="0"/>
              <a:t>Reliability.</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MAKE IT RELIABLE.</a:t>
            </a:r>
          </a:p>
          <a:p>
            <a:endParaRPr lang="en-US" dirty="0"/>
          </a:p>
          <a:p>
            <a:r>
              <a:rPr lang="en-US" dirty="0"/>
              <a:t>Say:</a:t>
            </a:r>
          </a:p>
          <a:p>
            <a:endParaRPr lang="en-US" dirty="0"/>
          </a:p>
          <a:p>
            <a:r>
              <a:rPr lang="en-US" dirty="0"/>
              <a:t>"Now that we understand where Atlas is going..."</a:t>
            </a:r>
          </a:p>
          <a:p>
            <a:endParaRPr lang="en-US" dirty="0"/>
          </a:p>
          <a:p>
            <a:r>
              <a:rPr lang="en-US" dirty="0"/>
              <a:t>"We need to ask another question."</a:t>
            </a:r>
          </a:p>
          <a:p>
            <a:endParaRPr lang="en-US" dirty="0"/>
          </a:p>
          <a:p>
            <a:r>
              <a:rPr lang="en-US" dirty="0"/>
              <a:t>"What happens when things don't go according to plan?"</a:t>
            </a:r>
          </a:p>
          <a:p>
            <a:endParaRPr lang="en-US" dirty="0"/>
          </a:p>
          <a:p>
            <a:r>
              <a:rPr lang="en-US" dirty="0"/>
              <a:t>That's reliability.</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"Engineers don't just ask..."</a:t>
            </a:r>
          </a:p>
          <a:p>
            <a:endParaRPr lang="en-US" dirty="0"/>
          </a:p>
          <a:p>
            <a:r>
              <a:rPr lang="en-US" dirty="0"/>
              <a:t>"Can we deploy it?"</a:t>
            </a:r>
          </a:p>
          <a:p>
            <a:endParaRPr lang="en-US" dirty="0"/>
          </a:p>
          <a:p>
            <a:r>
              <a:rPr lang="en-US" dirty="0"/>
              <a:t>"We ask..."</a:t>
            </a:r>
          </a:p>
          <a:p>
            <a:endParaRPr lang="en-US" dirty="0"/>
          </a:p>
          <a:p>
            <a:r>
              <a:rPr lang="en-US" dirty="0"/>
              <a:t>"Can we deploy it responsibly?"</a:t>
            </a:r>
          </a:p>
          <a:p>
            <a:endParaRPr lang="en-US" dirty="0"/>
          </a:p>
          <a:p>
            <a:r>
              <a:rPr lang="en-US" dirty="0"/>
              <a:t>Pause.</a:t>
            </a:r>
          </a:p>
          <a:p>
            <a:endParaRPr lang="en-US" dirty="0"/>
          </a:p>
          <a:p>
            <a:r>
              <a:rPr lang="en-US" dirty="0"/>
              <a:t>"Build."</a:t>
            </a:r>
          </a:p>
          <a:p>
            <a:endParaRPr lang="en-US" dirty="0"/>
          </a:p>
          <a:p>
            <a:r>
              <a:rPr lang="en-US" dirty="0"/>
              <a:t>"Validate."</a:t>
            </a:r>
          </a:p>
          <a:p>
            <a:endParaRPr lang="en-US" dirty="0"/>
          </a:p>
          <a:p>
            <a:r>
              <a:rPr lang="en-US" dirty="0"/>
              <a:t>"Configure."</a:t>
            </a:r>
          </a:p>
          <a:p>
            <a:endParaRPr lang="en-US" dirty="0"/>
          </a:p>
          <a:p>
            <a:r>
              <a:rPr lang="en-US" dirty="0"/>
              <a:t>"Deploy."</a:t>
            </a:r>
          </a:p>
          <a:p>
            <a:endParaRPr lang="en-US" dirty="0"/>
          </a:p>
          <a:p>
            <a:r>
              <a:rPr lang="en-US" dirty="0"/>
              <a:t>"Monitor."</a:t>
            </a:r>
          </a:p>
          <a:p>
            <a:endParaRPr lang="en-US" dirty="0"/>
          </a:p>
          <a:p>
            <a:r>
              <a:rPr lang="en-US" dirty="0"/>
              <a:t>"Then improve."</a:t>
            </a:r>
          </a:p>
          <a:p>
            <a:endParaRPr lang="en-US" dirty="0"/>
          </a:p>
          <a:p>
            <a:r>
              <a:rPr lang="en-US" dirty="0"/>
              <a:t>============================================================</a:t>
            </a:r>
          </a:p>
          <a:p>
            <a:endParaRPr lang="en-US" dirty="0"/>
          </a:p>
          <a:p>
            <a:r>
              <a:rPr lang="en-US" dirty="0"/>
              <a:t>ESTIMATED TIME</a:t>
            </a:r>
          </a:p>
          <a:p>
            <a:endParaRPr lang="en-US" dirty="0"/>
          </a:p>
          <a:p>
            <a:r>
              <a:rPr lang="en-US" dirty="0"/>
              <a:t>Opening &amp; Environment Concept...........8 minutes</a:t>
            </a:r>
          </a:p>
          <a:p>
            <a:endParaRPr lang="en-US" dirty="0"/>
          </a:p>
          <a:p>
            <a:r>
              <a:rPr lang="en-US" dirty="0"/>
              <a:t>Development / Testing / Staging / Prod..15 minutes</a:t>
            </a:r>
          </a:p>
          <a:p>
            <a:endParaRPr lang="en-US" dirty="0"/>
          </a:p>
          <a:p>
            <a:r>
              <a:rPr lang="en-US" dirty="0"/>
              <a:t>Configuration............................10 minutes</a:t>
            </a:r>
          </a:p>
          <a:p>
            <a:endParaRPr lang="en-US" dirty="0"/>
          </a:p>
          <a:p>
            <a:r>
              <a:rPr lang="en-US" dirty="0"/>
              <a:t>Deployment Flow..........................10 minutes</a:t>
            </a:r>
          </a:p>
          <a:p>
            <a:endParaRPr lang="en-US" dirty="0"/>
          </a:p>
          <a:p>
            <a:r>
              <a:rPr lang="en-US" dirty="0"/>
              <a:t>Monitoring &amp; Operations...................8 minutes</a:t>
            </a:r>
          </a:p>
          <a:p>
            <a:endParaRPr lang="en-US" dirty="0"/>
          </a:p>
          <a:p>
            <a:r>
              <a:rPr lang="en-US" dirty="0"/>
              <a:t>Pitfalls Discussion......................7 minutes</a:t>
            </a:r>
          </a:p>
          <a:p>
            <a:endParaRPr lang="en-US" dirty="0"/>
          </a:p>
          <a:p>
            <a:r>
              <a:rPr lang="en-US" dirty="0"/>
              <a:t>Class Discussion &amp; Closing...............7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Keep this practical.</a:t>
            </a:r>
          </a:p>
          <a:p>
            <a:endParaRPr lang="en-US" dirty="0"/>
          </a:p>
          <a:p>
            <a:r>
              <a:rPr lang="en-US" dirty="0"/>
              <a:t>Students should understand the environment lifecycle without</a:t>
            </a:r>
          </a:p>
          <a:p>
            <a:r>
              <a:rPr lang="en-US" dirty="0"/>
              <a:t>becoming overwhelmed by enterprise DevOps terminology.</a:t>
            </a:r>
          </a:p>
          <a:p>
            <a:endParaRPr lang="en-US" dirty="0"/>
          </a:p>
          <a:p>
            <a:r>
              <a:rPr lang="en-US" dirty="0"/>
              <a:t>------------------------------------------------------------</a:t>
            </a:r>
          </a:p>
          <a:p>
            <a:endParaRPr lang="en-US" dirty="0"/>
          </a:p>
          <a:p>
            <a:r>
              <a:rPr lang="en-US" dirty="0"/>
              <a:t>IMPORTANT TEACHING MOVE</a:t>
            </a:r>
          </a:p>
          <a:p>
            <a:endParaRPr lang="en-US" dirty="0"/>
          </a:p>
          <a:p>
            <a:r>
              <a:rPr lang="en-US" dirty="0"/>
              <a:t>Keep returning to:</a:t>
            </a:r>
          </a:p>
          <a:p>
            <a:endParaRPr lang="en-US" dirty="0"/>
          </a:p>
          <a:p>
            <a:r>
              <a:rPr lang="en-US" dirty="0"/>
              <a:t>"Same application. Different expectations."</a:t>
            </a:r>
          </a:p>
          <a:p>
            <a:endParaRPr lang="en-US" dirty="0"/>
          </a:p>
          <a:p>
            <a:r>
              <a:rPr lang="en-US" dirty="0"/>
              <a:t>This is the core concept.</a:t>
            </a:r>
          </a:p>
          <a:p>
            <a:endParaRPr lang="en-US" dirty="0"/>
          </a:p>
          <a:p>
            <a:r>
              <a:rPr lang="en-US" dirty="0"/>
              <a:t>------------------------------------------------------------</a:t>
            </a:r>
          </a:p>
          <a:p>
            <a:endParaRPr lang="en-US" dirty="0"/>
          </a:p>
          <a:p>
            <a:r>
              <a:rPr lang="en-US" dirty="0"/>
              <a:t>DEVELOPMENT</a:t>
            </a:r>
          </a:p>
          <a:p>
            <a:endParaRPr lang="en-US" dirty="0"/>
          </a:p>
          <a:p>
            <a:r>
              <a:rPr lang="en-US" dirty="0"/>
              <a:t>Optimize for:</a:t>
            </a:r>
          </a:p>
          <a:p>
            <a:endParaRPr lang="en-US" dirty="0"/>
          </a:p>
          <a:p>
            <a:r>
              <a:rPr lang="en-US" dirty="0"/>
              <a:t>Speed.</a:t>
            </a:r>
          </a:p>
          <a:p>
            <a:endParaRPr lang="en-US" dirty="0"/>
          </a:p>
          <a:p>
            <a:r>
              <a:rPr lang="en-US" dirty="0"/>
              <a:t>Experimentation.</a:t>
            </a:r>
          </a:p>
          <a:p>
            <a:endParaRPr lang="en-US" dirty="0"/>
          </a:p>
          <a:p>
            <a:r>
              <a:rPr lang="en-US" dirty="0"/>
              <a:t>Debugging.</a:t>
            </a:r>
          </a:p>
          <a:p>
            <a:endParaRPr lang="en-US" dirty="0"/>
          </a:p>
          <a:p>
            <a:r>
              <a:rPr lang="en-US" dirty="0"/>
              <a:t>------------------------------------------------------------</a:t>
            </a:r>
          </a:p>
          <a:p>
            <a:endParaRPr lang="en-US" dirty="0"/>
          </a:p>
          <a:p>
            <a:r>
              <a:rPr lang="en-US" dirty="0"/>
              <a:t>TESTING</a:t>
            </a:r>
          </a:p>
          <a:p>
            <a:endParaRPr lang="en-US" dirty="0"/>
          </a:p>
          <a:p>
            <a:r>
              <a:rPr lang="en-US" dirty="0"/>
              <a:t>Optimize for:</a:t>
            </a:r>
          </a:p>
          <a:p>
            <a:endParaRPr lang="en-US" dirty="0"/>
          </a:p>
          <a:p>
            <a:r>
              <a:rPr lang="en-US" dirty="0"/>
              <a:t>Evidence.</a:t>
            </a:r>
          </a:p>
          <a:p>
            <a:endParaRPr lang="en-US" dirty="0"/>
          </a:p>
          <a:p>
            <a:r>
              <a:rPr lang="en-US" dirty="0"/>
              <a:t>Validation.</a:t>
            </a:r>
          </a:p>
          <a:p>
            <a:endParaRPr lang="en-US" dirty="0"/>
          </a:p>
          <a:p>
            <a:r>
              <a:rPr lang="en-US" dirty="0"/>
              <a:t>Quality.</a:t>
            </a:r>
          </a:p>
          <a:p>
            <a:endParaRPr lang="en-US" dirty="0"/>
          </a:p>
          <a:p>
            <a:r>
              <a:rPr lang="en-US" dirty="0"/>
              <a:t>------------------------------------------------------------</a:t>
            </a:r>
          </a:p>
          <a:p>
            <a:endParaRPr lang="en-US" dirty="0"/>
          </a:p>
          <a:p>
            <a:r>
              <a:rPr lang="en-US" dirty="0"/>
              <a:t>STAGING</a:t>
            </a:r>
          </a:p>
          <a:p>
            <a:endParaRPr lang="en-US" dirty="0"/>
          </a:p>
          <a:p>
            <a:r>
              <a:rPr lang="en-US" dirty="0"/>
              <a:t>Optimize for:</a:t>
            </a:r>
          </a:p>
          <a:p>
            <a:endParaRPr lang="en-US" dirty="0"/>
          </a:p>
          <a:p>
            <a:r>
              <a:rPr lang="en-US" dirty="0"/>
              <a:t>Readiness.</a:t>
            </a:r>
          </a:p>
          <a:p>
            <a:endParaRPr lang="en-US" dirty="0"/>
          </a:p>
          <a:p>
            <a:r>
              <a:rPr lang="en-US" dirty="0"/>
              <a:t>Production-like validation.</a:t>
            </a:r>
          </a:p>
          <a:p>
            <a:endParaRPr lang="en-US" dirty="0"/>
          </a:p>
          <a:p>
            <a:r>
              <a:rPr lang="en-US" dirty="0"/>
              <a:t>Deployment confidence.</a:t>
            </a:r>
          </a:p>
          <a:p>
            <a:endParaRPr lang="en-US" dirty="0"/>
          </a:p>
          <a:p>
            <a:r>
              <a:rPr lang="en-US" dirty="0"/>
              <a:t>------------------------------------------------------------</a:t>
            </a:r>
          </a:p>
          <a:p>
            <a:endParaRPr lang="en-US" dirty="0"/>
          </a:p>
          <a:p>
            <a:r>
              <a:rPr lang="en-US" dirty="0"/>
              <a:t>PRODUCTION</a:t>
            </a:r>
          </a:p>
          <a:p>
            <a:endParaRPr lang="en-US" dirty="0"/>
          </a:p>
          <a:p>
            <a:r>
              <a:rPr lang="en-US" dirty="0"/>
              <a:t>Optimize for:</a:t>
            </a:r>
          </a:p>
          <a:p>
            <a:endParaRPr lang="en-US" dirty="0"/>
          </a:p>
          <a:p>
            <a:r>
              <a:rPr lang="en-US" dirty="0"/>
              <a:t>Reliability.</a:t>
            </a:r>
          </a:p>
          <a:p>
            <a:endParaRPr lang="en-US" dirty="0"/>
          </a:p>
          <a:p>
            <a:r>
              <a:rPr lang="en-US" dirty="0"/>
              <a:t>Security.</a:t>
            </a:r>
          </a:p>
          <a:p>
            <a:endParaRPr lang="en-US" dirty="0"/>
          </a:p>
          <a:p>
            <a:r>
              <a:rPr lang="en-US" dirty="0"/>
              <a:t>Availability.</a:t>
            </a:r>
          </a:p>
          <a:p>
            <a:endParaRPr lang="en-US" dirty="0"/>
          </a:p>
          <a:p>
            <a:r>
              <a:rPr lang="en-US" dirty="0"/>
              <a:t>Real users.</a:t>
            </a:r>
          </a:p>
          <a:p>
            <a:endParaRPr lang="en-US" dirty="0"/>
          </a:p>
          <a:p>
            <a:r>
              <a:rPr lang="en-US" dirty="0"/>
              <a:t>------------------------------------------------------------</a:t>
            </a:r>
          </a:p>
          <a:p>
            <a:endParaRPr lang="en-US" dirty="0"/>
          </a:p>
          <a:p>
            <a:r>
              <a:rPr lang="en-US" dirty="0"/>
              <a:t>IMPORTANT BOUNDARY</a:t>
            </a:r>
          </a:p>
          <a:p>
            <a:endParaRPr lang="en-US" dirty="0"/>
          </a:p>
          <a:p>
            <a:r>
              <a:rPr lang="en-US" dirty="0"/>
              <a:t>Students do not need to build a full enterprise CI/CD pipeline for</a:t>
            </a:r>
          </a:p>
          <a:p>
            <a:r>
              <a:rPr lang="en-US" dirty="0"/>
              <a:t>this lesson.</a:t>
            </a:r>
          </a:p>
          <a:p>
            <a:endParaRPr lang="en-US" dirty="0"/>
          </a:p>
          <a:p>
            <a:r>
              <a:rPr lang="en-US" dirty="0"/>
              <a:t>The concept is:</a:t>
            </a:r>
          </a:p>
          <a:p>
            <a:endParaRPr lang="en-US" dirty="0"/>
          </a:p>
          <a:p>
            <a:r>
              <a:rPr lang="en-US" dirty="0"/>
              <a:t>Build → Validate → Configure → Deploy → Monitor.</a:t>
            </a:r>
          </a:p>
          <a:p>
            <a:endParaRPr lang="en-US" dirty="0"/>
          </a:p>
          <a:p>
            <a:r>
              <a:rPr lang="en-US" dirty="0"/>
              <a:t>They should understand the process before automating it.</a:t>
            </a:r>
          </a:p>
          <a:p>
            <a:endParaRPr lang="en-US" dirty="0"/>
          </a:p>
          <a:p>
            <a:r>
              <a:rPr lang="en-US" dirty="0"/>
              <a:t>------------------------------------------------------------</a:t>
            </a:r>
          </a:p>
          <a:p>
            <a:endParaRPr lang="en-US" dirty="0"/>
          </a:p>
          <a:p>
            <a:r>
              <a:rPr lang="en-US" dirty="0"/>
              <a:t>SECURITY REMINDER</a:t>
            </a:r>
          </a:p>
          <a:p>
            <a:endParaRPr lang="en-US" dirty="0"/>
          </a:p>
          <a:p>
            <a:r>
              <a:rPr lang="en-US" dirty="0"/>
              <a:t>Repeat:</a:t>
            </a:r>
          </a:p>
          <a:p>
            <a:endParaRPr lang="en-US" dirty="0"/>
          </a:p>
          <a:p>
            <a:r>
              <a:rPr lang="en-US" dirty="0"/>
              <a:t>"Never store production secrets in code or source control."</a:t>
            </a:r>
          </a:p>
          <a:p>
            <a:endParaRPr lang="en-US" dirty="0"/>
          </a:p>
          <a:p>
            <a:r>
              <a:rPr lang="en-US" dirty="0"/>
              <a:t>Connect directly to Sprint 6.</a:t>
            </a:r>
          </a:p>
          <a:p>
            <a:endParaRPr lang="en-US" dirty="0"/>
          </a:p>
          <a:p>
            <a:r>
              <a:rPr lang="en-US" dirty="0"/>
              <a:t>Security doesn't stop when Sprint 6 ends.</a:t>
            </a:r>
          </a:p>
          <a:p>
            <a:endParaRPr lang="en-US" dirty="0"/>
          </a:p>
          <a:p>
            <a:r>
              <a:rPr lang="en-US" dirty="0"/>
              <a:t>------------------------------------------------------------</a:t>
            </a:r>
          </a:p>
          <a:p>
            <a:endParaRPr lang="en-US" dirty="0"/>
          </a:p>
          <a:p>
            <a:r>
              <a:rPr lang="en-US" dirty="0"/>
              <a:t>PRODUCTION BOUNDARY</a:t>
            </a:r>
          </a:p>
          <a:p>
            <a:endParaRPr lang="en-US" dirty="0"/>
          </a:p>
          <a:p>
            <a:r>
              <a:rPr lang="en-US" dirty="0"/>
              <a:t>Make clear:</a:t>
            </a:r>
          </a:p>
          <a:p>
            <a:endParaRPr lang="en-US" dirty="0"/>
          </a:p>
          <a:p>
            <a:r>
              <a:rPr lang="en-US" dirty="0"/>
              <a:t>"Production-ready" in this course means appropriate for Atlas</a:t>
            </a:r>
          </a:p>
          <a:p>
            <a:r>
              <a:rPr lang="en-US" dirty="0" err="1"/>
              <a:t>TaskFlow</a:t>
            </a:r>
            <a:r>
              <a:rPr lang="en-US" dirty="0"/>
              <a:t> Version 1.0 and its intended scope.</a:t>
            </a:r>
          </a:p>
          <a:p>
            <a:endParaRPr lang="en-US" dirty="0"/>
          </a:p>
          <a:p>
            <a:r>
              <a:rPr lang="en-US" dirty="0"/>
              <a:t>It does not mean enterprise-scale infrastructure.</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DEVELOPMENT</a:t>
            </a:r>
          </a:p>
          <a:p>
            <a:endParaRPr lang="en-US" dirty="0"/>
          </a:p>
          <a:p>
            <a:r>
              <a:rPr lang="en-US" dirty="0"/>
              <a:t>BUILD IT</a:t>
            </a:r>
          </a:p>
          <a:p>
            <a:endParaRPr lang="en-US" dirty="0"/>
          </a:p>
          <a:p>
            <a:r>
              <a:rPr lang="en-US" dirty="0"/>
              <a:t>↓</a:t>
            </a:r>
          </a:p>
          <a:p>
            <a:endParaRPr lang="en-US" dirty="0"/>
          </a:p>
          <a:p>
            <a:r>
              <a:rPr lang="en-US" dirty="0"/>
              <a:t>TESTING</a:t>
            </a:r>
          </a:p>
          <a:p>
            <a:endParaRPr lang="en-US" dirty="0"/>
          </a:p>
          <a:p>
            <a:r>
              <a:rPr lang="en-US" dirty="0"/>
              <a:t>PROVE IT</a:t>
            </a:r>
          </a:p>
          <a:p>
            <a:endParaRPr lang="en-US" dirty="0"/>
          </a:p>
          <a:p>
            <a:r>
              <a:rPr lang="en-US" dirty="0"/>
              <a:t>↓</a:t>
            </a:r>
          </a:p>
          <a:p>
            <a:endParaRPr lang="en-US" dirty="0"/>
          </a:p>
          <a:p>
            <a:r>
              <a:rPr lang="en-US" dirty="0"/>
              <a:t>STAGING</a:t>
            </a:r>
          </a:p>
          <a:p>
            <a:endParaRPr lang="en-US" dirty="0"/>
          </a:p>
          <a:p>
            <a:r>
              <a:rPr lang="en-US" dirty="0"/>
              <a:t>PREPARE IT</a:t>
            </a:r>
          </a:p>
          <a:p>
            <a:endParaRPr lang="en-US" dirty="0"/>
          </a:p>
          <a:p>
            <a:r>
              <a:rPr lang="en-US" dirty="0"/>
              <a:t>↓</a:t>
            </a:r>
          </a:p>
          <a:p>
            <a:endParaRPr lang="en-US" dirty="0"/>
          </a:p>
          <a:p>
            <a:r>
              <a:rPr lang="en-US" dirty="0"/>
              <a:t>PRODUCTION</a:t>
            </a:r>
          </a:p>
          <a:p>
            <a:endParaRPr lang="en-US" dirty="0"/>
          </a:p>
          <a:p>
            <a:r>
              <a:rPr lang="en-US" dirty="0"/>
              <a:t>OPERATE IT</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"Production isn't where testing stops."</a:t>
            </a:r>
          </a:p>
          <a:p>
            <a:endParaRPr lang="en-US" dirty="0"/>
          </a:p>
          <a:p>
            <a:r>
              <a:rPr lang="en-US" dirty="0"/>
              <a:t>"Production is where responsibility begins."</a:t>
            </a:r>
          </a:p>
          <a:p>
            <a:endParaRPr lang="en-US" dirty="0"/>
          </a:p>
          <a:p>
            <a:r>
              <a:rPr lang="en-US" dirty="0"/>
              <a:t>============================================================</a:t>
            </a:r>
          </a:p>
        </p:txBody>
      </p:sp>
      <p:sp>
        <p:nvSpPr>
          <p:cNvPr id="4" name="Slide Number Placeholder 3"/>
          <p:cNvSpPr>
            <a:spLocks noGrp="1"/>
          </p:cNvSpPr>
          <p:nvPr>
            <p:ph type="sldNum" sz="quarter" idx="5"/>
          </p:nvPr>
        </p:nvSpPr>
        <p:spPr/>
        <p:txBody>
          <a:bodyPr/>
          <a:lstStyle/>
          <a:p>
            <a:fld id="{5AFC1053-384D-42E4-B963-6C2B9553F5DF}" type="slidenum">
              <a:rPr lang="en-US" smtClean="0"/>
              <a:t>2</a:t>
            </a:fld>
            <a:endParaRPr lang="en-US"/>
          </a:p>
        </p:txBody>
      </p:sp>
    </p:spTree>
    <p:extLst>
      <p:ext uri="{BB962C8B-B14F-4D97-AF65-F5344CB8AC3E}">
        <p14:creationId xmlns:p14="http://schemas.microsoft.com/office/powerpoint/2010/main" val="1330087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7</a:t>
            </a:r>
          </a:p>
          <a:p>
            <a:endParaRPr lang="en-US" dirty="0"/>
          </a:p>
          <a:p>
            <a:r>
              <a:rPr lang="en-US" dirty="0"/>
              <a:t>MAKE IT RELIABLE</a:t>
            </a:r>
          </a:p>
          <a:p>
            <a:endParaRPr lang="en-US" dirty="0"/>
          </a:p>
          <a:p>
            <a:r>
              <a:rPr lang="en-US" dirty="0"/>
              <a:t>"Build Atlas </a:t>
            </a:r>
            <a:r>
              <a:rPr lang="en-US" dirty="0" err="1"/>
              <a:t>TaskFlow</a:t>
            </a:r>
            <a:r>
              <a:rPr lang="en-US" dirty="0"/>
              <a:t> so it handles problems and keeps working."</a:t>
            </a:r>
          </a:p>
          <a:p>
            <a:endParaRPr lang="en-US" dirty="0"/>
          </a:p>
          <a:p>
            <a:r>
              <a:rPr lang="en-US" dirty="0"/>
              <a:t>============================================================</a:t>
            </a:r>
          </a:p>
          <a:p>
            <a:endParaRPr lang="en-US" dirty="0"/>
          </a:p>
          <a:p>
            <a:r>
              <a:rPr lang="en-US" dirty="0"/>
              <a:t>SLIDE PURPOSE</a:t>
            </a:r>
          </a:p>
          <a:p>
            <a:endParaRPr lang="en-US" dirty="0"/>
          </a:p>
          <a:p>
            <a:r>
              <a:rPr lang="en-US" dirty="0"/>
              <a:t>Teach students that reliability is not the absence of failure.</a:t>
            </a:r>
          </a:p>
          <a:p>
            <a:endParaRPr lang="en-US" dirty="0"/>
          </a:p>
          <a:p>
            <a:r>
              <a:rPr lang="en-US" dirty="0"/>
              <a:t>Reliable systems:</a:t>
            </a:r>
          </a:p>
          <a:p>
            <a:endParaRPr lang="en-US" dirty="0"/>
          </a:p>
          <a:p>
            <a:r>
              <a:rPr lang="en-US" dirty="0"/>
              <a:t>• Anticipate problems.</a:t>
            </a:r>
          </a:p>
          <a:p>
            <a:r>
              <a:rPr lang="en-US" dirty="0"/>
              <a:t>• Handle failures gracefully.</a:t>
            </a:r>
          </a:p>
          <a:p>
            <a:r>
              <a:rPr lang="en-US" dirty="0"/>
              <a:t>• Protect important data.</a:t>
            </a:r>
          </a:p>
          <a:p>
            <a:r>
              <a:rPr lang="en-US" dirty="0"/>
              <a:t>• Recover when failures occur.</a:t>
            </a:r>
          </a:p>
          <a:p>
            <a:r>
              <a:rPr lang="en-US" dirty="0"/>
              <a:t>• Give users useful feedback.</a:t>
            </a:r>
          </a:p>
          <a:p>
            <a:r>
              <a:rPr lang="en-US" dirty="0"/>
              <a:t>• Record enough information to diagnose problems.</a:t>
            </a:r>
          </a:p>
          <a:p>
            <a:r>
              <a:rPr lang="en-US" dirty="0"/>
              <a:t>• Continue operating when possible.</a:t>
            </a:r>
          </a:p>
          <a:p>
            <a:endParaRPr lang="en-US" dirty="0"/>
          </a:p>
          <a:p>
            <a:r>
              <a:rPr lang="en-US" dirty="0"/>
              <a:t>The goal is to shift students from:</a:t>
            </a:r>
          </a:p>
          <a:p>
            <a:endParaRPr lang="en-US" dirty="0"/>
          </a:p>
          <a:p>
            <a:r>
              <a:rPr lang="en-US" dirty="0"/>
              <a:t>"It works when everything goes right."</a:t>
            </a:r>
          </a:p>
          <a:p>
            <a:endParaRPr lang="en-US" dirty="0"/>
          </a:p>
          <a:p>
            <a:r>
              <a:rPr lang="en-US" dirty="0"/>
              <a:t>to:</a:t>
            </a:r>
          </a:p>
          <a:p>
            <a:endParaRPr lang="en-US" dirty="0"/>
          </a:p>
          <a:p>
            <a:r>
              <a:rPr lang="en-US" dirty="0"/>
              <a:t>"It behaves appropriately when something goes wrong."</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"Let's assume something is going to go wrong."</a:t>
            </a:r>
          </a:p>
          <a:p>
            <a:endParaRPr lang="en-US" dirty="0"/>
          </a:p>
          <a:p>
            <a:r>
              <a:rPr lang="en-US" dirty="0"/>
              <a:t>Pause.</a:t>
            </a:r>
          </a:p>
          <a:p>
            <a:endParaRPr lang="en-US" dirty="0"/>
          </a:p>
          <a:p>
            <a:r>
              <a:rPr lang="en-US" dirty="0"/>
              <a:t>"Not because we're bad developers."</a:t>
            </a:r>
          </a:p>
          <a:p>
            <a:endParaRPr lang="en-US" dirty="0"/>
          </a:p>
          <a:p>
            <a:r>
              <a:rPr lang="en-US" dirty="0"/>
              <a:t>"Because systems fail."</a:t>
            </a:r>
          </a:p>
          <a:p>
            <a:endParaRPr lang="en-US" dirty="0"/>
          </a:p>
          <a:p>
            <a:r>
              <a:rPr lang="en-US" dirty="0"/>
              <a:t>Ask:</a:t>
            </a:r>
          </a:p>
          <a:p>
            <a:endParaRPr lang="en-US" dirty="0"/>
          </a:p>
          <a:p>
            <a:r>
              <a:rPr lang="en-US" dirty="0"/>
              <a:t>"What can go wrong?"</a:t>
            </a:r>
          </a:p>
          <a:p>
            <a:endParaRPr lang="en-US" dirty="0"/>
          </a:p>
          <a:p>
            <a:r>
              <a:rPr lang="en-US" dirty="0"/>
              <a:t>Let students respond.</a:t>
            </a:r>
          </a:p>
          <a:p>
            <a:endParaRPr lang="en-US" dirty="0"/>
          </a:p>
          <a:p>
            <a:r>
              <a:rPr lang="en-US" dirty="0"/>
              <a:t>Database.</a:t>
            </a:r>
          </a:p>
          <a:p>
            <a:endParaRPr lang="en-US" dirty="0"/>
          </a:p>
          <a:p>
            <a:r>
              <a:rPr lang="en-US" dirty="0"/>
              <a:t>Internet.</a:t>
            </a:r>
          </a:p>
          <a:p>
            <a:endParaRPr lang="en-US" dirty="0"/>
          </a:p>
          <a:p>
            <a:r>
              <a:rPr lang="en-US" dirty="0"/>
              <a:t>Server.</a:t>
            </a:r>
          </a:p>
          <a:p>
            <a:endParaRPr lang="en-US" dirty="0"/>
          </a:p>
          <a:p>
            <a:r>
              <a:rPr lang="en-US" dirty="0"/>
              <a:t>User input.</a:t>
            </a:r>
          </a:p>
          <a:p>
            <a:endParaRPr lang="en-US" dirty="0"/>
          </a:p>
          <a:p>
            <a:r>
              <a:rPr lang="en-US" dirty="0"/>
              <a:t>External API.</a:t>
            </a:r>
          </a:p>
          <a:p>
            <a:endParaRPr lang="en-US" dirty="0"/>
          </a:p>
          <a:p>
            <a:r>
              <a:rPr lang="en-US" dirty="0"/>
              <a:t>Configuration.</a:t>
            </a:r>
          </a:p>
          <a:p>
            <a:endParaRPr lang="en-US" dirty="0"/>
          </a:p>
          <a:p>
            <a:r>
              <a:rPr lang="en-US" dirty="0"/>
              <a:t>Authentication.</a:t>
            </a:r>
          </a:p>
          <a:p>
            <a:endParaRPr lang="en-US" dirty="0"/>
          </a:p>
          <a:p>
            <a:r>
              <a:rPr lang="en-US" dirty="0"/>
              <a:t>Storage.</a:t>
            </a:r>
          </a:p>
          <a:p>
            <a:endParaRPr lang="en-US" dirty="0"/>
          </a:p>
          <a:p>
            <a:r>
              <a:rPr lang="en-US" dirty="0"/>
              <a:t>Human error.</a:t>
            </a:r>
          </a:p>
          <a:p>
            <a:endParaRPr lang="en-US" dirty="0"/>
          </a:p>
          <a:p>
            <a:r>
              <a:rPr lang="en-US" dirty="0"/>
              <a:t>Exactly.</a:t>
            </a:r>
          </a:p>
          <a:p>
            <a:endParaRPr lang="en-US" dirty="0"/>
          </a:p>
          <a:p>
            <a:r>
              <a:rPr lang="en-US" dirty="0"/>
              <a:t>Say:</a:t>
            </a:r>
          </a:p>
          <a:p>
            <a:endParaRPr lang="en-US" dirty="0"/>
          </a:p>
          <a:p>
            <a:r>
              <a:rPr lang="en-US" dirty="0"/>
              <a:t>"Our job isn't to pretend those things won't happen."</a:t>
            </a:r>
          </a:p>
          <a:p>
            <a:endParaRPr lang="en-US" dirty="0"/>
          </a:p>
          <a:p>
            <a:r>
              <a:rPr lang="en-US" dirty="0"/>
              <a:t>"Our job is to prepare Atlas for them."</a:t>
            </a:r>
          </a:p>
          <a:p>
            <a:endParaRPr lang="en-US" dirty="0"/>
          </a:p>
          <a:p>
            <a:r>
              <a:rPr lang="en-US" dirty="0"/>
              <a:t>------------------------------------------------------------</a:t>
            </a:r>
          </a:p>
          <a:p>
            <a:endParaRPr lang="en-US" dirty="0"/>
          </a:p>
          <a:p>
            <a:r>
              <a:rPr lang="en-US" dirty="0"/>
              <a:t>THE BIG QUESTION</a:t>
            </a:r>
          </a:p>
          <a:p>
            <a:endParaRPr lang="en-US" dirty="0"/>
          </a:p>
          <a:p>
            <a:r>
              <a:rPr lang="en-US" dirty="0"/>
              <a:t>Point to:</a:t>
            </a:r>
          </a:p>
          <a:p>
            <a:endParaRPr lang="en-US" dirty="0"/>
          </a:p>
          <a:p>
            <a:r>
              <a:rPr lang="en-US" dirty="0"/>
              <a:t>"WHAT HAPPENS WHEN SOMETHING GOES WRONG?"</a:t>
            </a:r>
          </a:p>
          <a:p>
            <a:endParaRPr lang="en-US" dirty="0"/>
          </a:p>
          <a:p>
            <a:r>
              <a:rPr lang="en-US" dirty="0"/>
              <a:t>Say:</a:t>
            </a:r>
          </a:p>
          <a:p>
            <a:endParaRPr lang="en-US" dirty="0"/>
          </a:p>
          <a:p>
            <a:r>
              <a:rPr lang="en-US" dirty="0"/>
              <a:t>"This is the reliability question."</a:t>
            </a:r>
          </a:p>
          <a:p>
            <a:endParaRPr lang="en-US" dirty="0"/>
          </a:p>
          <a:p>
            <a:r>
              <a:rPr lang="en-US" dirty="0"/>
              <a:t>Not:</a:t>
            </a:r>
          </a:p>
          <a:p>
            <a:endParaRPr lang="en-US" dirty="0"/>
          </a:p>
          <a:p>
            <a:r>
              <a:rPr lang="en-US" dirty="0"/>
              <a:t>"Does Atlas work?"</a:t>
            </a:r>
          </a:p>
          <a:p>
            <a:endParaRPr lang="en-US" dirty="0"/>
          </a:p>
          <a:p>
            <a:r>
              <a:rPr lang="en-US" dirty="0"/>
              <a:t>But:</a:t>
            </a:r>
          </a:p>
          <a:p>
            <a:endParaRPr lang="en-US" dirty="0"/>
          </a:p>
          <a:p>
            <a:r>
              <a:rPr lang="en-US" dirty="0"/>
              <a:t>"What does Atlas do when it doesn't?"</a:t>
            </a:r>
          </a:p>
          <a:p>
            <a:endParaRPr lang="en-US" dirty="0"/>
          </a:p>
          <a:p>
            <a:r>
              <a:rPr lang="en-US" dirty="0"/>
              <a:t>------------------------------------------------------------</a:t>
            </a:r>
          </a:p>
          <a:p>
            <a:endParaRPr lang="en-US" dirty="0"/>
          </a:p>
          <a:p>
            <a:r>
              <a:rPr lang="en-US" dirty="0"/>
              <a:t>WHAT IS RELIABILITY?</a:t>
            </a:r>
          </a:p>
          <a:p>
            <a:endParaRPr lang="en-US" dirty="0"/>
          </a:p>
          <a:p>
            <a:r>
              <a:rPr lang="en-US" dirty="0"/>
              <a:t>Point to:</a:t>
            </a:r>
          </a:p>
          <a:p>
            <a:endParaRPr lang="en-US" dirty="0"/>
          </a:p>
          <a:p>
            <a:r>
              <a:rPr lang="en-US" dirty="0"/>
              <a:t>"Reliability is how we handle problems without letting users down."</a:t>
            </a:r>
          </a:p>
          <a:p>
            <a:endParaRPr lang="en-US" dirty="0"/>
          </a:p>
          <a:p>
            <a:r>
              <a:rPr lang="en-US" dirty="0"/>
              <a:t>Explain:</a:t>
            </a:r>
          </a:p>
          <a:p>
            <a:endParaRPr lang="en-US" dirty="0"/>
          </a:p>
          <a:p>
            <a:r>
              <a:rPr lang="en-US" dirty="0"/>
              <a:t>"Reliability doesn't mean nothing ever fails."</a:t>
            </a:r>
          </a:p>
          <a:p>
            <a:endParaRPr lang="en-US" dirty="0"/>
          </a:p>
          <a:p>
            <a:r>
              <a:rPr lang="en-US" dirty="0"/>
              <a:t>"It means failures are handled appropriately."</a:t>
            </a:r>
          </a:p>
          <a:p>
            <a:endParaRPr lang="en-US" dirty="0"/>
          </a:p>
          <a:p>
            <a:r>
              <a:rPr lang="en-US" dirty="0"/>
              <a:t>Examples:</a:t>
            </a:r>
          </a:p>
          <a:p>
            <a:endParaRPr lang="en-US" dirty="0"/>
          </a:p>
          <a:p>
            <a:r>
              <a:rPr lang="en-US" dirty="0"/>
              <a:t>A service becomes unavailable.</a:t>
            </a:r>
          </a:p>
          <a:p>
            <a:endParaRPr lang="en-US" dirty="0"/>
          </a:p>
          <a:p>
            <a:r>
              <a:rPr lang="en-US" dirty="0"/>
              <a:t>Atlas detects it.</a:t>
            </a:r>
          </a:p>
          <a:p>
            <a:endParaRPr lang="en-US" dirty="0"/>
          </a:p>
          <a:p>
            <a:r>
              <a:rPr lang="en-US" dirty="0"/>
              <a:t>The user receives a useful message.</a:t>
            </a:r>
          </a:p>
          <a:p>
            <a:endParaRPr lang="en-US" dirty="0"/>
          </a:p>
          <a:p>
            <a:r>
              <a:rPr lang="en-US" dirty="0"/>
              <a:t>The error is logged.</a:t>
            </a:r>
          </a:p>
          <a:p>
            <a:endParaRPr lang="en-US" dirty="0"/>
          </a:p>
          <a:p>
            <a:r>
              <a:rPr lang="en-US" dirty="0"/>
              <a:t>The application remains stable.</a:t>
            </a:r>
          </a:p>
          <a:p>
            <a:endParaRPr lang="en-US" dirty="0"/>
          </a:p>
          <a:p>
            <a:r>
              <a:rPr lang="en-US" dirty="0"/>
              <a:t>The system recovers.</a:t>
            </a:r>
          </a:p>
          <a:p>
            <a:endParaRPr lang="en-US" dirty="0"/>
          </a:p>
          <a:p>
            <a:r>
              <a:rPr lang="en-US" dirty="0"/>
              <a:t>That's reliability.</a:t>
            </a:r>
          </a:p>
          <a:p>
            <a:endParaRPr lang="en-US" dirty="0"/>
          </a:p>
          <a:p>
            <a:r>
              <a:rPr lang="en-US" dirty="0"/>
              <a:t>------------------------------------------------------------</a:t>
            </a:r>
          </a:p>
          <a:p>
            <a:endParaRPr lang="en-US" dirty="0"/>
          </a:p>
          <a:p>
            <a:r>
              <a:rPr lang="en-US" dirty="0"/>
              <a:t>THE PRINCIPLE</a:t>
            </a:r>
          </a:p>
          <a:p>
            <a:endParaRPr lang="en-US" dirty="0"/>
          </a:p>
          <a:p>
            <a:r>
              <a:rPr lang="en-US" dirty="0"/>
              <a:t>Point to:</a:t>
            </a:r>
          </a:p>
          <a:p>
            <a:endParaRPr lang="en-US" dirty="0"/>
          </a:p>
          <a:p>
            <a:r>
              <a:rPr lang="en-US" dirty="0"/>
              <a:t>"A reliable system anticipates problems, handles them gracefully,</a:t>
            </a:r>
          </a:p>
          <a:p>
            <a:r>
              <a:rPr lang="en-US" dirty="0"/>
              <a:t>and recovers quickly."</a:t>
            </a:r>
          </a:p>
          <a:p>
            <a:endParaRPr lang="en-US" dirty="0"/>
          </a:p>
          <a:p>
            <a:r>
              <a:rPr lang="en-US" dirty="0"/>
              <a:t>Read it.</a:t>
            </a:r>
          </a:p>
          <a:p>
            <a:endParaRPr lang="en-US" dirty="0"/>
          </a:p>
          <a:p>
            <a:r>
              <a:rPr lang="en-US" dirty="0"/>
              <a:t>Then:</a:t>
            </a:r>
          </a:p>
          <a:p>
            <a:endParaRPr lang="en-US" dirty="0"/>
          </a:p>
          <a:p>
            <a:r>
              <a:rPr lang="en-US" dirty="0"/>
              <a:t>"Good systems don't just work."</a:t>
            </a:r>
          </a:p>
          <a:p>
            <a:endParaRPr lang="en-US" dirty="0"/>
          </a:p>
          <a:p>
            <a:r>
              <a:rPr lang="en-US" dirty="0"/>
              <a:t>"They stay working."</a:t>
            </a:r>
          </a:p>
          <a:p>
            <a:endParaRPr lang="en-US" dirty="0"/>
          </a:p>
          <a:p>
            <a:r>
              <a:rPr lang="en-US" dirty="0"/>
              <a:t>------------------------------------------------------------</a:t>
            </a:r>
          </a:p>
          <a:p>
            <a:endParaRPr lang="en-US" dirty="0"/>
          </a:p>
          <a:p>
            <a:r>
              <a:rPr lang="en-US" dirty="0"/>
              <a:t>COMMON THINGS THAT CAN GO WRONG</a:t>
            </a:r>
          </a:p>
          <a:p>
            <a:endParaRPr lang="en-US" dirty="0"/>
          </a:p>
          <a:p>
            <a:r>
              <a:rPr lang="en-US" dirty="0"/>
              <a:t>Move across the top row.</a:t>
            </a:r>
          </a:p>
          <a:p>
            <a:endParaRPr lang="en-US" dirty="0"/>
          </a:p>
          <a:p>
            <a:r>
              <a:rPr lang="en-US" dirty="0"/>
              <a:t>We're going to look at six major categories.</a:t>
            </a:r>
          </a:p>
          <a:p>
            <a:endParaRPr lang="en-US" dirty="0"/>
          </a:p>
          <a:p>
            <a:r>
              <a:rPr lang="en-US" dirty="0"/>
              <a:t>DATABASE ISSUES.</a:t>
            </a:r>
          </a:p>
          <a:p>
            <a:endParaRPr lang="en-US" dirty="0"/>
          </a:p>
          <a:p>
            <a:r>
              <a:rPr lang="en-US" dirty="0"/>
              <a:t>SERVER / SERVICE FAILURES.</a:t>
            </a:r>
          </a:p>
          <a:p>
            <a:endParaRPr lang="en-US" dirty="0"/>
          </a:p>
          <a:p>
            <a:r>
              <a:rPr lang="en-US" dirty="0"/>
              <a:t>NETWORK PROBLEMS.</a:t>
            </a:r>
          </a:p>
          <a:p>
            <a:endParaRPr lang="en-US" dirty="0"/>
          </a:p>
          <a:p>
            <a:r>
              <a:rPr lang="en-US" dirty="0"/>
              <a:t>USER ERRORS.</a:t>
            </a:r>
          </a:p>
          <a:p>
            <a:endParaRPr lang="en-US" dirty="0"/>
          </a:p>
          <a:p>
            <a:r>
              <a:rPr lang="en-US" dirty="0"/>
              <a:t>EXTERNAL SERVICES.</a:t>
            </a:r>
          </a:p>
          <a:p>
            <a:endParaRPr lang="en-US" dirty="0"/>
          </a:p>
          <a:p>
            <a:r>
              <a:rPr lang="en-US" dirty="0"/>
              <a:t>CONFIGURATION PROBLEMS.</a:t>
            </a:r>
          </a:p>
          <a:p>
            <a:endParaRPr lang="en-US" dirty="0"/>
          </a:p>
          <a:p>
            <a:r>
              <a:rPr lang="en-US" dirty="0"/>
              <a:t>------------------------------------------------------------</a:t>
            </a:r>
          </a:p>
          <a:p>
            <a:endParaRPr lang="en-US" dirty="0"/>
          </a:p>
          <a:p>
            <a:r>
              <a:rPr lang="en-US" dirty="0"/>
              <a:t>DATABASE ISSUES</a:t>
            </a:r>
          </a:p>
          <a:p>
            <a:endParaRPr lang="en-US" dirty="0"/>
          </a:p>
          <a:p>
            <a:r>
              <a:rPr lang="en-US" dirty="0"/>
              <a:t>Ask:</a:t>
            </a:r>
          </a:p>
          <a:p>
            <a:endParaRPr lang="en-US" dirty="0"/>
          </a:p>
          <a:p>
            <a:r>
              <a:rPr lang="en-US" dirty="0"/>
              <a:t>"What happens if Atlas can't connect to the database?"</a:t>
            </a:r>
          </a:p>
          <a:p>
            <a:endParaRPr lang="en-US" dirty="0"/>
          </a:p>
          <a:p>
            <a:r>
              <a:rPr lang="en-US" dirty="0"/>
              <a:t>Possible causes:</a:t>
            </a:r>
          </a:p>
          <a:p>
            <a:endParaRPr lang="en-US" dirty="0"/>
          </a:p>
          <a:p>
            <a:r>
              <a:rPr lang="en-US" dirty="0"/>
              <a:t>Connection lost.</a:t>
            </a:r>
          </a:p>
          <a:p>
            <a:endParaRPr lang="en-US" dirty="0"/>
          </a:p>
          <a:p>
            <a:r>
              <a:rPr lang="en-US" dirty="0"/>
              <a:t>Database unavailable.</a:t>
            </a:r>
          </a:p>
          <a:p>
            <a:endParaRPr lang="en-US" dirty="0"/>
          </a:p>
          <a:p>
            <a:r>
              <a:rPr lang="en-US" dirty="0"/>
              <a:t>Slow query.</a:t>
            </a:r>
          </a:p>
          <a:p>
            <a:endParaRPr lang="en-US" dirty="0"/>
          </a:p>
          <a:p>
            <a:r>
              <a:rPr lang="en-US" dirty="0"/>
              <a:t>Deadlock.</a:t>
            </a:r>
          </a:p>
          <a:p>
            <a:endParaRPr lang="en-US" dirty="0"/>
          </a:p>
          <a:p>
            <a:r>
              <a:rPr lang="en-US" dirty="0"/>
              <a:t>Data problem.</a:t>
            </a:r>
          </a:p>
          <a:p>
            <a:endParaRPr lang="en-US" dirty="0"/>
          </a:p>
          <a:p>
            <a:r>
              <a:rPr lang="en-US" dirty="0"/>
              <a:t>Explain:</a:t>
            </a:r>
          </a:p>
          <a:p>
            <a:endParaRPr lang="en-US" dirty="0"/>
          </a:p>
          <a:p>
            <a:r>
              <a:rPr lang="en-US" dirty="0"/>
              <a:t>"The database is one of the most important dependencies Atlas has."</a:t>
            </a:r>
          </a:p>
          <a:p>
            <a:endParaRPr lang="en-US" dirty="0"/>
          </a:p>
          <a:p>
            <a:r>
              <a:rPr lang="en-US" dirty="0"/>
              <a:t>Ask:</a:t>
            </a:r>
          </a:p>
          <a:p>
            <a:endParaRPr lang="en-US" dirty="0"/>
          </a:p>
          <a:p>
            <a:r>
              <a:rPr lang="en-US" dirty="0"/>
              <a:t>"Should Atlas simply crash?"</a:t>
            </a:r>
          </a:p>
          <a:p>
            <a:endParaRPr lang="en-US" dirty="0"/>
          </a:p>
          <a:p>
            <a:r>
              <a:rPr lang="en-US" dirty="0"/>
              <a:t>No.</a:t>
            </a:r>
          </a:p>
          <a:p>
            <a:endParaRPr lang="en-US" dirty="0"/>
          </a:p>
          <a:p>
            <a:r>
              <a:rPr lang="en-US" dirty="0"/>
              <a:t>------------------------------------------------------------</a:t>
            </a:r>
          </a:p>
          <a:p>
            <a:endParaRPr lang="en-US" dirty="0"/>
          </a:p>
          <a:p>
            <a:r>
              <a:rPr lang="en-US" dirty="0"/>
              <a:t>DATABASE FAILURE</a:t>
            </a:r>
          </a:p>
          <a:p>
            <a:endParaRPr lang="en-US" dirty="0"/>
          </a:p>
          <a:p>
            <a:r>
              <a:rPr lang="en-US" dirty="0"/>
              <a:t>Imagine:</a:t>
            </a:r>
          </a:p>
          <a:p>
            <a:endParaRPr lang="en-US" dirty="0"/>
          </a:p>
          <a:p>
            <a:r>
              <a:rPr lang="en-US" dirty="0"/>
              <a:t>Atlas requests:</a:t>
            </a:r>
          </a:p>
          <a:p>
            <a:endParaRPr lang="en-US" dirty="0"/>
          </a:p>
          <a:p>
            <a:r>
              <a:rPr lang="en-US" dirty="0"/>
              <a:t>"Get my tasks."</a:t>
            </a:r>
          </a:p>
          <a:p>
            <a:endParaRPr lang="en-US" dirty="0"/>
          </a:p>
          <a:p>
            <a:r>
              <a:rPr lang="en-US" dirty="0"/>
              <a:t>Database:</a:t>
            </a:r>
          </a:p>
          <a:p>
            <a:endParaRPr lang="en-US" dirty="0"/>
          </a:p>
          <a:p>
            <a:r>
              <a:rPr lang="en-US" dirty="0"/>
              <a:t>"Unavailable."</a:t>
            </a:r>
          </a:p>
          <a:p>
            <a:endParaRPr lang="en-US" dirty="0"/>
          </a:p>
          <a:p>
            <a:r>
              <a:rPr lang="en-US" dirty="0"/>
              <a:t>Bad behavior:</a:t>
            </a:r>
          </a:p>
          <a:p>
            <a:endParaRPr lang="en-US" dirty="0"/>
          </a:p>
          <a:p>
            <a:r>
              <a:rPr lang="en-US" dirty="0"/>
              <a:t>Application crashes.</a:t>
            </a:r>
          </a:p>
          <a:p>
            <a:endParaRPr lang="en-US" dirty="0"/>
          </a:p>
          <a:p>
            <a:r>
              <a:rPr lang="en-US" dirty="0"/>
              <a:t>Stack trace appears.</a:t>
            </a:r>
          </a:p>
          <a:p>
            <a:endParaRPr lang="en-US" dirty="0"/>
          </a:p>
          <a:p>
            <a:r>
              <a:rPr lang="en-US" dirty="0"/>
              <a:t>User receives nothing.</a:t>
            </a:r>
          </a:p>
          <a:p>
            <a:endParaRPr lang="en-US" dirty="0"/>
          </a:p>
          <a:p>
            <a:r>
              <a:rPr lang="en-US" dirty="0"/>
              <a:t>Better behavior:</a:t>
            </a:r>
          </a:p>
          <a:p>
            <a:endParaRPr lang="en-US" dirty="0"/>
          </a:p>
          <a:p>
            <a:r>
              <a:rPr lang="en-US" dirty="0"/>
              <a:t>Application detects the failure.</a:t>
            </a:r>
          </a:p>
          <a:p>
            <a:endParaRPr lang="en-US" dirty="0"/>
          </a:p>
          <a:p>
            <a:r>
              <a:rPr lang="en-US" dirty="0"/>
              <a:t>Logs the problem.</a:t>
            </a:r>
          </a:p>
          <a:p>
            <a:endParaRPr lang="en-US" dirty="0"/>
          </a:p>
          <a:p>
            <a:r>
              <a:rPr lang="en-US" dirty="0"/>
              <a:t>Shows a useful message.</a:t>
            </a:r>
          </a:p>
          <a:p>
            <a:endParaRPr lang="en-US" dirty="0"/>
          </a:p>
          <a:p>
            <a:r>
              <a:rPr lang="en-US" dirty="0"/>
              <a:t>Maintains a stable state.</a:t>
            </a:r>
          </a:p>
          <a:p>
            <a:endParaRPr lang="en-US" dirty="0"/>
          </a:p>
          <a:p>
            <a:r>
              <a:rPr lang="en-US" dirty="0"/>
              <a:t>Allows retry when appropriate.</a:t>
            </a:r>
          </a:p>
          <a:p>
            <a:endParaRPr lang="en-US" dirty="0"/>
          </a:p>
          <a:p>
            <a:r>
              <a:rPr lang="en-US" dirty="0"/>
              <a:t>Explain:</a:t>
            </a:r>
          </a:p>
          <a:p>
            <a:endParaRPr lang="en-US" dirty="0"/>
          </a:p>
          <a:p>
            <a:r>
              <a:rPr lang="en-US" dirty="0"/>
              <a:t>"The goal is graceful failure."</a:t>
            </a:r>
          </a:p>
          <a:p>
            <a:endParaRPr lang="en-US" dirty="0"/>
          </a:p>
          <a:p>
            <a:r>
              <a:rPr lang="en-US" dirty="0"/>
              <a:t>------------------------------------------------------------</a:t>
            </a:r>
          </a:p>
          <a:p>
            <a:endParaRPr lang="en-US" dirty="0"/>
          </a:p>
          <a:p>
            <a:r>
              <a:rPr lang="en-US" dirty="0"/>
              <a:t>SERVER / SERVICE FAILURES</a:t>
            </a:r>
          </a:p>
          <a:p>
            <a:endParaRPr lang="en-US" dirty="0"/>
          </a:p>
          <a:p>
            <a:r>
              <a:rPr lang="en-US" dirty="0"/>
              <a:t>Ask:</a:t>
            </a:r>
          </a:p>
          <a:p>
            <a:endParaRPr lang="en-US" dirty="0"/>
          </a:p>
          <a:p>
            <a:r>
              <a:rPr lang="en-US" dirty="0"/>
              <a:t>"What happens if the server restarts?"</a:t>
            </a:r>
          </a:p>
          <a:p>
            <a:endParaRPr lang="en-US" dirty="0"/>
          </a:p>
          <a:p>
            <a:r>
              <a:rPr lang="en-US" dirty="0"/>
              <a:t>Or:</a:t>
            </a:r>
          </a:p>
          <a:p>
            <a:endParaRPr lang="en-US" dirty="0"/>
          </a:p>
          <a:p>
            <a:r>
              <a:rPr lang="en-US" dirty="0"/>
              <a:t>"What happens if the application runs out of memory?"</a:t>
            </a:r>
          </a:p>
          <a:p>
            <a:endParaRPr lang="en-US" dirty="0"/>
          </a:p>
          <a:p>
            <a:r>
              <a:rPr lang="en-US" dirty="0"/>
              <a:t>Or:</a:t>
            </a:r>
          </a:p>
          <a:p>
            <a:endParaRPr lang="en-US" dirty="0"/>
          </a:p>
          <a:p>
            <a:r>
              <a:rPr lang="en-US" dirty="0"/>
              <a:t>"What happens if a service times out?"</a:t>
            </a:r>
          </a:p>
          <a:p>
            <a:endParaRPr lang="en-US" dirty="0"/>
          </a:p>
          <a:p>
            <a:r>
              <a:rPr lang="en-US" dirty="0"/>
              <a:t>Explain:</a:t>
            </a:r>
          </a:p>
          <a:p>
            <a:endParaRPr lang="en-US" dirty="0"/>
          </a:p>
          <a:p>
            <a:r>
              <a:rPr lang="en-US" dirty="0"/>
              <a:t>"Servers are not immortal."</a:t>
            </a:r>
          </a:p>
          <a:p>
            <a:endParaRPr lang="en-US" dirty="0"/>
          </a:p>
          <a:p>
            <a:r>
              <a:rPr lang="en-US" dirty="0"/>
              <a:t>"Applications need to handle service interruptions."</a:t>
            </a:r>
          </a:p>
          <a:p>
            <a:endParaRPr lang="en-US" dirty="0"/>
          </a:p>
          <a:p>
            <a:r>
              <a:rPr lang="en-US" dirty="0"/>
              <a:t>------------------------------------------------------------</a:t>
            </a:r>
          </a:p>
          <a:p>
            <a:endParaRPr lang="en-US" dirty="0"/>
          </a:p>
          <a:p>
            <a:r>
              <a:rPr lang="en-US" dirty="0"/>
              <a:t>NETWORK PROBLEMS</a:t>
            </a:r>
          </a:p>
          <a:p>
            <a:endParaRPr lang="en-US" dirty="0"/>
          </a:p>
          <a:p>
            <a:r>
              <a:rPr lang="en-US" dirty="0"/>
              <a:t>Ask:</a:t>
            </a:r>
          </a:p>
          <a:p>
            <a:endParaRPr lang="en-US" dirty="0"/>
          </a:p>
          <a:p>
            <a:r>
              <a:rPr lang="en-US" dirty="0"/>
              <a:t>"What happens if the network is slow?"</a:t>
            </a:r>
          </a:p>
          <a:p>
            <a:endParaRPr lang="en-US" dirty="0"/>
          </a:p>
          <a:p>
            <a:r>
              <a:rPr lang="en-US" dirty="0"/>
              <a:t>Possibilities:</a:t>
            </a:r>
          </a:p>
          <a:p>
            <a:endParaRPr lang="en-US" dirty="0"/>
          </a:p>
          <a:p>
            <a:r>
              <a:rPr lang="en-US" dirty="0"/>
              <a:t>Internet unavailable.</a:t>
            </a:r>
          </a:p>
          <a:p>
            <a:endParaRPr lang="en-US" dirty="0"/>
          </a:p>
          <a:p>
            <a:r>
              <a:rPr lang="en-US" dirty="0"/>
              <a:t>High latency.</a:t>
            </a:r>
          </a:p>
          <a:p>
            <a:endParaRPr lang="en-US" dirty="0"/>
          </a:p>
          <a:p>
            <a:r>
              <a:rPr lang="en-US" dirty="0"/>
              <a:t>Packet loss.</a:t>
            </a:r>
          </a:p>
          <a:p>
            <a:endParaRPr lang="en-US" dirty="0"/>
          </a:p>
          <a:p>
            <a:r>
              <a:rPr lang="en-US" dirty="0"/>
              <a:t>DNS problem.</a:t>
            </a:r>
          </a:p>
          <a:p>
            <a:endParaRPr lang="en-US" dirty="0"/>
          </a:p>
          <a:p>
            <a:r>
              <a:rPr lang="en-US" dirty="0"/>
              <a:t>Explain:</a:t>
            </a:r>
          </a:p>
          <a:p>
            <a:endParaRPr lang="en-US" dirty="0"/>
          </a:p>
          <a:p>
            <a:r>
              <a:rPr lang="en-US" dirty="0"/>
              <a:t>"An application that depends on the network needs to expect network</a:t>
            </a:r>
          </a:p>
          <a:p>
            <a:r>
              <a:rPr lang="en-US" dirty="0"/>
              <a:t>failures."</a:t>
            </a:r>
          </a:p>
          <a:p>
            <a:endParaRPr lang="en-US" dirty="0"/>
          </a:p>
          <a:p>
            <a:r>
              <a:rPr lang="en-US" dirty="0"/>
              <a:t>------------------------------------------------------------</a:t>
            </a:r>
          </a:p>
          <a:p>
            <a:endParaRPr lang="en-US" dirty="0"/>
          </a:p>
          <a:p>
            <a:r>
              <a:rPr lang="en-US" dirty="0"/>
              <a:t>USER ERRORS</a:t>
            </a:r>
          </a:p>
          <a:p>
            <a:endParaRPr lang="en-US" dirty="0"/>
          </a:p>
          <a:p>
            <a:r>
              <a:rPr lang="en-US" dirty="0"/>
              <a:t>Point to:</a:t>
            </a:r>
          </a:p>
          <a:p>
            <a:endParaRPr lang="en-US" dirty="0"/>
          </a:p>
          <a:p>
            <a:r>
              <a:rPr lang="en-US" dirty="0"/>
              <a:t>USER ERRORS.</a:t>
            </a:r>
          </a:p>
          <a:p>
            <a:endParaRPr lang="en-US" dirty="0"/>
          </a:p>
          <a:p>
            <a:r>
              <a:rPr lang="en-US" dirty="0"/>
              <a:t>Say:</a:t>
            </a:r>
          </a:p>
          <a:p>
            <a:endParaRPr lang="en-US" dirty="0"/>
          </a:p>
          <a:p>
            <a:r>
              <a:rPr lang="en-US" dirty="0"/>
              <a:t>"Users are unpredictable."</a:t>
            </a:r>
          </a:p>
          <a:p>
            <a:endParaRPr lang="en-US" dirty="0"/>
          </a:p>
          <a:p>
            <a:r>
              <a:rPr lang="en-US" dirty="0"/>
              <a:t>Students laugh.</a:t>
            </a:r>
          </a:p>
          <a:p>
            <a:endParaRPr lang="en-US" dirty="0"/>
          </a:p>
          <a:p>
            <a:r>
              <a:rPr lang="en-US" dirty="0"/>
              <a:t>Then:</a:t>
            </a:r>
          </a:p>
          <a:p>
            <a:endParaRPr lang="en-US" dirty="0"/>
          </a:p>
          <a:p>
            <a:r>
              <a:rPr lang="en-US" dirty="0"/>
              <a:t>"Not because users are bad."</a:t>
            </a:r>
          </a:p>
          <a:p>
            <a:endParaRPr lang="en-US" dirty="0"/>
          </a:p>
          <a:p>
            <a:r>
              <a:rPr lang="en-US" dirty="0"/>
              <a:t>"Because users don't think like developers."</a:t>
            </a:r>
          </a:p>
          <a:p>
            <a:endParaRPr lang="en-US" dirty="0"/>
          </a:p>
          <a:p>
            <a:r>
              <a:rPr lang="en-US" dirty="0"/>
              <a:t>Examples:</a:t>
            </a:r>
          </a:p>
          <a:p>
            <a:endParaRPr lang="en-US" dirty="0"/>
          </a:p>
          <a:p>
            <a:r>
              <a:rPr lang="en-US" dirty="0"/>
              <a:t>Missing information.</a:t>
            </a:r>
          </a:p>
          <a:p>
            <a:endParaRPr lang="en-US" dirty="0"/>
          </a:p>
          <a:p>
            <a:r>
              <a:rPr lang="en-US" dirty="0"/>
              <a:t>Invalid dates.</a:t>
            </a:r>
          </a:p>
          <a:p>
            <a:endParaRPr lang="en-US" dirty="0"/>
          </a:p>
          <a:p>
            <a:r>
              <a:rPr lang="en-US" dirty="0"/>
              <a:t>Unexpected input.</a:t>
            </a:r>
          </a:p>
          <a:p>
            <a:endParaRPr lang="en-US" dirty="0"/>
          </a:p>
          <a:p>
            <a:r>
              <a:rPr lang="en-US" dirty="0"/>
              <a:t>Wrong actions.</a:t>
            </a:r>
          </a:p>
          <a:p>
            <a:endParaRPr lang="en-US" dirty="0"/>
          </a:p>
          <a:p>
            <a:r>
              <a:rPr lang="en-US" dirty="0"/>
              <a:t>Permission problems.</a:t>
            </a:r>
          </a:p>
          <a:p>
            <a:endParaRPr lang="en-US" dirty="0"/>
          </a:p>
          <a:p>
            <a:r>
              <a:rPr lang="en-US" dirty="0"/>
              <a:t>Explain:</a:t>
            </a:r>
          </a:p>
          <a:p>
            <a:endParaRPr lang="en-US" dirty="0"/>
          </a:p>
          <a:p>
            <a:r>
              <a:rPr lang="en-US" dirty="0"/>
              <a:t>"Good software guides users instead of punishing them."</a:t>
            </a:r>
          </a:p>
          <a:p>
            <a:endParaRPr lang="en-US" dirty="0"/>
          </a:p>
          <a:p>
            <a:r>
              <a:rPr lang="en-US" dirty="0"/>
              <a:t>------------------------------------------------------------</a:t>
            </a:r>
          </a:p>
          <a:p>
            <a:endParaRPr lang="en-US" dirty="0"/>
          </a:p>
          <a:p>
            <a:r>
              <a:rPr lang="en-US" dirty="0"/>
              <a:t>EXTERNAL SERVICES</a:t>
            </a:r>
          </a:p>
          <a:p>
            <a:endParaRPr lang="en-US" dirty="0"/>
          </a:p>
          <a:p>
            <a:r>
              <a:rPr lang="en-US" dirty="0"/>
              <a:t>Point to:</a:t>
            </a:r>
          </a:p>
          <a:p>
            <a:endParaRPr lang="en-US" dirty="0"/>
          </a:p>
          <a:p>
            <a:r>
              <a:rPr lang="en-US" dirty="0"/>
              <a:t>EXTERNAL SERVICES.</a:t>
            </a:r>
          </a:p>
          <a:p>
            <a:endParaRPr lang="en-US" dirty="0"/>
          </a:p>
          <a:p>
            <a:r>
              <a:rPr lang="en-US" dirty="0"/>
              <a:t>Ask:</a:t>
            </a:r>
          </a:p>
          <a:p>
            <a:endParaRPr lang="en-US" dirty="0"/>
          </a:p>
          <a:p>
            <a:r>
              <a:rPr lang="en-US" dirty="0"/>
              <a:t>"What happens if Atlas depends on another service and that service</a:t>
            </a:r>
          </a:p>
          <a:p>
            <a:r>
              <a:rPr lang="en-US" dirty="0"/>
              <a:t>goes down?"</a:t>
            </a:r>
          </a:p>
          <a:p>
            <a:endParaRPr lang="en-US" dirty="0"/>
          </a:p>
          <a:p>
            <a:r>
              <a:rPr lang="en-US" dirty="0"/>
              <a:t>Examples:</a:t>
            </a:r>
          </a:p>
          <a:p>
            <a:endParaRPr lang="en-US" dirty="0"/>
          </a:p>
          <a:p>
            <a:r>
              <a:rPr lang="en-US" dirty="0"/>
              <a:t>Email API.</a:t>
            </a:r>
          </a:p>
          <a:p>
            <a:endParaRPr lang="en-US" dirty="0"/>
          </a:p>
          <a:p>
            <a:r>
              <a:rPr lang="en-US" dirty="0"/>
              <a:t>Payment service.</a:t>
            </a:r>
          </a:p>
          <a:p>
            <a:endParaRPr lang="en-US" dirty="0"/>
          </a:p>
          <a:p>
            <a:r>
              <a:rPr lang="en-US" dirty="0"/>
              <a:t>Cloud storage.</a:t>
            </a:r>
          </a:p>
          <a:p>
            <a:endParaRPr lang="en-US" dirty="0"/>
          </a:p>
          <a:p>
            <a:r>
              <a:rPr lang="en-US" dirty="0"/>
              <a:t>External API.</a:t>
            </a:r>
          </a:p>
          <a:p>
            <a:endParaRPr lang="en-US" dirty="0"/>
          </a:p>
          <a:p>
            <a:r>
              <a:rPr lang="en-US" dirty="0"/>
              <a:t>Authentication provider.</a:t>
            </a:r>
          </a:p>
          <a:p>
            <a:endParaRPr lang="en-US" dirty="0"/>
          </a:p>
          <a:p>
            <a:r>
              <a:rPr lang="en-US" dirty="0"/>
              <a:t>Explain:</a:t>
            </a:r>
          </a:p>
          <a:p>
            <a:endParaRPr lang="en-US" dirty="0"/>
          </a:p>
          <a:p>
            <a:r>
              <a:rPr lang="en-US" dirty="0"/>
              <a:t>"Atlas can't control every dependency."</a:t>
            </a:r>
          </a:p>
          <a:p>
            <a:endParaRPr lang="en-US" dirty="0"/>
          </a:p>
          <a:p>
            <a:r>
              <a:rPr lang="en-US" dirty="0"/>
              <a:t>"But Atlas can control how it responds when those dependencies fail."</a:t>
            </a:r>
          </a:p>
          <a:p>
            <a:endParaRPr lang="en-US" dirty="0"/>
          </a:p>
          <a:p>
            <a:r>
              <a:rPr lang="en-US" dirty="0"/>
              <a:t>------------------------------------------------------------</a:t>
            </a:r>
          </a:p>
          <a:p>
            <a:endParaRPr lang="en-US" dirty="0"/>
          </a:p>
          <a:p>
            <a:r>
              <a:rPr lang="en-US" dirty="0"/>
              <a:t>CONFIGURATION PROBLEMS</a:t>
            </a:r>
          </a:p>
          <a:p>
            <a:endParaRPr lang="en-US" dirty="0"/>
          </a:p>
          <a:p>
            <a:r>
              <a:rPr lang="en-US" dirty="0"/>
              <a:t>Point to:</a:t>
            </a:r>
          </a:p>
          <a:p>
            <a:endParaRPr lang="en-US" dirty="0"/>
          </a:p>
          <a:p>
            <a:r>
              <a:rPr lang="en-US" dirty="0"/>
              <a:t>CONFIGURATION.</a:t>
            </a:r>
          </a:p>
          <a:p>
            <a:endParaRPr lang="en-US" dirty="0"/>
          </a:p>
          <a:p>
            <a:r>
              <a:rPr lang="en-US" dirty="0"/>
              <a:t>Ask:</a:t>
            </a:r>
          </a:p>
          <a:p>
            <a:endParaRPr lang="en-US" dirty="0"/>
          </a:p>
          <a:p>
            <a:r>
              <a:rPr lang="en-US" dirty="0"/>
              <a:t>"What happens if the application has the wrong configuration?"</a:t>
            </a:r>
          </a:p>
          <a:p>
            <a:endParaRPr lang="en-US" dirty="0"/>
          </a:p>
          <a:p>
            <a:r>
              <a:rPr lang="en-US" dirty="0"/>
              <a:t>Examples:</a:t>
            </a:r>
          </a:p>
          <a:p>
            <a:endParaRPr lang="en-US" dirty="0"/>
          </a:p>
          <a:p>
            <a:r>
              <a:rPr lang="en-US" dirty="0"/>
              <a:t>Missing values.</a:t>
            </a:r>
          </a:p>
          <a:p>
            <a:endParaRPr lang="en-US" dirty="0"/>
          </a:p>
          <a:p>
            <a:r>
              <a:rPr lang="en-US" dirty="0"/>
              <a:t>Wrong environment.</a:t>
            </a:r>
          </a:p>
          <a:p>
            <a:endParaRPr lang="en-US" dirty="0"/>
          </a:p>
          <a:p>
            <a:r>
              <a:rPr lang="en-US" dirty="0"/>
              <a:t>Invalid connection string.</a:t>
            </a:r>
          </a:p>
          <a:p>
            <a:endParaRPr lang="en-US" dirty="0"/>
          </a:p>
          <a:p>
            <a:r>
              <a:rPr lang="en-US" dirty="0"/>
              <a:t>Expired certificate.</a:t>
            </a:r>
          </a:p>
          <a:p>
            <a:endParaRPr lang="en-US" dirty="0"/>
          </a:p>
          <a:p>
            <a:r>
              <a:rPr lang="en-US" dirty="0"/>
              <a:t>Incorrect service URL.</a:t>
            </a:r>
          </a:p>
          <a:p>
            <a:endParaRPr lang="en-US" dirty="0"/>
          </a:p>
          <a:p>
            <a:r>
              <a:rPr lang="en-US" dirty="0"/>
              <a:t>Explain:</a:t>
            </a:r>
          </a:p>
          <a:p>
            <a:endParaRPr lang="en-US" dirty="0"/>
          </a:p>
          <a:p>
            <a:r>
              <a:rPr lang="en-US" dirty="0"/>
              <a:t>"Configuration problems can break perfectly good code."</a:t>
            </a:r>
          </a:p>
          <a:p>
            <a:endParaRPr lang="en-US" dirty="0"/>
          </a:p>
          <a:p>
            <a:r>
              <a:rPr lang="en-US" dirty="0"/>
              <a:t>------------------------------------------------------------</a:t>
            </a:r>
          </a:p>
          <a:p>
            <a:endParaRPr lang="en-US" dirty="0"/>
          </a:p>
          <a:p>
            <a:r>
              <a:rPr lang="en-US" dirty="0"/>
              <a:t>THE BIG PRINCIPLE</a:t>
            </a:r>
          </a:p>
          <a:p>
            <a:endParaRPr lang="en-US" dirty="0"/>
          </a:p>
          <a:p>
            <a:r>
              <a:rPr lang="en-US" dirty="0"/>
              <a:t>Point to the center statement:</a:t>
            </a:r>
          </a:p>
          <a:p>
            <a:endParaRPr lang="en-US" dirty="0"/>
          </a:p>
          <a:p>
            <a:r>
              <a:rPr lang="en-US" dirty="0"/>
              <a:t>"We can't prevent every problem, but we can design Atlas to handle</a:t>
            </a:r>
          </a:p>
          <a:p>
            <a:r>
              <a:rPr lang="en-US" dirty="0"/>
              <a:t>them."</a:t>
            </a:r>
          </a:p>
          <a:p>
            <a:endParaRPr lang="en-US" dirty="0"/>
          </a:p>
          <a:p>
            <a:r>
              <a:rPr lang="en-US" dirty="0"/>
              <a:t>Say:</a:t>
            </a:r>
          </a:p>
          <a:p>
            <a:endParaRPr lang="en-US" dirty="0"/>
          </a:p>
          <a:p>
            <a:r>
              <a:rPr lang="en-US" dirty="0"/>
              <a:t>"This is the heart of reliability."</a:t>
            </a:r>
          </a:p>
          <a:p>
            <a:endParaRPr lang="en-US" dirty="0"/>
          </a:p>
          <a:p>
            <a:r>
              <a:rPr lang="en-US" dirty="0"/>
              <a:t>We can't control:</a:t>
            </a:r>
          </a:p>
          <a:p>
            <a:endParaRPr lang="en-US" dirty="0"/>
          </a:p>
          <a:p>
            <a:r>
              <a:rPr lang="en-US" dirty="0"/>
              <a:t>The internet.</a:t>
            </a:r>
          </a:p>
          <a:p>
            <a:endParaRPr lang="en-US" dirty="0"/>
          </a:p>
          <a:p>
            <a:r>
              <a:rPr lang="en-US" dirty="0"/>
              <a:t>Cloud providers.</a:t>
            </a:r>
          </a:p>
          <a:p>
            <a:endParaRPr lang="en-US" dirty="0"/>
          </a:p>
          <a:p>
            <a:r>
              <a:rPr lang="en-US" dirty="0"/>
              <a:t>Users.</a:t>
            </a:r>
          </a:p>
          <a:p>
            <a:endParaRPr lang="en-US" dirty="0"/>
          </a:p>
          <a:p>
            <a:r>
              <a:rPr lang="en-US" dirty="0"/>
              <a:t>External APIs.</a:t>
            </a:r>
          </a:p>
          <a:p>
            <a:endParaRPr lang="en-US" dirty="0"/>
          </a:p>
          <a:p>
            <a:r>
              <a:rPr lang="en-US" dirty="0"/>
              <a:t>Hardware.</a:t>
            </a:r>
          </a:p>
          <a:p>
            <a:endParaRPr lang="en-US" dirty="0"/>
          </a:p>
          <a:p>
            <a:r>
              <a:rPr lang="en-US" dirty="0"/>
              <a:t>Every possible failure.</a:t>
            </a:r>
          </a:p>
          <a:p>
            <a:endParaRPr lang="en-US" dirty="0"/>
          </a:p>
          <a:p>
            <a:r>
              <a:rPr lang="en-US" dirty="0"/>
              <a:t>But we can control:</a:t>
            </a:r>
          </a:p>
          <a:p>
            <a:endParaRPr lang="en-US" dirty="0"/>
          </a:p>
          <a:p>
            <a:r>
              <a:rPr lang="en-US" dirty="0"/>
              <a:t>How Atlas responds.</a:t>
            </a:r>
          </a:p>
          <a:p>
            <a:endParaRPr lang="en-US" dirty="0"/>
          </a:p>
          <a:p>
            <a:r>
              <a:rPr lang="en-US" dirty="0"/>
              <a:t>------------------------------------------------------------</a:t>
            </a:r>
          </a:p>
          <a:p>
            <a:endParaRPr lang="en-US" dirty="0"/>
          </a:p>
          <a:p>
            <a:r>
              <a:rPr lang="en-US" dirty="0"/>
              <a:t>GRACEFUL FAILURE</a:t>
            </a:r>
          </a:p>
          <a:p>
            <a:endParaRPr lang="en-US" dirty="0"/>
          </a:p>
          <a:p>
            <a:r>
              <a:rPr lang="en-US" dirty="0"/>
              <a:t>Move to:</a:t>
            </a:r>
          </a:p>
          <a:p>
            <a:endParaRPr lang="en-US" dirty="0"/>
          </a:p>
          <a:p>
            <a:r>
              <a:rPr lang="en-US" dirty="0"/>
              <a:t>GRACEFUL FAILURE: BAD VS BETTER.</a:t>
            </a:r>
          </a:p>
          <a:p>
            <a:endParaRPr lang="en-US" dirty="0"/>
          </a:p>
          <a:p>
            <a:r>
              <a:rPr lang="en-US" dirty="0"/>
              <a:t>Explain:</a:t>
            </a:r>
          </a:p>
          <a:p>
            <a:endParaRPr lang="en-US" dirty="0"/>
          </a:p>
          <a:p>
            <a:r>
              <a:rPr lang="en-US" dirty="0"/>
              <a:t>"Let's compare two applications."</a:t>
            </a:r>
          </a:p>
          <a:p>
            <a:endParaRPr lang="en-US" dirty="0"/>
          </a:p>
          <a:p>
            <a:r>
              <a:rPr lang="en-US" dirty="0"/>
              <a:t>------------------------------------------------------------</a:t>
            </a:r>
          </a:p>
          <a:p>
            <a:endParaRPr lang="en-US" dirty="0"/>
          </a:p>
          <a:p>
            <a:r>
              <a:rPr lang="en-US" dirty="0"/>
              <a:t>BAD</a:t>
            </a:r>
          </a:p>
          <a:p>
            <a:endParaRPr lang="en-US" dirty="0"/>
          </a:p>
          <a:p>
            <a:r>
              <a:rPr lang="en-US" dirty="0"/>
              <a:t>Point to the red example.</a:t>
            </a:r>
          </a:p>
          <a:p>
            <a:endParaRPr lang="en-US" dirty="0"/>
          </a:p>
          <a:p>
            <a:r>
              <a:rPr lang="en-US" dirty="0"/>
              <a:t>Read the error conceptually:</a:t>
            </a:r>
          </a:p>
          <a:p>
            <a:endParaRPr lang="en-US" dirty="0"/>
          </a:p>
          <a:p>
            <a:r>
              <a:rPr lang="en-US" dirty="0"/>
              <a:t>"</a:t>
            </a:r>
            <a:r>
              <a:rPr lang="en-US" dirty="0" err="1"/>
              <a:t>System.NullReferenceException</a:t>
            </a:r>
            <a:r>
              <a:rPr lang="en-US" dirty="0"/>
              <a:t>..."</a:t>
            </a:r>
          </a:p>
          <a:p>
            <a:endParaRPr lang="en-US" dirty="0"/>
          </a:p>
          <a:p>
            <a:r>
              <a:rPr lang="en-US" dirty="0"/>
              <a:t>"Object reference not set..."</a:t>
            </a:r>
          </a:p>
          <a:p>
            <a:endParaRPr lang="en-US" dirty="0"/>
          </a:p>
          <a:p>
            <a:r>
              <a:rPr lang="en-US" dirty="0"/>
              <a:t>Ask:</a:t>
            </a:r>
          </a:p>
          <a:p>
            <a:endParaRPr lang="en-US" dirty="0"/>
          </a:p>
          <a:p>
            <a:r>
              <a:rPr lang="en-US" dirty="0"/>
              <a:t>"Does the user understand that?"</a:t>
            </a:r>
          </a:p>
          <a:p>
            <a:endParaRPr lang="en-US" dirty="0"/>
          </a:p>
          <a:p>
            <a:r>
              <a:rPr lang="en-US" dirty="0"/>
              <a:t>No.</a:t>
            </a:r>
          </a:p>
          <a:p>
            <a:endParaRPr lang="en-US" dirty="0"/>
          </a:p>
          <a:p>
            <a:r>
              <a:rPr lang="en-US" dirty="0"/>
              <a:t>Ask:</a:t>
            </a:r>
          </a:p>
          <a:p>
            <a:endParaRPr lang="en-US" dirty="0"/>
          </a:p>
          <a:p>
            <a:r>
              <a:rPr lang="en-US" dirty="0"/>
              <a:t>"Does the user know what to do?"</a:t>
            </a:r>
          </a:p>
          <a:p>
            <a:endParaRPr lang="en-US" dirty="0"/>
          </a:p>
          <a:p>
            <a:r>
              <a:rPr lang="en-US" dirty="0"/>
              <a:t>No.</a:t>
            </a:r>
          </a:p>
          <a:p>
            <a:endParaRPr lang="en-US" dirty="0"/>
          </a:p>
          <a:p>
            <a:r>
              <a:rPr lang="en-US" dirty="0"/>
              <a:t>Ask:</a:t>
            </a:r>
          </a:p>
          <a:p>
            <a:endParaRPr lang="en-US" dirty="0"/>
          </a:p>
          <a:p>
            <a:r>
              <a:rPr lang="en-US" dirty="0"/>
              <a:t>"Does the user know whether their data was saved?"</a:t>
            </a:r>
          </a:p>
          <a:p>
            <a:endParaRPr lang="en-US" dirty="0"/>
          </a:p>
          <a:p>
            <a:r>
              <a:rPr lang="en-US" dirty="0"/>
              <a:t>Probably not.</a:t>
            </a:r>
          </a:p>
          <a:p>
            <a:endParaRPr lang="en-US" dirty="0"/>
          </a:p>
          <a:p>
            <a:r>
              <a:rPr lang="en-US" dirty="0"/>
              <a:t>Explain:</a:t>
            </a:r>
          </a:p>
          <a:p>
            <a:endParaRPr lang="en-US" dirty="0"/>
          </a:p>
          <a:p>
            <a:r>
              <a:rPr lang="en-US" dirty="0"/>
              <a:t>"This is a developer error message."</a:t>
            </a:r>
          </a:p>
          <a:p>
            <a:endParaRPr lang="en-US" dirty="0"/>
          </a:p>
          <a:p>
            <a:r>
              <a:rPr lang="en-US" dirty="0"/>
              <a:t>"It may be useful to a developer."</a:t>
            </a:r>
          </a:p>
          <a:p>
            <a:endParaRPr lang="en-US" dirty="0"/>
          </a:p>
          <a:p>
            <a:r>
              <a:rPr lang="en-US" dirty="0"/>
              <a:t>"It is not a useful user experience."</a:t>
            </a:r>
          </a:p>
          <a:p>
            <a:endParaRPr lang="en-US" dirty="0"/>
          </a:p>
          <a:p>
            <a:r>
              <a:rPr lang="en-US" dirty="0"/>
              <a:t>------------------------------------------------------------</a:t>
            </a:r>
          </a:p>
          <a:p>
            <a:endParaRPr lang="en-US" dirty="0"/>
          </a:p>
          <a:p>
            <a:r>
              <a:rPr lang="en-US" dirty="0"/>
              <a:t>BETTER</a:t>
            </a:r>
          </a:p>
          <a:p>
            <a:endParaRPr lang="en-US" dirty="0"/>
          </a:p>
          <a:p>
            <a:r>
              <a:rPr lang="en-US" dirty="0"/>
              <a:t>Point to the green example.</a:t>
            </a:r>
          </a:p>
          <a:p>
            <a:endParaRPr lang="en-US" dirty="0"/>
          </a:p>
          <a:p>
            <a:r>
              <a:rPr lang="en-US" dirty="0"/>
              <a:t>Read:</a:t>
            </a:r>
          </a:p>
          <a:p>
            <a:endParaRPr lang="en-US" dirty="0"/>
          </a:p>
          <a:p>
            <a:r>
              <a:rPr lang="en-US" dirty="0"/>
              <a:t>"We couldn't load that information right now.</a:t>
            </a:r>
          </a:p>
          <a:p>
            <a:r>
              <a:rPr lang="en-US" dirty="0"/>
              <a:t>Please try again in a few moments."</a:t>
            </a:r>
          </a:p>
          <a:p>
            <a:endParaRPr lang="en-US" dirty="0"/>
          </a:p>
          <a:p>
            <a:r>
              <a:rPr lang="en-US" dirty="0"/>
              <a:t>Explain:</a:t>
            </a:r>
          </a:p>
          <a:p>
            <a:endParaRPr lang="en-US" dirty="0"/>
          </a:p>
          <a:p>
            <a:r>
              <a:rPr lang="en-US" dirty="0"/>
              <a:t>"Now the user understands..."</a:t>
            </a:r>
          </a:p>
          <a:p>
            <a:endParaRPr lang="en-US" dirty="0"/>
          </a:p>
          <a:p>
            <a:r>
              <a:rPr lang="en-US" dirty="0"/>
              <a:t>Something went wrong.</a:t>
            </a:r>
          </a:p>
          <a:p>
            <a:endParaRPr lang="en-US" dirty="0"/>
          </a:p>
          <a:p>
            <a:r>
              <a:rPr lang="en-US" dirty="0"/>
              <a:t>The application is still responding.</a:t>
            </a:r>
          </a:p>
          <a:p>
            <a:endParaRPr lang="en-US" dirty="0"/>
          </a:p>
          <a:p>
            <a:r>
              <a:rPr lang="en-US" dirty="0"/>
              <a:t>They can try again.</a:t>
            </a:r>
          </a:p>
          <a:p>
            <a:endParaRPr lang="en-US" dirty="0"/>
          </a:p>
          <a:p>
            <a:r>
              <a:rPr lang="en-US" dirty="0"/>
              <a:t>The technical details don't need to be exposed.</a:t>
            </a:r>
          </a:p>
          <a:p>
            <a:endParaRPr lang="en-US" dirty="0"/>
          </a:p>
          <a:p>
            <a:r>
              <a:rPr lang="en-US" dirty="0"/>
              <a:t>------------------------------------------------------------</a:t>
            </a:r>
          </a:p>
          <a:p>
            <a:endParaRPr lang="en-US" dirty="0"/>
          </a:p>
          <a:p>
            <a:r>
              <a:rPr lang="en-US" dirty="0"/>
              <a:t>ERROR HANDLING PRINCIPLE</a:t>
            </a:r>
          </a:p>
          <a:p>
            <a:endParaRPr lang="en-US" dirty="0"/>
          </a:p>
          <a:p>
            <a:r>
              <a:rPr lang="en-US" dirty="0"/>
              <a:t>Point to:</a:t>
            </a:r>
          </a:p>
          <a:p>
            <a:endParaRPr lang="en-US" dirty="0"/>
          </a:p>
          <a:p>
            <a:r>
              <a:rPr lang="en-US" dirty="0"/>
              <a:t>"HANDLE THE ERROR.</a:t>
            </a:r>
          </a:p>
          <a:p>
            <a:endParaRPr lang="en-US" dirty="0"/>
          </a:p>
          <a:p>
            <a:r>
              <a:rPr lang="en-US" dirty="0"/>
              <a:t>HELP THE USER.</a:t>
            </a:r>
          </a:p>
          <a:p>
            <a:endParaRPr lang="en-US" dirty="0"/>
          </a:p>
          <a:p>
            <a:r>
              <a:rPr lang="en-US" dirty="0"/>
              <a:t>LOG THE DETAILS.</a:t>
            </a:r>
          </a:p>
          <a:p>
            <a:endParaRPr lang="en-US" dirty="0"/>
          </a:p>
          <a:p>
            <a:r>
              <a:rPr lang="en-US" dirty="0"/>
              <a:t>KEEP ATLAS RUNNING."</a:t>
            </a:r>
          </a:p>
          <a:p>
            <a:endParaRPr lang="en-US" dirty="0"/>
          </a:p>
          <a:p>
            <a:r>
              <a:rPr lang="en-US" dirty="0"/>
              <a:t>Read each phrase.</a:t>
            </a:r>
          </a:p>
          <a:p>
            <a:endParaRPr lang="en-US" dirty="0"/>
          </a:p>
          <a:p>
            <a:r>
              <a:rPr lang="en-US" dirty="0"/>
              <a:t>This is an excellent reliability pattern.</a:t>
            </a:r>
          </a:p>
          <a:p>
            <a:endParaRPr lang="en-US" dirty="0"/>
          </a:p>
          <a:p>
            <a:r>
              <a:rPr lang="en-US" dirty="0"/>
              <a:t>------------------------------------------------------------</a:t>
            </a:r>
          </a:p>
          <a:p>
            <a:endParaRPr lang="en-US" dirty="0"/>
          </a:p>
          <a:p>
            <a:r>
              <a:rPr lang="en-US" dirty="0"/>
              <a:t>HANDLE THE ERROR</a:t>
            </a:r>
          </a:p>
          <a:p>
            <a:endParaRPr lang="en-US" dirty="0"/>
          </a:p>
          <a:p>
            <a:r>
              <a:rPr lang="en-US" dirty="0"/>
              <a:t>Explain:</a:t>
            </a:r>
          </a:p>
          <a:p>
            <a:endParaRPr lang="en-US" dirty="0"/>
          </a:p>
          <a:p>
            <a:r>
              <a:rPr lang="en-US" dirty="0"/>
              <a:t>"Don't let unexpected failures crash the entire application if you</a:t>
            </a:r>
          </a:p>
          <a:p>
            <a:r>
              <a:rPr lang="en-US" dirty="0"/>
              <a:t>can safely handle them."</a:t>
            </a:r>
          </a:p>
          <a:p>
            <a:endParaRPr lang="en-US" dirty="0"/>
          </a:p>
          <a:p>
            <a:r>
              <a:rPr lang="en-US" dirty="0"/>
              <a:t>Examples:</a:t>
            </a:r>
          </a:p>
          <a:p>
            <a:endParaRPr lang="en-US" dirty="0"/>
          </a:p>
          <a:p>
            <a:r>
              <a:rPr lang="en-US" dirty="0"/>
              <a:t>Catch appropriate exceptions.</a:t>
            </a:r>
          </a:p>
          <a:p>
            <a:endParaRPr lang="en-US" dirty="0"/>
          </a:p>
          <a:p>
            <a:r>
              <a:rPr lang="en-US" dirty="0"/>
              <a:t>Return safe responses.</a:t>
            </a:r>
          </a:p>
          <a:p>
            <a:endParaRPr lang="en-US" dirty="0"/>
          </a:p>
          <a:p>
            <a:r>
              <a:rPr lang="en-US" dirty="0"/>
              <a:t>Provide fallback behavior.</a:t>
            </a:r>
          </a:p>
          <a:p>
            <a:endParaRPr lang="en-US" dirty="0"/>
          </a:p>
          <a:p>
            <a:r>
              <a:rPr lang="en-US" dirty="0"/>
              <a:t>------------------------------------------------------------</a:t>
            </a:r>
          </a:p>
          <a:p>
            <a:endParaRPr lang="en-US" dirty="0"/>
          </a:p>
          <a:p>
            <a:r>
              <a:rPr lang="en-US" dirty="0"/>
              <a:t>HELP THE USER</a:t>
            </a:r>
          </a:p>
          <a:p>
            <a:endParaRPr lang="en-US" dirty="0"/>
          </a:p>
          <a:p>
            <a:r>
              <a:rPr lang="en-US" dirty="0"/>
              <a:t>Ask:</a:t>
            </a:r>
          </a:p>
          <a:p>
            <a:endParaRPr lang="en-US" dirty="0"/>
          </a:p>
          <a:p>
            <a:r>
              <a:rPr lang="en-US" dirty="0"/>
              <a:t>"What does the user actually need?"</a:t>
            </a:r>
          </a:p>
          <a:p>
            <a:endParaRPr lang="en-US" dirty="0"/>
          </a:p>
          <a:p>
            <a:r>
              <a:rPr lang="en-US" dirty="0"/>
              <a:t>Usually:</a:t>
            </a:r>
          </a:p>
          <a:p>
            <a:endParaRPr lang="en-US" dirty="0"/>
          </a:p>
          <a:p>
            <a:r>
              <a:rPr lang="en-US" dirty="0"/>
              <a:t>What happened?</a:t>
            </a:r>
          </a:p>
          <a:p>
            <a:endParaRPr lang="en-US" dirty="0"/>
          </a:p>
          <a:p>
            <a:r>
              <a:rPr lang="en-US" dirty="0"/>
              <a:t>What can I do?</a:t>
            </a:r>
          </a:p>
          <a:p>
            <a:endParaRPr lang="en-US" dirty="0"/>
          </a:p>
          <a:p>
            <a:r>
              <a:rPr lang="en-US" dirty="0"/>
              <a:t>Should I try again?</a:t>
            </a:r>
          </a:p>
          <a:p>
            <a:endParaRPr lang="en-US" dirty="0"/>
          </a:p>
          <a:p>
            <a:r>
              <a:rPr lang="en-US" dirty="0"/>
              <a:t>Was my information saved?</a:t>
            </a:r>
          </a:p>
          <a:p>
            <a:endParaRPr lang="en-US" dirty="0"/>
          </a:p>
          <a:p>
            <a:r>
              <a:rPr lang="en-US" dirty="0"/>
              <a:t>Don't overwhelm users with technical details.</a:t>
            </a:r>
          </a:p>
          <a:p>
            <a:endParaRPr lang="en-US" dirty="0"/>
          </a:p>
          <a:p>
            <a:r>
              <a:rPr lang="en-US" dirty="0"/>
              <a:t>------------------------------------------------------------</a:t>
            </a:r>
          </a:p>
          <a:p>
            <a:endParaRPr lang="en-US" dirty="0"/>
          </a:p>
          <a:p>
            <a:r>
              <a:rPr lang="en-US" dirty="0"/>
              <a:t>LOG THE DETAILS</a:t>
            </a:r>
          </a:p>
          <a:p>
            <a:endParaRPr lang="en-US" dirty="0"/>
          </a:p>
          <a:p>
            <a:r>
              <a:rPr lang="en-US" dirty="0"/>
              <a:t>Explain:</a:t>
            </a:r>
          </a:p>
          <a:p>
            <a:endParaRPr lang="en-US" dirty="0"/>
          </a:p>
          <a:p>
            <a:r>
              <a:rPr lang="en-US" dirty="0"/>
              <a:t>"Developers need more information than users."</a:t>
            </a:r>
          </a:p>
          <a:p>
            <a:endParaRPr lang="en-US" dirty="0"/>
          </a:p>
          <a:p>
            <a:r>
              <a:rPr lang="en-US" dirty="0"/>
              <a:t>Logs can capture:</a:t>
            </a:r>
          </a:p>
          <a:p>
            <a:endParaRPr lang="en-US" dirty="0"/>
          </a:p>
          <a:p>
            <a:r>
              <a:rPr lang="en-US" dirty="0"/>
              <a:t>Error.</a:t>
            </a:r>
          </a:p>
          <a:p>
            <a:endParaRPr lang="en-US" dirty="0"/>
          </a:p>
          <a:p>
            <a:r>
              <a:rPr lang="en-US" dirty="0"/>
              <a:t>Time.</a:t>
            </a:r>
          </a:p>
          <a:p>
            <a:endParaRPr lang="en-US" dirty="0"/>
          </a:p>
          <a:p>
            <a:r>
              <a:rPr lang="en-US" dirty="0"/>
              <a:t>Request.</a:t>
            </a:r>
          </a:p>
          <a:p>
            <a:endParaRPr lang="en-US" dirty="0"/>
          </a:p>
          <a:p>
            <a:r>
              <a:rPr lang="en-US" dirty="0"/>
              <a:t>Context.</a:t>
            </a:r>
          </a:p>
          <a:p>
            <a:endParaRPr lang="en-US" dirty="0"/>
          </a:p>
          <a:p>
            <a:r>
              <a:rPr lang="en-US" dirty="0"/>
              <a:t>Exception details.</a:t>
            </a:r>
          </a:p>
          <a:p>
            <a:endParaRPr lang="en-US" dirty="0"/>
          </a:p>
          <a:p>
            <a:r>
              <a:rPr lang="en-US" dirty="0"/>
              <a:t>But:</a:t>
            </a:r>
          </a:p>
          <a:p>
            <a:endParaRPr lang="en-US" dirty="0"/>
          </a:p>
          <a:p>
            <a:r>
              <a:rPr lang="en-US" dirty="0"/>
              <a:t>"Don't log secrets or sensitive information."</a:t>
            </a:r>
          </a:p>
          <a:p>
            <a:endParaRPr lang="en-US" dirty="0"/>
          </a:p>
          <a:p>
            <a:r>
              <a:rPr lang="en-US" dirty="0"/>
              <a:t>Connect back to Sprint 6.</a:t>
            </a:r>
          </a:p>
          <a:p>
            <a:endParaRPr lang="en-US" dirty="0"/>
          </a:p>
          <a:p>
            <a:r>
              <a:rPr lang="en-US" dirty="0"/>
              <a:t>------------------------------------------------------------</a:t>
            </a:r>
          </a:p>
          <a:p>
            <a:endParaRPr lang="en-US" dirty="0"/>
          </a:p>
          <a:p>
            <a:r>
              <a:rPr lang="en-US" dirty="0"/>
              <a:t>KEEP ATLAS RUNNING</a:t>
            </a:r>
          </a:p>
          <a:p>
            <a:endParaRPr lang="en-US" dirty="0"/>
          </a:p>
          <a:p>
            <a:r>
              <a:rPr lang="en-US" dirty="0"/>
              <a:t>Explain:</a:t>
            </a:r>
          </a:p>
          <a:p>
            <a:endParaRPr lang="en-US" dirty="0"/>
          </a:p>
          <a:p>
            <a:r>
              <a:rPr lang="en-US" dirty="0"/>
              <a:t>"One failed operation shouldn't necessarily bring down the entire</a:t>
            </a:r>
          </a:p>
          <a:p>
            <a:r>
              <a:rPr lang="en-US" dirty="0"/>
              <a:t>application."</a:t>
            </a:r>
          </a:p>
          <a:p>
            <a:endParaRPr lang="en-US" dirty="0"/>
          </a:p>
          <a:p>
            <a:r>
              <a:rPr lang="en-US" dirty="0"/>
              <a:t>This is the goal of isolation and graceful handling.</a:t>
            </a:r>
          </a:p>
          <a:p>
            <a:endParaRPr lang="en-US" dirty="0"/>
          </a:p>
          <a:p>
            <a:r>
              <a:rPr lang="en-US" dirty="0"/>
              <a:t>------------------------------------------------------------</a:t>
            </a:r>
          </a:p>
          <a:p>
            <a:endParaRPr lang="en-US" dirty="0"/>
          </a:p>
          <a:p>
            <a:r>
              <a:rPr lang="en-US" dirty="0"/>
              <a:t>RELIABILITY PILLARS</a:t>
            </a:r>
          </a:p>
          <a:p>
            <a:endParaRPr lang="en-US" dirty="0"/>
          </a:p>
          <a:p>
            <a:r>
              <a:rPr lang="en-US" dirty="0"/>
              <a:t>Move to the left lower panel.</a:t>
            </a:r>
          </a:p>
          <a:p>
            <a:endParaRPr lang="en-US" dirty="0"/>
          </a:p>
          <a:p>
            <a:r>
              <a:rPr lang="en-US" dirty="0"/>
              <a:t>Introduce five pillars.</a:t>
            </a:r>
          </a:p>
          <a:p>
            <a:endParaRPr lang="en-US" dirty="0"/>
          </a:p>
          <a:p>
            <a:r>
              <a:rPr lang="en-US" dirty="0"/>
              <a:t>AVAILABILITY</a:t>
            </a:r>
          </a:p>
          <a:p>
            <a:endParaRPr lang="en-US" dirty="0"/>
          </a:p>
          <a:p>
            <a:r>
              <a:rPr lang="en-US" dirty="0"/>
              <a:t>The system is up and accessible.</a:t>
            </a:r>
          </a:p>
          <a:p>
            <a:endParaRPr lang="en-US" dirty="0"/>
          </a:p>
          <a:p>
            <a:r>
              <a:rPr lang="en-US" dirty="0"/>
              <a:t>RESILIENCE</a:t>
            </a:r>
          </a:p>
          <a:p>
            <a:endParaRPr lang="en-US" dirty="0"/>
          </a:p>
          <a:p>
            <a:r>
              <a:rPr lang="en-US" dirty="0"/>
              <a:t>The system can handle failures.</a:t>
            </a:r>
          </a:p>
          <a:p>
            <a:endParaRPr lang="en-US" dirty="0"/>
          </a:p>
          <a:p>
            <a:r>
              <a:rPr lang="en-US" dirty="0"/>
              <a:t>RECOVERABILITY</a:t>
            </a:r>
          </a:p>
          <a:p>
            <a:endParaRPr lang="en-US" dirty="0"/>
          </a:p>
          <a:p>
            <a:r>
              <a:rPr lang="en-US" dirty="0"/>
              <a:t>The system can recover quickly.</a:t>
            </a:r>
          </a:p>
          <a:p>
            <a:endParaRPr lang="en-US" dirty="0"/>
          </a:p>
          <a:p>
            <a:r>
              <a:rPr lang="en-US" dirty="0"/>
              <a:t>DATA INTEGRITY</a:t>
            </a:r>
          </a:p>
          <a:p>
            <a:endParaRPr lang="en-US" dirty="0"/>
          </a:p>
          <a:p>
            <a:r>
              <a:rPr lang="en-US" dirty="0"/>
              <a:t>Data remains accurate and consistent.</a:t>
            </a:r>
          </a:p>
          <a:p>
            <a:endParaRPr lang="en-US" dirty="0"/>
          </a:p>
          <a:p>
            <a:r>
              <a:rPr lang="en-US" dirty="0"/>
              <a:t>USER CONFIDENCE</a:t>
            </a:r>
          </a:p>
          <a:p>
            <a:endParaRPr lang="en-US" dirty="0"/>
          </a:p>
          <a:p>
            <a:r>
              <a:rPr lang="en-US" dirty="0"/>
              <a:t>Users trust the system to be there when they need it.</a:t>
            </a:r>
          </a:p>
          <a:p>
            <a:endParaRPr lang="en-US" dirty="0"/>
          </a:p>
          <a:p>
            <a:r>
              <a:rPr lang="en-US" dirty="0"/>
              <a:t>------------------------------------------------------------</a:t>
            </a:r>
          </a:p>
          <a:p>
            <a:endParaRPr lang="en-US" dirty="0"/>
          </a:p>
          <a:p>
            <a:r>
              <a:rPr lang="en-US" dirty="0"/>
              <a:t>AVAILABILITY</a:t>
            </a:r>
          </a:p>
          <a:p>
            <a:endParaRPr lang="en-US" dirty="0"/>
          </a:p>
          <a:p>
            <a:r>
              <a:rPr lang="en-US" dirty="0"/>
              <a:t>Ask:</a:t>
            </a:r>
          </a:p>
          <a:p>
            <a:endParaRPr lang="en-US" dirty="0"/>
          </a:p>
          <a:p>
            <a:r>
              <a:rPr lang="en-US" dirty="0"/>
              <a:t>"Can users reach Atlas?"</a:t>
            </a:r>
          </a:p>
          <a:p>
            <a:endParaRPr lang="en-US" dirty="0"/>
          </a:p>
          <a:p>
            <a:r>
              <a:rPr lang="en-US" dirty="0"/>
              <a:t>Availability includes:</a:t>
            </a:r>
          </a:p>
          <a:p>
            <a:endParaRPr lang="en-US" dirty="0"/>
          </a:p>
          <a:p>
            <a:r>
              <a:rPr lang="en-US" dirty="0"/>
              <a:t>Application uptime.</a:t>
            </a:r>
          </a:p>
          <a:p>
            <a:endParaRPr lang="en-US" dirty="0"/>
          </a:p>
          <a:p>
            <a:r>
              <a:rPr lang="en-US" dirty="0"/>
              <a:t>Database availability.</a:t>
            </a:r>
          </a:p>
          <a:p>
            <a:endParaRPr lang="en-US" dirty="0"/>
          </a:p>
          <a:p>
            <a:r>
              <a:rPr lang="en-US" dirty="0"/>
              <a:t>Network availability.</a:t>
            </a:r>
          </a:p>
          <a:p>
            <a:endParaRPr lang="en-US" dirty="0"/>
          </a:p>
          <a:p>
            <a:r>
              <a:rPr lang="en-US" dirty="0"/>
              <a:t>Cloud service availability.</a:t>
            </a:r>
          </a:p>
          <a:p>
            <a:endParaRPr lang="en-US" dirty="0"/>
          </a:p>
          <a:p>
            <a:r>
              <a:rPr lang="en-US" dirty="0"/>
              <a:t>Explain:</a:t>
            </a:r>
          </a:p>
          <a:p>
            <a:endParaRPr lang="en-US" dirty="0"/>
          </a:p>
          <a:p>
            <a:r>
              <a:rPr lang="en-US" dirty="0"/>
              <a:t>"Availability is about being there."</a:t>
            </a:r>
          </a:p>
          <a:p>
            <a:endParaRPr lang="en-US" dirty="0"/>
          </a:p>
          <a:p>
            <a:r>
              <a:rPr lang="en-US" dirty="0"/>
              <a:t>------------------------------------------------------------</a:t>
            </a:r>
          </a:p>
          <a:p>
            <a:endParaRPr lang="en-US" dirty="0"/>
          </a:p>
          <a:p>
            <a:r>
              <a:rPr lang="en-US" dirty="0"/>
              <a:t>RESILIENCE</a:t>
            </a:r>
          </a:p>
          <a:p>
            <a:endParaRPr lang="en-US" dirty="0"/>
          </a:p>
          <a:p>
            <a:r>
              <a:rPr lang="en-US" dirty="0"/>
              <a:t>Ask:</a:t>
            </a:r>
          </a:p>
          <a:p>
            <a:endParaRPr lang="en-US" dirty="0"/>
          </a:p>
          <a:p>
            <a:r>
              <a:rPr lang="en-US" dirty="0"/>
              <a:t>"What happens when something fails?"</a:t>
            </a:r>
          </a:p>
          <a:p>
            <a:endParaRPr lang="en-US" dirty="0"/>
          </a:p>
          <a:p>
            <a:r>
              <a:rPr lang="en-US" dirty="0"/>
              <a:t>Resilience means:</a:t>
            </a:r>
          </a:p>
          <a:p>
            <a:endParaRPr lang="en-US" dirty="0"/>
          </a:p>
          <a:p>
            <a:r>
              <a:rPr lang="en-US" dirty="0"/>
              <a:t>The system continues operating where possible.</a:t>
            </a:r>
          </a:p>
          <a:p>
            <a:endParaRPr lang="en-US" dirty="0"/>
          </a:p>
          <a:p>
            <a:r>
              <a:rPr lang="en-US" dirty="0"/>
              <a:t>Failures don't spread unnecessarily.</a:t>
            </a:r>
          </a:p>
          <a:p>
            <a:endParaRPr lang="en-US" dirty="0"/>
          </a:p>
          <a:p>
            <a:r>
              <a:rPr lang="en-US" dirty="0"/>
              <a:t>The application degrades gracefully.</a:t>
            </a:r>
          </a:p>
          <a:p>
            <a:endParaRPr lang="en-US" dirty="0"/>
          </a:p>
          <a:p>
            <a:r>
              <a:rPr lang="en-US" dirty="0"/>
              <a:t>Explain:</a:t>
            </a:r>
          </a:p>
          <a:p>
            <a:endParaRPr lang="en-US" dirty="0"/>
          </a:p>
          <a:p>
            <a:r>
              <a:rPr lang="en-US" dirty="0"/>
              <a:t>"Resilience is how we absorb problems."</a:t>
            </a:r>
          </a:p>
          <a:p>
            <a:endParaRPr lang="en-US" dirty="0"/>
          </a:p>
          <a:p>
            <a:r>
              <a:rPr lang="en-US" dirty="0"/>
              <a:t>------------------------------------------------------------</a:t>
            </a:r>
          </a:p>
          <a:p>
            <a:endParaRPr lang="en-US" dirty="0"/>
          </a:p>
          <a:p>
            <a:r>
              <a:rPr lang="en-US" dirty="0"/>
              <a:t>RECOVERABILITY</a:t>
            </a:r>
          </a:p>
          <a:p>
            <a:endParaRPr lang="en-US" dirty="0"/>
          </a:p>
          <a:p>
            <a:r>
              <a:rPr lang="en-US" dirty="0"/>
              <a:t>Ask:</a:t>
            </a:r>
          </a:p>
          <a:p>
            <a:endParaRPr lang="en-US" dirty="0"/>
          </a:p>
          <a:p>
            <a:r>
              <a:rPr lang="en-US" dirty="0"/>
              <a:t>"If Atlas goes down..."</a:t>
            </a:r>
          </a:p>
          <a:p>
            <a:endParaRPr lang="en-US" dirty="0"/>
          </a:p>
          <a:p>
            <a:r>
              <a:rPr lang="en-US" dirty="0"/>
              <a:t>"Can we get it back?"</a:t>
            </a:r>
          </a:p>
          <a:p>
            <a:endParaRPr lang="en-US" dirty="0"/>
          </a:p>
          <a:p>
            <a:r>
              <a:rPr lang="en-US" dirty="0"/>
              <a:t>Recovery involves:</a:t>
            </a:r>
          </a:p>
          <a:p>
            <a:endParaRPr lang="en-US" dirty="0"/>
          </a:p>
          <a:p>
            <a:r>
              <a:rPr lang="en-US" dirty="0"/>
              <a:t>Backups.</a:t>
            </a:r>
          </a:p>
          <a:p>
            <a:endParaRPr lang="en-US" dirty="0"/>
          </a:p>
          <a:p>
            <a:r>
              <a:rPr lang="en-US" dirty="0"/>
              <a:t>Restore procedures.</a:t>
            </a:r>
          </a:p>
          <a:p>
            <a:endParaRPr lang="en-US" dirty="0"/>
          </a:p>
          <a:p>
            <a:r>
              <a:rPr lang="en-US" dirty="0"/>
              <a:t>Recovery planning.</a:t>
            </a:r>
          </a:p>
          <a:p>
            <a:endParaRPr lang="en-US" dirty="0"/>
          </a:p>
          <a:p>
            <a:r>
              <a:rPr lang="en-US" dirty="0"/>
              <a:t>Testing.</a:t>
            </a:r>
          </a:p>
          <a:p>
            <a:endParaRPr lang="en-US" dirty="0"/>
          </a:p>
          <a:p>
            <a:r>
              <a:rPr lang="en-US" dirty="0"/>
              <a:t>Explain:</a:t>
            </a:r>
          </a:p>
          <a:p>
            <a:endParaRPr lang="en-US" dirty="0"/>
          </a:p>
          <a:p>
            <a:r>
              <a:rPr lang="en-US" dirty="0"/>
              <a:t>"Recovery isn't theoretical."</a:t>
            </a:r>
          </a:p>
          <a:p>
            <a:endParaRPr lang="en-US" dirty="0"/>
          </a:p>
          <a:p>
            <a:r>
              <a:rPr lang="en-US" dirty="0"/>
              <a:t>"We should know what we would do."</a:t>
            </a:r>
          </a:p>
          <a:p>
            <a:endParaRPr lang="en-US" dirty="0"/>
          </a:p>
          <a:p>
            <a:r>
              <a:rPr lang="en-US" dirty="0"/>
              <a:t>------------------------------------------------------------</a:t>
            </a:r>
          </a:p>
          <a:p>
            <a:endParaRPr lang="en-US" dirty="0"/>
          </a:p>
          <a:p>
            <a:r>
              <a:rPr lang="en-US" dirty="0"/>
              <a:t>DATA INTEGRITY</a:t>
            </a:r>
          </a:p>
          <a:p>
            <a:endParaRPr lang="en-US" dirty="0"/>
          </a:p>
          <a:p>
            <a:r>
              <a:rPr lang="en-US" dirty="0"/>
              <a:t>Ask:</a:t>
            </a:r>
          </a:p>
          <a:p>
            <a:endParaRPr lang="en-US" dirty="0"/>
          </a:p>
          <a:p>
            <a:r>
              <a:rPr lang="en-US" dirty="0"/>
              <a:t>"What happens if something fails halfway through an operation?"</a:t>
            </a:r>
          </a:p>
          <a:p>
            <a:endParaRPr lang="en-US" dirty="0"/>
          </a:p>
          <a:p>
            <a:r>
              <a:rPr lang="en-US" dirty="0"/>
              <a:t>Example:</a:t>
            </a:r>
          </a:p>
          <a:p>
            <a:endParaRPr lang="en-US" dirty="0"/>
          </a:p>
          <a:p>
            <a:r>
              <a:rPr lang="en-US" dirty="0"/>
              <a:t>A task is partially updated.</a:t>
            </a:r>
          </a:p>
          <a:p>
            <a:endParaRPr lang="en-US" dirty="0"/>
          </a:p>
          <a:p>
            <a:r>
              <a:rPr lang="en-US" dirty="0"/>
              <a:t>Explain:</a:t>
            </a:r>
          </a:p>
          <a:p>
            <a:endParaRPr lang="en-US" dirty="0"/>
          </a:p>
          <a:p>
            <a:r>
              <a:rPr lang="en-US" dirty="0"/>
              <a:t>"We don't want corrupted or inconsistent data."</a:t>
            </a:r>
          </a:p>
          <a:p>
            <a:endParaRPr lang="en-US" dirty="0"/>
          </a:p>
          <a:p>
            <a:r>
              <a:rPr lang="en-US" dirty="0"/>
              <a:t>Data integrity means:</a:t>
            </a:r>
          </a:p>
          <a:p>
            <a:endParaRPr lang="en-US" dirty="0"/>
          </a:p>
          <a:p>
            <a:r>
              <a:rPr lang="en-US" dirty="0"/>
              <a:t>Correct.</a:t>
            </a:r>
          </a:p>
          <a:p>
            <a:endParaRPr lang="en-US" dirty="0"/>
          </a:p>
          <a:p>
            <a:r>
              <a:rPr lang="en-US" dirty="0"/>
              <a:t>Consistent.</a:t>
            </a:r>
          </a:p>
          <a:p>
            <a:endParaRPr lang="en-US" dirty="0"/>
          </a:p>
          <a:p>
            <a:r>
              <a:rPr lang="en-US" dirty="0"/>
              <a:t>Authorized.</a:t>
            </a:r>
          </a:p>
          <a:p>
            <a:endParaRPr lang="en-US" dirty="0"/>
          </a:p>
          <a:p>
            <a:r>
              <a:rPr lang="en-US" dirty="0"/>
              <a:t>Reliable.</a:t>
            </a:r>
          </a:p>
          <a:p>
            <a:endParaRPr lang="en-US" dirty="0"/>
          </a:p>
          <a:p>
            <a:r>
              <a:rPr lang="en-US" dirty="0"/>
              <a:t>------------------------------------------------------------</a:t>
            </a:r>
          </a:p>
          <a:p>
            <a:endParaRPr lang="en-US" dirty="0"/>
          </a:p>
          <a:p>
            <a:r>
              <a:rPr lang="en-US" dirty="0"/>
              <a:t>USER CONFIDENCE</a:t>
            </a:r>
          </a:p>
          <a:p>
            <a:endParaRPr lang="en-US" dirty="0"/>
          </a:p>
          <a:p>
            <a:r>
              <a:rPr lang="en-US" dirty="0"/>
              <a:t>Ask:</a:t>
            </a:r>
          </a:p>
          <a:p>
            <a:endParaRPr lang="en-US" dirty="0"/>
          </a:p>
          <a:p>
            <a:r>
              <a:rPr lang="en-US" dirty="0"/>
              <a:t>"Would users trust Atlas after something goes wrong?"</a:t>
            </a:r>
          </a:p>
          <a:p>
            <a:endParaRPr lang="en-US" dirty="0"/>
          </a:p>
          <a:p>
            <a:r>
              <a:rPr lang="en-US" dirty="0"/>
              <a:t>Explain:</a:t>
            </a:r>
          </a:p>
          <a:p>
            <a:endParaRPr lang="en-US" dirty="0"/>
          </a:p>
          <a:p>
            <a:r>
              <a:rPr lang="en-US" dirty="0"/>
              <a:t>A good error message.</a:t>
            </a:r>
          </a:p>
          <a:p>
            <a:endParaRPr lang="en-US" dirty="0"/>
          </a:p>
          <a:p>
            <a:r>
              <a:rPr lang="en-US" dirty="0"/>
              <a:t>Reliable recovery.</a:t>
            </a:r>
          </a:p>
          <a:p>
            <a:endParaRPr lang="en-US" dirty="0"/>
          </a:p>
          <a:p>
            <a:r>
              <a:rPr lang="en-US" dirty="0"/>
              <a:t>Clear communication.</a:t>
            </a:r>
          </a:p>
          <a:p>
            <a:endParaRPr lang="en-US" dirty="0"/>
          </a:p>
          <a:p>
            <a:r>
              <a:rPr lang="en-US" dirty="0"/>
              <a:t>Consistent behavior.</a:t>
            </a:r>
          </a:p>
          <a:p>
            <a:endParaRPr lang="en-US" dirty="0"/>
          </a:p>
          <a:p>
            <a:r>
              <a:rPr lang="en-US" dirty="0"/>
              <a:t>All build confidence.</a:t>
            </a:r>
          </a:p>
          <a:p>
            <a:endParaRPr lang="en-US" dirty="0"/>
          </a:p>
          <a:p>
            <a:r>
              <a:rPr lang="en-US" dirty="0"/>
              <a:t>------------------------------------------------------------</a:t>
            </a:r>
          </a:p>
          <a:p>
            <a:endParaRPr lang="en-US" dirty="0"/>
          </a:p>
          <a:p>
            <a:r>
              <a:rPr lang="en-US" dirty="0"/>
              <a:t>RELIABILITY BEST PRACTICES</a:t>
            </a:r>
          </a:p>
          <a:p>
            <a:endParaRPr lang="en-US" dirty="0"/>
          </a:p>
          <a:p>
            <a:r>
              <a:rPr lang="en-US" dirty="0"/>
              <a:t>Move to the right panel.</a:t>
            </a:r>
          </a:p>
          <a:p>
            <a:endParaRPr lang="en-US" dirty="0"/>
          </a:p>
          <a:p>
            <a:r>
              <a:rPr lang="en-US" dirty="0"/>
              <a:t>We'll walk through each.</a:t>
            </a:r>
          </a:p>
          <a:p>
            <a:endParaRPr lang="en-US" dirty="0"/>
          </a:p>
          <a:p>
            <a:r>
              <a:rPr lang="en-US" dirty="0"/>
              <a:t>------------------------------------------------------------</a:t>
            </a:r>
          </a:p>
          <a:p>
            <a:endParaRPr lang="en-US" dirty="0"/>
          </a:p>
          <a:p>
            <a:r>
              <a:rPr lang="en-US" dirty="0"/>
              <a:t>FAIL GRACEFULLY</a:t>
            </a:r>
          </a:p>
          <a:p>
            <a:endParaRPr lang="en-US" dirty="0"/>
          </a:p>
          <a:p>
            <a:r>
              <a:rPr lang="en-US" dirty="0"/>
              <a:t>"Show helpful messages, not technical errors."</a:t>
            </a:r>
          </a:p>
          <a:p>
            <a:endParaRPr lang="en-US" dirty="0"/>
          </a:p>
          <a:p>
            <a:r>
              <a:rPr lang="en-US" dirty="0"/>
              <a:t>Connect to the earlier example.</a:t>
            </a:r>
          </a:p>
          <a:p>
            <a:endParaRPr lang="en-US" dirty="0"/>
          </a:p>
          <a:p>
            <a:r>
              <a:rPr lang="en-US" dirty="0"/>
              <a:t>------------------------------------------------------------</a:t>
            </a:r>
          </a:p>
          <a:p>
            <a:endParaRPr lang="en-US" dirty="0"/>
          </a:p>
          <a:p>
            <a:r>
              <a:rPr lang="en-US" dirty="0"/>
              <a:t>VALIDATE EVERYTHING</a:t>
            </a:r>
          </a:p>
          <a:p>
            <a:endParaRPr lang="en-US" dirty="0"/>
          </a:p>
          <a:p>
            <a:r>
              <a:rPr lang="en-US" dirty="0"/>
              <a:t>Explain:</a:t>
            </a:r>
          </a:p>
          <a:p>
            <a:endParaRPr lang="en-US" dirty="0"/>
          </a:p>
          <a:p>
            <a:r>
              <a:rPr lang="en-US" dirty="0"/>
              <a:t>Validate:</a:t>
            </a:r>
          </a:p>
          <a:p>
            <a:endParaRPr lang="en-US" dirty="0"/>
          </a:p>
          <a:p>
            <a:r>
              <a:rPr lang="en-US" dirty="0"/>
              <a:t>Input.</a:t>
            </a:r>
          </a:p>
          <a:p>
            <a:endParaRPr lang="en-US" dirty="0"/>
          </a:p>
          <a:p>
            <a:r>
              <a:rPr lang="en-US" dirty="0"/>
              <a:t>Data.</a:t>
            </a:r>
          </a:p>
          <a:p>
            <a:endParaRPr lang="en-US" dirty="0"/>
          </a:p>
          <a:p>
            <a:r>
              <a:rPr lang="en-US" dirty="0"/>
              <a:t>Configuration.</a:t>
            </a:r>
          </a:p>
          <a:p>
            <a:endParaRPr lang="en-US" dirty="0"/>
          </a:p>
          <a:p>
            <a:r>
              <a:rPr lang="en-US" dirty="0"/>
              <a:t>External responses.</a:t>
            </a:r>
          </a:p>
          <a:p>
            <a:endParaRPr lang="en-US" dirty="0"/>
          </a:p>
          <a:p>
            <a:r>
              <a:rPr lang="en-US" dirty="0"/>
              <a:t>"Don't assume data is always correct."</a:t>
            </a:r>
          </a:p>
          <a:p>
            <a:endParaRPr lang="en-US" dirty="0"/>
          </a:p>
          <a:p>
            <a:r>
              <a:rPr lang="en-US" dirty="0"/>
              <a:t>------------------------------------------------------------</a:t>
            </a:r>
          </a:p>
          <a:p>
            <a:endParaRPr lang="en-US" dirty="0"/>
          </a:p>
          <a:p>
            <a:r>
              <a:rPr lang="en-US" dirty="0"/>
              <a:t>USE TIMEOUTS</a:t>
            </a:r>
          </a:p>
          <a:p>
            <a:endParaRPr lang="en-US" dirty="0"/>
          </a:p>
          <a:p>
            <a:r>
              <a:rPr lang="en-US" dirty="0"/>
              <a:t>Explain:</a:t>
            </a:r>
          </a:p>
          <a:p>
            <a:endParaRPr lang="en-US" dirty="0"/>
          </a:p>
          <a:p>
            <a:r>
              <a:rPr lang="en-US" dirty="0"/>
              <a:t>"Don't wait forever for a service that isn't responding."</a:t>
            </a:r>
          </a:p>
          <a:p>
            <a:endParaRPr lang="en-US" dirty="0"/>
          </a:p>
          <a:p>
            <a:r>
              <a:rPr lang="en-US" dirty="0"/>
              <a:t>If an external service hangs:</a:t>
            </a:r>
          </a:p>
          <a:p>
            <a:endParaRPr lang="en-US" dirty="0"/>
          </a:p>
          <a:p>
            <a:r>
              <a:rPr lang="en-US" dirty="0"/>
              <a:t>Set a reasonable timeout.</a:t>
            </a:r>
          </a:p>
          <a:p>
            <a:endParaRPr lang="en-US" dirty="0"/>
          </a:p>
          <a:p>
            <a:r>
              <a:rPr lang="en-US" dirty="0"/>
              <a:t>Handle the timeout.</a:t>
            </a:r>
          </a:p>
          <a:p>
            <a:endParaRPr lang="en-US" dirty="0"/>
          </a:p>
          <a:p>
            <a:r>
              <a:rPr lang="en-US" dirty="0"/>
              <a:t>Tell the user what happened.</a:t>
            </a:r>
          </a:p>
          <a:p>
            <a:endParaRPr lang="en-US" dirty="0"/>
          </a:p>
          <a:p>
            <a:r>
              <a:rPr lang="en-US" dirty="0"/>
              <a:t>------------------------------------------------------------</a:t>
            </a:r>
          </a:p>
          <a:p>
            <a:endParaRPr lang="en-US" dirty="0"/>
          </a:p>
          <a:p>
            <a:r>
              <a:rPr lang="en-US" dirty="0"/>
              <a:t>RETRY WISELY</a:t>
            </a:r>
          </a:p>
          <a:p>
            <a:endParaRPr lang="en-US" dirty="0"/>
          </a:p>
          <a:p>
            <a:r>
              <a:rPr lang="en-US" dirty="0"/>
              <a:t>Explain:</a:t>
            </a:r>
          </a:p>
          <a:p>
            <a:endParaRPr lang="en-US" dirty="0"/>
          </a:p>
          <a:p>
            <a:r>
              <a:rPr lang="en-US" dirty="0"/>
              <a:t>"Sometimes a temporary failure can succeed if we try again."</a:t>
            </a:r>
          </a:p>
          <a:p>
            <a:endParaRPr lang="en-US" dirty="0"/>
          </a:p>
          <a:p>
            <a:r>
              <a:rPr lang="en-US" dirty="0"/>
              <a:t>But:</a:t>
            </a:r>
          </a:p>
          <a:p>
            <a:endParaRPr lang="en-US" dirty="0"/>
          </a:p>
          <a:p>
            <a:r>
              <a:rPr lang="en-US" dirty="0"/>
              <a:t>"Don't retry forever."</a:t>
            </a:r>
          </a:p>
          <a:p>
            <a:endParaRPr lang="en-US" dirty="0"/>
          </a:p>
          <a:p>
            <a:r>
              <a:rPr lang="en-US" dirty="0"/>
              <a:t>Use:</a:t>
            </a:r>
          </a:p>
          <a:p>
            <a:endParaRPr lang="en-US" dirty="0"/>
          </a:p>
          <a:p>
            <a:r>
              <a:rPr lang="en-US" dirty="0"/>
              <a:t>Limits.</a:t>
            </a:r>
          </a:p>
          <a:p>
            <a:endParaRPr lang="en-US" dirty="0"/>
          </a:p>
          <a:p>
            <a:r>
              <a:rPr lang="en-US" dirty="0"/>
              <a:t>Backoff.</a:t>
            </a:r>
          </a:p>
          <a:p>
            <a:endParaRPr lang="en-US" dirty="0"/>
          </a:p>
          <a:p>
            <a:r>
              <a:rPr lang="en-US" dirty="0"/>
              <a:t>Appropriate conditions.</a:t>
            </a:r>
          </a:p>
          <a:p>
            <a:endParaRPr lang="en-US" dirty="0"/>
          </a:p>
          <a:p>
            <a:r>
              <a:rPr lang="en-US" dirty="0"/>
              <a:t>This prevents making the problem worse.</a:t>
            </a:r>
          </a:p>
          <a:p>
            <a:endParaRPr lang="en-US" dirty="0"/>
          </a:p>
          <a:p>
            <a:r>
              <a:rPr lang="en-US" dirty="0"/>
              <a:t>------------------------------------------------------------</a:t>
            </a:r>
          </a:p>
          <a:p>
            <a:endParaRPr lang="en-US" dirty="0"/>
          </a:p>
          <a:p>
            <a:r>
              <a:rPr lang="en-US" dirty="0"/>
              <a:t>LOG WHAT MATTERS</a:t>
            </a:r>
          </a:p>
          <a:p>
            <a:endParaRPr lang="en-US" dirty="0"/>
          </a:p>
          <a:p>
            <a:r>
              <a:rPr lang="en-US" dirty="0"/>
              <a:t>Explain:</a:t>
            </a:r>
          </a:p>
          <a:p>
            <a:endParaRPr lang="en-US" dirty="0"/>
          </a:p>
          <a:p>
            <a:r>
              <a:rPr lang="en-US" dirty="0"/>
              <a:t>"Logs should help us understand what happened."</a:t>
            </a:r>
          </a:p>
          <a:p>
            <a:endParaRPr lang="en-US" dirty="0"/>
          </a:p>
          <a:p>
            <a:r>
              <a:rPr lang="en-US" dirty="0"/>
              <a:t>Log:</a:t>
            </a:r>
          </a:p>
          <a:p>
            <a:endParaRPr lang="en-US" dirty="0"/>
          </a:p>
          <a:p>
            <a:r>
              <a:rPr lang="en-US" dirty="0"/>
              <a:t>Errors.</a:t>
            </a:r>
          </a:p>
          <a:p>
            <a:endParaRPr lang="en-US" dirty="0"/>
          </a:p>
          <a:p>
            <a:r>
              <a:rPr lang="en-US" dirty="0"/>
              <a:t>Important events.</a:t>
            </a:r>
          </a:p>
          <a:p>
            <a:endParaRPr lang="en-US" dirty="0"/>
          </a:p>
          <a:p>
            <a:r>
              <a:rPr lang="en-US" dirty="0"/>
              <a:t>Relevant context.</a:t>
            </a:r>
          </a:p>
          <a:p>
            <a:endParaRPr lang="en-US" dirty="0"/>
          </a:p>
          <a:p>
            <a:r>
              <a:rPr lang="en-US" dirty="0"/>
              <a:t>Don't log:</a:t>
            </a:r>
          </a:p>
          <a:p>
            <a:endParaRPr lang="en-US" dirty="0"/>
          </a:p>
          <a:p>
            <a:r>
              <a:rPr lang="en-US" dirty="0"/>
              <a:t>Passwords.</a:t>
            </a:r>
          </a:p>
          <a:p>
            <a:endParaRPr lang="en-US" dirty="0"/>
          </a:p>
          <a:p>
            <a:r>
              <a:rPr lang="en-US" dirty="0"/>
              <a:t>Secrets.</a:t>
            </a:r>
          </a:p>
          <a:p>
            <a:endParaRPr lang="en-US" dirty="0"/>
          </a:p>
          <a:p>
            <a:r>
              <a:rPr lang="en-US" dirty="0"/>
              <a:t>Sensitive information unnecessarily.</a:t>
            </a:r>
          </a:p>
          <a:p>
            <a:endParaRPr lang="en-US" dirty="0"/>
          </a:p>
          <a:p>
            <a:r>
              <a:rPr lang="en-US" dirty="0"/>
              <a:t>------------------------------------------------------------</a:t>
            </a:r>
          </a:p>
          <a:p>
            <a:endParaRPr lang="en-US" dirty="0"/>
          </a:p>
          <a:p>
            <a:r>
              <a:rPr lang="en-US" dirty="0"/>
              <a:t>HANDLE EXCEPTIONS</a:t>
            </a:r>
          </a:p>
          <a:p>
            <a:endParaRPr lang="en-US" dirty="0"/>
          </a:p>
          <a:p>
            <a:r>
              <a:rPr lang="en-US" dirty="0"/>
              <a:t>Explain:</a:t>
            </a:r>
          </a:p>
          <a:p>
            <a:endParaRPr lang="en-US" dirty="0"/>
          </a:p>
          <a:p>
            <a:r>
              <a:rPr lang="en-US" dirty="0"/>
              <a:t>"Unexpected problems need controlled handling."</a:t>
            </a:r>
          </a:p>
          <a:p>
            <a:endParaRPr lang="en-US" dirty="0"/>
          </a:p>
          <a:p>
            <a:r>
              <a:rPr lang="en-US" dirty="0"/>
              <a:t>Avoid:</a:t>
            </a:r>
          </a:p>
          <a:p>
            <a:endParaRPr lang="en-US" dirty="0"/>
          </a:p>
          <a:p>
            <a:r>
              <a:rPr lang="en-US" dirty="0"/>
              <a:t>Empty catch blocks.</a:t>
            </a:r>
          </a:p>
          <a:p>
            <a:endParaRPr lang="en-US" dirty="0"/>
          </a:p>
          <a:p>
            <a:r>
              <a:rPr lang="en-US" dirty="0"/>
              <a:t>Swallowing errors.</a:t>
            </a:r>
          </a:p>
          <a:p>
            <a:endParaRPr lang="en-US" dirty="0"/>
          </a:p>
          <a:p>
            <a:r>
              <a:rPr lang="en-US" dirty="0"/>
              <a:t>Showing technical details to users.</a:t>
            </a:r>
          </a:p>
          <a:p>
            <a:endParaRPr lang="en-US" dirty="0"/>
          </a:p>
          <a:p>
            <a:r>
              <a:rPr lang="en-US" dirty="0"/>
              <a:t>Instead:</a:t>
            </a:r>
          </a:p>
          <a:p>
            <a:endParaRPr lang="en-US" dirty="0"/>
          </a:p>
          <a:p>
            <a:r>
              <a:rPr lang="en-US" dirty="0"/>
              <a:t>Handle.</a:t>
            </a:r>
          </a:p>
          <a:p>
            <a:endParaRPr lang="en-US" dirty="0"/>
          </a:p>
          <a:p>
            <a:r>
              <a:rPr lang="en-US" dirty="0"/>
              <a:t>Log.</a:t>
            </a:r>
          </a:p>
          <a:p>
            <a:endParaRPr lang="en-US" dirty="0"/>
          </a:p>
          <a:p>
            <a:r>
              <a:rPr lang="en-US" dirty="0"/>
              <a:t>Respond appropriately.</a:t>
            </a:r>
          </a:p>
          <a:p>
            <a:endParaRPr lang="en-US" dirty="0"/>
          </a:p>
          <a:p>
            <a:r>
              <a:rPr lang="en-US" dirty="0"/>
              <a:t>------------------------------------------------------------</a:t>
            </a:r>
          </a:p>
          <a:p>
            <a:endParaRPr lang="en-US" dirty="0"/>
          </a:p>
          <a:p>
            <a:r>
              <a:rPr lang="en-US" dirty="0"/>
              <a:t>DESIGN FOR RECOVERY</a:t>
            </a:r>
          </a:p>
          <a:p>
            <a:endParaRPr lang="en-US" dirty="0"/>
          </a:p>
          <a:p>
            <a:r>
              <a:rPr lang="en-US" dirty="0"/>
              <a:t>Ask:</a:t>
            </a:r>
          </a:p>
          <a:p>
            <a:endParaRPr lang="en-US" dirty="0"/>
          </a:p>
          <a:p>
            <a:r>
              <a:rPr lang="en-US" dirty="0"/>
              <a:t>"If this fails..."</a:t>
            </a:r>
          </a:p>
          <a:p>
            <a:endParaRPr lang="en-US" dirty="0"/>
          </a:p>
          <a:p>
            <a:r>
              <a:rPr lang="en-US" dirty="0"/>
              <a:t>"How do we get back?"</a:t>
            </a:r>
          </a:p>
          <a:p>
            <a:endParaRPr lang="en-US" dirty="0"/>
          </a:p>
          <a:p>
            <a:r>
              <a:rPr lang="en-US" dirty="0"/>
              <a:t>Examples:</a:t>
            </a:r>
          </a:p>
          <a:p>
            <a:endParaRPr lang="en-US" dirty="0"/>
          </a:p>
          <a:p>
            <a:r>
              <a:rPr lang="en-US" dirty="0"/>
              <a:t>Backup.</a:t>
            </a:r>
          </a:p>
          <a:p>
            <a:endParaRPr lang="en-US" dirty="0"/>
          </a:p>
          <a:p>
            <a:r>
              <a:rPr lang="en-US" dirty="0"/>
              <a:t>Restore.</a:t>
            </a:r>
          </a:p>
          <a:p>
            <a:endParaRPr lang="en-US" dirty="0"/>
          </a:p>
          <a:p>
            <a:r>
              <a:rPr lang="en-US" dirty="0"/>
              <a:t>Retry.</a:t>
            </a:r>
          </a:p>
          <a:p>
            <a:endParaRPr lang="en-US" dirty="0"/>
          </a:p>
          <a:p>
            <a:r>
              <a:rPr lang="en-US" dirty="0"/>
              <a:t>Fallback.</a:t>
            </a:r>
          </a:p>
          <a:p>
            <a:endParaRPr lang="en-US" dirty="0"/>
          </a:p>
          <a:p>
            <a:r>
              <a:rPr lang="en-US" dirty="0"/>
              <a:t>Restart.</a:t>
            </a:r>
          </a:p>
          <a:p>
            <a:endParaRPr lang="en-US" dirty="0"/>
          </a:p>
          <a:p>
            <a:r>
              <a:rPr lang="en-US" dirty="0"/>
              <a:t>Manual intervention.</a:t>
            </a:r>
          </a:p>
          <a:p>
            <a:endParaRPr lang="en-US" dirty="0"/>
          </a:p>
          <a:p>
            <a:r>
              <a:rPr lang="en-US" dirty="0"/>
              <a:t>------------------------------------------------------------</a:t>
            </a:r>
          </a:p>
          <a:p>
            <a:endParaRPr lang="en-US" dirty="0"/>
          </a:p>
          <a:p>
            <a:r>
              <a:rPr lang="en-US" dirty="0"/>
              <a:t>TEST FAILURE SCENARIOS</a:t>
            </a:r>
          </a:p>
          <a:p>
            <a:endParaRPr lang="en-US" dirty="0"/>
          </a:p>
          <a:p>
            <a:r>
              <a:rPr lang="en-US" dirty="0"/>
              <a:t>Point to:</a:t>
            </a:r>
          </a:p>
          <a:p>
            <a:endParaRPr lang="en-US" dirty="0"/>
          </a:p>
          <a:p>
            <a:r>
              <a:rPr lang="en-US" dirty="0"/>
              <a:t>"Test what can go wrong, not just what works."</a:t>
            </a:r>
          </a:p>
          <a:p>
            <a:endParaRPr lang="en-US" dirty="0"/>
          </a:p>
          <a:p>
            <a:r>
              <a:rPr lang="en-US" dirty="0"/>
              <a:t>This is one of the most important ideas in the poster.</a:t>
            </a:r>
          </a:p>
          <a:p>
            <a:endParaRPr lang="en-US" dirty="0"/>
          </a:p>
          <a:p>
            <a:r>
              <a:rPr lang="en-US" dirty="0"/>
              <a:t>Ask:</a:t>
            </a:r>
          </a:p>
          <a:p>
            <a:endParaRPr lang="en-US" dirty="0"/>
          </a:p>
          <a:p>
            <a:r>
              <a:rPr lang="en-US" dirty="0"/>
              <a:t>"Have you ever tested what happens when the database is unavailable?"</a:t>
            </a:r>
          </a:p>
          <a:p>
            <a:endParaRPr lang="en-US" dirty="0"/>
          </a:p>
          <a:p>
            <a:r>
              <a:rPr lang="en-US" dirty="0"/>
              <a:t>"How about a slow API?"</a:t>
            </a:r>
          </a:p>
          <a:p>
            <a:endParaRPr lang="en-US" dirty="0"/>
          </a:p>
          <a:p>
            <a:r>
              <a:rPr lang="en-US" dirty="0"/>
              <a:t>"How about invalid input?"</a:t>
            </a:r>
          </a:p>
          <a:p>
            <a:endParaRPr lang="en-US" dirty="0"/>
          </a:p>
          <a:p>
            <a:r>
              <a:rPr lang="en-US" dirty="0"/>
              <a:t>Explain:</a:t>
            </a:r>
          </a:p>
          <a:p>
            <a:endParaRPr lang="en-US" dirty="0"/>
          </a:p>
          <a:p>
            <a:r>
              <a:rPr lang="en-US" dirty="0"/>
              <a:t>"Those are reliability tests."</a:t>
            </a:r>
          </a:p>
          <a:p>
            <a:endParaRPr lang="en-US" dirty="0"/>
          </a:p>
          <a:p>
            <a:r>
              <a:rPr lang="en-US" dirty="0"/>
              <a:t>------------------------------------------------------------</a:t>
            </a:r>
          </a:p>
          <a:p>
            <a:endParaRPr lang="en-US" dirty="0"/>
          </a:p>
          <a:p>
            <a:r>
              <a:rPr lang="en-US" dirty="0"/>
              <a:t>KEEP IT SIMPLE</a:t>
            </a:r>
          </a:p>
          <a:p>
            <a:endParaRPr lang="en-US" dirty="0"/>
          </a:p>
          <a:p>
            <a:r>
              <a:rPr lang="en-US" dirty="0"/>
              <a:t>Explain:</a:t>
            </a:r>
          </a:p>
          <a:p>
            <a:endParaRPr lang="en-US" dirty="0"/>
          </a:p>
          <a:p>
            <a:r>
              <a:rPr lang="en-US" dirty="0"/>
              <a:t>"Complex systems have more ways to fail."</a:t>
            </a:r>
          </a:p>
          <a:p>
            <a:endParaRPr lang="en-US" dirty="0"/>
          </a:p>
          <a:p>
            <a:r>
              <a:rPr lang="en-US" dirty="0"/>
              <a:t>Don't introduce unnecessary complexity.</a:t>
            </a:r>
          </a:p>
          <a:p>
            <a:endParaRPr lang="en-US" dirty="0"/>
          </a:p>
          <a:p>
            <a:r>
              <a:rPr lang="en-US" dirty="0"/>
              <a:t>For Atlas:</a:t>
            </a:r>
          </a:p>
          <a:p>
            <a:endParaRPr lang="en-US" dirty="0"/>
          </a:p>
          <a:p>
            <a:r>
              <a:rPr lang="en-US" dirty="0"/>
              <a:t>Simple.</a:t>
            </a:r>
          </a:p>
          <a:p>
            <a:endParaRPr lang="en-US" dirty="0"/>
          </a:p>
          <a:p>
            <a:r>
              <a:rPr lang="en-US" dirty="0"/>
              <a:t>Understandable.</a:t>
            </a:r>
          </a:p>
          <a:p>
            <a:endParaRPr lang="en-US" dirty="0"/>
          </a:p>
          <a:p>
            <a:r>
              <a:rPr lang="en-US" dirty="0"/>
              <a:t>Maintainable.</a:t>
            </a:r>
          </a:p>
          <a:p>
            <a:endParaRPr lang="en-US" dirty="0"/>
          </a:p>
          <a:p>
            <a:r>
              <a:rPr lang="en-US" dirty="0"/>
              <a:t>Testable.</a:t>
            </a:r>
          </a:p>
          <a:p>
            <a:endParaRPr lang="en-US" dirty="0"/>
          </a:p>
          <a:p>
            <a:r>
              <a:rPr lang="en-US" dirty="0"/>
              <a:t>------------------------------------------------------------</a:t>
            </a:r>
          </a:p>
          <a:p>
            <a:endParaRPr lang="en-US" dirty="0"/>
          </a:p>
          <a:p>
            <a:r>
              <a:rPr lang="en-US" dirty="0"/>
              <a:t>RELIABILITY DESIGN PATTERNS</a:t>
            </a:r>
          </a:p>
          <a:p>
            <a:endParaRPr lang="en-US" dirty="0"/>
          </a:p>
          <a:p>
            <a:r>
              <a:rPr lang="en-US" dirty="0"/>
              <a:t>Point to the right-middle panel.</a:t>
            </a:r>
          </a:p>
          <a:p>
            <a:endParaRPr lang="en-US" dirty="0"/>
          </a:p>
          <a:p>
            <a:r>
              <a:rPr lang="en-US" dirty="0"/>
              <a:t>Say:</a:t>
            </a:r>
          </a:p>
          <a:p>
            <a:endParaRPr lang="en-US" dirty="0"/>
          </a:p>
          <a:p>
            <a:r>
              <a:rPr lang="en-US" dirty="0"/>
              <a:t>"These are common patterns engineers use to improve reliability."</a:t>
            </a:r>
          </a:p>
          <a:p>
            <a:endParaRPr lang="en-US" dirty="0"/>
          </a:p>
          <a:p>
            <a:r>
              <a:rPr lang="en-US" dirty="0"/>
              <a:t>We aren't implementing every one of these in Atlas.</a:t>
            </a:r>
          </a:p>
          <a:p>
            <a:endParaRPr lang="en-US" dirty="0"/>
          </a:p>
          <a:p>
            <a:r>
              <a:rPr lang="en-US" dirty="0"/>
              <a:t>We're learning what they mean and when they matter.</a:t>
            </a:r>
          </a:p>
          <a:p>
            <a:endParaRPr lang="en-US" dirty="0"/>
          </a:p>
          <a:p>
            <a:r>
              <a:rPr lang="en-US" dirty="0"/>
              <a:t>------------------------------------------------------------</a:t>
            </a:r>
          </a:p>
          <a:p>
            <a:endParaRPr lang="en-US" dirty="0"/>
          </a:p>
          <a:p>
            <a:r>
              <a:rPr lang="en-US" dirty="0"/>
              <a:t>CIRCUIT BREAKER</a:t>
            </a:r>
          </a:p>
          <a:p>
            <a:endParaRPr lang="en-US" dirty="0"/>
          </a:p>
          <a:p>
            <a:r>
              <a:rPr lang="en-US" dirty="0"/>
              <a:t>Explain:</a:t>
            </a:r>
          </a:p>
          <a:p>
            <a:endParaRPr lang="en-US" dirty="0"/>
          </a:p>
          <a:p>
            <a:r>
              <a:rPr lang="en-US" dirty="0"/>
              <a:t>"Stop repeatedly calling a service that is already failing."</a:t>
            </a:r>
          </a:p>
          <a:p>
            <a:endParaRPr lang="en-US" dirty="0"/>
          </a:p>
          <a:p>
            <a:r>
              <a:rPr lang="en-US" dirty="0"/>
              <a:t>Example:</a:t>
            </a:r>
          </a:p>
          <a:p>
            <a:endParaRPr lang="en-US" dirty="0"/>
          </a:p>
          <a:p>
            <a:r>
              <a:rPr lang="en-US" dirty="0"/>
              <a:t>External API is down.</a:t>
            </a:r>
          </a:p>
          <a:p>
            <a:endParaRPr lang="en-US" dirty="0"/>
          </a:p>
          <a:p>
            <a:r>
              <a:rPr lang="en-US" dirty="0"/>
              <a:t>Instead of sending hundreds of requests:</a:t>
            </a:r>
          </a:p>
          <a:p>
            <a:endParaRPr lang="en-US" dirty="0"/>
          </a:p>
          <a:p>
            <a:r>
              <a:rPr lang="en-US" dirty="0"/>
              <a:t>Stop.</a:t>
            </a:r>
          </a:p>
          <a:p>
            <a:endParaRPr lang="en-US" dirty="0"/>
          </a:p>
          <a:p>
            <a:r>
              <a:rPr lang="en-US" dirty="0"/>
              <a:t>Wait.</a:t>
            </a:r>
          </a:p>
          <a:p>
            <a:endParaRPr lang="en-US" dirty="0"/>
          </a:p>
          <a:p>
            <a:r>
              <a:rPr lang="en-US" dirty="0"/>
              <a:t>Try again later.</a:t>
            </a:r>
          </a:p>
          <a:p>
            <a:endParaRPr lang="en-US" dirty="0"/>
          </a:p>
          <a:p>
            <a:r>
              <a:rPr lang="en-US" dirty="0"/>
              <a:t>The goal:</a:t>
            </a:r>
          </a:p>
          <a:p>
            <a:endParaRPr lang="en-US" dirty="0"/>
          </a:p>
          <a:p>
            <a:r>
              <a:rPr lang="en-US" dirty="0"/>
              <a:t>Prevent cascading failure.</a:t>
            </a:r>
          </a:p>
          <a:p>
            <a:endParaRPr lang="en-US" dirty="0"/>
          </a:p>
          <a:p>
            <a:r>
              <a:rPr lang="en-US" dirty="0"/>
              <a:t>------------------------------------------------------------</a:t>
            </a:r>
          </a:p>
          <a:p>
            <a:endParaRPr lang="en-US" dirty="0"/>
          </a:p>
          <a:p>
            <a:r>
              <a:rPr lang="en-US" dirty="0"/>
              <a:t>RETRY WITH BACKOFF</a:t>
            </a:r>
          </a:p>
          <a:p>
            <a:endParaRPr lang="en-US" dirty="0"/>
          </a:p>
          <a:p>
            <a:r>
              <a:rPr lang="en-US" dirty="0"/>
              <a:t>Explain:</a:t>
            </a:r>
          </a:p>
          <a:p>
            <a:endParaRPr lang="en-US" dirty="0"/>
          </a:p>
          <a:p>
            <a:r>
              <a:rPr lang="en-US" dirty="0"/>
              <a:t>"Don't retry immediately over and over."</a:t>
            </a:r>
          </a:p>
          <a:p>
            <a:endParaRPr lang="en-US" dirty="0"/>
          </a:p>
          <a:p>
            <a:r>
              <a:rPr lang="en-US" dirty="0"/>
              <a:t>Instead:</a:t>
            </a:r>
          </a:p>
          <a:p>
            <a:endParaRPr lang="en-US" dirty="0"/>
          </a:p>
          <a:p>
            <a:r>
              <a:rPr lang="en-US" dirty="0"/>
              <a:t>Try.</a:t>
            </a:r>
          </a:p>
          <a:p>
            <a:endParaRPr lang="en-US" dirty="0"/>
          </a:p>
          <a:p>
            <a:r>
              <a:rPr lang="en-US" dirty="0"/>
              <a:t>Wait.</a:t>
            </a:r>
          </a:p>
          <a:p>
            <a:endParaRPr lang="en-US" dirty="0"/>
          </a:p>
          <a:p>
            <a:r>
              <a:rPr lang="en-US" dirty="0"/>
              <a:t>Try again.</a:t>
            </a:r>
          </a:p>
          <a:p>
            <a:endParaRPr lang="en-US" dirty="0"/>
          </a:p>
          <a:p>
            <a:r>
              <a:rPr lang="en-US" dirty="0"/>
              <a:t>Wait longer.</a:t>
            </a:r>
          </a:p>
          <a:p>
            <a:endParaRPr lang="en-US" dirty="0"/>
          </a:p>
          <a:p>
            <a:r>
              <a:rPr lang="en-US" dirty="0"/>
              <a:t>Then stop.</a:t>
            </a:r>
          </a:p>
          <a:p>
            <a:endParaRPr lang="en-US" dirty="0"/>
          </a:p>
          <a:p>
            <a:r>
              <a:rPr lang="en-US" dirty="0"/>
              <a:t>Explain:</a:t>
            </a:r>
          </a:p>
          <a:p>
            <a:endParaRPr lang="en-US" dirty="0"/>
          </a:p>
          <a:p>
            <a:r>
              <a:rPr lang="en-US" dirty="0"/>
              <a:t>"Retries need limits."</a:t>
            </a:r>
          </a:p>
          <a:p>
            <a:endParaRPr lang="en-US" dirty="0"/>
          </a:p>
          <a:p>
            <a:r>
              <a:rPr lang="en-US" dirty="0"/>
              <a:t>------------------------------------------------------------</a:t>
            </a:r>
          </a:p>
          <a:p>
            <a:endParaRPr lang="en-US" dirty="0"/>
          </a:p>
          <a:p>
            <a:r>
              <a:rPr lang="en-US" dirty="0"/>
              <a:t>BULKHEAD ISOLATION</a:t>
            </a:r>
          </a:p>
          <a:p>
            <a:endParaRPr lang="en-US" dirty="0"/>
          </a:p>
          <a:p>
            <a:r>
              <a:rPr lang="en-US" dirty="0"/>
              <a:t>Explain conceptually:</a:t>
            </a:r>
          </a:p>
          <a:p>
            <a:endParaRPr lang="en-US" dirty="0"/>
          </a:p>
          <a:p>
            <a:r>
              <a:rPr lang="en-US" dirty="0"/>
              <a:t>"Keep one failing part from taking everything else down."</a:t>
            </a:r>
          </a:p>
          <a:p>
            <a:endParaRPr lang="en-US" dirty="0"/>
          </a:p>
          <a:p>
            <a:r>
              <a:rPr lang="en-US" dirty="0"/>
              <a:t>Like compartments in a ship.</a:t>
            </a:r>
          </a:p>
          <a:p>
            <a:endParaRPr lang="en-US" dirty="0"/>
          </a:p>
          <a:p>
            <a:r>
              <a:rPr lang="en-US" dirty="0"/>
              <a:t>If one compartment floods:</a:t>
            </a:r>
          </a:p>
          <a:p>
            <a:endParaRPr lang="en-US" dirty="0"/>
          </a:p>
          <a:p>
            <a:r>
              <a:rPr lang="en-US" dirty="0"/>
              <a:t>The entire ship doesn't necessarily sink.</a:t>
            </a:r>
          </a:p>
          <a:p>
            <a:endParaRPr lang="en-US" dirty="0"/>
          </a:p>
          <a:p>
            <a:r>
              <a:rPr lang="en-US" dirty="0"/>
              <a:t>------------------------------------------------------------</a:t>
            </a:r>
          </a:p>
          <a:p>
            <a:endParaRPr lang="en-US" dirty="0"/>
          </a:p>
          <a:p>
            <a:r>
              <a:rPr lang="en-US" dirty="0"/>
              <a:t>IDEMPOTENCY</a:t>
            </a:r>
          </a:p>
          <a:p>
            <a:endParaRPr lang="en-US" dirty="0"/>
          </a:p>
          <a:p>
            <a:r>
              <a:rPr lang="en-US" dirty="0"/>
              <a:t>This is an important professional concept.</a:t>
            </a:r>
          </a:p>
          <a:p>
            <a:endParaRPr lang="en-US" dirty="0"/>
          </a:p>
          <a:p>
            <a:r>
              <a:rPr lang="en-US" dirty="0"/>
              <a:t>Explain:</a:t>
            </a:r>
          </a:p>
          <a:p>
            <a:endParaRPr lang="en-US" dirty="0"/>
          </a:p>
          <a:p>
            <a:r>
              <a:rPr lang="en-US" dirty="0"/>
              <a:t>"If a request happens twice..."</a:t>
            </a:r>
          </a:p>
          <a:p>
            <a:endParaRPr lang="en-US" dirty="0"/>
          </a:p>
          <a:p>
            <a:r>
              <a:rPr lang="en-US" dirty="0"/>
              <a:t>"It shouldn't accidentally perform a dangerous action twice."</a:t>
            </a:r>
          </a:p>
          <a:p>
            <a:endParaRPr lang="en-US" dirty="0"/>
          </a:p>
          <a:p>
            <a:r>
              <a:rPr lang="en-US" dirty="0"/>
              <a:t>Example:</a:t>
            </a:r>
          </a:p>
          <a:p>
            <a:endParaRPr lang="en-US" dirty="0"/>
          </a:p>
          <a:p>
            <a:r>
              <a:rPr lang="en-US" dirty="0"/>
              <a:t>Create payment.</a:t>
            </a:r>
          </a:p>
          <a:p>
            <a:endParaRPr lang="en-US" dirty="0"/>
          </a:p>
          <a:p>
            <a:r>
              <a:rPr lang="en-US" dirty="0"/>
              <a:t>Submit order.</a:t>
            </a:r>
          </a:p>
          <a:p>
            <a:endParaRPr lang="en-US" dirty="0"/>
          </a:p>
          <a:p>
            <a:r>
              <a:rPr lang="en-US" dirty="0"/>
              <a:t>Update record.</a:t>
            </a:r>
          </a:p>
          <a:p>
            <a:endParaRPr lang="en-US" dirty="0"/>
          </a:p>
          <a:p>
            <a:r>
              <a:rPr lang="en-US" dirty="0"/>
              <a:t>For Atlas:</a:t>
            </a:r>
          </a:p>
          <a:p>
            <a:endParaRPr lang="en-US" dirty="0"/>
          </a:p>
          <a:p>
            <a:r>
              <a:rPr lang="en-US" dirty="0"/>
              <a:t>Repeated requests shouldn't create duplicate or inconsistent data</a:t>
            </a:r>
          </a:p>
          <a:p>
            <a:r>
              <a:rPr lang="en-US" dirty="0"/>
              <a:t>when the operation is supposed to be safely repeatable.</a:t>
            </a:r>
          </a:p>
          <a:p>
            <a:endParaRPr lang="en-US" dirty="0"/>
          </a:p>
          <a:p>
            <a:r>
              <a:rPr lang="en-US" dirty="0"/>
              <a:t>------------------------------------------------------------</a:t>
            </a:r>
          </a:p>
          <a:p>
            <a:endParaRPr lang="en-US" dirty="0"/>
          </a:p>
          <a:p>
            <a:r>
              <a:rPr lang="en-US" dirty="0"/>
              <a:t>QUEUE &amp; BACKGROUND WORK</a:t>
            </a:r>
          </a:p>
          <a:p>
            <a:endParaRPr lang="en-US" dirty="0"/>
          </a:p>
          <a:p>
            <a:r>
              <a:rPr lang="en-US" dirty="0"/>
              <a:t>Explain:</a:t>
            </a:r>
          </a:p>
          <a:p>
            <a:endParaRPr lang="en-US" dirty="0"/>
          </a:p>
          <a:p>
            <a:r>
              <a:rPr lang="en-US" dirty="0"/>
              <a:t>"Some work doesn't need to happen while the user waits."</a:t>
            </a:r>
          </a:p>
          <a:p>
            <a:endParaRPr lang="en-US" dirty="0"/>
          </a:p>
          <a:p>
            <a:r>
              <a:rPr lang="en-US" dirty="0"/>
              <a:t>Examples:</a:t>
            </a:r>
          </a:p>
          <a:p>
            <a:endParaRPr lang="en-US" dirty="0"/>
          </a:p>
          <a:p>
            <a:r>
              <a:rPr lang="en-US" dirty="0"/>
              <a:t>Sending email.</a:t>
            </a:r>
          </a:p>
          <a:p>
            <a:endParaRPr lang="en-US" dirty="0"/>
          </a:p>
          <a:p>
            <a:r>
              <a:rPr lang="en-US" dirty="0"/>
              <a:t>Generating reports.</a:t>
            </a:r>
          </a:p>
          <a:p>
            <a:endParaRPr lang="en-US" dirty="0"/>
          </a:p>
          <a:p>
            <a:r>
              <a:rPr lang="en-US" dirty="0"/>
              <a:t>Processing large jobs.</a:t>
            </a:r>
          </a:p>
          <a:p>
            <a:endParaRPr lang="en-US" dirty="0"/>
          </a:p>
          <a:p>
            <a:r>
              <a:rPr lang="en-US" dirty="0"/>
              <a:t>Move long-running work into background processing when appropriate.</a:t>
            </a:r>
          </a:p>
          <a:p>
            <a:endParaRPr lang="en-US" dirty="0"/>
          </a:p>
          <a:p>
            <a:r>
              <a:rPr lang="en-US" dirty="0"/>
              <a:t>For Atlas:</a:t>
            </a:r>
          </a:p>
          <a:p>
            <a:endParaRPr lang="en-US" dirty="0"/>
          </a:p>
          <a:p>
            <a:r>
              <a:rPr lang="en-US" dirty="0"/>
              <a:t>"Keep the user experience responsive."</a:t>
            </a:r>
          </a:p>
          <a:p>
            <a:endParaRPr lang="en-US" dirty="0"/>
          </a:p>
          <a:p>
            <a:r>
              <a:rPr lang="en-US" dirty="0"/>
              <a:t>------------------------------------------------------------</a:t>
            </a:r>
          </a:p>
          <a:p>
            <a:endParaRPr lang="en-US" dirty="0"/>
          </a:p>
          <a:p>
            <a:r>
              <a:rPr lang="en-US" dirty="0"/>
              <a:t>CACHING</a:t>
            </a:r>
          </a:p>
          <a:p>
            <a:endParaRPr lang="en-US" dirty="0"/>
          </a:p>
          <a:p>
            <a:r>
              <a:rPr lang="en-US" dirty="0"/>
              <a:t>Explain:</a:t>
            </a:r>
          </a:p>
          <a:p>
            <a:endParaRPr lang="en-US" dirty="0"/>
          </a:p>
          <a:p>
            <a:r>
              <a:rPr lang="en-US" dirty="0"/>
              <a:t>"If we repeatedly request the same information..."</a:t>
            </a:r>
          </a:p>
          <a:p>
            <a:endParaRPr lang="en-US" dirty="0"/>
          </a:p>
          <a:p>
            <a:r>
              <a:rPr lang="en-US" dirty="0"/>
              <a:t>"We may be able to cache it."</a:t>
            </a:r>
          </a:p>
          <a:p>
            <a:endParaRPr lang="en-US" dirty="0"/>
          </a:p>
          <a:p>
            <a:r>
              <a:rPr lang="en-US" dirty="0"/>
              <a:t>Benefits:</a:t>
            </a:r>
          </a:p>
          <a:p>
            <a:endParaRPr lang="en-US" dirty="0"/>
          </a:p>
          <a:p>
            <a:r>
              <a:rPr lang="en-US" dirty="0"/>
              <a:t>Less database load.</a:t>
            </a:r>
          </a:p>
          <a:p>
            <a:endParaRPr lang="en-US" dirty="0"/>
          </a:p>
          <a:p>
            <a:r>
              <a:rPr lang="en-US" dirty="0"/>
              <a:t>Faster response.</a:t>
            </a:r>
          </a:p>
          <a:p>
            <a:endParaRPr lang="en-US" dirty="0"/>
          </a:p>
          <a:p>
            <a:r>
              <a:rPr lang="en-US" dirty="0"/>
              <a:t>Better performance.</a:t>
            </a:r>
          </a:p>
          <a:p>
            <a:endParaRPr lang="en-US" dirty="0"/>
          </a:p>
          <a:p>
            <a:r>
              <a:rPr lang="en-US" dirty="0"/>
              <a:t>But:</a:t>
            </a:r>
          </a:p>
          <a:p>
            <a:endParaRPr lang="en-US" dirty="0"/>
          </a:p>
          <a:p>
            <a:r>
              <a:rPr lang="en-US" dirty="0"/>
              <a:t>"Don't cache sensitive information carelessly."</a:t>
            </a:r>
          </a:p>
          <a:p>
            <a:endParaRPr lang="en-US" dirty="0"/>
          </a:p>
          <a:p>
            <a:r>
              <a:rPr lang="en-US" dirty="0"/>
              <a:t>------------------------------------------------------------</a:t>
            </a:r>
          </a:p>
          <a:p>
            <a:endParaRPr lang="en-US" dirty="0"/>
          </a:p>
          <a:p>
            <a:r>
              <a:rPr lang="en-US" dirty="0"/>
              <a:t>BACKUP STRATEGY</a:t>
            </a:r>
          </a:p>
          <a:p>
            <a:endParaRPr lang="en-US" dirty="0"/>
          </a:p>
          <a:p>
            <a:r>
              <a:rPr lang="en-US" dirty="0"/>
              <a:t>Move to the recovery section.</a:t>
            </a:r>
          </a:p>
          <a:p>
            <a:endParaRPr lang="en-US" dirty="0"/>
          </a:p>
          <a:p>
            <a:r>
              <a:rPr lang="en-US" dirty="0"/>
              <a:t>Ask:</a:t>
            </a:r>
          </a:p>
          <a:p>
            <a:endParaRPr lang="en-US" dirty="0"/>
          </a:p>
          <a:p>
            <a:r>
              <a:rPr lang="en-US" dirty="0"/>
              <a:t>"What happens if our database is lost?"</a:t>
            </a:r>
          </a:p>
          <a:p>
            <a:endParaRPr lang="en-US" dirty="0"/>
          </a:p>
          <a:p>
            <a:r>
              <a:rPr lang="en-US" dirty="0"/>
              <a:t>Answer:</a:t>
            </a:r>
          </a:p>
          <a:p>
            <a:endParaRPr lang="en-US" dirty="0"/>
          </a:p>
          <a:p>
            <a:r>
              <a:rPr lang="en-US" dirty="0"/>
              <a:t>Restore from backup.</a:t>
            </a:r>
          </a:p>
          <a:p>
            <a:endParaRPr lang="en-US" dirty="0"/>
          </a:p>
          <a:p>
            <a:r>
              <a:rPr lang="en-US" dirty="0"/>
              <a:t>Then:</a:t>
            </a:r>
          </a:p>
          <a:p>
            <a:endParaRPr lang="en-US" dirty="0"/>
          </a:p>
          <a:p>
            <a:r>
              <a:rPr lang="en-US" dirty="0"/>
              <a:t>"How often do we back up?"</a:t>
            </a:r>
          </a:p>
          <a:p>
            <a:endParaRPr lang="en-US" dirty="0"/>
          </a:p>
          <a:p>
            <a:r>
              <a:rPr lang="en-US" dirty="0"/>
              <a:t>"Where are backups stored?"</a:t>
            </a:r>
          </a:p>
          <a:p>
            <a:endParaRPr lang="en-US" dirty="0"/>
          </a:p>
          <a:p>
            <a:r>
              <a:rPr lang="en-US" dirty="0"/>
              <a:t>"How do we know they work?"</a:t>
            </a:r>
          </a:p>
          <a:p>
            <a:endParaRPr lang="en-US" dirty="0"/>
          </a:p>
          <a:p>
            <a:r>
              <a:rPr lang="en-US" dirty="0"/>
              <a:t>------------------------------------------------------------</a:t>
            </a:r>
          </a:p>
          <a:p>
            <a:endParaRPr lang="en-US" dirty="0"/>
          </a:p>
          <a:p>
            <a:r>
              <a:rPr lang="en-US" dirty="0"/>
              <a:t>BACKUP BEST PRACTICES</a:t>
            </a:r>
          </a:p>
          <a:p>
            <a:endParaRPr lang="en-US" dirty="0"/>
          </a:p>
          <a:p>
            <a:r>
              <a:rPr lang="en-US" dirty="0"/>
              <a:t>Review:</a:t>
            </a:r>
          </a:p>
          <a:p>
            <a:endParaRPr lang="en-US" dirty="0"/>
          </a:p>
          <a:p>
            <a:r>
              <a:rPr lang="en-US" dirty="0"/>
              <a:t>Back up important data regularly.</a:t>
            </a:r>
          </a:p>
          <a:p>
            <a:endParaRPr lang="en-US" dirty="0"/>
          </a:p>
          <a:p>
            <a:r>
              <a:rPr lang="en-US" dirty="0"/>
              <a:t>Test backups.</a:t>
            </a:r>
          </a:p>
          <a:p>
            <a:endParaRPr lang="en-US" dirty="0"/>
          </a:p>
          <a:p>
            <a:r>
              <a:rPr lang="en-US" dirty="0"/>
              <a:t>Store backups separately.</a:t>
            </a:r>
          </a:p>
          <a:p>
            <a:endParaRPr lang="en-US" dirty="0"/>
          </a:p>
          <a:p>
            <a:r>
              <a:rPr lang="en-US" dirty="0"/>
              <a:t>Automate where possible.</a:t>
            </a:r>
          </a:p>
          <a:p>
            <a:endParaRPr lang="en-US" dirty="0"/>
          </a:p>
          <a:p>
            <a:r>
              <a:rPr lang="en-US" dirty="0"/>
              <a:t>Verify restoration.</a:t>
            </a:r>
          </a:p>
          <a:p>
            <a:endParaRPr lang="en-US" dirty="0"/>
          </a:p>
          <a:p>
            <a:r>
              <a:rPr lang="en-US" dirty="0"/>
              <a:t>Then point to:</a:t>
            </a:r>
          </a:p>
          <a:p>
            <a:endParaRPr lang="en-US" dirty="0"/>
          </a:p>
          <a:p>
            <a:r>
              <a:rPr lang="en-US" dirty="0"/>
              <a:t>"A backup you can't restore is not a backup."</a:t>
            </a:r>
          </a:p>
          <a:p>
            <a:endParaRPr lang="en-US" dirty="0"/>
          </a:p>
          <a:p>
            <a:r>
              <a:rPr lang="en-US" dirty="0"/>
              <a:t>Explain:</a:t>
            </a:r>
          </a:p>
          <a:p>
            <a:endParaRPr lang="en-US" dirty="0"/>
          </a:p>
          <a:p>
            <a:r>
              <a:rPr lang="en-US" dirty="0"/>
              <a:t>"This is one of the most important lines on the poster."</a:t>
            </a:r>
          </a:p>
          <a:p>
            <a:endParaRPr lang="en-US" dirty="0"/>
          </a:p>
          <a:p>
            <a:r>
              <a:rPr lang="en-US" dirty="0"/>
              <a:t>------------------------------------------------------------</a:t>
            </a:r>
          </a:p>
          <a:p>
            <a:endParaRPr lang="en-US" dirty="0"/>
          </a:p>
          <a:p>
            <a:r>
              <a:rPr lang="en-US" dirty="0"/>
              <a:t>RECOVERY PLAN</a:t>
            </a:r>
          </a:p>
          <a:p>
            <a:endParaRPr lang="en-US" dirty="0"/>
          </a:p>
          <a:p>
            <a:r>
              <a:rPr lang="en-US" dirty="0"/>
              <a:t>Point to the recovery cycle.</a:t>
            </a:r>
          </a:p>
          <a:p>
            <a:endParaRPr lang="en-US" dirty="0"/>
          </a:p>
          <a:p>
            <a:r>
              <a:rPr lang="en-US" dirty="0"/>
              <a:t>Walk through:</a:t>
            </a:r>
          </a:p>
          <a:p>
            <a:endParaRPr lang="en-US" dirty="0"/>
          </a:p>
          <a:p>
            <a:r>
              <a:rPr lang="en-US" dirty="0"/>
              <a:t>1. DETECT</a:t>
            </a:r>
          </a:p>
          <a:p>
            <a:endParaRPr lang="en-US" dirty="0"/>
          </a:p>
          <a:p>
            <a:r>
              <a:rPr lang="en-US" dirty="0"/>
              <a:t>Identify the problem.</a:t>
            </a:r>
          </a:p>
          <a:p>
            <a:endParaRPr lang="en-US" dirty="0"/>
          </a:p>
          <a:p>
            <a:r>
              <a:rPr lang="en-US" dirty="0"/>
              <a:t>2. ASSESS</a:t>
            </a:r>
          </a:p>
          <a:p>
            <a:endParaRPr lang="en-US" dirty="0"/>
          </a:p>
          <a:p>
            <a:r>
              <a:rPr lang="en-US" dirty="0"/>
              <a:t>Understand impact and scope.</a:t>
            </a:r>
          </a:p>
          <a:p>
            <a:endParaRPr lang="en-US" dirty="0"/>
          </a:p>
          <a:p>
            <a:r>
              <a:rPr lang="en-US" dirty="0"/>
              <a:t>3. RECOVER</a:t>
            </a:r>
          </a:p>
          <a:p>
            <a:endParaRPr lang="en-US" dirty="0"/>
          </a:p>
          <a:p>
            <a:r>
              <a:rPr lang="en-US" dirty="0"/>
              <a:t>Restore data or service.</a:t>
            </a:r>
          </a:p>
          <a:p>
            <a:endParaRPr lang="en-US" dirty="0"/>
          </a:p>
          <a:p>
            <a:r>
              <a:rPr lang="en-US" dirty="0"/>
              <a:t>4. VERIFY</a:t>
            </a:r>
          </a:p>
          <a:p>
            <a:endParaRPr lang="en-US" dirty="0"/>
          </a:p>
          <a:p>
            <a:r>
              <a:rPr lang="en-US" dirty="0"/>
              <a:t>Confirm everything works.</a:t>
            </a:r>
          </a:p>
          <a:p>
            <a:endParaRPr lang="en-US" dirty="0"/>
          </a:p>
          <a:p>
            <a:r>
              <a:rPr lang="en-US" dirty="0"/>
              <a:t>5. COMMUNICATE</a:t>
            </a:r>
          </a:p>
          <a:p>
            <a:endParaRPr lang="en-US" dirty="0"/>
          </a:p>
          <a:p>
            <a:r>
              <a:rPr lang="en-US" dirty="0"/>
              <a:t>Inform users/team appropriately.</a:t>
            </a:r>
          </a:p>
          <a:p>
            <a:endParaRPr lang="en-US" dirty="0"/>
          </a:p>
          <a:p>
            <a:r>
              <a:rPr lang="en-US" dirty="0"/>
              <a:t>Explain:</a:t>
            </a:r>
          </a:p>
          <a:p>
            <a:endParaRPr lang="en-US" dirty="0"/>
          </a:p>
          <a:p>
            <a:r>
              <a:rPr lang="en-US" dirty="0"/>
              <a:t>"Recovery is a process."</a:t>
            </a:r>
          </a:p>
          <a:p>
            <a:endParaRPr lang="en-US" dirty="0"/>
          </a:p>
          <a:p>
            <a:r>
              <a:rPr lang="en-US" dirty="0"/>
              <a:t>------------------------------------------------------------</a:t>
            </a:r>
          </a:p>
          <a:p>
            <a:endParaRPr lang="en-US" dirty="0"/>
          </a:p>
          <a:p>
            <a:r>
              <a:rPr lang="en-US" dirty="0"/>
              <a:t>WHAT TO PROTECT</a:t>
            </a:r>
          </a:p>
          <a:p>
            <a:endParaRPr lang="en-US" dirty="0"/>
          </a:p>
          <a:p>
            <a:r>
              <a:rPr lang="en-US" dirty="0"/>
              <a:t>Point to the right recovery panel.</a:t>
            </a:r>
          </a:p>
          <a:p>
            <a:endParaRPr lang="en-US" dirty="0"/>
          </a:p>
          <a:p>
            <a:r>
              <a:rPr lang="en-US" dirty="0"/>
              <a:t>Review:</a:t>
            </a:r>
          </a:p>
          <a:p>
            <a:endParaRPr lang="en-US" dirty="0"/>
          </a:p>
          <a:p>
            <a:r>
              <a:rPr lang="en-US" dirty="0"/>
              <a:t>User data.</a:t>
            </a:r>
          </a:p>
          <a:p>
            <a:endParaRPr lang="en-US" dirty="0"/>
          </a:p>
          <a:p>
            <a:r>
              <a:rPr lang="en-US" dirty="0"/>
              <a:t>Application data.</a:t>
            </a:r>
          </a:p>
          <a:p>
            <a:endParaRPr lang="en-US" dirty="0"/>
          </a:p>
          <a:p>
            <a:r>
              <a:rPr lang="en-US" dirty="0"/>
              <a:t>Configuration.</a:t>
            </a:r>
          </a:p>
          <a:p>
            <a:endParaRPr lang="en-US" dirty="0"/>
          </a:p>
          <a:p>
            <a:r>
              <a:rPr lang="en-US" dirty="0"/>
              <a:t>Files and attachments.</a:t>
            </a:r>
          </a:p>
          <a:p>
            <a:endParaRPr lang="en-US" dirty="0"/>
          </a:p>
          <a:p>
            <a:r>
              <a:rPr lang="en-US" dirty="0"/>
              <a:t>Encryption keys.</a:t>
            </a:r>
          </a:p>
          <a:p>
            <a:endParaRPr lang="en-US" dirty="0"/>
          </a:p>
          <a:p>
            <a:r>
              <a:rPr lang="en-US" dirty="0"/>
              <a:t>Code repository.</a:t>
            </a:r>
          </a:p>
          <a:p>
            <a:endParaRPr lang="en-US" dirty="0"/>
          </a:p>
          <a:p>
            <a:r>
              <a:rPr lang="en-US" dirty="0"/>
              <a:t>Infrastructure settings.</a:t>
            </a:r>
          </a:p>
          <a:p>
            <a:endParaRPr lang="en-US" dirty="0"/>
          </a:p>
          <a:p>
            <a:r>
              <a:rPr lang="en-US" dirty="0"/>
              <a:t>Explain:</a:t>
            </a:r>
          </a:p>
          <a:p>
            <a:endParaRPr lang="en-US" dirty="0"/>
          </a:p>
          <a:p>
            <a:r>
              <a:rPr lang="en-US" dirty="0"/>
              <a:t>"Recovery isn't only about the database."</a:t>
            </a:r>
          </a:p>
          <a:p>
            <a:endParaRPr lang="en-US" dirty="0"/>
          </a:p>
          <a:p>
            <a:r>
              <a:rPr lang="en-US" dirty="0"/>
              <a:t>"We need to know what Atlas depends on."</a:t>
            </a:r>
          </a:p>
          <a:p>
            <a:endParaRPr lang="en-US" dirty="0"/>
          </a:p>
          <a:p>
            <a:r>
              <a:rPr lang="en-US" dirty="0"/>
              <a:t>------------------------------------------------------------</a:t>
            </a:r>
          </a:p>
          <a:p>
            <a:endParaRPr lang="en-US" dirty="0"/>
          </a:p>
          <a:p>
            <a:r>
              <a:rPr lang="en-US" dirty="0"/>
              <a:t>FAILURE SCENARIO TESTING</a:t>
            </a:r>
          </a:p>
          <a:p>
            <a:endParaRPr lang="en-US" dirty="0"/>
          </a:p>
          <a:p>
            <a:r>
              <a:rPr lang="en-US" dirty="0"/>
              <a:t>Move to the bottom-left panel.</a:t>
            </a:r>
          </a:p>
          <a:p>
            <a:endParaRPr lang="en-US" dirty="0"/>
          </a:p>
          <a:p>
            <a:r>
              <a:rPr lang="en-US" dirty="0"/>
              <a:t>Say:</a:t>
            </a:r>
          </a:p>
          <a:p>
            <a:endParaRPr lang="en-US" dirty="0"/>
          </a:p>
          <a:p>
            <a:r>
              <a:rPr lang="en-US" dirty="0"/>
              <a:t>"We are going to test what happens when things fail."</a:t>
            </a:r>
          </a:p>
          <a:p>
            <a:endParaRPr lang="en-US" dirty="0"/>
          </a:p>
          <a:p>
            <a:r>
              <a:rPr lang="en-US" dirty="0"/>
              <a:t>Review each scenario.</a:t>
            </a:r>
          </a:p>
          <a:p>
            <a:endParaRPr lang="en-US" dirty="0"/>
          </a:p>
          <a:p>
            <a:r>
              <a:rPr lang="en-US" dirty="0"/>
              <a:t>------------------------------------------------------------</a:t>
            </a:r>
          </a:p>
          <a:p>
            <a:endParaRPr lang="en-US" dirty="0"/>
          </a:p>
          <a:p>
            <a:r>
              <a:rPr lang="en-US" dirty="0"/>
              <a:t>DATABASE DOWN</a:t>
            </a:r>
          </a:p>
          <a:p>
            <a:endParaRPr lang="en-US" dirty="0"/>
          </a:p>
          <a:p>
            <a:r>
              <a:rPr lang="en-US" dirty="0"/>
              <a:t>Ask:</a:t>
            </a:r>
          </a:p>
          <a:p>
            <a:endParaRPr lang="en-US" dirty="0"/>
          </a:p>
          <a:p>
            <a:r>
              <a:rPr lang="en-US" dirty="0"/>
              <a:t>"What happens if the database is unavailable?"</a:t>
            </a:r>
          </a:p>
          <a:p>
            <a:endParaRPr lang="en-US" dirty="0"/>
          </a:p>
          <a:p>
            <a:r>
              <a:rPr lang="en-US" dirty="0"/>
              <a:t>Expected:</a:t>
            </a:r>
          </a:p>
          <a:p>
            <a:endParaRPr lang="en-US" dirty="0"/>
          </a:p>
          <a:p>
            <a:r>
              <a:rPr lang="en-US" dirty="0"/>
              <a:t>Useful error.</a:t>
            </a:r>
          </a:p>
          <a:p>
            <a:endParaRPr lang="en-US" dirty="0"/>
          </a:p>
          <a:p>
            <a:r>
              <a:rPr lang="en-US" dirty="0"/>
              <a:t>No crash.</a:t>
            </a:r>
          </a:p>
          <a:p>
            <a:endParaRPr lang="en-US" dirty="0"/>
          </a:p>
          <a:p>
            <a:r>
              <a:rPr lang="en-US" dirty="0"/>
              <a:t>Error logged.</a:t>
            </a:r>
          </a:p>
          <a:p>
            <a:endParaRPr lang="en-US" dirty="0"/>
          </a:p>
          <a:p>
            <a:r>
              <a:rPr lang="en-US" dirty="0"/>
              <a:t>Application remains stable where possible.</a:t>
            </a:r>
          </a:p>
          <a:p>
            <a:endParaRPr lang="en-US" dirty="0"/>
          </a:p>
          <a:p>
            <a:r>
              <a:rPr lang="en-US" dirty="0"/>
              <a:t>------------------------------------------------------------</a:t>
            </a:r>
          </a:p>
          <a:p>
            <a:endParaRPr lang="en-US" dirty="0"/>
          </a:p>
          <a:p>
            <a:r>
              <a:rPr lang="en-US" dirty="0"/>
              <a:t>SERVER RESTART</a:t>
            </a:r>
          </a:p>
          <a:p>
            <a:endParaRPr lang="en-US" dirty="0"/>
          </a:p>
          <a:p>
            <a:r>
              <a:rPr lang="en-US" dirty="0"/>
              <a:t>Ask:</a:t>
            </a:r>
          </a:p>
          <a:p>
            <a:endParaRPr lang="en-US" dirty="0"/>
          </a:p>
          <a:p>
            <a:r>
              <a:rPr lang="en-US" dirty="0"/>
              <a:t>"What happens if the server restarts?"</a:t>
            </a:r>
          </a:p>
          <a:p>
            <a:endParaRPr lang="en-US" dirty="0"/>
          </a:p>
          <a:p>
            <a:r>
              <a:rPr lang="en-US" dirty="0"/>
              <a:t>Questions:</a:t>
            </a:r>
          </a:p>
          <a:p>
            <a:endParaRPr lang="en-US" dirty="0"/>
          </a:p>
          <a:p>
            <a:r>
              <a:rPr lang="en-US" dirty="0"/>
              <a:t>Does Atlas come back?</a:t>
            </a:r>
          </a:p>
          <a:p>
            <a:endParaRPr lang="en-US" dirty="0"/>
          </a:p>
          <a:p>
            <a:r>
              <a:rPr lang="en-US" dirty="0"/>
              <a:t>Does the database reconnect?</a:t>
            </a:r>
          </a:p>
          <a:p>
            <a:endParaRPr lang="en-US" dirty="0"/>
          </a:p>
          <a:p>
            <a:r>
              <a:rPr lang="en-US" dirty="0"/>
              <a:t>Is data intact?</a:t>
            </a:r>
          </a:p>
          <a:p>
            <a:endParaRPr lang="en-US" dirty="0"/>
          </a:p>
          <a:p>
            <a:r>
              <a:rPr lang="en-US" dirty="0"/>
              <a:t>Does the application remain usable?</a:t>
            </a:r>
          </a:p>
          <a:p>
            <a:endParaRPr lang="en-US" dirty="0"/>
          </a:p>
          <a:p>
            <a:r>
              <a:rPr lang="en-US" dirty="0"/>
              <a:t>------------------------------------------------------------</a:t>
            </a:r>
          </a:p>
          <a:p>
            <a:endParaRPr lang="en-US" dirty="0"/>
          </a:p>
          <a:p>
            <a:r>
              <a:rPr lang="en-US" dirty="0"/>
              <a:t>SLOW SERVICE</a:t>
            </a:r>
          </a:p>
          <a:p>
            <a:endParaRPr lang="en-US" dirty="0"/>
          </a:p>
          <a:p>
            <a:r>
              <a:rPr lang="en-US" dirty="0"/>
              <a:t>Ask:</a:t>
            </a:r>
          </a:p>
          <a:p>
            <a:endParaRPr lang="en-US" dirty="0"/>
          </a:p>
          <a:p>
            <a:r>
              <a:rPr lang="en-US" dirty="0"/>
              <a:t>"What happens if something takes too long?"</a:t>
            </a:r>
          </a:p>
          <a:p>
            <a:endParaRPr lang="en-US" dirty="0"/>
          </a:p>
          <a:p>
            <a:r>
              <a:rPr lang="en-US" dirty="0"/>
              <a:t>Does Atlas:</a:t>
            </a:r>
          </a:p>
          <a:p>
            <a:endParaRPr lang="en-US" dirty="0"/>
          </a:p>
          <a:p>
            <a:r>
              <a:rPr lang="en-US" dirty="0"/>
              <a:t>Wait forever?</a:t>
            </a:r>
          </a:p>
          <a:p>
            <a:endParaRPr lang="en-US" dirty="0"/>
          </a:p>
          <a:p>
            <a:r>
              <a:rPr lang="en-US" dirty="0"/>
              <a:t>Timeout?</a:t>
            </a:r>
          </a:p>
          <a:p>
            <a:endParaRPr lang="en-US" dirty="0"/>
          </a:p>
          <a:p>
            <a:r>
              <a:rPr lang="en-US" dirty="0"/>
              <a:t>Show a useful message?</a:t>
            </a:r>
          </a:p>
          <a:p>
            <a:endParaRPr lang="en-US" dirty="0"/>
          </a:p>
          <a:p>
            <a:r>
              <a:rPr lang="en-US" dirty="0"/>
              <a:t>Retry?</a:t>
            </a:r>
          </a:p>
          <a:p>
            <a:endParaRPr lang="en-US" dirty="0"/>
          </a:p>
          <a:p>
            <a:r>
              <a:rPr lang="en-US" dirty="0"/>
              <a:t>Explain:</a:t>
            </a:r>
          </a:p>
          <a:p>
            <a:endParaRPr lang="en-US" dirty="0"/>
          </a:p>
          <a:p>
            <a:r>
              <a:rPr lang="en-US" dirty="0"/>
              <a:t>"Timeouts are part of reliability."</a:t>
            </a:r>
          </a:p>
          <a:p>
            <a:endParaRPr lang="en-US" dirty="0"/>
          </a:p>
          <a:p>
            <a:r>
              <a:rPr lang="en-US" dirty="0"/>
              <a:t>------------------------------------------------------------</a:t>
            </a:r>
          </a:p>
          <a:p>
            <a:endParaRPr lang="en-US" dirty="0"/>
          </a:p>
          <a:p>
            <a:r>
              <a:rPr lang="en-US" dirty="0"/>
              <a:t>INVALID INPUT</a:t>
            </a:r>
          </a:p>
          <a:p>
            <a:endParaRPr lang="en-US" dirty="0"/>
          </a:p>
          <a:p>
            <a:r>
              <a:rPr lang="en-US" dirty="0"/>
              <a:t>Ask:</a:t>
            </a:r>
          </a:p>
          <a:p>
            <a:endParaRPr lang="en-US" dirty="0"/>
          </a:p>
          <a:p>
            <a:r>
              <a:rPr lang="en-US" dirty="0"/>
              <a:t>"What happens if a user provides bad data?"</a:t>
            </a:r>
          </a:p>
          <a:p>
            <a:endParaRPr lang="en-US" dirty="0"/>
          </a:p>
          <a:p>
            <a:r>
              <a:rPr lang="en-US" dirty="0"/>
              <a:t>Expected:</a:t>
            </a:r>
          </a:p>
          <a:p>
            <a:endParaRPr lang="en-US" dirty="0"/>
          </a:p>
          <a:p>
            <a:r>
              <a:rPr lang="en-US" dirty="0"/>
              <a:t>Validation.</a:t>
            </a:r>
          </a:p>
          <a:p>
            <a:endParaRPr lang="en-US" dirty="0"/>
          </a:p>
          <a:p>
            <a:r>
              <a:rPr lang="en-US" dirty="0"/>
              <a:t>Helpful feedback.</a:t>
            </a:r>
          </a:p>
          <a:p>
            <a:endParaRPr lang="en-US" dirty="0"/>
          </a:p>
          <a:p>
            <a:r>
              <a:rPr lang="en-US" dirty="0"/>
              <a:t>No crash.</a:t>
            </a:r>
          </a:p>
          <a:p>
            <a:endParaRPr lang="en-US" dirty="0"/>
          </a:p>
          <a:p>
            <a:r>
              <a:rPr lang="en-US" dirty="0"/>
              <a:t>No corrupted data.</a:t>
            </a:r>
          </a:p>
          <a:p>
            <a:endParaRPr lang="en-US" dirty="0"/>
          </a:p>
          <a:p>
            <a:r>
              <a:rPr lang="en-US" dirty="0"/>
              <a:t>------------------------------------------------------------</a:t>
            </a:r>
          </a:p>
          <a:p>
            <a:endParaRPr lang="en-US" dirty="0"/>
          </a:p>
          <a:p>
            <a:r>
              <a:rPr lang="en-US" dirty="0"/>
              <a:t>NETWORK LOSS</a:t>
            </a:r>
          </a:p>
          <a:p>
            <a:endParaRPr lang="en-US" dirty="0"/>
          </a:p>
          <a:p>
            <a:r>
              <a:rPr lang="en-US" dirty="0"/>
              <a:t>Ask:</a:t>
            </a:r>
          </a:p>
          <a:p>
            <a:endParaRPr lang="en-US" dirty="0"/>
          </a:p>
          <a:p>
            <a:r>
              <a:rPr lang="en-US" dirty="0"/>
              <a:t>"What happens if the network disappears?"</a:t>
            </a:r>
          </a:p>
          <a:p>
            <a:endParaRPr lang="en-US" dirty="0"/>
          </a:p>
          <a:p>
            <a:r>
              <a:rPr lang="en-US" dirty="0"/>
              <a:t>Does the application:</a:t>
            </a:r>
          </a:p>
          <a:p>
            <a:endParaRPr lang="en-US" dirty="0"/>
          </a:p>
          <a:p>
            <a:r>
              <a:rPr lang="en-US" dirty="0"/>
              <a:t>Fail gracefully?</a:t>
            </a:r>
          </a:p>
          <a:p>
            <a:endParaRPr lang="en-US" dirty="0"/>
          </a:p>
          <a:p>
            <a:r>
              <a:rPr lang="en-US" dirty="0"/>
              <a:t>Retry appropriately?</a:t>
            </a:r>
          </a:p>
          <a:p>
            <a:endParaRPr lang="en-US" dirty="0"/>
          </a:p>
          <a:p>
            <a:r>
              <a:rPr lang="en-US" dirty="0"/>
              <a:t>Show useful feedback?</a:t>
            </a:r>
          </a:p>
          <a:p>
            <a:endParaRPr lang="en-US" dirty="0"/>
          </a:p>
          <a:p>
            <a:r>
              <a:rPr lang="en-US" dirty="0"/>
              <a:t>Remain stable?</a:t>
            </a:r>
          </a:p>
          <a:p>
            <a:endParaRPr lang="en-US" dirty="0"/>
          </a:p>
          <a:p>
            <a:r>
              <a:rPr lang="en-US" dirty="0"/>
              <a:t>------------------------------------------------------------</a:t>
            </a:r>
          </a:p>
          <a:p>
            <a:endParaRPr lang="en-US" dirty="0"/>
          </a:p>
          <a:p>
            <a:r>
              <a:rPr lang="en-US" dirty="0"/>
              <a:t>EXTERNAL API DOWN</a:t>
            </a:r>
          </a:p>
          <a:p>
            <a:endParaRPr lang="en-US" dirty="0"/>
          </a:p>
          <a:p>
            <a:r>
              <a:rPr lang="en-US" dirty="0"/>
              <a:t>Ask:</a:t>
            </a:r>
          </a:p>
          <a:p>
            <a:endParaRPr lang="en-US" dirty="0"/>
          </a:p>
          <a:p>
            <a:r>
              <a:rPr lang="en-US" dirty="0"/>
              <a:t>"What happens if a service Atlas depends on stops responding?"</a:t>
            </a:r>
          </a:p>
          <a:p>
            <a:endParaRPr lang="en-US" dirty="0"/>
          </a:p>
          <a:p>
            <a:r>
              <a:rPr lang="en-US" dirty="0"/>
              <a:t>Expected:</a:t>
            </a:r>
          </a:p>
          <a:p>
            <a:endParaRPr lang="en-US" dirty="0"/>
          </a:p>
          <a:p>
            <a:r>
              <a:rPr lang="en-US" dirty="0"/>
              <a:t>Timeout.</a:t>
            </a:r>
          </a:p>
          <a:p>
            <a:endParaRPr lang="en-US" dirty="0"/>
          </a:p>
          <a:p>
            <a:r>
              <a:rPr lang="en-US" dirty="0"/>
              <a:t>Fallback if available.</a:t>
            </a:r>
          </a:p>
          <a:p>
            <a:endParaRPr lang="en-US" dirty="0"/>
          </a:p>
          <a:p>
            <a:r>
              <a:rPr lang="en-US" dirty="0"/>
              <a:t>Helpful message.</a:t>
            </a:r>
          </a:p>
          <a:p>
            <a:endParaRPr lang="en-US" dirty="0"/>
          </a:p>
          <a:p>
            <a:r>
              <a:rPr lang="en-US" dirty="0"/>
              <a:t>Logging.</a:t>
            </a:r>
          </a:p>
          <a:p>
            <a:endParaRPr lang="en-US" dirty="0"/>
          </a:p>
          <a:p>
            <a:r>
              <a:rPr lang="en-US" dirty="0"/>
              <a:t>No cascading failure.</a:t>
            </a:r>
          </a:p>
          <a:p>
            <a:endParaRPr lang="en-US" dirty="0"/>
          </a:p>
          <a:p>
            <a:r>
              <a:rPr lang="en-US" dirty="0"/>
              <a:t>------------------------------------------------------------</a:t>
            </a:r>
          </a:p>
          <a:p>
            <a:endParaRPr lang="en-US" dirty="0"/>
          </a:p>
          <a:p>
            <a:r>
              <a:rPr lang="en-US" dirty="0"/>
              <a:t>RELIABILITY CHECKLIST</a:t>
            </a:r>
          </a:p>
          <a:p>
            <a:endParaRPr lang="en-US" dirty="0"/>
          </a:p>
          <a:p>
            <a:r>
              <a:rPr lang="en-US" dirty="0"/>
              <a:t>Move to the checklist.</a:t>
            </a:r>
          </a:p>
          <a:p>
            <a:endParaRPr lang="en-US" dirty="0"/>
          </a:p>
          <a:p>
            <a:r>
              <a:rPr lang="en-US" dirty="0"/>
              <a:t>Tell students:</a:t>
            </a:r>
          </a:p>
          <a:p>
            <a:endParaRPr lang="en-US" dirty="0"/>
          </a:p>
          <a:p>
            <a:r>
              <a:rPr lang="en-US" dirty="0"/>
              <a:t>"These are the things we're going to verify."</a:t>
            </a:r>
          </a:p>
          <a:p>
            <a:endParaRPr lang="en-US" dirty="0"/>
          </a:p>
          <a:p>
            <a:r>
              <a:rPr lang="en-US" dirty="0"/>
              <a:t>Read:</a:t>
            </a:r>
          </a:p>
          <a:p>
            <a:endParaRPr lang="en-US" dirty="0"/>
          </a:p>
          <a:p>
            <a:r>
              <a:rPr lang="en-US" dirty="0"/>
              <a:t>Input is validated.</a:t>
            </a:r>
          </a:p>
          <a:p>
            <a:endParaRPr lang="en-US" dirty="0"/>
          </a:p>
          <a:p>
            <a:r>
              <a:rPr lang="en-US" dirty="0"/>
              <a:t>Exceptions are caught and logged.</a:t>
            </a:r>
          </a:p>
          <a:p>
            <a:endParaRPr lang="en-US" dirty="0"/>
          </a:p>
          <a:p>
            <a:r>
              <a:rPr lang="en-US" dirty="0"/>
              <a:t>Timeouts are used where appropriate.</a:t>
            </a:r>
          </a:p>
          <a:p>
            <a:endParaRPr lang="en-US" dirty="0"/>
          </a:p>
          <a:p>
            <a:r>
              <a:rPr lang="en-US" dirty="0"/>
              <a:t>Retries are used appropriately.</a:t>
            </a:r>
          </a:p>
          <a:p>
            <a:endParaRPr lang="en-US" dirty="0"/>
          </a:p>
          <a:p>
            <a:r>
              <a:rPr lang="en-US" dirty="0"/>
              <a:t>Important events are logged.</a:t>
            </a:r>
          </a:p>
          <a:p>
            <a:endParaRPr lang="en-US" dirty="0"/>
          </a:p>
          <a:p>
            <a:r>
              <a:rPr lang="en-US" dirty="0"/>
              <a:t>Backups are working.</a:t>
            </a:r>
          </a:p>
          <a:p>
            <a:endParaRPr lang="en-US" dirty="0"/>
          </a:p>
          <a:p>
            <a:r>
              <a:rPr lang="en-US" dirty="0"/>
              <a:t>Health checks are in place.</a:t>
            </a:r>
          </a:p>
          <a:p>
            <a:endParaRPr lang="en-US" dirty="0"/>
          </a:p>
          <a:p>
            <a:r>
              <a:rPr lang="en-US" dirty="0"/>
              <a:t>Failure scenarios are tested.</a:t>
            </a:r>
          </a:p>
          <a:p>
            <a:endParaRPr lang="en-US" dirty="0"/>
          </a:p>
          <a:p>
            <a:r>
              <a:rPr lang="en-US" dirty="0"/>
              <a:t>Recovery plan is documented.</a:t>
            </a:r>
          </a:p>
          <a:p>
            <a:endParaRPr lang="en-US" dirty="0"/>
          </a:p>
          <a:p>
            <a:r>
              <a:rPr lang="en-US" dirty="0"/>
              <a:t>Users receive helpful error messages.</a:t>
            </a:r>
          </a:p>
          <a:p>
            <a:endParaRPr lang="en-US" dirty="0"/>
          </a:p>
          <a:p>
            <a:r>
              <a:rPr lang="en-US" dirty="0"/>
              <a:t>------------------------------------------------------------</a:t>
            </a:r>
          </a:p>
          <a:p>
            <a:endParaRPr lang="en-US" dirty="0"/>
          </a:p>
          <a:p>
            <a:r>
              <a:rPr lang="en-US" dirty="0"/>
              <a:t>THE CHECKLIST PRINCIPLE</a:t>
            </a:r>
          </a:p>
          <a:p>
            <a:endParaRPr lang="en-US" dirty="0"/>
          </a:p>
          <a:p>
            <a:r>
              <a:rPr lang="en-US" dirty="0"/>
              <a:t>Point to:</a:t>
            </a:r>
          </a:p>
          <a:p>
            <a:endParaRPr lang="en-US" dirty="0"/>
          </a:p>
          <a:p>
            <a:r>
              <a:rPr lang="en-US" dirty="0"/>
              <a:t>"Check it now. Not when it breaks."</a:t>
            </a:r>
          </a:p>
          <a:p>
            <a:endParaRPr lang="en-US" dirty="0"/>
          </a:p>
          <a:p>
            <a:r>
              <a:rPr lang="en-US" dirty="0"/>
              <a:t>Explain:</a:t>
            </a:r>
          </a:p>
          <a:p>
            <a:endParaRPr lang="en-US" dirty="0"/>
          </a:p>
          <a:p>
            <a:r>
              <a:rPr lang="en-US" dirty="0"/>
              <a:t>"The worst time to discover your backup doesn't work..."</a:t>
            </a:r>
          </a:p>
          <a:p>
            <a:endParaRPr lang="en-US" dirty="0"/>
          </a:p>
          <a:p>
            <a:r>
              <a:rPr lang="en-US" dirty="0"/>
              <a:t>"...is after you lose the database."</a:t>
            </a:r>
          </a:p>
          <a:p>
            <a:endParaRPr lang="en-US" dirty="0"/>
          </a:p>
          <a:p>
            <a:r>
              <a:rPr lang="en-US" dirty="0"/>
              <a:t>"The worst time to discover your error handling is broken..."</a:t>
            </a:r>
          </a:p>
          <a:p>
            <a:endParaRPr lang="en-US" dirty="0"/>
          </a:p>
          <a:p>
            <a:r>
              <a:rPr lang="en-US" dirty="0"/>
              <a:t>"...is during a production outage."</a:t>
            </a:r>
          </a:p>
          <a:p>
            <a:endParaRPr lang="en-US" dirty="0"/>
          </a:p>
          <a:p>
            <a:r>
              <a:rPr lang="en-US" dirty="0"/>
              <a:t>------------------------------------------------------------</a:t>
            </a:r>
          </a:p>
          <a:p>
            <a:endParaRPr lang="en-US" dirty="0"/>
          </a:p>
          <a:p>
            <a:r>
              <a:rPr lang="en-US" dirty="0"/>
              <a:t>BUILD CHALLENGE</a:t>
            </a:r>
          </a:p>
          <a:p>
            <a:endParaRPr lang="en-US" dirty="0"/>
          </a:p>
          <a:p>
            <a:r>
              <a:rPr lang="en-US" dirty="0"/>
              <a:t>Tell students:</a:t>
            </a:r>
          </a:p>
          <a:p>
            <a:endParaRPr lang="en-US" dirty="0"/>
          </a:p>
          <a:p>
            <a:r>
              <a:rPr lang="en-US" dirty="0"/>
              <a:t>"You're going to perform a reliability review of Atlas."</a:t>
            </a:r>
          </a:p>
          <a:p>
            <a:endParaRPr lang="en-US" dirty="0"/>
          </a:p>
          <a:p>
            <a:r>
              <a:rPr lang="en-US" dirty="0"/>
              <a:t>Students should select several failure scenarios.</a:t>
            </a:r>
          </a:p>
          <a:p>
            <a:endParaRPr lang="en-US" dirty="0"/>
          </a:p>
          <a:p>
            <a:r>
              <a:rPr lang="en-US" dirty="0"/>
              <a:t>At minimum:</a:t>
            </a:r>
          </a:p>
          <a:p>
            <a:endParaRPr lang="en-US" dirty="0"/>
          </a:p>
          <a:p>
            <a:r>
              <a:rPr lang="en-US" dirty="0"/>
              <a:t>Database failure.</a:t>
            </a:r>
          </a:p>
          <a:p>
            <a:endParaRPr lang="en-US" dirty="0"/>
          </a:p>
          <a:p>
            <a:r>
              <a:rPr lang="en-US" dirty="0"/>
              <a:t>Server restart.</a:t>
            </a:r>
          </a:p>
          <a:p>
            <a:endParaRPr lang="en-US" dirty="0"/>
          </a:p>
          <a:p>
            <a:r>
              <a:rPr lang="en-US" dirty="0"/>
              <a:t>Invalid input.</a:t>
            </a:r>
          </a:p>
          <a:p>
            <a:endParaRPr lang="en-US" dirty="0"/>
          </a:p>
          <a:p>
            <a:r>
              <a:rPr lang="en-US" dirty="0"/>
              <a:t>Slow/unavailable service.</a:t>
            </a:r>
          </a:p>
          <a:p>
            <a:endParaRPr lang="en-US" dirty="0"/>
          </a:p>
          <a:p>
            <a:r>
              <a:rPr lang="en-US" dirty="0"/>
              <a:t>Network failure.</a:t>
            </a:r>
          </a:p>
          <a:p>
            <a:endParaRPr lang="en-US" dirty="0"/>
          </a:p>
          <a:p>
            <a:r>
              <a:rPr lang="en-US" dirty="0"/>
              <a:t>Application error.</a:t>
            </a:r>
          </a:p>
          <a:p>
            <a:endParaRPr lang="en-US" dirty="0"/>
          </a:p>
          <a:p>
            <a:r>
              <a:rPr lang="en-US" dirty="0"/>
              <a:t>Then document:</a:t>
            </a:r>
          </a:p>
          <a:p>
            <a:endParaRPr lang="en-US" dirty="0"/>
          </a:p>
          <a:p>
            <a:r>
              <a:rPr lang="en-US" dirty="0"/>
              <a:t>Expected behavior.</a:t>
            </a:r>
          </a:p>
          <a:p>
            <a:endParaRPr lang="en-US" dirty="0"/>
          </a:p>
          <a:p>
            <a:r>
              <a:rPr lang="en-US" dirty="0"/>
              <a:t>Actual behavior.</a:t>
            </a:r>
          </a:p>
          <a:p>
            <a:endParaRPr lang="en-US" dirty="0"/>
          </a:p>
          <a:p>
            <a:r>
              <a:rPr lang="en-US" dirty="0"/>
              <a:t>Problem found.</a:t>
            </a:r>
          </a:p>
          <a:p>
            <a:endParaRPr lang="en-US" dirty="0"/>
          </a:p>
          <a:p>
            <a:r>
              <a:rPr lang="en-US" dirty="0"/>
              <a:t>Fix.</a:t>
            </a:r>
          </a:p>
          <a:p>
            <a:endParaRPr lang="en-US" dirty="0"/>
          </a:p>
          <a:p>
            <a:r>
              <a:rPr lang="en-US" dirty="0"/>
              <a:t>Retest result.</a:t>
            </a:r>
          </a:p>
          <a:p>
            <a:endParaRPr lang="en-US" dirty="0"/>
          </a:p>
          <a:p>
            <a:r>
              <a:rPr lang="en-US" dirty="0"/>
              <a:t>------------------------------------------------------------</a:t>
            </a:r>
          </a:p>
          <a:p>
            <a:endParaRPr lang="en-US" dirty="0"/>
          </a:p>
          <a:p>
            <a:r>
              <a:rPr lang="en-US" dirty="0"/>
              <a:t>THE RELIABILITY LOOP</a:t>
            </a:r>
          </a:p>
          <a:p>
            <a:endParaRPr lang="en-US" dirty="0"/>
          </a:p>
          <a:p>
            <a:r>
              <a:rPr lang="en-US" dirty="0"/>
              <a:t>Write on the board:</a:t>
            </a:r>
          </a:p>
          <a:p>
            <a:endParaRPr lang="en-US" dirty="0"/>
          </a:p>
          <a:p>
            <a:r>
              <a:rPr lang="en-US" dirty="0"/>
              <a:t>EXPECT</a:t>
            </a:r>
          </a:p>
          <a:p>
            <a:endParaRPr lang="en-US" dirty="0"/>
          </a:p>
          <a:p>
            <a:r>
              <a:rPr lang="en-US" dirty="0"/>
              <a:t>↓</a:t>
            </a:r>
          </a:p>
          <a:p>
            <a:endParaRPr lang="en-US" dirty="0"/>
          </a:p>
          <a:p>
            <a:r>
              <a:rPr lang="en-US" dirty="0"/>
              <a:t>TEST</a:t>
            </a:r>
          </a:p>
          <a:p>
            <a:endParaRPr lang="en-US" dirty="0"/>
          </a:p>
          <a:p>
            <a:r>
              <a:rPr lang="en-US" dirty="0"/>
              <a:t>↓</a:t>
            </a:r>
          </a:p>
          <a:p>
            <a:endParaRPr lang="en-US" dirty="0"/>
          </a:p>
          <a:p>
            <a:r>
              <a:rPr lang="en-US" dirty="0"/>
              <a:t>FAIL</a:t>
            </a:r>
          </a:p>
          <a:p>
            <a:endParaRPr lang="en-US" dirty="0"/>
          </a:p>
          <a:p>
            <a:r>
              <a:rPr lang="en-US" dirty="0"/>
              <a:t>↓</a:t>
            </a:r>
          </a:p>
          <a:p>
            <a:endParaRPr lang="en-US" dirty="0"/>
          </a:p>
          <a:p>
            <a:r>
              <a:rPr lang="en-US" dirty="0"/>
              <a:t>FIX</a:t>
            </a:r>
          </a:p>
          <a:p>
            <a:endParaRPr lang="en-US" dirty="0"/>
          </a:p>
          <a:p>
            <a:r>
              <a:rPr lang="en-US" dirty="0"/>
              <a:t>↓</a:t>
            </a:r>
          </a:p>
          <a:p>
            <a:endParaRPr lang="en-US" dirty="0"/>
          </a:p>
          <a:p>
            <a:r>
              <a:rPr lang="en-US" dirty="0"/>
              <a:t>RECOVER</a:t>
            </a:r>
          </a:p>
          <a:p>
            <a:endParaRPr lang="en-US" dirty="0"/>
          </a:p>
          <a:p>
            <a:r>
              <a:rPr lang="en-US" dirty="0"/>
              <a:t>↓</a:t>
            </a:r>
          </a:p>
          <a:p>
            <a:endParaRPr lang="en-US" dirty="0"/>
          </a:p>
          <a:p>
            <a:r>
              <a:rPr lang="en-US" dirty="0"/>
              <a:t>VERIFY</a:t>
            </a:r>
          </a:p>
          <a:p>
            <a:endParaRPr lang="en-US" dirty="0"/>
          </a:p>
          <a:p>
            <a:r>
              <a:rPr lang="en-US" dirty="0"/>
              <a:t>Explain:</a:t>
            </a:r>
          </a:p>
          <a:p>
            <a:endParaRPr lang="en-US" dirty="0"/>
          </a:p>
          <a:p>
            <a:r>
              <a:rPr lang="en-US" dirty="0"/>
              <a:t>"Reliability improves when we deliberately test failure."</a:t>
            </a:r>
          </a:p>
          <a:p>
            <a:endParaRPr lang="en-US" dirty="0"/>
          </a:p>
          <a:p>
            <a:r>
              <a:rPr lang="en-US" dirty="0"/>
              <a:t>------------------------------------------------------------</a:t>
            </a:r>
          </a:p>
          <a:p>
            <a:endParaRPr lang="en-US" dirty="0"/>
          </a:p>
          <a:p>
            <a:r>
              <a:rPr lang="en-US" dirty="0"/>
              <a:t>IMPORTANT DISTINCTION</a:t>
            </a:r>
          </a:p>
          <a:p>
            <a:endParaRPr lang="en-US" dirty="0"/>
          </a:p>
          <a:p>
            <a:r>
              <a:rPr lang="en-US" dirty="0"/>
              <a:t>Say:</a:t>
            </a:r>
          </a:p>
          <a:p>
            <a:endParaRPr lang="en-US" dirty="0"/>
          </a:p>
          <a:p>
            <a:r>
              <a:rPr lang="en-US" dirty="0"/>
              <a:t>"Reliability isn't about preventing every failure."</a:t>
            </a:r>
          </a:p>
          <a:p>
            <a:endParaRPr lang="en-US" dirty="0"/>
          </a:p>
          <a:p>
            <a:r>
              <a:rPr lang="en-US" dirty="0"/>
              <a:t>"Some failures are unavoidable."</a:t>
            </a:r>
          </a:p>
          <a:p>
            <a:endParaRPr lang="en-US" dirty="0"/>
          </a:p>
          <a:p>
            <a:r>
              <a:rPr lang="en-US" dirty="0"/>
              <a:t>"The goal is to control the impact."</a:t>
            </a:r>
          </a:p>
          <a:p>
            <a:endParaRPr lang="en-US" dirty="0"/>
          </a:p>
          <a:p>
            <a:r>
              <a:rPr lang="en-US" dirty="0"/>
              <a:t>That's a key engineering idea.</a:t>
            </a:r>
          </a:p>
          <a:p>
            <a:endParaRPr lang="en-US" dirty="0"/>
          </a:p>
          <a:p>
            <a:r>
              <a:rPr lang="en-US" dirty="0"/>
              <a:t>------------------------------------------------------------</a:t>
            </a:r>
          </a:p>
          <a:p>
            <a:endParaRPr lang="en-US" dirty="0"/>
          </a:p>
          <a:p>
            <a:r>
              <a:rPr lang="en-US" dirty="0"/>
              <a:t>SPRINT CONNECTION</a:t>
            </a:r>
          </a:p>
          <a:p>
            <a:endParaRPr lang="en-US" dirty="0"/>
          </a:p>
          <a:p>
            <a:r>
              <a:rPr lang="en-US" dirty="0"/>
              <a:t>Point to Sprint 7.</a:t>
            </a:r>
          </a:p>
          <a:p>
            <a:endParaRPr lang="en-US" dirty="0"/>
          </a:p>
          <a:p>
            <a:r>
              <a:rPr lang="en-US" dirty="0"/>
              <a:t>Say:</a:t>
            </a:r>
          </a:p>
          <a:p>
            <a:endParaRPr lang="en-US" dirty="0"/>
          </a:p>
          <a:p>
            <a:r>
              <a:rPr lang="en-US" dirty="0"/>
              <a:t>"Last lesson we learned how environments help us prepare Atlas."</a:t>
            </a:r>
          </a:p>
          <a:p>
            <a:endParaRPr lang="en-US" dirty="0"/>
          </a:p>
          <a:p>
            <a:r>
              <a:rPr lang="en-US" dirty="0"/>
              <a:t>"Now we're asking..."</a:t>
            </a:r>
          </a:p>
          <a:p>
            <a:endParaRPr lang="en-US" dirty="0"/>
          </a:p>
          <a:p>
            <a:r>
              <a:rPr lang="en-US" dirty="0"/>
              <a:t>"What happens when Atlas encounters problems?"</a:t>
            </a:r>
          </a:p>
          <a:p>
            <a:endParaRPr lang="en-US" dirty="0"/>
          </a:p>
          <a:p>
            <a:r>
              <a:rPr lang="en-US" dirty="0"/>
              <a:t>That's reliability.</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MAKE IT OBSERVABLE.</a:t>
            </a:r>
          </a:p>
          <a:p>
            <a:endParaRPr lang="en-US" dirty="0"/>
          </a:p>
          <a:p>
            <a:r>
              <a:rPr lang="en-US" dirty="0"/>
              <a:t>Say:</a:t>
            </a:r>
          </a:p>
          <a:p>
            <a:endParaRPr lang="en-US" dirty="0"/>
          </a:p>
          <a:p>
            <a:r>
              <a:rPr lang="en-US" dirty="0"/>
              <a:t>"There's one problem with all of this."</a:t>
            </a:r>
          </a:p>
          <a:p>
            <a:endParaRPr lang="en-US" dirty="0"/>
          </a:p>
          <a:p>
            <a:r>
              <a:rPr lang="en-US" dirty="0"/>
              <a:t>"How do we know something is wrong?"</a:t>
            </a:r>
          </a:p>
          <a:p>
            <a:endParaRPr lang="en-US" dirty="0"/>
          </a:p>
          <a:p>
            <a:r>
              <a:rPr lang="en-US" dirty="0"/>
              <a:t>Pause.</a:t>
            </a:r>
          </a:p>
          <a:p>
            <a:endParaRPr lang="en-US" dirty="0"/>
          </a:p>
          <a:p>
            <a:r>
              <a:rPr lang="en-US" dirty="0"/>
              <a:t>"If Atlas fails at 2 AM..."</a:t>
            </a:r>
          </a:p>
          <a:p>
            <a:endParaRPr lang="en-US" dirty="0"/>
          </a:p>
          <a:p>
            <a:r>
              <a:rPr lang="en-US" dirty="0"/>
              <a:t>"...how do we find out?"</a:t>
            </a:r>
          </a:p>
          <a:p>
            <a:endParaRPr lang="en-US" dirty="0"/>
          </a:p>
          <a:p>
            <a:r>
              <a:rPr lang="en-US" dirty="0"/>
              <a:t>That's our next lesson.</a:t>
            </a:r>
          </a:p>
          <a:p>
            <a:endParaRPr lang="en-US" dirty="0"/>
          </a:p>
          <a:p>
            <a:r>
              <a:rPr lang="en-US" dirty="0"/>
              <a:t>"Observability."</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"Engineers..."</a:t>
            </a:r>
          </a:p>
          <a:p>
            <a:endParaRPr lang="en-US" dirty="0"/>
          </a:p>
          <a:p>
            <a:r>
              <a:rPr lang="en-US" dirty="0"/>
              <a:t>"We can't prevent every problem."</a:t>
            </a:r>
          </a:p>
          <a:p>
            <a:endParaRPr lang="en-US" dirty="0"/>
          </a:p>
          <a:p>
            <a:r>
              <a:rPr lang="en-US" dirty="0"/>
              <a:t>"But we can prepare for problems."</a:t>
            </a:r>
          </a:p>
          <a:p>
            <a:endParaRPr lang="en-US" dirty="0"/>
          </a:p>
          <a:p>
            <a:r>
              <a:rPr lang="en-US" dirty="0"/>
              <a:t>"We can handle them."</a:t>
            </a:r>
          </a:p>
          <a:p>
            <a:endParaRPr lang="en-US" dirty="0"/>
          </a:p>
          <a:p>
            <a:r>
              <a:rPr lang="en-US" dirty="0"/>
              <a:t>"We can recover."</a:t>
            </a:r>
          </a:p>
          <a:p>
            <a:endParaRPr lang="en-US" dirty="0"/>
          </a:p>
          <a:p>
            <a:r>
              <a:rPr lang="en-US" dirty="0"/>
              <a:t>"And we can learn from them."</a:t>
            </a:r>
          </a:p>
          <a:p>
            <a:endParaRPr lang="en-US" dirty="0"/>
          </a:p>
          <a:p>
            <a:r>
              <a:rPr lang="en-US" dirty="0"/>
              <a:t>Pause.</a:t>
            </a:r>
          </a:p>
          <a:p>
            <a:endParaRPr lang="en-US" dirty="0"/>
          </a:p>
          <a:p>
            <a:r>
              <a:rPr lang="en-US" dirty="0"/>
              <a:t>"Reliable systems don't fail less often."</a:t>
            </a:r>
          </a:p>
          <a:p>
            <a:endParaRPr lang="en-US" dirty="0"/>
          </a:p>
          <a:p>
            <a:r>
              <a:rPr lang="en-US" dirty="0"/>
              <a:t>"They fail better."</a:t>
            </a:r>
          </a:p>
          <a:p>
            <a:endParaRPr lang="en-US" dirty="0"/>
          </a:p>
          <a:p>
            <a:r>
              <a:rPr lang="en-US" dirty="0"/>
              <a:t>============================================================</a:t>
            </a:r>
          </a:p>
          <a:p>
            <a:endParaRPr lang="en-US" dirty="0"/>
          </a:p>
          <a:p>
            <a:r>
              <a:rPr lang="en-US" dirty="0"/>
              <a:t>ESTIMATED TIME</a:t>
            </a:r>
          </a:p>
          <a:p>
            <a:endParaRPr lang="en-US" dirty="0"/>
          </a:p>
          <a:p>
            <a:r>
              <a:rPr lang="en-US" dirty="0"/>
              <a:t>Opening &amp; Reliability Concept..........8 minutes</a:t>
            </a:r>
          </a:p>
          <a:p>
            <a:endParaRPr lang="en-US" dirty="0"/>
          </a:p>
          <a:p>
            <a:r>
              <a:rPr lang="en-US" dirty="0"/>
              <a:t>Failure Categories.....................12 minutes</a:t>
            </a:r>
          </a:p>
          <a:p>
            <a:endParaRPr lang="en-US" dirty="0"/>
          </a:p>
          <a:p>
            <a:r>
              <a:rPr lang="en-US" dirty="0"/>
              <a:t>Graceful Failure........................10 minutes</a:t>
            </a:r>
          </a:p>
          <a:p>
            <a:endParaRPr lang="en-US" dirty="0"/>
          </a:p>
          <a:p>
            <a:r>
              <a:rPr lang="en-US" dirty="0"/>
              <a:t>Reliability Practices..................10 minutes</a:t>
            </a:r>
          </a:p>
          <a:p>
            <a:endParaRPr lang="en-US" dirty="0"/>
          </a:p>
          <a:p>
            <a:r>
              <a:rPr lang="en-US" dirty="0"/>
              <a:t>Recovery &amp; Backups......................8 minutes</a:t>
            </a:r>
          </a:p>
          <a:p>
            <a:endParaRPr lang="en-US" dirty="0"/>
          </a:p>
          <a:p>
            <a:r>
              <a:rPr lang="en-US" dirty="0"/>
              <a:t>Failure Testing........................10 minutes</a:t>
            </a:r>
          </a:p>
          <a:p>
            <a:endParaRPr lang="en-US" dirty="0"/>
          </a:p>
          <a:p>
            <a:r>
              <a:rPr lang="en-US" dirty="0"/>
              <a:t>Discussion &amp; Closing....................7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should be a mixture of explanation and hands-on experimentation.</a:t>
            </a:r>
          </a:p>
          <a:p>
            <a:endParaRPr lang="en-US" dirty="0"/>
          </a:p>
          <a:p>
            <a:r>
              <a:rPr lang="en-US" dirty="0"/>
              <a:t>The strongest teaching moment will come from students deliberately</a:t>
            </a:r>
          </a:p>
          <a:p>
            <a:r>
              <a:rPr lang="en-US" dirty="0"/>
              <a:t>causing controlled failures in their own Atlas environment.</a:t>
            </a:r>
          </a:p>
          <a:p>
            <a:endParaRPr lang="en-US" dirty="0"/>
          </a:p>
          <a:p>
            <a:r>
              <a:rPr lang="en-US" dirty="0"/>
              <a:t>------------------------------------------------------------</a:t>
            </a:r>
          </a:p>
          <a:p>
            <a:endParaRPr lang="en-US" dirty="0"/>
          </a:p>
          <a:p>
            <a:r>
              <a:rPr lang="en-US" dirty="0"/>
              <a:t>IMPORTANT TEACHING MOVE</a:t>
            </a:r>
          </a:p>
          <a:p>
            <a:endParaRPr lang="en-US" dirty="0"/>
          </a:p>
          <a:p>
            <a:r>
              <a:rPr lang="en-US" dirty="0"/>
              <a:t>Keep asking:</a:t>
            </a:r>
          </a:p>
          <a:p>
            <a:endParaRPr lang="en-US" dirty="0"/>
          </a:p>
          <a:p>
            <a:r>
              <a:rPr lang="en-US" dirty="0"/>
              <a:t>"What happens if...?"</a:t>
            </a:r>
          </a:p>
          <a:p>
            <a:endParaRPr lang="en-US" dirty="0"/>
          </a:p>
          <a:p>
            <a:r>
              <a:rPr lang="en-US" dirty="0"/>
              <a:t>Examples:</a:t>
            </a:r>
          </a:p>
          <a:p>
            <a:endParaRPr lang="en-US" dirty="0"/>
          </a:p>
          <a:p>
            <a:r>
              <a:rPr lang="en-US" dirty="0"/>
              <a:t>"What happens if the database disappears?"</a:t>
            </a:r>
          </a:p>
          <a:p>
            <a:endParaRPr lang="en-US" dirty="0"/>
          </a:p>
          <a:p>
            <a:r>
              <a:rPr lang="en-US" dirty="0"/>
              <a:t>"What happens if the API doesn't respond?"</a:t>
            </a:r>
          </a:p>
          <a:p>
            <a:endParaRPr lang="en-US" dirty="0"/>
          </a:p>
          <a:p>
            <a:r>
              <a:rPr lang="en-US" dirty="0"/>
              <a:t>"What happens if the user submits invalid data?"</a:t>
            </a:r>
          </a:p>
          <a:p>
            <a:endParaRPr lang="en-US" dirty="0"/>
          </a:p>
          <a:p>
            <a:r>
              <a:rPr lang="en-US" dirty="0"/>
              <a:t>"What happens if the server restarts?"</a:t>
            </a:r>
          </a:p>
          <a:p>
            <a:endParaRPr lang="en-US" dirty="0"/>
          </a:p>
          <a:p>
            <a:r>
              <a:rPr lang="en-US" dirty="0"/>
              <a:t>"What happens if the network fails?"</a:t>
            </a:r>
          </a:p>
          <a:p>
            <a:endParaRPr lang="en-US" dirty="0"/>
          </a:p>
          <a:p>
            <a:r>
              <a:rPr lang="en-US" dirty="0"/>
              <a:t>This develops reliability thinking.</a:t>
            </a:r>
          </a:p>
          <a:p>
            <a:endParaRPr lang="en-US" dirty="0"/>
          </a:p>
          <a:p>
            <a:r>
              <a:rPr lang="en-US" dirty="0"/>
              <a:t>------------------------------------------------------------</a:t>
            </a:r>
          </a:p>
          <a:p>
            <a:endParaRPr lang="en-US" dirty="0"/>
          </a:p>
          <a:p>
            <a:r>
              <a:rPr lang="en-US" dirty="0"/>
              <a:t>DO NOT OVER-IMPLEMENT</a:t>
            </a:r>
          </a:p>
          <a:p>
            <a:endParaRPr lang="en-US" dirty="0"/>
          </a:p>
          <a:p>
            <a:r>
              <a:rPr lang="en-US" dirty="0"/>
              <a:t>Students do not need to implement every reliability design pattern</a:t>
            </a:r>
          </a:p>
          <a:p>
            <a:r>
              <a:rPr lang="en-US" dirty="0"/>
              <a:t>shown on the poster.</a:t>
            </a:r>
          </a:p>
          <a:p>
            <a:endParaRPr lang="en-US" dirty="0"/>
          </a:p>
          <a:p>
            <a:r>
              <a:rPr lang="en-US" dirty="0"/>
              <a:t>The poster introduces patterns such as:</a:t>
            </a:r>
          </a:p>
          <a:p>
            <a:endParaRPr lang="en-US" dirty="0"/>
          </a:p>
          <a:p>
            <a:r>
              <a:rPr lang="en-US" dirty="0"/>
              <a:t>Circuit breaker.</a:t>
            </a:r>
          </a:p>
          <a:p>
            <a:endParaRPr lang="en-US" dirty="0"/>
          </a:p>
          <a:p>
            <a:r>
              <a:rPr lang="en-US" dirty="0"/>
              <a:t>Retry with backoff.</a:t>
            </a:r>
          </a:p>
          <a:p>
            <a:endParaRPr lang="en-US" dirty="0"/>
          </a:p>
          <a:p>
            <a:r>
              <a:rPr lang="en-US" dirty="0"/>
              <a:t>Bulkhead isolation.</a:t>
            </a:r>
          </a:p>
          <a:p>
            <a:endParaRPr lang="en-US" dirty="0"/>
          </a:p>
          <a:p>
            <a:r>
              <a:rPr lang="en-US" dirty="0"/>
              <a:t>Idempotency.</a:t>
            </a:r>
          </a:p>
          <a:p>
            <a:endParaRPr lang="en-US" dirty="0"/>
          </a:p>
          <a:p>
            <a:r>
              <a:rPr lang="en-US" dirty="0"/>
              <a:t>Queue/background work.</a:t>
            </a:r>
          </a:p>
          <a:p>
            <a:endParaRPr lang="en-US" dirty="0"/>
          </a:p>
          <a:p>
            <a:r>
              <a:rPr lang="en-US" dirty="0"/>
              <a:t>Caching.</a:t>
            </a:r>
          </a:p>
          <a:p>
            <a:endParaRPr lang="en-US" dirty="0"/>
          </a:p>
          <a:p>
            <a:r>
              <a:rPr lang="en-US" dirty="0"/>
              <a:t>The course goal is recognition and appropriate application.</a:t>
            </a:r>
          </a:p>
          <a:p>
            <a:endParaRPr lang="en-US" dirty="0"/>
          </a:p>
          <a:p>
            <a:r>
              <a:rPr lang="en-US" dirty="0"/>
              <a:t>------------------------------------------------------------</a:t>
            </a:r>
          </a:p>
          <a:p>
            <a:endParaRPr lang="en-US" dirty="0"/>
          </a:p>
          <a:p>
            <a:r>
              <a:rPr lang="en-US" dirty="0"/>
              <a:t>ATLAS SCOPE</a:t>
            </a:r>
          </a:p>
          <a:p>
            <a:endParaRPr lang="en-US" dirty="0"/>
          </a:p>
          <a:p>
            <a:r>
              <a:rPr lang="en-US" dirty="0"/>
              <a:t>For Atlas, prioritize:</a:t>
            </a:r>
          </a:p>
          <a:p>
            <a:endParaRPr lang="en-US" dirty="0"/>
          </a:p>
          <a:p>
            <a:r>
              <a:rPr lang="en-US" dirty="0"/>
              <a:t>✓ Graceful error handling.</a:t>
            </a:r>
          </a:p>
          <a:p>
            <a:endParaRPr lang="en-US" dirty="0"/>
          </a:p>
          <a:p>
            <a:r>
              <a:rPr lang="en-US" dirty="0"/>
              <a:t>✓ Input validation.</a:t>
            </a:r>
          </a:p>
          <a:p>
            <a:endParaRPr lang="en-US" dirty="0"/>
          </a:p>
          <a:p>
            <a:r>
              <a:rPr lang="en-US" dirty="0"/>
              <a:t>✓ Appropriate timeouts.</a:t>
            </a:r>
          </a:p>
          <a:p>
            <a:endParaRPr lang="en-US" dirty="0"/>
          </a:p>
          <a:p>
            <a:r>
              <a:rPr lang="en-US" dirty="0"/>
              <a:t>✓ Safe retries where needed.</a:t>
            </a:r>
          </a:p>
          <a:p>
            <a:endParaRPr lang="en-US" dirty="0"/>
          </a:p>
          <a:p>
            <a:r>
              <a:rPr lang="en-US" dirty="0"/>
              <a:t>✓ Logging.</a:t>
            </a:r>
          </a:p>
          <a:p>
            <a:endParaRPr lang="en-US" dirty="0"/>
          </a:p>
          <a:p>
            <a:r>
              <a:rPr lang="en-US" dirty="0"/>
              <a:t>✓ Backups.</a:t>
            </a:r>
          </a:p>
          <a:p>
            <a:endParaRPr lang="en-US" dirty="0"/>
          </a:p>
          <a:p>
            <a:r>
              <a:rPr lang="en-US" dirty="0"/>
              <a:t>✓ Recovery planning.</a:t>
            </a:r>
          </a:p>
          <a:p>
            <a:endParaRPr lang="en-US" dirty="0"/>
          </a:p>
          <a:p>
            <a:r>
              <a:rPr lang="en-US" dirty="0"/>
              <a:t>✓ Failure testing.</a:t>
            </a:r>
          </a:p>
          <a:p>
            <a:endParaRPr lang="en-US" dirty="0"/>
          </a:p>
          <a:p>
            <a:r>
              <a:rPr lang="en-US" dirty="0"/>
              <a:t>✓ User-friendly errors.</a:t>
            </a:r>
          </a:p>
          <a:p>
            <a:endParaRPr lang="en-US" dirty="0"/>
          </a:p>
          <a:p>
            <a:r>
              <a:rPr lang="en-US" dirty="0"/>
              <a:t>Don't require enterprise-scale resilience architecture.</a:t>
            </a:r>
          </a:p>
          <a:p>
            <a:endParaRPr lang="en-US" dirty="0"/>
          </a:p>
          <a:p>
            <a:r>
              <a:rPr lang="en-US" dirty="0"/>
              <a:t>------------------------------------------------------------</a:t>
            </a:r>
          </a:p>
          <a:p>
            <a:endParaRPr lang="en-US" dirty="0"/>
          </a:p>
          <a:p>
            <a:r>
              <a:rPr lang="en-US" dirty="0"/>
              <a:t>BACKUP EMPHASIS</a:t>
            </a:r>
          </a:p>
          <a:p>
            <a:endParaRPr lang="en-US" dirty="0"/>
          </a:p>
          <a:p>
            <a:r>
              <a:rPr lang="en-US" dirty="0"/>
              <a:t>Ask students:</a:t>
            </a:r>
          </a:p>
          <a:p>
            <a:endParaRPr lang="en-US" dirty="0"/>
          </a:p>
          <a:p>
            <a:r>
              <a:rPr lang="en-US" dirty="0"/>
              <a:t>"Can you restore your backup?"</a:t>
            </a:r>
          </a:p>
          <a:p>
            <a:endParaRPr lang="en-US" dirty="0"/>
          </a:p>
          <a:p>
            <a:r>
              <a:rPr lang="en-US" dirty="0"/>
              <a:t>If they haven't tested it:</a:t>
            </a:r>
          </a:p>
          <a:p>
            <a:endParaRPr lang="en-US" dirty="0"/>
          </a:p>
          <a:p>
            <a:r>
              <a:rPr lang="en-US" dirty="0"/>
              <a:t>"You don't know yet."</a:t>
            </a:r>
          </a:p>
          <a:p>
            <a:endParaRPr lang="en-US" dirty="0"/>
          </a:p>
          <a:p>
            <a:r>
              <a:rPr lang="en-US" dirty="0"/>
              <a:t>This is a great opportunity to reinforce:</a:t>
            </a:r>
          </a:p>
          <a:p>
            <a:endParaRPr lang="en-US" dirty="0"/>
          </a:p>
          <a:p>
            <a:r>
              <a:rPr lang="en-US" dirty="0"/>
              <a:t>BACKUP</a:t>
            </a:r>
          </a:p>
          <a:p>
            <a:endParaRPr lang="en-US" dirty="0"/>
          </a:p>
          <a:p>
            <a:r>
              <a:rPr lang="en-US" dirty="0"/>
              <a:t>≠</a:t>
            </a:r>
          </a:p>
          <a:p>
            <a:endParaRPr lang="en-US" dirty="0"/>
          </a:p>
          <a:p>
            <a:r>
              <a:rPr lang="en-US" dirty="0"/>
              <a:t>RECOVERY</a:t>
            </a:r>
          </a:p>
          <a:p>
            <a:endParaRPr lang="en-US" dirty="0"/>
          </a:p>
          <a:p>
            <a:r>
              <a:rPr lang="en-US" dirty="0"/>
              <a:t>------------------------------------------------------------</a:t>
            </a:r>
          </a:p>
          <a:p>
            <a:endParaRPr lang="en-US" dirty="0"/>
          </a:p>
          <a:p>
            <a:r>
              <a:rPr lang="en-US" dirty="0"/>
              <a:t>RELIABILITY VS SECURITY</a:t>
            </a:r>
          </a:p>
          <a:p>
            <a:endParaRPr lang="en-US" dirty="0"/>
          </a:p>
          <a:p>
            <a:r>
              <a:rPr lang="en-US" dirty="0"/>
              <a:t>Connect to Sprint 6.</a:t>
            </a:r>
          </a:p>
          <a:p>
            <a:endParaRPr lang="en-US" dirty="0"/>
          </a:p>
          <a:p>
            <a:r>
              <a:rPr lang="en-US" dirty="0"/>
              <a:t>Security asks:</a:t>
            </a:r>
          </a:p>
          <a:p>
            <a:endParaRPr lang="en-US" dirty="0"/>
          </a:p>
          <a:p>
            <a:r>
              <a:rPr lang="en-US" dirty="0"/>
              <a:t>"Who should have access?"</a:t>
            </a:r>
          </a:p>
          <a:p>
            <a:endParaRPr lang="en-US" dirty="0"/>
          </a:p>
          <a:p>
            <a:r>
              <a:rPr lang="en-US" dirty="0"/>
              <a:t>Reliability asks:</a:t>
            </a:r>
          </a:p>
          <a:p>
            <a:endParaRPr lang="en-US" dirty="0"/>
          </a:p>
          <a:p>
            <a:r>
              <a:rPr lang="en-US" dirty="0"/>
              <a:t>"What happens when something goes wrong?"</a:t>
            </a:r>
          </a:p>
          <a:p>
            <a:endParaRPr lang="en-US" dirty="0"/>
          </a:p>
          <a:p>
            <a:r>
              <a:rPr lang="en-US" dirty="0"/>
              <a:t>Both protect user trust.</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EXPECT</a:t>
            </a:r>
          </a:p>
          <a:p>
            <a:endParaRPr lang="en-US" dirty="0"/>
          </a:p>
          <a:p>
            <a:r>
              <a:rPr lang="en-US" dirty="0"/>
              <a:t>→</a:t>
            </a:r>
          </a:p>
          <a:p>
            <a:endParaRPr lang="en-US" dirty="0"/>
          </a:p>
          <a:p>
            <a:r>
              <a:rPr lang="en-US" dirty="0"/>
              <a:t>HANDLE</a:t>
            </a:r>
          </a:p>
          <a:p>
            <a:endParaRPr lang="en-US" dirty="0"/>
          </a:p>
          <a:p>
            <a:r>
              <a:rPr lang="en-US" dirty="0"/>
              <a:t>→</a:t>
            </a:r>
          </a:p>
          <a:p>
            <a:endParaRPr lang="en-US" dirty="0"/>
          </a:p>
          <a:p>
            <a:r>
              <a:rPr lang="en-US" dirty="0"/>
              <a:t>RECOVER</a:t>
            </a:r>
          </a:p>
          <a:p>
            <a:endParaRPr lang="en-US" dirty="0"/>
          </a:p>
          <a:p>
            <a:r>
              <a:rPr lang="en-US" dirty="0"/>
              <a:t>→</a:t>
            </a:r>
          </a:p>
          <a:p>
            <a:endParaRPr lang="en-US" dirty="0"/>
          </a:p>
          <a:p>
            <a:r>
              <a:rPr lang="en-US" dirty="0"/>
              <a:t>VERIFY</a:t>
            </a:r>
          </a:p>
          <a:p>
            <a:endParaRPr lang="en-US" dirty="0"/>
          </a:p>
          <a:p>
            <a:r>
              <a:rPr lang="en-US" dirty="0"/>
              <a:t>Then:</a:t>
            </a:r>
          </a:p>
          <a:p>
            <a:endParaRPr lang="en-US" dirty="0"/>
          </a:p>
          <a:p>
            <a:r>
              <a:rPr lang="en-US" dirty="0"/>
              <a:t>"Reliable systems don't just work."</a:t>
            </a:r>
          </a:p>
          <a:p>
            <a:endParaRPr lang="en-US" dirty="0"/>
          </a:p>
          <a:p>
            <a:r>
              <a:rPr lang="en-US" dirty="0"/>
              <a:t>"They keep working when things go wrong."</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"We don't design Atlas assuming everything will go right."</a:t>
            </a:r>
          </a:p>
          <a:p>
            <a:endParaRPr lang="en-US" dirty="0"/>
          </a:p>
          <a:p>
            <a:r>
              <a:rPr lang="en-US" dirty="0"/>
              <a:t>"We design Atlas knowing something eventually won't."</a:t>
            </a:r>
          </a:p>
          <a:p>
            <a:endParaRPr lang="en-US" dirty="0"/>
          </a:p>
          <a:p>
            <a:r>
              <a:rPr lang="en-US" dirty="0"/>
              <a:t>"And when that happens..."</a:t>
            </a:r>
          </a:p>
          <a:p>
            <a:endParaRPr lang="en-US" dirty="0"/>
          </a:p>
          <a:p>
            <a:r>
              <a:rPr lang="en-US" dirty="0"/>
              <a:t>"Atlas needs to know what to do."</a:t>
            </a:r>
          </a:p>
          <a:p>
            <a:endParaRPr lang="en-US" dirty="0"/>
          </a:p>
          <a:p>
            <a:r>
              <a:rPr lang="en-US" dirty="0"/>
              <a:t>============================================================</a:t>
            </a:r>
          </a:p>
        </p:txBody>
      </p:sp>
      <p:sp>
        <p:nvSpPr>
          <p:cNvPr id="4" name="Slide Number Placeholder 3"/>
          <p:cNvSpPr>
            <a:spLocks noGrp="1"/>
          </p:cNvSpPr>
          <p:nvPr>
            <p:ph type="sldNum" sz="quarter" idx="5"/>
          </p:nvPr>
        </p:nvSpPr>
        <p:spPr/>
        <p:txBody>
          <a:bodyPr/>
          <a:lstStyle/>
          <a:p>
            <a:fld id="{5AFC1053-384D-42E4-B963-6C2B9553F5DF}" type="slidenum">
              <a:rPr lang="en-US" smtClean="0"/>
              <a:t>3</a:t>
            </a:fld>
            <a:endParaRPr lang="en-US"/>
          </a:p>
        </p:txBody>
      </p:sp>
    </p:spTree>
    <p:extLst>
      <p:ext uri="{BB962C8B-B14F-4D97-AF65-F5344CB8AC3E}">
        <p14:creationId xmlns:p14="http://schemas.microsoft.com/office/powerpoint/2010/main" val="1857369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7</a:t>
            </a:r>
          </a:p>
          <a:p>
            <a:endParaRPr lang="en-US" dirty="0"/>
          </a:p>
          <a:p>
            <a:r>
              <a:rPr lang="en-US" dirty="0"/>
              <a:t>MAKE IT OBSERVABLE</a:t>
            </a:r>
          </a:p>
          <a:p>
            <a:endParaRPr lang="en-US" dirty="0"/>
          </a:p>
          <a:p>
            <a:r>
              <a:rPr lang="en-US" dirty="0"/>
              <a:t>"You can't improve what you can't see."</a:t>
            </a:r>
          </a:p>
          <a:p>
            <a:endParaRPr lang="en-US" dirty="0"/>
          </a:p>
          <a:p>
            <a:r>
              <a:rPr lang="en-US" dirty="0"/>
              <a:t>============================================================</a:t>
            </a:r>
          </a:p>
          <a:p>
            <a:endParaRPr lang="en-US" dirty="0"/>
          </a:p>
          <a:p>
            <a:r>
              <a:rPr lang="en-US" dirty="0"/>
              <a:t>SLIDE PURPOSE</a:t>
            </a:r>
          </a:p>
          <a:p>
            <a:endParaRPr lang="en-US" dirty="0"/>
          </a:p>
          <a:p>
            <a:r>
              <a:rPr lang="en-US" dirty="0"/>
              <a:t>Teach students that deployed software needs visibility.</a:t>
            </a:r>
          </a:p>
          <a:p>
            <a:endParaRPr lang="en-US" dirty="0"/>
          </a:p>
          <a:p>
            <a:r>
              <a:rPr lang="en-US" dirty="0"/>
              <a:t>Students should understand:</a:t>
            </a:r>
          </a:p>
          <a:p>
            <a:endParaRPr lang="en-US" dirty="0"/>
          </a:p>
          <a:p>
            <a:r>
              <a:rPr lang="en-US" dirty="0"/>
              <a:t>• What observability means</a:t>
            </a:r>
          </a:p>
          <a:p>
            <a:r>
              <a:rPr lang="en-US" dirty="0"/>
              <a:t>• Why logging matters</a:t>
            </a:r>
          </a:p>
          <a:p>
            <a:r>
              <a:rPr lang="en-US" dirty="0"/>
              <a:t>• Metrics</a:t>
            </a:r>
          </a:p>
          <a:p>
            <a:r>
              <a:rPr lang="en-US" dirty="0"/>
              <a:t>• Health checks</a:t>
            </a:r>
          </a:p>
          <a:p>
            <a:r>
              <a:rPr lang="en-US" dirty="0"/>
              <a:t>• Application health</a:t>
            </a:r>
          </a:p>
          <a:p>
            <a:r>
              <a:rPr lang="en-US" dirty="0"/>
              <a:t>• Performance</a:t>
            </a:r>
          </a:p>
          <a:p>
            <a:r>
              <a:rPr lang="en-US" dirty="0"/>
              <a:t>• Errors</a:t>
            </a:r>
          </a:p>
          <a:p>
            <a:r>
              <a:rPr lang="en-US" dirty="0"/>
              <a:t>• Dependencies</a:t>
            </a:r>
          </a:p>
          <a:p>
            <a:r>
              <a:rPr lang="en-US" dirty="0"/>
              <a:t>• User behavior</a:t>
            </a:r>
          </a:p>
          <a:p>
            <a:r>
              <a:rPr lang="en-US" dirty="0"/>
              <a:t>• Alerts</a:t>
            </a:r>
          </a:p>
          <a:p>
            <a:r>
              <a:rPr lang="en-US" dirty="0"/>
              <a:t>• Dashboards</a:t>
            </a:r>
          </a:p>
          <a:p>
            <a:r>
              <a:rPr lang="en-US" dirty="0"/>
              <a:t>• Operational awareness</a:t>
            </a:r>
          </a:p>
          <a:p>
            <a:endParaRPr lang="en-US" dirty="0"/>
          </a:p>
          <a:p>
            <a:r>
              <a:rPr lang="en-US" dirty="0"/>
              <a:t>The goal is not to turn students into DevOps engineers.</a:t>
            </a:r>
          </a:p>
          <a:p>
            <a:endParaRPr lang="en-US" dirty="0"/>
          </a:p>
          <a:p>
            <a:r>
              <a:rPr lang="en-US" dirty="0"/>
              <a:t>The goal is to teach them that once software is deployed:</a:t>
            </a:r>
          </a:p>
          <a:p>
            <a:endParaRPr lang="en-US" dirty="0"/>
          </a:p>
          <a:p>
            <a:r>
              <a:rPr lang="en-US" dirty="0"/>
              <a:t>WE NEED TO KNOW WHAT IT IS DOING.</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"Imagine Atlas is deployed."</a:t>
            </a:r>
          </a:p>
          <a:p>
            <a:endParaRPr lang="en-US" dirty="0"/>
          </a:p>
          <a:p>
            <a:r>
              <a:rPr lang="en-US" dirty="0"/>
              <a:t>"Everything looks great."</a:t>
            </a:r>
          </a:p>
          <a:p>
            <a:endParaRPr lang="en-US" dirty="0"/>
          </a:p>
          <a:p>
            <a:r>
              <a:rPr lang="en-US" dirty="0"/>
              <a:t>"Users are working."</a:t>
            </a:r>
          </a:p>
          <a:p>
            <a:endParaRPr lang="en-US" dirty="0"/>
          </a:p>
          <a:p>
            <a:r>
              <a:rPr lang="en-US" dirty="0"/>
              <a:t>"Then something breaks."</a:t>
            </a:r>
          </a:p>
          <a:p>
            <a:endParaRPr lang="en-US" dirty="0"/>
          </a:p>
          <a:p>
            <a:r>
              <a:rPr lang="en-US" dirty="0"/>
              <a:t>Pause.</a:t>
            </a:r>
          </a:p>
          <a:p>
            <a:endParaRPr lang="en-US" dirty="0"/>
          </a:p>
          <a:p>
            <a:r>
              <a:rPr lang="en-US" dirty="0"/>
              <a:t>"How do we know?"</a:t>
            </a:r>
          </a:p>
          <a:p>
            <a:endParaRPr lang="en-US" dirty="0"/>
          </a:p>
          <a:p>
            <a:r>
              <a:rPr lang="en-US" dirty="0"/>
              <a:t>Students may say:</a:t>
            </a:r>
          </a:p>
          <a:p>
            <a:endParaRPr lang="en-US" dirty="0"/>
          </a:p>
          <a:p>
            <a:r>
              <a:rPr lang="en-US" dirty="0"/>
              <a:t>A user tells us.</a:t>
            </a:r>
          </a:p>
          <a:p>
            <a:endParaRPr lang="en-US" dirty="0"/>
          </a:p>
          <a:p>
            <a:r>
              <a:rPr lang="en-US" dirty="0"/>
              <a:t>We check the application.</a:t>
            </a:r>
          </a:p>
          <a:p>
            <a:endParaRPr lang="en-US" dirty="0"/>
          </a:p>
          <a:p>
            <a:r>
              <a:rPr lang="en-US" dirty="0"/>
              <a:t>We look at logs.</a:t>
            </a:r>
          </a:p>
          <a:p>
            <a:endParaRPr lang="en-US" dirty="0"/>
          </a:p>
          <a:p>
            <a:r>
              <a:rPr lang="en-US" dirty="0"/>
              <a:t>We get an alert.</a:t>
            </a:r>
          </a:p>
          <a:p>
            <a:endParaRPr lang="en-US" dirty="0"/>
          </a:p>
          <a:p>
            <a:r>
              <a:rPr lang="en-US" dirty="0"/>
              <a:t>Exactly.</a:t>
            </a:r>
          </a:p>
          <a:p>
            <a:endParaRPr lang="en-US" dirty="0"/>
          </a:p>
          <a:p>
            <a:r>
              <a:rPr lang="en-US" dirty="0"/>
              <a:t>Say:</a:t>
            </a:r>
          </a:p>
          <a:p>
            <a:endParaRPr lang="en-US" dirty="0"/>
          </a:p>
          <a:p>
            <a:r>
              <a:rPr lang="en-US" dirty="0"/>
              <a:t>"If our only monitoring system is a user calling us..."</a:t>
            </a:r>
          </a:p>
          <a:p>
            <a:endParaRPr lang="en-US" dirty="0"/>
          </a:p>
          <a:p>
            <a:r>
              <a:rPr lang="en-US" dirty="0"/>
              <a:t>"We have a problem."</a:t>
            </a:r>
          </a:p>
          <a:p>
            <a:endParaRPr lang="en-US" dirty="0"/>
          </a:p>
          <a:p>
            <a:r>
              <a:rPr lang="en-US" dirty="0"/>
              <a:t>------------------------------------------------------------</a:t>
            </a:r>
          </a:p>
          <a:p>
            <a:endParaRPr lang="en-US" dirty="0"/>
          </a:p>
          <a:p>
            <a:r>
              <a:rPr lang="en-US" dirty="0"/>
              <a:t>THE BIG QUESTION</a:t>
            </a:r>
          </a:p>
          <a:p>
            <a:endParaRPr lang="en-US" dirty="0"/>
          </a:p>
          <a:p>
            <a:r>
              <a:rPr lang="en-US" dirty="0"/>
              <a:t>Point to:</a:t>
            </a:r>
          </a:p>
          <a:p>
            <a:endParaRPr lang="en-US" dirty="0"/>
          </a:p>
          <a:p>
            <a:r>
              <a:rPr lang="en-US" dirty="0"/>
              <a:t>"HOW DO WE KNOW WHAT'S HAPPENING WITH ATLAS IN REAL TIME?"</a:t>
            </a:r>
          </a:p>
          <a:p>
            <a:endParaRPr lang="en-US" dirty="0"/>
          </a:p>
          <a:p>
            <a:r>
              <a:rPr lang="en-US" dirty="0"/>
              <a:t>Say:</a:t>
            </a:r>
          </a:p>
          <a:p>
            <a:endParaRPr lang="en-US" dirty="0"/>
          </a:p>
          <a:p>
            <a:r>
              <a:rPr lang="en-US" dirty="0"/>
              <a:t>"That's the observability question."</a:t>
            </a:r>
          </a:p>
          <a:p>
            <a:endParaRPr lang="en-US" dirty="0"/>
          </a:p>
          <a:p>
            <a:r>
              <a:rPr lang="en-US" dirty="0"/>
              <a:t>Reliability asks:</a:t>
            </a:r>
          </a:p>
          <a:p>
            <a:endParaRPr lang="en-US" dirty="0"/>
          </a:p>
          <a:p>
            <a:r>
              <a:rPr lang="en-US" dirty="0"/>
              <a:t>"What happens when something goes wrong?"</a:t>
            </a:r>
          </a:p>
          <a:p>
            <a:endParaRPr lang="en-US" dirty="0"/>
          </a:p>
          <a:p>
            <a:r>
              <a:rPr lang="en-US" dirty="0"/>
              <a:t>Observability asks:</a:t>
            </a:r>
          </a:p>
          <a:p>
            <a:endParaRPr lang="en-US" dirty="0"/>
          </a:p>
          <a:p>
            <a:r>
              <a:rPr lang="en-US" dirty="0"/>
              <a:t>"How do we know?"</a:t>
            </a:r>
          </a:p>
          <a:p>
            <a:endParaRPr lang="en-US" dirty="0"/>
          </a:p>
          <a:p>
            <a:r>
              <a:rPr lang="en-US" dirty="0"/>
              <a:t>------------------------------------------------------------</a:t>
            </a:r>
          </a:p>
          <a:p>
            <a:endParaRPr lang="en-US" dirty="0"/>
          </a:p>
          <a:p>
            <a:r>
              <a:rPr lang="en-US" dirty="0"/>
              <a:t>WHAT IS OBSERVABILITY?</a:t>
            </a:r>
          </a:p>
          <a:p>
            <a:endParaRPr lang="en-US" dirty="0"/>
          </a:p>
          <a:p>
            <a:r>
              <a:rPr lang="en-US" dirty="0"/>
              <a:t>Point to:</a:t>
            </a:r>
          </a:p>
          <a:p>
            <a:endParaRPr lang="en-US" dirty="0"/>
          </a:p>
          <a:p>
            <a:r>
              <a:rPr lang="en-US" dirty="0"/>
              <a:t>"Observability is how we gain insight into the health, performance,</a:t>
            </a:r>
          </a:p>
          <a:p>
            <a:r>
              <a:rPr lang="en-US" dirty="0"/>
              <a:t>and behavior of Atlas."</a:t>
            </a:r>
          </a:p>
          <a:p>
            <a:endParaRPr lang="en-US" dirty="0"/>
          </a:p>
          <a:p>
            <a:r>
              <a:rPr lang="en-US" dirty="0"/>
              <a:t>Explain:</a:t>
            </a:r>
          </a:p>
          <a:p>
            <a:endParaRPr lang="en-US" dirty="0"/>
          </a:p>
          <a:p>
            <a:r>
              <a:rPr lang="en-US" dirty="0"/>
              <a:t>"Observability gives us visibility into the system."</a:t>
            </a:r>
          </a:p>
          <a:p>
            <a:endParaRPr lang="en-US" dirty="0"/>
          </a:p>
          <a:p>
            <a:r>
              <a:rPr lang="en-US" dirty="0"/>
              <a:t>It helps answer:</a:t>
            </a:r>
          </a:p>
          <a:p>
            <a:endParaRPr lang="en-US" dirty="0"/>
          </a:p>
          <a:p>
            <a:r>
              <a:rPr lang="en-US" dirty="0"/>
              <a:t>Is Atlas healthy?</a:t>
            </a:r>
          </a:p>
          <a:p>
            <a:endParaRPr lang="en-US" dirty="0"/>
          </a:p>
          <a:p>
            <a:r>
              <a:rPr lang="en-US" dirty="0"/>
              <a:t>Is Atlas slow?</a:t>
            </a:r>
          </a:p>
          <a:p>
            <a:endParaRPr lang="en-US" dirty="0"/>
          </a:p>
          <a:p>
            <a:r>
              <a:rPr lang="en-US" dirty="0"/>
              <a:t>Are users experiencing errors?</a:t>
            </a:r>
          </a:p>
          <a:p>
            <a:endParaRPr lang="en-US" dirty="0"/>
          </a:p>
          <a:p>
            <a:r>
              <a:rPr lang="en-US" dirty="0"/>
              <a:t>Are dependencies working?</a:t>
            </a:r>
          </a:p>
          <a:p>
            <a:endParaRPr lang="en-US" dirty="0"/>
          </a:p>
          <a:p>
            <a:r>
              <a:rPr lang="en-US" dirty="0"/>
              <a:t>Is usage increasing?</a:t>
            </a:r>
          </a:p>
          <a:p>
            <a:endParaRPr lang="en-US" dirty="0"/>
          </a:p>
          <a:p>
            <a:r>
              <a:rPr lang="en-US" dirty="0"/>
              <a:t>Is something unusual happening?</a:t>
            </a:r>
          </a:p>
          <a:p>
            <a:endParaRPr lang="en-US" dirty="0"/>
          </a:p>
          <a:p>
            <a:r>
              <a:rPr lang="en-US" dirty="0"/>
              <a:t>------------------------------------------------------------</a:t>
            </a:r>
          </a:p>
          <a:p>
            <a:endParaRPr lang="en-US" dirty="0"/>
          </a:p>
          <a:p>
            <a:r>
              <a:rPr lang="en-US" dirty="0"/>
              <a:t>THE GOAL</a:t>
            </a:r>
          </a:p>
          <a:p>
            <a:endParaRPr lang="en-US" dirty="0"/>
          </a:p>
          <a:p>
            <a:r>
              <a:rPr lang="en-US" dirty="0"/>
              <a:t>Point to:</a:t>
            </a:r>
          </a:p>
          <a:p>
            <a:endParaRPr lang="en-US" dirty="0"/>
          </a:p>
          <a:p>
            <a:r>
              <a:rPr lang="en-US" dirty="0"/>
              <a:t>"MAKE ATLAS OBSERVABLE."</a:t>
            </a:r>
          </a:p>
          <a:p>
            <a:endParaRPr lang="en-US" dirty="0"/>
          </a:p>
          <a:p>
            <a:r>
              <a:rPr lang="en-US" dirty="0"/>
              <a:t>Read:</a:t>
            </a:r>
          </a:p>
          <a:p>
            <a:endParaRPr lang="en-US" dirty="0"/>
          </a:p>
          <a:p>
            <a:r>
              <a:rPr lang="en-US" dirty="0"/>
              <a:t>"Make Atlas observable so we can detect issues early, respond quickly,</a:t>
            </a:r>
          </a:p>
          <a:p>
            <a:r>
              <a:rPr lang="en-US" dirty="0"/>
              <a:t>and understand how it's performing."</a:t>
            </a:r>
          </a:p>
          <a:p>
            <a:endParaRPr lang="en-US" dirty="0"/>
          </a:p>
          <a:p>
            <a:r>
              <a:rPr lang="en-US" dirty="0"/>
              <a:t>Explain:</a:t>
            </a:r>
          </a:p>
          <a:p>
            <a:endParaRPr lang="en-US" dirty="0"/>
          </a:p>
          <a:p>
            <a:r>
              <a:rPr lang="en-US" dirty="0"/>
              <a:t>"We don't collect information just because we can."</a:t>
            </a:r>
          </a:p>
          <a:p>
            <a:endParaRPr lang="en-US" dirty="0"/>
          </a:p>
          <a:p>
            <a:r>
              <a:rPr lang="en-US" dirty="0"/>
              <a:t>"We collect information that helps us make decisions."</a:t>
            </a:r>
          </a:p>
          <a:p>
            <a:endParaRPr lang="en-US" dirty="0"/>
          </a:p>
          <a:p>
            <a:r>
              <a:rPr lang="en-US" dirty="0"/>
              <a:t>------------------------------------------------------------</a:t>
            </a:r>
          </a:p>
          <a:p>
            <a:endParaRPr lang="en-US" dirty="0"/>
          </a:p>
          <a:p>
            <a:r>
              <a:rPr lang="en-US" dirty="0"/>
              <a:t>THE PRINCIPLE</a:t>
            </a:r>
          </a:p>
          <a:p>
            <a:endParaRPr lang="en-US" dirty="0"/>
          </a:p>
          <a:p>
            <a:r>
              <a:rPr lang="en-US" dirty="0"/>
              <a:t>Point to:</a:t>
            </a:r>
          </a:p>
          <a:p>
            <a:endParaRPr lang="en-US" dirty="0"/>
          </a:p>
          <a:p>
            <a:r>
              <a:rPr lang="en-US" dirty="0"/>
              <a:t>"Measure what matters."</a:t>
            </a:r>
          </a:p>
          <a:p>
            <a:endParaRPr lang="en-US" dirty="0"/>
          </a:p>
          <a:p>
            <a:r>
              <a:rPr lang="en-US" dirty="0"/>
              <a:t>Say:</a:t>
            </a:r>
          </a:p>
          <a:p>
            <a:endParaRPr lang="en-US" dirty="0"/>
          </a:p>
          <a:p>
            <a:r>
              <a:rPr lang="en-US" dirty="0"/>
              <a:t>"Observability is not about collecting every piece of data."</a:t>
            </a:r>
          </a:p>
          <a:p>
            <a:endParaRPr lang="en-US" dirty="0"/>
          </a:p>
          <a:p>
            <a:r>
              <a:rPr lang="en-US" dirty="0"/>
              <a:t>"It's about collecting the right information."</a:t>
            </a:r>
          </a:p>
          <a:p>
            <a:endParaRPr lang="en-US" dirty="0"/>
          </a:p>
          <a:p>
            <a:r>
              <a:rPr lang="en-US" dirty="0"/>
              <a:t>Then:</a:t>
            </a:r>
          </a:p>
          <a:p>
            <a:endParaRPr lang="en-US" dirty="0"/>
          </a:p>
          <a:p>
            <a:r>
              <a:rPr lang="en-US" dirty="0"/>
              <a:t>"See what's important."</a:t>
            </a:r>
          </a:p>
          <a:p>
            <a:endParaRPr lang="en-US" dirty="0"/>
          </a:p>
          <a:p>
            <a:r>
              <a:rPr lang="en-US" dirty="0"/>
              <a:t>"Act before users are affected."</a:t>
            </a:r>
          </a:p>
          <a:p>
            <a:endParaRPr lang="en-US" dirty="0"/>
          </a:p>
          <a:p>
            <a:r>
              <a:rPr lang="en-US" dirty="0"/>
              <a:t>------------------------------------------------------------</a:t>
            </a:r>
          </a:p>
          <a:p>
            <a:endParaRPr lang="en-US" dirty="0"/>
          </a:p>
          <a:p>
            <a:r>
              <a:rPr lang="en-US" dirty="0"/>
              <a:t>OBSERVABILITY VS MONITORING</a:t>
            </a:r>
          </a:p>
          <a:p>
            <a:endParaRPr lang="en-US" dirty="0"/>
          </a:p>
          <a:p>
            <a:r>
              <a:rPr lang="en-US" dirty="0"/>
              <a:t>Explain:</a:t>
            </a:r>
          </a:p>
          <a:p>
            <a:endParaRPr lang="en-US" dirty="0"/>
          </a:p>
          <a:p>
            <a:r>
              <a:rPr lang="en-US" dirty="0"/>
              <a:t>"These terms are related, but they're not exactly the same."</a:t>
            </a:r>
          </a:p>
          <a:p>
            <a:endParaRPr lang="en-US" dirty="0"/>
          </a:p>
          <a:p>
            <a:r>
              <a:rPr lang="en-US" dirty="0"/>
              <a:t>Monitoring often asks:</a:t>
            </a:r>
          </a:p>
          <a:p>
            <a:endParaRPr lang="en-US" dirty="0"/>
          </a:p>
          <a:p>
            <a:r>
              <a:rPr lang="en-US" dirty="0"/>
              <a:t>"Is something working?"</a:t>
            </a:r>
          </a:p>
          <a:p>
            <a:endParaRPr lang="en-US" dirty="0"/>
          </a:p>
          <a:p>
            <a:r>
              <a:rPr lang="en-US" dirty="0"/>
              <a:t>Observability helps us ask:</a:t>
            </a:r>
          </a:p>
          <a:p>
            <a:endParaRPr lang="en-US" dirty="0"/>
          </a:p>
          <a:p>
            <a:r>
              <a:rPr lang="en-US" dirty="0"/>
              <a:t>"Why is it behaving this way?"</a:t>
            </a:r>
          </a:p>
          <a:p>
            <a:endParaRPr lang="en-US" dirty="0"/>
          </a:p>
          <a:p>
            <a:r>
              <a:rPr lang="en-US" dirty="0"/>
              <a:t>Example:</a:t>
            </a:r>
          </a:p>
          <a:p>
            <a:endParaRPr lang="en-US" dirty="0"/>
          </a:p>
          <a:p>
            <a:r>
              <a:rPr lang="en-US" dirty="0"/>
              <a:t>Monitoring:</a:t>
            </a:r>
          </a:p>
          <a:p>
            <a:endParaRPr lang="en-US" dirty="0"/>
          </a:p>
          <a:p>
            <a:r>
              <a:rPr lang="en-US" dirty="0"/>
              <a:t>"Error rate is high."</a:t>
            </a:r>
          </a:p>
          <a:p>
            <a:endParaRPr lang="en-US" dirty="0"/>
          </a:p>
          <a:p>
            <a:r>
              <a:rPr lang="en-US" dirty="0"/>
              <a:t>Observability:</a:t>
            </a:r>
          </a:p>
          <a:p>
            <a:endParaRPr lang="en-US" dirty="0"/>
          </a:p>
          <a:p>
            <a:r>
              <a:rPr lang="en-US" dirty="0"/>
              <a:t>"Error rate increased after deployment,</a:t>
            </a:r>
          </a:p>
          <a:p>
            <a:r>
              <a:rPr lang="en-US" dirty="0"/>
              <a:t>and the failures are coming from the task API."</a:t>
            </a:r>
          </a:p>
          <a:p>
            <a:endParaRPr lang="en-US" dirty="0"/>
          </a:p>
          <a:p>
            <a:r>
              <a:rPr lang="en-US" dirty="0"/>
              <a:t>Explain:</a:t>
            </a:r>
          </a:p>
          <a:p>
            <a:endParaRPr lang="en-US" dirty="0"/>
          </a:p>
          <a:p>
            <a:r>
              <a:rPr lang="en-US" dirty="0"/>
              <a:t>"Observability gives us context."</a:t>
            </a:r>
          </a:p>
          <a:p>
            <a:endParaRPr lang="en-US" dirty="0"/>
          </a:p>
          <a:p>
            <a:r>
              <a:rPr lang="en-US" dirty="0"/>
              <a:t>------------------------------------------------------------</a:t>
            </a:r>
          </a:p>
          <a:p>
            <a:endParaRPr lang="en-US" dirty="0"/>
          </a:p>
          <a:p>
            <a:r>
              <a:rPr lang="en-US" dirty="0"/>
              <a:t>THE OBSERVABILITY QUESTION</a:t>
            </a:r>
          </a:p>
          <a:p>
            <a:endParaRPr lang="en-US" dirty="0"/>
          </a:p>
          <a:p>
            <a:r>
              <a:rPr lang="en-US" dirty="0"/>
              <a:t>Point to the center statement:</a:t>
            </a:r>
          </a:p>
          <a:p>
            <a:endParaRPr lang="en-US" dirty="0"/>
          </a:p>
          <a:p>
            <a:r>
              <a:rPr lang="en-US" dirty="0"/>
              <a:t>"What is Atlas doing right now?"</a:t>
            </a:r>
          </a:p>
          <a:p>
            <a:endParaRPr lang="en-US" dirty="0"/>
          </a:p>
          <a:p>
            <a:r>
              <a:rPr lang="en-US" dirty="0"/>
              <a:t>Say:</a:t>
            </a:r>
          </a:p>
          <a:p>
            <a:endParaRPr lang="en-US" dirty="0"/>
          </a:p>
          <a:p>
            <a:r>
              <a:rPr lang="en-US" dirty="0"/>
              <a:t>"That's the question our telemetry should help answer."</a:t>
            </a:r>
          </a:p>
          <a:p>
            <a:endParaRPr lang="en-US" dirty="0"/>
          </a:p>
          <a:p>
            <a:r>
              <a:rPr lang="en-US" dirty="0"/>
              <a:t>------------------------------------------------------------</a:t>
            </a:r>
          </a:p>
          <a:p>
            <a:endParaRPr lang="en-US" dirty="0"/>
          </a:p>
          <a:p>
            <a:r>
              <a:rPr lang="en-US" dirty="0"/>
              <a:t>WHAT DOES OBSERVABILITY TELL US?</a:t>
            </a:r>
          </a:p>
          <a:p>
            <a:endParaRPr lang="en-US" dirty="0"/>
          </a:p>
          <a:p>
            <a:r>
              <a:rPr lang="en-US" dirty="0"/>
              <a:t>Walk across the top panel.</a:t>
            </a:r>
          </a:p>
          <a:p>
            <a:endParaRPr lang="en-US" dirty="0"/>
          </a:p>
          <a:p>
            <a:r>
              <a:rPr lang="en-US" dirty="0"/>
              <a:t>HEALTH</a:t>
            </a:r>
          </a:p>
          <a:p>
            <a:endParaRPr lang="en-US" dirty="0"/>
          </a:p>
          <a:p>
            <a:r>
              <a:rPr lang="en-US" dirty="0"/>
              <a:t>"Is Atlas up?"</a:t>
            </a:r>
          </a:p>
          <a:p>
            <a:endParaRPr lang="en-US" dirty="0"/>
          </a:p>
          <a:p>
            <a:r>
              <a:rPr lang="en-US" dirty="0"/>
              <a:t>"Are dependencies healthy?"</a:t>
            </a:r>
          </a:p>
          <a:p>
            <a:endParaRPr lang="en-US" dirty="0"/>
          </a:p>
          <a:p>
            <a:r>
              <a:rPr lang="en-US" dirty="0"/>
              <a:t>"Are there errors?"</a:t>
            </a:r>
          </a:p>
          <a:p>
            <a:endParaRPr lang="en-US" dirty="0"/>
          </a:p>
          <a:p>
            <a:r>
              <a:rPr lang="en-US" dirty="0"/>
              <a:t>------------------------------------------------------------</a:t>
            </a:r>
          </a:p>
          <a:p>
            <a:endParaRPr lang="en-US" dirty="0"/>
          </a:p>
          <a:p>
            <a:r>
              <a:rPr lang="en-US" dirty="0"/>
              <a:t>PERFORMANCE</a:t>
            </a:r>
          </a:p>
          <a:p>
            <a:endParaRPr lang="en-US" dirty="0"/>
          </a:p>
          <a:p>
            <a:r>
              <a:rPr lang="en-US" dirty="0"/>
              <a:t>"How fast is Atlas?"</a:t>
            </a:r>
          </a:p>
          <a:p>
            <a:endParaRPr lang="en-US" dirty="0"/>
          </a:p>
          <a:p>
            <a:r>
              <a:rPr lang="en-US" dirty="0"/>
              <a:t>"What are response times?"</a:t>
            </a:r>
          </a:p>
          <a:p>
            <a:endParaRPr lang="en-US" dirty="0"/>
          </a:p>
          <a:p>
            <a:r>
              <a:rPr lang="en-US" dirty="0"/>
              <a:t>"How much traffic are we handling?"</a:t>
            </a:r>
          </a:p>
          <a:p>
            <a:endParaRPr lang="en-US" dirty="0"/>
          </a:p>
          <a:p>
            <a:r>
              <a:rPr lang="en-US" dirty="0"/>
              <a:t>------------------------------------------------------------</a:t>
            </a:r>
          </a:p>
          <a:p>
            <a:endParaRPr lang="en-US" dirty="0"/>
          </a:p>
          <a:p>
            <a:r>
              <a:rPr lang="en-US" dirty="0"/>
              <a:t>BEHAVIOR</a:t>
            </a:r>
          </a:p>
          <a:p>
            <a:endParaRPr lang="en-US" dirty="0"/>
          </a:p>
          <a:p>
            <a:r>
              <a:rPr lang="en-US" dirty="0"/>
              <a:t>"What are users doing?"</a:t>
            </a:r>
          </a:p>
          <a:p>
            <a:endParaRPr lang="en-US" dirty="0"/>
          </a:p>
          <a:p>
            <a:r>
              <a:rPr lang="en-US" dirty="0"/>
              <a:t>"What features are being used?"</a:t>
            </a:r>
          </a:p>
          <a:p>
            <a:endParaRPr lang="en-US" dirty="0"/>
          </a:p>
          <a:p>
            <a:r>
              <a:rPr lang="en-US" dirty="0"/>
              <a:t>"What patterns are changing?"</a:t>
            </a:r>
          </a:p>
          <a:p>
            <a:endParaRPr lang="en-US" dirty="0"/>
          </a:p>
          <a:p>
            <a:r>
              <a:rPr lang="en-US" dirty="0"/>
              <a:t>------------------------------------------------------------</a:t>
            </a:r>
          </a:p>
          <a:p>
            <a:endParaRPr lang="en-US" dirty="0"/>
          </a:p>
          <a:p>
            <a:r>
              <a:rPr lang="en-US" dirty="0"/>
              <a:t>ERRORS</a:t>
            </a:r>
          </a:p>
          <a:p>
            <a:endParaRPr lang="en-US" dirty="0"/>
          </a:p>
          <a:p>
            <a:r>
              <a:rPr lang="en-US" dirty="0"/>
              <a:t>"What went wrong?"</a:t>
            </a:r>
          </a:p>
          <a:p>
            <a:endParaRPr lang="en-US" dirty="0"/>
          </a:p>
          <a:p>
            <a:r>
              <a:rPr lang="en-US" dirty="0"/>
              <a:t>"Where did it happen?"</a:t>
            </a:r>
          </a:p>
          <a:p>
            <a:endParaRPr lang="en-US" dirty="0"/>
          </a:p>
          <a:p>
            <a:r>
              <a:rPr lang="en-US" dirty="0"/>
              <a:t>"How often?"</a:t>
            </a:r>
          </a:p>
          <a:p>
            <a:endParaRPr lang="en-US" dirty="0"/>
          </a:p>
          <a:p>
            <a:r>
              <a:rPr lang="en-US" dirty="0"/>
              <a:t>------------------------------------------------------------</a:t>
            </a:r>
          </a:p>
          <a:p>
            <a:endParaRPr lang="en-US" dirty="0"/>
          </a:p>
          <a:p>
            <a:r>
              <a:rPr lang="en-US" dirty="0"/>
              <a:t>CAPACITY</a:t>
            </a:r>
          </a:p>
          <a:p>
            <a:endParaRPr lang="en-US" dirty="0"/>
          </a:p>
          <a:p>
            <a:r>
              <a:rPr lang="en-US" dirty="0"/>
              <a:t>"Are we approaching limits?"</a:t>
            </a:r>
          </a:p>
          <a:p>
            <a:endParaRPr lang="en-US" dirty="0"/>
          </a:p>
          <a:p>
            <a:r>
              <a:rPr lang="en-US" dirty="0"/>
              <a:t>CPU.</a:t>
            </a:r>
          </a:p>
          <a:p>
            <a:endParaRPr lang="en-US" dirty="0"/>
          </a:p>
          <a:p>
            <a:r>
              <a:rPr lang="en-US" dirty="0"/>
              <a:t>Memory.</a:t>
            </a:r>
          </a:p>
          <a:p>
            <a:endParaRPr lang="en-US" dirty="0"/>
          </a:p>
          <a:p>
            <a:r>
              <a:rPr lang="en-US" dirty="0"/>
              <a:t>Storage.</a:t>
            </a:r>
          </a:p>
          <a:p>
            <a:endParaRPr lang="en-US" dirty="0"/>
          </a:p>
          <a:p>
            <a:r>
              <a:rPr lang="en-US" dirty="0"/>
              <a:t>Connections.</a:t>
            </a:r>
          </a:p>
          <a:p>
            <a:endParaRPr lang="en-US" dirty="0"/>
          </a:p>
          <a:p>
            <a:r>
              <a:rPr lang="en-US" dirty="0"/>
              <a:t>Explain:</a:t>
            </a:r>
          </a:p>
          <a:p>
            <a:endParaRPr lang="en-US" dirty="0"/>
          </a:p>
          <a:p>
            <a:r>
              <a:rPr lang="en-US" dirty="0"/>
              <a:t>"Capacity helps us identify problems before resources are exhausted."</a:t>
            </a:r>
          </a:p>
          <a:p>
            <a:endParaRPr lang="en-US" dirty="0"/>
          </a:p>
          <a:p>
            <a:r>
              <a:rPr lang="en-US" dirty="0"/>
              <a:t>------------------------------------------------------------</a:t>
            </a:r>
          </a:p>
          <a:p>
            <a:endParaRPr lang="en-US" dirty="0"/>
          </a:p>
          <a:p>
            <a:r>
              <a:rPr lang="en-US" dirty="0"/>
              <a:t>DEPENDENCIES</a:t>
            </a:r>
          </a:p>
          <a:p>
            <a:endParaRPr lang="en-US" dirty="0"/>
          </a:p>
          <a:p>
            <a:r>
              <a:rPr lang="en-US" dirty="0"/>
              <a:t>Ask:</a:t>
            </a:r>
          </a:p>
          <a:p>
            <a:endParaRPr lang="en-US" dirty="0"/>
          </a:p>
          <a:p>
            <a:r>
              <a:rPr lang="en-US" dirty="0"/>
              <a:t>"What does Atlas depend on?"</a:t>
            </a:r>
          </a:p>
          <a:p>
            <a:endParaRPr lang="en-US" dirty="0"/>
          </a:p>
          <a:p>
            <a:r>
              <a:rPr lang="en-US" dirty="0"/>
              <a:t>Database.</a:t>
            </a:r>
          </a:p>
          <a:p>
            <a:endParaRPr lang="en-US" dirty="0"/>
          </a:p>
          <a:p>
            <a:r>
              <a:rPr lang="en-US" dirty="0"/>
              <a:t>Email.</a:t>
            </a:r>
          </a:p>
          <a:p>
            <a:endParaRPr lang="en-US" dirty="0"/>
          </a:p>
          <a:p>
            <a:r>
              <a:rPr lang="en-US" dirty="0"/>
              <a:t>Storage.</a:t>
            </a:r>
          </a:p>
          <a:p>
            <a:endParaRPr lang="en-US" dirty="0"/>
          </a:p>
          <a:p>
            <a:r>
              <a:rPr lang="en-US" dirty="0"/>
              <a:t>Authentication.</a:t>
            </a:r>
          </a:p>
          <a:p>
            <a:endParaRPr lang="en-US" dirty="0"/>
          </a:p>
          <a:p>
            <a:r>
              <a:rPr lang="en-US" dirty="0"/>
              <a:t>External APIs.</a:t>
            </a:r>
          </a:p>
          <a:p>
            <a:endParaRPr lang="en-US" dirty="0"/>
          </a:p>
          <a:p>
            <a:r>
              <a:rPr lang="en-US" dirty="0"/>
              <a:t>Explain:</a:t>
            </a:r>
          </a:p>
          <a:p>
            <a:endParaRPr lang="en-US" dirty="0"/>
          </a:p>
          <a:p>
            <a:r>
              <a:rPr lang="en-US" dirty="0"/>
              <a:t>"If something Atlas depends on fails..."</a:t>
            </a:r>
          </a:p>
          <a:p>
            <a:endParaRPr lang="en-US" dirty="0"/>
          </a:p>
          <a:p>
            <a:r>
              <a:rPr lang="en-US" dirty="0"/>
              <a:t>"Atlas may fail too."</a:t>
            </a:r>
          </a:p>
          <a:p>
            <a:endParaRPr lang="en-US" dirty="0"/>
          </a:p>
          <a:p>
            <a:r>
              <a:rPr lang="en-US" dirty="0"/>
              <a:t>We need visibility into those dependencies.</a:t>
            </a:r>
          </a:p>
          <a:p>
            <a:endParaRPr lang="en-US" dirty="0"/>
          </a:p>
          <a:p>
            <a:r>
              <a:rPr lang="en-US" dirty="0"/>
              <a:t>------------------------------------------------------------</a:t>
            </a:r>
          </a:p>
          <a:p>
            <a:endParaRPr lang="en-US" dirty="0"/>
          </a:p>
          <a:p>
            <a:r>
              <a:rPr lang="en-US" dirty="0"/>
              <a:t>THE OBSERVABILITY STACK</a:t>
            </a:r>
          </a:p>
          <a:p>
            <a:endParaRPr lang="en-US" dirty="0"/>
          </a:p>
          <a:p>
            <a:r>
              <a:rPr lang="en-US" dirty="0"/>
              <a:t>Move to the center flow.</a:t>
            </a:r>
          </a:p>
          <a:p>
            <a:endParaRPr lang="en-US" dirty="0"/>
          </a:p>
          <a:p>
            <a:r>
              <a:rPr lang="en-US" dirty="0"/>
              <a:t>COLLECT</a:t>
            </a:r>
          </a:p>
          <a:p>
            <a:endParaRPr lang="en-US" dirty="0"/>
          </a:p>
          <a:p>
            <a:r>
              <a:rPr lang="en-US" dirty="0"/>
              <a:t>↓</a:t>
            </a:r>
          </a:p>
          <a:p>
            <a:endParaRPr lang="en-US" dirty="0"/>
          </a:p>
          <a:p>
            <a:r>
              <a:rPr lang="en-US" dirty="0"/>
              <a:t>AGGREGATE</a:t>
            </a:r>
          </a:p>
          <a:p>
            <a:endParaRPr lang="en-US" dirty="0"/>
          </a:p>
          <a:p>
            <a:r>
              <a:rPr lang="en-US" dirty="0"/>
              <a:t>↓</a:t>
            </a:r>
          </a:p>
          <a:p>
            <a:endParaRPr lang="en-US" dirty="0"/>
          </a:p>
          <a:p>
            <a:r>
              <a:rPr lang="en-US" dirty="0"/>
              <a:t>VISUALIZE</a:t>
            </a:r>
          </a:p>
          <a:p>
            <a:endParaRPr lang="en-US" dirty="0"/>
          </a:p>
          <a:p>
            <a:r>
              <a:rPr lang="en-US" dirty="0"/>
              <a:t>↓</a:t>
            </a:r>
          </a:p>
          <a:p>
            <a:endParaRPr lang="en-US" dirty="0"/>
          </a:p>
          <a:p>
            <a:r>
              <a:rPr lang="en-US" dirty="0"/>
              <a:t>ACT</a:t>
            </a:r>
          </a:p>
          <a:p>
            <a:endParaRPr lang="en-US" dirty="0"/>
          </a:p>
          <a:p>
            <a:r>
              <a:rPr lang="en-US" dirty="0"/>
              <a:t>Explain:</a:t>
            </a:r>
          </a:p>
          <a:p>
            <a:endParaRPr lang="en-US" dirty="0"/>
          </a:p>
          <a:p>
            <a:r>
              <a:rPr lang="en-US" dirty="0"/>
              <a:t>"This is the basic observability cycle."</a:t>
            </a:r>
          </a:p>
          <a:p>
            <a:endParaRPr lang="en-US" dirty="0"/>
          </a:p>
          <a:p>
            <a:r>
              <a:rPr lang="en-US" dirty="0"/>
              <a:t>------------------------------------------------------------</a:t>
            </a:r>
          </a:p>
          <a:p>
            <a:endParaRPr lang="en-US" dirty="0"/>
          </a:p>
          <a:p>
            <a:r>
              <a:rPr lang="en-US" dirty="0"/>
              <a:t>1. COLLECT</a:t>
            </a:r>
          </a:p>
          <a:p>
            <a:endParaRPr lang="en-US" dirty="0"/>
          </a:p>
          <a:p>
            <a:r>
              <a:rPr lang="en-US" dirty="0"/>
              <a:t>Point to Collect.</a:t>
            </a:r>
          </a:p>
          <a:p>
            <a:endParaRPr lang="en-US" dirty="0"/>
          </a:p>
          <a:p>
            <a:r>
              <a:rPr lang="en-US" dirty="0"/>
              <a:t>"First, we collect signals."</a:t>
            </a:r>
          </a:p>
          <a:p>
            <a:endParaRPr lang="en-US" dirty="0"/>
          </a:p>
          <a:p>
            <a:r>
              <a:rPr lang="en-US" dirty="0"/>
              <a:t>Examples:</a:t>
            </a:r>
          </a:p>
          <a:p>
            <a:endParaRPr lang="en-US" dirty="0"/>
          </a:p>
          <a:p>
            <a:r>
              <a:rPr lang="en-US" dirty="0"/>
              <a:t>Logs.</a:t>
            </a:r>
          </a:p>
          <a:p>
            <a:endParaRPr lang="en-US" dirty="0"/>
          </a:p>
          <a:p>
            <a:r>
              <a:rPr lang="en-US" dirty="0"/>
              <a:t>Metrics.</a:t>
            </a:r>
          </a:p>
          <a:p>
            <a:endParaRPr lang="en-US" dirty="0"/>
          </a:p>
          <a:p>
            <a:r>
              <a:rPr lang="en-US" dirty="0"/>
              <a:t>Traces.</a:t>
            </a:r>
          </a:p>
          <a:p>
            <a:endParaRPr lang="en-US" dirty="0"/>
          </a:p>
          <a:p>
            <a:r>
              <a:rPr lang="en-US" dirty="0"/>
              <a:t>Events.</a:t>
            </a:r>
          </a:p>
          <a:p>
            <a:endParaRPr lang="en-US" dirty="0"/>
          </a:p>
          <a:p>
            <a:r>
              <a:rPr lang="en-US" dirty="0"/>
              <a:t>User analytics.</a:t>
            </a:r>
          </a:p>
          <a:p>
            <a:endParaRPr lang="en-US" dirty="0"/>
          </a:p>
          <a:p>
            <a:r>
              <a:rPr lang="en-US" dirty="0"/>
              <a:t>Explain:</a:t>
            </a:r>
          </a:p>
          <a:p>
            <a:endParaRPr lang="en-US" dirty="0"/>
          </a:p>
          <a:p>
            <a:r>
              <a:rPr lang="en-US" dirty="0"/>
              <a:t>"These are our raw signals."</a:t>
            </a:r>
          </a:p>
          <a:p>
            <a:endParaRPr lang="en-US" dirty="0"/>
          </a:p>
          <a:p>
            <a:r>
              <a:rPr lang="en-US" dirty="0"/>
              <a:t>------------------------------------------------------------</a:t>
            </a:r>
          </a:p>
          <a:p>
            <a:endParaRPr lang="en-US" dirty="0"/>
          </a:p>
          <a:p>
            <a:r>
              <a:rPr lang="en-US" dirty="0"/>
              <a:t>2. AGGREGATE</a:t>
            </a:r>
          </a:p>
          <a:p>
            <a:endParaRPr lang="en-US" dirty="0"/>
          </a:p>
          <a:p>
            <a:r>
              <a:rPr lang="en-US" dirty="0"/>
              <a:t>Point to Aggregate.</a:t>
            </a:r>
          </a:p>
          <a:p>
            <a:endParaRPr lang="en-US" dirty="0"/>
          </a:p>
          <a:p>
            <a:r>
              <a:rPr lang="en-US" dirty="0"/>
              <a:t>"Then we organize the information."</a:t>
            </a:r>
          </a:p>
          <a:p>
            <a:endParaRPr lang="en-US" dirty="0"/>
          </a:p>
          <a:p>
            <a:r>
              <a:rPr lang="en-US" dirty="0"/>
              <a:t>We may:</a:t>
            </a:r>
          </a:p>
          <a:p>
            <a:endParaRPr lang="en-US" dirty="0"/>
          </a:p>
          <a:p>
            <a:r>
              <a:rPr lang="en-US" dirty="0"/>
              <a:t>Centralize logs.</a:t>
            </a:r>
          </a:p>
          <a:p>
            <a:endParaRPr lang="en-US" dirty="0"/>
          </a:p>
          <a:p>
            <a:r>
              <a:rPr lang="en-US" dirty="0"/>
              <a:t>Store metrics.</a:t>
            </a:r>
          </a:p>
          <a:p>
            <a:endParaRPr lang="en-US" dirty="0"/>
          </a:p>
          <a:p>
            <a:r>
              <a:rPr lang="en-US" dirty="0"/>
              <a:t>Store traces.</a:t>
            </a:r>
          </a:p>
          <a:p>
            <a:endParaRPr lang="en-US" dirty="0"/>
          </a:p>
          <a:p>
            <a:r>
              <a:rPr lang="en-US" dirty="0"/>
              <a:t>Index events.</a:t>
            </a:r>
          </a:p>
          <a:p>
            <a:endParaRPr lang="en-US" dirty="0"/>
          </a:p>
          <a:p>
            <a:r>
              <a:rPr lang="en-US" dirty="0"/>
              <a:t>Explain:</a:t>
            </a:r>
          </a:p>
          <a:p>
            <a:endParaRPr lang="en-US" dirty="0"/>
          </a:p>
          <a:p>
            <a:r>
              <a:rPr lang="en-US" dirty="0"/>
              <a:t>"If the information is scattered everywhere..."</a:t>
            </a:r>
          </a:p>
          <a:p>
            <a:endParaRPr lang="en-US" dirty="0"/>
          </a:p>
          <a:p>
            <a:r>
              <a:rPr lang="en-US" dirty="0"/>
              <a:t>"It's difficult to understand."</a:t>
            </a:r>
          </a:p>
          <a:p>
            <a:endParaRPr lang="en-US" dirty="0"/>
          </a:p>
          <a:p>
            <a:r>
              <a:rPr lang="en-US" dirty="0"/>
              <a:t>------------------------------------------------------------</a:t>
            </a:r>
          </a:p>
          <a:p>
            <a:endParaRPr lang="en-US" dirty="0"/>
          </a:p>
          <a:p>
            <a:r>
              <a:rPr lang="en-US" dirty="0"/>
              <a:t>3. VISUALIZE</a:t>
            </a:r>
          </a:p>
          <a:p>
            <a:endParaRPr lang="en-US" dirty="0"/>
          </a:p>
          <a:p>
            <a:r>
              <a:rPr lang="en-US" dirty="0"/>
              <a:t>Point to Visualize.</a:t>
            </a:r>
          </a:p>
          <a:p>
            <a:endParaRPr lang="en-US" dirty="0"/>
          </a:p>
          <a:p>
            <a:r>
              <a:rPr lang="en-US" dirty="0"/>
              <a:t>"Now we turn the data into something humans can understand."</a:t>
            </a:r>
          </a:p>
          <a:p>
            <a:endParaRPr lang="en-US" dirty="0"/>
          </a:p>
          <a:p>
            <a:r>
              <a:rPr lang="en-US" dirty="0"/>
              <a:t>Examples:</a:t>
            </a:r>
          </a:p>
          <a:p>
            <a:endParaRPr lang="en-US" dirty="0"/>
          </a:p>
          <a:p>
            <a:r>
              <a:rPr lang="en-US" dirty="0"/>
              <a:t>Dashboards.</a:t>
            </a:r>
          </a:p>
          <a:p>
            <a:endParaRPr lang="en-US" dirty="0"/>
          </a:p>
          <a:p>
            <a:r>
              <a:rPr lang="en-US" dirty="0"/>
              <a:t>Graphs.</a:t>
            </a:r>
          </a:p>
          <a:p>
            <a:endParaRPr lang="en-US" dirty="0"/>
          </a:p>
          <a:p>
            <a:r>
              <a:rPr lang="en-US" dirty="0"/>
              <a:t>Reports.</a:t>
            </a:r>
          </a:p>
          <a:p>
            <a:endParaRPr lang="en-US" dirty="0"/>
          </a:p>
          <a:p>
            <a:r>
              <a:rPr lang="en-US" dirty="0"/>
              <a:t>Views.</a:t>
            </a:r>
          </a:p>
          <a:p>
            <a:endParaRPr lang="en-US" dirty="0"/>
          </a:p>
          <a:p>
            <a:r>
              <a:rPr lang="en-US" dirty="0"/>
              <a:t>Explain:</a:t>
            </a:r>
          </a:p>
          <a:p>
            <a:endParaRPr lang="en-US" dirty="0"/>
          </a:p>
          <a:p>
            <a:r>
              <a:rPr lang="en-US" dirty="0"/>
              <a:t>"A thousand log entries aren't useful if nobody can interpret them."</a:t>
            </a:r>
          </a:p>
          <a:p>
            <a:endParaRPr lang="en-US" dirty="0"/>
          </a:p>
          <a:p>
            <a:r>
              <a:rPr lang="en-US" dirty="0"/>
              <a:t>------------------------------------------------------------</a:t>
            </a:r>
          </a:p>
          <a:p>
            <a:endParaRPr lang="en-US" dirty="0"/>
          </a:p>
          <a:p>
            <a:r>
              <a:rPr lang="en-US" dirty="0"/>
              <a:t>4. ACT</a:t>
            </a:r>
          </a:p>
          <a:p>
            <a:endParaRPr lang="en-US" dirty="0"/>
          </a:p>
          <a:p>
            <a:r>
              <a:rPr lang="en-US" dirty="0"/>
              <a:t>Point to Act.</a:t>
            </a:r>
          </a:p>
          <a:p>
            <a:endParaRPr lang="en-US" dirty="0"/>
          </a:p>
          <a:p>
            <a:r>
              <a:rPr lang="en-US" dirty="0"/>
              <a:t>"Finally, we respond."</a:t>
            </a:r>
          </a:p>
          <a:p>
            <a:endParaRPr lang="en-US" dirty="0"/>
          </a:p>
          <a:p>
            <a:r>
              <a:rPr lang="en-US" dirty="0"/>
              <a:t>Examples:</a:t>
            </a:r>
          </a:p>
          <a:p>
            <a:endParaRPr lang="en-US" dirty="0"/>
          </a:p>
          <a:p>
            <a:r>
              <a:rPr lang="en-US" dirty="0"/>
              <a:t>Alerts.</a:t>
            </a:r>
          </a:p>
          <a:p>
            <a:endParaRPr lang="en-US" dirty="0"/>
          </a:p>
          <a:p>
            <a:r>
              <a:rPr lang="en-US" dirty="0"/>
              <a:t>Notifications.</a:t>
            </a:r>
          </a:p>
          <a:p>
            <a:endParaRPr lang="en-US" dirty="0"/>
          </a:p>
          <a:p>
            <a:r>
              <a:rPr lang="en-US" dirty="0"/>
              <a:t>Runbooks.</a:t>
            </a:r>
          </a:p>
          <a:p>
            <a:endParaRPr lang="en-US" dirty="0"/>
          </a:p>
          <a:p>
            <a:r>
              <a:rPr lang="en-US" dirty="0"/>
              <a:t>Automated actions.</a:t>
            </a:r>
          </a:p>
          <a:p>
            <a:endParaRPr lang="en-US" dirty="0"/>
          </a:p>
          <a:p>
            <a:r>
              <a:rPr lang="en-US" dirty="0"/>
              <a:t>Human response.</a:t>
            </a:r>
          </a:p>
          <a:p>
            <a:endParaRPr lang="en-US" dirty="0"/>
          </a:p>
          <a:p>
            <a:r>
              <a:rPr lang="en-US" dirty="0"/>
              <a:t>Say:</a:t>
            </a:r>
          </a:p>
          <a:p>
            <a:endParaRPr lang="en-US" dirty="0"/>
          </a:p>
          <a:p>
            <a:r>
              <a:rPr lang="en-US" dirty="0"/>
              <a:t>"Observability only becomes valuable when it leads to action."</a:t>
            </a:r>
          </a:p>
          <a:p>
            <a:endParaRPr lang="en-US" dirty="0"/>
          </a:p>
          <a:p>
            <a:r>
              <a:rPr lang="en-US" dirty="0"/>
              <a:t>------------------------------------------------------------</a:t>
            </a:r>
          </a:p>
          <a:p>
            <a:endParaRPr lang="en-US" dirty="0"/>
          </a:p>
          <a:p>
            <a:r>
              <a:rPr lang="en-US" dirty="0"/>
              <a:t>THE FOUR STEPS</a:t>
            </a:r>
          </a:p>
          <a:p>
            <a:endParaRPr lang="en-US" dirty="0"/>
          </a:p>
          <a:p>
            <a:r>
              <a:rPr lang="en-US" dirty="0"/>
              <a:t>Write on the board:</a:t>
            </a:r>
          </a:p>
          <a:p>
            <a:endParaRPr lang="en-US" dirty="0"/>
          </a:p>
          <a:p>
            <a:r>
              <a:rPr lang="en-US" dirty="0"/>
              <a:t>COLLECT</a:t>
            </a:r>
          </a:p>
          <a:p>
            <a:endParaRPr lang="en-US" dirty="0"/>
          </a:p>
          <a:p>
            <a:r>
              <a:rPr lang="en-US" dirty="0"/>
              <a:t>→</a:t>
            </a:r>
          </a:p>
          <a:p>
            <a:endParaRPr lang="en-US" dirty="0"/>
          </a:p>
          <a:p>
            <a:r>
              <a:rPr lang="en-US" dirty="0"/>
              <a:t>UNDERSTAND</a:t>
            </a:r>
          </a:p>
          <a:p>
            <a:endParaRPr lang="en-US" dirty="0"/>
          </a:p>
          <a:p>
            <a:r>
              <a:rPr lang="en-US" dirty="0"/>
              <a:t>→</a:t>
            </a:r>
          </a:p>
          <a:p>
            <a:endParaRPr lang="en-US" dirty="0"/>
          </a:p>
          <a:p>
            <a:r>
              <a:rPr lang="en-US" dirty="0"/>
              <a:t>DECIDE</a:t>
            </a:r>
          </a:p>
          <a:p>
            <a:endParaRPr lang="en-US" dirty="0"/>
          </a:p>
          <a:p>
            <a:r>
              <a:rPr lang="en-US" dirty="0"/>
              <a:t>→</a:t>
            </a:r>
          </a:p>
          <a:p>
            <a:endParaRPr lang="en-US" dirty="0"/>
          </a:p>
          <a:p>
            <a:r>
              <a:rPr lang="en-US" dirty="0"/>
              <a:t>ACT</a:t>
            </a:r>
          </a:p>
          <a:p>
            <a:endParaRPr lang="en-US" dirty="0"/>
          </a:p>
          <a:p>
            <a:r>
              <a:rPr lang="en-US" dirty="0"/>
              <a:t>Explain:</a:t>
            </a:r>
          </a:p>
          <a:p>
            <a:endParaRPr lang="en-US" dirty="0"/>
          </a:p>
          <a:p>
            <a:r>
              <a:rPr lang="en-US" dirty="0"/>
              <a:t>"Don't collect telemetry just to have a giant pile of data."</a:t>
            </a:r>
          </a:p>
          <a:p>
            <a:endParaRPr lang="en-US" dirty="0"/>
          </a:p>
          <a:p>
            <a:r>
              <a:rPr lang="en-US" dirty="0"/>
              <a:t>"The goal is better decisions."</a:t>
            </a:r>
          </a:p>
          <a:p>
            <a:endParaRPr lang="en-US" dirty="0"/>
          </a:p>
          <a:p>
            <a:r>
              <a:rPr lang="en-US" dirty="0"/>
              <a:t>------------------------------------------------------------</a:t>
            </a:r>
          </a:p>
          <a:p>
            <a:endParaRPr lang="en-US" dirty="0"/>
          </a:p>
          <a:p>
            <a:r>
              <a:rPr lang="en-US" dirty="0"/>
              <a:t>KEY TELEMETRY TYPES</a:t>
            </a:r>
          </a:p>
          <a:p>
            <a:endParaRPr lang="en-US" dirty="0"/>
          </a:p>
          <a:p>
            <a:r>
              <a:rPr lang="en-US" dirty="0"/>
              <a:t>Move to the right panel.</a:t>
            </a:r>
          </a:p>
          <a:p>
            <a:endParaRPr lang="en-US" dirty="0"/>
          </a:p>
          <a:p>
            <a:r>
              <a:rPr lang="en-US" dirty="0"/>
              <a:t>Introduce:</a:t>
            </a:r>
          </a:p>
          <a:p>
            <a:endParaRPr lang="en-US" dirty="0"/>
          </a:p>
          <a:p>
            <a:r>
              <a:rPr lang="en-US" dirty="0"/>
              <a:t>LOGS.</a:t>
            </a:r>
          </a:p>
          <a:p>
            <a:endParaRPr lang="en-US" dirty="0"/>
          </a:p>
          <a:p>
            <a:r>
              <a:rPr lang="en-US" dirty="0"/>
              <a:t>METRICS.</a:t>
            </a:r>
          </a:p>
          <a:p>
            <a:endParaRPr lang="en-US" dirty="0"/>
          </a:p>
          <a:p>
            <a:r>
              <a:rPr lang="en-US" dirty="0"/>
              <a:t>TRACES.</a:t>
            </a:r>
          </a:p>
          <a:p>
            <a:endParaRPr lang="en-US" dirty="0"/>
          </a:p>
          <a:p>
            <a:r>
              <a:rPr lang="en-US" dirty="0"/>
              <a:t>EVENTS.</a:t>
            </a:r>
          </a:p>
          <a:p>
            <a:endParaRPr lang="en-US" dirty="0"/>
          </a:p>
          <a:p>
            <a:r>
              <a:rPr lang="en-US" dirty="0"/>
              <a:t>USER ANALYTICS.</a:t>
            </a:r>
          </a:p>
          <a:p>
            <a:endParaRPr lang="en-US" dirty="0"/>
          </a:p>
          <a:p>
            <a:r>
              <a:rPr lang="en-US" dirty="0"/>
              <a:t>------------------------------------------------------------</a:t>
            </a:r>
          </a:p>
          <a:p>
            <a:endParaRPr lang="en-US" dirty="0"/>
          </a:p>
          <a:p>
            <a:r>
              <a:rPr lang="en-US" dirty="0"/>
              <a:t>LOGS</a:t>
            </a:r>
          </a:p>
          <a:p>
            <a:endParaRPr lang="en-US" dirty="0"/>
          </a:p>
          <a:p>
            <a:r>
              <a:rPr lang="en-US" dirty="0"/>
              <a:t>Point to Logs.</a:t>
            </a:r>
          </a:p>
          <a:p>
            <a:endParaRPr lang="en-US" dirty="0"/>
          </a:p>
          <a:p>
            <a:r>
              <a:rPr lang="en-US" dirty="0"/>
              <a:t>Explain:</a:t>
            </a:r>
          </a:p>
          <a:p>
            <a:endParaRPr lang="en-US" dirty="0"/>
          </a:p>
          <a:p>
            <a:r>
              <a:rPr lang="en-US" dirty="0"/>
              <a:t>"Logs tell us what happened."</a:t>
            </a:r>
          </a:p>
          <a:p>
            <a:endParaRPr lang="en-US" dirty="0"/>
          </a:p>
          <a:p>
            <a:r>
              <a:rPr lang="en-US" dirty="0"/>
              <a:t>Examples:</a:t>
            </a:r>
          </a:p>
          <a:p>
            <a:endParaRPr lang="en-US" dirty="0"/>
          </a:p>
          <a:p>
            <a:r>
              <a:rPr lang="en-US" dirty="0"/>
              <a:t>Application started.</a:t>
            </a:r>
          </a:p>
          <a:p>
            <a:endParaRPr lang="en-US" dirty="0"/>
          </a:p>
          <a:p>
            <a:r>
              <a:rPr lang="en-US" dirty="0"/>
              <a:t>User logged in.</a:t>
            </a:r>
          </a:p>
          <a:p>
            <a:endParaRPr lang="en-US" dirty="0"/>
          </a:p>
          <a:p>
            <a:r>
              <a:rPr lang="en-US" dirty="0"/>
              <a:t>Task created.</a:t>
            </a:r>
          </a:p>
          <a:p>
            <a:endParaRPr lang="en-US" dirty="0"/>
          </a:p>
          <a:p>
            <a:r>
              <a:rPr lang="en-US" dirty="0"/>
              <a:t>Database error.</a:t>
            </a:r>
          </a:p>
          <a:p>
            <a:endParaRPr lang="en-US" dirty="0"/>
          </a:p>
          <a:p>
            <a:r>
              <a:rPr lang="en-US" dirty="0"/>
              <a:t>API failure.</a:t>
            </a:r>
          </a:p>
          <a:p>
            <a:endParaRPr lang="en-US" dirty="0"/>
          </a:p>
          <a:p>
            <a:r>
              <a:rPr lang="en-US" dirty="0"/>
              <a:t>Exception.</a:t>
            </a:r>
          </a:p>
          <a:p>
            <a:endParaRPr lang="en-US" dirty="0"/>
          </a:p>
          <a:p>
            <a:r>
              <a:rPr lang="en-US" dirty="0"/>
              <a:t>Important state change.</a:t>
            </a:r>
          </a:p>
          <a:p>
            <a:endParaRPr lang="en-US" dirty="0"/>
          </a:p>
          <a:p>
            <a:r>
              <a:rPr lang="en-US" dirty="0"/>
              <a:t>Say:</a:t>
            </a:r>
          </a:p>
          <a:p>
            <a:endParaRPr lang="en-US" dirty="0"/>
          </a:p>
          <a:p>
            <a:r>
              <a:rPr lang="en-US" dirty="0"/>
              <a:t>"Logs provide a narrative."</a:t>
            </a:r>
          </a:p>
          <a:p>
            <a:endParaRPr lang="en-US" dirty="0"/>
          </a:p>
          <a:p>
            <a:r>
              <a:rPr lang="en-US" dirty="0"/>
              <a:t>------------------------------------------------------------</a:t>
            </a:r>
          </a:p>
          <a:p>
            <a:endParaRPr lang="en-US" dirty="0"/>
          </a:p>
          <a:p>
            <a:r>
              <a:rPr lang="en-US" dirty="0"/>
              <a:t>GOOD LOGGING</a:t>
            </a:r>
          </a:p>
          <a:p>
            <a:endParaRPr lang="en-US" dirty="0"/>
          </a:p>
          <a:p>
            <a:r>
              <a:rPr lang="en-US" dirty="0"/>
              <a:t>Ask:</a:t>
            </a:r>
          </a:p>
          <a:p>
            <a:endParaRPr lang="en-US" dirty="0"/>
          </a:p>
          <a:p>
            <a:r>
              <a:rPr lang="en-US" dirty="0"/>
              <a:t>"What makes a log useful?"</a:t>
            </a:r>
          </a:p>
          <a:p>
            <a:endParaRPr lang="en-US" dirty="0"/>
          </a:p>
          <a:p>
            <a:r>
              <a:rPr lang="en-US" dirty="0"/>
              <a:t>Context.</a:t>
            </a:r>
          </a:p>
          <a:p>
            <a:endParaRPr lang="en-US" dirty="0"/>
          </a:p>
          <a:p>
            <a:r>
              <a:rPr lang="en-US" dirty="0"/>
              <a:t>Timestamp.</a:t>
            </a:r>
          </a:p>
          <a:p>
            <a:endParaRPr lang="en-US" dirty="0"/>
          </a:p>
          <a:p>
            <a:r>
              <a:rPr lang="en-US" dirty="0"/>
              <a:t>Event.</a:t>
            </a:r>
          </a:p>
          <a:p>
            <a:endParaRPr lang="en-US" dirty="0"/>
          </a:p>
          <a:p>
            <a:r>
              <a:rPr lang="en-US" dirty="0"/>
              <a:t>Severity.</a:t>
            </a:r>
          </a:p>
          <a:p>
            <a:endParaRPr lang="en-US" dirty="0"/>
          </a:p>
          <a:p>
            <a:r>
              <a:rPr lang="en-US" dirty="0"/>
              <a:t>Relevant identifier.</a:t>
            </a:r>
          </a:p>
          <a:p>
            <a:endParaRPr lang="en-US" dirty="0"/>
          </a:p>
          <a:p>
            <a:r>
              <a:rPr lang="en-US" dirty="0"/>
              <a:t>Explain:</a:t>
            </a:r>
          </a:p>
          <a:p>
            <a:endParaRPr lang="en-US" dirty="0"/>
          </a:p>
          <a:p>
            <a:r>
              <a:rPr lang="en-US" dirty="0"/>
              <a:t>A useful log helps answer:</a:t>
            </a:r>
          </a:p>
          <a:p>
            <a:endParaRPr lang="en-US" dirty="0"/>
          </a:p>
          <a:p>
            <a:r>
              <a:rPr lang="en-US" dirty="0"/>
              <a:t>What happened?</a:t>
            </a:r>
          </a:p>
          <a:p>
            <a:endParaRPr lang="en-US" dirty="0"/>
          </a:p>
          <a:p>
            <a:r>
              <a:rPr lang="en-US" dirty="0"/>
              <a:t>When?</a:t>
            </a:r>
          </a:p>
          <a:p>
            <a:endParaRPr lang="en-US" dirty="0"/>
          </a:p>
          <a:p>
            <a:r>
              <a:rPr lang="en-US" dirty="0"/>
              <a:t>Where?</a:t>
            </a:r>
          </a:p>
          <a:p>
            <a:endParaRPr lang="en-US" dirty="0"/>
          </a:p>
          <a:p>
            <a:r>
              <a:rPr lang="en-US" dirty="0"/>
              <a:t>Why?</a:t>
            </a:r>
          </a:p>
          <a:p>
            <a:endParaRPr lang="en-US" dirty="0"/>
          </a:p>
          <a:p>
            <a:r>
              <a:rPr lang="en-US" dirty="0"/>
              <a:t>------------------------------------------------------------</a:t>
            </a:r>
          </a:p>
          <a:p>
            <a:endParaRPr lang="en-US" dirty="0"/>
          </a:p>
          <a:p>
            <a:r>
              <a:rPr lang="en-US" dirty="0"/>
              <a:t>BAD LOGGING</a:t>
            </a:r>
          </a:p>
          <a:p>
            <a:endParaRPr lang="en-US" dirty="0"/>
          </a:p>
          <a:p>
            <a:r>
              <a:rPr lang="en-US" dirty="0"/>
              <a:t>Examples:</a:t>
            </a:r>
          </a:p>
          <a:p>
            <a:endParaRPr lang="en-US" dirty="0"/>
          </a:p>
          <a:p>
            <a:r>
              <a:rPr lang="en-US" dirty="0"/>
              <a:t>"Error."</a:t>
            </a:r>
          </a:p>
          <a:p>
            <a:endParaRPr lang="en-US" dirty="0"/>
          </a:p>
          <a:p>
            <a:r>
              <a:rPr lang="en-US" dirty="0"/>
              <a:t>"Something broke."</a:t>
            </a:r>
          </a:p>
          <a:p>
            <a:endParaRPr lang="en-US" dirty="0"/>
          </a:p>
          <a:p>
            <a:r>
              <a:rPr lang="en-US" dirty="0"/>
              <a:t>"Failed."</a:t>
            </a:r>
          </a:p>
          <a:p>
            <a:endParaRPr lang="en-US" dirty="0"/>
          </a:p>
          <a:p>
            <a:r>
              <a:rPr lang="en-US" dirty="0"/>
              <a:t>Ask:</a:t>
            </a:r>
          </a:p>
          <a:p>
            <a:endParaRPr lang="en-US" dirty="0"/>
          </a:p>
          <a:p>
            <a:r>
              <a:rPr lang="en-US" dirty="0"/>
              <a:t>"Are those useful?"</a:t>
            </a:r>
          </a:p>
          <a:p>
            <a:endParaRPr lang="en-US" dirty="0"/>
          </a:p>
          <a:p>
            <a:r>
              <a:rPr lang="en-US" dirty="0"/>
              <a:t>Not very.</a:t>
            </a:r>
          </a:p>
          <a:p>
            <a:endParaRPr lang="en-US" dirty="0"/>
          </a:p>
          <a:p>
            <a:r>
              <a:rPr lang="en-US" dirty="0"/>
              <a:t>Explain:</a:t>
            </a:r>
          </a:p>
          <a:p>
            <a:endParaRPr lang="en-US" dirty="0"/>
          </a:p>
          <a:p>
            <a:r>
              <a:rPr lang="en-US" dirty="0"/>
              <a:t>"We need enough context to investigate."</a:t>
            </a:r>
          </a:p>
          <a:p>
            <a:endParaRPr lang="en-US" dirty="0"/>
          </a:p>
          <a:p>
            <a:r>
              <a:rPr lang="en-US" dirty="0"/>
              <a:t>------------------------------------------------------------</a:t>
            </a:r>
          </a:p>
          <a:p>
            <a:endParaRPr lang="en-US" dirty="0"/>
          </a:p>
          <a:p>
            <a:r>
              <a:rPr lang="en-US" dirty="0"/>
              <a:t>SECURITY REMINDER</a:t>
            </a:r>
          </a:p>
          <a:p>
            <a:endParaRPr lang="en-US" dirty="0"/>
          </a:p>
          <a:p>
            <a:r>
              <a:rPr lang="en-US" dirty="0"/>
              <a:t>Say:</a:t>
            </a:r>
          </a:p>
          <a:p>
            <a:endParaRPr lang="en-US" dirty="0"/>
          </a:p>
          <a:p>
            <a:r>
              <a:rPr lang="en-US" dirty="0"/>
              <a:t>"Remember Sprint 6."</a:t>
            </a:r>
          </a:p>
          <a:p>
            <a:endParaRPr lang="en-US" dirty="0"/>
          </a:p>
          <a:p>
            <a:r>
              <a:rPr lang="en-US" dirty="0"/>
              <a:t>"Logs can contain sensitive information."</a:t>
            </a:r>
          </a:p>
          <a:p>
            <a:endParaRPr lang="en-US" dirty="0"/>
          </a:p>
          <a:p>
            <a:r>
              <a:rPr lang="en-US" dirty="0"/>
              <a:t>Don't log:</a:t>
            </a:r>
          </a:p>
          <a:p>
            <a:endParaRPr lang="en-US" dirty="0"/>
          </a:p>
          <a:p>
            <a:r>
              <a:rPr lang="en-US" dirty="0"/>
              <a:t>Passwords.</a:t>
            </a:r>
          </a:p>
          <a:p>
            <a:endParaRPr lang="en-US" dirty="0"/>
          </a:p>
          <a:p>
            <a:r>
              <a:rPr lang="en-US" dirty="0"/>
              <a:t>Tokens.</a:t>
            </a:r>
          </a:p>
          <a:p>
            <a:endParaRPr lang="en-US" dirty="0"/>
          </a:p>
          <a:p>
            <a:r>
              <a:rPr lang="en-US" dirty="0"/>
              <a:t>Secrets.</a:t>
            </a:r>
          </a:p>
          <a:p>
            <a:endParaRPr lang="en-US" dirty="0"/>
          </a:p>
          <a:p>
            <a:r>
              <a:rPr lang="en-US" dirty="0"/>
              <a:t>Sensitive data unnecessarily.</a:t>
            </a:r>
          </a:p>
          <a:p>
            <a:endParaRPr lang="en-US" dirty="0"/>
          </a:p>
          <a:p>
            <a:r>
              <a:rPr lang="en-US" dirty="0"/>
              <a:t>Explain:</a:t>
            </a:r>
          </a:p>
          <a:p>
            <a:endParaRPr lang="en-US" dirty="0"/>
          </a:p>
          <a:p>
            <a:r>
              <a:rPr lang="en-US" dirty="0"/>
              <a:t>"Observability must not become a data leak."</a:t>
            </a:r>
          </a:p>
          <a:p>
            <a:endParaRPr lang="en-US" dirty="0"/>
          </a:p>
          <a:p>
            <a:r>
              <a:rPr lang="en-US" dirty="0"/>
              <a:t>------------------------------------------------------------</a:t>
            </a:r>
          </a:p>
          <a:p>
            <a:endParaRPr lang="en-US" dirty="0"/>
          </a:p>
          <a:p>
            <a:r>
              <a:rPr lang="en-US" dirty="0"/>
              <a:t>METRICS</a:t>
            </a:r>
          </a:p>
          <a:p>
            <a:endParaRPr lang="en-US" dirty="0"/>
          </a:p>
          <a:p>
            <a:r>
              <a:rPr lang="en-US" dirty="0"/>
              <a:t>Point to Metrics.</a:t>
            </a:r>
          </a:p>
          <a:p>
            <a:endParaRPr lang="en-US" dirty="0"/>
          </a:p>
          <a:p>
            <a:r>
              <a:rPr lang="en-US" dirty="0"/>
              <a:t>Explain:</a:t>
            </a:r>
          </a:p>
          <a:p>
            <a:endParaRPr lang="en-US" dirty="0"/>
          </a:p>
          <a:p>
            <a:r>
              <a:rPr lang="en-US" dirty="0"/>
              <a:t>"Metrics are numbers measured over time."</a:t>
            </a:r>
          </a:p>
          <a:p>
            <a:endParaRPr lang="en-US" dirty="0"/>
          </a:p>
          <a:p>
            <a:r>
              <a:rPr lang="en-US" dirty="0"/>
              <a:t>Examples:</a:t>
            </a:r>
          </a:p>
          <a:p>
            <a:endParaRPr lang="en-US" dirty="0"/>
          </a:p>
          <a:p>
            <a:r>
              <a:rPr lang="en-US" dirty="0"/>
              <a:t>Response time.</a:t>
            </a:r>
          </a:p>
          <a:p>
            <a:endParaRPr lang="en-US" dirty="0"/>
          </a:p>
          <a:p>
            <a:r>
              <a:rPr lang="en-US" dirty="0"/>
              <a:t>Requests per second.</a:t>
            </a:r>
          </a:p>
          <a:p>
            <a:endParaRPr lang="en-US" dirty="0"/>
          </a:p>
          <a:p>
            <a:r>
              <a:rPr lang="en-US" dirty="0"/>
              <a:t>CPU.</a:t>
            </a:r>
          </a:p>
          <a:p>
            <a:endParaRPr lang="en-US" dirty="0"/>
          </a:p>
          <a:p>
            <a:r>
              <a:rPr lang="en-US" dirty="0"/>
              <a:t>Memory.</a:t>
            </a:r>
          </a:p>
          <a:p>
            <a:endParaRPr lang="en-US" dirty="0"/>
          </a:p>
          <a:p>
            <a:r>
              <a:rPr lang="en-US" dirty="0"/>
              <a:t>Error rate.</a:t>
            </a:r>
          </a:p>
          <a:p>
            <a:endParaRPr lang="en-US" dirty="0"/>
          </a:p>
          <a:p>
            <a:r>
              <a:rPr lang="en-US" dirty="0"/>
              <a:t>Active users.</a:t>
            </a:r>
          </a:p>
          <a:p>
            <a:endParaRPr lang="en-US" dirty="0"/>
          </a:p>
          <a:p>
            <a:r>
              <a:rPr lang="en-US" dirty="0"/>
              <a:t>Database connections.</a:t>
            </a:r>
          </a:p>
          <a:p>
            <a:endParaRPr lang="en-US" dirty="0"/>
          </a:p>
          <a:p>
            <a:r>
              <a:rPr lang="en-US" dirty="0"/>
              <a:t>Ask:</a:t>
            </a:r>
          </a:p>
          <a:p>
            <a:endParaRPr lang="en-US" dirty="0"/>
          </a:p>
          <a:p>
            <a:r>
              <a:rPr lang="en-US" dirty="0"/>
              <a:t>"Why are numbers useful?"</a:t>
            </a:r>
          </a:p>
          <a:p>
            <a:endParaRPr lang="en-US" dirty="0"/>
          </a:p>
          <a:p>
            <a:r>
              <a:rPr lang="en-US" dirty="0"/>
              <a:t>Because they reveal trends.</a:t>
            </a:r>
          </a:p>
          <a:p>
            <a:endParaRPr lang="en-US" dirty="0"/>
          </a:p>
          <a:p>
            <a:r>
              <a:rPr lang="en-US" dirty="0"/>
              <a:t>------------------------------------------------------------</a:t>
            </a:r>
          </a:p>
          <a:p>
            <a:endParaRPr lang="en-US" dirty="0"/>
          </a:p>
          <a:p>
            <a:r>
              <a:rPr lang="en-US" dirty="0"/>
              <a:t>METRIC EXAMPLE</a:t>
            </a:r>
          </a:p>
          <a:p>
            <a:endParaRPr lang="en-US" dirty="0"/>
          </a:p>
          <a:p>
            <a:r>
              <a:rPr lang="en-US" dirty="0"/>
              <a:t>Imagine:</a:t>
            </a:r>
          </a:p>
          <a:p>
            <a:endParaRPr lang="en-US" dirty="0"/>
          </a:p>
          <a:p>
            <a:r>
              <a:rPr lang="en-US" dirty="0"/>
              <a:t>Average response time:</a:t>
            </a:r>
          </a:p>
          <a:p>
            <a:endParaRPr lang="en-US" dirty="0"/>
          </a:p>
          <a:p>
            <a:r>
              <a:rPr lang="en-US" dirty="0"/>
              <a:t>Monday:</a:t>
            </a:r>
          </a:p>
          <a:p>
            <a:endParaRPr lang="en-US" dirty="0"/>
          </a:p>
          <a:p>
            <a:r>
              <a:rPr lang="en-US" dirty="0"/>
              <a:t>200 </a:t>
            </a:r>
            <a:r>
              <a:rPr lang="en-US" dirty="0" err="1"/>
              <a:t>ms.</a:t>
            </a:r>
            <a:endParaRPr lang="en-US" dirty="0"/>
          </a:p>
          <a:p>
            <a:endParaRPr lang="en-US" dirty="0"/>
          </a:p>
          <a:p>
            <a:r>
              <a:rPr lang="en-US" dirty="0"/>
              <a:t>Tuesday:</a:t>
            </a:r>
          </a:p>
          <a:p>
            <a:endParaRPr lang="en-US" dirty="0"/>
          </a:p>
          <a:p>
            <a:r>
              <a:rPr lang="en-US" dirty="0"/>
              <a:t>210 </a:t>
            </a:r>
            <a:r>
              <a:rPr lang="en-US" dirty="0" err="1"/>
              <a:t>ms.</a:t>
            </a:r>
            <a:endParaRPr lang="en-US" dirty="0"/>
          </a:p>
          <a:p>
            <a:endParaRPr lang="en-US" dirty="0"/>
          </a:p>
          <a:p>
            <a:r>
              <a:rPr lang="en-US" dirty="0"/>
              <a:t>Wednesday:</a:t>
            </a:r>
          </a:p>
          <a:p>
            <a:endParaRPr lang="en-US" dirty="0"/>
          </a:p>
          <a:p>
            <a:r>
              <a:rPr lang="en-US" dirty="0"/>
              <a:t>450 </a:t>
            </a:r>
            <a:r>
              <a:rPr lang="en-US" dirty="0" err="1"/>
              <a:t>ms.</a:t>
            </a:r>
            <a:endParaRPr lang="en-US" dirty="0"/>
          </a:p>
          <a:p>
            <a:endParaRPr lang="en-US" dirty="0"/>
          </a:p>
          <a:p>
            <a:r>
              <a:rPr lang="en-US" dirty="0"/>
              <a:t>Thursday:</a:t>
            </a:r>
          </a:p>
          <a:p>
            <a:endParaRPr lang="en-US" dirty="0"/>
          </a:p>
          <a:p>
            <a:r>
              <a:rPr lang="en-US" dirty="0"/>
              <a:t>900 </a:t>
            </a:r>
            <a:r>
              <a:rPr lang="en-US" dirty="0" err="1"/>
              <a:t>ms.</a:t>
            </a:r>
            <a:endParaRPr lang="en-US" dirty="0"/>
          </a:p>
          <a:p>
            <a:endParaRPr lang="en-US" dirty="0"/>
          </a:p>
          <a:p>
            <a:r>
              <a:rPr lang="en-US" dirty="0"/>
              <a:t>Ask:</a:t>
            </a:r>
          </a:p>
          <a:p>
            <a:endParaRPr lang="en-US" dirty="0"/>
          </a:p>
          <a:p>
            <a:r>
              <a:rPr lang="en-US" dirty="0"/>
              <a:t>"What might we investigate?"</a:t>
            </a:r>
          </a:p>
          <a:p>
            <a:endParaRPr lang="en-US" dirty="0"/>
          </a:p>
          <a:p>
            <a:r>
              <a:rPr lang="en-US" dirty="0"/>
              <a:t>Exactly.</a:t>
            </a:r>
          </a:p>
          <a:p>
            <a:endParaRPr lang="en-US" dirty="0"/>
          </a:p>
          <a:p>
            <a:r>
              <a:rPr lang="en-US" dirty="0"/>
              <a:t>"Something changed."</a:t>
            </a:r>
          </a:p>
          <a:p>
            <a:endParaRPr lang="en-US" dirty="0"/>
          </a:p>
          <a:p>
            <a:r>
              <a:rPr lang="en-US" dirty="0"/>
              <a:t>Metrics help us see that trend.</a:t>
            </a:r>
          </a:p>
          <a:p>
            <a:endParaRPr lang="en-US" dirty="0"/>
          </a:p>
          <a:p>
            <a:r>
              <a:rPr lang="en-US" dirty="0"/>
              <a:t>------------------------------------------------------------</a:t>
            </a:r>
          </a:p>
          <a:p>
            <a:endParaRPr lang="en-US" dirty="0"/>
          </a:p>
          <a:p>
            <a:r>
              <a:rPr lang="en-US" dirty="0"/>
              <a:t>TRACES</a:t>
            </a:r>
          </a:p>
          <a:p>
            <a:endParaRPr lang="en-US" dirty="0"/>
          </a:p>
          <a:p>
            <a:r>
              <a:rPr lang="en-US" dirty="0"/>
              <a:t>Point to Traces.</a:t>
            </a:r>
          </a:p>
          <a:p>
            <a:endParaRPr lang="en-US" dirty="0"/>
          </a:p>
          <a:p>
            <a:r>
              <a:rPr lang="en-US" dirty="0"/>
              <a:t>Explain:</a:t>
            </a:r>
          </a:p>
          <a:p>
            <a:endParaRPr lang="en-US" dirty="0"/>
          </a:p>
          <a:p>
            <a:r>
              <a:rPr lang="en-US" dirty="0"/>
              <a:t>"A trace follows a request through the system."</a:t>
            </a:r>
          </a:p>
          <a:p>
            <a:endParaRPr lang="en-US" dirty="0"/>
          </a:p>
          <a:p>
            <a:r>
              <a:rPr lang="en-US" dirty="0"/>
              <a:t>For example:</a:t>
            </a:r>
          </a:p>
          <a:p>
            <a:endParaRPr lang="en-US" dirty="0"/>
          </a:p>
          <a:p>
            <a:r>
              <a:rPr lang="en-US" dirty="0"/>
              <a:t>Browser.</a:t>
            </a:r>
          </a:p>
          <a:p>
            <a:endParaRPr lang="en-US" dirty="0"/>
          </a:p>
          <a:p>
            <a:r>
              <a:rPr lang="en-US" dirty="0"/>
              <a:t>↓</a:t>
            </a:r>
          </a:p>
          <a:p>
            <a:endParaRPr lang="en-US" dirty="0"/>
          </a:p>
          <a:p>
            <a:r>
              <a:rPr lang="en-US" dirty="0"/>
              <a:t>Atlas.</a:t>
            </a:r>
          </a:p>
          <a:p>
            <a:endParaRPr lang="en-US" dirty="0"/>
          </a:p>
          <a:p>
            <a:r>
              <a:rPr lang="en-US" dirty="0"/>
              <a:t>↓</a:t>
            </a:r>
          </a:p>
          <a:p>
            <a:endParaRPr lang="en-US" dirty="0"/>
          </a:p>
          <a:p>
            <a:r>
              <a:rPr lang="en-US" dirty="0"/>
              <a:t>Controller.</a:t>
            </a:r>
          </a:p>
          <a:p>
            <a:endParaRPr lang="en-US" dirty="0"/>
          </a:p>
          <a:p>
            <a:r>
              <a:rPr lang="en-US" dirty="0"/>
              <a:t>↓</a:t>
            </a:r>
          </a:p>
          <a:p>
            <a:endParaRPr lang="en-US" dirty="0"/>
          </a:p>
          <a:p>
            <a:r>
              <a:rPr lang="en-US" dirty="0"/>
              <a:t>Database.</a:t>
            </a:r>
          </a:p>
          <a:p>
            <a:endParaRPr lang="en-US" dirty="0"/>
          </a:p>
          <a:p>
            <a:r>
              <a:rPr lang="en-US" dirty="0"/>
              <a:t>↓</a:t>
            </a:r>
          </a:p>
          <a:p>
            <a:endParaRPr lang="en-US" dirty="0"/>
          </a:p>
          <a:p>
            <a:r>
              <a:rPr lang="en-US" dirty="0"/>
              <a:t>External API.</a:t>
            </a:r>
          </a:p>
          <a:p>
            <a:endParaRPr lang="en-US" dirty="0"/>
          </a:p>
          <a:p>
            <a:r>
              <a:rPr lang="en-US" dirty="0"/>
              <a:t>↓</a:t>
            </a:r>
          </a:p>
          <a:p>
            <a:endParaRPr lang="en-US" dirty="0"/>
          </a:p>
          <a:p>
            <a:r>
              <a:rPr lang="en-US" dirty="0"/>
              <a:t>Response.</a:t>
            </a:r>
          </a:p>
          <a:p>
            <a:endParaRPr lang="en-US" dirty="0"/>
          </a:p>
          <a:p>
            <a:r>
              <a:rPr lang="en-US" dirty="0"/>
              <a:t>Explain:</a:t>
            </a:r>
          </a:p>
          <a:p>
            <a:endParaRPr lang="en-US" dirty="0"/>
          </a:p>
          <a:p>
            <a:r>
              <a:rPr lang="en-US" dirty="0"/>
              <a:t>"Tracing helps us find where time or failures occur."</a:t>
            </a:r>
          </a:p>
          <a:p>
            <a:endParaRPr lang="en-US" dirty="0"/>
          </a:p>
          <a:p>
            <a:r>
              <a:rPr lang="en-US" dirty="0"/>
              <a:t>Keep this conceptual.</a:t>
            </a:r>
          </a:p>
          <a:p>
            <a:endParaRPr lang="en-US" dirty="0"/>
          </a:p>
          <a:p>
            <a:r>
              <a:rPr lang="en-US" dirty="0"/>
              <a:t>Students do not need to build distributed tracing infrastructure.</a:t>
            </a:r>
          </a:p>
          <a:p>
            <a:endParaRPr lang="en-US" dirty="0"/>
          </a:p>
          <a:p>
            <a:r>
              <a:rPr lang="en-US" dirty="0"/>
              <a:t>------------------------------------------------------------</a:t>
            </a:r>
          </a:p>
          <a:p>
            <a:endParaRPr lang="en-US" dirty="0"/>
          </a:p>
          <a:p>
            <a:r>
              <a:rPr lang="en-US" dirty="0"/>
              <a:t>EVENTS</a:t>
            </a:r>
          </a:p>
          <a:p>
            <a:endParaRPr lang="en-US" dirty="0"/>
          </a:p>
          <a:p>
            <a:r>
              <a:rPr lang="en-US" dirty="0"/>
              <a:t>Point to Events.</a:t>
            </a:r>
          </a:p>
          <a:p>
            <a:endParaRPr lang="en-US" dirty="0"/>
          </a:p>
          <a:p>
            <a:r>
              <a:rPr lang="en-US" dirty="0"/>
              <a:t>Explain:</a:t>
            </a:r>
          </a:p>
          <a:p>
            <a:endParaRPr lang="en-US" dirty="0"/>
          </a:p>
          <a:p>
            <a:r>
              <a:rPr lang="en-US" dirty="0"/>
              <a:t>"Events represent important occurrences."</a:t>
            </a:r>
          </a:p>
          <a:p>
            <a:endParaRPr lang="en-US" dirty="0"/>
          </a:p>
          <a:p>
            <a:r>
              <a:rPr lang="en-US" dirty="0"/>
              <a:t>Examples:</a:t>
            </a:r>
          </a:p>
          <a:p>
            <a:endParaRPr lang="en-US" dirty="0"/>
          </a:p>
          <a:p>
            <a:r>
              <a:rPr lang="en-US" dirty="0"/>
              <a:t>User created.</a:t>
            </a:r>
          </a:p>
          <a:p>
            <a:endParaRPr lang="en-US" dirty="0"/>
          </a:p>
          <a:p>
            <a:r>
              <a:rPr lang="en-US" dirty="0"/>
              <a:t>Task completed.</a:t>
            </a:r>
          </a:p>
          <a:p>
            <a:endParaRPr lang="en-US" dirty="0"/>
          </a:p>
          <a:p>
            <a:r>
              <a:rPr lang="en-US" dirty="0"/>
              <a:t>Project created.</a:t>
            </a:r>
          </a:p>
          <a:p>
            <a:endParaRPr lang="en-US" dirty="0"/>
          </a:p>
          <a:p>
            <a:r>
              <a:rPr lang="en-US" dirty="0"/>
              <a:t>Deployment completed.</a:t>
            </a:r>
          </a:p>
          <a:p>
            <a:endParaRPr lang="en-US" dirty="0"/>
          </a:p>
          <a:p>
            <a:r>
              <a:rPr lang="en-US" dirty="0"/>
              <a:t>Database migration executed.</a:t>
            </a:r>
          </a:p>
          <a:p>
            <a:endParaRPr lang="en-US" dirty="0"/>
          </a:p>
          <a:p>
            <a:r>
              <a:rPr lang="en-US" dirty="0"/>
              <a:t>Security event occurred.</a:t>
            </a:r>
          </a:p>
          <a:p>
            <a:endParaRPr lang="en-US" dirty="0"/>
          </a:p>
          <a:p>
            <a:r>
              <a:rPr lang="en-US" dirty="0"/>
              <a:t>Explain:</a:t>
            </a:r>
          </a:p>
          <a:p>
            <a:endParaRPr lang="en-US" dirty="0"/>
          </a:p>
          <a:p>
            <a:r>
              <a:rPr lang="en-US" dirty="0"/>
              <a:t>"Events tell us that something important happened."</a:t>
            </a:r>
          </a:p>
          <a:p>
            <a:endParaRPr lang="en-US" dirty="0"/>
          </a:p>
          <a:p>
            <a:r>
              <a:rPr lang="en-US" dirty="0"/>
              <a:t>------------------------------------------------------------</a:t>
            </a:r>
          </a:p>
          <a:p>
            <a:endParaRPr lang="en-US" dirty="0"/>
          </a:p>
          <a:p>
            <a:r>
              <a:rPr lang="en-US" dirty="0"/>
              <a:t>USER ANALYTICS</a:t>
            </a:r>
          </a:p>
          <a:p>
            <a:endParaRPr lang="en-US" dirty="0"/>
          </a:p>
          <a:p>
            <a:r>
              <a:rPr lang="en-US" dirty="0"/>
              <a:t>Point to User Analytics.</a:t>
            </a:r>
          </a:p>
          <a:p>
            <a:endParaRPr lang="en-US" dirty="0"/>
          </a:p>
          <a:p>
            <a:r>
              <a:rPr lang="en-US" dirty="0"/>
              <a:t>Explain:</a:t>
            </a:r>
          </a:p>
          <a:p>
            <a:endParaRPr lang="en-US" dirty="0"/>
          </a:p>
          <a:p>
            <a:r>
              <a:rPr lang="en-US" dirty="0"/>
              <a:t>"This tells us how users interact with the application."</a:t>
            </a:r>
          </a:p>
          <a:p>
            <a:endParaRPr lang="en-US" dirty="0"/>
          </a:p>
          <a:p>
            <a:r>
              <a:rPr lang="en-US" dirty="0"/>
              <a:t>Examples:</a:t>
            </a:r>
          </a:p>
          <a:p>
            <a:endParaRPr lang="en-US" dirty="0"/>
          </a:p>
          <a:p>
            <a:r>
              <a:rPr lang="en-US" dirty="0"/>
              <a:t>Active users.</a:t>
            </a:r>
          </a:p>
          <a:p>
            <a:endParaRPr lang="en-US" dirty="0"/>
          </a:p>
          <a:p>
            <a:r>
              <a:rPr lang="en-US" dirty="0"/>
              <a:t>Feature usage.</a:t>
            </a:r>
          </a:p>
          <a:p>
            <a:endParaRPr lang="en-US" dirty="0"/>
          </a:p>
          <a:p>
            <a:r>
              <a:rPr lang="en-US" dirty="0"/>
              <a:t>Task creation.</a:t>
            </a:r>
          </a:p>
          <a:p>
            <a:endParaRPr lang="en-US" dirty="0"/>
          </a:p>
          <a:p>
            <a:r>
              <a:rPr lang="en-US" dirty="0"/>
              <a:t>Project creation.</a:t>
            </a:r>
          </a:p>
          <a:p>
            <a:endParaRPr lang="en-US" dirty="0"/>
          </a:p>
          <a:p>
            <a:r>
              <a:rPr lang="en-US" dirty="0"/>
              <a:t>Completion rates.</a:t>
            </a:r>
          </a:p>
          <a:p>
            <a:endParaRPr lang="en-US" dirty="0"/>
          </a:p>
          <a:p>
            <a:r>
              <a:rPr lang="en-US" dirty="0"/>
              <a:t>Explain:</a:t>
            </a:r>
          </a:p>
          <a:p>
            <a:endParaRPr lang="en-US" dirty="0"/>
          </a:p>
          <a:p>
            <a:r>
              <a:rPr lang="en-US" dirty="0"/>
              <a:t>"User analytics can help product decisions."</a:t>
            </a:r>
          </a:p>
          <a:p>
            <a:endParaRPr lang="en-US" dirty="0"/>
          </a:p>
          <a:p>
            <a:r>
              <a:rPr lang="en-US" dirty="0"/>
              <a:t>But:</a:t>
            </a:r>
          </a:p>
          <a:p>
            <a:endParaRPr lang="en-US" dirty="0"/>
          </a:p>
          <a:p>
            <a:r>
              <a:rPr lang="en-US" dirty="0"/>
              <a:t>"Don't collect information just because we can."</a:t>
            </a:r>
          </a:p>
          <a:p>
            <a:endParaRPr lang="en-US" dirty="0"/>
          </a:p>
          <a:p>
            <a:r>
              <a:rPr lang="en-US" dirty="0"/>
              <a:t>Privacy still matters.</a:t>
            </a:r>
          </a:p>
          <a:p>
            <a:endParaRPr lang="en-US" dirty="0"/>
          </a:p>
          <a:p>
            <a:r>
              <a:rPr lang="en-US" dirty="0"/>
              <a:t>------------------------------------------------------------</a:t>
            </a:r>
          </a:p>
          <a:p>
            <a:endParaRPr lang="en-US" dirty="0"/>
          </a:p>
          <a:p>
            <a:r>
              <a:rPr lang="en-US" dirty="0"/>
              <a:t>WHAT TO MONITOR IN ATLAS</a:t>
            </a:r>
          </a:p>
          <a:p>
            <a:endParaRPr lang="en-US" dirty="0"/>
          </a:p>
          <a:p>
            <a:r>
              <a:rPr lang="en-US" dirty="0"/>
              <a:t>Move to the right-middle panel.</a:t>
            </a:r>
          </a:p>
          <a:p>
            <a:endParaRPr lang="en-US" dirty="0"/>
          </a:p>
          <a:p>
            <a:r>
              <a:rPr lang="en-US" dirty="0"/>
              <a:t>Walk through each.</a:t>
            </a:r>
          </a:p>
          <a:p>
            <a:endParaRPr lang="en-US" dirty="0"/>
          </a:p>
          <a:p>
            <a:r>
              <a:rPr lang="en-US" dirty="0"/>
              <a:t>------------------------------------------------------------</a:t>
            </a:r>
          </a:p>
          <a:p>
            <a:endParaRPr lang="en-US" dirty="0"/>
          </a:p>
          <a:p>
            <a:r>
              <a:rPr lang="en-US" dirty="0"/>
              <a:t>APPLICATION HEALTH</a:t>
            </a:r>
          </a:p>
          <a:p>
            <a:endParaRPr lang="en-US" dirty="0"/>
          </a:p>
          <a:p>
            <a:r>
              <a:rPr lang="en-US" dirty="0"/>
              <a:t>Ask:</a:t>
            </a:r>
          </a:p>
          <a:p>
            <a:endParaRPr lang="en-US" dirty="0"/>
          </a:p>
          <a:p>
            <a:r>
              <a:rPr lang="en-US" dirty="0"/>
              <a:t>"Is Atlas up?"</a:t>
            </a:r>
          </a:p>
          <a:p>
            <a:endParaRPr lang="en-US" dirty="0"/>
          </a:p>
          <a:p>
            <a:r>
              <a:rPr lang="en-US" dirty="0"/>
              <a:t>Monitor:</a:t>
            </a:r>
          </a:p>
          <a:p>
            <a:endParaRPr lang="en-US" dirty="0"/>
          </a:p>
          <a:p>
            <a:r>
              <a:rPr lang="en-US" dirty="0"/>
              <a:t>Uptime.</a:t>
            </a:r>
          </a:p>
          <a:p>
            <a:endParaRPr lang="en-US" dirty="0"/>
          </a:p>
          <a:p>
            <a:r>
              <a:rPr lang="en-US" dirty="0"/>
              <a:t>Version.</a:t>
            </a:r>
          </a:p>
          <a:p>
            <a:endParaRPr lang="en-US" dirty="0"/>
          </a:p>
          <a:p>
            <a:r>
              <a:rPr lang="en-US" dirty="0"/>
              <a:t>Health status.</a:t>
            </a:r>
          </a:p>
          <a:p>
            <a:endParaRPr lang="en-US" dirty="0"/>
          </a:p>
          <a:p>
            <a:r>
              <a:rPr lang="en-US" dirty="0"/>
              <a:t>Health endpoint.</a:t>
            </a:r>
          </a:p>
          <a:p>
            <a:endParaRPr lang="en-US" dirty="0"/>
          </a:p>
          <a:p>
            <a:r>
              <a:rPr lang="en-US" dirty="0"/>
              <a:t>------------------------------------------------------------</a:t>
            </a:r>
          </a:p>
          <a:p>
            <a:endParaRPr lang="en-US" dirty="0"/>
          </a:p>
          <a:p>
            <a:r>
              <a:rPr lang="en-US" dirty="0"/>
              <a:t>API PERFORMANCE</a:t>
            </a:r>
          </a:p>
          <a:p>
            <a:endParaRPr lang="en-US" dirty="0"/>
          </a:p>
          <a:p>
            <a:r>
              <a:rPr lang="en-US" dirty="0"/>
              <a:t>Ask:</a:t>
            </a:r>
          </a:p>
          <a:p>
            <a:endParaRPr lang="en-US" dirty="0"/>
          </a:p>
          <a:p>
            <a:r>
              <a:rPr lang="en-US" dirty="0"/>
              <a:t>"How quickly is Atlas responding?"</a:t>
            </a:r>
          </a:p>
          <a:p>
            <a:endParaRPr lang="en-US" dirty="0"/>
          </a:p>
          <a:p>
            <a:r>
              <a:rPr lang="en-US" dirty="0"/>
              <a:t>Monitor:</a:t>
            </a:r>
          </a:p>
          <a:p>
            <a:endParaRPr lang="en-US" dirty="0"/>
          </a:p>
          <a:p>
            <a:r>
              <a:rPr lang="en-US" dirty="0"/>
              <a:t>Response time.</a:t>
            </a:r>
          </a:p>
          <a:p>
            <a:endParaRPr lang="en-US" dirty="0"/>
          </a:p>
          <a:p>
            <a:r>
              <a:rPr lang="en-US" dirty="0"/>
              <a:t>Requests.</a:t>
            </a:r>
          </a:p>
          <a:p>
            <a:endParaRPr lang="en-US" dirty="0"/>
          </a:p>
          <a:p>
            <a:r>
              <a:rPr lang="en-US" dirty="0"/>
              <a:t>Failure rate.</a:t>
            </a:r>
          </a:p>
          <a:p>
            <a:endParaRPr lang="en-US" dirty="0"/>
          </a:p>
          <a:p>
            <a:r>
              <a:rPr lang="en-US" dirty="0"/>
              <a:t>Throughput.</a:t>
            </a:r>
          </a:p>
          <a:p>
            <a:endParaRPr lang="en-US" dirty="0"/>
          </a:p>
          <a:p>
            <a:r>
              <a:rPr lang="en-US" dirty="0"/>
              <a:t>------------------------------------------------------------</a:t>
            </a:r>
          </a:p>
          <a:p>
            <a:endParaRPr lang="en-US" dirty="0"/>
          </a:p>
          <a:p>
            <a:r>
              <a:rPr lang="en-US" dirty="0"/>
              <a:t>ERROR RATE</a:t>
            </a:r>
          </a:p>
          <a:p>
            <a:endParaRPr lang="en-US" dirty="0"/>
          </a:p>
          <a:p>
            <a:r>
              <a:rPr lang="en-US" dirty="0"/>
              <a:t>Ask:</a:t>
            </a:r>
          </a:p>
          <a:p>
            <a:endParaRPr lang="en-US" dirty="0"/>
          </a:p>
          <a:p>
            <a:r>
              <a:rPr lang="en-US" dirty="0"/>
              <a:t>"How often are requests failing?"</a:t>
            </a:r>
          </a:p>
          <a:p>
            <a:endParaRPr lang="en-US" dirty="0"/>
          </a:p>
          <a:p>
            <a:r>
              <a:rPr lang="en-US" dirty="0"/>
              <a:t>Monitor:</a:t>
            </a:r>
          </a:p>
          <a:p>
            <a:endParaRPr lang="en-US" dirty="0"/>
          </a:p>
          <a:p>
            <a:r>
              <a:rPr lang="en-US" dirty="0"/>
              <a:t>Exceptions.</a:t>
            </a:r>
          </a:p>
          <a:p>
            <a:endParaRPr lang="en-US" dirty="0"/>
          </a:p>
          <a:p>
            <a:r>
              <a:rPr lang="en-US" dirty="0"/>
              <a:t>HTTP 4xx.</a:t>
            </a:r>
          </a:p>
          <a:p>
            <a:endParaRPr lang="en-US" dirty="0"/>
          </a:p>
          <a:p>
            <a:r>
              <a:rPr lang="en-US" dirty="0"/>
              <a:t>HTTP 5xx.</a:t>
            </a:r>
          </a:p>
          <a:p>
            <a:endParaRPr lang="en-US" dirty="0"/>
          </a:p>
          <a:p>
            <a:r>
              <a:rPr lang="en-US" dirty="0"/>
              <a:t>Application errors.</a:t>
            </a:r>
          </a:p>
          <a:p>
            <a:endParaRPr lang="en-US" dirty="0"/>
          </a:p>
          <a:p>
            <a:r>
              <a:rPr lang="en-US" dirty="0"/>
              <a:t>Explain:</a:t>
            </a:r>
          </a:p>
          <a:p>
            <a:endParaRPr lang="en-US" dirty="0"/>
          </a:p>
          <a:p>
            <a:r>
              <a:rPr lang="en-US" dirty="0"/>
              <a:t>"An increasing error rate can be an early warning."</a:t>
            </a:r>
          </a:p>
          <a:p>
            <a:endParaRPr lang="en-US" dirty="0"/>
          </a:p>
          <a:p>
            <a:r>
              <a:rPr lang="en-US" dirty="0"/>
              <a:t>------------------------------------------------------------</a:t>
            </a:r>
          </a:p>
          <a:p>
            <a:endParaRPr lang="en-US" dirty="0"/>
          </a:p>
          <a:p>
            <a:r>
              <a:rPr lang="en-US" dirty="0"/>
              <a:t>DATABASE HEALTH</a:t>
            </a:r>
          </a:p>
          <a:p>
            <a:endParaRPr lang="en-US" dirty="0"/>
          </a:p>
          <a:p>
            <a:r>
              <a:rPr lang="en-US" dirty="0"/>
              <a:t>Ask:</a:t>
            </a:r>
          </a:p>
          <a:p>
            <a:endParaRPr lang="en-US" dirty="0"/>
          </a:p>
          <a:p>
            <a:r>
              <a:rPr lang="en-US" dirty="0"/>
              <a:t>"Is the database healthy?"</a:t>
            </a:r>
          </a:p>
          <a:p>
            <a:endParaRPr lang="en-US" dirty="0"/>
          </a:p>
          <a:p>
            <a:r>
              <a:rPr lang="en-US" dirty="0"/>
              <a:t>Monitor:</a:t>
            </a:r>
          </a:p>
          <a:p>
            <a:endParaRPr lang="en-US" dirty="0"/>
          </a:p>
          <a:p>
            <a:r>
              <a:rPr lang="en-US" dirty="0"/>
              <a:t>Connections.</a:t>
            </a:r>
          </a:p>
          <a:p>
            <a:endParaRPr lang="en-US" dirty="0"/>
          </a:p>
          <a:p>
            <a:r>
              <a:rPr lang="en-US" dirty="0"/>
              <a:t>Query time.</a:t>
            </a:r>
          </a:p>
          <a:p>
            <a:endParaRPr lang="en-US" dirty="0"/>
          </a:p>
          <a:p>
            <a:r>
              <a:rPr lang="en-US" dirty="0"/>
              <a:t>Locks.</a:t>
            </a:r>
          </a:p>
          <a:p>
            <a:endParaRPr lang="en-US" dirty="0"/>
          </a:p>
          <a:p>
            <a:r>
              <a:rPr lang="en-US" dirty="0"/>
              <a:t>Failures.</a:t>
            </a:r>
          </a:p>
          <a:p>
            <a:endParaRPr lang="en-US" dirty="0"/>
          </a:p>
          <a:p>
            <a:r>
              <a:rPr lang="en-US" dirty="0"/>
              <a:t>Explain:</a:t>
            </a:r>
          </a:p>
          <a:p>
            <a:endParaRPr lang="en-US" dirty="0"/>
          </a:p>
          <a:p>
            <a:r>
              <a:rPr lang="en-US" dirty="0"/>
              <a:t>"The database is one of Atlas's most important dependencies."</a:t>
            </a:r>
          </a:p>
          <a:p>
            <a:endParaRPr lang="en-US" dirty="0"/>
          </a:p>
          <a:p>
            <a:r>
              <a:rPr lang="en-US" dirty="0"/>
              <a:t>------------------------------------------------------------</a:t>
            </a:r>
          </a:p>
          <a:p>
            <a:endParaRPr lang="en-US" dirty="0"/>
          </a:p>
          <a:p>
            <a:r>
              <a:rPr lang="en-US" dirty="0"/>
              <a:t>INFRASTRUCTURE</a:t>
            </a:r>
          </a:p>
          <a:p>
            <a:endParaRPr lang="en-US" dirty="0"/>
          </a:p>
          <a:p>
            <a:r>
              <a:rPr lang="en-US" dirty="0"/>
              <a:t>Monitor:</a:t>
            </a:r>
          </a:p>
          <a:p>
            <a:endParaRPr lang="en-US" dirty="0"/>
          </a:p>
          <a:p>
            <a:r>
              <a:rPr lang="en-US" dirty="0"/>
              <a:t>CPU.</a:t>
            </a:r>
          </a:p>
          <a:p>
            <a:endParaRPr lang="en-US" dirty="0"/>
          </a:p>
          <a:p>
            <a:r>
              <a:rPr lang="en-US" dirty="0"/>
              <a:t>Memory.</a:t>
            </a:r>
          </a:p>
          <a:p>
            <a:endParaRPr lang="en-US" dirty="0"/>
          </a:p>
          <a:p>
            <a:r>
              <a:rPr lang="en-US" dirty="0"/>
              <a:t>Disk.</a:t>
            </a:r>
          </a:p>
          <a:p>
            <a:endParaRPr lang="en-US" dirty="0"/>
          </a:p>
          <a:p>
            <a:r>
              <a:rPr lang="en-US" dirty="0"/>
              <a:t>Network.</a:t>
            </a:r>
          </a:p>
          <a:p>
            <a:endParaRPr lang="en-US" dirty="0"/>
          </a:p>
          <a:p>
            <a:r>
              <a:rPr lang="en-US" dirty="0"/>
              <a:t>Explain:</a:t>
            </a:r>
          </a:p>
          <a:p>
            <a:endParaRPr lang="en-US" dirty="0"/>
          </a:p>
          <a:p>
            <a:r>
              <a:rPr lang="en-US" dirty="0"/>
              <a:t>"Resources can become bottlenecks."</a:t>
            </a:r>
          </a:p>
          <a:p>
            <a:endParaRPr lang="en-US" dirty="0"/>
          </a:p>
          <a:p>
            <a:r>
              <a:rPr lang="en-US" dirty="0"/>
              <a:t>------------------------------------------------------------</a:t>
            </a:r>
          </a:p>
          <a:p>
            <a:endParaRPr lang="en-US" dirty="0"/>
          </a:p>
          <a:p>
            <a:r>
              <a:rPr lang="en-US" dirty="0"/>
              <a:t>EXTERNAL SERVICES</a:t>
            </a:r>
          </a:p>
          <a:p>
            <a:endParaRPr lang="en-US" dirty="0"/>
          </a:p>
          <a:p>
            <a:r>
              <a:rPr lang="en-US" dirty="0"/>
              <a:t>Monitor:</a:t>
            </a:r>
          </a:p>
          <a:p>
            <a:endParaRPr lang="en-US" dirty="0"/>
          </a:p>
          <a:p>
            <a:r>
              <a:rPr lang="en-US" dirty="0"/>
              <a:t>Email.</a:t>
            </a:r>
          </a:p>
          <a:p>
            <a:endParaRPr lang="en-US" dirty="0"/>
          </a:p>
          <a:p>
            <a:r>
              <a:rPr lang="en-US" dirty="0"/>
              <a:t>Storage.</a:t>
            </a:r>
          </a:p>
          <a:p>
            <a:endParaRPr lang="en-US" dirty="0"/>
          </a:p>
          <a:p>
            <a:r>
              <a:rPr lang="en-US" dirty="0"/>
              <a:t>APIs.</a:t>
            </a:r>
          </a:p>
          <a:p>
            <a:endParaRPr lang="en-US" dirty="0"/>
          </a:p>
          <a:p>
            <a:r>
              <a:rPr lang="en-US" dirty="0"/>
              <a:t>Authentication provider.</a:t>
            </a:r>
          </a:p>
          <a:p>
            <a:endParaRPr lang="en-US" dirty="0"/>
          </a:p>
          <a:p>
            <a:r>
              <a:rPr lang="en-US" dirty="0"/>
              <a:t>Other dependencies.</a:t>
            </a:r>
          </a:p>
          <a:p>
            <a:endParaRPr lang="en-US" dirty="0"/>
          </a:p>
          <a:p>
            <a:r>
              <a:rPr lang="en-US" dirty="0"/>
              <a:t>Ask:</a:t>
            </a:r>
          </a:p>
          <a:p>
            <a:endParaRPr lang="en-US" dirty="0"/>
          </a:p>
          <a:p>
            <a:r>
              <a:rPr lang="en-US" dirty="0"/>
              <a:t>"What happens if one of these becomes unavailable?"</a:t>
            </a:r>
          </a:p>
          <a:p>
            <a:endParaRPr lang="en-US" dirty="0"/>
          </a:p>
          <a:p>
            <a:r>
              <a:rPr lang="en-US" dirty="0"/>
              <a:t>"We need to know."</a:t>
            </a:r>
          </a:p>
          <a:p>
            <a:endParaRPr lang="en-US" dirty="0"/>
          </a:p>
          <a:p>
            <a:r>
              <a:rPr lang="en-US" dirty="0"/>
              <a:t>------------------------------------------------------------</a:t>
            </a:r>
          </a:p>
          <a:p>
            <a:endParaRPr lang="en-US" dirty="0"/>
          </a:p>
          <a:p>
            <a:r>
              <a:rPr lang="en-US" dirty="0"/>
              <a:t>BUSINESS METRICS</a:t>
            </a:r>
          </a:p>
          <a:p>
            <a:endParaRPr lang="en-US" dirty="0"/>
          </a:p>
          <a:p>
            <a:r>
              <a:rPr lang="en-US" dirty="0"/>
              <a:t>Explain:</a:t>
            </a:r>
          </a:p>
          <a:p>
            <a:endParaRPr lang="en-US" dirty="0"/>
          </a:p>
          <a:p>
            <a:r>
              <a:rPr lang="en-US" dirty="0"/>
              <a:t>"Technical health isn't the whole story."</a:t>
            </a:r>
          </a:p>
          <a:p>
            <a:endParaRPr lang="en-US" dirty="0"/>
          </a:p>
          <a:p>
            <a:r>
              <a:rPr lang="en-US" dirty="0"/>
              <a:t>We may also monitor:</a:t>
            </a:r>
          </a:p>
          <a:p>
            <a:endParaRPr lang="en-US" dirty="0"/>
          </a:p>
          <a:p>
            <a:r>
              <a:rPr lang="en-US" dirty="0"/>
              <a:t>Active users.</a:t>
            </a:r>
          </a:p>
          <a:p>
            <a:endParaRPr lang="en-US" dirty="0"/>
          </a:p>
          <a:p>
            <a:r>
              <a:rPr lang="en-US" dirty="0"/>
              <a:t>Projects created.</a:t>
            </a:r>
          </a:p>
          <a:p>
            <a:endParaRPr lang="en-US" dirty="0"/>
          </a:p>
          <a:p>
            <a:r>
              <a:rPr lang="en-US" dirty="0"/>
              <a:t>Tasks completed.</a:t>
            </a:r>
          </a:p>
          <a:p>
            <a:endParaRPr lang="en-US" dirty="0"/>
          </a:p>
          <a:p>
            <a:r>
              <a:rPr lang="en-US" dirty="0"/>
              <a:t>Successful workflows.</a:t>
            </a:r>
          </a:p>
          <a:p>
            <a:endParaRPr lang="en-US" dirty="0"/>
          </a:p>
          <a:p>
            <a:r>
              <a:rPr lang="en-US" dirty="0"/>
              <a:t>Explain:</a:t>
            </a:r>
          </a:p>
          <a:p>
            <a:endParaRPr lang="en-US" dirty="0"/>
          </a:p>
          <a:p>
            <a:r>
              <a:rPr lang="en-US" dirty="0"/>
              <a:t>"The system can be technically healthy while users are struggling."</a:t>
            </a:r>
          </a:p>
          <a:p>
            <a:endParaRPr lang="en-US" dirty="0"/>
          </a:p>
          <a:p>
            <a:r>
              <a:rPr lang="en-US" dirty="0"/>
              <a:t>------------------------------------------------------------</a:t>
            </a:r>
          </a:p>
          <a:p>
            <a:endParaRPr lang="en-US" dirty="0"/>
          </a:p>
          <a:p>
            <a:r>
              <a:rPr lang="en-US" dirty="0"/>
              <a:t>EXAMPLE DASHBOARD</a:t>
            </a:r>
          </a:p>
          <a:p>
            <a:endParaRPr lang="en-US" dirty="0"/>
          </a:p>
          <a:p>
            <a:r>
              <a:rPr lang="en-US" dirty="0"/>
              <a:t>Point to the example dashboard.</a:t>
            </a:r>
          </a:p>
          <a:p>
            <a:endParaRPr lang="en-US" dirty="0"/>
          </a:p>
          <a:p>
            <a:r>
              <a:rPr lang="en-US" dirty="0"/>
              <a:t>Explain:</a:t>
            </a:r>
          </a:p>
          <a:p>
            <a:endParaRPr lang="en-US" dirty="0"/>
          </a:p>
          <a:p>
            <a:r>
              <a:rPr lang="en-US" dirty="0"/>
              <a:t>"This is the kind of information a team might want to see."</a:t>
            </a:r>
          </a:p>
          <a:p>
            <a:endParaRPr lang="en-US" dirty="0"/>
          </a:p>
          <a:p>
            <a:r>
              <a:rPr lang="en-US" dirty="0"/>
              <a:t>Application health.</a:t>
            </a:r>
          </a:p>
          <a:p>
            <a:endParaRPr lang="en-US" dirty="0"/>
          </a:p>
          <a:p>
            <a:r>
              <a:rPr lang="en-US" dirty="0"/>
              <a:t>Requests.</a:t>
            </a:r>
          </a:p>
          <a:p>
            <a:endParaRPr lang="en-US" dirty="0"/>
          </a:p>
          <a:p>
            <a:r>
              <a:rPr lang="en-US" dirty="0"/>
              <a:t>Response time.</a:t>
            </a:r>
          </a:p>
          <a:p>
            <a:endParaRPr lang="en-US" dirty="0"/>
          </a:p>
          <a:p>
            <a:r>
              <a:rPr lang="en-US" dirty="0"/>
              <a:t>Error rate.</a:t>
            </a:r>
          </a:p>
          <a:p>
            <a:endParaRPr lang="en-US" dirty="0"/>
          </a:p>
          <a:p>
            <a:r>
              <a:rPr lang="en-US" dirty="0"/>
              <a:t>Endpoint usage.</a:t>
            </a:r>
          </a:p>
          <a:p>
            <a:endParaRPr lang="en-US" dirty="0"/>
          </a:p>
          <a:p>
            <a:r>
              <a:rPr lang="en-US" dirty="0"/>
              <a:t>External service health.</a:t>
            </a:r>
          </a:p>
          <a:p>
            <a:endParaRPr lang="en-US" dirty="0"/>
          </a:p>
          <a:p>
            <a:r>
              <a:rPr lang="en-US" dirty="0"/>
              <a:t>Active users.</a:t>
            </a:r>
          </a:p>
          <a:p>
            <a:endParaRPr lang="en-US" dirty="0"/>
          </a:p>
          <a:p>
            <a:r>
              <a:rPr lang="en-US" dirty="0"/>
              <a:t>Ask:</a:t>
            </a:r>
          </a:p>
          <a:p>
            <a:endParaRPr lang="en-US" dirty="0"/>
          </a:p>
          <a:p>
            <a:r>
              <a:rPr lang="en-US" dirty="0"/>
              <a:t>"If you had only five minutes to check Atlas..."</a:t>
            </a:r>
          </a:p>
          <a:p>
            <a:endParaRPr lang="en-US" dirty="0"/>
          </a:p>
          <a:p>
            <a:r>
              <a:rPr lang="en-US" dirty="0"/>
              <a:t>"What would you want to know?"</a:t>
            </a:r>
          </a:p>
          <a:p>
            <a:endParaRPr lang="en-US" dirty="0"/>
          </a:p>
          <a:p>
            <a:r>
              <a:rPr lang="en-US" dirty="0"/>
              <a:t>Let students answer.</a:t>
            </a:r>
          </a:p>
          <a:p>
            <a:endParaRPr lang="en-US" dirty="0"/>
          </a:p>
          <a:p>
            <a:r>
              <a:rPr lang="en-US" dirty="0"/>
              <a:t>------------------------------------------------------------</a:t>
            </a:r>
          </a:p>
          <a:p>
            <a:endParaRPr lang="en-US" dirty="0"/>
          </a:p>
          <a:p>
            <a:r>
              <a:rPr lang="en-US" dirty="0"/>
              <a:t>THE DASHBOARD PRINCIPLE</a:t>
            </a:r>
          </a:p>
          <a:p>
            <a:endParaRPr lang="en-US" dirty="0"/>
          </a:p>
          <a:p>
            <a:r>
              <a:rPr lang="en-US" dirty="0"/>
              <a:t>Say:</a:t>
            </a:r>
          </a:p>
          <a:p>
            <a:endParaRPr lang="en-US" dirty="0"/>
          </a:p>
          <a:p>
            <a:r>
              <a:rPr lang="en-US" dirty="0"/>
              <a:t>"A dashboard should answer questions."</a:t>
            </a:r>
          </a:p>
          <a:p>
            <a:endParaRPr lang="en-US" dirty="0"/>
          </a:p>
          <a:p>
            <a:r>
              <a:rPr lang="en-US" dirty="0"/>
              <a:t>Not:</a:t>
            </a:r>
          </a:p>
          <a:p>
            <a:endParaRPr lang="en-US" dirty="0"/>
          </a:p>
          <a:p>
            <a:r>
              <a:rPr lang="en-US" dirty="0"/>
              <a:t>"Look how many charts we have."</a:t>
            </a:r>
          </a:p>
          <a:p>
            <a:endParaRPr lang="en-US" dirty="0"/>
          </a:p>
          <a:p>
            <a:r>
              <a:rPr lang="en-US" dirty="0"/>
              <a:t>A good dashboard answers:</a:t>
            </a:r>
          </a:p>
          <a:p>
            <a:endParaRPr lang="en-US" dirty="0"/>
          </a:p>
          <a:p>
            <a:r>
              <a:rPr lang="en-US" dirty="0"/>
              <a:t>Is Atlas healthy?</a:t>
            </a:r>
          </a:p>
          <a:p>
            <a:endParaRPr lang="en-US" dirty="0"/>
          </a:p>
          <a:p>
            <a:r>
              <a:rPr lang="en-US" dirty="0"/>
              <a:t>Is it slow?</a:t>
            </a:r>
          </a:p>
          <a:p>
            <a:endParaRPr lang="en-US" dirty="0"/>
          </a:p>
          <a:p>
            <a:r>
              <a:rPr lang="en-US" dirty="0"/>
              <a:t>Are errors increasing?</a:t>
            </a:r>
          </a:p>
          <a:p>
            <a:endParaRPr lang="en-US" dirty="0"/>
          </a:p>
          <a:p>
            <a:r>
              <a:rPr lang="en-US" dirty="0"/>
              <a:t>Is something unusual?</a:t>
            </a:r>
          </a:p>
          <a:p>
            <a:endParaRPr lang="en-US" dirty="0"/>
          </a:p>
          <a:p>
            <a:r>
              <a:rPr lang="en-US" dirty="0"/>
              <a:t>What needs attention?</a:t>
            </a:r>
          </a:p>
          <a:p>
            <a:endParaRPr lang="en-US" dirty="0"/>
          </a:p>
          <a:p>
            <a:r>
              <a:rPr lang="en-US" dirty="0"/>
              <a:t>------------------------------------------------------------</a:t>
            </a:r>
          </a:p>
          <a:p>
            <a:endParaRPr lang="en-US" dirty="0"/>
          </a:p>
          <a:p>
            <a:r>
              <a:rPr lang="en-US" dirty="0"/>
              <a:t>ALERTING</a:t>
            </a:r>
          </a:p>
          <a:p>
            <a:endParaRPr lang="en-US" dirty="0"/>
          </a:p>
          <a:p>
            <a:r>
              <a:rPr lang="en-US" dirty="0"/>
              <a:t>Move to Alerting Strategy.</a:t>
            </a:r>
          </a:p>
          <a:p>
            <a:endParaRPr lang="en-US" dirty="0"/>
          </a:p>
          <a:p>
            <a:r>
              <a:rPr lang="en-US" dirty="0"/>
              <a:t>Ask:</a:t>
            </a:r>
          </a:p>
          <a:p>
            <a:endParaRPr lang="en-US" dirty="0"/>
          </a:p>
          <a:p>
            <a:r>
              <a:rPr lang="en-US" dirty="0"/>
              <a:t>"What happens if nobody is looking at the dashboard?"</a:t>
            </a:r>
          </a:p>
          <a:p>
            <a:endParaRPr lang="en-US" dirty="0"/>
          </a:p>
          <a:p>
            <a:r>
              <a:rPr lang="en-US" dirty="0"/>
              <a:t>Exactly.</a:t>
            </a:r>
          </a:p>
          <a:p>
            <a:endParaRPr lang="en-US" dirty="0"/>
          </a:p>
          <a:p>
            <a:r>
              <a:rPr lang="en-US" dirty="0"/>
              <a:t>"We need alerts for important conditions."</a:t>
            </a:r>
          </a:p>
          <a:p>
            <a:endParaRPr lang="en-US" dirty="0"/>
          </a:p>
          <a:p>
            <a:r>
              <a:rPr lang="en-US" dirty="0"/>
              <a:t>------------------------------------------------------------</a:t>
            </a:r>
          </a:p>
          <a:p>
            <a:endParaRPr lang="en-US" dirty="0"/>
          </a:p>
          <a:p>
            <a:r>
              <a:rPr lang="en-US" dirty="0"/>
              <a:t>DETECT</a:t>
            </a:r>
          </a:p>
          <a:p>
            <a:endParaRPr lang="en-US" dirty="0"/>
          </a:p>
          <a:p>
            <a:r>
              <a:rPr lang="en-US" dirty="0"/>
              <a:t>Define conditions that indicate a problem.</a:t>
            </a:r>
          </a:p>
          <a:p>
            <a:endParaRPr lang="en-US" dirty="0"/>
          </a:p>
          <a:p>
            <a:r>
              <a:rPr lang="en-US" dirty="0"/>
              <a:t>Examples:</a:t>
            </a:r>
          </a:p>
          <a:p>
            <a:endParaRPr lang="en-US" dirty="0"/>
          </a:p>
          <a:p>
            <a:r>
              <a:rPr lang="en-US" dirty="0"/>
              <a:t>Error rate too high.</a:t>
            </a:r>
          </a:p>
          <a:p>
            <a:endParaRPr lang="en-US" dirty="0"/>
          </a:p>
          <a:p>
            <a:r>
              <a:rPr lang="en-US" dirty="0"/>
              <a:t>Application unavailable.</a:t>
            </a:r>
          </a:p>
          <a:p>
            <a:endParaRPr lang="en-US" dirty="0"/>
          </a:p>
          <a:p>
            <a:r>
              <a:rPr lang="en-US" dirty="0"/>
              <a:t>Database unhealthy.</a:t>
            </a:r>
          </a:p>
          <a:p>
            <a:endParaRPr lang="en-US" dirty="0"/>
          </a:p>
          <a:p>
            <a:r>
              <a:rPr lang="en-US" dirty="0"/>
              <a:t>Response time excessive.</a:t>
            </a:r>
          </a:p>
          <a:p>
            <a:endParaRPr lang="en-US" dirty="0"/>
          </a:p>
          <a:p>
            <a:r>
              <a:rPr lang="en-US" dirty="0"/>
              <a:t>Storage nearly full.</a:t>
            </a:r>
          </a:p>
          <a:p>
            <a:endParaRPr lang="en-US" dirty="0"/>
          </a:p>
          <a:p>
            <a:r>
              <a:rPr lang="en-US" dirty="0"/>
              <a:t>------------------------------------------------------------</a:t>
            </a:r>
          </a:p>
          <a:p>
            <a:endParaRPr lang="en-US" dirty="0"/>
          </a:p>
          <a:p>
            <a:r>
              <a:rPr lang="en-US" dirty="0"/>
              <a:t>NOTIFY</a:t>
            </a:r>
          </a:p>
          <a:p>
            <a:endParaRPr lang="en-US" dirty="0"/>
          </a:p>
          <a:p>
            <a:r>
              <a:rPr lang="en-US" dirty="0"/>
              <a:t>Send the alert to the right people.</a:t>
            </a:r>
          </a:p>
          <a:p>
            <a:endParaRPr lang="en-US" dirty="0"/>
          </a:p>
          <a:p>
            <a:r>
              <a:rPr lang="en-US" dirty="0"/>
              <a:t>Explain:</a:t>
            </a:r>
          </a:p>
          <a:p>
            <a:endParaRPr lang="en-US" dirty="0"/>
          </a:p>
          <a:p>
            <a:r>
              <a:rPr lang="en-US" dirty="0"/>
              <a:t>"Not every alert needs to wake everyone up."</a:t>
            </a:r>
          </a:p>
          <a:p>
            <a:endParaRPr lang="en-US" dirty="0"/>
          </a:p>
          <a:p>
            <a:r>
              <a:rPr lang="en-US" dirty="0"/>
              <a:t>The right alert goes to:</a:t>
            </a:r>
          </a:p>
          <a:p>
            <a:endParaRPr lang="en-US" dirty="0"/>
          </a:p>
          <a:p>
            <a:r>
              <a:rPr lang="en-US" dirty="0"/>
              <a:t>The right person.</a:t>
            </a:r>
          </a:p>
          <a:p>
            <a:endParaRPr lang="en-US" dirty="0"/>
          </a:p>
          <a:p>
            <a:r>
              <a:rPr lang="en-US" dirty="0"/>
              <a:t>At the right urgency.</a:t>
            </a:r>
          </a:p>
          <a:p>
            <a:endParaRPr lang="en-US" dirty="0"/>
          </a:p>
          <a:p>
            <a:r>
              <a:rPr lang="en-US" dirty="0"/>
              <a:t>------------------------------------------------------------</a:t>
            </a:r>
          </a:p>
          <a:p>
            <a:endParaRPr lang="en-US" dirty="0"/>
          </a:p>
          <a:p>
            <a:r>
              <a:rPr lang="en-US" dirty="0"/>
              <a:t>TRIAGE</a:t>
            </a:r>
          </a:p>
          <a:p>
            <a:endParaRPr lang="en-US" dirty="0"/>
          </a:p>
          <a:p>
            <a:r>
              <a:rPr lang="en-US" dirty="0"/>
              <a:t>Explain:</a:t>
            </a:r>
          </a:p>
          <a:p>
            <a:endParaRPr lang="en-US" dirty="0"/>
          </a:p>
          <a:p>
            <a:r>
              <a:rPr lang="en-US" dirty="0"/>
              <a:t>"Not every problem has the same priority."</a:t>
            </a:r>
          </a:p>
          <a:p>
            <a:endParaRPr lang="en-US" dirty="0"/>
          </a:p>
          <a:p>
            <a:r>
              <a:rPr lang="en-US" dirty="0"/>
              <a:t>Ask:</a:t>
            </a:r>
          </a:p>
          <a:p>
            <a:endParaRPr lang="en-US" dirty="0"/>
          </a:p>
          <a:p>
            <a:r>
              <a:rPr lang="en-US" dirty="0"/>
              <a:t>"Which matters more?"</a:t>
            </a:r>
          </a:p>
          <a:p>
            <a:endParaRPr lang="en-US" dirty="0"/>
          </a:p>
          <a:p>
            <a:r>
              <a:rPr lang="en-US" dirty="0"/>
              <a:t>One user has a minor UI issue.</a:t>
            </a:r>
          </a:p>
          <a:p>
            <a:endParaRPr lang="en-US" dirty="0"/>
          </a:p>
          <a:p>
            <a:r>
              <a:rPr lang="en-US" dirty="0"/>
              <a:t>or:</a:t>
            </a:r>
          </a:p>
          <a:p>
            <a:endParaRPr lang="en-US" dirty="0"/>
          </a:p>
          <a:p>
            <a:r>
              <a:rPr lang="en-US" dirty="0"/>
              <a:t>Nobody can log into Atlas.</a:t>
            </a:r>
          </a:p>
          <a:p>
            <a:endParaRPr lang="en-US" dirty="0"/>
          </a:p>
          <a:p>
            <a:r>
              <a:rPr lang="en-US" dirty="0"/>
              <a:t>Exactly.</a:t>
            </a:r>
          </a:p>
          <a:p>
            <a:endParaRPr lang="en-US" dirty="0"/>
          </a:p>
          <a:p>
            <a:r>
              <a:rPr lang="en-US" dirty="0"/>
              <a:t>Triage based on:</a:t>
            </a:r>
          </a:p>
          <a:p>
            <a:endParaRPr lang="en-US" dirty="0"/>
          </a:p>
          <a:p>
            <a:r>
              <a:rPr lang="en-US" dirty="0"/>
              <a:t>Impact.</a:t>
            </a:r>
          </a:p>
          <a:p>
            <a:endParaRPr lang="en-US" dirty="0"/>
          </a:p>
          <a:p>
            <a:r>
              <a:rPr lang="en-US" dirty="0"/>
              <a:t>Urgency.</a:t>
            </a:r>
          </a:p>
          <a:p>
            <a:endParaRPr lang="en-US" dirty="0"/>
          </a:p>
          <a:p>
            <a:r>
              <a:rPr lang="en-US" dirty="0"/>
              <a:t>Scope.</a:t>
            </a:r>
          </a:p>
          <a:p>
            <a:endParaRPr lang="en-US" dirty="0"/>
          </a:p>
          <a:p>
            <a:r>
              <a:rPr lang="en-US" dirty="0"/>
              <a:t>------------------------------------------------------------</a:t>
            </a:r>
          </a:p>
          <a:p>
            <a:endParaRPr lang="en-US" dirty="0"/>
          </a:p>
          <a:p>
            <a:r>
              <a:rPr lang="en-US" dirty="0"/>
              <a:t>RESPOND</a:t>
            </a:r>
          </a:p>
          <a:p>
            <a:endParaRPr lang="en-US" dirty="0"/>
          </a:p>
          <a:p>
            <a:r>
              <a:rPr lang="en-US" dirty="0"/>
              <a:t>Point to Respond.</a:t>
            </a:r>
          </a:p>
          <a:p>
            <a:endParaRPr lang="en-US" dirty="0"/>
          </a:p>
          <a:p>
            <a:r>
              <a:rPr lang="en-US" dirty="0"/>
              <a:t>Explain:</a:t>
            </a:r>
          </a:p>
          <a:p>
            <a:endParaRPr lang="en-US" dirty="0"/>
          </a:p>
          <a:p>
            <a:r>
              <a:rPr lang="en-US" dirty="0"/>
              <a:t>"An alert should lead to action."</a:t>
            </a:r>
          </a:p>
          <a:p>
            <a:endParaRPr lang="en-US" dirty="0"/>
          </a:p>
          <a:p>
            <a:r>
              <a:rPr lang="en-US" dirty="0"/>
              <a:t>Examples:</a:t>
            </a:r>
          </a:p>
          <a:p>
            <a:endParaRPr lang="en-US" dirty="0"/>
          </a:p>
          <a:p>
            <a:r>
              <a:rPr lang="en-US" dirty="0"/>
              <a:t>Restart service.</a:t>
            </a:r>
          </a:p>
          <a:p>
            <a:endParaRPr lang="en-US" dirty="0"/>
          </a:p>
          <a:p>
            <a:r>
              <a:rPr lang="en-US" dirty="0"/>
              <a:t>Investigate logs.</a:t>
            </a:r>
          </a:p>
          <a:p>
            <a:endParaRPr lang="en-US" dirty="0"/>
          </a:p>
          <a:p>
            <a:r>
              <a:rPr lang="en-US" dirty="0"/>
              <a:t>Rollback deployment.</a:t>
            </a:r>
          </a:p>
          <a:p>
            <a:endParaRPr lang="en-US" dirty="0"/>
          </a:p>
          <a:p>
            <a:r>
              <a:rPr lang="en-US" dirty="0"/>
              <a:t>Contact dependency provider.</a:t>
            </a:r>
          </a:p>
          <a:p>
            <a:endParaRPr lang="en-US" dirty="0"/>
          </a:p>
          <a:p>
            <a:r>
              <a:rPr lang="en-US" dirty="0"/>
              <a:t>Fix configuration.</a:t>
            </a:r>
          </a:p>
          <a:p>
            <a:endParaRPr lang="en-US" dirty="0"/>
          </a:p>
          <a:p>
            <a:r>
              <a:rPr lang="en-US" dirty="0"/>
              <a:t>------------------------------------------------------------</a:t>
            </a:r>
          </a:p>
          <a:p>
            <a:endParaRPr lang="en-US" dirty="0"/>
          </a:p>
          <a:p>
            <a:r>
              <a:rPr lang="en-US" dirty="0"/>
              <a:t>REVIEW</a:t>
            </a:r>
          </a:p>
          <a:p>
            <a:endParaRPr lang="en-US" dirty="0"/>
          </a:p>
          <a:p>
            <a:r>
              <a:rPr lang="en-US" dirty="0"/>
              <a:t>Point to Review.</a:t>
            </a:r>
          </a:p>
          <a:p>
            <a:endParaRPr lang="en-US" dirty="0"/>
          </a:p>
          <a:p>
            <a:r>
              <a:rPr lang="en-US" dirty="0"/>
              <a:t>Explain:</a:t>
            </a:r>
          </a:p>
          <a:p>
            <a:endParaRPr lang="en-US" dirty="0"/>
          </a:p>
          <a:p>
            <a:r>
              <a:rPr lang="en-US" dirty="0"/>
              <a:t>"After an incident..."</a:t>
            </a:r>
          </a:p>
          <a:p>
            <a:endParaRPr lang="en-US" dirty="0"/>
          </a:p>
          <a:p>
            <a:r>
              <a:rPr lang="en-US" dirty="0"/>
              <a:t>"We learn."</a:t>
            </a:r>
          </a:p>
          <a:p>
            <a:endParaRPr lang="en-US" dirty="0"/>
          </a:p>
          <a:p>
            <a:r>
              <a:rPr lang="en-US" dirty="0"/>
              <a:t>Ask:</a:t>
            </a:r>
          </a:p>
          <a:p>
            <a:endParaRPr lang="en-US" dirty="0"/>
          </a:p>
          <a:p>
            <a:r>
              <a:rPr lang="en-US" dirty="0"/>
              <a:t>What happened?</a:t>
            </a:r>
          </a:p>
          <a:p>
            <a:endParaRPr lang="en-US" dirty="0"/>
          </a:p>
          <a:p>
            <a:r>
              <a:rPr lang="en-US" dirty="0"/>
              <a:t>Why?</a:t>
            </a:r>
          </a:p>
          <a:p>
            <a:endParaRPr lang="en-US" dirty="0"/>
          </a:p>
          <a:p>
            <a:r>
              <a:rPr lang="en-US" dirty="0"/>
              <a:t>Could we have detected it earlier?</a:t>
            </a:r>
          </a:p>
          <a:p>
            <a:endParaRPr lang="en-US" dirty="0"/>
          </a:p>
          <a:p>
            <a:r>
              <a:rPr lang="en-US" dirty="0"/>
              <a:t>How do we prevent it?</a:t>
            </a:r>
          </a:p>
          <a:p>
            <a:endParaRPr lang="en-US" dirty="0"/>
          </a:p>
          <a:p>
            <a:r>
              <a:rPr lang="en-US" dirty="0"/>
              <a:t>------------------------------------------------------------</a:t>
            </a:r>
          </a:p>
          <a:p>
            <a:endParaRPr lang="en-US" dirty="0"/>
          </a:p>
          <a:p>
            <a:r>
              <a:rPr lang="en-US" dirty="0"/>
              <a:t>THE ALERTING LOOP</a:t>
            </a:r>
          </a:p>
          <a:p>
            <a:endParaRPr lang="en-US" dirty="0"/>
          </a:p>
          <a:p>
            <a:r>
              <a:rPr lang="en-US" dirty="0"/>
              <a:t>Write:</a:t>
            </a:r>
          </a:p>
          <a:p>
            <a:endParaRPr lang="en-US" dirty="0"/>
          </a:p>
          <a:p>
            <a:r>
              <a:rPr lang="en-US" dirty="0"/>
              <a:t>DETECT</a:t>
            </a:r>
          </a:p>
          <a:p>
            <a:endParaRPr lang="en-US" dirty="0"/>
          </a:p>
          <a:p>
            <a:r>
              <a:rPr lang="en-US" dirty="0"/>
              <a:t>↓</a:t>
            </a:r>
          </a:p>
          <a:p>
            <a:endParaRPr lang="en-US" dirty="0"/>
          </a:p>
          <a:p>
            <a:r>
              <a:rPr lang="en-US" dirty="0"/>
              <a:t>NOTIFY</a:t>
            </a:r>
          </a:p>
          <a:p>
            <a:endParaRPr lang="en-US" dirty="0"/>
          </a:p>
          <a:p>
            <a:r>
              <a:rPr lang="en-US" dirty="0"/>
              <a:t>↓</a:t>
            </a:r>
          </a:p>
          <a:p>
            <a:endParaRPr lang="en-US" dirty="0"/>
          </a:p>
          <a:p>
            <a:r>
              <a:rPr lang="en-US" dirty="0"/>
              <a:t>TRIAGE</a:t>
            </a:r>
          </a:p>
          <a:p>
            <a:endParaRPr lang="en-US" dirty="0"/>
          </a:p>
          <a:p>
            <a:r>
              <a:rPr lang="en-US" dirty="0"/>
              <a:t>↓</a:t>
            </a:r>
          </a:p>
          <a:p>
            <a:endParaRPr lang="en-US" dirty="0"/>
          </a:p>
          <a:p>
            <a:r>
              <a:rPr lang="en-US" dirty="0"/>
              <a:t>RESPOND</a:t>
            </a:r>
          </a:p>
          <a:p>
            <a:endParaRPr lang="en-US" dirty="0"/>
          </a:p>
          <a:p>
            <a:r>
              <a:rPr lang="en-US" dirty="0"/>
              <a:t>↓</a:t>
            </a:r>
          </a:p>
          <a:p>
            <a:endParaRPr lang="en-US" dirty="0"/>
          </a:p>
          <a:p>
            <a:r>
              <a:rPr lang="en-US" dirty="0"/>
              <a:t>REVIEW</a:t>
            </a:r>
          </a:p>
          <a:p>
            <a:endParaRPr lang="en-US" dirty="0"/>
          </a:p>
          <a:p>
            <a:r>
              <a:rPr lang="en-US" dirty="0"/>
              <a:t>Explain:</a:t>
            </a:r>
          </a:p>
          <a:p>
            <a:endParaRPr lang="en-US" dirty="0"/>
          </a:p>
          <a:p>
            <a:r>
              <a:rPr lang="en-US" dirty="0"/>
              <a:t>"This turns observability into operational improvement."</a:t>
            </a:r>
          </a:p>
          <a:p>
            <a:endParaRPr lang="en-US" dirty="0"/>
          </a:p>
          <a:p>
            <a:r>
              <a:rPr lang="en-US" dirty="0"/>
              <a:t>------------------------------------------------------------</a:t>
            </a:r>
          </a:p>
          <a:p>
            <a:endParaRPr lang="en-US" dirty="0"/>
          </a:p>
          <a:p>
            <a:r>
              <a:rPr lang="en-US" dirty="0"/>
              <a:t>OBSERVABILITY MINDSET</a:t>
            </a:r>
          </a:p>
          <a:p>
            <a:endParaRPr lang="en-US" dirty="0"/>
          </a:p>
          <a:p>
            <a:r>
              <a:rPr lang="en-US" dirty="0"/>
              <a:t>Point to the lower-left panel.</a:t>
            </a:r>
          </a:p>
          <a:p>
            <a:endParaRPr lang="en-US" dirty="0"/>
          </a:p>
          <a:p>
            <a:r>
              <a:rPr lang="en-US" dirty="0"/>
              <a:t>Review:</a:t>
            </a:r>
          </a:p>
          <a:p>
            <a:endParaRPr lang="en-US" dirty="0"/>
          </a:p>
          <a:p>
            <a:r>
              <a:rPr lang="en-US" dirty="0"/>
              <a:t>Instrument intentionally.</a:t>
            </a:r>
          </a:p>
          <a:p>
            <a:endParaRPr lang="en-US" dirty="0"/>
          </a:p>
          <a:p>
            <a:r>
              <a:rPr lang="en-US" dirty="0"/>
              <a:t>Collect the right data.</a:t>
            </a:r>
          </a:p>
          <a:p>
            <a:endParaRPr lang="en-US" dirty="0"/>
          </a:p>
          <a:p>
            <a:r>
              <a:rPr lang="en-US" dirty="0"/>
              <a:t>Correlate data.</a:t>
            </a:r>
          </a:p>
          <a:p>
            <a:endParaRPr lang="en-US" dirty="0"/>
          </a:p>
          <a:p>
            <a:r>
              <a:rPr lang="en-US" dirty="0"/>
              <a:t>Automate detection where possible.</a:t>
            </a:r>
          </a:p>
          <a:p>
            <a:endParaRPr lang="en-US" dirty="0"/>
          </a:p>
          <a:p>
            <a:r>
              <a:rPr lang="en-US" dirty="0"/>
              <a:t>Continuously improve visibility.</a:t>
            </a:r>
          </a:p>
          <a:p>
            <a:endParaRPr lang="en-US" dirty="0"/>
          </a:p>
          <a:p>
            <a:r>
              <a:rPr lang="en-US" dirty="0"/>
              <a:t>Explain:</a:t>
            </a:r>
          </a:p>
          <a:p>
            <a:endParaRPr lang="en-US" dirty="0"/>
          </a:p>
          <a:p>
            <a:r>
              <a:rPr lang="en-US" dirty="0"/>
              <a:t>"Observability is a discipline."</a:t>
            </a:r>
          </a:p>
          <a:p>
            <a:endParaRPr lang="en-US" dirty="0"/>
          </a:p>
          <a:p>
            <a:r>
              <a:rPr lang="en-US" dirty="0"/>
              <a:t>Not:</a:t>
            </a:r>
          </a:p>
          <a:p>
            <a:endParaRPr lang="en-US" dirty="0"/>
          </a:p>
          <a:p>
            <a:r>
              <a:rPr lang="en-US" dirty="0"/>
              <a:t>"Turn on every logging option."</a:t>
            </a:r>
          </a:p>
          <a:p>
            <a:endParaRPr lang="en-US" dirty="0"/>
          </a:p>
          <a:p>
            <a:r>
              <a:rPr lang="en-US" dirty="0"/>
              <a:t>------------------------------------------------------------</a:t>
            </a:r>
          </a:p>
          <a:p>
            <a:endParaRPr lang="en-US" dirty="0"/>
          </a:p>
          <a:p>
            <a:r>
              <a:rPr lang="en-US" dirty="0"/>
              <a:t>INSTRUMENT INTENTIONALLY</a:t>
            </a:r>
          </a:p>
          <a:p>
            <a:endParaRPr lang="en-US" dirty="0"/>
          </a:p>
          <a:p>
            <a:r>
              <a:rPr lang="en-US" dirty="0"/>
              <a:t>Ask:</a:t>
            </a:r>
          </a:p>
          <a:p>
            <a:endParaRPr lang="en-US" dirty="0"/>
          </a:p>
          <a:p>
            <a:r>
              <a:rPr lang="en-US" dirty="0"/>
              <a:t>"What information helps us answer an important question?"</a:t>
            </a:r>
          </a:p>
          <a:p>
            <a:endParaRPr lang="en-US" dirty="0"/>
          </a:p>
          <a:p>
            <a:r>
              <a:rPr lang="en-US" dirty="0"/>
              <a:t>If we don't know what question we're trying to answer...</a:t>
            </a:r>
          </a:p>
          <a:p>
            <a:endParaRPr lang="en-US" dirty="0"/>
          </a:p>
          <a:p>
            <a:r>
              <a:rPr lang="en-US" dirty="0"/>
              <a:t>"We probably don't need the telemetry."</a:t>
            </a:r>
          </a:p>
          <a:p>
            <a:endParaRPr lang="en-US" dirty="0"/>
          </a:p>
          <a:p>
            <a:r>
              <a:rPr lang="en-US" dirty="0"/>
              <a:t>------------------------------------------------------------</a:t>
            </a:r>
          </a:p>
          <a:p>
            <a:endParaRPr lang="en-US" dirty="0"/>
          </a:p>
          <a:p>
            <a:r>
              <a:rPr lang="en-US" dirty="0"/>
              <a:t>COLLECT THE RIGHT DATA</a:t>
            </a:r>
          </a:p>
          <a:p>
            <a:endParaRPr lang="en-US" dirty="0"/>
          </a:p>
          <a:p>
            <a:r>
              <a:rPr lang="en-US" dirty="0"/>
              <a:t>Explain:</a:t>
            </a:r>
          </a:p>
          <a:p>
            <a:endParaRPr lang="en-US" dirty="0"/>
          </a:p>
          <a:p>
            <a:r>
              <a:rPr lang="en-US" dirty="0"/>
              <a:t>"More data isn't automatically better."</a:t>
            </a:r>
          </a:p>
          <a:p>
            <a:endParaRPr lang="en-US" dirty="0"/>
          </a:p>
          <a:p>
            <a:r>
              <a:rPr lang="en-US" dirty="0"/>
              <a:t>Too much data can create:</a:t>
            </a:r>
          </a:p>
          <a:p>
            <a:endParaRPr lang="en-US" dirty="0"/>
          </a:p>
          <a:p>
            <a:r>
              <a:rPr lang="en-US" dirty="0"/>
              <a:t>Noise.</a:t>
            </a:r>
          </a:p>
          <a:p>
            <a:endParaRPr lang="en-US" dirty="0"/>
          </a:p>
          <a:p>
            <a:r>
              <a:rPr lang="en-US" dirty="0"/>
              <a:t>Storage costs.</a:t>
            </a:r>
          </a:p>
          <a:p>
            <a:endParaRPr lang="en-US" dirty="0"/>
          </a:p>
          <a:p>
            <a:r>
              <a:rPr lang="en-US" dirty="0"/>
              <a:t>Difficulty finding useful information.</a:t>
            </a:r>
          </a:p>
          <a:p>
            <a:endParaRPr lang="en-US" dirty="0"/>
          </a:p>
          <a:p>
            <a:r>
              <a:rPr lang="en-US" dirty="0"/>
              <a:t>Privacy problems.</a:t>
            </a:r>
          </a:p>
          <a:p>
            <a:endParaRPr lang="en-US" dirty="0"/>
          </a:p>
          <a:p>
            <a:r>
              <a:rPr lang="en-US" dirty="0"/>
              <a:t>------------------------------------------------------------</a:t>
            </a:r>
          </a:p>
          <a:p>
            <a:endParaRPr lang="en-US" dirty="0"/>
          </a:p>
          <a:p>
            <a:r>
              <a:rPr lang="en-US" dirty="0"/>
              <a:t>CORRELATE DATA</a:t>
            </a:r>
          </a:p>
          <a:p>
            <a:endParaRPr lang="en-US" dirty="0"/>
          </a:p>
          <a:p>
            <a:r>
              <a:rPr lang="en-US" dirty="0"/>
              <a:t>Explain:</a:t>
            </a:r>
          </a:p>
          <a:p>
            <a:endParaRPr lang="en-US" dirty="0"/>
          </a:p>
          <a:p>
            <a:r>
              <a:rPr lang="en-US" dirty="0"/>
              <a:t>"One signal can tell part of the story."</a:t>
            </a:r>
          </a:p>
          <a:p>
            <a:endParaRPr lang="en-US" dirty="0"/>
          </a:p>
          <a:p>
            <a:r>
              <a:rPr lang="en-US" dirty="0"/>
              <a:t>Example:</a:t>
            </a:r>
          </a:p>
          <a:p>
            <a:endParaRPr lang="en-US" dirty="0"/>
          </a:p>
          <a:p>
            <a:r>
              <a:rPr lang="en-US" dirty="0"/>
              <a:t>Error rate increases.</a:t>
            </a:r>
          </a:p>
          <a:p>
            <a:endParaRPr lang="en-US" dirty="0"/>
          </a:p>
          <a:p>
            <a:r>
              <a:rPr lang="en-US" dirty="0"/>
              <a:t>Response time increases.</a:t>
            </a:r>
          </a:p>
          <a:p>
            <a:endParaRPr lang="en-US" dirty="0"/>
          </a:p>
          <a:p>
            <a:r>
              <a:rPr lang="en-US" dirty="0"/>
              <a:t>Database query time increases.</a:t>
            </a:r>
          </a:p>
          <a:p>
            <a:endParaRPr lang="en-US" dirty="0"/>
          </a:p>
          <a:p>
            <a:r>
              <a:rPr lang="en-US" dirty="0"/>
              <a:t>Together:</a:t>
            </a:r>
          </a:p>
          <a:p>
            <a:endParaRPr lang="en-US" dirty="0"/>
          </a:p>
          <a:p>
            <a:r>
              <a:rPr lang="en-US" dirty="0"/>
              <a:t>"We may have a database performance problem."</a:t>
            </a:r>
          </a:p>
          <a:p>
            <a:endParaRPr lang="en-US" dirty="0"/>
          </a:p>
          <a:p>
            <a:r>
              <a:rPr lang="en-US" dirty="0"/>
              <a:t>That's correlation.</a:t>
            </a:r>
          </a:p>
          <a:p>
            <a:endParaRPr lang="en-US" dirty="0"/>
          </a:p>
          <a:p>
            <a:r>
              <a:rPr lang="en-US" dirty="0"/>
              <a:t>------------------------------------------------------------</a:t>
            </a:r>
          </a:p>
          <a:p>
            <a:endParaRPr lang="en-US" dirty="0"/>
          </a:p>
          <a:p>
            <a:r>
              <a:rPr lang="en-US" dirty="0"/>
              <a:t>AUTOMATE WHERE POSSIBLE</a:t>
            </a:r>
          </a:p>
          <a:p>
            <a:endParaRPr lang="en-US" dirty="0"/>
          </a:p>
          <a:p>
            <a:r>
              <a:rPr lang="en-US" dirty="0"/>
              <a:t>Explain:</a:t>
            </a:r>
          </a:p>
          <a:p>
            <a:endParaRPr lang="en-US" dirty="0"/>
          </a:p>
          <a:p>
            <a:r>
              <a:rPr lang="en-US" dirty="0"/>
              <a:t>"People shouldn't have to stare at dashboards all day."</a:t>
            </a:r>
          </a:p>
          <a:p>
            <a:endParaRPr lang="en-US" dirty="0"/>
          </a:p>
          <a:p>
            <a:r>
              <a:rPr lang="en-US" dirty="0"/>
              <a:t>Automate:</a:t>
            </a:r>
          </a:p>
          <a:p>
            <a:endParaRPr lang="en-US" dirty="0"/>
          </a:p>
          <a:p>
            <a:r>
              <a:rPr lang="en-US" dirty="0"/>
              <a:t>Health checks.</a:t>
            </a:r>
          </a:p>
          <a:p>
            <a:endParaRPr lang="en-US" dirty="0"/>
          </a:p>
          <a:p>
            <a:r>
              <a:rPr lang="en-US" dirty="0"/>
              <a:t>Alerts.</a:t>
            </a:r>
          </a:p>
          <a:p>
            <a:endParaRPr lang="en-US" dirty="0"/>
          </a:p>
          <a:p>
            <a:r>
              <a:rPr lang="en-US" dirty="0"/>
              <a:t>Threshold detection.</a:t>
            </a:r>
          </a:p>
          <a:p>
            <a:endParaRPr lang="en-US" dirty="0"/>
          </a:p>
          <a:p>
            <a:r>
              <a:rPr lang="en-US" dirty="0"/>
              <a:t>Routine notifications.</a:t>
            </a:r>
          </a:p>
          <a:p>
            <a:endParaRPr lang="en-US" dirty="0"/>
          </a:p>
          <a:p>
            <a:r>
              <a:rPr lang="en-US" dirty="0"/>
              <a:t>------------------------------------------------------------</a:t>
            </a:r>
          </a:p>
          <a:p>
            <a:endParaRPr lang="en-US" dirty="0"/>
          </a:p>
          <a:p>
            <a:r>
              <a:rPr lang="en-US" dirty="0"/>
              <a:t>CONTINUOUSLY IMPROVE</a:t>
            </a:r>
          </a:p>
          <a:p>
            <a:endParaRPr lang="en-US" dirty="0"/>
          </a:p>
          <a:p>
            <a:r>
              <a:rPr lang="en-US" dirty="0"/>
              <a:t>Say:</a:t>
            </a:r>
          </a:p>
          <a:p>
            <a:endParaRPr lang="en-US" dirty="0"/>
          </a:p>
          <a:p>
            <a:r>
              <a:rPr lang="en-US" dirty="0"/>
              <a:t>"Every incident teaches us something."</a:t>
            </a:r>
          </a:p>
          <a:p>
            <a:endParaRPr lang="en-US" dirty="0"/>
          </a:p>
          <a:p>
            <a:r>
              <a:rPr lang="en-US" dirty="0"/>
              <a:t>Maybe we need:</a:t>
            </a:r>
          </a:p>
          <a:p>
            <a:endParaRPr lang="en-US" dirty="0"/>
          </a:p>
          <a:p>
            <a:r>
              <a:rPr lang="en-US" dirty="0"/>
              <a:t>A better log.</a:t>
            </a:r>
          </a:p>
          <a:p>
            <a:endParaRPr lang="en-US" dirty="0"/>
          </a:p>
          <a:p>
            <a:r>
              <a:rPr lang="en-US" dirty="0"/>
              <a:t>A new metric.</a:t>
            </a:r>
          </a:p>
          <a:p>
            <a:endParaRPr lang="en-US" dirty="0"/>
          </a:p>
          <a:p>
            <a:r>
              <a:rPr lang="en-US" dirty="0"/>
              <a:t>A better alert.</a:t>
            </a:r>
          </a:p>
          <a:p>
            <a:endParaRPr lang="en-US" dirty="0"/>
          </a:p>
          <a:p>
            <a:r>
              <a:rPr lang="en-US" dirty="0"/>
              <a:t>A health check.</a:t>
            </a:r>
          </a:p>
          <a:p>
            <a:endParaRPr lang="en-US" dirty="0"/>
          </a:p>
          <a:p>
            <a:r>
              <a:rPr lang="en-US" dirty="0"/>
              <a:t>A dashboard.</a:t>
            </a:r>
          </a:p>
          <a:p>
            <a:endParaRPr lang="en-US" dirty="0"/>
          </a:p>
          <a:p>
            <a:r>
              <a:rPr lang="en-US" dirty="0"/>
              <a:t>Explain:</a:t>
            </a:r>
          </a:p>
          <a:p>
            <a:endParaRPr lang="en-US" dirty="0"/>
          </a:p>
          <a:p>
            <a:r>
              <a:rPr lang="en-US" dirty="0"/>
              <a:t>"Observability improves over time."</a:t>
            </a:r>
          </a:p>
          <a:p>
            <a:endParaRPr lang="en-US" dirty="0"/>
          </a:p>
          <a:p>
            <a:r>
              <a:rPr lang="en-US" dirty="0"/>
              <a:t>------------------------------------------------------------</a:t>
            </a:r>
          </a:p>
          <a:p>
            <a:endParaRPr lang="en-US" dirty="0"/>
          </a:p>
          <a:p>
            <a:r>
              <a:rPr lang="en-US" dirty="0"/>
              <a:t>OBSERVABILITY CHECKLIST</a:t>
            </a:r>
          </a:p>
          <a:p>
            <a:endParaRPr lang="en-US" dirty="0"/>
          </a:p>
          <a:p>
            <a:r>
              <a:rPr lang="en-US" dirty="0"/>
              <a:t>Move to the checklist.</a:t>
            </a:r>
          </a:p>
          <a:p>
            <a:endParaRPr lang="en-US" dirty="0"/>
          </a:p>
          <a:p>
            <a:r>
              <a:rPr lang="en-US" dirty="0"/>
              <a:t>Review:</a:t>
            </a:r>
          </a:p>
          <a:p>
            <a:endParaRPr lang="en-US" dirty="0"/>
          </a:p>
          <a:p>
            <a:r>
              <a:rPr lang="en-US" dirty="0"/>
              <a:t>Application health endpoint.</a:t>
            </a:r>
          </a:p>
          <a:p>
            <a:endParaRPr lang="en-US" dirty="0"/>
          </a:p>
          <a:p>
            <a:r>
              <a:rPr lang="en-US" dirty="0"/>
              <a:t>Structured logging.</a:t>
            </a:r>
          </a:p>
          <a:p>
            <a:endParaRPr lang="en-US" dirty="0"/>
          </a:p>
          <a:p>
            <a:r>
              <a:rPr lang="en-US" dirty="0"/>
              <a:t>Important events logged.</a:t>
            </a:r>
          </a:p>
          <a:p>
            <a:endParaRPr lang="en-US" dirty="0"/>
          </a:p>
          <a:p>
            <a:r>
              <a:rPr lang="en-US" dirty="0"/>
              <a:t>Key metrics collected.</a:t>
            </a:r>
          </a:p>
          <a:p>
            <a:endParaRPr lang="en-US" dirty="0"/>
          </a:p>
          <a:p>
            <a:r>
              <a:rPr lang="en-US" dirty="0"/>
              <a:t>Dashboards available.</a:t>
            </a:r>
          </a:p>
          <a:p>
            <a:endParaRPr lang="en-US" dirty="0"/>
          </a:p>
          <a:p>
            <a:r>
              <a:rPr lang="en-US" dirty="0"/>
              <a:t>Alerts configured and tested.</a:t>
            </a:r>
          </a:p>
          <a:p>
            <a:endParaRPr lang="en-US" dirty="0"/>
          </a:p>
          <a:p>
            <a:r>
              <a:rPr lang="en-US" dirty="0"/>
              <a:t>External service health monitored.</a:t>
            </a:r>
          </a:p>
          <a:p>
            <a:endParaRPr lang="en-US" dirty="0"/>
          </a:p>
          <a:p>
            <a:r>
              <a:rPr lang="en-US" dirty="0"/>
              <a:t>Error rates tracked.</a:t>
            </a:r>
          </a:p>
          <a:p>
            <a:endParaRPr lang="en-US" dirty="0"/>
          </a:p>
          <a:p>
            <a:r>
              <a:rPr lang="en-US" dirty="0"/>
              <a:t>Latency tracked.</a:t>
            </a:r>
          </a:p>
          <a:p>
            <a:endParaRPr lang="en-US" dirty="0"/>
          </a:p>
          <a:p>
            <a:r>
              <a:rPr lang="en-US" dirty="0"/>
              <a:t>Telemetry retained appropriately.</a:t>
            </a:r>
          </a:p>
          <a:p>
            <a:endParaRPr lang="en-US" dirty="0"/>
          </a:p>
          <a:p>
            <a:r>
              <a:rPr lang="en-US" dirty="0"/>
              <a:t>Ask:</a:t>
            </a:r>
          </a:p>
          <a:p>
            <a:endParaRPr lang="en-US" dirty="0"/>
          </a:p>
          <a:p>
            <a:r>
              <a:rPr lang="en-US" dirty="0"/>
              <a:t>"Which of these does Atlas already have?"</a:t>
            </a:r>
          </a:p>
          <a:p>
            <a:endParaRPr lang="en-US" dirty="0"/>
          </a:p>
          <a:p>
            <a:r>
              <a:rPr lang="en-US" dirty="0"/>
              <a:t>"Which are missing?"</a:t>
            </a:r>
          </a:p>
          <a:p>
            <a:endParaRPr lang="en-US" dirty="0"/>
          </a:p>
          <a:p>
            <a:r>
              <a:rPr lang="en-US" dirty="0"/>
              <a:t>------------------------------------------------------------</a:t>
            </a:r>
          </a:p>
          <a:p>
            <a:endParaRPr lang="en-US" dirty="0"/>
          </a:p>
          <a:p>
            <a:r>
              <a:rPr lang="en-US" dirty="0"/>
              <a:t>NO VISIBILITY = SLOW RESPONSE</a:t>
            </a:r>
          </a:p>
          <a:p>
            <a:endParaRPr lang="en-US" dirty="0"/>
          </a:p>
          <a:p>
            <a:r>
              <a:rPr lang="en-US" dirty="0"/>
              <a:t>Point to the red statement.</a:t>
            </a:r>
          </a:p>
          <a:p>
            <a:endParaRPr lang="en-US" dirty="0"/>
          </a:p>
          <a:p>
            <a:r>
              <a:rPr lang="en-US" dirty="0"/>
              <a:t>Read:</a:t>
            </a:r>
          </a:p>
          <a:p>
            <a:endParaRPr lang="en-US" dirty="0"/>
          </a:p>
          <a:p>
            <a:r>
              <a:rPr lang="en-US" dirty="0"/>
              <a:t>"No visibility = slow response = unhappy users."</a:t>
            </a:r>
          </a:p>
          <a:p>
            <a:endParaRPr lang="en-US" dirty="0"/>
          </a:p>
          <a:p>
            <a:r>
              <a:rPr lang="en-US" dirty="0"/>
              <a:t>Explain:</a:t>
            </a:r>
          </a:p>
          <a:p>
            <a:endParaRPr lang="en-US" dirty="0"/>
          </a:p>
          <a:p>
            <a:r>
              <a:rPr lang="en-US" dirty="0"/>
              <a:t>"If we don't know there's a problem..."</a:t>
            </a:r>
          </a:p>
          <a:p>
            <a:endParaRPr lang="en-US" dirty="0"/>
          </a:p>
          <a:p>
            <a:r>
              <a:rPr lang="en-US" dirty="0"/>
              <a:t>"We can't respond quickly."</a:t>
            </a:r>
          </a:p>
          <a:p>
            <a:endParaRPr lang="en-US" dirty="0"/>
          </a:p>
          <a:p>
            <a:r>
              <a:rPr lang="en-US" dirty="0"/>
              <a:t>And:</a:t>
            </a:r>
          </a:p>
          <a:p>
            <a:endParaRPr lang="en-US" dirty="0"/>
          </a:p>
          <a:p>
            <a:r>
              <a:rPr lang="en-US" dirty="0"/>
              <a:t>"The longer users experience a problem..."</a:t>
            </a:r>
          </a:p>
          <a:p>
            <a:endParaRPr lang="en-US" dirty="0"/>
          </a:p>
          <a:p>
            <a:r>
              <a:rPr lang="en-US" dirty="0"/>
              <a:t>"The more trust we lose."</a:t>
            </a:r>
          </a:p>
          <a:p>
            <a:endParaRPr lang="en-US" dirty="0"/>
          </a:p>
          <a:p>
            <a:r>
              <a:rPr lang="en-US" dirty="0"/>
              <a:t>Connect back to Sprint 6.</a:t>
            </a:r>
          </a:p>
          <a:p>
            <a:endParaRPr lang="en-US" dirty="0"/>
          </a:p>
          <a:p>
            <a:r>
              <a:rPr lang="en-US" dirty="0"/>
              <a:t>------------------------------------------------------------</a:t>
            </a:r>
          </a:p>
          <a:p>
            <a:endParaRPr lang="en-US" dirty="0"/>
          </a:p>
          <a:p>
            <a:r>
              <a:rPr lang="en-US" dirty="0"/>
              <a:t>BUILD CHALLENGE</a:t>
            </a:r>
          </a:p>
          <a:p>
            <a:endParaRPr lang="en-US" dirty="0"/>
          </a:p>
          <a:p>
            <a:r>
              <a:rPr lang="en-US" dirty="0"/>
              <a:t>Tell students:</a:t>
            </a:r>
          </a:p>
          <a:p>
            <a:endParaRPr lang="en-US" dirty="0"/>
          </a:p>
          <a:p>
            <a:r>
              <a:rPr lang="en-US" dirty="0"/>
              <a:t>"You're going to make Atlas observable."</a:t>
            </a:r>
          </a:p>
          <a:p>
            <a:endParaRPr lang="en-US" dirty="0"/>
          </a:p>
          <a:p>
            <a:r>
              <a:rPr lang="en-US" dirty="0"/>
              <a:t>Minimum requirements:</a:t>
            </a:r>
          </a:p>
          <a:p>
            <a:endParaRPr lang="en-US" dirty="0"/>
          </a:p>
          <a:p>
            <a:r>
              <a:rPr lang="en-US" dirty="0"/>
              <a:t>1. Add or review application logging.</a:t>
            </a:r>
          </a:p>
          <a:p>
            <a:endParaRPr lang="en-US" dirty="0"/>
          </a:p>
          <a:p>
            <a:r>
              <a:rPr lang="en-US" dirty="0"/>
              <a:t>2. Identify important application events.</a:t>
            </a:r>
          </a:p>
          <a:p>
            <a:endParaRPr lang="en-US" dirty="0"/>
          </a:p>
          <a:p>
            <a:r>
              <a:rPr lang="en-US" dirty="0"/>
              <a:t>3. Identify useful metrics.</a:t>
            </a:r>
          </a:p>
          <a:p>
            <a:endParaRPr lang="en-US" dirty="0"/>
          </a:p>
          <a:p>
            <a:r>
              <a:rPr lang="en-US" dirty="0"/>
              <a:t>4. Create or configure a health check.</a:t>
            </a:r>
          </a:p>
          <a:p>
            <a:endParaRPr lang="en-US" dirty="0"/>
          </a:p>
          <a:p>
            <a:r>
              <a:rPr lang="en-US" dirty="0"/>
              <a:t>5. Identify critical dependencies.</a:t>
            </a:r>
          </a:p>
          <a:p>
            <a:endParaRPr lang="en-US" dirty="0"/>
          </a:p>
          <a:p>
            <a:r>
              <a:rPr lang="en-US" dirty="0"/>
              <a:t>6. Define at least a few meaningful alerts or monitoring conditions.</a:t>
            </a:r>
          </a:p>
          <a:p>
            <a:endParaRPr lang="en-US" dirty="0"/>
          </a:p>
          <a:p>
            <a:r>
              <a:rPr lang="en-US" dirty="0"/>
              <a:t>7. Create a simple dashboard or monitoring view if the environment</a:t>
            </a:r>
          </a:p>
          <a:p>
            <a:r>
              <a:rPr lang="en-US" dirty="0"/>
              <a:t>supports it.</a:t>
            </a:r>
          </a:p>
          <a:p>
            <a:endParaRPr lang="en-US" dirty="0"/>
          </a:p>
          <a:p>
            <a:r>
              <a:rPr lang="en-US" dirty="0"/>
              <a:t>8. Document what each signal tells you.</a:t>
            </a:r>
          </a:p>
          <a:p>
            <a:endParaRPr lang="en-US" dirty="0"/>
          </a:p>
          <a:p>
            <a:r>
              <a:rPr lang="en-US" dirty="0"/>
              <a:t>------------------------------------------------------------</a:t>
            </a:r>
          </a:p>
          <a:p>
            <a:endParaRPr lang="en-US" dirty="0"/>
          </a:p>
          <a:p>
            <a:r>
              <a:rPr lang="en-US" dirty="0"/>
              <a:t>OBSERVABILITY DESIGN QUESTION</a:t>
            </a:r>
          </a:p>
          <a:p>
            <a:endParaRPr lang="en-US" dirty="0"/>
          </a:p>
          <a:p>
            <a:r>
              <a:rPr lang="en-US" dirty="0"/>
              <a:t>For every metric or log ask:</a:t>
            </a:r>
          </a:p>
          <a:p>
            <a:endParaRPr lang="en-US" dirty="0"/>
          </a:p>
          <a:p>
            <a:r>
              <a:rPr lang="en-US" dirty="0"/>
              <a:t>"What question does this answer?"</a:t>
            </a:r>
          </a:p>
          <a:p>
            <a:endParaRPr lang="en-US" dirty="0"/>
          </a:p>
          <a:p>
            <a:r>
              <a:rPr lang="en-US" dirty="0"/>
              <a:t>Example:</a:t>
            </a:r>
          </a:p>
          <a:p>
            <a:endParaRPr lang="en-US" dirty="0"/>
          </a:p>
          <a:p>
            <a:r>
              <a:rPr lang="en-US" dirty="0"/>
              <a:t>Metric:</a:t>
            </a:r>
          </a:p>
          <a:p>
            <a:endParaRPr lang="en-US" dirty="0"/>
          </a:p>
          <a:p>
            <a:r>
              <a:rPr lang="en-US" dirty="0"/>
              <a:t>Error rate.</a:t>
            </a:r>
          </a:p>
          <a:p>
            <a:endParaRPr lang="en-US" dirty="0"/>
          </a:p>
          <a:p>
            <a:r>
              <a:rPr lang="en-US" dirty="0"/>
              <a:t>Question:</a:t>
            </a:r>
          </a:p>
          <a:p>
            <a:endParaRPr lang="en-US" dirty="0"/>
          </a:p>
          <a:p>
            <a:r>
              <a:rPr lang="en-US" dirty="0"/>
              <a:t>"Are failures increasing?"</a:t>
            </a:r>
          </a:p>
          <a:p>
            <a:endParaRPr lang="en-US" dirty="0"/>
          </a:p>
          <a:p>
            <a:r>
              <a:rPr lang="en-US" dirty="0"/>
              <a:t>Health check:</a:t>
            </a:r>
          </a:p>
          <a:p>
            <a:endParaRPr lang="en-US" dirty="0"/>
          </a:p>
          <a:p>
            <a:r>
              <a:rPr lang="en-US" dirty="0"/>
              <a:t>"Is the application available?"</a:t>
            </a:r>
          </a:p>
          <a:p>
            <a:endParaRPr lang="en-US" dirty="0"/>
          </a:p>
          <a:p>
            <a:r>
              <a:rPr lang="en-US" dirty="0"/>
              <a:t>Response time:</a:t>
            </a:r>
          </a:p>
          <a:p>
            <a:endParaRPr lang="en-US" dirty="0"/>
          </a:p>
          <a:p>
            <a:r>
              <a:rPr lang="en-US" dirty="0"/>
              <a:t>"Is Atlas getting slower?"</a:t>
            </a:r>
          </a:p>
          <a:p>
            <a:endParaRPr lang="en-US" dirty="0"/>
          </a:p>
          <a:p>
            <a:r>
              <a:rPr lang="en-US" dirty="0"/>
              <a:t>Database connections:</a:t>
            </a:r>
          </a:p>
          <a:p>
            <a:endParaRPr lang="en-US" dirty="0"/>
          </a:p>
          <a:p>
            <a:r>
              <a:rPr lang="en-US" dirty="0"/>
              <a:t>"Is the database becoming constrained?"</a:t>
            </a:r>
          </a:p>
          <a:p>
            <a:endParaRPr lang="en-US" dirty="0"/>
          </a:p>
          <a:p>
            <a:r>
              <a:rPr lang="en-US" dirty="0"/>
              <a:t>------------------------------------------------------------</a:t>
            </a:r>
          </a:p>
          <a:p>
            <a:endParaRPr lang="en-US" dirty="0"/>
          </a:p>
          <a:p>
            <a:r>
              <a:rPr lang="en-US" dirty="0"/>
              <a:t>TESTING OBSERVABILITY</a:t>
            </a:r>
          </a:p>
          <a:p>
            <a:endParaRPr lang="en-US" dirty="0"/>
          </a:p>
          <a:p>
            <a:r>
              <a:rPr lang="en-US" dirty="0"/>
              <a:t>Important:</a:t>
            </a:r>
          </a:p>
          <a:p>
            <a:endParaRPr lang="en-US" dirty="0"/>
          </a:p>
          <a:p>
            <a:r>
              <a:rPr lang="en-US" dirty="0"/>
              <a:t>"Don't just configure monitoring."</a:t>
            </a:r>
          </a:p>
          <a:p>
            <a:endParaRPr lang="en-US" dirty="0"/>
          </a:p>
          <a:p>
            <a:r>
              <a:rPr lang="en-US" dirty="0"/>
              <a:t>"Test it."</a:t>
            </a:r>
          </a:p>
          <a:p>
            <a:endParaRPr lang="en-US" dirty="0"/>
          </a:p>
          <a:p>
            <a:r>
              <a:rPr lang="en-US" dirty="0"/>
              <a:t>Example:</a:t>
            </a:r>
          </a:p>
          <a:p>
            <a:endParaRPr lang="en-US" dirty="0"/>
          </a:p>
          <a:p>
            <a:r>
              <a:rPr lang="en-US" dirty="0"/>
              <a:t>Cause a controlled application error.</a:t>
            </a:r>
          </a:p>
          <a:p>
            <a:endParaRPr lang="en-US" dirty="0"/>
          </a:p>
          <a:p>
            <a:r>
              <a:rPr lang="en-US" dirty="0"/>
              <a:t>Ask:</a:t>
            </a:r>
          </a:p>
          <a:p>
            <a:endParaRPr lang="en-US" dirty="0"/>
          </a:p>
          <a:p>
            <a:r>
              <a:rPr lang="en-US" dirty="0"/>
              <a:t>"Did the error appear in the logs?"</a:t>
            </a:r>
          </a:p>
          <a:p>
            <a:endParaRPr lang="en-US" dirty="0"/>
          </a:p>
          <a:p>
            <a:r>
              <a:rPr lang="en-US" dirty="0"/>
              <a:t>Cause a health-check failure if practical.</a:t>
            </a:r>
          </a:p>
          <a:p>
            <a:endParaRPr lang="en-US" dirty="0"/>
          </a:p>
          <a:p>
            <a:r>
              <a:rPr lang="en-US" dirty="0"/>
              <a:t>Ask:</a:t>
            </a:r>
          </a:p>
          <a:p>
            <a:endParaRPr lang="en-US" dirty="0"/>
          </a:p>
          <a:p>
            <a:r>
              <a:rPr lang="en-US" dirty="0"/>
              <a:t>"Did the monitoring system detect it?"</a:t>
            </a:r>
          </a:p>
          <a:p>
            <a:endParaRPr lang="en-US" dirty="0"/>
          </a:p>
          <a:p>
            <a:r>
              <a:rPr lang="en-US" dirty="0"/>
              <a:t>Generate activity.</a:t>
            </a:r>
          </a:p>
          <a:p>
            <a:endParaRPr lang="en-US" dirty="0"/>
          </a:p>
          <a:p>
            <a:r>
              <a:rPr lang="en-US" dirty="0"/>
              <a:t>Ask:</a:t>
            </a:r>
          </a:p>
          <a:p>
            <a:endParaRPr lang="en-US" dirty="0"/>
          </a:p>
          <a:p>
            <a:r>
              <a:rPr lang="en-US" dirty="0"/>
              <a:t>"Did the metric change?"</a:t>
            </a:r>
          </a:p>
          <a:p>
            <a:endParaRPr lang="en-US" dirty="0"/>
          </a:p>
          <a:p>
            <a:r>
              <a:rPr lang="en-US" dirty="0"/>
              <a:t>Explain:</a:t>
            </a:r>
          </a:p>
          <a:p>
            <a:endParaRPr lang="en-US" dirty="0"/>
          </a:p>
          <a:p>
            <a:r>
              <a:rPr lang="en-US" dirty="0"/>
              <a:t>"Observability needs testing just like our application does."</a:t>
            </a:r>
          </a:p>
          <a:p>
            <a:endParaRPr lang="en-US" dirty="0"/>
          </a:p>
          <a:p>
            <a:r>
              <a:rPr lang="en-US" dirty="0"/>
              <a:t>------------------------------------------------------------</a:t>
            </a:r>
          </a:p>
          <a:p>
            <a:endParaRPr lang="en-US" dirty="0"/>
          </a:p>
          <a:p>
            <a:r>
              <a:rPr lang="en-US" dirty="0"/>
              <a:t>FALSE POSITIVES</a:t>
            </a:r>
          </a:p>
          <a:p>
            <a:endParaRPr lang="en-US" dirty="0"/>
          </a:p>
          <a:p>
            <a:r>
              <a:rPr lang="en-US" dirty="0"/>
              <a:t>Briefly introduce.</a:t>
            </a:r>
          </a:p>
          <a:p>
            <a:endParaRPr lang="en-US" dirty="0"/>
          </a:p>
          <a:p>
            <a:r>
              <a:rPr lang="en-US" dirty="0"/>
              <a:t>Ask:</a:t>
            </a:r>
          </a:p>
          <a:p>
            <a:endParaRPr lang="en-US" dirty="0"/>
          </a:p>
          <a:p>
            <a:r>
              <a:rPr lang="en-US" dirty="0"/>
              <a:t>"What happens if we get an alert every five minutes..."</a:t>
            </a:r>
          </a:p>
          <a:p>
            <a:endParaRPr lang="en-US" dirty="0"/>
          </a:p>
          <a:p>
            <a:r>
              <a:rPr lang="en-US" dirty="0"/>
              <a:t>"...and nothing is actually wrong?"</a:t>
            </a:r>
          </a:p>
          <a:p>
            <a:endParaRPr lang="en-US" dirty="0"/>
          </a:p>
          <a:p>
            <a:r>
              <a:rPr lang="en-US" dirty="0"/>
              <a:t>People start ignoring alerts.</a:t>
            </a:r>
          </a:p>
          <a:p>
            <a:endParaRPr lang="en-US" dirty="0"/>
          </a:p>
          <a:p>
            <a:r>
              <a:rPr lang="en-US" dirty="0"/>
              <a:t>Explain:</a:t>
            </a:r>
          </a:p>
          <a:p>
            <a:endParaRPr lang="en-US" dirty="0"/>
          </a:p>
          <a:p>
            <a:r>
              <a:rPr lang="en-US" dirty="0"/>
              <a:t>"Too many meaningless alerts create alert fatigue."</a:t>
            </a:r>
          </a:p>
          <a:p>
            <a:endParaRPr lang="en-US" dirty="0"/>
          </a:p>
          <a:p>
            <a:r>
              <a:rPr lang="en-US" dirty="0"/>
              <a:t>Good alerts should matter.</a:t>
            </a:r>
          </a:p>
          <a:p>
            <a:endParaRPr lang="en-US" dirty="0"/>
          </a:p>
          <a:p>
            <a:r>
              <a:rPr lang="en-US" dirty="0"/>
              <a:t>------------------------------------------------------------</a:t>
            </a:r>
          </a:p>
          <a:p>
            <a:endParaRPr lang="en-US" dirty="0"/>
          </a:p>
          <a:p>
            <a:r>
              <a:rPr lang="en-US" dirty="0"/>
              <a:t>FALSE NEGATIVES</a:t>
            </a:r>
          </a:p>
          <a:p>
            <a:endParaRPr lang="en-US" dirty="0"/>
          </a:p>
          <a:p>
            <a:r>
              <a:rPr lang="en-US" dirty="0"/>
              <a:t>The opposite problem.</a:t>
            </a:r>
          </a:p>
          <a:p>
            <a:endParaRPr lang="en-US" dirty="0"/>
          </a:p>
          <a:p>
            <a:r>
              <a:rPr lang="en-US" dirty="0"/>
              <a:t>"Something is wrong..."</a:t>
            </a:r>
          </a:p>
          <a:p>
            <a:endParaRPr lang="en-US" dirty="0"/>
          </a:p>
          <a:p>
            <a:r>
              <a:rPr lang="en-US" dirty="0"/>
              <a:t>"But nobody gets alerted."</a:t>
            </a:r>
          </a:p>
          <a:p>
            <a:endParaRPr lang="en-US" dirty="0"/>
          </a:p>
          <a:p>
            <a:r>
              <a:rPr lang="en-US" dirty="0"/>
              <a:t>That's also bad.</a:t>
            </a:r>
          </a:p>
          <a:p>
            <a:endParaRPr lang="en-US" dirty="0"/>
          </a:p>
          <a:p>
            <a:r>
              <a:rPr lang="en-US" dirty="0"/>
              <a:t>The goal:</a:t>
            </a:r>
          </a:p>
          <a:p>
            <a:endParaRPr lang="en-US" dirty="0"/>
          </a:p>
          <a:p>
            <a:r>
              <a:rPr lang="en-US" dirty="0"/>
              <a:t>Useful.</a:t>
            </a:r>
          </a:p>
          <a:p>
            <a:endParaRPr lang="en-US" dirty="0"/>
          </a:p>
          <a:p>
            <a:r>
              <a:rPr lang="en-US" dirty="0"/>
              <a:t>Actionable.</a:t>
            </a:r>
          </a:p>
          <a:p>
            <a:endParaRPr lang="en-US" dirty="0"/>
          </a:p>
          <a:p>
            <a:r>
              <a:rPr lang="en-US" dirty="0"/>
              <a:t>Meaningful.</a:t>
            </a:r>
          </a:p>
          <a:p>
            <a:endParaRPr lang="en-US" dirty="0"/>
          </a:p>
          <a:p>
            <a:r>
              <a:rPr lang="en-US" dirty="0"/>
              <a:t>------------------------------------------------------------</a:t>
            </a:r>
          </a:p>
          <a:p>
            <a:endParaRPr lang="en-US" dirty="0"/>
          </a:p>
          <a:p>
            <a:r>
              <a:rPr lang="en-US" dirty="0"/>
              <a:t>OBSERVABILITY VS SURVEILLANCE</a:t>
            </a:r>
          </a:p>
          <a:p>
            <a:endParaRPr lang="en-US" dirty="0"/>
          </a:p>
          <a:p>
            <a:r>
              <a:rPr lang="en-US" dirty="0"/>
              <a:t>Briefly clarify.</a:t>
            </a:r>
          </a:p>
          <a:p>
            <a:endParaRPr lang="en-US" dirty="0"/>
          </a:p>
          <a:p>
            <a:r>
              <a:rPr lang="en-US" dirty="0"/>
              <a:t>"Observability is about understanding system behavior."</a:t>
            </a:r>
          </a:p>
          <a:p>
            <a:endParaRPr lang="en-US" dirty="0"/>
          </a:p>
          <a:p>
            <a:r>
              <a:rPr lang="en-US" dirty="0"/>
              <a:t>"It doesn't mean collecting every detail about every user."</a:t>
            </a:r>
          </a:p>
          <a:p>
            <a:endParaRPr lang="en-US" dirty="0"/>
          </a:p>
          <a:p>
            <a:r>
              <a:rPr lang="en-US" dirty="0"/>
              <a:t>Connect to privacy.</a:t>
            </a:r>
          </a:p>
          <a:p>
            <a:endParaRPr lang="en-US" dirty="0"/>
          </a:p>
          <a:p>
            <a:r>
              <a:rPr lang="en-US" dirty="0"/>
              <a:t>Collect only what is necessary and appropriate.</a:t>
            </a:r>
          </a:p>
          <a:p>
            <a:endParaRPr lang="en-US" dirty="0"/>
          </a:p>
          <a:p>
            <a:r>
              <a:rPr lang="en-US" dirty="0"/>
              <a:t>------------------------------------------------------------</a:t>
            </a:r>
          </a:p>
          <a:p>
            <a:endParaRPr lang="en-US" dirty="0"/>
          </a:p>
          <a:p>
            <a:r>
              <a:rPr lang="en-US" dirty="0"/>
              <a:t>ATLAS CONNECTION</a:t>
            </a:r>
          </a:p>
          <a:p>
            <a:endParaRPr lang="en-US" dirty="0"/>
          </a:p>
          <a:p>
            <a:r>
              <a:rPr lang="en-US" dirty="0"/>
              <a:t>Ask:</a:t>
            </a:r>
          </a:p>
          <a:p>
            <a:endParaRPr lang="en-US" dirty="0"/>
          </a:p>
          <a:p>
            <a:r>
              <a:rPr lang="en-US" dirty="0"/>
              <a:t>"If Atlas were a real SaaS company..."</a:t>
            </a:r>
          </a:p>
          <a:p>
            <a:endParaRPr lang="en-US" dirty="0"/>
          </a:p>
          <a:p>
            <a:r>
              <a:rPr lang="en-US" dirty="0"/>
              <a:t>"What would the operations team want to know every morning?"</a:t>
            </a:r>
          </a:p>
          <a:p>
            <a:endParaRPr lang="en-US" dirty="0"/>
          </a:p>
          <a:p>
            <a:r>
              <a:rPr lang="en-US" dirty="0"/>
              <a:t>Possible answers:</a:t>
            </a:r>
          </a:p>
          <a:p>
            <a:endParaRPr lang="en-US" dirty="0"/>
          </a:p>
          <a:p>
            <a:r>
              <a:rPr lang="en-US" dirty="0"/>
              <a:t>Is Atlas online?</a:t>
            </a:r>
          </a:p>
          <a:p>
            <a:endParaRPr lang="en-US" dirty="0"/>
          </a:p>
          <a:p>
            <a:r>
              <a:rPr lang="en-US" dirty="0"/>
              <a:t>Are errors increasing?</a:t>
            </a:r>
          </a:p>
          <a:p>
            <a:endParaRPr lang="en-US" dirty="0"/>
          </a:p>
          <a:p>
            <a:r>
              <a:rPr lang="en-US" dirty="0"/>
              <a:t>Are users active?</a:t>
            </a:r>
          </a:p>
          <a:p>
            <a:endParaRPr lang="en-US" dirty="0"/>
          </a:p>
          <a:p>
            <a:r>
              <a:rPr lang="en-US" dirty="0"/>
              <a:t>Is the database healthy?</a:t>
            </a:r>
          </a:p>
          <a:p>
            <a:endParaRPr lang="en-US" dirty="0"/>
          </a:p>
          <a:p>
            <a:r>
              <a:rPr lang="en-US" dirty="0"/>
              <a:t>Are external services working?</a:t>
            </a:r>
          </a:p>
          <a:p>
            <a:endParaRPr lang="en-US" dirty="0"/>
          </a:p>
          <a:p>
            <a:r>
              <a:rPr lang="en-US" dirty="0"/>
              <a:t>Is performance degrading?</a:t>
            </a:r>
          </a:p>
          <a:p>
            <a:endParaRPr lang="en-US" dirty="0"/>
          </a:p>
          <a:p>
            <a:r>
              <a:rPr lang="en-US" dirty="0"/>
              <a:t>Are resources approaching limits?</a:t>
            </a:r>
          </a:p>
          <a:p>
            <a:endParaRPr lang="en-US" dirty="0"/>
          </a:p>
          <a:p>
            <a:r>
              <a:rPr lang="en-US" dirty="0"/>
              <a:t>Excellent.</a:t>
            </a:r>
          </a:p>
          <a:p>
            <a:endParaRPr lang="en-US" dirty="0"/>
          </a:p>
          <a:p>
            <a:r>
              <a:rPr lang="en-US" dirty="0"/>
              <a:t>------------------------------------------------------------</a:t>
            </a:r>
          </a:p>
          <a:p>
            <a:endParaRPr lang="en-US" dirty="0"/>
          </a:p>
          <a:p>
            <a:r>
              <a:rPr lang="en-US" dirty="0"/>
              <a:t>ENGINEERING PRINCIPLE</a:t>
            </a:r>
          </a:p>
          <a:p>
            <a:endParaRPr lang="en-US" dirty="0"/>
          </a:p>
          <a:p>
            <a:r>
              <a:rPr lang="en-US" dirty="0"/>
              <a:t>Point to the quote:</a:t>
            </a:r>
          </a:p>
          <a:p>
            <a:endParaRPr lang="en-US" dirty="0"/>
          </a:p>
          <a:p>
            <a:r>
              <a:rPr lang="en-US" dirty="0"/>
              <a:t>"Visibility brings clarity.</a:t>
            </a:r>
          </a:p>
          <a:p>
            <a:endParaRPr lang="en-US" dirty="0"/>
          </a:p>
          <a:p>
            <a:r>
              <a:rPr lang="en-US" dirty="0"/>
              <a:t>Clarity brings action.</a:t>
            </a:r>
          </a:p>
          <a:p>
            <a:endParaRPr lang="en-US" dirty="0"/>
          </a:p>
          <a:p>
            <a:r>
              <a:rPr lang="en-US" dirty="0"/>
              <a:t>Action brings reliability."</a:t>
            </a:r>
          </a:p>
          <a:p>
            <a:endParaRPr lang="en-US" dirty="0"/>
          </a:p>
          <a:p>
            <a:r>
              <a:rPr lang="en-US" dirty="0"/>
              <a:t>Explain:</a:t>
            </a:r>
          </a:p>
          <a:p>
            <a:endParaRPr lang="en-US" dirty="0"/>
          </a:p>
          <a:p>
            <a:r>
              <a:rPr lang="en-US" dirty="0"/>
              <a:t>"Observability helps us move from guessing..."</a:t>
            </a:r>
          </a:p>
          <a:p>
            <a:endParaRPr lang="en-US" dirty="0"/>
          </a:p>
          <a:p>
            <a:r>
              <a:rPr lang="en-US" dirty="0"/>
              <a:t>"...to knowing."</a:t>
            </a:r>
          </a:p>
          <a:p>
            <a:endParaRPr lang="en-US" dirty="0"/>
          </a:p>
          <a:p>
            <a:r>
              <a:rPr lang="en-US" dirty="0"/>
              <a:t>------------------------------------------------------------</a:t>
            </a:r>
          </a:p>
          <a:p>
            <a:endParaRPr lang="en-US" dirty="0"/>
          </a:p>
          <a:p>
            <a:r>
              <a:rPr lang="en-US" dirty="0"/>
              <a:t>SPRINT CONNECTION</a:t>
            </a:r>
          </a:p>
          <a:p>
            <a:endParaRPr lang="en-US" dirty="0"/>
          </a:p>
          <a:p>
            <a:r>
              <a:rPr lang="en-US" dirty="0"/>
              <a:t>Review Sprint 7 so far.</a:t>
            </a:r>
          </a:p>
          <a:p>
            <a:endParaRPr lang="en-US" dirty="0"/>
          </a:p>
          <a:p>
            <a:r>
              <a:rPr lang="en-US" dirty="0"/>
              <a:t>We asked:</a:t>
            </a:r>
          </a:p>
          <a:p>
            <a:endParaRPr lang="en-US" dirty="0"/>
          </a:p>
          <a:p>
            <a:r>
              <a:rPr lang="en-US" dirty="0"/>
              <a:t>Is Atlas ready?</a:t>
            </a:r>
          </a:p>
          <a:p>
            <a:endParaRPr lang="en-US" dirty="0"/>
          </a:p>
          <a:p>
            <a:r>
              <a:rPr lang="en-US" dirty="0"/>
              <a:t>Then:</a:t>
            </a:r>
          </a:p>
          <a:p>
            <a:endParaRPr lang="en-US" dirty="0"/>
          </a:p>
          <a:p>
            <a:r>
              <a:rPr lang="en-US" dirty="0"/>
              <a:t>How do we move from development to production?</a:t>
            </a:r>
          </a:p>
          <a:p>
            <a:endParaRPr lang="en-US" dirty="0"/>
          </a:p>
          <a:p>
            <a:r>
              <a:rPr lang="en-US" dirty="0"/>
              <a:t>Then:</a:t>
            </a:r>
          </a:p>
          <a:p>
            <a:endParaRPr lang="en-US" dirty="0"/>
          </a:p>
          <a:p>
            <a:r>
              <a:rPr lang="en-US" dirty="0"/>
              <a:t>What happens when things go wrong?</a:t>
            </a:r>
          </a:p>
          <a:p>
            <a:endParaRPr lang="en-US" dirty="0"/>
          </a:p>
          <a:p>
            <a:r>
              <a:rPr lang="en-US" dirty="0"/>
              <a:t>Now:</a:t>
            </a:r>
          </a:p>
          <a:p>
            <a:endParaRPr lang="en-US" dirty="0"/>
          </a:p>
          <a:p>
            <a:r>
              <a:rPr lang="en-US" dirty="0"/>
              <a:t>How do we know what's happening?</a:t>
            </a:r>
          </a:p>
          <a:p>
            <a:endParaRPr lang="en-US" dirty="0"/>
          </a:p>
          <a:p>
            <a:r>
              <a:rPr lang="en-US" dirty="0"/>
              <a:t>The progression is:</a:t>
            </a:r>
          </a:p>
          <a:p>
            <a:endParaRPr lang="en-US" dirty="0"/>
          </a:p>
          <a:p>
            <a:r>
              <a:rPr lang="en-US" dirty="0"/>
              <a:t>PREPARE</a:t>
            </a:r>
          </a:p>
          <a:p>
            <a:endParaRPr lang="en-US" dirty="0"/>
          </a:p>
          <a:p>
            <a:r>
              <a:rPr lang="en-US" dirty="0"/>
              <a:t>↓</a:t>
            </a:r>
          </a:p>
          <a:p>
            <a:endParaRPr lang="en-US" dirty="0"/>
          </a:p>
          <a:p>
            <a:r>
              <a:rPr lang="en-US" dirty="0"/>
              <a:t>DEPLOY</a:t>
            </a:r>
          </a:p>
          <a:p>
            <a:endParaRPr lang="en-US" dirty="0"/>
          </a:p>
          <a:p>
            <a:r>
              <a:rPr lang="en-US" dirty="0"/>
              <a:t>↓</a:t>
            </a:r>
          </a:p>
          <a:p>
            <a:endParaRPr lang="en-US" dirty="0"/>
          </a:p>
          <a:p>
            <a:r>
              <a:rPr lang="en-US" dirty="0"/>
              <a:t>HANDLE</a:t>
            </a:r>
          </a:p>
          <a:p>
            <a:endParaRPr lang="en-US" dirty="0"/>
          </a:p>
          <a:p>
            <a:r>
              <a:rPr lang="en-US" dirty="0"/>
              <a:t>↓</a:t>
            </a:r>
          </a:p>
          <a:p>
            <a:endParaRPr lang="en-US" dirty="0"/>
          </a:p>
          <a:p>
            <a:r>
              <a:rPr lang="en-US" dirty="0"/>
              <a:t>OBSERVE</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MAKE IT USABLE.</a:t>
            </a:r>
          </a:p>
          <a:p>
            <a:endParaRPr lang="en-US" dirty="0"/>
          </a:p>
          <a:p>
            <a:r>
              <a:rPr lang="en-US" dirty="0"/>
              <a:t>Say:</a:t>
            </a:r>
          </a:p>
          <a:p>
            <a:endParaRPr lang="en-US" dirty="0"/>
          </a:p>
          <a:p>
            <a:r>
              <a:rPr lang="en-US" dirty="0"/>
              <a:t>"We've talked about what happens behind the scenes."</a:t>
            </a:r>
          </a:p>
          <a:p>
            <a:endParaRPr lang="en-US" dirty="0"/>
          </a:p>
          <a:p>
            <a:r>
              <a:rPr lang="en-US" dirty="0"/>
              <a:t>"But users don't interact with logs."</a:t>
            </a:r>
          </a:p>
          <a:p>
            <a:endParaRPr lang="en-US" dirty="0"/>
          </a:p>
          <a:p>
            <a:r>
              <a:rPr lang="en-US" dirty="0"/>
              <a:t>"They interact with the application."</a:t>
            </a:r>
          </a:p>
          <a:p>
            <a:endParaRPr lang="en-US" dirty="0"/>
          </a:p>
          <a:p>
            <a:r>
              <a:rPr lang="en-US" dirty="0"/>
              <a:t>"Next..."</a:t>
            </a:r>
          </a:p>
          <a:p>
            <a:endParaRPr lang="en-US" dirty="0"/>
          </a:p>
          <a:p>
            <a:r>
              <a:rPr lang="en-US" dirty="0"/>
              <a:t>"We're going to focus on the experience they actually see."</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"Engineers..."</a:t>
            </a:r>
          </a:p>
          <a:p>
            <a:endParaRPr lang="en-US" dirty="0"/>
          </a:p>
          <a:p>
            <a:r>
              <a:rPr lang="en-US" dirty="0"/>
              <a:t>"You can't improve what you can't see."</a:t>
            </a:r>
          </a:p>
          <a:p>
            <a:endParaRPr lang="en-US" dirty="0"/>
          </a:p>
          <a:p>
            <a:r>
              <a:rPr lang="en-US" dirty="0"/>
              <a:t>"Logs help us understand."</a:t>
            </a:r>
          </a:p>
          <a:p>
            <a:endParaRPr lang="en-US" dirty="0"/>
          </a:p>
          <a:p>
            <a:r>
              <a:rPr lang="en-US" dirty="0"/>
              <a:t>"Metrics help us measure."</a:t>
            </a:r>
          </a:p>
          <a:p>
            <a:endParaRPr lang="en-US" dirty="0"/>
          </a:p>
          <a:p>
            <a:r>
              <a:rPr lang="en-US" dirty="0"/>
              <a:t>"Health checks help us detect."</a:t>
            </a:r>
          </a:p>
          <a:p>
            <a:endParaRPr lang="en-US" dirty="0"/>
          </a:p>
          <a:p>
            <a:r>
              <a:rPr lang="en-US" dirty="0"/>
              <a:t>"Alerts help us respond."</a:t>
            </a:r>
          </a:p>
          <a:p>
            <a:endParaRPr lang="en-US" dirty="0"/>
          </a:p>
          <a:p>
            <a:r>
              <a:rPr lang="en-US" dirty="0"/>
              <a:t>"Dashboards help us see the bigger picture."</a:t>
            </a:r>
          </a:p>
          <a:p>
            <a:endParaRPr lang="en-US" dirty="0"/>
          </a:p>
          <a:p>
            <a:r>
              <a:rPr lang="en-US" dirty="0"/>
              <a:t>Pause.</a:t>
            </a:r>
          </a:p>
          <a:p>
            <a:endParaRPr lang="en-US" dirty="0"/>
          </a:p>
          <a:p>
            <a:r>
              <a:rPr lang="en-US" dirty="0"/>
              <a:t>"Observability gives Atlas visibility."</a:t>
            </a:r>
          </a:p>
          <a:p>
            <a:endParaRPr lang="en-US" dirty="0"/>
          </a:p>
          <a:p>
            <a:r>
              <a:rPr lang="en-US" dirty="0"/>
              <a:t>============================================================</a:t>
            </a:r>
          </a:p>
          <a:p>
            <a:endParaRPr lang="en-US" dirty="0"/>
          </a:p>
          <a:p>
            <a:r>
              <a:rPr lang="en-US" dirty="0"/>
              <a:t>ESTIMATED TIME</a:t>
            </a:r>
          </a:p>
          <a:p>
            <a:endParaRPr lang="en-US" dirty="0"/>
          </a:p>
          <a:p>
            <a:r>
              <a:rPr lang="en-US" dirty="0"/>
              <a:t>Opening &amp; Concept.......................8 minutes</a:t>
            </a:r>
          </a:p>
          <a:p>
            <a:endParaRPr lang="en-US" dirty="0"/>
          </a:p>
          <a:p>
            <a:r>
              <a:rPr lang="en-US" dirty="0"/>
              <a:t>Telemetry Types........................12 minutes</a:t>
            </a:r>
          </a:p>
          <a:p>
            <a:endParaRPr lang="en-US" dirty="0"/>
          </a:p>
          <a:p>
            <a:r>
              <a:rPr lang="en-US" dirty="0"/>
              <a:t>What to Monitor........................10 minutes</a:t>
            </a:r>
          </a:p>
          <a:p>
            <a:endParaRPr lang="en-US" dirty="0"/>
          </a:p>
          <a:p>
            <a:r>
              <a:rPr lang="en-US" dirty="0"/>
              <a:t>Observability Stack.....................8 minutes</a:t>
            </a:r>
          </a:p>
          <a:p>
            <a:endParaRPr lang="en-US" dirty="0"/>
          </a:p>
          <a:p>
            <a:r>
              <a:rPr lang="en-US" dirty="0"/>
              <a:t>Alerting Strategy.......................8 minutes</a:t>
            </a:r>
          </a:p>
          <a:p>
            <a:endParaRPr lang="en-US" dirty="0"/>
          </a:p>
          <a:p>
            <a:r>
              <a:rPr lang="en-US" dirty="0"/>
              <a:t>Dashboard &amp; Checklist...................8 minutes</a:t>
            </a:r>
          </a:p>
          <a:p>
            <a:endParaRPr lang="en-US" dirty="0"/>
          </a:p>
          <a:p>
            <a:r>
              <a:rPr lang="en-US" dirty="0"/>
              <a:t>Build Challenge........................10 minutes</a:t>
            </a:r>
          </a:p>
          <a:p>
            <a:endParaRPr lang="en-US" dirty="0"/>
          </a:p>
          <a:p>
            <a:r>
              <a:rPr lang="en-US" dirty="0"/>
              <a:t>Closing..................................5 minutes</a:t>
            </a:r>
          </a:p>
          <a:p>
            <a:endParaRPr lang="en-US" dirty="0"/>
          </a:p>
          <a:p>
            <a:r>
              <a:rPr lang="en-US" dirty="0"/>
              <a:t>TOTAL...................................69 minutes</a:t>
            </a:r>
          </a:p>
          <a:p>
            <a:endParaRPr lang="en-US" dirty="0"/>
          </a:p>
          <a:p>
            <a:r>
              <a:rPr lang="en-US" dirty="0"/>
              <a:t>============================================================</a:t>
            </a:r>
          </a:p>
          <a:p>
            <a:endParaRPr lang="en-US" dirty="0"/>
          </a:p>
          <a:p>
            <a:r>
              <a:rPr lang="en-US" dirty="0"/>
              <a:t>INSTRUCTOR NOTES</a:t>
            </a:r>
          </a:p>
          <a:p>
            <a:endParaRPr lang="en-US" dirty="0"/>
          </a:p>
          <a:p>
            <a:r>
              <a:rPr lang="en-US" dirty="0"/>
              <a:t>Keep this practical.</a:t>
            </a:r>
          </a:p>
          <a:p>
            <a:endParaRPr lang="en-US" dirty="0"/>
          </a:p>
          <a:p>
            <a:r>
              <a:rPr lang="en-US" dirty="0"/>
              <a:t>Students should not leave thinking:</a:t>
            </a:r>
          </a:p>
          <a:p>
            <a:endParaRPr lang="en-US" dirty="0"/>
          </a:p>
          <a:p>
            <a:r>
              <a:rPr lang="en-US" dirty="0"/>
              <a:t>"Observability means installing a giant monitoring platform."</a:t>
            </a:r>
          </a:p>
          <a:p>
            <a:endParaRPr lang="en-US" dirty="0"/>
          </a:p>
          <a:p>
            <a:r>
              <a:rPr lang="en-US" dirty="0"/>
              <a:t>The lesson is about the principles.</a:t>
            </a:r>
          </a:p>
          <a:p>
            <a:endParaRPr lang="en-US" dirty="0"/>
          </a:p>
          <a:p>
            <a:r>
              <a:rPr lang="en-US" dirty="0"/>
              <a:t>------------------------------------------------------------</a:t>
            </a:r>
          </a:p>
          <a:p>
            <a:endParaRPr lang="en-US" dirty="0"/>
          </a:p>
          <a:p>
            <a:r>
              <a:rPr lang="en-US" dirty="0"/>
              <a:t>IMPORTANT TEACHING MOVE</a:t>
            </a:r>
          </a:p>
          <a:p>
            <a:endParaRPr lang="en-US" dirty="0"/>
          </a:p>
          <a:p>
            <a:r>
              <a:rPr lang="en-US" dirty="0"/>
              <a:t>Ask repeatedly:</a:t>
            </a:r>
          </a:p>
          <a:p>
            <a:endParaRPr lang="en-US" dirty="0"/>
          </a:p>
          <a:p>
            <a:r>
              <a:rPr lang="en-US" dirty="0"/>
              <a:t>"What question does this telemetry answer?"</a:t>
            </a:r>
          </a:p>
          <a:p>
            <a:endParaRPr lang="en-US" dirty="0"/>
          </a:p>
          <a:p>
            <a:r>
              <a:rPr lang="en-US" dirty="0"/>
              <a:t>This prevents students from collecting meaningless data.</a:t>
            </a:r>
          </a:p>
          <a:p>
            <a:endParaRPr lang="en-US" dirty="0"/>
          </a:p>
          <a:p>
            <a:r>
              <a:rPr lang="en-US" dirty="0"/>
              <a:t>------------------------------------------------------------</a:t>
            </a:r>
          </a:p>
          <a:p>
            <a:endParaRPr lang="en-US" dirty="0"/>
          </a:p>
          <a:p>
            <a:r>
              <a:rPr lang="en-US" dirty="0"/>
              <a:t>DO NOT OVER-ENGINEER</a:t>
            </a:r>
          </a:p>
          <a:p>
            <a:endParaRPr lang="en-US" dirty="0"/>
          </a:p>
          <a:p>
            <a:r>
              <a:rPr lang="en-US" dirty="0"/>
              <a:t>Students do not need to build:</a:t>
            </a:r>
          </a:p>
          <a:p>
            <a:endParaRPr lang="en-US" dirty="0"/>
          </a:p>
          <a:p>
            <a:r>
              <a:rPr lang="en-US" dirty="0"/>
              <a:t>• Full distributed tracing infrastructure</a:t>
            </a:r>
          </a:p>
          <a:p>
            <a:r>
              <a:rPr lang="en-US" dirty="0"/>
              <a:t>• Enterprise SIEM</a:t>
            </a:r>
          </a:p>
          <a:p>
            <a:r>
              <a:rPr lang="en-US" dirty="0"/>
              <a:t>• Complex observability pipelines</a:t>
            </a:r>
          </a:p>
          <a:p>
            <a:r>
              <a:rPr lang="en-US" dirty="0"/>
              <a:t>• Machine-learning anomaly detection</a:t>
            </a:r>
          </a:p>
          <a:p>
            <a:r>
              <a:rPr lang="en-US" dirty="0"/>
              <a:t>• Large-scale telemetry architecture</a:t>
            </a:r>
          </a:p>
          <a:p>
            <a:endParaRPr lang="en-US" dirty="0"/>
          </a:p>
          <a:p>
            <a:r>
              <a:rPr lang="en-US" dirty="0"/>
              <a:t>The goal is:</a:t>
            </a:r>
          </a:p>
          <a:p>
            <a:endParaRPr lang="en-US" dirty="0"/>
          </a:p>
          <a:p>
            <a:r>
              <a:rPr lang="en-US" dirty="0"/>
              <a:t>Logs.</a:t>
            </a:r>
          </a:p>
          <a:p>
            <a:endParaRPr lang="en-US" dirty="0"/>
          </a:p>
          <a:p>
            <a:r>
              <a:rPr lang="en-US" dirty="0"/>
              <a:t>Health checks.</a:t>
            </a:r>
          </a:p>
          <a:p>
            <a:endParaRPr lang="en-US" dirty="0"/>
          </a:p>
          <a:p>
            <a:r>
              <a:rPr lang="en-US" dirty="0"/>
              <a:t>Useful metrics.</a:t>
            </a:r>
          </a:p>
          <a:p>
            <a:endParaRPr lang="en-US" dirty="0"/>
          </a:p>
          <a:p>
            <a:r>
              <a:rPr lang="en-US" dirty="0"/>
              <a:t>Basic monitoring.</a:t>
            </a:r>
          </a:p>
          <a:p>
            <a:endParaRPr lang="en-US" dirty="0"/>
          </a:p>
          <a:p>
            <a:r>
              <a:rPr lang="en-US" dirty="0"/>
              <a:t>Meaningful alerts.</a:t>
            </a:r>
          </a:p>
          <a:p>
            <a:endParaRPr lang="en-US" dirty="0"/>
          </a:p>
          <a:p>
            <a:r>
              <a:rPr lang="en-US" dirty="0"/>
              <a:t>------------------------------------------------------------</a:t>
            </a:r>
          </a:p>
          <a:p>
            <a:endParaRPr lang="en-US" dirty="0"/>
          </a:p>
          <a:p>
            <a:r>
              <a:rPr lang="en-US" dirty="0"/>
              <a:t>ATLAS MINIMUM OBSERVABILITY</a:t>
            </a:r>
          </a:p>
          <a:p>
            <a:endParaRPr lang="en-US" dirty="0"/>
          </a:p>
          <a:p>
            <a:r>
              <a:rPr lang="en-US" dirty="0"/>
              <a:t>For Version 1.0, prioritize:</a:t>
            </a:r>
          </a:p>
          <a:p>
            <a:endParaRPr lang="en-US" dirty="0"/>
          </a:p>
          <a:p>
            <a:r>
              <a:rPr lang="en-US" dirty="0"/>
              <a:t>✓ Application health.</a:t>
            </a:r>
          </a:p>
          <a:p>
            <a:endParaRPr lang="en-US" dirty="0"/>
          </a:p>
          <a:p>
            <a:r>
              <a:rPr lang="en-US" dirty="0"/>
              <a:t>✓ Error logging.</a:t>
            </a:r>
          </a:p>
          <a:p>
            <a:endParaRPr lang="en-US" dirty="0"/>
          </a:p>
          <a:p>
            <a:r>
              <a:rPr lang="en-US" dirty="0"/>
              <a:t>✓ Important application events.</a:t>
            </a:r>
          </a:p>
          <a:p>
            <a:endParaRPr lang="en-US" dirty="0"/>
          </a:p>
          <a:p>
            <a:r>
              <a:rPr lang="en-US" dirty="0"/>
              <a:t>✓ Response time awareness.</a:t>
            </a:r>
          </a:p>
          <a:p>
            <a:endParaRPr lang="en-US" dirty="0"/>
          </a:p>
          <a:p>
            <a:r>
              <a:rPr lang="en-US" dirty="0"/>
              <a:t>✓ Database health.</a:t>
            </a:r>
          </a:p>
          <a:p>
            <a:endParaRPr lang="en-US" dirty="0"/>
          </a:p>
          <a:p>
            <a:r>
              <a:rPr lang="en-US" dirty="0"/>
              <a:t>✓ External dependency awareness.</a:t>
            </a:r>
          </a:p>
          <a:p>
            <a:endParaRPr lang="en-US" dirty="0"/>
          </a:p>
          <a:p>
            <a:r>
              <a:rPr lang="en-US" dirty="0"/>
              <a:t>✓ Basic monitoring.</a:t>
            </a:r>
          </a:p>
          <a:p>
            <a:endParaRPr lang="en-US" dirty="0"/>
          </a:p>
          <a:p>
            <a:r>
              <a:rPr lang="en-US" dirty="0"/>
              <a:t>✓ Meaningful alerts.</a:t>
            </a:r>
          </a:p>
          <a:p>
            <a:endParaRPr lang="en-US" dirty="0"/>
          </a:p>
          <a:p>
            <a:r>
              <a:rPr lang="en-US" dirty="0"/>
              <a:t>------------------------------------------------------------</a:t>
            </a:r>
          </a:p>
          <a:p>
            <a:endParaRPr lang="en-US" dirty="0"/>
          </a:p>
          <a:p>
            <a:r>
              <a:rPr lang="en-US" dirty="0"/>
              <a:t>LOGGING REMINDER</a:t>
            </a:r>
          </a:p>
          <a:p>
            <a:endParaRPr lang="en-US" dirty="0"/>
          </a:p>
          <a:p>
            <a:r>
              <a:rPr lang="en-US" dirty="0"/>
              <a:t>Connect directly to Sprint 6:</a:t>
            </a:r>
          </a:p>
          <a:p>
            <a:endParaRPr lang="en-US" dirty="0"/>
          </a:p>
          <a:p>
            <a:r>
              <a:rPr lang="en-US" dirty="0"/>
              <a:t>"Never log passwords, secrets, tokens, or unnecessary sensitive</a:t>
            </a:r>
          </a:p>
          <a:p>
            <a:r>
              <a:rPr lang="en-US" dirty="0"/>
              <a:t>information."</a:t>
            </a:r>
          </a:p>
          <a:p>
            <a:endParaRPr lang="en-US" dirty="0"/>
          </a:p>
          <a:p>
            <a:r>
              <a:rPr lang="en-US" dirty="0"/>
              <a:t>Observability must not create a security problem.</a:t>
            </a:r>
          </a:p>
          <a:p>
            <a:endParaRPr lang="en-US" dirty="0"/>
          </a:p>
          <a:p>
            <a:r>
              <a:rPr lang="en-US" dirty="0"/>
              <a:t>------------------------------------------------------------</a:t>
            </a:r>
          </a:p>
          <a:p>
            <a:endParaRPr lang="en-US" dirty="0"/>
          </a:p>
          <a:p>
            <a:r>
              <a:rPr lang="en-US" dirty="0"/>
              <a:t>HEALTH CHECK EMPHASIS</a:t>
            </a:r>
          </a:p>
          <a:p>
            <a:endParaRPr lang="en-US" dirty="0"/>
          </a:p>
          <a:p>
            <a:r>
              <a:rPr lang="en-US" dirty="0"/>
              <a:t>A simple health check can answer:</a:t>
            </a:r>
          </a:p>
          <a:p>
            <a:endParaRPr lang="en-US" dirty="0"/>
          </a:p>
          <a:p>
            <a:r>
              <a:rPr lang="en-US" dirty="0"/>
              <a:t>"Is Atlas alive?"</a:t>
            </a:r>
          </a:p>
          <a:p>
            <a:endParaRPr lang="en-US" dirty="0"/>
          </a:p>
          <a:p>
            <a:r>
              <a:rPr lang="en-US" dirty="0"/>
              <a:t>A deeper health check can answer:</a:t>
            </a:r>
          </a:p>
          <a:p>
            <a:endParaRPr lang="en-US" dirty="0"/>
          </a:p>
          <a:p>
            <a:r>
              <a:rPr lang="en-US" dirty="0"/>
              <a:t>"Is Atlas alive AND can it reach the resources it needs?"</a:t>
            </a:r>
          </a:p>
          <a:p>
            <a:endParaRPr lang="en-US" dirty="0"/>
          </a:p>
          <a:p>
            <a:r>
              <a:rPr lang="en-US" dirty="0"/>
              <a:t>Explain the difference conceptually.</a:t>
            </a:r>
          </a:p>
          <a:p>
            <a:endParaRPr lang="en-US" dirty="0"/>
          </a:p>
          <a:p>
            <a:r>
              <a:rPr lang="en-US" dirty="0"/>
              <a:t>------------------------------------------------------------</a:t>
            </a:r>
          </a:p>
          <a:p>
            <a:endParaRPr lang="en-US" dirty="0"/>
          </a:p>
          <a:p>
            <a:r>
              <a:rPr lang="en-US" dirty="0"/>
              <a:t>DASHBOARD BOUNDARY</a:t>
            </a:r>
          </a:p>
          <a:p>
            <a:endParaRPr lang="en-US" dirty="0"/>
          </a:p>
          <a:p>
            <a:r>
              <a:rPr lang="en-US" dirty="0"/>
              <a:t>The dashboard does not need to be beautiful.</a:t>
            </a:r>
          </a:p>
          <a:p>
            <a:endParaRPr lang="en-US" dirty="0"/>
          </a:p>
          <a:p>
            <a:r>
              <a:rPr lang="en-US" dirty="0"/>
              <a:t>It needs to be useful.</a:t>
            </a:r>
          </a:p>
          <a:p>
            <a:endParaRPr lang="en-US" dirty="0"/>
          </a:p>
          <a:p>
            <a:r>
              <a:rPr lang="en-US" dirty="0"/>
              <a:t>Ask:</a:t>
            </a:r>
          </a:p>
          <a:p>
            <a:endParaRPr lang="en-US" dirty="0"/>
          </a:p>
          <a:p>
            <a:r>
              <a:rPr lang="en-US" dirty="0"/>
              <a:t>"If something is wrong, can this dashboard help us notice it?"</a:t>
            </a:r>
          </a:p>
          <a:p>
            <a:endParaRPr lang="en-US" dirty="0"/>
          </a:p>
          <a:p>
            <a:r>
              <a:rPr lang="en-US" dirty="0"/>
              <a:t>------------------------------------------------------------</a:t>
            </a:r>
          </a:p>
          <a:p>
            <a:endParaRPr lang="en-US" dirty="0"/>
          </a:p>
          <a:p>
            <a:r>
              <a:rPr lang="en-US" dirty="0"/>
              <a:t>ALERTING BOUNDARY</a:t>
            </a:r>
          </a:p>
          <a:p>
            <a:endParaRPr lang="en-US" dirty="0"/>
          </a:p>
          <a:p>
            <a:r>
              <a:rPr lang="en-US" dirty="0"/>
              <a:t>Students don't need dozens of alerts.</a:t>
            </a:r>
          </a:p>
          <a:p>
            <a:endParaRPr lang="en-US" dirty="0"/>
          </a:p>
          <a:p>
            <a:r>
              <a:rPr lang="en-US" dirty="0"/>
              <a:t>A few meaningful conditions are better than dozens of noisy ones.</a:t>
            </a:r>
          </a:p>
          <a:p>
            <a:endParaRPr lang="en-US" dirty="0"/>
          </a:p>
          <a:p>
            <a:r>
              <a:rPr lang="en-US" dirty="0"/>
              <a:t>Teach:</a:t>
            </a:r>
          </a:p>
          <a:p>
            <a:endParaRPr lang="en-US" dirty="0"/>
          </a:p>
          <a:p>
            <a:r>
              <a:rPr lang="en-US" dirty="0"/>
              <a:t>"Alert on things that require action."</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COLLECT</a:t>
            </a:r>
          </a:p>
          <a:p>
            <a:endParaRPr lang="en-US" dirty="0"/>
          </a:p>
          <a:p>
            <a:r>
              <a:rPr lang="en-US" dirty="0"/>
              <a:t>↓</a:t>
            </a:r>
          </a:p>
          <a:p>
            <a:endParaRPr lang="en-US" dirty="0"/>
          </a:p>
          <a:p>
            <a:r>
              <a:rPr lang="en-US" dirty="0"/>
              <a:t>UNDERSTAND</a:t>
            </a:r>
          </a:p>
          <a:p>
            <a:endParaRPr lang="en-US" dirty="0"/>
          </a:p>
          <a:p>
            <a:r>
              <a:rPr lang="en-US" dirty="0"/>
              <a:t>↓</a:t>
            </a:r>
          </a:p>
          <a:p>
            <a:endParaRPr lang="en-US" dirty="0"/>
          </a:p>
          <a:p>
            <a:r>
              <a:rPr lang="en-US" dirty="0"/>
              <a:t>ACT</a:t>
            </a:r>
          </a:p>
          <a:p>
            <a:endParaRPr lang="en-US" dirty="0"/>
          </a:p>
          <a:p>
            <a:r>
              <a:rPr lang="en-US" dirty="0"/>
              <a:t>Then:</a:t>
            </a:r>
          </a:p>
          <a:p>
            <a:endParaRPr lang="en-US" dirty="0"/>
          </a:p>
          <a:p>
            <a:r>
              <a:rPr lang="en-US" dirty="0"/>
              <a:t>"Visibility creates confidence."</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"Reliability tells us how Atlas handles failure."</a:t>
            </a:r>
          </a:p>
          <a:p>
            <a:endParaRPr lang="en-US" dirty="0"/>
          </a:p>
          <a:p>
            <a:r>
              <a:rPr lang="en-US" dirty="0"/>
              <a:t>"Observability tells us when failure is happening."</a:t>
            </a:r>
          </a:p>
          <a:p>
            <a:endParaRPr lang="en-US" dirty="0"/>
          </a:p>
          <a:p>
            <a:r>
              <a:rPr lang="en-US" dirty="0"/>
              <a:t>"And when we can see the problem..."</a:t>
            </a:r>
          </a:p>
          <a:p>
            <a:endParaRPr lang="en-US" dirty="0"/>
          </a:p>
          <a:p>
            <a:r>
              <a:rPr lang="en-US" dirty="0"/>
              <a:t>"We can do something about it."</a:t>
            </a:r>
          </a:p>
          <a:p>
            <a:endParaRPr lang="en-US" dirty="0"/>
          </a:p>
          <a:p>
            <a:r>
              <a:rPr lang="en-US" dirty="0"/>
              <a:t>============================================================</a:t>
            </a:r>
          </a:p>
        </p:txBody>
      </p:sp>
      <p:sp>
        <p:nvSpPr>
          <p:cNvPr id="4" name="Slide Number Placeholder 3"/>
          <p:cNvSpPr>
            <a:spLocks noGrp="1"/>
          </p:cNvSpPr>
          <p:nvPr>
            <p:ph type="sldNum" sz="quarter" idx="5"/>
          </p:nvPr>
        </p:nvSpPr>
        <p:spPr/>
        <p:txBody>
          <a:bodyPr/>
          <a:lstStyle/>
          <a:p>
            <a:fld id="{5AFC1053-384D-42E4-B963-6C2B9553F5DF}" type="slidenum">
              <a:rPr lang="en-US" smtClean="0"/>
              <a:t>4</a:t>
            </a:fld>
            <a:endParaRPr lang="en-US"/>
          </a:p>
        </p:txBody>
      </p:sp>
    </p:spTree>
    <p:extLst>
      <p:ext uri="{BB962C8B-B14F-4D97-AF65-F5344CB8AC3E}">
        <p14:creationId xmlns:p14="http://schemas.microsoft.com/office/powerpoint/2010/main" val="3193953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7</a:t>
            </a:r>
          </a:p>
          <a:p>
            <a:endParaRPr lang="en-US" dirty="0"/>
          </a:p>
          <a:p>
            <a:r>
              <a:rPr lang="en-US" dirty="0"/>
              <a:t>MAKE IT USABLE</a:t>
            </a:r>
          </a:p>
          <a:p>
            <a:endParaRPr lang="en-US" dirty="0"/>
          </a:p>
          <a:p>
            <a:r>
              <a:rPr lang="en-US" dirty="0"/>
              <a:t>"Users don't care how it works.</a:t>
            </a:r>
          </a:p>
          <a:p>
            <a:r>
              <a:rPr lang="en-US" dirty="0"/>
              <a:t>They care how it feels."</a:t>
            </a:r>
          </a:p>
          <a:p>
            <a:endParaRPr lang="en-US" dirty="0"/>
          </a:p>
          <a:p>
            <a:r>
              <a:rPr lang="en-US" dirty="0"/>
              <a:t>============================================================</a:t>
            </a:r>
          </a:p>
          <a:p>
            <a:endParaRPr lang="en-US" dirty="0"/>
          </a:p>
          <a:p>
            <a:r>
              <a:rPr lang="en-US" dirty="0"/>
              <a:t>SLIDE PURPOSE</a:t>
            </a:r>
          </a:p>
          <a:p>
            <a:endParaRPr lang="en-US" dirty="0"/>
          </a:p>
          <a:p>
            <a:r>
              <a:rPr lang="en-US" dirty="0"/>
              <a:t>Shift students from developer-centered thinking to user-centered</a:t>
            </a:r>
          </a:p>
          <a:p>
            <a:r>
              <a:rPr lang="en-US" dirty="0"/>
              <a:t>thinking.</a:t>
            </a:r>
          </a:p>
          <a:p>
            <a:endParaRPr lang="en-US" dirty="0"/>
          </a:p>
          <a:p>
            <a:r>
              <a:rPr lang="en-US" dirty="0"/>
              <a:t>Students should evaluate Atlas </a:t>
            </a:r>
            <a:r>
              <a:rPr lang="en-US" dirty="0" err="1"/>
              <a:t>TaskFlow</a:t>
            </a:r>
            <a:r>
              <a:rPr lang="en-US" dirty="0"/>
              <a:t> based on:</a:t>
            </a:r>
          </a:p>
          <a:p>
            <a:endParaRPr lang="en-US" dirty="0"/>
          </a:p>
          <a:p>
            <a:r>
              <a:rPr lang="en-US" dirty="0"/>
              <a:t>• Clarity</a:t>
            </a:r>
          </a:p>
          <a:p>
            <a:r>
              <a:rPr lang="en-US" dirty="0"/>
              <a:t>• Efficiency</a:t>
            </a:r>
          </a:p>
          <a:p>
            <a:r>
              <a:rPr lang="en-US" dirty="0"/>
              <a:t>• Consistency</a:t>
            </a:r>
          </a:p>
          <a:p>
            <a:r>
              <a:rPr lang="en-US" dirty="0"/>
              <a:t>• Accessibility</a:t>
            </a:r>
          </a:p>
          <a:p>
            <a:r>
              <a:rPr lang="en-US" dirty="0"/>
              <a:t>• Feedback</a:t>
            </a:r>
          </a:p>
          <a:p>
            <a:r>
              <a:rPr lang="en-US" dirty="0"/>
              <a:t>• Error recovery</a:t>
            </a:r>
          </a:p>
          <a:p>
            <a:r>
              <a:rPr lang="en-US" dirty="0"/>
              <a:t>• Responsiveness</a:t>
            </a:r>
          </a:p>
          <a:p>
            <a:r>
              <a:rPr lang="en-US" dirty="0"/>
              <a:t>• User confidence</a:t>
            </a:r>
          </a:p>
          <a:p>
            <a:r>
              <a:rPr lang="en-US" dirty="0"/>
              <a:t>• Overall experience</a:t>
            </a:r>
          </a:p>
          <a:p>
            <a:endParaRPr lang="en-US" dirty="0"/>
          </a:p>
          <a:p>
            <a:r>
              <a:rPr lang="en-US" dirty="0"/>
              <a:t>The goal is not simply to make Atlas "look good."</a:t>
            </a:r>
          </a:p>
          <a:p>
            <a:endParaRPr lang="en-US" dirty="0"/>
          </a:p>
          <a:p>
            <a:r>
              <a:rPr lang="en-US" dirty="0"/>
              <a:t>The goal is to make Atlas:</a:t>
            </a:r>
          </a:p>
          <a:p>
            <a:endParaRPr lang="en-US" dirty="0"/>
          </a:p>
          <a:p>
            <a:r>
              <a:rPr lang="en-US" dirty="0"/>
              <a:t>CLEAR.</a:t>
            </a:r>
          </a:p>
          <a:p>
            <a:endParaRPr lang="en-US" dirty="0"/>
          </a:p>
          <a:p>
            <a:r>
              <a:rPr lang="en-US" dirty="0"/>
              <a:t>EFFICIENT.</a:t>
            </a:r>
          </a:p>
          <a:p>
            <a:endParaRPr lang="en-US" dirty="0"/>
          </a:p>
          <a:p>
            <a:r>
              <a:rPr lang="en-US" dirty="0"/>
              <a:t>ACCESSIBLE.</a:t>
            </a:r>
          </a:p>
          <a:p>
            <a:endParaRPr lang="en-US" dirty="0"/>
          </a:p>
          <a:p>
            <a:r>
              <a:rPr lang="en-US" dirty="0"/>
              <a:t>PREDICTABLE.</a:t>
            </a:r>
          </a:p>
          <a:p>
            <a:endParaRPr lang="en-US" dirty="0"/>
          </a:p>
          <a:p>
            <a:r>
              <a:rPr lang="en-US" dirty="0"/>
              <a:t>ENJOYABLE.</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"Let's pretend Atlas is finished."</a:t>
            </a:r>
          </a:p>
          <a:p>
            <a:endParaRPr lang="en-US" dirty="0"/>
          </a:p>
          <a:p>
            <a:r>
              <a:rPr lang="en-US" dirty="0"/>
              <a:t>"The database works."</a:t>
            </a:r>
          </a:p>
          <a:p>
            <a:endParaRPr lang="en-US" dirty="0"/>
          </a:p>
          <a:p>
            <a:r>
              <a:rPr lang="en-US" dirty="0"/>
              <a:t>"The security works."</a:t>
            </a:r>
          </a:p>
          <a:p>
            <a:endParaRPr lang="en-US" dirty="0"/>
          </a:p>
          <a:p>
            <a:r>
              <a:rPr lang="en-US" dirty="0"/>
              <a:t>"The deployment works."</a:t>
            </a:r>
          </a:p>
          <a:p>
            <a:endParaRPr lang="en-US" dirty="0"/>
          </a:p>
          <a:p>
            <a:r>
              <a:rPr lang="en-US" dirty="0"/>
              <a:t>"The monitoring works."</a:t>
            </a:r>
          </a:p>
          <a:p>
            <a:endParaRPr lang="en-US" dirty="0"/>
          </a:p>
          <a:p>
            <a:r>
              <a:rPr lang="en-US" dirty="0"/>
              <a:t>Pause.</a:t>
            </a:r>
          </a:p>
          <a:p>
            <a:endParaRPr lang="en-US" dirty="0"/>
          </a:p>
          <a:p>
            <a:r>
              <a:rPr lang="en-US" dirty="0"/>
              <a:t>"Now I give Atlas to someone who's never seen it before."</a:t>
            </a:r>
          </a:p>
          <a:p>
            <a:endParaRPr lang="en-US" dirty="0"/>
          </a:p>
          <a:p>
            <a:r>
              <a:rPr lang="en-US" dirty="0"/>
              <a:t>Ask:</a:t>
            </a:r>
          </a:p>
          <a:p>
            <a:endParaRPr lang="en-US" dirty="0"/>
          </a:p>
          <a:p>
            <a:r>
              <a:rPr lang="en-US" dirty="0"/>
              <a:t>"Do they know what to do?"</a:t>
            </a:r>
          </a:p>
          <a:p>
            <a:endParaRPr lang="en-US" dirty="0"/>
          </a:p>
          <a:p>
            <a:r>
              <a:rPr lang="en-US" dirty="0"/>
              <a:t>Pause.</a:t>
            </a:r>
          </a:p>
          <a:p>
            <a:endParaRPr lang="en-US" dirty="0"/>
          </a:p>
          <a:p>
            <a:r>
              <a:rPr lang="en-US" dirty="0"/>
              <a:t>"That's usability."</a:t>
            </a:r>
          </a:p>
          <a:p>
            <a:endParaRPr lang="en-US" dirty="0"/>
          </a:p>
          <a:p>
            <a:r>
              <a:rPr lang="en-US" dirty="0"/>
              <a:t>------------------------------------------------------------</a:t>
            </a:r>
          </a:p>
          <a:p>
            <a:endParaRPr lang="en-US" dirty="0"/>
          </a:p>
          <a:p>
            <a:r>
              <a:rPr lang="en-US" dirty="0"/>
              <a:t>THE BIG QUESTION</a:t>
            </a:r>
          </a:p>
          <a:p>
            <a:endParaRPr lang="en-US" dirty="0"/>
          </a:p>
          <a:p>
            <a:r>
              <a:rPr lang="en-US" dirty="0"/>
              <a:t>Point to:</a:t>
            </a:r>
          </a:p>
          <a:p>
            <a:endParaRPr lang="en-US" dirty="0"/>
          </a:p>
          <a:p>
            <a:r>
              <a:rPr lang="en-US" dirty="0"/>
              <a:t>"IS ATLAS EASY AND PLEASANT TO USE?"</a:t>
            </a:r>
          </a:p>
          <a:p>
            <a:endParaRPr lang="en-US" dirty="0"/>
          </a:p>
          <a:p>
            <a:r>
              <a:rPr lang="en-US" dirty="0"/>
              <a:t>Say:</a:t>
            </a:r>
          </a:p>
          <a:p>
            <a:endParaRPr lang="en-US" dirty="0"/>
          </a:p>
          <a:p>
            <a:r>
              <a:rPr lang="en-US" dirty="0"/>
              <a:t>"Notice that I didn't ask..."</a:t>
            </a:r>
          </a:p>
          <a:p>
            <a:endParaRPr lang="en-US" dirty="0"/>
          </a:p>
          <a:p>
            <a:r>
              <a:rPr lang="en-US" dirty="0"/>
              <a:t>"Does the code work?"</a:t>
            </a:r>
          </a:p>
          <a:p>
            <a:endParaRPr lang="en-US" dirty="0"/>
          </a:p>
          <a:p>
            <a:r>
              <a:rPr lang="en-US" dirty="0"/>
              <a:t>"I asked..."</a:t>
            </a:r>
          </a:p>
          <a:p>
            <a:endParaRPr lang="en-US" dirty="0"/>
          </a:p>
          <a:p>
            <a:r>
              <a:rPr lang="en-US" dirty="0"/>
              <a:t>"Can a person use it?"</a:t>
            </a:r>
          </a:p>
          <a:p>
            <a:endParaRPr lang="en-US" dirty="0"/>
          </a:p>
          <a:p>
            <a:r>
              <a:rPr lang="en-US" dirty="0"/>
              <a:t>------------------------------------------------------------</a:t>
            </a:r>
          </a:p>
          <a:p>
            <a:endParaRPr lang="en-US" dirty="0"/>
          </a:p>
          <a:p>
            <a:r>
              <a:rPr lang="en-US" dirty="0"/>
              <a:t>WHAT IS USABILITY?</a:t>
            </a:r>
          </a:p>
          <a:p>
            <a:endParaRPr lang="en-US" dirty="0"/>
          </a:p>
          <a:p>
            <a:r>
              <a:rPr lang="en-US" dirty="0"/>
              <a:t>Explain:</a:t>
            </a:r>
          </a:p>
          <a:p>
            <a:endParaRPr lang="en-US" dirty="0"/>
          </a:p>
          <a:p>
            <a:r>
              <a:rPr lang="en-US" dirty="0"/>
              <a:t>"Usability is how easily a person can accomplish what they came to</a:t>
            </a:r>
          </a:p>
          <a:p>
            <a:r>
              <a:rPr lang="en-US" dirty="0"/>
              <a:t>the application to accomplish."</a:t>
            </a:r>
          </a:p>
          <a:p>
            <a:endParaRPr lang="en-US" dirty="0"/>
          </a:p>
          <a:p>
            <a:r>
              <a:rPr lang="en-US" dirty="0"/>
              <a:t>Good usability means:</a:t>
            </a:r>
          </a:p>
          <a:p>
            <a:endParaRPr lang="en-US" dirty="0"/>
          </a:p>
          <a:p>
            <a:r>
              <a:rPr lang="en-US" dirty="0"/>
              <a:t>Users understand what to do.</a:t>
            </a:r>
          </a:p>
          <a:p>
            <a:endParaRPr lang="en-US" dirty="0"/>
          </a:p>
          <a:p>
            <a:r>
              <a:rPr lang="en-US" dirty="0"/>
              <a:t>Users can accomplish tasks efficiently.</a:t>
            </a:r>
          </a:p>
          <a:p>
            <a:endParaRPr lang="en-US" dirty="0"/>
          </a:p>
          <a:p>
            <a:r>
              <a:rPr lang="en-US" dirty="0"/>
              <a:t>Users know what happened.</a:t>
            </a:r>
          </a:p>
          <a:p>
            <a:endParaRPr lang="en-US" dirty="0"/>
          </a:p>
          <a:p>
            <a:r>
              <a:rPr lang="en-US" dirty="0"/>
              <a:t>Users can recover from mistakes.</a:t>
            </a:r>
          </a:p>
          <a:p>
            <a:endParaRPr lang="en-US" dirty="0"/>
          </a:p>
          <a:p>
            <a:r>
              <a:rPr lang="en-US" dirty="0"/>
              <a:t>Users don't need a developer standing beside them.</a:t>
            </a:r>
          </a:p>
          <a:p>
            <a:endParaRPr lang="en-US" dirty="0"/>
          </a:p>
          <a:p>
            <a:r>
              <a:rPr lang="en-US" dirty="0"/>
              <a:t>------------------------------------------------------------</a:t>
            </a:r>
          </a:p>
          <a:p>
            <a:endParaRPr lang="en-US" dirty="0"/>
          </a:p>
          <a:p>
            <a:r>
              <a:rPr lang="en-US" dirty="0"/>
              <a:t>THE GOAL</a:t>
            </a:r>
          </a:p>
          <a:p>
            <a:endParaRPr lang="en-US" dirty="0"/>
          </a:p>
          <a:p>
            <a:r>
              <a:rPr lang="en-US" dirty="0"/>
              <a:t>Point to:</a:t>
            </a:r>
          </a:p>
          <a:p>
            <a:endParaRPr lang="en-US" dirty="0"/>
          </a:p>
          <a:p>
            <a:r>
              <a:rPr lang="en-US" dirty="0"/>
              <a:t>"Make Atlas </a:t>
            </a:r>
            <a:r>
              <a:rPr lang="en-US" dirty="0" err="1"/>
              <a:t>TaskFlow</a:t>
            </a:r>
            <a:r>
              <a:rPr lang="en-US" dirty="0"/>
              <a:t> clear, intuitive, efficient, accessible, and</a:t>
            </a:r>
          </a:p>
          <a:p>
            <a:r>
              <a:rPr lang="en-US" dirty="0"/>
              <a:t>enjoyable for every user."</a:t>
            </a:r>
          </a:p>
          <a:p>
            <a:endParaRPr lang="en-US" dirty="0"/>
          </a:p>
          <a:p>
            <a:r>
              <a:rPr lang="en-US" dirty="0"/>
              <a:t>Read each word.</a:t>
            </a:r>
          </a:p>
          <a:p>
            <a:endParaRPr lang="en-US" dirty="0"/>
          </a:p>
          <a:p>
            <a:r>
              <a:rPr lang="en-US" dirty="0"/>
              <a:t>Then ask:</a:t>
            </a:r>
          </a:p>
          <a:p>
            <a:endParaRPr lang="en-US" dirty="0"/>
          </a:p>
          <a:p>
            <a:r>
              <a:rPr lang="en-US" dirty="0"/>
              <a:t>"Which one is the easiest to overlook?"</a:t>
            </a:r>
          </a:p>
          <a:p>
            <a:endParaRPr lang="en-US" dirty="0"/>
          </a:p>
          <a:p>
            <a:r>
              <a:rPr lang="en-US" dirty="0"/>
              <a:t>Possible answers:</a:t>
            </a:r>
          </a:p>
          <a:p>
            <a:endParaRPr lang="en-US" dirty="0"/>
          </a:p>
          <a:p>
            <a:r>
              <a:rPr lang="en-US" dirty="0"/>
              <a:t>Accessibility.</a:t>
            </a:r>
          </a:p>
          <a:p>
            <a:endParaRPr lang="en-US" dirty="0"/>
          </a:p>
          <a:p>
            <a:r>
              <a:rPr lang="en-US" dirty="0"/>
              <a:t>Clarity.</a:t>
            </a:r>
          </a:p>
          <a:p>
            <a:endParaRPr lang="en-US" dirty="0"/>
          </a:p>
          <a:p>
            <a:r>
              <a:rPr lang="en-US" dirty="0"/>
              <a:t>Feedback.</a:t>
            </a:r>
          </a:p>
          <a:p>
            <a:endParaRPr lang="en-US" dirty="0"/>
          </a:p>
          <a:p>
            <a:r>
              <a:rPr lang="en-US" dirty="0"/>
              <a:t>Error recovery.</a:t>
            </a:r>
          </a:p>
          <a:p>
            <a:endParaRPr lang="en-US" dirty="0"/>
          </a:p>
          <a:p>
            <a:r>
              <a:rPr lang="en-US" dirty="0"/>
              <a:t>Explain:</a:t>
            </a:r>
          </a:p>
          <a:p>
            <a:endParaRPr lang="en-US" dirty="0"/>
          </a:p>
          <a:p>
            <a:r>
              <a:rPr lang="en-US" dirty="0"/>
              <a:t>"Developers often know how the application works so well that we</a:t>
            </a:r>
          </a:p>
          <a:p>
            <a:r>
              <a:rPr lang="en-US" dirty="0"/>
              <a:t>forget what it's like to see it for the first time."</a:t>
            </a:r>
          </a:p>
          <a:p>
            <a:endParaRPr lang="en-US" dirty="0"/>
          </a:p>
          <a:p>
            <a:r>
              <a:rPr lang="en-US" dirty="0"/>
              <a:t>------------------------------------------------------------</a:t>
            </a:r>
          </a:p>
          <a:p>
            <a:endParaRPr lang="en-US" dirty="0"/>
          </a:p>
          <a:p>
            <a:r>
              <a:rPr lang="en-US" dirty="0"/>
              <a:t>THE DEVELOPER PROBLEM</a:t>
            </a:r>
          </a:p>
          <a:p>
            <a:endParaRPr lang="en-US" dirty="0"/>
          </a:p>
          <a:p>
            <a:r>
              <a:rPr lang="en-US" dirty="0"/>
              <a:t>Say:</a:t>
            </a:r>
          </a:p>
          <a:p>
            <a:endParaRPr lang="en-US" dirty="0"/>
          </a:p>
          <a:p>
            <a:r>
              <a:rPr lang="en-US" dirty="0"/>
              <a:t>"You built Atlas."</a:t>
            </a:r>
          </a:p>
          <a:p>
            <a:endParaRPr lang="en-US" dirty="0"/>
          </a:p>
          <a:p>
            <a:r>
              <a:rPr lang="en-US" dirty="0"/>
              <a:t>"So you already know how it works."</a:t>
            </a:r>
          </a:p>
          <a:p>
            <a:endParaRPr lang="en-US" dirty="0"/>
          </a:p>
          <a:p>
            <a:r>
              <a:rPr lang="en-US" dirty="0"/>
              <a:t>"You know where the buttons are."</a:t>
            </a:r>
          </a:p>
          <a:p>
            <a:endParaRPr lang="en-US" dirty="0"/>
          </a:p>
          <a:p>
            <a:r>
              <a:rPr lang="en-US" dirty="0"/>
              <a:t>"You know what the icons mean."</a:t>
            </a:r>
          </a:p>
          <a:p>
            <a:endParaRPr lang="en-US" dirty="0"/>
          </a:p>
          <a:p>
            <a:r>
              <a:rPr lang="en-US" dirty="0"/>
              <a:t>"You know what the database is doing."</a:t>
            </a:r>
          </a:p>
          <a:p>
            <a:endParaRPr lang="en-US" dirty="0"/>
          </a:p>
          <a:p>
            <a:r>
              <a:rPr lang="en-US" dirty="0"/>
              <a:t>"But the user doesn't."</a:t>
            </a:r>
          </a:p>
          <a:p>
            <a:endParaRPr lang="en-US" dirty="0"/>
          </a:p>
          <a:p>
            <a:r>
              <a:rPr lang="en-US" dirty="0"/>
              <a:t>That's the challenge.</a:t>
            </a:r>
          </a:p>
          <a:p>
            <a:endParaRPr lang="en-US" dirty="0"/>
          </a:p>
          <a:p>
            <a:r>
              <a:rPr lang="en-US" dirty="0"/>
              <a:t>------------------------------------------------------------</a:t>
            </a:r>
          </a:p>
          <a:p>
            <a:endParaRPr lang="en-US" dirty="0"/>
          </a:p>
          <a:p>
            <a:r>
              <a:rPr lang="en-US" dirty="0"/>
              <a:t>THE PRINCIPLE</a:t>
            </a:r>
          </a:p>
          <a:p>
            <a:endParaRPr lang="en-US" dirty="0"/>
          </a:p>
          <a:p>
            <a:r>
              <a:rPr lang="en-US" dirty="0"/>
              <a:t>Point to:</a:t>
            </a:r>
          </a:p>
          <a:p>
            <a:endParaRPr lang="en-US" dirty="0"/>
          </a:p>
          <a:p>
            <a:r>
              <a:rPr lang="en-US" dirty="0"/>
              <a:t>"Design with empathy.</a:t>
            </a:r>
          </a:p>
          <a:p>
            <a:r>
              <a:rPr lang="en-US" dirty="0"/>
              <a:t>Build for clarity.</a:t>
            </a:r>
          </a:p>
          <a:p>
            <a:r>
              <a:rPr lang="en-US" dirty="0"/>
              <a:t>Test with users.</a:t>
            </a:r>
          </a:p>
          <a:p>
            <a:r>
              <a:rPr lang="en-US" dirty="0"/>
              <a:t>Continuously improve."</a:t>
            </a:r>
          </a:p>
          <a:p>
            <a:endParaRPr lang="en-US" dirty="0"/>
          </a:p>
          <a:p>
            <a:r>
              <a:rPr lang="en-US" dirty="0"/>
              <a:t>Say:</a:t>
            </a:r>
          </a:p>
          <a:p>
            <a:endParaRPr lang="en-US" dirty="0"/>
          </a:p>
          <a:p>
            <a:r>
              <a:rPr lang="en-US" dirty="0"/>
              <a:t>"This is our usability cycle."</a:t>
            </a:r>
          </a:p>
          <a:p>
            <a:endParaRPr lang="en-US" dirty="0"/>
          </a:p>
          <a:p>
            <a:r>
              <a:rPr lang="en-US" dirty="0"/>
              <a:t>------------------------------------------------------------</a:t>
            </a:r>
          </a:p>
          <a:p>
            <a:endParaRPr lang="en-US" dirty="0"/>
          </a:p>
          <a:p>
            <a:r>
              <a:rPr lang="en-US" dirty="0"/>
              <a:t>THE USER EXPERIENCE JOURNEY</a:t>
            </a:r>
          </a:p>
          <a:p>
            <a:endParaRPr lang="en-US" dirty="0"/>
          </a:p>
          <a:p>
            <a:r>
              <a:rPr lang="en-US" dirty="0"/>
              <a:t>Walk across the journey:</a:t>
            </a:r>
          </a:p>
          <a:p>
            <a:endParaRPr lang="en-US" dirty="0"/>
          </a:p>
          <a:p>
            <a:r>
              <a:rPr lang="en-US" dirty="0"/>
              <a:t>DISCOVER</a:t>
            </a:r>
          </a:p>
          <a:p>
            <a:endParaRPr lang="en-US" dirty="0"/>
          </a:p>
          <a:p>
            <a:r>
              <a:rPr lang="en-US" dirty="0"/>
              <a:t>↓</a:t>
            </a:r>
          </a:p>
          <a:p>
            <a:endParaRPr lang="en-US" dirty="0"/>
          </a:p>
          <a:p>
            <a:r>
              <a:rPr lang="en-US" dirty="0"/>
              <a:t>ONBOARD</a:t>
            </a:r>
          </a:p>
          <a:p>
            <a:endParaRPr lang="en-US" dirty="0"/>
          </a:p>
          <a:p>
            <a:r>
              <a:rPr lang="en-US" dirty="0"/>
              <a:t>↓</a:t>
            </a:r>
          </a:p>
          <a:p>
            <a:endParaRPr lang="en-US" dirty="0"/>
          </a:p>
          <a:p>
            <a:r>
              <a:rPr lang="en-US" dirty="0"/>
              <a:t>EXPLORE</a:t>
            </a:r>
          </a:p>
          <a:p>
            <a:endParaRPr lang="en-US" dirty="0"/>
          </a:p>
          <a:p>
            <a:r>
              <a:rPr lang="en-US" dirty="0"/>
              <a:t>↓</a:t>
            </a:r>
          </a:p>
          <a:p>
            <a:endParaRPr lang="en-US" dirty="0"/>
          </a:p>
          <a:p>
            <a:r>
              <a:rPr lang="en-US" dirty="0"/>
              <a:t>ACCOMPLISH</a:t>
            </a:r>
          </a:p>
          <a:p>
            <a:endParaRPr lang="en-US" dirty="0"/>
          </a:p>
          <a:p>
            <a:r>
              <a:rPr lang="en-US" dirty="0"/>
              <a:t>↓</a:t>
            </a:r>
          </a:p>
          <a:p>
            <a:endParaRPr lang="en-US" dirty="0"/>
          </a:p>
          <a:p>
            <a:r>
              <a:rPr lang="en-US" dirty="0"/>
              <a:t>RETURN</a:t>
            </a:r>
          </a:p>
          <a:p>
            <a:endParaRPr lang="en-US" dirty="0"/>
          </a:p>
          <a:p>
            <a:r>
              <a:rPr lang="en-US" dirty="0"/>
              <a:t>Explain:</a:t>
            </a:r>
          </a:p>
          <a:p>
            <a:endParaRPr lang="en-US" dirty="0"/>
          </a:p>
          <a:p>
            <a:r>
              <a:rPr lang="en-US" dirty="0"/>
              <a:t>"Usability isn't one screen."</a:t>
            </a:r>
          </a:p>
          <a:p>
            <a:endParaRPr lang="en-US" dirty="0"/>
          </a:p>
          <a:p>
            <a:r>
              <a:rPr lang="en-US" dirty="0"/>
              <a:t>"It's the entire experience."</a:t>
            </a:r>
          </a:p>
          <a:p>
            <a:endParaRPr lang="en-US" dirty="0"/>
          </a:p>
          <a:p>
            <a:r>
              <a:rPr lang="en-US" dirty="0"/>
              <a:t>------------------------------------------------------------</a:t>
            </a:r>
          </a:p>
          <a:p>
            <a:endParaRPr lang="en-US" dirty="0"/>
          </a:p>
          <a:p>
            <a:r>
              <a:rPr lang="en-US" dirty="0"/>
              <a:t>1. DISCOVER</a:t>
            </a:r>
          </a:p>
          <a:p>
            <a:endParaRPr lang="en-US" dirty="0"/>
          </a:p>
          <a:p>
            <a:r>
              <a:rPr lang="en-US" dirty="0"/>
              <a:t>Ask:</a:t>
            </a:r>
          </a:p>
          <a:p>
            <a:endParaRPr lang="en-US" dirty="0"/>
          </a:p>
          <a:p>
            <a:r>
              <a:rPr lang="en-US" dirty="0"/>
              <a:t>"If I first encounter Atlas..."</a:t>
            </a:r>
          </a:p>
          <a:p>
            <a:endParaRPr lang="en-US" dirty="0"/>
          </a:p>
          <a:p>
            <a:r>
              <a:rPr lang="en-US" dirty="0"/>
              <a:t>"Do I understand what it does?"</a:t>
            </a:r>
          </a:p>
          <a:p>
            <a:endParaRPr lang="en-US" dirty="0"/>
          </a:p>
          <a:p>
            <a:r>
              <a:rPr lang="en-US" dirty="0"/>
              <a:t>Can the user determine:</a:t>
            </a:r>
          </a:p>
          <a:p>
            <a:endParaRPr lang="en-US" dirty="0"/>
          </a:p>
          <a:p>
            <a:r>
              <a:rPr lang="en-US" dirty="0"/>
              <a:t>What Atlas is.</a:t>
            </a:r>
          </a:p>
          <a:p>
            <a:endParaRPr lang="en-US" dirty="0"/>
          </a:p>
          <a:p>
            <a:r>
              <a:rPr lang="en-US" dirty="0"/>
              <a:t>Who it is for.</a:t>
            </a:r>
          </a:p>
          <a:p>
            <a:endParaRPr lang="en-US" dirty="0"/>
          </a:p>
          <a:p>
            <a:r>
              <a:rPr lang="en-US" dirty="0"/>
              <a:t>What problem it solves.</a:t>
            </a:r>
          </a:p>
          <a:p>
            <a:endParaRPr lang="en-US" dirty="0"/>
          </a:p>
          <a:p>
            <a:r>
              <a:rPr lang="en-US" dirty="0"/>
              <a:t>What they should do next.</a:t>
            </a:r>
          </a:p>
          <a:p>
            <a:endParaRPr lang="en-US" dirty="0"/>
          </a:p>
          <a:p>
            <a:r>
              <a:rPr lang="en-US" dirty="0"/>
              <a:t>Explain:</a:t>
            </a:r>
          </a:p>
          <a:p>
            <a:endParaRPr lang="en-US" dirty="0"/>
          </a:p>
          <a:p>
            <a:r>
              <a:rPr lang="en-US" dirty="0"/>
              <a:t>"First impressions matter."</a:t>
            </a:r>
          </a:p>
          <a:p>
            <a:endParaRPr lang="en-US" dirty="0"/>
          </a:p>
          <a:p>
            <a:r>
              <a:rPr lang="en-US" dirty="0"/>
              <a:t>------------------------------------------------------------</a:t>
            </a:r>
          </a:p>
          <a:p>
            <a:endParaRPr lang="en-US" dirty="0"/>
          </a:p>
          <a:p>
            <a:r>
              <a:rPr lang="en-US" dirty="0"/>
              <a:t>2. ONBOARD</a:t>
            </a:r>
          </a:p>
          <a:p>
            <a:endParaRPr lang="en-US" dirty="0"/>
          </a:p>
          <a:p>
            <a:r>
              <a:rPr lang="en-US" dirty="0"/>
              <a:t>Ask:</a:t>
            </a:r>
          </a:p>
          <a:p>
            <a:endParaRPr lang="en-US" dirty="0"/>
          </a:p>
          <a:p>
            <a:r>
              <a:rPr lang="en-US" dirty="0"/>
              <a:t>"Can a new user get started?"</a:t>
            </a:r>
          </a:p>
          <a:p>
            <a:endParaRPr lang="en-US" dirty="0"/>
          </a:p>
          <a:p>
            <a:r>
              <a:rPr lang="en-US" dirty="0"/>
              <a:t>Look at:</a:t>
            </a:r>
          </a:p>
          <a:p>
            <a:endParaRPr lang="en-US" dirty="0"/>
          </a:p>
          <a:p>
            <a:r>
              <a:rPr lang="en-US" dirty="0"/>
              <a:t>Registration.</a:t>
            </a:r>
          </a:p>
          <a:p>
            <a:endParaRPr lang="en-US" dirty="0"/>
          </a:p>
          <a:p>
            <a:r>
              <a:rPr lang="en-US" dirty="0"/>
              <a:t>Login.</a:t>
            </a:r>
          </a:p>
          <a:p>
            <a:endParaRPr lang="en-US" dirty="0"/>
          </a:p>
          <a:p>
            <a:r>
              <a:rPr lang="en-US" dirty="0"/>
              <a:t>Initial instructions.</a:t>
            </a:r>
          </a:p>
          <a:p>
            <a:endParaRPr lang="en-US" dirty="0"/>
          </a:p>
          <a:p>
            <a:r>
              <a:rPr lang="en-US" dirty="0"/>
              <a:t>First project.</a:t>
            </a:r>
          </a:p>
          <a:p>
            <a:endParaRPr lang="en-US" dirty="0"/>
          </a:p>
          <a:p>
            <a:r>
              <a:rPr lang="en-US" dirty="0"/>
              <a:t>First task.</a:t>
            </a:r>
          </a:p>
          <a:p>
            <a:endParaRPr lang="en-US" dirty="0"/>
          </a:p>
          <a:p>
            <a:r>
              <a:rPr lang="en-US" dirty="0"/>
              <a:t>Explain:</a:t>
            </a:r>
          </a:p>
          <a:p>
            <a:endParaRPr lang="en-US" dirty="0"/>
          </a:p>
          <a:p>
            <a:r>
              <a:rPr lang="en-US" dirty="0"/>
              <a:t>"Don't make users figure everything out themselves."</a:t>
            </a:r>
          </a:p>
          <a:p>
            <a:endParaRPr lang="en-US" dirty="0"/>
          </a:p>
          <a:p>
            <a:r>
              <a:rPr lang="en-US" dirty="0"/>
              <a:t>------------------------------------------------------------</a:t>
            </a:r>
          </a:p>
          <a:p>
            <a:endParaRPr lang="en-US" dirty="0"/>
          </a:p>
          <a:p>
            <a:r>
              <a:rPr lang="en-US" dirty="0"/>
              <a:t>3. EXPLORE</a:t>
            </a:r>
          </a:p>
          <a:p>
            <a:endParaRPr lang="en-US" dirty="0"/>
          </a:p>
          <a:p>
            <a:r>
              <a:rPr lang="en-US" dirty="0"/>
              <a:t>Explain:</a:t>
            </a:r>
          </a:p>
          <a:p>
            <a:endParaRPr lang="en-US" dirty="0"/>
          </a:p>
          <a:p>
            <a:r>
              <a:rPr lang="en-US" dirty="0"/>
              <a:t>"Once users are inside Atlas..."</a:t>
            </a:r>
          </a:p>
          <a:p>
            <a:endParaRPr lang="en-US" dirty="0"/>
          </a:p>
          <a:p>
            <a:r>
              <a:rPr lang="en-US" dirty="0"/>
              <a:t>"Can they understand the layout?"</a:t>
            </a:r>
          </a:p>
          <a:p>
            <a:endParaRPr lang="en-US" dirty="0"/>
          </a:p>
          <a:p>
            <a:r>
              <a:rPr lang="en-US" dirty="0"/>
              <a:t>Look at:</a:t>
            </a:r>
          </a:p>
          <a:p>
            <a:endParaRPr lang="en-US" dirty="0"/>
          </a:p>
          <a:p>
            <a:r>
              <a:rPr lang="en-US" dirty="0"/>
              <a:t>Navigation.</a:t>
            </a:r>
          </a:p>
          <a:p>
            <a:endParaRPr lang="en-US" dirty="0"/>
          </a:p>
          <a:p>
            <a:r>
              <a:rPr lang="en-US" dirty="0"/>
              <a:t>Menus.</a:t>
            </a:r>
          </a:p>
          <a:p>
            <a:endParaRPr lang="en-US" dirty="0"/>
          </a:p>
          <a:p>
            <a:r>
              <a:rPr lang="en-US" dirty="0"/>
              <a:t>Labels.</a:t>
            </a:r>
          </a:p>
          <a:p>
            <a:endParaRPr lang="en-US" dirty="0"/>
          </a:p>
          <a:p>
            <a:r>
              <a:rPr lang="en-US" dirty="0"/>
              <a:t>Icons.</a:t>
            </a:r>
          </a:p>
          <a:p>
            <a:endParaRPr lang="en-US" dirty="0"/>
          </a:p>
          <a:p>
            <a:r>
              <a:rPr lang="en-US" dirty="0"/>
              <a:t>Page structure.</a:t>
            </a:r>
          </a:p>
          <a:p>
            <a:endParaRPr lang="en-US" dirty="0"/>
          </a:p>
          <a:p>
            <a:r>
              <a:rPr lang="en-US" dirty="0"/>
              <a:t>Explain:</a:t>
            </a:r>
          </a:p>
          <a:p>
            <a:endParaRPr lang="en-US" dirty="0"/>
          </a:p>
          <a:p>
            <a:r>
              <a:rPr lang="en-US" dirty="0"/>
              <a:t>"Users should build a mental model of the application."</a:t>
            </a:r>
          </a:p>
          <a:p>
            <a:endParaRPr lang="en-US" dirty="0"/>
          </a:p>
          <a:p>
            <a:r>
              <a:rPr lang="en-US" dirty="0"/>
              <a:t>------------------------------------------------------------</a:t>
            </a:r>
          </a:p>
          <a:p>
            <a:endParaRPr lang="en-US" dirty="0"/>
          </a:p>
          <a:p>
            <a:r>
              <a:rPr lang="en-US" dirty="0"/>
              <a:t>4. ACCOMPLISH</a:t>
            </a:r>
          </a:p>
          <a:p>
            <a:endParaRPr lang="en-US" dirty="0"/>
          </a:p>
          <a:p>
            <a:r>
              <a:rPr lang="en-US" dirty="0"/>
              <a:t>This is the most important stage.</a:t>
            </a:r>
          </a:p>
          <a:p>
            <a:endParaRPr lang="en-US" dirty="0"/>
          </a:p>
          <a:p>
            <a:r>
              <a:rPr lang="en-US" dirty="0"/>
              <a:t>Ask:</a:t>
            </a:r>
          </a:p>
          <a:p>
            <a:endParaRPr lang="en-US" dirty="0"/>
          </a:p>
          <a:p>
            <a:r>
              <a:rPr lang="en-US" dirty="0"/>
              <a:t>"Can users actually accomplish their goal?"</a:t>
            </a:r>
          </a:p>
          <a:p>
            <a:endParaRPr lang="en-US" dirty="0"/>
          </a:p>
          <a:p>
            <a:r>
              <a:rPr lang="en-US" dirty="0"/>
              <a:t>Examples:</a:t>
            </a:r>
          </a:p>
          <a:p>
            <a:endParaRPr lang="en-US" dirty="0"/>
          </a:p>
          <a:p>
            <a:r>
              <a:rPr lang="en-US" dirty="0"/>
              <a:t>Create a project.</a:t>
            </a:r>
          </a:p>
          <a:p>
            <a:endParaRPr lang="en-US" dirty="0"/>
          </a:p>
          <a:p>
            <a:r>
              <a:rPr lang="en-US" dirty="0"/>
              <a:t>Create a task.</a:t>
            </a:r>
          </a:p>
          <a:p>
            <a:endParaRPr lang="en-US" dirty="0"/>
          </a:p>
          <a:p>
            <a:r>
              <a:rPr lang="en-US" dirty="0"/>
              <a:t>Assign a task.</a:t>
            </a:r>
          </a:p>
          <a:p>
            <a:endParaRPr lang="en-US" dirty="0"/>
          </a:p>
          <a:p>
            <a:r>
              <a:rPr lang="en-US" dirty="0"/>
              <a:t>Complete a task.</a:t>
            </a:r>
          </a:p>
          <a:p>
            <a:endParaRPr lang="en-US" dirty="0"/>
          </a:p>
          <a:p>
            <a:r>
              <a:rPr lang="en-US" dirty="0"/>
              <a:t>Edit information.</a:t>
            </a:r>
          </a:p>
          <a:p>
            <a:endParaRPr lang="en-US" dirty="0"/>
          </a:p>
          <a:p>
            <a:r>
              <a:rPr lang="en-US" dirty="0"/>
              <a:t>Find information.</a:t>
            </a:r>
          </a:p>
          <a:p>
            <a:endParaRPr lang="en-US" dirty="0"/>
          </a:p>
          <a:p>
            <a:r>
              <a:rPr lang="en-US" dirty="0"/>
              <a:t>Explain:</a:t>
            </a:r>
          </a:p>
          <a:p>
            <a:endParaRPr lang="en-US" dirty="0"/>
          </a:p>
          <a:p>
            <a:r>
              <a:rPr lang="en-US" dirty="0"/>
              <a:t>"Every unnecessary step adds friction."</a:t>
            </a:r>
          </a:p>
          <a:p>
            <a:endParaRPr lang="en-US" dirty="0"/>
          </a:p>
          <a:p>
            <a:r>
              <a:rPr lang="en-US" dirty="0"/>
              <a:t>------------------------------------------------------------</a:t>
            </a:r>
          </a:p>
          <a:p>
            <a:endParaRPr lang="en-US" dirty="0"/>
          </a:p>
          <a:p>
            <a:r>
              <a:rPr lang="en-US" dirty="0"/>
              <a:t>5. RETURN</a:t>
            </a:r>
          </a:p>
          <a:p>
            <a:endParaRPr lang="en-US" dirty="0"/>
          </a:p>
          <a:p>
            <a:r>
              <a:rPr lang="en-US" dirty="0"/>
              <a:t>Ask:</a:t>
            </a:r>
          </a:p>
          <a:p>
            <a:endParaRPr lang="en-US" dirty="0"/>
          </a:p>
          <a:p>
            <a:r>
              <a:rPr lang="en-US" dirty="0"/>
              <a:t>"Would the user come back?"</a:t>
            </a:r>
          </a:p>
          <a:p>
            <a:endParaRPr lang="en-US" dirty="0"/>
          </a:p>
          <a:p>
            <a:r>
              <a:rPr lang="en-US" dirty="0"/>
              <a:t>Why?</a:t>
            </a:r>
          </a:p>
          <a:p>
            <a:endParaRPr lang="en-US" dirty="0"/>
          </a:p>
          <a:p>
            <a:r>
              <a:rPr lang="en-US" dirty="0"/>
              <a:t>Because Atlas:</a:t>
            </a:r>
          </a:p>
          <a:p>
            <a:endParaRPr lang="en-US" dirty="0"/>
          </a:p>
          <a:p>
            <a:r>
              <a:rPr lang="en-US" dirty="0"/>
              <a:t>Saved them time.</a:t>
            </a:r>
          </a:p>
          <a:p>
            <a:endParaRPr lang="en-US" dirty="0"/>
          </a:p>
          <a:p>
            <a:r>
              <a:rPr lang="en-US" dirty="0"/>
              <a:t>Was easy to understand.</a:t>
            </a:r>
          </a:p>
          <a:p>
            <a:endParaRPr lang="en-US" dirty="0"/>
          </a:p>
          <a:p>
            <a:r>
              <a:rPr lang="en-US" dirty="0"/>
              <a:t>Was reliable.</a:t>
            </a:r>
          </a:p>
          <a:p>
            <a:endParaRPr lang="en-US" dirty="0"/>
          </a:p>
          <a:p>
            <a:r>
              <a:rPr lang="en-US" dirty="0"/>
              <a:t>Made their work easier.</a:t>
            </a:r>
          </a:p>
          <a:p>
            <a:endParaRPr lang="en-US" dirty="0"/>
          </a:p>
          <a:p>
            <a:r>
              <a:rPr lang="en-US" dirty="0"/>
              <a:t>Explain:</a:t>
            </a:r>
          </a:p>
          <a:p>
            <a:endParaRPr lang="en-US" dirty="0"/>
          </a:p>
          <a:p>
            <a:r>
              <a:rPr lang="en-US" dirty="0"/>
              <a:t>"Good usability creates repeat use."</a:t>
            </a:r>
          </a:p>
          <a:p>
            <a:endParaRPr lang="en-US" dirty="0"/>
          </a:p>
          <a:p>
            <a:r>
              <a:rPr lang="en-US" dirty="0"/>
              <a:t>------------------------------------------------------------</a:t>
            </a:r>
          </a:p>
          <a:p>
            <a:endParaRPr lang="en-US" dirty="0"/>
          </a:p>
          <a:p>
            <a:r>
              <a:rPr lang="en-US" dirty="0"/>
              <a:t>THE USER JOURNEY PRINCIPLE</a:t>
            </a:r>
          </a:p>
          <a:p>
            <a:endParaRPr lang="en-US" dirty="0"/>
          </a:p>
          <a:p>
            <a:r>
              <a:rPr lang="en-US" dirty="0"/>
              <a:t>Point to:</a:t>
            </a:r>
          </a:p>
          <a:p>
            <a:endParaRPr lang="en-US" dirty="0"/>
          </a:p>
          <a:p>
            <a:r>
              <a:rPr lang="en-US" dirty="0"/>
              <a:t>"Make every step clear, efficient, and rewarding."</a:t>
            </a:r>
          </a:p>
          <a:p>
            <a:endParaRPr lang="en-US" dirty="0"/>
          </a:p>
          <a:p>
            <a:r>
              <a:rPr lang="en-US" dirty="0"/>
              <a:t>Say:</a:t>
            </a:r>
          </a:p>
          <a:p>
            <a:endParaRPr lang="en-US" dirty="0"/>
          </a:p>
          <a:p>
            <a:r>
              <a:rPr lang="en-US" dirty="0"/>
              <a:t>"If users have to stop and ask..."</a:t>
            </a:r>
          </a:p>
          <a:p>
            <a:endParaRPr lang="en-US" dirty="0"/>
          </a:p>
          <a:p>
            <a:r>
              <a:rPr lang="en-US" dirty="0"/>
              <a:t>"What do I do now?"</a:t>
            </a:r>
          </a:p>
          <a:p>
            <a:endParaRPr lang="en-US" dirty="0"/>
          </a:p>
          <a:p>
            <a:r>
              <a:rPr lang="en-US" dirty="0"/>
              <a:t>"...we have a usability problem."</a:t>
            </a:r>
          </a:p>
          <a:p>
            <a:endParaRPr lang="en-US" dirty="0"/>
          </a:p>
          <a:p>
            <a:r>
              <a:rPr lang="en-US" dirty="0"/>
              <a:t>------------------------------------------------------------</a:t>
            </a:r>
          </a:p>
          <a:p>
            <a:endParaRPr lang="en-US" dirty="0"/>
          </a:p>
          <a:p>
            <a:r>
              <a:rPr lang="en-US" dirty="0"/>
              <a:t>GOOD VS POOR EXPERIENCE</a:t>
            </a:r>
          </a:p>
          <a:p>
            <a:endParaRPr lang="en-US" dirty="0"/>
          </a:p>
          <a:p>
            <a:r>
              <a:rPr lang="en-US" dirty="0"/>
              <a:t>Move to the comparison section.</a:t>
            </a:r>
          </a:p>
          <a:p>
            <a:endParaRPr lang="en-US" dirty="0"/>
          </a:p>
          <a:p>
            <a:r>
              <a:rPr lang="en-US" dirty="0"/>
              <a:t>Explain:</a:t>
            </a:r>
          </a:p>
          <a:p>
            <a:endParaRPr lang="en-US" dirty="0"/>
          </a:p>
          <a:p>
            <a:r>
              <a:rPr lang="en-US" dirty="0"/>
              <a:t>"We're going to compare two experiences."</a:t>
            </a:r>
          </a:p>
          <a:p>
            <a:endParaRPr lang="en-US" dirty="0"/>
          </a:p>
          <a:p>
            <a:r>
              <a:rPr lang="en-US" dirty="0"/>
              <a:t>------------------------------------------------------------</a:t>
            </a:r>
          </a:p>
          <a:p>
            <a:endParaRPr lang="en-US" dirty="0"/>
          </a:p>
          <a:p>
            <a:r>
              <a:rPr lang="en-US" dirty="0"/>
              <a:t>CONFUSING NAVIGATION</a:t>
            </a:r>
          </a:p>
          <a:p>
            <a:endParaRPr lang="en-US" dirty="0"/>
          </a:p>
          <a:p>
            <a:r>
              <a:rPr lang="en-US" dirty="0"/>
              <a:t>Poor:</a:t>
            </a:r>
          </a:p>
          <a:p>
            <a:endParaRPr lang="en-US" dirty="0"/>
          </a:p>
          <a:p>
            <a:r>
              <a:rPr lang="en-US" dirty="0"/>
              <a:t>Users don't know where they are.</a:t>
            </a:r>
          </a:p>
          <a:p>
            <a:endParaRPr lang="en-US" dirty="0"/>
          </a:p>
          <a:p>
            <a:r>
              <a:rPr lang="en-US" dirty="0"/>
              <a:t>Users don't know where to go.</a:t>
            </a:r>
          </a:p>
          <a:p>
            <a:endParaRPr lang="en-US" dirty="0"/>
          </a:p>
          <a:p>
            <a:r>
              <a:rPr lang="en-US" dirty="0"/>
              <a:t>Great:</a:t>
            </a:r>
          </a:p>
          <a:p>
            <a:endParaRPr lang="en-US" dirty="0"/>
          </a:p>
          <a:p>
            <a:r>
              <a:rPr lang="en-US" dirty="0"/>
              <a:t>Navigation is predictable.</a:t>
            </a:r>
          </a:p>
          <a:p>
            <a:endParaRPr lang="en-US" dirty="0"/>
          </a:p>
          <a:p>
            <a:r>
              <a:rPr lang="en-US" dirty="0"/>
              <a:t>Users know where they are.</a:t>
            </a:r>
          </a:p>
          <a:p>
            <a:endParaRPr lang="en-US" dirty="0"/>
          </a:p>
          <a:p>
            <a:r>
              <a:rPr lang="en-US" dirty="0"/>
              <a:t>Users know what to do next.</a:t>
            </a:r>
          </a:p>
          <a:p>
            <a:endParaRPr lang="en-US" dirty="0"/>
          </a:p>
          <a:p>
            <a:r>
              <a:rPr lang="en-US" dirty="0"/>
              <a:t>------------------------------------------------------------</a:t>
            </a:r>
          </a:p>
          <a:p>
            <a:endParaRPr lang="en-US" dirty="0"/>
          </a:p>
          <a:p>
            <a:r>
              <a:rPr lang="en-US" dirty="0"/>
              <a:t>UNCLEAR FORMS</a:t>
            </a:r>
          </a:p>
          <a:p>
            <a:endParaRPr lang="en-US" dirty="0"/>
          </a:p>
          <a:p>
            <a:r>
              <a:rPr lang="en-US" dirty="0"/>
              <a:t>Poor:</a:t>
            </a:r>
          </a:p>
          <a:p>
            <a:endParaRPr lang="en-US" dirty="0"/>
          </a:p>
          <a:p>
            <a:r>
              <a:rPr lang="en-US" dirty="0"/>
              <a:t>Too many fields.</a:t>
            </a:r>
          </a:p>
          <a:p>
            <a:endParaRPr lang="en-US" dirty="0"/>
          </a:p>
          <a:p>
            <a:r>
              <a:rPr lang="en-US" dirty="0"/>
              <a:t>Unclear labels.</a:t>
            </a:r>
          </a:p>
          <a:p>
            <a:endParaRPr lang="en-US" dirty="0"/>
          </a:p>
          <a:p>
            <a:r>
              <a:rPr lang="en-US" dirty="0"/>
              <a:t>No guidance.</a:t>
            </a:r>
          </a:p>
          <a:p>
            <a:endParaRPr lang="en-US" dirty="0"/>
          </a:p>
          <a:p>
            <a:r>
              <a:rPr lang="en-US" dirty="0"/>
              <a:t>Great:</a:t>
            </a:r>
          </a:p>
          <a:p>
            <a:endParaRPr lang="en-US" dirty="0"/>
          </a:p>
          <a:p>
            <a:r>
              <a:rPr lang="en-US" dirty="0"/>
              <a:t>Clear labels.</a:t>
            </a:r>
          </a:p>
          <a:p>
            <a:endParaRPr lang="en-US" dirty="0"/>
          </a:p>
          <a:p>
            <a:r>
              <a:rPr lang="en-US" dirty="0"/>
              <a:t>Reasonable fields.</a:t>
            </a:r>
          </a:p>
          <a:p>
            <a:endParaRPr lang="en-US" dirty="0"/>
          </a:p>
          <a:p>
            <a:r>
              <a:rPr lang="en-US" dirty="0"/>
              <a:t>Helpful instructions.</a:t>
            </a:r>
          </a:p>
          <a:p>
            <a:endParaRPr lang="en-US" dirty="0"/>
          </a:p>
          <a:p>
            <a:r>
              <a:rPr lang="en-US" dirty="0"/>
              <a:t>Validation.</a:t>
            </a:r>
          </a:p>
          <a:p>
            <a:endParaRPr lang="en-US" dirty="0"/>
          </a:p>
          <a:p>
            <a:r>
              <a:rPr lang="en-US" dirty="0"/>
              <a:t>------------------------------------------------------------</a:t>
            </a:r>
          </a:p>
          <a:p>
            <a:endParaRPr lang="en-US" dirty="0"/>
          </a:p>
          <a:p>
            <a:r>
              <a:rPr lang="en-US" dirty="0"/>
              <a:t>NO FEEDBACK</a:t>
            </a:r>
          </a:p>
          <a:p>
            <a:endParaRPr lang="en-US" dirty="0"/>
          </a:p>
          <a:p>
            <a:r>
              <a:rPr lang="en-US" dirty="0"/>
              <a:t>Poor:</a:t>
            </a:r>
          </a:p>
          <a:p>
            <a:endParaRPr lang="en-US" dirty="0"/>
          </a:p>
          <a:p>
            <a:r>
              <a:rPr lang="en-US" dirty="0"/>
              <a:t>User clicks a button.</a:t>
            </a:r>
          </a:p>
          <a:p>
            <a:endParaRPr lang="en-US" dirty="0"/>
          </a:p>
          <a:p>
            <a:r>
              <a:rPr lang="en-US" dirty="0"/>
              <a:t>Nothing appears to happen.</a:t>
            </a:r>
          </a:p>
          <a:p>
            <a:endParaRPr lang="en-US" dirty="0"/>
          </a:p>
          <a:p>
            <a:r>
              <a:rPr lang="en-US" dirty="0"/>
              <a:t>Great:</a:t>
            </a:r>
          </a:p>
          <a:p>
            <a:endParaRPr lang="en-US" dirty="0"/>
          </a:p>
          <a:p>
            <a:r>
              <a:rPr lang="en-US" dirty="0"/>
              <a:t>User receives confirmation.</a:t>
            </a:r>
          </a:p>
          <a:p>
            <a:endParaRPr lang="en-US" dirty="0"/>
          </a:p>
          <a:p>
            <a:r>
              <a:rPr lang="en-US" dirty="0"/>
              <a:t>Loading indicator.</a:t>
            </a:r>
          </a:p>
          <a:p>
            <a:endParaRPr lang="en-US" dirty="0"/>
          </a:p>
          <a:p>
            <a:r>
              <a:rPr lang="en-US" dirty="0"/>
              <a:t>Success message.</a:t>
            </a:r>
          </a:p>
          <a:p>
            <a:endParaRPr lang="en-US" dirty="0"/>
          </a:p>
          <a:p>
            <a:r>
              <a:rPr lang="en-US" dirty="0"/>
              <a:t>Clear next step.</a:t>
            </a:r>
          </a:p>
          <a:p>
            <a:endParaRPr lang="en-US" dirty="0"/>
          </a:p>
          <a:p>
            <a:r>
              <a:rPr lang="en-US" dirty="0"/>
              <a:t>------------------------------------------------------------</a:t>
            </a:r>
          </a:p>
          <a:p>
            <a:endParaRPr lang="en-US" dirty="0"/>
          </a:p>
          <a:p>
            <a:r>
              <a:rPr lang="en-US" dirty="0"/>
              <a:t>BAD ERROR MESSAGES</a:t>
            </a:r>
          </a:p>
          <a:p>
            <a:endParaRPr lang="en-US" dirty="0"/>
          </a:p>
          <a:p>
            <a:r>
              <a:rPr lang="en-US" dirty="0"/>
              <a:t>Poor:</a:t>
            </a:r>
          </a:p>
          <a:p>
            <a:endParaRPr lang="en-US" dirty="0"/>
          </a:p>
          <a:p>
            <a:r>
              <a:rPr lang="en-US" dirty="0"/>
              <a:t>Technical.</a:t>
            </a:r>
          </a:p>
          <a:p>
            <a:endParaRPr lang="en-US" dirty="0"/>
          </a:p>
          <a:p>
            <a:r>
              <a:rPr lang="en-US" dirty="0"/>
              <a:t>Vague.</a:t>
            </a:r>
          </a:p>
          <a:p>
            <a:endParaRPr lang="en-US" dirty="0"/>
          </a:p>
          <a:p>
            <a:r>
              <a:rPr lang="en-US" dirty="0"/>
              <a:t>Blaming.</a:t>
            </a:r>
          </a:p>
          <a:p>
            <a:endParaRPr lang="en-US" dirty="0"/>
          </a:p>
          <a:p>
            <a:r>
              <a:rPr lang="en-US" dirty="0"/>
              <a:t>Example concept:</a:t>
            </a:r>
          </a:p>
          <a:p>
            <a:endParaRPr lang="en-US" dirty="0"/>
          </a:p>
          <a:p>
            <a:r>
              <a:rPr lang="en-US" dirty="0"/>
              <a:t>"Invalid operation."</a:t>
            </a:r>
          </a:p>
          <a:p>
            <a:endParaRPr lang="en-US" dirty="0"/>
          </a:p>
          <a:p>
            <a:r>
              <a:rPr lang="en-US" dirty="0"/>
              <a:t>Great:</a:t>
            </a:r>
          </a:p>
          <a:p>
            <a:endParaRPr lang="en-US" dirty="0"/>
          </a:p>
          <a:p>
            <a:r>
              <a:rPr lang="en-US" dirty="0"/>
              <a:t>Clear.</a:t>
            </a:r>
          </a:p>
          <a:p>
            <a:endParaRPr lang="en-US" dirty="0"/>
          </a:p>
          <a:p>
            <a:r>
              <a:rPr lang="en-US" dirty="0"/>
              <a:t>Specific.</a:t>
            </a:r>
          </a:p>
          <a:p>
            <a:endParaRPr lang="en-US" dirty="0"/>
          </a:p>
          <a:p>
            <a:r>
              <a:rPr lang="en-US" dirty="0"/>
              <a:t>Actionable.</a:t>
            </a:r>
          </a:p>
          <a:p>
            <a:endParaRPr lang="en-US" dirty="0"/>
          </a:p>
          <a:p>
            <a:r>
              <a:rPr lang="en-US" dirty="0"/>
              <a:t>Example:</a:t>
            </a:r>
          </a:p>
          <a:p>
            <a:endParaRPr lang="en-US" dirty="0"/>
          </a:p>
          <a:p>
            <a:r>
              <a:rPr lang="en-US" dirty="0"/>
              <a:t>"Enter a valid project name."</a:t>
            </a:r>
          </a:p>
          <a:p>
            <a:endParaRPr lang="en-US" dirty="0"/>
          </a:p>
          <a:p>
            <a:r>
              <a:rPr lang="en-US" dirty="0"/>
              <a:t>Explain:</a:t>
            </a:r>
          </a:p>
          <a:p>
            <a:endParaRPr lang="en-US" dirty="0"/>
          </a:p>
          <a:p>
            <a:r>
              <a:rPr lang="en-US" dirty="0"/>
              <a:t>"An error should help the user recover."</a:t>
            </a:r>
          </a:p>
          <a:p>
            <a:endParaRPr lang="en-US" dirty="0"/>
          </a:p>
          <a:p>
            <a:r>
              <a:rPr lang="en-US" dirty="0"/>
              <a:t>------------------------------------------------------------</a:t>
            </a:r>
          </a:p>
          <a:p>
            <a:endParaRPr lang="en-US" dirty="0"/>
          </a:p>
          <a:p>
            <a:r>
              <a:rPr lang="en-US" dirty="0"/>
              <a:t>INCONSISTENT UI</a:t>
            </a:r>
          </a:p>
          <a:p>
            <a:endParaRPr lang="en-US" dirty="0"/>
          </a:p>
          <a:p>
            <a:r>
              <a:rPr lang="en-US" dirty="0"/>
              <a:t>Poor:</a:t>
            </a:r>
          </a:p>
          <a:p>
            <a:endParaRPr lang="en-US" dirty="0"/>
          </a:p>
          <a:p>
            <a:r>
              <a:rPr lang="en-US" dirty="0"/>
              <a:t>Different buttons.</a:t>
            </a:r>
          </a:p>
          <a:p>
            <a:endParaRPr lang="en-US" dirty="0"/>
          </a:p>
          <a:p>
            <a:r>
              <a:rPr lang="en-US" dirty="0"/>
              <a:t>Different colors.</a:t>
            </a:r>
          </a:p>
          <a:p>
            <a:endParaRPr lang="en-US" dirty="0"/>
          </a:p>
          <a:p>
            <a:r>
              <a:rPr lang="en-US" dirty="0"/>
              <a:t>Different terminology.</a:t>
            </a:r>
          </a:p>
          <a:p>
            <a:endParaRPr lang="en-US" dirty="0"/>
          </a:p>
          <a:p>
            <a:r>
              <a:rPr lang="en-US" dirty="0"/>
              <a:t>Different layouts.</a:t>
            </a:r>
          </a:p>
          <a:p>
            <a:endParaRPr lang="en-US" dirty="0"/>
          </a:p>
          <a:p>
            <a:r>
              <a:rPr lang="en-US" dirty="0"/>
              <a:t>Great:</a:t>
            </a:r>
          </a:p>
          <a:p>
            <a:endParaRPr lang="en-US" dirty="0"/>
          </a:p>
          <a:p>
            <a:r>
              <a:rPr lang="en-US" dirty="0"/>
              <a:t>Consistent patterns.</a:t>
            </a:r>
          </a:p>
          <a:p>
            <a:endParaRPr lang="en-US" dirty="0"/>
          </a:p>
          <a:p>
            <a:r>
              <a:rPr lang="en-US" dirty="0"/>
              <a:t>Same terminology.</a:t>
            </a:r>
          </a:p>
          <a:p>
            <a:endParaRPr lang="en-US" dirty="0"/>
          </a:p>
          <a:p>
            <a:r>
              <a:rPr lang="en-US" dirty="0"/>
              <a:t>Predictable interactions.</a:t>
            </a:r>
          </a:p>
          <a:p>
            <a:endParaRPr lang="en-US" dirty="0"/>
          </a:p>
          <a:p>
            <a:r>
              <a:rPr lang="en-US" dirty="0"/>
              <a:t>Explain:</a:t>
            </a:r>
          </a:p>
          <a:p>
            <a:endParaRPr lang="en-US" dirty="0"/>
          </a:p>
          <a:p>
            <a:r>
              <a:rPr lang="en-US" dirty="0"/>
              <a:t>"Consistency reduces cognitive load."</a:t>
            </a:r>
          </a:p>
          <a:p>
            <a:endParaRPr lang="en-US" dirty="0"/>
          </a:p>
          <a:p>
            <a:r>
              <a:rPr lang="en-US" dirty="0"/>
              <a:t>------------------------------------------------------------</a:t>
            </a:r>
          </a:p>
          <a:p>
            <a:endParaRPr lang="en-US" dirty="0"/>
          </a:p>
          <a:p>
            <a:r>
              <a:rPr lang="en-US" dirty="0"/>
              <a:t>EMPTY STATES</a:t>
            </a:r>
          </a:p>
          <a:p>
            <a:endParaRPr lang="en-US" dirty="0"/>
          </a:p>
          <a:p>
            <a:r>
              <a:rPr lang="en-US" dirty="0"/>
              <a:t>This is important.</a:t>
            </a:r>
          </a:p>
          <a:p>
            <a:endParaRPr lang="en-US" dirty="0"/>
          </a:p>
          <a:p>
            <a:r>
              <a:rPr lang="en-US" dirty="0"/>
              <a:t>Poor:</a:t>
            </a:r>
          </a:p>
          <a:p>
            <a:endParaRPr lang="en-US" dirty="0"/>
          </a:p>
          <a:p>
            <a:r>
              <a:rPr lang="en-US" dirty="0"/>
              <a:t>Blank page.</a:t>
            </a:r>
          </a:p>
          <a:p>
            <a:endParaRPr lang="en-US" dirty="0"/>
          </a:p>
          <a:p>
            <a:r>
              <a:rPr lang="en-US" dirty="0"/>
              <a:t>"No data."</a:t>
            </a:r>
          </a:p>
          <a:p>
            <a:endParaRPr lang="en-US" dirty="0"/>
          </a:p>
          <a:p>
            <a:r>
              <a:rPr lang="en-US" dirty="0"/>
              <a:t>Great:</a:t>
            </a:r>
          </a:p>
          <a:p>
            <a:endParaRPr lang="en-US" dirty="0"/>
          </a:p>
          <a:p>
            <a:r>
              <a:rPr lang="en-US" dirty="0"/>
              <a:t>Explain what's missing.</a:t>
            </a:r>
          </a:p>
          <a:p>
            <a:endParaRPr lang="en-US" dirty="0"/>
          </a:p>
          <a:p>
            <a:r>
              <a:rPr lang="en-US" dirty="0"/>
              <a:t>Tell the user what to do next.</a:t>
            </a:r>
          </a:p>
          <a:p>
            <a:endParaRPr lang="en-US" dirty="0"/>
          </a:p>
          <a:p>
            <a:r>
              <a:rPr lang="en-US" dirty="0"/>
              <a:t>Provide an action.</a:t>
            </a:r>
          </a:p>
          <a:p>
            <a:endParaRPr lang="en-US" dirty="0"/>
          </a:p>
          <a:p>
            <a:r>
              <a:rPr lang="en-US" dirty="0"/>
              <a:t>Example:</a:t>
            </a:r>
          </a:p>
          <a:p>
            <a:endParaRPr lang="en-US" dirty="0"/>
          </a:p>
          <a:p>
            <a:r>
              <a:rPr lang="en-US" dirty="0"/>
              <a:t>"You don't have any projects yet."</a:t>
            </a:r>
          </a:p>
          <a:p>
            <a:endParaRPr lang="en-US" dirty="0"/>
          </a:p>
          <a:p>
            <a:r>
              <a:rPr lang="en-US" dirty="0"/>
              <a:t>"Create your first project to get started."</a:t>
            </a:r>
          </a:p>
          <a:p>
            <a:endParaRPr lang="en-US" dirty="0"/>
          </a:p>
          <a:p>
            <a:r>
              <a:rPr lang="en-US" dirty="0"/>
              <a:t>Then:</a:t>
            </a:r>
          </a:p>
          <a:p>
            <a:endParaRPr lang="en-US" dirty="0"/>
          </a:p>
          <a:p>
            <a:r>
              <a:rPr lang="en-US" dirty="0"/>
              <a:t>[Create Project]</a:t>
            </a:r>
          </a:p>
          <a:p>
            <a:endParaRPr lang="en-US" dirty="0"/>
          </a:p>
          <a:p>
            <a:r>
              <a:rPr lang="en-US" dirty="0"/>
              <a:t>Explain:</a:t>
            </a:r>
          </a:p>
          <a:p>
            <a:endParaRPr lang="en-US" dirty="0"/>
          </a:p>
          <a:p>
            <a:r>
              <a:rPr lang="en-US" dirty="0"/>
              <a:t>"Empty doesn't have to mean confusing."</a:t>
            </a:r>
          </a:p>
          <a:p>
            <a:endParaRPr lang="en-US" dirty="0"/>
          </a:p>
          <a:p>
            <a:r>
              <a:rPr lang="en-US" dirty="0"/>
              <a:t>------------------------------------------------------------</a:t>
            </a:r>
          </a:p>
          <a:p>
            <a:endParaRPr lang="en-US" dirty="0"/>
          </a:p>
          <a:p>
            <a:r>
              <a:rPr lang="en-US" dirty="0"/>
              <a:t>USABILITY PILLARS</a:t>
            </a:r>
          </a:p>
          <a:p>
            <a:endParaRPr lang="en-US" dirty="0"/>
          </a:p>
          <a:p>
            <a:r>
              <a:rPr lang="en-US" dirty="0"/>
              <a:t>Point to the left panel.</a:t>
            </a:r>
          </a:p>
          <a:p>
            <a:endParaRPr lang="en-US" dirty="0"/>
          </a:p>
          <a:p>
            <a:r>
              <a:rPr lang="en-US" dirty="0"/>
              <a:t>Walk through:</a:t>
            </a:r>
          </a:p>
          <a:p>
            <a:endParaRPr lang="en-US" dirty="0"/>
          </a:p>
          <a:p>
            <a:r>
              <a:rPr lang="en-US" dirty="0"/>
              <a:t>CLARITY</a:t>
            </a:r>
          </a:p>
          <a:p>
            <a:endParaRPr lang="en-US" dirty="0"/>
          </a:p>
          <a:p>
            <a:r>
              <a:rPr lang="en-US" dirty="0"/>
              <a:t>Easy to understand.</a:t>
            </a:r>
          </a:p>
          <a:p>
            <a:endParaRPr lang="en-US" dirty="0"/>
          </a:p>
          <a:p>
            <a:r>
              <a:rPr lang="en-US" dirty="0"/>
              <a:t>EFFICIENCY</a:t>
            </a:r>
          </a:p>
          <a:p>
            <a:endParaRPr lang="en-US" dirty="0"/>
          </a:p>
          <a:p>
            <a:r>
              <a:rPr lang="en-US" dirty="0"/>
              <a:t>Tasks require less effort.</a:t>
            </a:r>
          </a:p>
          <a:p>
            <a:endParaRPr lang="en-US" dirty="0"/>
          </a:p>
          <a:p>
            <a:r>
              <a:rPr lang="en-US" dirty="0"/>
              <a:t>CONSISTENCY</a:t>
            </a:r>
          </a:p>
          <a:p>
            <a:endParaRPr lang="en-US" dirty="0"/>
          </a:p>
          <a:p>
            <a:r>
              <a:rPr lang="en-US" dirty="0"/>
              <a:t>Similar things behave similarly.</a:t>
            </a:r>
          </a:p>
          <a:p>
            <a:endParaRPr lang="en-US" dirty="0"/>
          </a:p>
          <a:p>
            <a:r>
              <a:rPr lang="en-US" dirty="0"/>
              <a:t>ACCESSIBILITY</a:t>
            </a:r>
          </a:p>
          <a:p>
            <a:endParaRPr lang="en-US" dirty="0"/>
          </a:p>
          <a:p>
            <a:r>
              <a:rPr lang="en-US" dirty="0"/>
              <a:t>Usable by everyone.</a:t>
            </a:r>
          </a:p>
          <a:p>
            <a:endParaRPr lang="en-US" dirty="0"/>
          </a:p>
          <a:p>
            <a:r>
              <a:rPr lang="en-US" dirty="0"/>
              <a:t>FEEDBACK</a:t>
            </a:r>
          </a:p>
          <a:p>
            <a:endParaRPr lang="en-US" dirty="0"/>
          </a:p>
          <a:p>
            <a:r>
              <a:rPr lang="en-US" dirty="0"/>
              <a:t>Users always know what's happening.</a:t>
            </a:r>
          </a:p>
          <a:p>
            <a:endParaRPr lang="en-US" dirty="0"/>
          </a:p>
          <a:p>
            <a:r>
              <a:rPr lang="en-US" dirty="0"/>
              <a:t>FORGIVENESS</a:t>
            </a:r>
          </a:p>
          <a:p>
            <a:endParaRPr lang="en-US" dirty="0"/>
          </a:p>
          <a:p>
            <a:r>
              <a:rPr lang="en-US" dirty="0"/>
              <a:t>Users can recover from mistakes.</a:t>
            </a:r>
          </a:p>
          <a:p>
            <a:endParaRPr lang="en-US" dirty="0"/>
          </a:p>
          <a:p>
            <a:r>
              <a:rPr lang="en-US" dirty="0"/>
              <a:t>DELIGHT</a:t>
            </a:r>
          </a:p>
          <a:p>
            <a:endParaRPr lang="en-US" dirty="0"/>
          </a:p>
          <a:p>
            <a:r>
              <a:rPr lang="en-US" dirty="0"/>
              <a:t>The experience feels positive.</a:t>
            </a:r>
          </a:p>
          <a:p>
            <a:endParaRPr lang="en-US" dirty="0"/>
          </a:p>
          <a:p>
            <a:r>
              <a:rPr lang="en-US" dirty="0"/>
              <a:t>------------------------------------------------------------</a:t>
            </a:r>
          </a:p>
          <a:p>
            <a:endParaRPr lang="en-US" dirty="0"/>
          </a:p>
          <a:p>
            <a:r>
              <a:rPr lang="en-US" dirty="0"/>
              <a:t>CLARITY</a:t>
            </a:r>
          </a:p>
          <a:p>
            <a:endParaRPr lang="en-US" dirty="0"/>
          </a:p>
          <a:p>
            <a:r>
              <a:rPr lang="en-US" dirty="0"/>
              <a:t>Ask:</a:t>
            </a:r>
          </a:p>
          <a:p>
            <a:endParaRPr lang="en-US" dirty="0"/>
          </a:p>
          <a:p>
            <a:r>
              <a:rPr lang="en-US" dirty="0"/>
              <a:t>"Can the user understand what this button does?"</a:t>
            </a:r>
          </a:p>
          <a:p>
            <a:endParaRPr lang="en-US" dirty="0"/>
          </a:p>
          <a:p>
            <a:r>
              <a:rPr lang="en-US" dirty="0"/>
              <a:t>Compare:</a:t>
            </a:r>
          </a:p>
          <a:p>
            <a:endParaRPr lang="en-US" dirty="0"/>
          </a:p>
          <a:p>
            <a:r>
              <a:rPr lang="en-US" dirty="0"/>
              <a:t>"Submit"</a:t>
            </a:r>
          </a:p>
          <a:p>
            <a:endParaRPr lang="en-US" dirty="0"/>
          </a:p>
          <a:p>
            <a:r>
              <a:rPr lang="en-US" dirty="0"/>
              <a:t>vs.</a:t>
            </a:r>
          </a:p>
          <a:p>
            <a:endParaRPr lang="en-US" dirty="0"/>
          </a:p>
          <a:p>
            <a:r>
              <a:rPr lang="en-US" dirty="0"/>
              <a:t>"Create Project"</a:t>
            </a:r>
          </a:p>
          <a:p>
            <a:endParaRPr lang="en-US" dirty="0"/>
          </a:p>
          <a:p>
            <a:r>
              <a:rPr lang="en-US" dirty="0"/>
              <a:t>Explain:</a:t>
            </a:r>
          </a:p>
          <a:p>
            <a:endParaRPr lang="en-US" dirty="0"/>
          </a:p>
          <a:p>
            <a:r>
              <a:rPr lang="en-US" dirty="0"/>
              <a:t>"Specific language reduces uncertainty."</a:t>
            </a:r>
          </a:p>
          <a:p>
            <a:endParaRPr lang="en-US" dirty="0"/>
          </a:p>
          <a:p>
            <a:r>
              <a:rPr lang="en-US" dirty="0"/>
              <a:t>------------------------------------------------------------</a:t>
            </a:r>
          </a:p>
          <a:p>
            <a:endParaRPr lang="en-US" dirty="0"/>
          </a:p>
          <a:p>
            <a:r>
              <a:rPr lang="en-US" dirty="0"/>
              <a:t>EFFICIENCY</a:t>
            </a:r>
          </a:p>
          <a:p>
            <a:endParaRPr lang="en-US" dirty="0"/>
          </a:p>
          <a:p>
            <a:r>
              <a:rPr lang="en-US" dirty="0"/>
              <a:t>Ask:</a:t>
            </a:r>
          </a:p>
          <a:p>
            <a:endParaRPr lang="en-US" dirty="0"/>
          </a:p>
          <a:p>
            <a:r>
              <a:rPr lang="en-US" dirty="0"/>
              <a:t>"How many clicks does it take to complete a common task?"</a:t>
            </a:r>
          </a:p>
          <a:p>
            <a:endParaRPr lang="en-US" dirty="0"/>
          </a:p>
          <a:p>
            <a:r>
              <a:rPr lang="en-US" dirty="0"/>
              <a:t>Don't obsess over a specific number.</a:t>
            </a:r>
          </a:p>
          <a:p>
            <a:endParaRPr lang="en-US" dirty="0"/>
          </a:p>
          <a:p>
            <a:r>
              <a:rPr lang="en-US" dirty="0"/>
              <a:t>Instead:</a:t>
            </a:r>
          </a:p>
          <a:p>
            <a:endParaRPr lang="en-US" dirty="0"/>
          </a:p>
          <a:p>
            <a:r>
              <a:rPr lang="en-US" dirty="0"/>
              <a:t>"Remove unnecessary steps."</a:t>
            </a:r>
          </a:p>
          <a:p>
            <a:endParaRPr lang="en-US" dirty="0"/>
          </a:p>
          <a:p>
            <a:r>
              <a:rPr lang="en-US" dirty="0"/>
              <a:t>------------------------------------------------------------</a:t>
            </a:r>
          </a:p>
          <a:p>
            <a:endParaRPr lang="en-US" dirty="0"/>
          </a:p>
          <a:p>
            <a:r>
              <a:rPr lang="en-US" dirty="0"/>
              <a:t>CONSISTENCY</a:t>
            </a:r>
          </a:p>
          <a:p>
            <a:endParaRPr lang="en-US" dirty="0"/>
          </a:p>
          <a:p>
            <a:r>
              <a:rPr lang="en-US" dirty="0"/>
              <a:t>Ask:</a:t>
            </a:r>
          </a:p>
          <a:p>
            <a:endParaRPr lang="en-US" dirty="0"/>
          </a:p>
          <a:p>
            <a:r>
              <a:rPr lang="en-US" dirty="0"/>
              <a:t>"If the blue button means Save on one page..."</a:t>
            </a:r>
          </a:p>
          <a:p>
            <a:endParaRPr lang="en-US" dirty="0"/>
          </a:p>
          <a:p>
            <a:r>
              <a:rPr lang="en-US" dirty="0"/>
              <a:t>"What should it mean on another?"</a:t>
            </a:r>
          </a:p>
          <a:p>
            <a:endParaRPr lang="en-US" dirty="0"/>
          </a:p>
          <a:p>
            <a:r>
              <a:rPr lang="en-US" dirty="0"/>
              <a:t>Exactly.</a:t>
            </a:r>
          </a:p>
          <a:p>
            <a:endParaRPr lang="en-US" dirty="0"/>
          </a:p>
          <a:p>
            <a:r>
              <a:rPr lang="en-US" dirty="0"/>
              <a:t>"Save."</a:t>
            </a:r>
          </a:p>
          <a:p>
            <a:endParaRPr lang="en-US" dirty="0"/>
          </a:p>
          <a:p>
            <a:r>
              <a:rPr lang="en-US" dirty="0"/>
              <a:t>Consistency builds confidence.</a:t>
            </a:r>
          </a:p>
          <a:p>
            <a:endParaRPr lang="en-US" dirty="0"/>
          </a:p>
          <a:p>
            <a:r>
              <a:rPr lang="en-US" dirty="0"/>
              <a:t>------------------------------------------------------------</a:t>
            </a:r>
          </a:p>
          <a:p>
            <a:endParaRPr lang="en-US" dirty="0"/>
          </a:p>
          <a:p>
            <a:r>
              <a:rPr lang="en-US" dirty="0"/>
              <a:t>ACCESSIBILITY</a:t>
            </a:r>
          </a:p>
          <a:p>
            <a:endParaRPr lang="en-US" dirty="0"/>
          </a:p>
          <a:p>
            <a:r>
              <a:rPr lang="en-US" dirty="0"/>
              <a:t>Say:</a:t>
            </a:r>
          </a:p>
          <a:p>
            <a:endParaRPr lang="en-US" dirty="0"/>
          </a:p>
          <a:p>
            <a:r>
              <a:rPr lang="en-US" dirty="0"/>
              <a:t>"Usability isn't just for the average user."</a:t>
            </a:r>
          </a:p>
          <a:p>
            <a:endParaRPr lang="en-US" dirty="0"/>
          </a:p>
          <a:p>
            <a:r>
              <a:rPr lang="en-US" dirty="0"/>
              <a:t>"Accessibility means people with different abilities can use Atlas."</a:t>
            </a:r>
          </a:p>
          <a:p>
            <a:endParaRPr lang="en-US" dirty="0"/>
          </a:p>
          <a:p>
            <a:r>
              <a:rPr lang="en-US" dirty="0"/>
              <a:t>Review:</a:t>
            </a:r>
          </a:p>
          <a:p>
            <a:endParaRPr lang="en-US" dirty="0"/>
          </a:p>
          <a:p>
            <a:r>
              <a:rPr lang="en-US" dirty="0"/>
              <a:t>Keyboard navigation.</a:t>
            </a:r>
          </a:p>
          <a:p>
            <a:endParaRPr lang="en-US" dirty="0"/>
          </a:p>
          <a:p>
            <a:r>
              <a:rPr lang="en-US" dirty="0"/>
              <a:t>Labels.</a:t>
            </a:r>
          </a:p>
          <a:p>
            <a:endParaRPr lang="en-US" dirty="0"/>
          </a:p>
          <a:p>
            <a:r>
              <a:rPr lang="en-US" dirty="0"/>
              <a:t>Contrast.</a:t>
            </a:r>
          </a:p>
          <a:p>
            <a:endParaRPr lang="en-US" dirty="0"/>
          </a:p>
          <a:p>
            <a:r>
              <a:rPr lang="en-US" dirty="0"/>
              <a:t>Focus states.</a:t>
            </a:r>
          </a:p>
          <a:p>
            <a:endParaRPr lang="en-US" dirty="0"/>
          </a:p>
          <a:p>
            <a:r>
              <a:rPr lang="en-US" dirty="0"/>
              <a:t>Alternative text.</a:t>
            </a:r>
          </a:p>
          <a:p>
            <a:endParaRPr lang="en-US" dirty="0"/>
          </a:p>
          <a:p>
            <a:r>
              <a:rPr lang="en-US" dirty="0"/>
              <a:t>Semantic HTML.</a:t>
            </a:r>
          </a:p>
          <a:p>
            <a:endParaRPr lang="en-US" dirty="0"/>
          </a:p>
          <a:p>
            <a:r>
              <a:rPr lang="en-US" dirty="0"/>
              <a:t>Responsive design.</a:t>
            </a:r>
          </a:p>
          <a:p>
            <a:endParaRPr lang="en-US" dirty="0"/>
          </a:p>
          <a:p>
            <a:r>
              <a:rPr lang="en-US" dirty="0"/>
              <a:t>Explain:</a:t>
            </a:r>
          </a:p>
          <a:p>
            <a:endParaRPr lang="en-US" dirty="0"/>
          </a:p>
          <a:p>
            <a:r>
              <a:rPr lang="en-US" dirty="0"/>
              <a:t>"Accessibility is part of quality."</a:t>
            </a:r>
          </a:p>
          <a:p>
            <a:endParaRPr lang="en-US" dirty="0"/>
          </a:p>
          <a:p>
            <a:r>
              <a:rPr lang="en-US" dirty="0"/>
              <a:t>------------------------------------------------------------</a:t>
            </a:r>
          </a:p>
          <a:p>
            <a:endParaRPr lang="en-US" dirty="0"/>
          </a:p>
          <a:p>
            <a:r>
              <a:rPr lang="en-US" dirty="0"/>
              <a:t>ACCESSIBILITY — KEYBOARD</a:t>
            </a:r>
          </a:p>
          <a:p>
            <a:endParaRPr lang="en-US" dirty="0"/>
          </a:p>
          <a:p>
            <a:r>
              <a:rPr lang="en-US" dirty="0"/>
              <a:t>Ask:</a:t>
            </a:r>
          </a:p>
          <a:p>
            <a:endParaRPr lang="en-US" dirty="0"/>
          </a:p>
          <a:p>
            <a:r>
              <a:rPr lang="en-US" dirty="0"/>
              <a:t>"Can someone navigate Atlas without a mouse?"</a:t>
            </a:r>
          </a:p>
          <a:p>
            <a:endParaRPr lang="en-US" dirty="0"/>
          </a:p>
          <a:p>
            <a:r>
              <a:rPr lang="en-US" dirty="0"/>
              <a:t>Test:</a:t>
            </a:r>
          </a:p>
          <a:p>
            <a:endParaRPr lang="en-US" dirty="0"/>
          </a:p>
          <a:p>
            <a:r>
              <a:rPr lang="en-US" dirty="0"/>
              <a:t>Tab.</a:t>
            </a:r>
          </a:p>
          <a:p>
            <a:endParaRPr lang="en-US" dirty="0"/>
          </a:p>
          <a:p>
            <a:r>
              <a:rPr lang="en-US" dirty="0"/>
              <a:t>Shift + Tab.</a:t>
            </a:r>
          </a:p>
          <a:p>
            <a:endParaRPr lang="en-US" dirty="0"/>
          </a:p>
          <a:p>
            <a:r>
              <a:rPr lang="en-US" dirty="0"/>
              <a:t>Enter.</a:t>
            </a:r>
          </a:p>
          <a:p>
            <a:endParaRPr lang="en-US" dirty="0"/>
          </a:p>
          <a:p>
            <a:r>
              <a:rPr lang="en-US" dirty="0"/>
              <a:t>Escape where appropriate.</a:t>
            </a:r>
          </a:p>
          <a:p>
            <a:endParaRPr lang="en-US" dirty="0"/>
          </a:p>
          <a:p>
            <a:r>
              <a:rPr lang="en-US" dirty="0"/>
              <a:t>Can users:</a:t>
            </a:r>
          </a:p>
          <a:p>
            <a:endParaRPr lang="en-US" dirty="0"/>
          </a:p>
          <a:p>
            <a:r>
              <a:rPr lang="en-US" dirty="0"/>
              <a:t>Reach controls.</a:t>
            </a:r>
          </a:p>
          <a:p>
            <a:endParaRPr lang="en-US" dirty="0"/>
          </a:p>
          <a:p>
            <a:r>
              <a:rPr lang="en-US" dirty="0"/>
              <a:t>Understand focus.</a:t>
            </a:r>
          </a:p>
          <a:p>
            <a:endParaRPr lang="en-US" dirty="0"/>
          </a:p>
          <a:p>
            <a:r>
              <a:rPr lang="en-US" dirty="0"/>
              <a:t>Submit forms.</a:t>
            </a:r>
          </a:p>
          <a:p>
            <a:endParaRPr lang="en-US" dirty="0"/>
          </a:p>
          <a:p>
            <a:r>
              <a:rPr lang="en-US" dirty="0"/>
              <a:t>Navigate.</a:t>
            </a:r>
          </a:p>
          <a:p>
            <a:endParaRPr lang="en-US" dirty="0"/>
          </a:p>
          <a:p>
            <a:r>
              <a:rPr lang="en-US" dirty="0"/>
              <a:t>------------------------------------------------------------</a:t>
            </a:r>
          </a:p>
          <a:p>
            <a:endParaRPr lang="en-US" dirty="0"/>
          </a:p>
          <a:p>
            <a:r>
              <a:rPr lang="en-US" dirty="0"/>
              <a:t>ACCESSIBILITY — CONTRAST</a:t>
            </a:r>
          </a:p>
          <a:p>
            <a:endParaRPr lang="en-US" dirty="0"/>
          </a:p>
          <a:p>
            <a:r>
              <a:rPr lang="en-US" dirty="0"/>
              <a:t>Explain:</a:t>
            </a:r>
          </a:p>
          <a:p>
            <a:endParaRPr lang="en-US" dirty="0"/>
          </a:p>
          <a:p>
            <a:r>
              <a:rPr lang="en-US" dirty="0"/>
              <a:t>"Text needs sufficient contrast with its background."</a:t>
            </a:r>
          </a:p>
          <a:p>
            <a:endParaRPr lang="en-US" dirty="0"/>
          </a:p>
          <a:p>
            <a:r>
              <a:rPr lang="en-US" dirty="0"/>
              <a:t>Students should check:</a:t>
            </a:r>
          </a:p>
          <a:p>
            <a:endParaRPr lang="en-US" dirty="0"/>
          </a:p>
          <a:p>
            <a:r>
              <a:rPr lang="en-US" dirty="0"/>
              <a:t>Text.</a:t>
            </a:r>
          </a:p>
          <a:p>
            <a:endParaRPr lang="en-US" dirty="0"/>
          </a:p>
          <a:p>
            <a:r>
              <a:rPr lang="en-US" dirty="0"/>
              <a:t>Buttons.</a:t>
            </a:r>
          </a:p>
          <a:p>
            <a:endParaRPr lang="en-US" dirty="0"/>
          </a:p>
          <a:p>
            <a:r>
              <a:rPr lang="en-US" dirty="0"/>
              <a:t>Links.</a:t>
            </a:r>
          </a:p>
          <a:p>
            <a:endParaRPr lang="en-US" dirty="0"/>
          </a:p>
          <a:p>
            <a:r>
              <a:rPr lang="en-US" dirty="0"/>
              <a:t>Forms.</a:t>
            </a:r>
          </a:p>
          <a:p>
            <a:endParaRPr lang="en-US" dirty="0"/>
          </a:p>
          <a:p>
            <a:r>
              <a:rPr lang="en-US" dirty="0"/>
              <a:t>Error messages.</a:t>
            </a:r>
          </a:p>
          <a:p>
            <a:endParaRPr lang="en-US" dirty="0"/>
          </a:p>
          <a:p>
            <a:r>
              <a:rPr lang="en-US" dirty="0"/>
              <a:t>Don't make accessibility purely about color.</a:t>
            </a:r>
          </a:p>
          <a:p>
            <a:endParaRPr lang="en-US" dirty="0"/>
          </a:p>
          <a:p>
            <a:r>
              <a:rPr lang="en-US" dirty="0"/>
              <a:t>------------------------------------------------------------</a:t>
            </a:r>
          </a:p>
          <a:p>
            <a:endParaRPr lang="en-US" dirty="0"/>
          </a:p>
          <a:p>
            <a:r>
              <a:rPr lang="en-US" dirty="0"/>
              <a:t>ACCESSIBILITY — FORM LABELS</a:t>
            </a:r>
          </a:p>
          <a:p>
            <a:endParaRPr lang="en-US" dirty="0"/>
          </a:p>
          <a:p>
            <a:r>
              <a:rPr lang="en-US" dirty="0"/>
              <a:t>Ask:</a:t>
            </a:r>
          </a:p>
          <a:p>
            <a:endParaRPr lang="en-US" dirty="0"/>
          </a:p>
          <a:p>
            <a:r>
              <a:rPr lang="en-US" dirty="0"/>
              <a:t>"Does every form field clearly tell users what information belongs</a:t>
            </a:r>
          </a:p>
          <a:p>
            <a:r>
              <a:rPr lang="en-US" dirty="0"/>
              <a:t>there?"</a:t>
            </a:r>
          </a:p>
          <a:p>
            <a:endParaRPr lang="en-US" dirty="0"/>
          </a:p>
          <a:p>
            <a:r>
              <a:rPr lang="en-US" dirty="0"/>
              <a:t>Bad:</a:t>
            </a:r>
          </a:p>
          <a:p>
            <a:endParaRPr lang="en-US" dirty="0"/>
          </a:p>
          <a:p>
            <a:r>
              <a:rPr lang="en-US" dirty="0"/>
              <a:t>[____________]</a:t>
            </a:r>
          </a:p>
          <a:p>
            <a:endParaRPr lang="en-US" dirty="0"/>
          </a:p>
          <a:p>
            <a:r>
              <a:rPr lang="en-US" dirty="0"/>
              <a:t>Good:</a:t>
            </a:r>
          </a:p>
          <a:p>
            <a:endParaRPr lang="en-US" dirty="0"/>
          </a:p>
          <a:p>
            <a:r>
              <a:rPr lang="en-US" dirty="0"/>
              <a:t>Project Name</a:t>
            </a:r>
          </a:p>
          <a:p>
            <a:endParaRPr lang="en-US" dirty="0"/>
          </a:p>
          <a:p>
            <a:r>
              <a:rPr lang="en-US" dirty="0"/>
              <a:t>[____________]</a:t>
            </a:r>
          </a:p>
          <a:p>
            <a:endParaRPr lang="en-US" dirty="0"/>
          </a:p>
          <a:p>
            <a:r>
              <a:rPr lang="en-US" dirty="0"/>
              <a:t>Explain:</a:t>
            </a:r>
          </a:p>
          <a:p>
            <a:endParaRPr lang="en-US" dirty="0"/>
          </a:p>
          <a:p>
            <a:r>
              <a:rPr lang="en-US" dirty="0"/>
              <a:t>"Labels should be clear and persistent."</a:t>
            </a:r>
          </a:p>
          <a:p>
            <a:endParaRPr lang="en-US" dirty="0"/>
          </a:p>
          <a:p>
            <a:r>
              <a:rPr lang="en-US" dirty="0"/>
              <a:t>------------------------------------------------------------</a:t>
            </a:r>
          </a:p>
          <a:p>
            <a:endParaRPr lang="en-US" dirty="0"/>
          </a:p>
          <a:p>
            <a:r>
              <a:rPr lang="en-US" dirty="0"/>
              <a:t>ACCESSIBILITY — FOCUS</a:t>
            </a:r>
          </a:p>
          <a:p>
            <a:endParaRPr lang="en-US" dirty="0"/>
          </a:p>
          <a:p>
            <a:r>
              <a:rPr lang="en-US" dirty="0"/>
              <a:t>Explain:</a:t>
            </a:r>
          </a:p>
          <a:p>
            <a:endParaRPr lang="en-US" dirty="0"/>
          </a:p>
          <a:p>
            <a:r>
              <a:rPr lang="en-US" dirty="0"/>
              <a:t>"Keyboard users need to know where they are."</a:t>
            </a:r>
          </a:p>
          <a:p>
            <a:endParaRPr lang="en-US" dirty="0"/>
          </a:p>
          <a:p>
            <a:r>
              <a:rPr lang="en-US" dirty="0"/>
              <a:t>A visible focus state matters.</a:t>
            </a:r>
          </a:p>
          <a:p>
            <a:endParaRPr lang="en-US" dirty="0"/>
          </a:p>
          <a:p>
            <a:r>
              <a:rPr lang="en-US" dirty="0"/>
              <a:t>------------------------------------------------------------</a:t>
            </a:r>
          </a:p>
          <a:p>
            <a:endParaRPr lang="en-US" dirty="0"/>
          </a:p>
          <a:p>
            <a:r>
              <a:rPr lang="en-US" dirty="0"/>
              <a:t>MOBILE EXPERIENCE</a:t>
            </a:r>
          </a:p>
          <a:p>
            <a:endParaRPr lang="en-US" dirty="0"/>
          </a:p>
          <a:p>
            <a:r>
              <a:rPr lang="en-US" dirty="0"/>
              <a:t>Point to:</a:t>
            </a:r>
          </a:p>
          <a:p>
            <a:endParaRPr lang="en-US" dirty="0"/>
          </a:p>
          <a:p>
            <a:r>
              <a:rPr lang="en-US" dirty="0"/>
              <a:t>"Design for mobile first."</a:t>
            </a:r>
          </a:p>
          <a:p>
            <a:endParaRPr lang="en-US" dirty="0"/>
          </a:p>
          <a:p>
            <a:r>
              <a:rPr lang="en-US" dirty="0"/>
              <a:t>Ask:</a:t>
            </a:r>
          </a:p>
          <a:p>
            <a:endParaRPr lang="en-US" dirty="0"/>
          </a:p>
          <a:p>
            <a:r>
              <a:rPr lang="en-US" dirty="0"/>
              <a:t>"What happens if someone opens Atlas on their phone?"</a:t>
            </a:r>
          </a:p>
          <a:p>
            <a:endParaRPr lang="en-US" dirty="0"/>
          </a:p>
          <a:p>
            <a:r>
              <a:rPr lang="en-US" dirty="0"/>
              <a:t>Check:</a:t>
            </a:r>
          </a:p>
          <a:p>
            <a:endParaRPr lang="en-US" dirty="0"/>
          </a:p>
          <a:p>
            <a:r>
              <a:rPr lang="en-US" dirty="0"/>
              <a:t>Navigation.</a:t>
            </a:r>
          </a:p>
          <a:p>
            <a:endParaRPr lang="en-US" dirty="0"/>
          </a:p>
          <a:p>
            <a:r>
              <a:rPr lang="en-US" dirty="0"/>
              <a:t>Forms.</a:t>
            </a:r>
          </a:p>
          <a:p>
            <a:endParaRPr lang="en-US" dirty="0"/>
          </a:p>
          <a:p>
            <a:r>
              <a:rPr lang="en-US" dirty="0"/>
              <a:t>Buttons.</a:t>
            </a:r>
          </a:p>
          <a:p>
            <a:endParaRPr lang="en-US" dirty="0"/>
          </a:p>
          <a:p>
            <a:r>
              <a:rPr lang="en-US" dirty="0"/>
              <a:t>Tables.</a:t>
            </a:r>
          </a:p>
          <a:p>
            <a:endParaRPr lang="en-US" dirty="0"/>
          </a:p>
          <a:p>
            <a:r>
              <a:rPr lang="en-US" dirty="0"/>
              <a:t>Text.</a:t>
            </a:r>
          </a:p>
          <a:p>
            <a:endParaRPr lang="en-US" dirty="0"/>
          </a:p>
          <a:p>
            <a:r>
              <a:rPr lang="en-US" dirty="0"/>
              <a:t>Spacing.</a:t>
            </a:r>
          </a:p>
          <a:p>
            <a:endParaRPr lang="en-US" dirty="0"/>
          </a:p>
          <a:p>
            <a:r>
              <a:rPr lang="en-US" dirty="0"/>
              <a:t>Touch targets.</a:t>
            </a:r>
          </a:p>
          <a:p>
            <a:endParaRPr lang="en-US" dirty="0"/>
          </a:p>
          <a:p>
            <a:r>
              <a:rPr lang="en-US" dirty="0"/>
              <a:t>Explain:</a:t>
            </a:r>
          </a:p>
          <a:p>
            <a:endParaRPr lang="en-US" dirty="0"/>
          </a:p>
          <a:p>
            <a:r>
              <a:rPr lang="en-US" dirty="0"/>
              <a:t>"Responsive design is part of usability."</a:t>
            </a:r>
          </a:p>
          <a:p>
            <a:endParaRPr lang="en-US" dirty="0"/>
          </a:p>
          <a:p>
            <a:r>
              <a:rPr lang="en-US" dirty="0"/>
              <a:t>------------------------------------------------------------</a:t>
            </a:r>
          </a:p>
          <a:p>
            <a:endParaRPr lang="en-US" dirty="0"/>
          </a:p>
          <a:p>
            <a:r>
              <a:rPr lang="en-US" dirty="0"/>
              <a:t>USABILITY DESIGN PATTERNS</a:t>
            </a:r>
          </a:p>
          <a:p>
            <a:endParaRPr lang="en-US" dirty="0"/>
          </a:p>
          <a:p>
            <a:r>
              <a:rPr lang="en-US" dirty="0"/>
              <a:t>Move to the right panel.</a:t>
            </a:r>
          </a:p>
          <a:p>
            <a:endParaRPr lang="en-US" dirty="0"/>
          </a:p>
          <a:p>
            <a:r>
              <a:rPr lang="en-US" dirty="0"/>
              <a:t>Explain:</a:t>
            </a:r>
          </a:p>
          <a:p>
            <a:endParaRPr lang="en-US" dirty="0"/>
          </a:p>
          <a:p>
            <a:r>
              <a:rPr lang="en-US" dirty="0"/>
              <a:t>"These are patterns that help users understand and navigate software."</a:t>
            </a:r>
          </a:p>
          <a:p>
            <a:endParaRPr lang="en-US" dirty="0"/>
          </a:p>
          <a:p>
            <a:r>
              <a:rPr lang="en-US" dirty="0"/>
              <a:t>------------------------------------------------------------</a:t>
            </a:r>
          </a:p>
          <a:p>
            <a:endParaRPr lang="en-US" dirty="0"/>
          </a:p>
          <a:p>
            <a:r>
              <a:rPr lang="en-US" dirty="0"/>
              <a:t>PROGRESSIVE DISCLOSURE</a:t>
            </a:r>
          </a:p>
          <a:p>
            <a:endParaRPr lang="en-US" dirty="0"/>
          </a:p>
          <a:p>
            <a:r>
              <a:rPr lang="en-US" dirty="0"/>
              <a:t>"Don't show everything at once."</a:t>
            </a:r>
          </a:p>
          <a:p>
            <a:endParaRPr lang="en-US" dirty="0"/>
          </a:p>
          <a:p>
            <a:r>
              <a:rPr lang="en-US" dirty="0"/>
              <a:t>Show:</a:t>
            </a:r>
          </a:p>
          <a:p>
            <a:endParaRPr lang="en-US" dirty="0"/>
          </a:p>
          <a:p>
            <a:r>
              <a:rPr lang="en-US" dirty="0"/>
              <a:t>What's needed now.</a:t>
            </a:r>
          </a:p>
          <a:p>
            <a:endParaRPr lang="en-US" dirty="0"/>
          </a:p>
          <a:p>
            <a:r>
              <a:rPr lang="en-US" dirty="0"/>
              <a:t>Reveal:</a:t>
            </a:r>
          </a:p>
          <a:p>
            <a:endParaRPr lang="en-US" dirty="0"/>
          </a:p>
          <a:p>
            <a:r>
              <a:rPr lang="en-US" dirty="0"/>
              <a:t>Advanced options when necessary.</a:t>
            </a:r>
          </a:p>
          <a:p>
            <a:endParaRPr lang="en-US" dirty="0"/>
          </a:p>
          <a:p>
            <a:r>
              <a:rPr lang="en-US" dirty="0"/>
              <a:t>This reduces clutter.</a:t>
            </a:r>
          </a:p>
          <a:p>
            <a:endParaRPr lang="en-US" dirty="0"/>
          </a:p>
          <a:p>
            <a:r>
              <a:rPr lang="en-US" dirty="0"/>
              <a:t>------------------------------------------------------------</a:t>
            </a:r>
          </a:p>
          <a:p>
            <a:endParaRPr lang="en-US" dirty="0"/>
          </a:p>
          <a:p>
            <a:r>
              <a:rPr lang="en-US" dirty="0"/>
              <a:t>BREADCRUMBS</a:t>
            </a:r>
          </a:p>
          <a:p>
            <a:endParaRPr lang="en-US" dirty="0"/>
          </a:p>
          <a:p>
            <a:r>
              <a:rPr lang="en-US" dirty="0"/>
              <a:t>Explain:</a:t>
            </a:r>
          </a:p>
          <a:p>
            <a:endParaRPr lang="en-US" dirty="0"/>
          </a:p>
          <a:p>
            <a:r>
              <a:rPr lang="en-US" dirty="0"/>
              <a:t>"Breadcrumbs help users understand where they are."</a:t>
            </a:r>
          </a:p>
          <a:p>
            <a:endParaRPr lang="en-US" dirty="0"/>
          </a:p>
          <a:p>
            <a:r>
              <a:rPr lang="en-US" dirty="0"/>
              <a:t>Example:</a:t>
            </a:r>
          </a:p>
          <a:p>
            <a:endParaRPr lang="en-US" dirty="0"/>
          </a:p>
          <a:p>
            <a:r>
              <a:rPr lang="en-US" dirty="0"/>
              <a:t>Projects &gt; Atlas &gt; Sprint 7 &gt; Tasks</a:t>
            </a:r>
          </a:p>
          <a:p>
            <a:endParaRPr lang="en-US" dirty="0"/>
          </a:p>
          <a:p>
            <a:r>
              <a:rPr lang="en-US" dirty="0"/>
              <a:t>Useful when navigation becomes deeper.</a:t>
            </a:r>
          </a:p>
          <a:p>
            <a:endParaRPr lang="en-US" dirty="0"/>
          </a:p>
          <a:p>
            <a:r>
              <a:rPr lang="en-US" dirty="0"/>
              <a:t>------------------------------------------------------------</a:t>
            </a:r>
          </a:p>
          <a:p>
            <a:endParaRPr lang="en-US" dirty="0"/>
          </a:p>
          <a:p>
            <a:r>
              <a:rPr lang="en-US" dirty="0"/>
              <a:t>SEARCH &amp; FILTER</a:t>
            </a:r>
          </a:p>
          <a:p>
            <a:endParaRPr lang="en-US" dirty="0"/>
          </a:p>
          <a:p>
            <a:r>
              <a:rPr lang="en-US" dirty="0"/>
              <a:t>Ask:</a:t>
            </a:r>
          </a:p>
          <a:p>
            <a:endParaRPr lang="en-US" dirty="0"/>
          </a:p>
          <a:p>
            <a:r>
              <a:rPr lang="en-US" dirty="0"/>
              <a:t>"If Atlas has 500 tasks..."</a:t>
            </a:r>
          </a:p>
          <a:p>
            <a:endParaRPr lang="en-US" dirty="0"/>
          </a:p>
          <a:p>
            <a:r>
              <a:rPr lang="en-US" dirty="0"/>
              <a:t>"Should users scroll through all 500?"</a:t>
            </a:r>
          </a:p>
          <a:p>
            <a:endParaRPr lang="en-US" dirty="0"/>
          </a:p>
          <a:p>
            <a:r>
              <a:rPr lang="en-US" dirty="0"/>
              <a:t>No.</a:t>
            </a:r>
          </a:p>
          <a:p>
            <a:endParaRPr lang="en-US" dirty="0"/>
          </a:p>
          <a:p>
            <a:r>
              <a:rPr lang="en-US" dirty="0"/>
              <a:t>Search.</a:t>
            </a:r>
          </a:p>
          <a:p>
            <a:endParaRPr lang="en-US" dirty="0"/>
          </a:p>
          <a:p>
            <a:r>
              <a:rPr lang="en-US" dirty="0"/>
              <a:t>Filter.</a:t>
            </a:r>
          </a:p>
          <a:p>
            <a:endParaRPr lang="en-US" dirty="0"/>
          </a:p>
          <a:p>
            <a:r>
              <a:rPr lang="en-US" dirty="0"/>
              <a:t>Sort.</a:t>
            </a:r>
          </a:p>
          <a:p>
            <a:endParaRPr lang="en-US" dirty="0"/>
          </a:p>
          <a:p>
            <a:r>
              <a:rPr lang="en-US" dirty="0"/>
              <a:t>Explain:</a:t>
            </a:r>
          </a:p>
          <a:p>
            <a:endParaRPr lang="en-US" dirty="0"/>
          </a:p>
          <a:p>
            <a:r>
              <a:rPr lang="en-US" dirty="0"/>
              <a:t>"Good interfaces help users find information."</a:t>
            </a:r>
          </a:p>
          <a:p>
            <a:endParaRPr lang="en-US" dirty="0"/>
          </a:p>
          <a:p>
            <a:r>
              <a:rPr lang="en-US" dirty="0"/>
              <a:t>------------------------------------------------------------</a:t>
            </a:r>
          </a:p>
          <a:p>
            <a:endParaRPr lang="en-US" dirty="0"/>
          </a:p>
          <a:p>
            <a:r>
              <a:rPr lang="en-US" dirty="0"/>
              <a:t>DATA TABLES</a:t>
            </a:r>
          </a:p>
          <a:p>
            <a:endParaRPr lang="en-US" dirty="0"/>
          </a:p>
          <a:p>
            <a:r>
              <a:rPr lang="en-US" dirty="0"/>
              <a:t>Explain:</a:t>
            </a:r>
          </a:p>
          <a:p>
            <a:endParaRPr lang="en-US" dirty="0"/>
          </a:p>
          <a:p>
            <a:r>
              <a:rPr lang="en-US" dirty="0"/>
              <a:t>Tables should be:</a:t>
            </a:r>
          </a:p>
          <a:p>
            <a:endParaRPr lang="en-US" dirty="0"/>
          </a:p>
          <a:p>
            <a:r>
              <a:rPr lang="en-US" dirty="0"/>
              <a:t>Readable.</a:t>
            </a:r>
          </a:p>
          <a:p>
            <a:endParaRPr lang="en-US" dirty="0"/>
          </a:p>
          <a:p>
            <a:r>
              <a:rPr lang="en-US" dirty="0"/>
              <a:t>Sortable when appropriate.</a:t>
            </a:r>
          </a:p>
          <a:p>
            <a:endParaRPr lang="en-US" dirty="0"/>
          </a:p>
          <a:p>
            <a:r>
              <a:rPr lang="en-US" dirty="0"/>
              <a:t>Responsive.</a:t>
            </a:r>
          </a:p>
          <a:p>
            <a:endParaRPr lang="en-US" dirty="0"/>
          </a:p>
          <a:p>
            <a:r>
              <a:rPr lang="en-US" dirty="0"/>
              <a:t>Easy to scan.</a:t>
            </a:r>
          </a:p>
          <a:p>
            <a:endParaRPr lang="en-US" dirty="0"/>
          </a:p>
          <a:p>
            <a:r>
              <a:rPr lang="en-US" dirty="0"/>
              <a:t>Don't overload users with unnecessary columns.</a:t>
            </a:r>
          </a:p>
          <a:p>
            <a:endParaRPr lang="en-US" dirty="0"/>
          </a:p>
          <a:p>
            <a:r>
              <a:rPr lang="en-US" dirty="0"/>
              <a:t>------------------------------------------------------------</a:t>
            </a:r>
          </a:p>
          <a:p>
            <a:endParaRPr lang="en-US" dirty="0"/>
          </a:p>
          <a:p>
            <a:r>
              <a:rPr lang="en-US" dirty="0"/>
              <a:t>CONFIRM BEFORE DESTRUCTIVE ACTIONS</a:t>
            </a:r>
          </a:p>
          <a:p>
            <a:endParaRPr lang="en-US" dirty="0"/>
          </a:p>
          <a:p>
            <a:r>
              <a:rPr lang="en-US" dirty="0"/>
              <a:t>Ask:</a:t>
            </a:r>
          </a:p>
          <a:p>
            <a:endParaRPr lang="en-US" dirty="0"/>
          </a:p>
          <a:p>
            <a:r>
              <a:rPr lang="en-US" dirty="0"/>
              <a:t>"What happens when the user clicks Delete?"</a:t>
            </a:r>
          </a:p>
          <a:p>
            <a:endParaRPr lang="en-US" dirty="0"/>
          </a:p>
          <a:p>
            <a:r>
              <a:rPr lang="en-US" dirty="0"/>
              <a:t>Should Atlas immediately delete something important?</a:t>
            </a:r>
          </a:p>
          <a:p>
            <a:endParaRPr lang="en-US" dirty="0"/>
          </a:p>
          <a:p>
            <a:r>
              <a:rPr lang="en-US" dirty="0"/>
              <a:t>Maybe not.</a:t>
            </a:r>
          </a:p>
          <a:p>
            <a:endParaRPr lang="en-US" dirty="0"/>
          </a:p>
          <a:p>
            <a:r>
              <a:rPr lang="en-US" dirty="0"/>
              <a:t>Use:</a:t>
            </a:r>
          </a:p>
          <a:p>
            <a:endParaRPr lang="en-US" dirty="0"/>
          </a:p>
          <a:p>
            <a:r>
              <a:rPr lang="en-US" dirty="0"/>
              <a:t>Confirmation.</a:t>
            </a:r>
          </a:p>
          <a:p>
            <a:endParaRPr lang="en-US" dirty="0"/>
          </a:p>
          <a:p>
            <a:r>
              <a:rPr lang="en-US" dirty="0"/>
              <a:t>Clear warning.</a:t>
            </a:r>
          </a:p>
          <a:p>
            <a:endParaRPr lang="en-US" dirty="0"/>
          </a:p>
          <a:p>
            <a:r>
              <a:rPr lang="en-US" dirty="0"/>
              <a:t>Cancel option.</a:t>
            </a:r>
          </a:p>
          <a:p>
            <a:endParaRPr lang="en-US" dirty="0"/>
          </a:p>
          <a:p>
            <a:r>
              <a:rPr lang="en-US" dirty="0"/>
              <a:t>Explain:</a:t>
            </a:r>
          </a:p>
          <a:p>
            <a:endParaRPr lang="en-US" dirty="0"/>
          </a:p>
          <a:p>
            <a:r>
              <a:rPr lang="en-US" dirty="0"/>
              <a:t>"Good interfaces protect users from expensive mistakes."</a:t>
            </a:r>
          </a:p>
          <a:p>
            <a:endParaRPr lang="en-US" dirty="0"/>
          </a:p>
          <a:p>
            <a:r>
              <a:rPr lang="en-US" dirty="0"/>
              <a:t>------------------------------------------------------------</a:t>
            </a:r>
          </a:p>
          <a:p>
            <a:endParaRPr lang="en-US" dirty="0"/>
          </a:p>
          <a:p>
            <a:r>
              <a:rPr lang="en-US" dirty="0"/>
              <a:t>INLINE VALIDATION</a:t>
            </a:r>
          </a:p>
          <a:p>
            <a:endParaRPr lang="en-US" dirty="0"/>
          </a:p>
          <a:p>
            <a:r>
              <a:rPr lang="en-US" dirty="0"/>
              <a:t>Explain:</a:t>
            </a:r>
          </a:p>
          <a:p>
            <a:endParaRPr lang="en-US" dirty="0"/>
          </a:p>
          <a:p>
            <a:r>
              <a:rPr lang="en-US" dirty="0"/>
              <a:t>"Don't wait until the user submits an entire form to tell them every</a:t>
            </a:r>
          </a:p>
          <a:p>
            <a:r>
              <a:rPr lang="en-US" dirty="0"/>
              <a:t>field is wrong."</a:t>
            </a:r>
          </a:p>
          <a:p>
            <a:endParaRPr lang="en-US" dirty="0"/>
          </a:p>
          <a:p>
            <a:r>
              <a:rPr lang="en-US" dirty="0"/>
              <a:t>Where appropriate:</a:t>
            </a:r>
          </a:p>
          <a:p>
            <a:endParaRPr lang="en-US" dirty="0"/>
          </a:p>
          <a:p>
            <a:r>
              <a:rPr lang="en-US" dirty="0"/>
              <a:t>Validate close to the field.</a:t>
            </a:r>
          </a:p>
          <a:p>
            <a:endParaRPr lang="en-US" dirty="0"/>
          </a:p>
          <a:p>
            <a:r>
              <a:rPr lang="en-US" dirty="0"/>
              <a:t>Explain the problem.</a:t>
            </a:r>
          </a:p>
          <a:p>
            <a:endParaRPr lang="en-US" dirty="0"/>
          </a:p>
          <a:p>
            <a:r>
              <a:rPr lang="en-US" dirty="0"/>
              <a:t>Give the user a path forward.</a:t>
            </a:r>
          </a:p>
          <a:p>
            <a:endParaRPr lang="en-US" dirty="0"/>
          </a:p>
          <a:p>
            <a:r>
              <a:rPr lang="en-US" dirty="0"/>
              <a:t>------------------------------------------------------------</a:t>
            </a:r>
          </a:p>
          <a:p>
            <a:endParaRPr lang="en-US" dirty="0"/>
          </a:p>
          <a:p>
            <a:r>
              <a:rPr lang="en-US" dirty="0"/>
              <a:t>SUCCESS STATES</a:t>
            </a:r>
          </a:p>
          <a:p>
            <a:endParaRPr lang="en-US" dirty="0"/>
          </a:p>
          <a:p>
            <a:r>
              <a:rPr lang="en-US" dirty="0"/>
              <a:t>Ask:</a:t>
            </a:r>
          </a:p>
          <a:p>
            <a:endParaRPr lang="en-US" dirty="0"/>
          </a:p>
          <a:p>
            <a:r>
              <a:rPr lang="en-US" dirty="0"/>
              <a:t>"What happens after something works?"</a:t>
            </a:r>
          </a:p>
          <a:p>
            <a:endParaRPr lang="en-US" dirty="0"/>
          </a:p>
          <a:p>
            <a:r>
              <a:rPr lang="en-US" dirty="0"/>
              <a:t>Don't just return to the previous page.</a:t>
            </a:r>
          </a:p>
          <a:p>
            <a:endParaRPr lang="en-US" dirty="0"/>
          </a:p>
          <a:p>
            <a:r>
              <a:rPr lang="en-US" dirty="0"/>
              <a:t>Give confirmation:</a:t>
            </a:r>
          </a:p>
          <a:p>
            <a:endParaRPr lang="en-US" dirty="0"/>
          </a:p>
          <a:p>
            <a:r>
              <a:rPr lang="en-US" dirty="0"/>
              <a:t>"Project created."</a:t>
            </a:r>
          </a:p>
          <a:p>
            <a:endParaRPr lang="en-US" dirty="0"/>
          </a:p>
          <a:p>
            <a:r>
              <a:rPr lang="en-US" dirty="0"/>
              <a:t>"Task updated."</a:t>
            </a:r>
          </a:p>
          <a:p>
            <a:endParaRPr lang="en-US" dirty="0"/>
          </a:p>
          <a:p>
            <a:r>
              <a:rPr lang="en-US" dirty="0"/>
              <a:t>"Changes saved."</a:t>
            </a:r>
          </a:p>
          <a:p>
            <a:endParaRPr lang="en-US" dirty="0"/>
          </a:p>
          <a:p>
            <a:r>
              <a:rPr lang="en-US" dirty="0"/>
              <a:t>Explain:</a:t>
            </a:r>
          </a:p>
          <a:p>
            <a:endParaRPr lang="en-US" dirty="0"/>
          </a:p>
          <a:p>
            <a:r>
              <a:rPr lang="en-US" dirty="0"/>
              <a:t>"Feedback builds confidence."</a:t>
            </a:r>
          </a:p>
          <a:p>
            <a:endParaRPr lang="en-US" dirty="0"/>
          </a:p>
          <a:p>
            <a:r>
              <a:rPr lang="en-US" dirty="0"/>
              <a:t>------------------------------------------------------------</a:t>
            </a:r>
          </a:p>
          <a:p>
            <a:endParaRPr lang="en-US" dirty="0"/>
          </a:p>
          <a:p>
            <a:r>
              <a:rPr lang="en-US" dirty="0"/>
              <a:t>TEST USABILITY — NOT JUST FEATURES</a:t>
            </a:r>
          </a:p>
          <a:p>
            <a:endParaRPr lang="en-US" dirty="0"/>
          </a:p>
          <a:p>
            <a:r>
              <a:rPr lang="en-US" dirty="0"/>
              <a:t>Point to:</a:t>
            </a:r>
          </a:p>
          <a:p>
            <a:endParaRPr lang="en-US" dirty="0"/>
          </a:p>
          <a:p>
            <a:r>
              <a:rPr lang="en-US" dirty="0"/>
              <a:t>PLAN</a:t>
            </a:r>
          </a:p>
          <a:p>
            <a:endParaRPr lang="en-US" dirty="0"/>
          </a:p>
          <a:p>
            <a:r>
              <a:rPr lang="en-US" dirty="0"/>
              <a:t>↓</a:t>
            </a:r>
          </a:p>
          <a:p>
            <a:endParaRPr lang="en-US" dirty="0"/>
          </a:p>
          <a:p>
            <a:r>
              <a:rPr lang="en-US" dirty="0"/>
              <a:t>OBSERVE</a:t>
            </a:r>
          </a:p>
          <a:p>
            <a:endParaRPr lang="en-US" dirty="0"/>
          </a:p>
          <a:p>
            <a:r>
              <a:rPr lang="en-US" dirty="0"/>
              <a:t>↓</a:t>
            </a:r>
          </a:p>
          <a:p>
            <a:endParaRPr lang="en-US" dirty="0"/>
          </a:p>
          <a:p>
            <a:r>
              <a:rPr lang="en-US" dirty="0"/>
              <a:t>LEARN</a:t>
            </a:r>
          </a:p>
          <a:p>
            <a:endParaRPr lang="en-US" dirty="0"/>
          </a:p>
          <a:p>
            <a:r>
              <a:rPr lang="en-US" dirty="0"/>
              <a:t>↓</a:t>
            </a:r>
          </a:p>
          <a:p>
            <a:endParaRPr lang="en-US" dirty="0"/>
          </a:p>
          <a:p>
            <a:r>
              <a:rPr lang="en-US" dirty="0"/>
              <a:t>IMPROVE</a:t>
            </a:r>
          </a:p>
          <a:p>
            <a:endParaRPr lang="en-US" dirty="0"/>
          </a:p>
          <a:p>
            <a:r>
              <a:rPr lang="en-US" dirty="0"/>
              <a:t>Say:</a:t>
            </a:r>
          </a:p>
          <a:p>
            <a:endParaRPr lang="en-US" dirty="0"/>
          </a:p>
          <a:p>
            <a:r>
              <a:rPr lang="en-US" dirty="0"/>
              <a:t>"This is different from traditional functional testing."</a:t>
            </a:r>
          </a:p>
          <a:p>
            <a:endParaRPr lang="en-US" dirty="0"/>
          </a:p>
          <a:p>
            <a:r>
              <a:rPr lang="en-US" dirty="0"/>
              <a:t>We're not asking:</a:t>
            </a:r>
          </a:p>
          <a:p>
            <a:endParaRPr lang="en-US" dirty="0"/>
          </a:p>
          <a:p>
            <a:r>
              <a:rPr lang="en-US" dirty="0"/>
              <a:t>"Does the button work?"</a:t>
            </a:r>
          </a:p>
          <a:p>
            <a:endParaRPr lang="en-US" dirty="0"/>
          </a:p>
          <a:p>
            <a:r>
              <a:rPr lang="en-US" dirty="0"/>
              <a:t>We're asking:</a:t>
            </a:r>
          </a:p>
          <a:p>
            <a:endParaRPr lang="en-US" dirty="0"/>
          </a:p>
          <a:p>
            <a:r>
              <a:rPr lang="en-US" dirty="0"/>
              <a:t>"Can a person accomplish the task?"</a:t>
            </a:r>
          </a:p>
          <a:p>
            <a:endParaRPr lang="en-US" dirty="0"/>
          </a:p>
          <a:p>
            <a:r>
              <a:rPr lang="en-US" dirty="0"/>
              <a:t>------------------------------------------------------------</a:t>
            </a:r>
          </a:p>
          <a:p>
            <a:endParaRPr lang="en-US" dirty="0"/>
          </a:p>
          <a:p>
            <a:r>
              <a:rPr lang="en-US" dirty="0"/>
              <a:t>1. PLAN</a:t>
            </a:r>
          </a:p>
          <a:p>
            <a:endParaRPr lang="en-US" dirty="0"/>
          </a:p>
          <a:p>
            <a:r>
              <a:rPr lang="en-US" dirty="0"/>
              <a:t>Define:</a:t>
            </a:r>
          </a:p>
          <a:p>
            <a:endParaRPr lang="en-US" dirty="0"/>
          </a:p>
          <a:p>
            <a:r>
              <a:rPr lang="en-US" dirty="0"/>
              <a:t>User.</a:t>
            </a:r>
          </a:p>
          <a:p>
            <a:endParaRPr lang="en-US" dirty="0"/>
          </a:p>
          <a:p>
            <a:r>
              <a:rPr lang="en-US" dirty="0"/>
              <a:t>Task.</a:t>
            </a:r>
          </a:p>
          <a:p>
            <a:endParaRPr lang="en-US" dirty="0"/>
          </a:p>
          <a:p>
            <a:r>
              <a:rPr lang="en-US" dirty="0"/>
              <a:t>Success criteria.</a:t>
            </a:r>
          </a:p>
          <a:p>
            <a:endParaRPr lang="en-US" dirty="0"/>
          </a:p>
          <a:p>
            <a:r>
              <a:rPr lang="en-US" dirty="0"/>
              <a:t>Example:</a:t>
            </a:r>
          </a:p>
          <a:p>
            <a:endParaRPr lang="en-US" dirty="0"/>
          </a:p>
          <a:p>
            <a:r>
              <a:rPr lang="en-US" dirty="0"/>
              <a:t>"New user creates their first project."</a:t>
            </a:r>
          </a:p>
          <a:p>
            <a:endParaRPr lang="en-US" dirty="0"/>
          </a:p>
          <a:p>
            <a:r>
              <a:rPr lang="en-US" dirty="0"/>
              <a:t>Success:</a:t>
            </a:r>
          </a:p>
          <a:p>
            <a:endParaRPr lang="en-US" dirty="0"/>
          </a:p>
          <a:p>
            <a:r>
              <a:rPr lang="en-US" dirty="0"/>
              <a:t>Project created without assistance.</a:t>
            </a:r>
          </a:p>
          <a:p>
            <a:endParaRPr lang="en-US" dirty="0"/>
          </a:p>
          <a:p>
            <a:r>
              <a:rPr lang="en-US" dirty="0"/>
              <a:t>------------------------------------------------------------</a:t>
            </a:r>
          </a:p>
          <a:p>
            <a:endParaRPr lang="en-US" dirty="0"/>
          </a:p>
          <a:p>
            <a:r>
              <a:rPr lang="en-US" dirty="0"/>
              <a:t>2. OBSERVE</a:t>
            </a:r>
          </a:p>
          <a:p>
            <a:endParaRPr lang="en-US" dirty="0"/>
          </a:p>
          <a:p>
            <a:r>
              <a:rPr lang="en-US" dirty="0"/>
              <a:t>Watch a real person attempt the task.</a:t>
            </a:r>
          </a:p>
          <a:p>
            <a:endParaRPr lang="en-US" dirty="0"/>
          </a:p>
          <a:p>
            <a:r>
              <a:rPr lang="en-US" dirty="0"/>
              <a:t>Important:</a:t>
            </a:r>
          </a:p>
          <a:p>
            <a:endParaRPr lang="en-US" dirty="0"/>
          </a:p>
          <a:p>
            <a:r>
              <a:rPr lang="en-US" dirty="0"/>
              <a:t>Don't immediately help.</a:t>
            </a:r>
          </a:p>
          <a:p>
            <a:endParaRPr lang="en-US" dirty="0"/>
          </a:p>
          <a:p>
            <a:r>
              <a:rPr lang="en-US" dirty="0"/>
              <a:t>Let them struggle a little.</a:t>
            </a:r>
          </a:p>
          <a:p>
            <a:endParaRPr lang="en-US" dirty="0"/>
          </a:p>
          <a:p>
            <a:r>
              <a:rPr lang="en-US" dirty="0"/>
              <a:t>Why?</a:t>
            </a:r>
          </a:p>
          <a:p>
            <a:endParaRPr lang="en-US" dirty="0"/>
          </a:p>
          <a:p>
            <a:r>
              <a:rPr lang="en-US" dirty="0"/>
              <a:t>Because their struggle is evidence.</a:t>
            </a:r>
          </a:p>
          <a:p>
            <a:endParaRPr lang="en-US" dirty="0"/>
          </a:p>
          <a:p>
            <a:r>
              <a:rPr lang="en-US" dirty="0"/>
              <a:t>------------------------------------------------------------</a:t>
            </a:r>
          </a:p>
          <a:p>
            <a:endParaRPr lang="en-US" dirty="0"/>
          </a:p>
          <a:p>
            <a:r>
              <a:rPr lang="en-US" dirty="0"/>
              <a:t>3. LEARN</a:t>
            </a:r>
          </a:p>
          <a:p>
            <a:endParaRPr lang="en-US" dirty="0"/>
          </a:p>
          <a:p>
            <a:r>
              <a:rPr lang="en-US" dirty="0"/>
              <a:t>Identify:</a:t>
            </a:r>
          </a:p>
          <a:p>
            <a:endParaRPr lang="en-US" dirty="0"/>
          </a:p>
          <a:p>
            <a:r>
              <a:rPr lang="en-US" dirty="0"/>
              <a:t>Confusion.</a:t>
            </a:r>
          </a:p>
          <a:p>
            <a:endParaRPr lang="en-US" dirty="0"/>
          </a:p>
          <a:p>
            <a:r>
              <a:rPr lang="en-US" dirty="0"/>
              <a:t>Errors.</a:t>
            </a:r>
          </a:p>
          <a:p>
            <a:endParaRPr lang="en-US" dirty="0"/>
          </a:p>
          <a:p>
            <a:r>
              <a:rPr lang="en-US" dirty="0"/>
              <a:t>Unnecessary steps.</a:t>
            </a:r>
          </a:p>
          <a:p>
            <a:endParaRPr lang="en-US" dirty="0"/>
          </a:p>
          <a:p>
            <a:r>
              <a:rPr lang="en-US" dirty="0"/>
              <a:t>Questions.</a:t>
            </a:r>
          </a:p>
          <a:p>
            <a:endParaRPr lang="en-US" dirty="0"/>
          </a:p>
          <a:p>
            <a:r>
              <a:rPr lang="en-US" dirty="0"/>
              <a:t>Hesitation.</a:t>
            </a:r>
          </a:p>
          <a:p>
            <a:endParaRPr lang="en-US" dirty="0"/>
          </a:p>
          <a:p>
            <a:r>
              <a:rPr lang="en-US" dirty="0"/>
              <a:t>Unexpected behavior.</a:t>
            </a:r>
          </a:p>
          <a:p>
            <a:endParaRPr lang="en-US" dirty="0"/>
          </a:p>
          <a:p>
            <a:r>
              <a:rPr lang="en-US" dirty="0"/>
              <a:t>Ask:</a:t>
            </a:r>
          </a:p>
          <a:p>
            <a:endParaRPr lang="en-US" dirty="0"/>
          </a:p>
          <a:p>
            <a:r>
              <a:rPr lang="en-US" dirty="0"/>
              <a:t>"Where did they get stuck?"</a:t>
            </a:r>
          </a:p>
          <a:p>
            <a:endParaRPr lang="en-US" dirty="0"/>
          </a:p>
          <a:p>
            <a:r>
              <a:rPr lang="en-US" dirty="0"/>
              <a:t>------------------------------------------------------------</a:t>
            </a:r>
          </a:p>
          <a:p>
            <a:endParaRPr lang="en-US" dirty="0"/>
          </a:p>
          <a:p>
            <a:r>
              <a:rPr lang="en-US" dirty="0"/>
              <a:t>4. IMPROVE</a:t>
            </a:r>
          </a:p>
          <a:p>
            <a:endParaRPr lang="en-US" dirty="0"/>
          </a:p>
          <a:p>
            <a:r>
              <a:rPr lang="en-US" dirty="0"/>
              <a:t>Make changes.</a:t>
            </a:r>
          </a:p>
          <a:p>
            <a:endParaRPr lang="en-US" dirty="0"/>
          </a:p>
          <a:p>
            <a:r>
              <a:rPr lang="en-US" dirty="0"/>
              <a:t>Then:</a:t>
            </a:r>
          </a:p>
          <a:p>
            <a:endParaRPr lang="en-US" dirty="0"/>
          </a:p>
          <a:p>
            <a:r>
              <a:rPr lang="en-US" dirty="0"/>
              <a:t>Test again.</a:t>
            </a:r>
          </a:p>
          <a:p>
            <a:endParaRPr lang="en-US" dirty="0"/>
          </a:p>
          <a:p>
            <a:r>
              <a:rPr lang="en-US" dirty="0"/>
              <a:t>Explain:</a:t>
            </a:r>
          </a:p>
          <a:p>
            <a:endParaRPr lang="en-US" dirty="0"/>
          </a:p>
          <a:p>
            <a:r>
              <a:rPr lang="en-US" dirty="0"/>
              <a:t>"Usability testing is iterative."</a:t>
            </a:r>
          </a:p>
          <a:p>
            <a:endParaRPr lang="en-US" dirty="0"/>
          </a:p>
          <a:p>
            <a:r>
              <a:rPr lang="en-US" dirty="0"/>
              <a:t>------------------------------------------------------------</a:t>
            </a:r>
          </a:p>
          <a:p>
            <a:endParaRPr lang="en-US" dirty="0"/>
          </a:p>
          <a:p>
            <a:r>
              <a:rPr lang="en-US" dirty="0"/>
              <a:t>REAL USERS REVEAL REAL PROBLEMS</a:t>
            </a:r>
          </a:p>
          <a:p>
            <a:endParaRPr lang="en-US" dirty="0"/>
          </a:p>
          <a:p>
            <a:r>
              <a:rPr lang="en-US" dirty="0"/>
              <a:t>Point to the bottom statement.</a:t>
            </a:r>
          </a:p>
          <a:p>
            <a:endParaRPr lang="en-US" dirty="0"/>
          </a:p>
          <a:p>
            <a:r>
              <a:rPr lang="en-US" dirty="0"/>
              <a:t>Say:</a:t>
            </a:r>
          </a:p>
          <a:p>
            <a:endParaRPr lang="en-US" dirty="0"/>
          </a:p>
          <a:p>
            <a:r>
              <a:rPr lang="en-US" dirty="0"/>
              <a:t>"You built Atlas."</a:t>
            </a:r>
          </a:p>
          <a:p>
            <a:endParaRPr lang="en-US" dirty="0"/>
          </a:p>
          <a:p>
            <a:r>
              <a:rPr lang="en-US" dirty="0"/>
              <a:t>"But you are not the target user."</a:t>
            </a:r>
          </a:p>
          <a:p>
            <a:endParaRPr lang="en-US" dirty="0"/>
          </a:p>
          <a:p>
            <a:r>
              <a:rPr lang="en-US" dirty="0"/>
              <a:t>"That's why we test with other people."</a:t>
            </a:r>
          </a:p>
          <a:p>
            <a:endParaRPr lang="en-US" dirty="0"/>
          </a:p>
          <a:p>
            <a:r>
              <a:rPr lang="en-US" dirty="0"/>
              <a:t>------------------------------------------------------------</a:t>
            </a:r>
          </a:p>
          <a:p>
            <a:endParaRPr lang="en-US" dirty="0"/>
          </a:p>
          <a:p>
            <a:r>
              <a:rPr lang="en-US" dirty="0"/>
              <a:t>USABILITY METRICS</a:t>
            </a:r>
          </a:p>
          <a:p>
            <a:endParaRPr lang="en-US" dirty="0"/>
          </a:p>
          <a:p>
            <a:r>
              <a:rPr lang="en-US" dirty="0"/>
              <a:t>Move to the metrics panel.</a:t>
            </a:r>
          </a:p>
          <a:p>
            <a:endParaRPr lang="en-US" dirty="0"/>
          </a:p>
          <a:p>
            <a:r>
              <a:rPr lang="en-US" dirty="0"/>
              <a:t>Introduce:</a:t>
            </a:r>
          </a:p>
          <a:p>
            <a:endParaRPr lang="en-US" dirty="0"/>
          </a:p>
          <a:p>
            <a:r>
              <a:rPr lang="en-US" dirty="0"/>
              <a:t>TASK SUCCESS RATE</a:t>
            </a:r>
          </a:p>
          <a:p>
            <a:endParaRPr lang="en-US" dirty="0"/>
          </a:p>
          <a:p>
            <a:r>
              <a:rPr lang="en-US" dirty="0"/>
              <a:t>Percentage of users who successfully complete a task.</a:t>
            </a:r>
          </a:p>
          <a:p>
            <a:endParaRPr lang="en-US" dirty="0"/>
          </a:p>
          <a:p>
            <a:r>
              <a:rPr lang="en-US" dirty="0"/>
              <a:t>TIME ON TASK</a:t>
            </a:r>
          </a:p>
          <a:p>
            <a:endParaRPr lang="en-US" dirty="0"/>
          </a:p>
          <a:p>
            <a:r>
              <a:rPr lang="en-US" dirty="0"/>
              <a:t>How long it takes.</a:t>
            </a:r>
          </a:p>
          <a:p>
            <a:endParaRPr lang="en-US" dirty="0"/>
          </a:p>
          <a:p>
            <a:r>
              <a:rPr lang="en-US" dirty="0"/>
              <a:t>ERROR RATE</a:t>
            </a:r>
          </a:p>
          <a:p>
            <a:endParaRPr lang="en-US" dirty="0"/>
          </a:p>
          <a:p>
            <a:r>
              <a:rPr lang="en-US" dirty="0"/>
              <a:t>How often users make mistakes.</a:t>
            </a:r>
          </a:p>
          <a:p>
            <a:endParaRPr lang="en-US" dirty="0"/>
          </a:p>
          <a:p>
            <a:r>
              <a:rPr lang="en-US" dirty="0"/>
              <a:t>BOUNCE RATE</a:t>
            </a:r>
          </a:p>
          <a:p>
            <a:endParaRPr lang="en-US" dirty="0"/>
          </a:p>
          <a:p>
            <a:r>
              <a:rPr lang="en-US" dirty="0"/>
              <a:t>Users who leave after one view or interaction.</a:t>
            </a:r>
          </a:p>
          <a:p>
            <a:endParaRPr lang="en-US" dirty="0"/>
          </a:p>
          <a:p>
            <a:r>
              <a:rPr lang="en-US" dirty="0"/>
              <a:t>USER SATISFACTION</a:t>
            </a:r>
          </a:p>
          <a:p>
            <a:endParaRPr lang="en-US" dirty="0"/>
          </a:p>
          <a:p>
            <a:r>
              <a:rPr lang="en-US" dirty="0"/>
              <a:t>What users report about the experience.</a:t>
            </a:r>
          </a:p>
          <a:p>
            <a:endParaRPr lang="en-US" dirty="0"/>
          </a:p>
          <a:p>
            <a:r>
              <a:rPr lang="en-US" dirty="0"/>
              <a:t>RETURN RATE</a:t>
            </a:r>
          </a:p>
          <a:p>
            <a:endParaRPr lang="en-US" dirty="0"/>
          </a:p>
          <a:p>
            <a:r>
              <a:rPr lang="en-US" dirty="0"/>
              <a:t>Whether users come back.</a:t>
            </a:r>
          </a:p>
          <a:p>
            <a:endParaRPr lang="en-US" dirty="0"/>
          </a:p>
          <a:p>
            <a:r>
              <a:rPr lang="en-US" dirty="0"/>
              <a:t>Explain:</a:t>
            </a:r>
          </a:p>
          <a:p>
            <a:endParaRPr lang="en-US" dirty="0"/>
          </a:p>
          <a:p>
            <a:r>
              <a:rPr lang="en-US" dirty="0"/>
              <a:t>"We don't need sophisticated analytics for every student project."</a:t>
            </a:r>
          </a:p>
          <a:p>
            <a:endParaRPr lang="en-US" dirty="0"/>
          </a:p>
          <a:p>
            <a:r>
              <a:rPr lang="en-US" dirty="0"/>
              <a:t>"The important idea is that usability can be measured."</a:t>
            </a:r>
          </a:p>
          <a:p>
            <a:endParaRPr lang="en-US" dirty="0"/>
          </a:p>
          <a:p>
            <a:r>
              <a:rPr lang="en-US" dirty="0"/>
              <a:t>------------------------------------------------------------</a:t>
            </a:r>
          </a:p>
          <a:p>
            <a:endParaRPr lang="en-US" dirty="0"/>
          </a:p>
          <a:p>
            <a:r>
              <a:rPr lang="en-US" dirty="0"/>
              <a:t>MEASURE THE EXPERIENCE</a:t>
            </a:r>
          </a:p>
          <a:p>
            <a:endParaRPr lang="en-US" dirty="0"/>
          </a:p>
          <a:p>
            <a:r>
              <a:rPr lang="en-US" dirty="0"/>
              <a:t>Point to:</a:t>
            </a:r>
          </a:p>
          <a:p>
            <a:endParaRPr lang="en-US" dirty="0"/>
          </a:p>
          <a:p>
            <a:r>
              <a:rPr lang="en-US" dirty="0"/>
              <a:t>"Measure the experience, not just the code."</a:t>
            </a:r>
          </a:p>
          <a:p>
            <a:endParaRPr lang="en-US" dirty="0"/>
          </a:p>
          <a:p>
            <a:r>
              <a:rPr lang="en-US" dirty="0"/>
              <a:t>Say:</a:t>
            </a:r>
          </a:p>
          <a:p>
            <a:endParaRPr lang="en-US" dirty="0"/>
          </a:p>
          <a:p>
            <a:r>
              <a:rPr lang="en-US" dirty="0"/>
              <a:t>"Code quality matters."</a:t>
            </a:r>
          </a:p>
          <a:p>
            <a:endParaRPr lang="en-US" dirty="0"/>
          </a:p>
          <a:p>
            <a:r>
              <a:rPr lang="en-US" dirty="0"/>
              <a:t>"But users experience the interface."</a:t>
            </a:r>
          </a:p>
          <a:p>
            <a:endParaRPr lang="en-US" dirty="0"/>
          </a:p>
          <a:p>
            <a:r>
              <a:rPr lang="en-US" dirty="0"/>
              <a:t>------------------------------------------------------------</a:t>
            </a:r>
          </a:p>
          <a:p>
            <a:endParaRPr lang="en-US" dirty="0"/>
          </a:p>
          <a:p>
            <a:r>
              <a:rPr lang="en-US" dirty="0"/>
              <a:t>EMPTY STATES</a:t>
            </a:r>
          </a:p>
          <a:p>
            <a:endParaRPr lang="en-US" dirty="0"/>
          </a:p>
          <a:p>
            <a:r>
              <a:rPr lang="en-US" dirty="0"/>
              <a:t>Return to the empty-state example.</a:t>
            </a:r>
          </a:p>
          <a:p>
            <a:endParaRPr lang="en-US" dirty="0"/>
          </a:p>
          <a:p>
            <a:r>
              <a:rPr lang="en-US" dirty="0"/>
              <a:t>Ask:</a:t>
            </a:r>
          </a:p>
          <a:p>
            <a:endParaRPr lang="en-US" dirty="0"/>
          </a:p>
          <a:p>
            <a:r>
              <a:rPr lang="en-US" dirty="0"/>
              <a:t>"Which screen would you rather see?"</a:t>
            </a:r>
          </a:p>
          <a:p>
            <a:endParaRPr lang="en-US" dirty="0"/>
          </a:p>
          <a:p>
            <a:r>
              <a:rPr lang="en-US" dirty="0"/>
              <a:t>Poor:</a:t>
            </a:r>
          </a:p>
          <a:p>
            <a:endParaRPr lang="en-US" dirty="0"/>
          </a:p>
          <a:p>
            <a:r>
              <a:rPr lang="en-US" dirty="0"/>
              <a:t>"No data available."</a:t>
            </a:r>
          </a:p>
          <a:p>
            <a:endParaRPr lang="en-US" dirty="0"/>
          </a:p>
          <a:p>
            <a:r>
              <a:rPr lang="en-US" dirty="0"/>
              <a:t>Great:</a:t>
            </a:r>
          </a:p>
          <a:p>
            <a:endParaRPr lang="en-US" dirty="0"/>
          </a:p>
          <a:p>
            <a:r>
              <a:rPr lang="en-US" dirty="0"/>
              <a:t>"You don't have any projects yet."</a:t>
            </a:r>
          </a:p>
          <a:p>
            <a:endParaRPr lang="en-US" dirty="0"/>
          </a:p>
          <a:p>
            <a:r>
              <a:rPr lang="en-US" dirty="0"/>
              <a:t>"Create your first project to get started."</a:t>
            </a:r>
          </a:p>
          <a:p>
            <a:endParaRPr lang="en-US" dirty="0"/>
          </a:p>
          <a:p>
            <a:r>
              <a:rPr lang="en-US" dirty="0"/>
              <a:t>[Create Project]</a:t>
            </a:r>
          </a:p>
          <a:p>
            <a:endParaRPr lang="en-US" dirty="0"/>
          </a:p>
          <a:p>
            <a:r>
              <a:rPr lang="en-US" dirty="0"/>
              <a:t>Explain:</a:t>
            </a:r>
          </a:p>
          <a:p>
            <a:endParaRPr lang="en-US" dirty="0"/>
          </a:p>
          <a:p>
            <a:r>
              <a:rPr lang="en-US" dirty="0"/>
              <a:t>"The second version answers three questions."</a:t>
            </a:r>
          </a:p>
          <a:p>
            <a:endParaRPr lang="en-US" dirty="0"/>
          </a:p>
          <a:p>
            <a:r>
              <a:rPr lang="en-US" dirty="0"/>
              <a:t>What happened?</a:t>
            </a:r>
          </a:p>
          <a:p>
            <a:endParaRPr lang="en-US" dirty="0"/>
          </a:p>
          <a:p>
            <a:r>
              <a:rPr lang="en-US" dirty="0"/>
              <a:t>Why?</a:t>
            </a:r>
          </a:p>
          <a:p>
            <a:endParaRPr lang="en-US" dirty="0"/>
          </a:p>
          <a:p>
            <a:r>
              <a:rPr lang="en-US" dirty="0"/>
              <a:t>What do I do next?</a:t>
            </a:r>
          </a:p>
          <a:p>
            <a:endParaRPr lang="en-US" dirty="0"/>
          </a:p>
          <a:p>
            <a:r>
              <a:rPr lang="en-US" dirty="0"/>
              <a:t>------------------------------------------------------------</a:t>
            </a:r>
          </a:p>
          <a:p>
            <a:endParaRPr lang="en-US" dirty="0"/>
          </a:p>
          <a:p>
            <a:r>
              <a:rPr lang="en-US" dirty="0"/>
              <a:t>THE ERROR RECOVERY PRINCIPLE</a:t>
            </a:r>
          </a:p>
          <a:p>
            <a:endParaRPr lang="en-US" dirty="0"/>
          </a:p>
          <a:p>
            <a:r>
              <a:rPr lang="en-US" dirty="0"/>
              <a:t>Say:</a:t>
            </a:r>
          </a:p>
          <a:p>
            <a:endParaRPr lang="en-US" dirty="0"/>
          </a:p>
          <a:p>
            <a:r>
              <a:rPr lang="en-US" dirty="0"/>
              <a:t>"Good usability isn't about preventing every mistake."</a:t>
            </a:r>
          </a:p>
          <a:p>
            <a:endParaRPr lang="en-US" dirty="0"/>
          </a:p>
          <a:p>
            <a:r>
              <a:rPr lang="en-US" dirty="0"/>
              <a:t>"It's about helping users recover."</a:t>
            </a:r>
          </a:p>
          <a:p>
            <a:endParaRPr lang="en-US" dirty="0"/>
          </a:p>
          <a:p>
            <a:r>
              <a:rPr lang="en-US" dirty="0"/>
              <a:t>Example:</a:t>
            </a:r>
          </a:p>
          <a:p>
            <a:endParaRPr lang="en-US" dirty="0"/>
          </a:p>
          <a:p>
            <a:r>
              <a:rPr lang="en-US" dirty="0"/>
              <a:t>User enters an invalid date.</a:t>
            </a:r>
          </a:p>
          <a:p>
            <a:endParaRPr lang="en-US" dirty="0"/>
          </a:p>
          <a:p>
            <a:r>
              <a:rPr lang="en-US" dirty="0"/>
              <a:t>Bad:</a:t>
            </a:r>
          </a:p>
          <a:p>
            <a:endParaRPr lang="en-US" dirty="0"/>
          </a:p>
          <a:p>
            <a:r>
              <a:rPr lang="en-US" dirty="0"/>
              <a:t>"Error."</a:t>
            </a:r>
          </a:p>
          <a:p>
            <a:endParaRPr lang="en-US" dirty="0"/>
          </a:p>
          <a:p>
            <a:r>
              <a:rPr lang="en-US" dirty="0"/>
              <a:t>Better:</a:t>
            </a:r>
          </a:p>
          <a:p>
            <a:endParaRPr lang="en-US" dirty="0"/>
          </a:p>
          <a:p>
            <a:r>
              <a:rPr lang="en-US" dirty="0"/>
              <a:t>"Due date must be after today's date."</a:t>
            </a:r>
          </a:p>
          <a:p>
            <a:endParaRPr lang="en-US" dirty="0"/>
          </a:p>
          <a:p>
            <a:r>
              <a:rPr lang="en-US" dirty="0"/>
              <a:t>Best:</a:t>
            </a:r>
          </a:p>
          <a:p>
            <a:endParaRPr lang="en-US" dirty="0"/>
          </a:p>
          <a:p>
            <a:r>
              <a:rPr lang="en-US" dirty="0"/>
              <a:t>Highlight field.</a:t>
            </a:r>
          </a:p>
          <a:p>
            <a:endParaRPr lang="en-US" dirty="0"/>
          </a:p>
          <a:p>
            <a:r>
              <a:rPr lang="en-US" dirty="0"/>
              <a:t>Explain problem.</a:t>
            </a:r>
          </a:p>
          <a:p>
            <a:endParaRPr lang="en-US" dirty="0"/>
          </a:p>
          <a:p>
            <a:r>
              <a:rPr lang="en-US" dirty="0"/>
              <a:t>Tell them how to fix it.</a:t>
            </a:r>
          </a:p>
          <a:p>
            <a:endParaRPr lang="en-US" dirty="0"/>
          </a:p>
          <a:p>
            <a:r>
              <a:rPr lang="en-US" dirty="0"/>
              <a:t>------------------------------------------------------------</a:t>
            </a:r>
          </a:p>
          <a:p>
            <a:endParaRPr lang="en-US" dirty="0"/>
          </a:p>
          <a:p>
            <a:r>
              <a:rPr lang="en-US" dirty="0"/>
              <a:t>ATLAS USABILITY MINDSET</a:t>
            </a:r>
          </a:p>
          <a:p>
            <a:endParaRPr lang="en-US" dirty="0"/>
          </a:p>
          <a:p>
            <a:r>
              <a:rPr lang="en-US" dirty="0"/>
              <a:t>Move to the bottom-left panel.</a:t>
            </a:r>
          </a:p>
          <a:p>
            <a:endParaRPr lang="en-US" dirty="0"/>
          </a:p>
          <a:p>
            <a:r>
              <a:rPr lang="en-US" dirty="0"/>
              <a:t>Read:</a:t>
            </a:r>
          </a:p>
          <a:p>
            <a:endParaRPr lang="en-US" dirty="0"/>
          </a:p>
          <a:p>
            <a:r>
              <a:rPr lang="en-US" dirty="0"/>
              <a:t>"Think like the user, not the developer."</a:t>
            </a:r>
          </a:p>
          <a:p>
            <a:endParaRPr lang="en-US" dirty="0"/>
          </a:p>
          <a:p>
            <a:r>
              <a:rPr lang="en-US" dirty="0"/>
              <a:t>Explain:</a:t>
            </a:r>
          </a:p>
          <a:p>
            <a:endParaRPr lang="en-US" dirty="0"/>
          </a:p>
          <a:p>
            <a:r>
              <a:rPr lang="en-US" dirty="0"/>
              <a:t>"This is probably the hardest mindset shift."</a:t>
            </a:r>
          </a:p>
          <a:p>
            <a:endParaRPr lang="en-US" dirty="0"/>
          </a:p>
          <a:p>
            <a:r>
              <a:rPr lang="en-US" dirty="0"/>
              <a:t>------------------------------------------------------------</a:t>
            </a:r>
          </a:p>
          <a:p>
            <a:endParaRPr lang="en-US" dirty="0"/>
          </a:p>
          <a:p>
            <a:r>
              <a:rPr lang="en-US" dirty="0"/>
              <a:t>REMOVE FRICTION</a:t>
            </a:r>
          </a:p>
          <a:p>
            <a:endParaRPr lang="en-US" dirty="0"/>
          </a:p>
          <a:p>
            <a:r>
              <a:rPr lang="en-US" dirty="0"/>
              <a:t>Ask:</a:t>
            </a:r>
          </a:p>
          <a:p>
            <a:endParaRPr lang="en-US" dirty="0"/>
          </a:p>
          <a:p>
            <a:r>
              <a:rPr lang="en-US" dirty="0"/>
              <a:t>"What steps don't need to exist?"</a:t>
            </a:r>
          </a:p>
          <a:p>
            <a:endParaRPr lang="en-US" dirty="0"/>
          </a:p>
          <a:p>
            <a:r>
              <a:rPr lang="en-US" dirty="0"/>
              <a:t>Remove:</a:t>
            </a:r>
          </a:p>
          <a:p>
            <a:endParaRPr lang="en-US" dirty="0"/>
          </a:p>
          <a:p>
            <a:r>
              <a:rPr lang="en-US" dirty="0"/>
              <a:t>Unnecessary forms.</a:t>
            </a:r>
          </a:p>
          <a:p>
            <a:endParaRPr lang="en-US" dirty="0"/>
          </a:p>
          <a:p>
            <a:r>
              <a:rPr lang="en-US" dirty="0"/>
              <a:t>Repeated information.</a:t>
            </a:r>
          </a:p>
          <a:p>
            <a:endParaRPr lang="en-US" dirty="0"/>
          </a:p>
          <a:p>
            <a:r>
              <a:rPr lang="en-US" dirty="0"/>
              <a:t>Unnecessary clicks.</a:t>
            </a:r>
          </a:p>
          <a:p>
            <a:endParaRPr lang="en-US" dirty="0"/>
          </a:p>
          <a:p>
            <a:r>
              <a:rPr lang="en-US" dirty="0"/>
              <a:t>Confusing navigation.</a:t>
            </a:r>
          </a:p>
          <a:p>
            <a:endParaRPr lang="en-US" dirty="0"/>
          </a:p>
          <a:p>
            <a:r>
              <a:rPr lang="en-US" dirty="0"/>
              <a:t>------------------------------------------------------------</a:t>
            </a:r>
          </a:p>
          <a:p>
            <a:endParaRPr lang="en-US" dirty="0"/>
          </a:p>
          <a:p>
            <a:r>
              <a:rPr lang="en-US" dirty="0"/>
              <a:t>DESIGN FOR INCLUSION</a:t>
            </a:r>
          </a:p>
          <a:p>
            <a:endParaRPr lang="en-US" dirty="0"/>
          </a:p>
          <a:p>
            <a:r>
              <a:rPr lang="en-US" dirty="0"/>
              <a:t>Say:</a:t>
            </a:r>
          </a:p>
          <a:p>
            <a:endParaRPr lang="en-US" dirty="0"/>
          </a:p>
          <a:p>
            <a:r>
              <a:rPr lang="en-US" dirty="0"/>
              <a:t>"Don't design only for someone exactly like you."</a:t>
            </a:r>
          </a:p>
          <a:p>
            <a:endParaRPr lang="en-US" dirty="0"/>
          </a:p>
          <a:p>
            <a:r>
              <a:rPr lang="en-US" dirty="0"/>
              <a:t>Consider:</a:t>
            </a:r>
          </a:p>
          <a:p>
            <a:endParaRPr lang="en-US" dirty="0"/>
          </a:p>
          <a:p>
            <a:r>
              <a:rPr lang="en-US" dirty="0"/>
              <a:t>Different devices.</a:t>
            </a:r>
          </a:p>
          <a:p>
            <a:endParaRPr lang="en-US" dirty="0"/>
          </a:p>
          <a:p>
            <a:r>
              <a:rPr lang="en-US" dirty="0"/>
              <a:t>Different abilities.</a:t>
            </a:r>
          </a:p>
          <a:p>
            <a:endParaRPr lang="en-US" dirty="0"/>
          </a:p>
          <a:p>
            <a:r>
              <a:rPr lang="en-US" dirty="0"/>
              <a:t>Different experience levels.</a:t>
            </a:r>
          </a:p>
          <a:p>
            <a:endParaRPr lang="en-US" dirty="0"/>
          </a:p>
          <a:p>
            <a:r>
              <a:rPr lang="en-US" dirty="0"/>
              <a:t>Different workflows.</a:t>
            </a:r>
          </a:p>
          <a:p>
            <a:endParaRPr lang="en-US" dirty="0"/>
          </a:p>
          <a:p>
            <a:r>
              <a:rPr lang="en-US" dirty="0"/>
              <a:t>------------------------------------------------------------</a:t>
            </a:r>
          </a:p>
          <a:p>
            <a:endParaRPr lang="en-US" dirty="0"/>
          </a:p>
          <a:p>
            <a:r>
              <a:rPr lang="en-US" dirty="0"/>
              <a:t>ITERATE BASED ON FEEDBACK</a:t>
            </a:r>
          </a:p>
          <a:p>
            <a:endParaRPr lang="en-US" dirty="0"/>
          </a:p>
          <a:p>
            <a:r>
              <a:rPr lang="en-US" dirty="0"/>
              <a:t>Explain:</a:t>
            </a:r>
          </a:p>
          <a:p>
            <a:endParaRPr lang="en-US" dirty="0"/>
          </a:p>
          <a:p>
            <a:r>
              <a:rPr lang="en-US" dirty="0"/>
              <a:t>"If users consistently struggle with something..."</a:t>
            </a:r>
          </a:p>
          <a:p>
            <a:endParaRPr lang="en-US" dirty="0"/>
          </a:p>
          <a:p>
            <a:r>
              <a:rPr lang="en-US" dirty="0"/>
              <a:t>"That's evidence."</a:t>
            </a:r>
          </a:p>
          <a:p>
            <a:endParaRPr lang="en-US" dirty="0"/>
          </a:p>
          <a:p>
            <a:r>
              <a:rPr lang="en-US" dirty="0"/>
              <a:t>Don't say:</a:t>
            </a:r>
          </a:p>
          <a:p>
            <a:endParaRPr lang="en-US" dirty="0"/>
          </a:p>
          <a:p>
            <a:r>
              <a:rPr lang="en-US" dirty="0"/>
              <a:t>"They're using it wrong."</a:t>
            </a:r>
          </a:p>
          <a:p>
            <a:endParaRPr lang="en-US" dirty="0"/>
          </a:p>
          <a:p>
            <a:r>
              <a:rPr lang="en-US" dirty="0"/>
              <a:t>Ask:</a:t>
            </a:r>
          </a:p>
          <a:p>
            <a:endParaRPr lang="en-US" dirty="0"/>
          </a:p>
          <a:p>
            <a:r>
              <a:rPr lang="en-US" dirty="0"/>
              <a:t>"How could we make it clearer?"</a:t>
            </a:r>
          </a:p>
          <a:p>
            <a:endParaRPr lang="en-US" dirty="0"/>
          </a:p>
          <a:p>
            <a:r>
              <a:rPr lang="en-US" dirty="0"/>
              <a:t>------------------------------------------------------------</a:t>
            </a:r>
          </a:p>
          <a:p>
            <a:endParaRPr lang="en-US" dirty="0"/>
          </a:p>
          <a:p>
            <a:r>
              <a:rPr lang="en-US" dirty="0"/>
              <a:t>A SMALL IMPROVEMENT CAN MAKE A BIG DIFFERENCE</a:t>
            </a:r>
          </a:p>
          <a:p>
            <a:endParaRPr lang="en-US" dirty="0"/>
          </a:p>
          <a:p>
            <a:r>
              <a:rPr lang="en-US" dirty="0"/>
              <a:t>Example:</a:t>
            </a:r>
          </a:p>
          <a:p>
            <a:endParaRPr lang="en-US" dirty="0"/>
          </a:p>
          <a:p>
            <a:r>
              <a:rPr lang="en-US" dirty="0"/>
              <a:t>Changing:</a:t>
            </a:r>
          </a:p>
          <a:p>
            <a:endParaRPr lang="en-US" dirty="0"/>
          </a:p>
          <a:p>
            <a:r>
              <a:rPr lang="en-US" dirty="0"/>
              <a:t>"Submit"</a:t>
            </a:r>
          </a:p>
          <a:p>
            <a:endParaRPr lang="en-US" dirty="0"/>
          </a:p>
          <a:p>
            <a:r>
              <a:rPr lang="en-US" dirty="0"/>
              <a:t>to:</a:t>
            </a:r>
          </a:p>
          <a:p>
            <a:endParaRPr lang="en-US" dirty="0"/>
          </a:p>
          <a:p>
            <a:r>
              <a:rPr lang="en-US" dirty="0"/>
              <a:t>"Create Project"</a:t>
            </a:r>
          </a:p>
          <a:p>
            <a:endParaRPr lang="en-US" dirty="0"/>
          </a:p>
          <a:p>
            <a:r>
              <a:rPr lang="en-US" dirty="0"/>
              <a:t>may eliminate uncertainty.</a:t>
            </a:r>
          </a:p>
          <a:p>
            <a:endParaRPr lang="en-US" dirty="0"/>
          </a:p>
          <a:p>
            <a:r>
              <a:rPr lang="en-US" dirty="0"/>
              <a:t>Small design decisions matter.</a:t>
            </a:r>
          </a:p>
          <a:p>
            <a:endParaRPr lang="en-US" dirty="0"/>
          </a:p>
          <a:p>
            <a:r>
              <a:rPr lang="en-US" dirty="0"/>
              <a:t>------------------------------------------------------------</a:t>
            </a:r>
          </a:p>
          <a:p>
            <a:endParaRPr lang="en-US" dirty="0"/>
          </a:p>
          <a:p>
            <a:r>
              <a:rPr lang="en-US" dirty="0"/>
              <a:t>USABILITY CHECKLIST</a:t>
            </a:r>
          </a:p>
          <a:p>
            <a:endParaRPr lang="en-US" dirty="0"/>
          </a:p>
          <a:p>
            <a:r>
              <a:rPr lang="en-US" dirty="0"/>
              <a:t>Move to the checklist.</a:t>
            </a:r>
          </a:p>
          <a:p>
            <a:endParaRPr lang="en-US" dirty="0"/>
          </a:p>
          <a:p>
            <a:r>
              <a:rPr lang="en-US" dirty="0"/>
              <a:t>Walk through:</a:t>
            </a:r>
          </a:p>
          <a:p>
            <a:endParaRPr lang="en-US" dirty="0"/>
          </a:p>
          <a:p>
            <a:r>
              <a:rPr lang="en-US" dirty="0"/>
              <a:t>Navigation is intuitive.</a:t>
            </a:r>
          </a:p>
          <a:p>
            <a:endParaRPr lang="en-US" dirty="0"/>
          </a:p>
          <a:p>
            <a:r>
              <a:rPr lang="en-US" dirty="0"/>
              <a:t>Common tasks are efficient.</a:t>
            </a:r>
          </a:p>
          <a:p>
            <a:endParaRPr lang="en-US" dirty="0"/>
          </a:p>
          <a:p>
            <a:r>
              <a:rPr lang="en-US" dirty="0"/>
              <a:t>Forms are clear.</a:t>
            </a:r>
          </a:p>
          <a:p>
            <a:endParaRPr lang="en-US" dirty="0"/>
          </a:p>
          <a:p>
            <a:r>
              <a:rPr lang="en-US" dirty="0"/>
              <a:t>Validation works.</a:t>
            </a:r>
          </a:p>
          <a:p>
            <a:endParaRPr lang="en-US" dirty="0"/>
          </a:p>
          <a:p>
            <a:r>
              <a:rPr lang="en-US" dirty="0"/>
              <a:t>Feedback exists.</a:t>
            </a:r>
          </a:p>
          <a:p>
            <a:endParaRPr lang="en-US" dirty="0"/>
          </a:p>
          <a:p>
            <a:r>
              <a:rPr lang="en-US" dirty="0"/>
              <a:t>Error messages are actionable.</a:t>
            </a:r>
          </a:p>
          <a:p>
            <a:endParaRPr lang="en-US" dirty="0"/>
          </a:p>
          <a:p>
            <a:r>
              <a:rPr lang="en-US" dirty="0"/>
              <a:t>Mobile experience works.</a:t>
            </a:r>
          </a:p>
          <a:p>
            <a:endParaRPr lang="en-US" dirty="0"/>
          </a:p>
          <a:p>
            <a:r>
              <a:rPr lang="en-US" dirty="0"/>
              <a:t>Empty states guide users.</a:t>
            </a:r>
          </a:p>
          <a:p>
            <a:endParaRPr lang="en-US" dirty="0"/>
          </a:p>
          <a:p>
            <a:r>
              <a:rPr lang="en-US" dirty="0"/>
              <a:t>Accessibility requirements are considered.</a:t>
            </a:r>
          </a:p>
          <a:p>
            <a:endParaRPr lang="en-US" dirty="0"/>
          </a:p>
          <a:p>
            <a:r>
              <a:rPr lang="en-US" dirty="0"/>
              <a:t>Users can understand Atlas without developer assistance.</a:t>
            </a:r>
          </a:p>
          <a:p>
            <a:endParaRPr lang="en-US" dirty="0"/>
          </a:p>
          <a:p>
            <a:r>
              <a:rPr lang="en-US" dirty="0"/>
              <a:t>------------------------------------------------------------</a:t>
            </a:r>
          </a:p>
          <a:p>
            <a:endParaRPr lang="en-US" dirty="0"/>
          </a:p>
          <a:p>
            <a:r>
              <a:rPr lang="en-US" dirty="0"/>
              <a:t>BUILD CHALLENGE</a:t>
            </a:r>
          </a:p>
          <a:p>
            <a:endParaRPr lang="en-US" dirty="0"/>
          </a:p>
          <a:p>
            <a:r>
              <a:rPr lang="en-US" dirty="0"/>
              <a:t>Tell students:</a:t>
            </a:r>
          </a:p>
          <a:p>
            <a:endParaRPr lang="en-US" dirty="0"/>
          </a:p>
          <a:p>
            <a:r>
              <a:rPr lang="en-US" dirty="0"/>
              <a:t>"Choose one important Atlas workflow."</a:t>
            </a:r>
          </a:p>
          <a:p>
            <a:endParaRPr lang="en-US" dirty="0"/>
          </a:p>
          <a:p>
            <a:r>
              <a:rPr lang="en-US" dirty="0"/>
              <a:t>Examples:</a:t>
            </a:r>
          </a:p>
          <a:p>
            <a:endParaRPr lang="en-US" dirty="0"/>
          </a:p>
          <a:p>
            <a:r>
              <a:rPr lang="en-US" dirty="0"/>
              <a:t>Create project.</a:t>
            </a:r>
          </a:p>
          <a:p>
            <a:endParaRPr lang="en-US" dirty="0"/>
          </a:p>
          <a:p>
            <a:r>
              <a:rPr lang="en-US" dirty="0"/>
              <a:t>Create task.</a:t>
            </a:r>
          </a:p>
          <a:p>
            <a:endParaRPr lang="en-US" dirty="0"/>
          </a:p>
          <a:p>
            <a:r>
              <a:rPr lang="en-US" dirty="0"/>
              <a:t>Complete task.</a:t>
            </a:r>
          </a:p>
          <a:p>
            <a:endParaRPr lang="en-US" dirty="0"/>
          </a:p>
          <a:p>
            <a:r>
              <a:rPr lang="en-US" dirty="0"/>
              <a:t>Edit task.</a:t>
            </a:r>
          </a:p>
          <a:p>
            <a:endParaRPr lang="en-US" dirty="0"/>
          </a:p>
          <a:p>
            <a:r>
              <a:rPr lang="en-US" dirty="0"/>
              <a:t>Find a project.</a:t>
            </a:r>
          </a:p>
          <a:p>
            <a:endParaRPr lang="en-US" dirty="0"/>
          </a:p>
          <a:p>
            <a:r>
              <a:rPr lang="en-US" dirty="0"/>
              <a:t>Then:</a:t>
            </a:r>
          </a:p>
          <a:p>
            <a:endParaRPr lang="en-US" dirty="0"/>
          </a:p>
          <a:p>
            <a:r>
              <a:rPr lang="en-US" dirty="0"/>
              <a:t>1. Perform the task yourself.</a:t>
            </a:r>
          </a:p>
          <a:p>
            <a:endParaRPr lang="en-US" dirty="0"/>
          </a:p>
          <a:p>
            <a:r>
              <a:rPr lang="en-US" dirty="0"/>
              <a:t>2. Ask another person to perform it.</a:t>
            </a:r>
          </a:p>
          <a:p>
            <a:endParaRPr lang="en-US" dirty="0"/>
          </a:p>
          <a:p>
            <a:r>
              <a:rPr lang="en-US" dirty="0"/>
              <a:t>3. Observe without helping.</a:t>
            </a:r>
          </a:p>
          <a:p>
            <a:endParaRPr lang="en-US" dirty="0"/>
          </a:p>
          <a:p>
            <a:r>
              <a:rPr lang="en-US" dirty="0"/>
              <a:t>4. Record confusion points.</a:t>
            </a:r>
          </a:p>
          <a:p>
            <a:endParaRPr lang="en-US" dirty="0"/>
          </a:p>
          <a:p>
            <a:r>
              <a:rPr lang="en-US" dirty="0"/>
              <a:t>5. Improve the workflow.</a:t>
            </a:r>
          </a:p>
          <a:p>
            <a:endParaRPr lang="en-US" dirty="0"/>
          </a:p>
          <a:p>
            <a:r>
              <a:rPr lang="en-US" dirty="0"/>
              <a:t>6. Test again.</a:t>
            </a:r>
          </a:p>
          <a:p>
            <a:endParaRPr lang="en-US" dirty="0"/>
          </a:p>
          <a:p>
            <a:r>
              <a:rPr lang="en-US" dirty="0"/>
              <a:t>7. Document the changes.</a:t>
            </a:r>
          </a:p>
          <a:p>
            <a:endParaRPr lang="en-US" dirty="0"/>
          </a:p>
          <a:p>
            <a:r>
              <a:rPr lang="en-US" dirty="0"/>
              <a:t>------------------------------------------------------------</a:t>
            </a:r>
          </a:p>
          <a:p>
            <a:endParaRPr lang="en-US" dirty="0"/>
          </a:p>
          <a:p>
            <a:r>
              <a:rPr lang="en-US" dirty="0"/>
              <a:t>IMPORTANT RULE</a:t>
            </a:r>
          </a:p>
          <a:p>
            <a:endParaRPr lang="en-US" dirty="0"/>
          </a:p>
          <a:p>
            <a:r>
              <a:rPr lang="en-US" dirty="0"/>
              <a:t>Tell students:</a:t>
            </a:r>
          </a:p>
          <a:p>
            <a:endParaRPr lang="en-US" dirty="0"/>
          </a:p>
          <a:p>
            <a:r>
              <a:rPr lang="en-US" dirty="0"/>
              <a:t>"Don't explain Atlas while they're testing."</a:t>
            </a:r>
          </a:p>
          <a:p>
            <a:endParaRPr lang="en-US" dirty="0"/>
          </a:p>
          <a:p>
            <a:r>
              <a:rPr lang="en-US" dirty="0"/>
              <a:t>If the user asks:</a:t>
            </a:r>
          </a:p>
          <a:p>
            <a:endParaRPr lang="en-US" dirty="0"/>
          </a:p>
          <a:p>
            <a:r>
              <a:rPr lang="en-US" dirty="0"/>
              <a:t>"What do I click?"</a:t>
            </a:r>
          </a:p>
          <a:p>
            <a:endParaRPr lang="en-US" dirty="0"/>
          </a:p>
          <a:p>
            <a:r>
              <a:rPr lang="en-US" dirty="0"/>
              <a:t>Don't immediately answer.</a:t>
            </a:r>
          </a:p>
          <a:p>
            <a:endParaRPr lang="en-US" dirty="0"/>
          </a:p>
          <a:p>
            <a:r>
              <a:rPr lang="en-US" dirty="0"/>
              <a:t>Ask:</a:t>
            </a:r>
          </a:p>
          <a:p>
            <a:endParaRPr lang="en-US" dirty="0"/>
          </a:p>
          <a:p>
            <a:r>
              <a:rPr lang="en-US" dirty="0"/>
              <a:t>"What would you expect to click?"</a:t>
            </a:r>
          </a:p>
          <a:p>
            <a:endParaRPr lang="en-US" dirty="0"/>
          </a:p>
          <a:p>
            <a:r>
              <a:rPr lang="en-US" dirty="0"/>
              <a:t>This reveals the usability problem.</a:t>
            </a:r>
          </a:p>
          <a:p>
            <a:endParaRPr lang="en-US" dirty="0"/>
          </a:p>
          <a:p>
            <a:r>
              <a:rPr lang="en-US" dirty="0"/>
              <a:t>------------------------------------------------------------</a:t>
            </a:r>
          </a:p>
          <a:p>
            <a:endParaRPr lang="en-US" dirty="0"/>
          </a:p>
          <a:p>
            <a:r>
              <a:rPr lang="en-US" dirty="0"/>
              <a:t>USABILITY TESTING EXAMPLE</a:t>
            </a:r>
          </a:p>
          <a:p>
            <a:endParaRPr lang="en-US" dirty="0"/>
          </a:p>
          <a:p>
            <a:r>
              <a:rPr lang="en-US" dirty="0"/>
              <a:t>Scenario:</a:t>
            </a:r>
          </a:p>
          <a:p>
            <a:endParaRPr lang="en-US" dirty="0"/>
          </a:p>
          <a:p>
            <a:r>
              <a:rPr lang="en-US" dirty="0"/>
              <a:t>"Create your first project."</a:t>
            </a:r>
          </a:p>
          <a:p>
            <a:endParaRPr lang="en-US" dirty="0"/>
          </a:p>
          <a:p>
            <a:r>
              <a:rPr lang="en-US" dirty="0"/>
              <a:t>Observe:</a:t>
            </a:r>
          </a:p>
          <a:p>
            <a:endParaRPr lang="en-US" dirty="0"/>
          </a:p>
          <a:p>
            <a:r>
              <a:rPr lang="en-US" dirty="0"/>
              <a:t>Where do they look?</a:t>
            </a:r>
          </a:p>
          <a:p>
            <a:endParaRPr lang="en-US" dirty="0"/>
          </a:p>
          <a:p>
            <a:r>
              <a:rPr lang="en-US" dirty="0"/>
              <a:t>What do they click?</a:t>
            </a:r>
          </a:p>
          <a:p>
            <a:endParaRPr lang="en-US" dirty="0"/>
          </a:p>
          <a:p>
            <a:r>
              <a:rPr lang="en-US" dirty="0"/>
              <a:t>Do they understand the terminology?</a:t>
            </a:r>
          </a:p>
          <a:p>
            <a:endParaRPr lang="en-US" dirty="0"/>
          </a:p>
          <a:p>
            <a:r>
              <a:rPr lang="en-US" dirty="0"/>
              <a:t>Do they hesitate?</a:t>
            </a:r>
          </a:p>
          <a:p>
            <a:endParaRPr lang="en-US" dirty="0"/>
          </a:p>
          <a:p>
            <a:r>
              <a:rPr lang="en-US" dirty="0"/>
              <a:t>Do they make an error?</a:t>
            </a:r>
          </a:p>
          <a:p>
            <a:endParaRPr lang="en-US" dirty="0"/>
          </a:p>
          <a:p>
            <a:r>
              <a:rPr lang="en-US" dirty="0"/>
              <a:t>Can they recover?</a:t>
            </a:r>
          </a:p>
          <a:p>
            <a:endParaRPr lang="en-US" dirty="0"/>
          </a:p>
          <a:p>
            <a:r>
              <a:rPr lang="en-US" dirty="0"/>
              <a:t>Do they finish?</a:t>
            </a:r>
          </a:p>
          <a:p>
            <a:endParaRPr lang="en-US" dirty="0"/>
          </a:p>
          <a:p>
            <a:r>
              <a:rPr lang="en-US" dirty="0"/>
              <a:t>Then:</a:t>
            </a:r>
          </a:p>
          <a:p>
            <a:endParaRPr lang="en-US" dirty="0"/>
          </a:p>
          <a:p>
            <a:r>
              <a:rPr lang="en-US" dirty="0"/>
              <a:t>"That's your usability evidence."</a:t>
            </a:r>
          </a:p>
          <a:p>
            <a:endParaRPr lang="en-US" dirty="0"/>
          </a:p>
          <a:p>
            <a:r>
              <a:rPr lang="en-US" dirty="0"/>
              <a:t>------------------------------------------------------------</a:t>
            </a:r>
          </a:p>
          <a:p>
            <a:endParaRPr lang="en-US" dirty="0"/>
          </a:p>
          <a:p>
            <a:r>
              <a:rPr lang="en-US" dirty="0"/>
              <a:t>THE DEVELOPER TEST</a:t>
            </a:r>
          </a:p>
          <a:p>
            <a:endParaRPr lang="en-US" dirty="0"/>
          </a:p>
          <a:p>
            <a:r>
              <a:rPr lang="en-US" dirty="0"/>
              <a:t>Ask:</a:t>
            </a:r>
          </a:p>
          <a:p>
            <a:endParaRPr lang="en-US" dirty="0"/>
          </a:p>
          <a:p>
            <a:r>
              <a:rPr lang="en-US" dirty="0"/>
              <a:t>"Can I complete the task?"</a:t>
            </a:r>
          </a:p>
          <a:p>
            <a:endParaRPr lang="en-US" dirty="0"/>
          </a:p>
          <a:p>
            <a:r>
              <a:rPr lang="en-US" dirty="0"/>
              <a:t>That's not enough.</a:t>
            </a:r>
          </a:p>
          <a:p>
            <a:endParaRPr lang="en-US" dirty="0"/>
          </a:p>
          <a:p>
            <a:r>
              <a:rPr lang="en-US" dirty="0"/>
              <a:t>------------------------------------------------------------</a:t>
            </a:r>
          </a:p>
          <a:p>
            <a:endParaRPr lang="en-US" dirty="0"/>
          </a:p>
          <a:p>
            <a:r>
              <a:rPr lang="en-US" dirty="0"/>
              <a:t>THE USER TEST</a:t>
            </a:r>
          </a:p>
          <a:p>
            <a:endParaRPr lang="en-US" dirty="0"/>
          </a:p>
          <a:p>
            <a:r>
              <a:rPr lang="en-US" dirty="0"/>
              <a:t>Ask:</a:t>
            </a:r>
          </a:p>
          <a:p>
            <a:endParaRPr lang="en-US" dirty="0"/>
          </a:p>
          <a:p>
            <a:r>
              <a:rPr lang="en-US" dirty="0"/>
              <a:t>"Can someone unfamiliar with Atlas complete the task?"</a:t>
            </a:r>
          </a:p>
          <a:p>
            <a:endParaRPr lang="en-US" dirty="0"/>
          </a:p>
          <a:p>
            <a:r>
              <a:rPr lang="en-US" dirty="0"/>
              <a:t>That's much stronger evidence.</a:t>
            </a:r>
          </a:p>
          <a:p>
            <a:endParaRPr lang="en-US" dirty="0"/>
          </a:p>
          <a:p>
            <a:r>
              <a:rPr lang="en-US" dirty="0"/>
              <a:t>------------------------------------------------------------</a:t>
            </a:r>
          </a:p>
          <a:p>
            <a:endParaRPr lang="en-US" dirty="0"/>
          </a:p>
          <a:p>
            <a:r>
              <a:rPr lang="en-US" dirty="0"/>
              <a:t>USABILITY PRINCIPLE</a:t>
            </a:r>
          </a:p>
          <a:p>
            <a:endParaRPr lang="en-US" dirty="0"/>
          </a:p>
          <a:p>
            <a:r>
              <a:rPr lang="en-US" dirty="0"/>
              <a:t>Point to the quote:</a:t>
            </a:r>
          </a:p>
          <a:p>
            <a:endParaRPr lang="en-US" dirty="0"/>
          </a:p>
          <a:p>
            <a:r>
              <a:rPr lang="en-US" dirty="0"/>
              <a:t>"Good design is invisible.</a:t>
            </a:r>
          </a:p>
          <a:p>
            <a:endParaRPr lang="en-US" dirty="0"/>
          </a:p>
          <a:p>
            <a:r>
              <a:rPr lang="en-US" dirty="0"/>
              <a:t>It just works."</a:t>
            </a:r>
          </a:p>
          <a:p>
            <a:endParaRPr lang="en-US" dirty="0"/>
          </a:p>
          <a:p>
            <a:r>
              <a:rPr lang="en-US" dirty="0"/>
              <a:t>Explain:</a:t>
            </a:r>
          </a:p>
          <a:p>
            <a:endParaRPr lang="en-US" dirty="0"/>
          </a:p>
          <a:p>
            <a:r>
              <a:rPr lang="en-US" dirty="0"/>
              <a:t>"When usability is good..."</a:t>
            </a:r>
          </a:p>
          <a:p>
            <a:endParaRPr lang="en-US" dirty="0"/>
          </a:p>
          <a:p>
            <a:r>
              <a:rPr lang="en-US" dirty="0"/>
              <a:t>Users don't think about the interface.</a:t>
            </a:r>
          </a:p>
          <a:p>
            <a:endParaRPr lang="en-US" dirty="0"/>
          </a:p>
          <a:p>
            <a:r>
              <a:rPr lang="en-US" dirty="0"/>
              <a:t>They think about their task.</a:t>
            </a:r>
          </a:p>
          <a:p>
            <a:endParaRPr lang="en-US" dirty="0"/>
          </a:p>
          <a:p>
            <a:r>
              <a:rPr lang="en-US" dirty="0"/>
              <a:t>------------------------------------------------------------</a:t>
            </a:r>
          </a:p>
          <a:p>
            <a:endParaRPr lang="en-US" dirty="0"/>
          </a:p>
          <a:p>
            <a:r>
              <a:rPr lang="en-US" dirty="0"/>
              <a:t>THE ATLAS STANDARD</a:t>
            </a:r>
          </a:p>
          <a:p>
            <a:endParaRPr lang="en-US" dirty="0"/>
          </a:p>
          <a:p>
            <a:r>
              <a:rPr lang="en-US" dirty="0"/>
              <a:t>Say:</a:t>
            </a:r>
          </a:p>
          <a:p>
            <a:endParaRPr lang="en-US" dirty="0"/>
          </a:p>
          <a:p>
            <a:r>
              <a:rPr lang="en-US" dirty="0"/>
              <a:t>"Our goal isn't to impress users with our code."</a:t>
            </a:r>
          </a:p>
          <a:p>
            <a:endParaRPr lang="en-US" dirty="0"/>
          </a:p>
          <a:p>
            <a:r>
              <a:rPr lang="en-US" dirty="0"/>
              <a:t>"Our goal is to help users accomplish something."</a:t>
            </a:r>
          </a:p>
          <a:p>
            <a:endParaRPr lang="en-US" dirty="0"/>
          </a:p>
          <a:p>
            <a:r>
              <a:rPr lang="en-US" dirty="0"/>
              <a:t>That's the standard.</a:t>
            </a:r>
          </a:p>
          <a:p>
            <a:endParaRPr lang="en-US" dirty="0"/>
          </a:p>
          <a:p>
            <a:r>
              <a:rPr lang="en-US" dirty="0"/>
              <a:t>------------------------------------------------------------</a:t>
            </a:r>
          </a:p>
          <a:p>
            <a:endParaRPr lang="en-US" dirty="0"/>
          </a:p>
          <a:p>
            <a:r>
              <a:rPr lang="en-US" dirty="0"/>
              <a:t>SPRINT CONNECTION</a:t>
            </a:r>
          </a:p>
          <a:p>
            <a:endParaRPr lang="en-US" dirty="0"/>
          </a:p>
          <a:p>
            <a:r>
              <a:rPr lang="en-US" dirty="0"/>
              <a:t>Review:</a:t>
            </a:r>
          </a:p>
          <a:p>
            <a:endParaRPr lang="en-US" dirty="0"/>
          </a:p>
          <a:p>
            <a:r>
              <a:rPr lang="en-US" dirty="0"/>
              <a:t>Sprint 6:</a:t>
            </a:r>
          </a:p>
          <a:p>
            <a:endParaRPr lang="en-US" dirty="0"/>
          </a:p>
          <a:p>
            <a:r>
              <a:rPr lang="en-US" dirty="0"/>
              <a:t>Protect the user.</a:t>
            </a:r>
          </a:p>
          <a:p>
            <a:endParaRPr lang="en-US" dirty="0"/>
          </a:p>
          <a:p>
            <a:r>
              <a:rPr lang="en-US" dirty="0"/>
              <a:t>Sprint 7:</a:t>
            </a:r>
          </a:p>
          <a:p>
            <a:endParaRPr lang="en-US" dirty="0"/>
          </a:p>
          <a:p>
            <a:r>
              <a:rPr lang="en-US" dirty="0"/>
              <a:t>Prepare the experience.</a:t>
            </a:r>
          </a:p>
          <a:p>
            <a:endParaRPr lang="en-US" dirty="0"/>
          </a:p>
          <a:p>
            <a:r>
              <a:rPr lang="en-US" dirty="0"/>
              <a:t>Explain:</a:t>
            </a:r>
          </a:p>
          <a:p>
            <a:endParaRPr lang="en-US" dirty="0"/>
          </a:p>
          <a:p>
            <a:r>
              <a:rPr lang="en-US" dirty="0"/>
              <a:t>"Security protects users from harm."</a:t>
            </a:r>
          </a:p>
          <a:p>
            <a:endParaRPr lang="en-US" dirty="0"/>
          </a:p>
          <a:p>
            <a:r>
              <a:rPr lang="en-US" dirty="0"/>
              <a:t>"Usability helps users succeed."</a:t>
            </a:r>
          </a:p>
          <a:p>
            <a:endParaRPr lang="en-US" dirty="0"/>
          </a:p>
          <a:p>
            <a:r>
              <a:rPr lang="en-US" dirty="0"/>
              <a:t>We need both.</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MAKE IT DOCUMENTED.</a:t>
            </a:r>
          </a:p>
          <a:p>
            <a:endParaRPr lang="en-US" dirty="0"/>
          </a:p>
          <a:p>
            <a:r>
              <a:rPr lang="en-US" dirty="0"/>
              <a:t>Say:</a:t>
            </a:r>
          </a:p>
          <a:p>
            <a:endParaRPr lang="en-US" dirty="0"/>
          </a:p>
          <a:p>
            <a:r>
              <a:rPr lang="en-US" dirty="0"/>
              <a:t>"We've improved what users see."</a:t>
            </a:r>
          </a:p>
          <a:p>
            <a:endParaRPr lang="en-US" dirty="0"/>
          </a:p>
          <a:p>
            <a:r>
              <a:rPr lang="en-US" dirty="0"/>
              <a:t>"But there's another question."</a:t>
            </a:r>
          </a:p>
          <a:p>
            <a:endParaRPr lang="en-US" dirty="0"/>
          </a:p>
          <a:p>
            <a:r>
              <a:rPr lang="en-US" dirty="0"/>
              <a:t>"What happens when someone needs to understand Atlas without us?"</a:t>
            </a:r>
          </a:p>
          <a:p>
            <a:endParaRPr lang="en-US" dirty="0"/>
          </a:p>
          <a:p>
            <a:r>
              <a:rPr lang="en-US" dirty="0"/>
              <a:t>Pause.</a:t>
            </a:r>
          </a:p>
          <a:p>
            <a:endParaRPr lang="en-US" dirty="0"/>
          </a:p>
          <a:p>
            <a:r>
              <a:rPr lang="en-US" dirty="0"/>
              <a:t>"That's documentation."</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"Engineers..."</a:t>
            </a:r>
          </a:p>
          <a:p>
            <a:endParaRPr lang="en-US" dirty="0"/>
          </a:p>
          <a:p>
            <a:r>
              <a:rPr lang="en-US" dirty="0"/>
              <a:t>"Don't design for yourself."</a:t>
            </a:r>
          </a:p>
          <a:p>
            <a:endParaRPr lang="en-US" dirty="0"/>
          </a:p>
          <a:p>
            <a:r>
              <a:rPr lang="en-US" dirty="0"/>
              <a:t>"Design for the person trying to accomplish something."</a:t>
            </a:r>
          </a:p>
          <a:p>
            <a:endParaRPr lang="en-US" dirty="0"/>
          </a:p>
          <a:p>
            <a:r>
              <a:rPr lang="en-US" dirty="0"/>
              <a:t>Pause.</a:t>
            </a:r>
          </a:p>
          <a:p>
            <a:endParaRPr lang="en-US" dirty="0"/>
          </a:p>
          <a:p>
            <a:r>
              <a:rPr lang="en-US" dirty="0"/>
              <a:t>"Make it clear."</a:t>
            </a:r>
          </a:p>
          <a:p>
            <a:endParaRPr lang="en-US" dirty="0"/>
          </a:p>
          <a:p>
            <a:r>
              <a:rPr lang="en-US" dirty="0"/>
              <a:t>"Make it efficient."</a:t>
            </a:r>
          </a:p>
          <a:p>
            <a:endParaRPr lang="en-US" dirty="0"/>
          </a:p>
          <a:p>
            <a:r>
              <a:rPr lang="en-US" dirty="0"/>
              <a:t>"Make it accessible."</a:t>
            </a:r>
          </a:p>
          <a:p>
            <a:endParaRPr lang="en-US" dirty="0"/>
          </a:p>
          <a:p>
            <a:r>
              <a:rPr lang="en-US" dirty="0"/>
              <a:t>"Make it forgiving."</a:t>
            </a:r>
          </a:p>
          <a:p>
            <a:endParaRPr lang="en-US" dirty="0"/>
          </a:p>
          <a:p>
            <a:r>
              <a:rPr lang="en-US" dirty="0"/>
              <a:t>"Then watch someone use it."</a:t>
            </a:r>
          </a:p>
          <a:p>
            <a:endParaRPr lang="en-US" dirty="0"/>
          </a:p>
          <a:p>
            <a:r>
              <a:rPr lang="en-US" dirty="0"/>
              <a:t>"And listen."</a:t>
            </a:r>
          </a:p>
          <a:p>
            <a:endParaRPr lang="en-US" dirty="0"/>
          </a:p>
          <a:p>
            <a:r>
              <a:rPr lang="en-US" dirty="0"/>
              <a:t>============================================================</a:t>
            </a:r>
          </a:p>
          <a:p>
            <a:endParaRPr lang="en-US" dirty="0"/>
          </a:p>
          <a:p>
            <a:r>
              <a:rPr lang="en-US" dirty="0"/>
              <a:t>ESTIMATED TIME</a:t>
            </a:r>
          </a:p>
          <a:p>
            <a:endParaRPr lang="en-US" dirty="0"/>
          </a:p>
          <a:p>
            <a:r>
              <a:rPr lang="en-US" dirty="0"/>
              <a:t>Opening &amp; Usability Concept............8 minutes</a:t>
            </a:r>
          </a:p>
          <a:p>
            <a:endParaRPr lang="en-US" dirty="0"/>
          </a:p>
          <a:p>
            <a:r>
              <a:rPr lang="en-US" dirty="0"/>
              <a:t>User Journey...........................10 minutes</a:t>
            </a:r>
          </a:p>
          <a:p>
            <a:endParaRPr lang="en-US" dirty="0"/>
          </a:p>
          <a:p>
            <a:r>
              <a:rPr lang="en-US" dirty="0"/>
              <a:t>Good vs Poor Examples..................10 minutes</a:t>
            </a:r>
          </a:p>
          <a:p>
            <a:endParaRPr lang="en-US" dirty="0"/>
          </a:p>
          <a:p>
            <a:r>
              <a:rPr lang="en-US" dirty="0"/>
              <a:t>Usability Principles...................10 minutes</a:t>
            </a:r>
          </a:p>
          <a:p>
            <a:endParaRPr lang="en-US" dirty="0"/>
          </a:p>
          <a:p>
            <a:r>
              <a:rPr lang="en-US" dirty="0"/>
              <a:t>Accessibility...........................8 minutes</a:t>
            </a:r>
          </a:p>
          <a:p>
            <a:endParaRPr lang="en-US" dirty="0"/>
          </a:p>
          <a:p>
            <a:r>
              <a:rPr lang="en-US" dirty="0"/>
              <a:t>Usability Testing.......................10 minutes</a:t>
            </a:r>
          </a:p>
          <a:p>
            <a:endParaRPr lang="en-US" dirty="0"/>
          </a:p>
          <a:p>
            <a:r>
              <a:rPr lang="en-US" dirty="0"/>
              <a:t>Build Challenge........................10 minutes</a:t>
            </a:r>
          </a:p>
          <a:p>
            <a:endParaRPr lang="en-US" dirty="0"/>
          </a:p>
          <a:p>
            <a:r>
              <a:rPr lang="en-US" dirty="0"/>
              <a:t>Closing..................................5 minutes</a:t>
            </a:r>
          </a:p>
          <a:p>
            <a:endParaRPr lang="en-US" dirty="0"/>
          </a:p>
          <a:p>
            <a:r>
              <a:rPr lang="en-US" dirty="0"/>
              <a:t>TOTAL...................................71 minutes</a:t>
            </a:r>
          </a:p>
          <a:p>
            <a:endParaRPr lang="en-US" dirty="0"/>
          </a:p>
          <a:p>
            <a:r>
              <a:rPr lang="en-US" dirty="0"/>
              <a:t>============================================================</a:t>
            </a:r>
          </a:p>
          <a:p>
            <a:endParaRPr lang="en-US" dirty="0"/>
          </a:p>
          <a:p>
            <a:r>
              <a:rPr lang="en-US" dirty="0"/>
              <a:t>INSTRUCTOR NOTES</a:t>
            </a:r>
          </a:p>
          <a:p>
            <a:endParaRPr lang="en-US" dirty="0"/>
          </a:p>
          <a:p>
            <a:r>
              <a:rPr lang="en-US" dirty="0"/>
              <a:t>This should be interactive.</a:t>
            </a:r>
          </a:p>
          <a:p>
            <a:endParaRPr lang="en-US" dirty="0"/>
          </a:p>
          <a:p>
            <a:r>
              <a:rPr lang="en-US" dirty="0"/>
              <a:t>Students should actually have someone else use Atlas whenever</a:t>
            </a:r>
          </a:p>
          <a:p>
            <a:r>
              <a:rPr lang="en-US" dirty="0"/>
              <a:t>possible.</a:t>
            </a:r>
          </a:p>
          <a:p>
            <a:endParaRPr lang="en-US" dirty="0"/>
          </a:p>
          <a:p>
            <a:r>
              <a:rPr lang="en-US" dirty="0"/>
              <a:t>------------------------------------------------------------</a:t>
            </a:r>
          </a:p>
          <a:p>
            <a:endParaRPr lang="en-US" dirty="0"/>
          </a:p>
          <a:p>
            <a:r>
              <a:rPr lang="en-US" dirty="0"/>
              <a:t>IMPORTANT TEACHING MOVE</a:t>
            </a:r>
          </a:p>
          <a:p>
            <a:endParaRPr lang="en-US" dirty="0"/>
          </a:p>
          <a:p>
            <a:r>
              <a:rPr lang="en-US" dirty="0"/>
              <a:t>Do not let students explain the application during usability testing.</a:t>
            </a:r>
          </a:p>
          <a:p>
            <a:endParaRPr lang="en-US" dirty="0"/>
          </a:p>
          <a:p>
            <a:r>
              <a:rPr lang="en-US" dirty="0"/>
              <a:t>The moment a student says:</a:t>
            </a:r>
          </a:p>
          <a:p>
            <a:endParaRPr lang="en-US" dirty="0"/>
          </a:p>
          <a:p>
            <a:r>
              <a:rPr lang="en-US" dirty="0"/>
              <a:t>"No, you click THIS button..."</a:t>
            </a:r>
          </a:p>
          <a:p>
            <a:endParaRPr lang="en-US" dirty="0"/>
          </a:p>
          <a:p>
            <a:r>
              <a:rPr lang="en-US" dirty="0"/>
              <a:t>stop them.</a:t>
            </a:r>
          </a:p>
          <a:p>
            <a:endParaRPr lang="en-US" dirty="0"/>
          </a:p>
          <a:p>
            <a:r>
              <a:rPr lang="en-US" dirty="0"/>
              <a:t>Say:</a:t>
            </a:r>
          </a:p>
          <a:p>
            <a:endParaRPr lang="en-US" dirty="0"/>
          </a:p>
          <a:p>
            <a:r>
              <a:rPr lang="en-US" dirty="0"/>
              <a:t>"Don't help them."</a:t>
            </a:r>
          </a:p>
          <a:p>
            <a:endParaRPr lang="en-US" dirty="0"/>
          </a:p>
          <a:p>
            <a:r>
              <a:rPr lang="en-US" dirty="0"/>
              <a:t>"The fact that they didn't know what to click is the data."</a:t>
            </a:r>
          </a:p>
          <a:p>
            <a:endParaRPr lang="en-US" dirty="0"/>
          </a:p>
          <a:p>
            <a:r>
              <a:rPr lang="en-US" dirty="0"/>
              <a:t>------------------------------------------------------------</a:t>
            </a:r>
          </a:p>
          <a:p>
            <a:endParaRPr lang="en-US" dirty="0"/>
          </a:p>
          <a:p>
            <a:r>
              <a:rPr lang="en-US" dirty="0"/>
              <a:t>USER TESTING BOUNDARY</a:t>
            </a:r>
          </a:p>
          <a:p>
            <a:endParaRPr lang="en-US" dirty="0"/>
          </a:p>
          <a:p>
            <a:r>
              <a:rPr lang="en-US" dirty="0"/>
              <a:t>A usability test can be extremely simple.</a:t>
            </a:r>
          </a:p>
          <a:p>
            <a:endParaRPr lang="en-US" dirty="0"/>
          </a:p>
          <a:p>
            <a:r>
              <a:rPr lang="en-US" dirty="0"/>
              <a:t>The tester does not need to be a professional UX researcher.</a:t>
            </a:r>
          </a:p>
          <a:p>
            <a:endParaRPr lang="en-US" dirty="0"/>
          </a:p>
          <a:p>
            <a:r>
              <a:rPr lang="en-US" dirty="0"/>
              <a:t>A classmate, friend, family member, or instructor can provide useful</a:t>
            </a:r>
          </a:p>
          <a:p>
            <a:r>
              <a:rPr lang="en-US" dirty="0"/>
              <a:t>feedback.</a:t>
            </a:r>
          </a:p>
          <a:p>
            <a:endParaRPr lang="en-US" dirty="0"/>
          </a:p>
          <a:p>
            <a:r>
              <a:rPr lang="en-US" dirty="0"/>
              <a:t>------------------------------------------------------------</a:t>
            </a:r>
          </a:p>
          <a:p>
            <a:endParaRPr lang="en-US" dirty="0"/>
          </a:p>
          <a:p>
            <a:r>
              <a:rPr lang="en-US" dirty="0"/>
              <a:t>GOOD TESTING QUESTION</a:t>
            </a:r>
          </a:p>
          <a:p>
            <a:endParaRPr lang="en-US" dirty="0"/>
          </a:p>
          <a:p>
            <a:r>
              <a:rPr lang="en-US" dirty="0"/>
              <a:t>Ask:</a:t>
            </a:r>
          </a:p>
          <a:p>
            <a:endParaRPr lang="en-US" dirty="0"/>
          </a:p>
          <a:p>
            <a:r>
              <a:rPr lang="en-US" dirty="0"/>
              <a:t>"What would you expect to happen next?"</a:t>
            </a:r>
          </a:p>
          <a:p>
            <a:endParaRPr lang="en-US" dirty="0"/>
          </a:p>
          <a:p>
            <a:r>
              <a:rPr lang="en-US" dirty="0"/>
              <a:t>This reveals the user's mental model.</a:t>
            </a:r>
          </a:p>
          <a:p>
            <a:endParaRPr lang="en-US" dirty="0"/>
          </a:p>
          <a:p>
            <a:r>
              <a:rPr lang="en-US" dirty="0"/>
              <a:t>------------------------------------------------------------</a:t>
            </a:r>
          </a:p>
          <a:p>
            <a:endParaRPr lang="en-US" dirty="0"/>
          </a:p>
          <a:p>
            <a:r>
              <a:rPr lang="en-US" dirty="0"/>
              <a:t>ANOTHER GOOD QUESTION</a:t>
            </a:r>
          </a:p>
          <a:p>
            <a:endParaRPr lang="en-US" dirty="0"/>
          </a:p>
          <a:p>
            <a:r>
              <a:rPr lang="en-US" dirty="0"/>
              <a:t>Ask:</a:t>
            </a:r>
          </a:p>
          <a:p>
            <a:endParaRPr lang="en-US" dirty="0"/>
          </a:p>
          <a:p>
            <a:r>
              <a:rPr lang="en-US" dirty="0"/>
              <a:t>"What were you expecting when you clicked that?"</a:t>
            </a:r>
          </a:p>
          <a:p>
            <a:endParaRPr lang="en-US" dirty="0"/>
          </a:p>
          <a:p>
            <a:r>
              <a:rPr lang="en-US" dirty="0"/>
              <a:t>This reveals whether the interface communicated its intent.</a:t>
            </a:r>
          </a:p>
          <a:p>
            <a:endParaRPr lang="en-US" dirty="0"/>
          </a:p>
          <a:p>
            <a:r>
              <a:rPr lang="en-US" dirty="0"/>
              <a:t>------------------------------------------------------------</a:t>
            </a:r>
          </a:p>
          <a:p>
            <a:endParaRPr lang="en-US" dirty="0"/>
          </a:p>
          <a:p>
            <a:r>
              <a:rPr lang="en-US" dirty="0"/>
              <a:t>AVOID LEADING QUESTIONS</a:t>
            </a:r>
          </a:p>
          <a:p>
            <a:endParaRPr lang="en-US" dirty="0"/>
          </a:p>
          <a:p>
            <a:r>
              <a:rPr lang="en-US" dirty="0"/>
              <a:t>Don't ask:</a:t>
            </a:r>
          </a:p>
          <a:p>
            <a:endParaRPr lang="en-US" dirty="0"/>
          </a:p>
          <a:p>
            <a:r>
              <a:rPr lang="en-US" dirty="0"/>
              <a:t>"Was this button easy to understand?"</a:t>
            </a:r>
          </a:p>
          <a:p>
            <a:endParaRPr lang="en-US" dirty="0"/>
          </a:p>
          <a:p>
            <a:r>
              <a:rPr lang="en-US" dirty="0"/>
              <a:t>Ask:</a:t>
            </a:r>
          </a:p>
          <a:p>
            <a:endParaRPr lang="en-US" dirty="0"/>
          </a:p>
          <a:p>
            <a:r>
              <a:rPr lang="en-US" dirty="0"/>
              <a:t>"What do you think this button does?"</a:t>
            </a:r>
          </a:p>
          <a:p>
            <a:endParaRPr lang="en-US" dirty="0"/>
          </a:p>
          <a:p>
            <a:r>
              <a:rPr lang="en-US" dirty="0"/>
              <a:t>The second question gives more honest information.</a:t>
            </a:r>
          </a:p>
          <a:p>
            <a:endParaRPr lang="en-US" dirty="0"/>
          </a:p>
          <a:p>
            <a:r>
              <a:rPr lang="en-US" dirty="0"/>
              <a:t>------------------------------------------------------------</a:t>
            </a:r>
          </a:p>
          <a:p>
            <a:endParaRPr lang="en-US" dirty="0"/>
          </a:p>
          <a:p>
            <a:r>
              <a:rPr lang="en-US" dirty="0"/>
              <a:t>ACCESSIBILITY BOUNDARY</a:t>
            </a:r>
          </a:p>
          <a:p>
            <a:endParaRPr lang="en-US" dirty="0"/>
          </a:p>
          <a:p>
            <a:r>
              <a:rPr lang="en-US" dirty="0"/>
              <a:t>Students should implement practical accessibility improvements.</a:t>
            </a:r>
          </a:p>
          <a:p>
            <a:endParaRPr lang="en-US" dirty="0"/>
          </a:p>
          <a:p>
            <a:r>
              <a:rPr lang="en-US" dirty="0"/>
              <a:t>Prioritize:</a:t>
            </a:r>
          </a:p>
          <a:p>
            <a:endParaRPr lang="en-US" dirty="0"/>
          </a:p>
          <a:p>
            <a:r>
              <a:rPr lang="en-US" dirty="0"/>
              <a:t>✓ Semantic structure.</a:t>
            </a:r>
          </a:p>
          <a:p>
            <a:endParaRPr lang="en-US" dirty="0"/>
          </a:p>
          <a:p>
            <a:r>
              <a:rPr lang="en-US" dirty="0"/>
              <a:t>✓ Labels.</a:t>
            </a:r>
          </a:p>
          <a:p>
            <a:endParaRPr lang="en-US" dirty="0"/>
          </a:p>
          <a:p>
            <a:r>
              <a:rPr lang="en-US" dirty="0"/>
              <a:t>✓ Keyboard access.</a:t>
            </a:r>
          </a:p>
          <a:p>
            <a:endParaRPr lang="en-US" dirty="0"/>
          </a:p>
          <a:p>
            <a:r>
              <a:rPr lang="en-US" dirty="0"/>
              <a:t>✓ Visible focus.</a:t>
            </a:r>
          </a:p>
          <a:p>
            <a:endParaRPr lang="en-US" dirty="0"/>
          </a:p>
          <a:p>
            <a:r>
              <a:rPr lang="en-US" dirty="0"/>
              <a:t>✓ Contrast.</a:t>
            </a:r>
          </a:p>
          <a:p>
            <a:endParaRPr lang="en-US" dirty="0"/>
          </a:p>
          <a:p>
            <a:r>
              <a:rPr lang="en-US" dirty="0"/>
              <a:t>✓ Alt text where appropriate.</a:t>
            </a:r>
          </a:p>
          <a:p>
            <a:endParaRPr lang="en-US" dirty="0"/>
          </a:p>
          <a:p>
            <a:r>
              <a:rPr lang="en-US" dirty="0"/>
              <a:t>✓ Responsive design.</a:t>
            </a:r>
          </a:p>
          <a:p>
            <a:endParaRPr lang="en-US" dirty="0"/>
          </a:p>
          <a:p>
            <a:r>
              <a:rPr lang="en-US" dirty="0"/>
              <a:t>✓ Clear error messages.</a:t>
            </a:r>
          </a:p>
          <a:p>
            <a:endParaRPr lang="en-US" dirty="0"/>
          </a:p>
          <a:p>
            <a:r>
              <a:rPr lang="en-US" dirty="0"/>
              <a:t>They do not need to become accessibility specialists in one sprint.</a:t>
            </a:r>
          </a:p>
          <a:p>
            <a:endParaRPr lang="en-US" dirty="0"/>
          </a:p>
          <a:p>
            <a:r>
              <a:rPr lang="en-US" dirty="0"/>
              <a:t>------------------------------------------------------------</a:t>
            </a:r>
          </a:p>
          <a:p>
            <a:endParaRPr lang="en-US" dirty="0"/>
          </a:p>
          <a:p>
            <a:r>
              <a:rPr lang="en-US" dirty="0"/>
              <a:t>USABILITY VS AESTHETICS</a:t>
            </a:r>
          </a:p>
          <a:p>
            <a:endParaRPr lang="en-US" dirty="0"/>
          </a:p>
          <a:p>
            <a:r>
              <a:rPr lang="en-US" dirty="0"/>
              <a:t>Emphasize:</a:t>
            </a:r>
          </a:p>
          <a:p>
            <a:endParaRPr lang="en-US" dirty="0"/>
          </a:p>
          <a:p>
            <a:r>
              <a:rPr lang="en-US" dirty="0"/>
              <a:t>"Pretty doesn't automatically mean usable."</a:t>
            </a:r>
          </a:p>
          <a:p>
            <a:endParaRPr lang="en-US" dirty="0"/>
          </a:p>
          <a:p>
            <a:r>
              <a:rPr lang="en-US" dirty="0"/>
              <a:t>A beautiful interface can still be:</a:t>
            </a:r>
          </a:p>
          <a:p>
            <a:endParaRPr lang="en-US" dirty="0"/>
          </a:p>
          <a:p>
            <a:r>
              <a:rPr lang="en-US" dirty="0"/>
              <a:t>Confusing.</a:t>
            </a:r>
          </a:p>
          <a:p>
            <a:endParaRPr lang="en-US" dirty="0"/>
          </a:p>
          <a:p>
            <a:r>
              <a:rPr lang="en-US" dirty="0"/>
              <a:t>Slow.</a:t>
            </a:r>
          </a:p>
          <a:p>
            <a:endParaRPr lang="en-US" dirty="0"/>
          </a:p>
          <a:p>
            <a:r>
              <a:rPr lang="en-US" dirty="0"/>
              <a:t>Inaccessible.</a:t>
            </a:r>
          </a:p>
          <a:p>
            <a:endParaRPr lang="en-US" dirty="0"/>
          </a:p>
          <a:p>
            <a:r>
              <a:rPr lang="en-US" dirty="0"/>
              <a:t>Inconsistent.</a:t>
            </a:r>
          </a:p>
          <a:p>
            <a:endParaRPr lang="en-US" dirty="0"/>
          </a:p>
          <a:p>
            <a:r>
              <a:rPr lang="en-US" dirty="0"/>
              <a:t>Difficult to navigate.</a:t>
            </a:r>
          </a:p>
          <a:p>
            <a:endParaRPr lang="en-US" dirty="0"/>
          </a:p>
          <a:p>
            <a:r>
              <a:rPr lang="en-US" dirty="0"/>
              <a:t>------------------------------------------------------------</a:t>
            </a:r>
          </a:p>
          <a:p>
            <a:endParaRPr lang="en-US" dirty="0"/>
          </a:p>
          <a:p>
            <a:r>
              <a:rPr lang="en-US" dirty="0"/>
              <a:t>KEY TAKEAWAY</a:t>
            </a:r>
          </a:p>
          <a:p>
            <a:endParaRPr lang="en-US" dirty="0"/>
          </a:p>
          <a:p>
            <a:r>
              <a:rPr lang="en-US" dirty="0"/>
              <a:t>Write on the board:</a:t>
            </a:r>
          </a:p>
          <a:p>
            <a:endParaRPr lang="en-US" dirty="0"/>
          </a:p>
          <a:p>
            <a:r>
              <a:rPr lang="en-US" dirty="0"/>
              <a:t>DESIGN</a:t>
            </a:r>
          </a:p>
          <a:p>
            <a:endParaRPr lang="en-US" dirty="0"/>
          </a:p>
          <a:p>
            <a:r>
              <a:rPr lang="en-US" dirty="0"/>
              <a:t>↓</a:t>
            </a:r>
          </a:p>
          <a:p>
            <a:endParaRPr lang="en-US" dirty="0"/>
          </a:p>
          <a:p>
            <a:r>
              <a:rPr lang="en-US" dirty="0"/>
              <a:t>OBSERVE</a:t>
            </a:r>
          </a:p>
          <a:p>
            <a:endParaRPr lang="en-US" dirty="0"/>
          </a:p>
          <a:p>
            <a:r>
              <a:rPr lang="en-US" dirty="0"/>
              <a:t>↓</a:t>
            </a:r>
          </a:p>
          <a:p>
            <a:endParaRPr lang="en-US" dirty="0"/>
          </a:p>
          <a:p>
            <a:r>
              <a:rPr lang="en-US" dirty="0"/>
              <a:t>LEARN</a:t>
            </a:r>
          </a:p>
          <a:p>
            <a:endParaRPr lang="en-US" dirty="0"/>
          </a:p>
          <a:p>
            <a:r>
              <a:rPr lang="en-US" dirty="0"/>
              <a:t>↓</a:t>
            </a:r>
          </a:p>
          <a:p>
            <a:endParaRPr lang="en-US" dirty="0"/>
          </a:p>
          <a:p>
            <a:r>
              <a:rPr lang="en-US" dirty="0"/>
              <a:t>IMPROVE</a:t>
            </a:r>
          </a:p>
          <a:p>
            <a:endParaRPr lang="en-US" dirty="0"/>
          </a:p>
          <a:p>
            <a:r>
              <a:rPr lang="en-US" dirty="0"/>
              <a:t>Then:</a:t>
            </a:r>
          </a:p>
          <a:p>
            <a:endParaRPr lang="en-US" dirty="0"/>
          </a:p>
          <a:p>
            <a:r>
              <a:rPr lang="en-US" dirty="0"/>
              <a:t>"Users reveal what developers miss."</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"Good software doesn't make users think about the software."</a:t>
            </a:r>
          </a:p>
          <a:p>
            <a:endParaRPr lang="en-US" dirty="0"/>
          </a:p>
          <a:p>
            <a:r>
              <a:rPr lang="en-US" dirty="0"/>
              <a:t>"It helps them think about what they're trying to accomplish."</a:t>
            </a:r>
          </a:p>
          <a:p>
            <a:endParaRPr lang="en-US" dirty="0"/>
          </a:p>
          <a:p>
            <a:r>
              <a:rPr lang="en-US" dirty="0"/>
              <a:t>"Make Atlas easy to use."</a:t>
            </a:r>
          </a:p>
          <a:p>
            <a:endParaRPr lang="en-US" dirty="0"/>
          </a:p>
          <a:p>
            <a:r>
              <a:rPr lang="en-US" dirty="0"/>
              <a:t>"Because usability creates adoption..."</a:t>
            </a:r>
          </a:p>
          <a:p>
            <a:endParaRPr lang="en-US" dirty="0"/>
          </a:p>
          <a:p>
            <a:r>
              <a:rPr lang="en-US" dirty="0"/>
              <a:t>"...and adoption creates impact."</a:t>
            </a:r>
          </a:p>
          <a:p>
            <a:endParaRPr lang="en-US" dirty="0"/>
          </a:p>
          <a:p>
            <a:r>
              <a:rPr lang="en-US" dirty="0"/>
              <a:t>============================================================</a:t>
            </a:r>
          </a:p>
        </p:txBody>
      </p:sp>
      <p:sp>
        <p:nvSpPr>
          <p:cNvPr id="4" name="Slide Number Placeholder 3"/>
          <p:cNvSpPr>
            <a:spLocks noGrp="1"/>
          </p:cNvSpPr>
          <p:nvPr>
            <p:ph type="sldNum" sz="quarter" idx="5"/>
          </p:nvPr>
        </p:nvSpPr>
        <p:spPr/>
        <p:txBody>
          <a:bodyPr/>
          <a:lstStyle/>
          <a:p>
            <a:fld id="{5AFC1053-384D-42E4-B963-6C2B9553F5DF}" type="slidenum">
              <a:rPr lang="en-US" smtClean="0"/>
              <a:t>5</a:t>
            </a:fld>
            <a:endParaRPr lang="en-US"/>
          </a:p>
        </p:txBody>
      </p:sp>
    </p:spTree>
    <p:extLst>
      <p:ext uri="{BB962C8B-B14F-4D97-AF65-F5344CB8AC3E}">
        <p14:creationId xmlns:p14="http://schemas.microsoft.com/office/powerpoint/2010/main" val="2806775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Make It Secure</a:t>
            </a:r>
          </a:p>
          <a:p>
            <a:r>
              <a:rPr lang="en-US" b="1" dirty="0"/>
              <a:t>Opening</a:t>
            </a:r>
          </a:p>
          <a:p>
            <a:r>
              <a:rPr lang="en-US" dirty="0"/>
              <a:t>“Now that Atlas is becoming production-ready, we have to address one of the most important questions: </a:t>
            </a:r>
            <a:r>
              <a:rPr lang="en-US" b="1" dirty="0"/>
              <a:t>Can we trust it?</a:t>
            </a:r>
            <a:endParaRPr lang="en-US" dirty="0"/>
          </a:p>
          <a:p>
            <a:r>
              <a:rPr lang="en-US" dirty="0"/>
              <a:t>Security isn't something we add at the end of development. It has to be part of how we design, build, test, deploy, and operate Atlas.”</a:t>
            </a:r>
          </a:p>
          <a:p>
            <a:r>
              <a:rPr lang="en-US" b="1" dirty="0"/>
              <a:t>Security as a Foundation</a:t>
            </a:r>
          </a:p>
          <a:p>
            <a:r>
              <a:rPr lang="en-US" dirty="0"/>
              <a:t>“When we talk about security, we're talking about protecting three things: </a:t>
            </a:r>
            <a:r>
              <a:rPr lang="en-US" b="1" dirty="0"/>
              <a:t>our users, our data, and our system</a:t>
            </a:r>
            <a:r>
              <a:rPr lang="en-US" dirty="0"/>
              <a:t>.</a:t>
            </a:r>
          </a:p>
          <a:p>
            <a:r>
              <a:rPr lang="en-US" dirty="0"/>
              <a:t>A secure system assumes that threats will exist. Our job is to reduce the opportunity for those threats to succeed and to limit the damage if something does go wrong.</a:t>
            </a:r>
          </a:p>
          <a:p>
            <a:r>
              <a:rPr lang="en-US" dirty="0"/>
              <a:t>That's why Atlas uses principles like </a:t>
            </a:r>
            <a:r>
              <a:rPr lang="en-US" b="1" dirty="0"/>
              <a:t>defense in depth, least privilege, and continuous vigilance</a:t>
            </a:r>
            <a:r>
              <a:rPr lang="en-US" dirty="0"/>
              <a:t>.”</a:t>
            </a:r>
          </a:p>
          <a:p>
            <a:r>
              <a:rPr lang="en-US" b="1" dirty="0"/>
              <a:t>Key Focus Areas</a:t>
            </a:r>
          </a:p>
          <a:p>
            <a:r>
              <a:rPr lang="en-US" b="1" dirty="0"/>
              <a:t>Identity &amp; Access</a:t>
            </a:r>
            <a:endParaRPr lang="en-US" dirty="0"/>
          </a:p>
          <a:p>
            <a:r>
              <a:rPr lang="en-US" dirty="0"/>
              <a:t>“First, we need to know who is accessing Atlas and what they're allowed to do.</a:t>
            </a:r>
          </a:p>
          <a:p>
            <a:r>
              <a:rPr lang="en-US" dirty="0"/>
              <a:t>Authentication answers, ‘Who are you?’ Authorization answers, ‘What are you allowed to do?’</a:t>
            </a:r>
          </a:p>
          <a:p>
            <a:r>
              <a:rPr lang="en-US" dirty="0"/>
              <a:t>We should use strong authentication, role-based access control, and the principle of least privilege. Users and services should receive only the permissions they actually need.”</a:t>
            </a:r>
          </a:p>
          <a:p>
            <a:r>
              <a:rPr lang="en-US" b="1" dirty="0"/>
              <a:t>Data Protection</a:t>
            </a:r>
            <a:endParaRPr lang="en-US" dirty="0"/>
          </a:p>
          <a:p>
            <a:r>
              <a:rPr lang="en-US" dirty="0"/>
              <a:t>“Next is protecting our data.</a:t>
            </a:r>
          </a:p>
          <a:p>
            <a:r>
              <a:rPr lang="en-US" dirty="0"/>
              <a:t>Sensitive information needs to be protected both </a:t>
            </a:r>
            <a:r>
              <a:rPr lang="en-US" b="1" dirty="0"/>
              <a:t>at rest and in transit</a:t>
            </a:r>
            <a:r>
              <a:rPr lang="en-US" dirty="0"/>
              <a:t>. That means using appropriate encryption, protecting credentials and secrets, and making sure sensitive information isn't accidentally exposed through logs, configuration files, or source code.”</a:t>
            </a:r>
          </a:p>
          <a:p>
            <a:r>
              <a:rPr lang="en-US" b="1" dirty="0"/>
              <a:t>Threat Detection</a:t>
            </a:r>
            <a:endParaRPr lang="en-US" dirty="0"/>
          </a:p>
          <a:p>
            <a:r>
              <a:rPr lang="en-US" dirty="0"/>
              <a:t>“Security isn't just about preventing attacks. We also need to recognize when something unusual is happening.</a:t>
            </a:r>
          </a:p>
          <a:p>
            <a:r>
              <a:rPr lang="en-US" dirty="0"/>
              <a:t>Monitoring and alerting allow us to detect suspicious activity, investigate it, and respond before a small problem becomes a major incident.”</a:t>
            </a:r>
          </a:p>
          <a:p>
            <a:r>
              <a:rPr lang="en-US" b="1" dirty="0"/>
              <a:t>Vulnerability Management</a:t>
            </a:r>
            <a:endParaRPr lang="en-US" dirty="0"/>
          </a:p>
          <a:p>
            <a:r>
              <a:rPr lang="en-US" dirty="0"/>
              <a:t>“Software dependencies, operating systems, libraries, and infrastructure can all contain vulnerabilities.</a:t>
            </a:r>
          </a:p>
          <a:p>
            <a:r>
              <a:rPr lang="en-US" dirty="0"/>
              <a:t>That means security requires continuous maintenance: scanning for vulnerabilities, keeping dependencies updated, patching systems, and addressing known weaknesses before they're exploited.”</a:t>
            </a:r>
          </a:p>
          <a:p>
            <a:r>
              <a:rPr lang="en-US" b="1" dirty="0"/>
              <a:t>Compliance &amp; Privacy</a:t>
            </a:r>
            <a:endParaRPr lang="en-US" dirty="0"/>
          </a:p>
          <a:p>
            <a:r>
              <a:rPr lang="en-US" dirty="0"/>
              <a:t>“Finally, we have to understand the obligations that apply to our system.</a:t>
            </a:r>
          </a:p>
          <a:p>
            <a:r>
              <a:rPr lang="en-US" dirty="0"/>
              <a:t>Frameworks and regulations such as </a:t>
            </a:r>
            <a:r>
              <a:rPr lang="en-US" b="1" dirty="0"/>
              <a:t>OWASP guidance, SOC 2, ISO 27001, and privacy requirements</a:t>
            </a:r>
            <a:r>
              <a:rPr lang="en-US" dirty="0"/>
              <a:t> give us useful ways to think about controls, accountability, and protecting user information.</a:t>
            </a:r>
          </a:p>
          <a:p>
            <a:r>
              <a:rPr lang="en-US" dirty="0"/>
              <a:t>The goal isn't simply to check compliance boxes. The goal is to build security practices that actually protect people.”</a:t>
            </a:r>
          </a:p>
          <a:p>
            <a:r>
              <a:rPr lang="en-US" b="1" dirty="0"/>
              <a:t>Security Is Everyone's Responsibility</a:t>
            </a:r>
          </a:p>
          <a:p>
            <a:r>
              <a:rPr lang="en-US" dirty="0"/>
              <a:t>“One important lesson here is that security isn't just the security team's responsibility.</a:t>
            </a:r>
          </a:p>
          <a:p>
            <a:r>
              <a:rPr lang="en-US" dirty="0"/>
              <a:t>A developer can introduce a vulnerability through code. A DevOps engineer can expose a service through an incorrect configuration. A system administrator can leave an outdated component unpatched.</a:t>
            </a:r>
          </a:p>
          <a:p>
            <a:r>
              <a:rPr lang="en-US" b="1" dirty="0"/>
              <a:t>Every person involved in Atlas contributes to its security.</a:t>
            </a:r>
            <a:r>
              <a:rPr lang="en-US" dirty="0"/>
              <a:t>”</a:t>
            </a:r>
          </a:p>
          <a:p>
            <a:r>
              <a:rPr lang="en-US" b="1" dirty="0"/>
              <a:t>Closing</a:t>
            </a:r>
          </a:p>
          <a:p>
            <a:r>
              <a:rPr lang="en-US" dirty="0"/>
              <a:t>“So when we say </a:t>
            </a:r>
            <a:r>
              <a:rPr lang="en-US" b="1" dirty="0"/>
              <a:t>Make It Secure</a:t>
            </a:r>
            <a:r>
              <a:rPr lang="en-US" dirty="0"/>
              <a:t>, we're saying that security must be built into Atlas from the inside out.</a:t>
            </a:r>
          </a:p>
          <a:p>
            <a:r>
              <a:rPr lang="en-US" dirty="0"/>
              <a:t>We authenticate users. We control access. We protect data. We monitor threats. We manage vulnerabilities. And we continuously improve our defenses.</a:t>
            </a:r>
          </a:p>
          <a:p>
            <a:r>
              <a:rPr lang="en-US" dirty="0"/>
              <a:t>Because when we build Atlas securely, we're not just protecting the application.</a:t>
            </a:r>
          </a:p>
          <a:p>
            <a:r>
              <a:rPr lang="en-US" b="1" dirty="0"/>
              <a:t>We're protecting the trust that allows people to use it.</a:t>
            </a:r>
            <a:r>
              <a:rPr lang="en-US" dirty="0"/>
              <a:t>”</a:t>
            </a:r>
          </a:p>
          <a:p>
            <a:endParaRPr lang="en-US" dirty="0"/>
          </a:p>
        </p:txBody>
      </p:sp>
      <p:sp>
        <p:nvSpPr>
          <p:cNvPr id="4" name="Slide Number Placeholder 3"/>
          <p:cNvSpPr>
            <a:spLocks noGrp="1"/>
          </p:cNvSpPr>
          <p:nvPr>
            <p:ph type="sldNum" sz="quarter" idx="5"/>
          </p:nvPr>
        </p:nvSpPr>
        <p:spPr/>
        <p:txBody>
          <a:bodyPr/>
          <a:lstStyle/>
          <a:p>
            <a:fld id="{5AFC1053-384D-42E4-B963-6C2B9553F5DF}" type="slidenum">
              <a:rPr lang="en-US" smtClean="0"/>
              <a:t>6</a:t>
            </a:fld>
            <a:endParaRPr lang="en-US"/>
          </a:p>
        </p:txBody>
      </p:sp>
    </p:spTree>
    <p:extLst>
      <p:ext uri="{BB962C8B-B14F-4D97-AF65-F5344CB8AC3E}">
        <p14:creationId xmlns:p14="http://schemas.microsoft.com/office/powerpoint/2010/main" val="2485063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Make It Perform</a:t>
            </a:r>
          </a:p>
          <a:p>
            <a:r>
              <a:rPr lang="en-US" b="1" dirty="0"/>
              <a:t>Opening</a:t>
            </a:r>
          </a:p>
          <a:p>
            <a:r>
              <a:rPr lang="en-US" dirty="0"/>
              <a:t>“Getting Atlas into production is only part of the job. We also need to make sure Atlas performs well once real users start using it.</a:t>
            </a:r>
          </a:p>
          <a:p>
            <a:r>
              <a:rPr lang="en-US" dirty="0"/>
              <a:t>A system that technically works but is slow, unreliable under load, or expensive to operate isn't really production-ready.</a:t>
            </a:r>
          </a:p>
          <a:p>
            <a:r>
              <a:rPr lang="en-US" dirty="0"/>
              <a:t>That's why performance has to be designed into Atlas—not treated as something we fix after users complain.”</a:t>
            </a:r>
          </a:p>
          <a:p>
            <a:r>
              <a:rPr lang="en-US" b="1" dirty="0"/>
              <a:t>Performance Is More Than Speed</a:t>
            </a:r>
          </a:p>
          <a:p>
            <a:r>
              <a:rPr lang="en-US" dirty="0"/>
              <a:t>“When we hear the word performance, we usually think about speed.</a:t>
            </a:r>
          </a:p>
          <a:p>
            <a:r>
              <a:rPr lang="en-US" dirty="0"/>
              <a:t>But performance is bigger than that.</a:t>
            </a:r>
          </a:p>
          <a:p>
            <a:r>
              <a:rPr lang="en-US" dirty="0"/>
              <a:t>We're concerned with </a:t>
            </a:r>
            <a:r>
              <a:rPr lang="en-US" b="1" dirty="0"/>
              <a:t>responsiveness, scalability, reliability, and resource efficiency</a:t>
            </a:r>
            <a:r>
              <a:rPr lang="en-US" dirty="0"/>
              <a:t>.</a:t>
            </a:r>
          </a:p>
          <a:p>
            <a:r>
              <a:rPr lang="en-US" dirty="0"/>
              <a:t>Our goal is to give users a smooth experience today while making sure the system has enough capacity to support tomorrow's growth.”</a:t>
            </a:r>
          </a:p>
          <a:p>
            <a:r>
              <a:rPr lang="en-US" b="1" dirty="0"/>
              <a:t>Key Focus Areas</a:t>
            </a:r>
          </a:p>
          <a:p>
            <a:r>
              <a:rPr lang="en-US" b="1" dirty="0"/>
              <a:t>Response Time</a:t>
            </a:r>
            <a:endParaRPr lang="en-US" dirty="0"/>
          </a:p>
          <a:p>
            <a:r>
              <a:rPr lang="en-US" dirty="0"/>
              <a:t>“First is response time.</a:t>
            </a:r>
          </a:p>
          <a:p>
            <a:r>
              <a:rPr lang="en-US" dirty="0"/>
              <a:t>How quickly does Atlas respond when a user clicks a button, loads a page, submits a request, or retrieves information?</a:t>
            </a:r>
          </a:p>
          <a:p>
            <a:r>
              <a:rPr lang="en-US" dirty="0"/>
              <a:t>We want to minimize unnecessary delays and make response times consistent—not just fast when there are only a few users.”</a:t>
            </a:r>
          </a:p>
          <a:p>
            <a:r>
              <a:rPr lang="en-US" b="1" dirty="0"/>
              <a:t>Scalability</a:t>
            </a:r>
            <a:endParaRPr lang="en-US" dirty="0"/>
          </a:p>
          <a:p>
            <a:r>
              <a:rPr lang="en-US" dirty="0"/>
              <a:t>“Next is scalability.</a:t>
            </a:r>
          </a:p>
          <a:p>
            <a:r>
              <a:rPr lang="en-US" dirty="0"/>
              <a:t>What happens when Atlas goes from 10 users to 100? What about 1,000?</a:t>
            </a:r>
          </a:p>
          <a:p>
            <a:r>
              <a:rPr lang="en-US" dirty="0"/>
              <a:t>We need an architecture that can grow without requiring us to completely redesign the system.</a:t>
            </a:r>
          </a:p>
          <a:p>
            <a:r>
              <a:rPr lang="en-US" dirty="0"/>
              <a:t>Scalability means Atlas can handle increasing users, transactions, and workloads while maintaining an acceptable level of performance.”</a:t>
            </a:r>
          </a:p>
          <a:p>
            <a:r>
              <a:rPr lang="en-US" b="1" dirty="0"/>
              <a:t>Resource Efficiency</a:t>
            </a:r>
            <a:endParaRPr lang="en-US" dirty="0"/>
          </a:p>
          <a:p>
            <a:r>
              <a:rPr lang="en-US" dirty="0"/>
              <a:t>“Performance also means using our resources wisely.</a:t>
            </a:r>
          </a:p>
          <a:p>
            <a:r>
              <a:rPr lang="en-US" dirty="0"/>
              <a:t>CPU, memory, storage, database connections, network bandwidth, and cloud infrastructure all cost money.</a:t>
            </a:r>
          </a:p>
          <a:p>
            <a:r>
              <a:rPr lang="en-US" dirty="0"/>
              <a:t>We want to avoid wasting resources while still providing the performance users expect.</a:t>
            </a:r>
          </a:p>
          <a:p>
            <a:r>
              <a:rPr lang="en-US" dirty="0"/>
              <a:t>That means measuring usage, identifying bottlenecks, right-sizing infrastructure, and continuously optimizing where necessary.”</a:t>
            </a:r>
          </a:p>
          <a:p>
            <a:r>
              <a:rPr lang="en-US" b="1" dirty="0"/>
              <a:t>Load &amp; Stress Testing</a:t>
            </a:r>
            <a:endParaRPr lang="en-US" dirty="0"/>
          </a:p>
          <a:p>
            <a:r>
              <a:rPr lang="en-US" dirty="0"/>
              <a:t>“We can't assume Atlas will perform well under pressure—we have to test it.</a:t>
            </a:r>
          </a:p>
          <a:p>
            <a:r>
              <a:rPr lang="en-US" dirty="0"/>
              <a:t>Load testing helps us understand what happens when many users access the system at the same time.</a:t>
            </a:r>
          </a:p>
          <a:p>
            <a:r>
              <a:rPr lang="en-US" dirty="0"/>
              <a:t>Stress testing pushes the system beyond normal expectations so we can discover its breaking points.</a:t>
            </a:r>
          </a:p>
          <a:p>
            <a:r>
              <a:rPr lang="en-US" dirty="0"/>
              <a:t>The goal isn't necessarily to prevent the system from ever failing. The goal is to understand </a:t>
            </a:r>
            <a:r>
              <a:rPr lang="en-US" b="1" dirty="0"/>
              <a:t>how it fails and how gracefully it recovers</a:t>
            </a:r>
            <a:r>
              <a:rPr lang="en-US" dirty="0"/>
              <a:t>.”</a:t>
            </a:r>
          </a:p>
          <a:p>
            <a:r>
              <a:rPr lang="en-US" b="1" dirty="0"/>
              <a:t>Performance Monitoring</a:t>
            </a:r>
            <a:endParaRPr lang="en-US" dirty="0"/>
          </a:p>
          <a:p>
            <a:r>
              <a:rPr lang="en-US" dirty="0"/>
              <a:t>“Once Atlas is deployed, performance testing doesn't stop.</a:t>
            </a:r>
          </a:p>
          <a:p>
            <a:r>
              <a:rPr lang="en-US" dirty="0"/>
              <a:t>We need ongoing monitoring.</a:t>
            </a:r>
          </a:p>
          <a:p>
            <a:r>
              <a:rPr lang="en-US" dirty="0"/>
              <a:t>We should track things like response times, throughput, CPU and memory utilization, database performance, error rates, and other important metrics.</a:t>
            </a:r>
          </a:p>
          <a:p>
            <a:r>
              <a:rPr lang="en-US" dirty="0"/>
              <a:t>When performance starts to degrade, monitoring should help us identify the problem before users experience a major outage or slowdown.”</a:t>
            </a:r>
          </a:p>
          <a:p>
            <a:r>
              <a:rPr lang="en-US" b="1" dirty="0"/>
              <a:t>The Results</a:t>
            </a:r>
          </a:p>
          <a:p>
            <a:r>
              <a:rPr lang="en-US" dirty="0"/>
              <a:t>“If we do this well, there are several benefits.</a:t>
            </a:r>
          </a:p>
          <a:p>
            <a:r>
              <a:rPr lang="en-US" dirty="0"/>
              <a:t>First, we get </a:t>
            </a:r>
            <a:r>
              <a:rPr lang="en-US" b="1" dirty="0"/>
              <a:t>happier users</a:t>
            </a:r>
            <a:r>
              <a:rPr lang="en-US" dirty="0"/>
              <a:t> because the application feels fast and responsive.</a:t>
            </a:r>
          </a:p>
          <a:p>
            <a:r>
              <a:rPr lang="en-US" dirty="0"/>
              <a:t>Second, we gain </a:t>
            </a:r>
            <a:r>
              <a:rPr lang="en-US" b="1" dirty="0"/>
              <a:t>greater scalability</a:t>
            </a:r>
            <a:r>
              <a:rPr lang="en-US" dirty="0"/>
              <a:t>, allowing Atlas to grow without constantly rebuilding the architecture.</a:t>
            </a:r>
          </a:p>
          <a:p>
            <a:r>
              <a:rPr lang="en-US" dirty="0"/>
              <a:t>Third, we can achieve </a:t>
            </a:r>
            <a:r>
              <a:rPr lang="en-US" b="1" dirty="0"/>
              <a:t>lower costs</a:t>
            </a:r>
            <a:r>
              <a:rPr lang="en-US" dirty="0"/>
              <a:t> because we're using infrastructure efficiently.</a:t>
            </a:r>
          </a:p>
          <a:p>
            <a:r>
              <a:rPr lang="en-US" dirty="0"/>
              <a:t>And finally, performance becomes a </a:t>
            </a:r>
            <a:r>
              <a:rPr lang="en-US" b="1" dirty="0"/>
              <a:t>competitive advantage</a:t>
            </a:r>
            <a:r>
              <a:rPr lang="en-US" dirty="0"/>
              <a:t>. When two products provide similar functionality, users tend to prefer the one that is faster, smoother, and more reliable.”</a:t>
            </a:r>
          </a:p>
          <a:p>
            <a:r>
              <a:rPr lang="en-US" b="1" dirty="0"/>
              <a:t>Performance Is Preparedness</a:t>
            </a:r>
          </a:p>
          <a:p>
            <a:r>
              <a:rPr lang="en-US" dirty="0"/>
              <a:t>“The key message of this artifact is simple:</a:t>
            </a:r>
          </a:p>
          <a:p>
            <a:r>
              <a:rPr lang="en-US" b="1" dirty="0"/>
              <a:t>Performance is preparedness.</a:t>
            </a:r>
            <a:endParaRPr lang="en-US" dirty="0"/>
          </a:p>
          <a:p>
            <a:r>
              <a:rPr lang="en-US" dirty="0"/>
              <a:t>We're not optimizing Atlas simply because we want impressive benchmark numbers.</a:t>
            </a:r>
          </a:p>
          <a:p>
            <a:r>
              <a:rPr lang="en-US" dirty="0"/>
              <a:t>We're preparing Atlas for the real world.</a:t>
            </a:r>
          </a:p>
          <a:p>
            <a:r>
              <a:rPr lang="en-US" dirty="0"/>
              <a:t>We want it to perform when demand increases, when workloads become unpredictable, and when users depend on it.</a:t>
            </a:r>
          </a:p>
          <a:p>
            <a:r>
              <a:rPr lang="en-US" dirty="0"/>
              <a:t>So as we prepare Atlas for production, we're asking a critical question:</a:t>
            </a:r>
          </a:p>
          <a:p>
            <a:r>
              <a:rPr lang="en-US" b="1" dirty="0"/>
              <a:t>Can Atlas perform when it matters most?</a:t>
            </a:r>
            <a:endParaRPr lang="en-US" dirty="0"/>
          </a:p>
          <a:p>
            <a:r>
              <a:rPr lang="en-US" dirty="0"/>
              <a:t>If the answer is yes, we're one step closer to being truly production-ready.”</a:t>
            </a:r>
          </a:p>
          <a:p>
            <a:endParaRPr lang="en-US" dirty="0"/>
          </a:p>
        </p:txBody>
      </p:sp>
      <p:sp>
        <p:nvSpPr>
          <p:cNvPr id="4" name="Slide Number Placeholder 3"/>
          <p:cNvSpPr>
            <a:spLocks noGrp="1"/>
          </p:cNvSpPr>
          <p:nvPr>
            <p:ph type="sldNum" sz="quarter" idx="5"/>
          </p:nvPr>
        </p:nvSpPr>
        <p:spPr/>
        <p:txBody>
          <a:bodyPr/>
          <a:lstStyle/>
          <a:p>
            <a:fld id="{5AFC1053-384D-42E4-B963-6C2B9553F5DF}" type="slidenum">
              <a:rPr lang="en-US" smtClean="0"/>
              <a:t>7</a:t>
            </a:fld>
            <a:endParaRPr lang="en-US"/>
          </a:p>
        </p:txBody>
      </p:sp>
    </p:spTree>
    <p:extLst>
      <p:ext uri="{BB962C8B-B14F-4D97-AF65-F5344CB8AC3E}">
        <p14:creationId xmlns:p14="http://schemas.microsoft.com/office/powerpoint/2010/main" val="1104768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 Make It Operable</a:t>
            </a:r>
          </a:p>
          <a:p>
            <a:endParaRPr lang="en-US" dirty="0"/>
          </a:p>
          <a:p>
            <a:r>
              <a:rPr lang="en-US" dirty="0"/>
              <a:t>### Opening</a:t>
            </a:r>
          </a:p>
          <a:p>
            <a:endParaRPr lang="en-US" dirty="0"/>
          </a:p>
          <a:p>
            <a:r>
              <a:rPr lang="en-US" dirty="0"/>
              <a:t>“Getting Atlas deployed is not the finish line.</a:t>
            </a:r>
          </a:p>
          <a:p>
            <a:endParaRPr lang="en-US" dirty="0"/>
          </a:p>
          <a:p>
            <a:r>
              <a:rPr lang="en-US" dirty="0"/>
              <a:t>Once a system is in production, someone has to **run it, support it, maintain it, recover it, and improve it**.</a:t>
            </a:r>
          </a:p>
          <a:p>
            <a:endParaRPr lang="en-US" dirty="0"/>
          </a:p>
          <a:p>
            <a:r>
              <a:rPr lang="en-US" dirty="0"/>
              <a:t>That's what we mean when we say **Make It Operable**.</a:t>
            </a:r>
          </a:p>
          <a:p>
            <a:endParaRPr lang="en-US" dirty="0"/>
          </a:p>
          <a:p>
            <a:r>
              <a:rPr lang="en-US" dirty="0"/>
              <a:t>A system can be technically excellent and still fail as a product if the team doesn't know how to operate it effectively.”</a:t>
            </a:r>
          </a:p>
          <a:p>
            <a:endParaRPr lang="en-US" dirty="0"/>
          </a:p>
          <a:p>
            <a:r>
              <a:rPr lang="en-US" dirty="0"/>
              <a:t>### What Does Operable Mean?</a:t>
            </a:r>
          </a:p>
          <a:p>
            <a:endParaRPr lang="en-US" dirty="0"/>
          </a:p>
          <a:p>
            <a:r>
              <a:rPr lang="en-US" dirty="0"/>
              <a:t>“Operability is about turning a deployed application into a **dependable service**.</a:t>
            </a:r>
          </a:p>
          <a:p>
            <a:endParaRPr lang="en-US" dirty="0"/>
          </a:p>
          <a:p>
            <a:r>
              <a:rPr lang="en-US" dirty="0"/>
              <a:t>We want Atlas to be something that a team can operate confidently day after day.</a:t>
            </a:r>
          </a:p>
          <a:p>
            <a:endParaRPr lang="en-US" dirty="0"/>
          </a:p>
          <a:p>
            <a:r>
              <a:rPr lang="en-US" dirty="0"/>
              <a:t>That means we need clear processes, the right tools, documented knowledge, and the ability to respond when something goes wrong.</a:t>
            </a:r>
          </a:p>
          <a:p>
            <a:endParaRPr lang="en-US" dirty="0"/>
          </a:p>
          <a:p>
            <a:r>
              <a:rPr lang="en-US" dirty="0"/>
              <a:t>The goal isn't to eliminate every possible problem. The goal is to make sure that when problems happen, the team knows what to do.”</a:t>
            </a:r>
          </a:p>
          <a:p>
            <a:endParaRPr lang="en-US" dirty="0"/>
          </a:p>
          <a:p>
            <a:r>
              <a:rPr lang="en-US" dirty="0"/>
              <a:t>### Key Focus Areas</a:t>
            </a:r>
          </a:p>
          <a:p>
            <a:endParaRPr lang="en-US" dirty="0"/>
          </a:p>
          <a:p>
            <a:r>
              <a:rPr lang="en-US" dirty="0"/>
              <a:t>**Runbooks &amp; Automation**</a:t>
            </a:r>
          </a:p>
          <a:p>
            <a:endParaRPr lang="en-US" dirty="0"/>
          </a:p>
          <a:p>
            <a:r>
              <a:rPr lang="en-US" dirty="0"/>
              <a:t>“First, we need to document how Atlas is operated.</a:t>
            </a:r>
          </a:p>
          <a:p>
            <a:endParaRPr lang="en-US" dirty="0"/>
          </a:p>
          <a:p>
            <a:r>
              <a:rPr lang="en-US" dirty="0"/>
              <a:t>A **runbook** is essentially a playbook for handling a specific operational task or situation.</a:t>
            </a:r>
          </a:p>
          <a:p>
            <a:endParaRPr lang="en-US" dirty="0"/>
          </a:p>
          <a:p>
            <a:r>
              <a:rPr lang="en-US" dirty="0"/>
              <a:t>For example: How do we restart a service? How do we deploy a release? How do we restore a database? What do we do when an API stops responding?</a:t>
            </a:r>
          </a:p>
          <a:p>
            <a:endParaRPr lang="en-US" dirty="0"/>
          </a:p>
          <a:p>
            <a:r>
              <a:rPr lang="en-US" dirty="0"/>
              <a:t>Whenever possible, we should automate repetitive operational tasks.</a:t>
            </a:r>
          </a:p>
          <a:p>
            <a:endParaRPr lang="en-US" dirty="0"/>
          </a:p>
          <a:p>
            <a:r>
              <a:rPr lang="en-US" dirty="0"/>
              <a:t>Automation reduces human error, makes processes repeatable, and can dramatically speed up recovery.”</a:t>
            </a:r>
          </a:p>
          <a:p>
            <a:endParaRPr lang="en-US" dirty="0"/>
          </a:p>
          <a:p>
            <a:r>
              <a:rPr lang="en-US" dirty="0"/>
              <a:t>**Incident Management**</a:t>
            </a:r>
          </a:p>
          <a:p>
            <a:endParaRPr lang="en-US" dirty="0"/>
          </a:p>
          <a:p>
            <a:r>
              <a:rPr lang="en-US" dirty="0"/>
              <a:t>“Eventually, something will go wrong.</a:t>
            </a:r>
          </a:p>
          <a:p>
            <a:endParaRPr lang="en-US" dirty="0"/>
          </a:p>
          <a:p>
            <a:r>
              <a:rPr lang="en-US" dirty="0"/>
              <a:t>An incident could be an outage, a performance problem, a security event, or a major system failure.</a:t>
            </a:r>
          </a:p>
          <a:p>
            <a:endParaRPr lang="en-US" dirty="0"/>
          </a:p>
          <a:p>
            <a:r>
              <a:rPr lang="en-US" dirty="0"/>
              <a:t>We need a defined process for detecting the problem, determining its impact, communicating with the appropriate people, resolving the issue, and documenting what happened.</a:t>
            </a:r>
          </a:p>
          <a:p>
            <a:endParaRPr lang="en-US" dirty="0"/>
          </a:p>
          <a:p>
            <a:r>
              <a:rPr lang="en-US" dirty="0"/>
              <a:t>The objective isn't to find someone to blame.</a:t>
            </a:r>
          </a:p>
          <a:p>
            <a:endParaRPr lang="en-US" dirty="0"/>
          </a:p>
          <a:p>
            <a:r>
              <a:rPr lang="en-US" dirty="0"/>
              <a:t>The objective is to **restore service and learn from the incident**.”</a:t>
            </a:r>
          </a:p>
          <a:p>
            <a:endParaRPr lang="en-US" dirty="0"/>
          </a:p>
          <a:p>
            <a:r>
              <a:rPr lang="en-US" dirty="0"/>
              <a:t>**Change &amp; Release Management**</a:t>
            </a:r>
          </a:p>
          <a:p>
            <a:endParaRPr lang="en-US" dirty="0"/>
          </a:p>
          <a:p>
            <a:r>
              <a:rPr lang="en-US" dirty="0"/>
              <a:t>“Every change introduces some level of risk.</a:t>
            </a:r>
          </a:p>
          <a:p>
            <a:endParaRPr lang="en-US" dirty="0"/>
          </a:p>
          <a:p>
            <a:r>
              <a:rPr lang="en-US" dirty="0"/>
              <a:t>That means we need a controlled process for planning, testing, approving, and deploying changes.</a:t>
            </a:r>
          </a:p>
          <a:p>
            <a:endParaRPr lang="en-US" dirty="0"/>
          </a:p>
          <a:p>
            <a:r>
              <a:rPr lang="en-US" dirty="0"/>
              <a:t>We want releases to be predictable and repeatable.</a:t>
            </a:r>
          </a:p>
          <a:p>
            <a:endParaRPr lang="en-US" dirty="0"/>
          </a:p>
          <a:p>
            <a:r>
              <a:rPr lang="en-US" dirty="0"/>
              <a:t>Good release management also gives us the ability to roll back when something doesn't go according to plan.”</a:t>
            </a:r>
          </a:p>
          <a:p>
            <a:endParaRPr lang="en-US" dirty="0"/>
          </a:p>
          <a:p>
            <a:r>
              <a:rPr lang="en-US" dirty="0"/>
              <a:t>**Backups &amp; Recovery**</a:t>
            </a:r>
          </a:p>
          <a:p>
            <a:endParaRPr lang="en-US" dirty="0"/>
          </a:p>
          <a:p>
            <a:r>
              <a:rPr lang="en-US" dirty="0"/>
              <a:t>“Another important operational responsibility is protecting our ability to recover.</a:t>
            </a:r>
          </a:p>
          <a:p>
            <a:endParaRPr lang="en-US" dirty="0"/>
          </a:p>
          <a:p>
            <a:r>
              <a:rPr lang="en-US" dirty="0"/>
              <a:t>Backups are important, but simply having a backup isn't enough.</a:t>
            </a:r>
          </a:p>
          <a:p>
            <a:endParaRPr lang="en-US" dirty="0"/>
          </a:p>
          <a:p>
            <a:r>
              <a:rPr lang="en-US" dirty="0"/>
              <a:t>We need to know:</a:t>
            </a:r>
          </a:p>
          <a:p>
            <a:endParaRPr lang="en-US" dirty="0"/>
          </a:p>
          <a:p>
            <a:r>
              <a:rPr lang="en-US" dirty="0"/>
              <a:t>Where are the backups stored?</a:t>
            </a:r>
          </a:p>
          <a:p>
            <a:endParaRPr lang="en-US" dirty="0"/>
          </a:p>
          <a:p>
            <a:r>
              <a:rPr lang="en-US" dirty="0"/>
              <a:t>How frequently are they created?</a:t>
            </a:r>
          </a:p>
          <a:p>
            <a:endParaRPr lang="en-US" dirty="0"/>
          </a:p>
          <a:p>
            <a:r>
              <a:rPr lang="en-US" dirty="0"/>
              <a:t>How long are they retained?</a:t>
            </a:r>
          </a:p>
          <a:p>
            <a:endParaRPr lang="en-US" dirty="0"/>
          </a:p>
          <a:p>
            <a:r>
              <a:rPr lang="en-US" dirty="0"/>
              <a:t>And most importantly—**can we actually restore from them?**</a:t>
            </a:r>
          </a:p>
          <a:p>
            <a:endParaRPr lang="en-US" dirty="0"/>
          </a:p>
          <a:p>
            <a:r>
              <a:rPr lang="en-US" dirty="0"/>
              <a:t>A backup that has never been tested isn't something we should blindly depend on.</a:t>
            </a:r>
          </a:p>
          <a:p>
            <a:endParaRPr lang="en-US" dirty="0"/>
          </a:p>
          <a:p>
            <a:r>
              <a:rPr lang="en-US" dirty="0"/>
              <a:t>Recovery procedures should be tested so the team knows they work before a real emergency occurs.”</a:t>
            </a:r>
          </a:p>
          <a:p>
            <a:endParaRPr lang="en-US" dirty="0"/>
          </a:p>
          <a:p>
            <a:r>
              <a:rPr lang="en-US" dirty="0"/>
              <a:t>**Team &amp; Knowledge Enablement**</a:t>
            </a:r>
          </a:p>
          <a:p>
            <a:endParaRPr lang="en-US" dirty="0"/>
          </a:p>
          <a:p>
            <a:r>
              <a:rPr lang="en-US" dirty="0"/>
              <a:t>“Finally, operability depends on people.</a:t>
            </a:r>
          </a:p>
          <a:p>
            <a:endParaRPr lang="en-US" dirty="0"/>
          </a:p>
          <a:p>
            <a:r>
              <a:rPr lang="en-US" dirty="0"/>
              <a:t>If only one person knows how Atlas works, we have created a major operational risk.</a:t>
            </a:r>
          </a:p>
          <a:p>
            <a:endParaRPr lang="en-US" dirty="0"/>
          </a:p>
          <a:p>
            <a:r>
              <a:rPr lang="en-US" dirty="0"/>
              <a:t>Knowledge needs to be shared across the team.</a:t>
            </a:r>
          </a:p>
          <a:p>
            <a:endParaRPr lang="en-US" dirty="0"/>
          </a:p>
          <a:p>
            <a:r>
              <a:rPr lang="en-US" dirty="0"/>
              <a:t>Documentation, cross-training, onboarding materials, and clear ownership help ensure that Atlas doesn't depend on a single individual.</a:t>
            </a:r>
          </a:p>
          <a:p>
            <a:endParaRPr lang="en-US" dirty="0"/>
          </a:p>
          <a:p>
            <a:r>
              <a:rPr lang="en-US" dirty="0"/>
              <a:t>We want the team to be able to support the system together.”</a:t>
            </a:r>
          </a:p>
          <a:p>
            <a:endParaRPr lang="en-US" dirty="0"/>
          </a:p>
          <a:p>
            <a:r>
              <a:rPr lang="en-US" dirty="0"/>
              <a:t>### Built on Operational Excellence</a:t>
            </a:r>
          </a:p>
          <a:p>
            <a:endParaRPr lang="en-US" dirty="0"/>
          </a:p>
          <a:p>
            <a:r>
              <a:rPr lang="en-US" dirty="0"/>
              <a:t>“The practices shown here connect Atlas to established approaches such as **ITIL 4, Site Reliability Engineering, ISO 20000-1, NIST's Cybersecurity Framework, and Lean principles**.</a:t>
            </a:r>
          </a:p>
          <a:p>
            <a:endParaRPr lang="en-US" dirty="0"/>
          </a:p>
          <a:p>
            <a:r>
              <a:rPr lang="en-US" dirty="0"/>
              <a:t>We don't necessarily need to implement every framework in its entirety.</a:t>
            </a:r>
          </a:p>
          <a:p>
            <a:endParaRPr lang="en-US" dirty="0"/>
          </a:p>
          <a:p>
            <a:r>
              <a:rPr lang="en-US" dirty="0"/>
              <a:t>Instead, we can learn from the practices they promote: structured operations, reliability, continuous improvement, risk management, and efficient processes.”</a:t>
            </a:r>
          </a:p>
          <a:p>
            <a:endParaRPr lang="en-US" dirty="0"/>
          </a:p>
          <a:p>
            <a:r>
              <a:rPr lang="en-US" dirty="0"/>
              <a:t>### Resilient by Design</a:t>
            </a:r>
          </a:p>
          <a:p>
            <a:endParaRPr lang="en-US" dirty="0"/>
          </a:p>
          <a:p>
            <a:r>
              <a:rPr lang="en-US" dirty="0"/>
              <a:t>“One of the most important ideas here is **designing for failure**.</a:t>
            </a:r>
          </a:p>
          <a:p>
            <a:endParaRPr lang="en-US" dirty="0"/>
          </a:p>
          <a:p>
            <a:r>
              <a:rPr lang="en-US" dirty="0"/>
              <a:t>We should assume that servers can fail, deployments can go wrong, databases can become unavailable, and people can make mistakes.</a:t>
            </a:r>
          </a:p>
          <a:p>
            <a:endParaRPr lang="en-US" dirty="0"/>
          </a:p>
          <a:p>
            <a:r>
              <a:rPr lang="en-US" dirty="0"/>
              <a:t>The question isn't, ‘How do we make sure nothing ever fails?’</a:t>
            </a:r>
          </a:p>
          <a:p>
            <a:endParaRPr lang="en-US" dirty="0"/>
          </a:p>
          <a:p>
            <a:r>
              <a:rPr lang="en-US" dirty="0"/>
              <a:t>The better question is:</a:t>
            </a:r>
          </a:p>
          <a:p>
            <a:endParaRPr lang="en-US" dirty="0"/>
          </a:p>
          <a:p>
            <a:r>
              <a:rPr lang="en-US" dirty="0"/>
              <a:t>**‘When something fails, how quickly and safely can we recover?’**</a:t>
            </a:r>
          </a:p>
          <a:p>
            <a:endParaRPr lang="en-US" dirty="0"/>
          </a:p>
          <a:p>
            <a:r>
              <a:rPr lang="en-US" dirty="0"/>
              <a:t>That's the mindset behind resilient systems.”</a:t>
            </a:r>
          </a:p>
          <a:p>
            <a:endParaRPr lang="en-US" dirty="0"/>
          </a:p>
          <a:p>
            <a:r>
              <a:rPr lang="en-US" dirty="0"/>
              <a:t>### Closing</a:t>
            </a:r>
          </a:p>
          <a:p>
            <a:endParaRPr lang="en-US" dirty="0"/>
          </a:p>
          <a:p>
            <a:r>
              <a:rPr lang="en-US" dirty="0"/>
              <a:t>“So when we say **Make It Operable**, we're making a commitment that Atlas won't simply be something we deploy and walk away from.</a:t>
            </a:r>
          </a:p>
          <a:p>
            <a:endParaRPr lang="en-US" dirty="0"/>
          </a:p>
          <a:p>
            <a:r>
              <a:rPr lang="en-US" dirty="0"/>
              <a:t>We're building a system that teams can understand, operate, support, recover, and improve.</a:t>
            </a:r>
          </a:p>
          <a:p>
            <a:endParaRPr lang="en-US" dirty="0"/>
          </a:p>
          <a:p>
            <a:r>
              <a:rPr lang="en-US" dirty="0"/>
              <a:t>The key message is:</a:t>
            </a:r>
          </a:p>
          <a:p>
            <a:endParaRPr lang="en-US" dirty="0"/>
          </a:p>
          <a:p>
            <a:r>
              <a:rPr lang="en-US" dirty="0"/>
              <a:t>**Great systems are built to be operated.**</a:t>
            </a:r>
          </a:p>
          <a:p>
            <a:endParaRPr lang="en-US" dirty="0"/>
          </a:p>
          <a:p>
            <a:r>
              <a:rPr lang="en-US" dirty="0"/>
              <a:t>If we want Atlas to provide value for years—not just launch successfully—we have to prepare the people and processes that keep it running.”</a:t>
            </a:r>
          </a:p>
          <a:p>
            <a:endParaRPr lang="en-US" dirty="0"/>
          </a:p>
          <a:p>
            <a:r>
              <a:rPr lang="en-US" dirty="0"/>
              <a:t>### Transition</a:t>
            </a:r>
          </a:p>
          <a:p>
            <a:endParaRPr lang="en-US" dirty="0"/>
          </a:p>
          <a:p>
            <a:r>
              <a:rPr lang="en-US" dirty="0"/>
              <a:t>“We've now addressed security, performance, and operations.</a:t>
            </a:r>
          </a:p>
          <a:p>
            <a:endParaRPr lang="en-US" dirty="0"/>
          </a:p>
          <a:p>
            <a:r>
              <a:rPr lang="en-US" dirty="0"/>
              <a:t>The next question becomes: **How do we know Atlas is actually ready to go into the hands of real users?**</a:t>
            </a:r>
          </a:p>
          <a:p>
            <a:endParaRPr lang="en-US" dirty="0"/>
          </a:p>
          <a:p>
            <a:r>
              <a:rPr lang="en-US" dirty="0"/>
              <a:t>That's where our final preparation step comes in.”</a:t>
            </a:r>
          </a:p>
          <a:p>
            <a:endParaRPr lang="en-US" dirty="0"/>
          </a:p>
        </p:txBody>
      </p:sp>
      <p:sp>
        <p:nvSpPr>
          <p:cNvPr id="4" name="Slide Number Placeholder 3"/>
          <p:cNvSpPr>
            <a:spLocks noGrp="1"/>
          </p:cNvSpPr>
          <p:nvPr>
            <p:ph type="sldNum" sz="quarter" idx="5"/>
          </p:nvPr>
        </p:nvSpPr>
        <p:spPr/>
        <p:txBody>
          <a:bodyPr/>
          <a:lstStyle/>
          <a:p>
            <a:fld id="{5AFC1053-384D-42E4-B963-6C2B9553F5DF}" type="slidenum">
              <a:rPr lang="en-US" smtClean="0"/>
              <a:t>8</a:t>
            </a:fld>
            <a:endParaRPr lang="en-US"/>
          </a:p>
        </p:txBody>
      </p:sp>
    </p:spTree>
    <p:extLst>
      <p:ext uri="{BB962C8B-B14F-4D97-AF65-F5344CB8AC3E}">
        <p14:creationId xmlns:p14="http://schemas.microsoft.com/office/powerpoint/2010/main" val="2135573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Make It Ready</a:t>
            </a:r>
          </a:p>
          <a:p>
            <a:r>
              <a:rPr lang="en-US" b="1" dirty="0"/>
              <a:t>Opening</a:t>
            </a:r>
          </a:p>
          <a:p>
            <a:r>
              <a:rPr lang="en-US" dirty="0"/>
              <a:t>“We've built Atlas. We've tested it. We've secured it. We've prepared the infrastructure and the people who will operate it.</a:t>
            </a:r>
          </a:p>
          <a:p>
            <a:r>
              <a:rPr lang="en-US" dirty="0"/>
              <a:t>But before we put Atlas into the hands of real users, we have to answer one final question:</a:t>
            </a:r>
          </a:p>
          <a:p>
            <a:r>
              <a:rPr lang="en-US" b="1" dirty="0"/>
              <a:t>Is Atlas actually ready?</a:t>
            </a:r>
            <a:endParaRPr lang="en-US" dirty="0"/>
          </a:p>
          <a:p>
            <a:r>
              <a:rPr lang="en-US" dirty="0"/>
              <a:t>And that's an important distinction.</a:t>
            </a:r>
          </a:p>
          <a:p>
            <a:r>
              <a:rPr lang="en-US" dirty="0"/>
              <a:t>Being finished is not the same thing as being ready.”</a:t>
            </a:r>
          </a:p>
          <a:p>
            <a:r>
              <a:rPr lang="en-US" b="1" dirty="0"/>
              <a:t>Readiness Is Evidence</a:t>
            </a:r>
          </a:p>
          <a:p>
            <a:r>
              <a:rPr lang="en-US" dirty="0"/>
              <a:t>“Readiness should never be based on someone's feeling that the project is probably good enough.</a:t>
            </a:r>
          </a:p>
          <a:p>
            <a:r>
              <a:rPr lang="en-US" b="1" dirty="0"/>
              <a:t>Readiness is evidence.</a:t>
            </a:r>
            <a:endParaRPr lang="en-US" dirty="0"/>
          </a:p>
          <a:p>
            <a:r>
              <a:rPr lang="en-US" dirty="0"/>
              <a:t>We need to be able to demonstrate that Atlas works, that the major risks have been addressed, that our requirements have been satisfied, and that the people who will use and support the system are prepared.</a:t>
            </a:r>
          </a:p>
          <a:p>
            <a:r>
              <a:rPr lang="en-US" dirty="0"/>
              <a:t>We're moving from </a:t>
            </a:r>
            <a:r>
              <a:rPr lang="en-US" i="1" dirty="0"/>
              <a:t>belief</a:t>
            </a:r>
            <a:r>
              <a:rPr lang="en-US" dirty="0"/>
              <a:t> to </a:t>
            </a:r>
            <a:r>
              <a:rPr lang="en-US" i="1" dirty="0"/>
              <a:t>proof</a:t>
            </a:r>
            <a:r>
              <a:rPr lang="en-US" dirty="0"/>
              <a:t>.”</a:t>
            </a:r>
          </a:p>
          <a:p>
            <a:r>
              <a:rPr lang="en-US" b="1" dirty="0"/>
              <a:t>Key Focus Areas</a:t>
            </a:r>
          </a:p>
          <a:p>
            <a:r>
              <a:rPr lang="en-US" b="1" dirty="0"/>
              <a:t>Test &amp; Quality Validation</a:t>
            </a:r>
            <a:endParaRPr lang="en-US" dirty="0"/>
          </a:p>
          <a:p>
            <a:r>
              <a:rPr lang="en-US" dirty="0"/>
              <a:t>“First, we need to confirm that the system actually works as expected.</a:t>
            </a:r>
          </a:p>
          <a:p>
            <a:r>
              <a:rPr lang="en-US" dirty="0"/>
              <a:t>That includes functional testing, non-functional testing, regression testing, integration testing, and any other testing required by the project.</a:t>
            </a:r>
          </a:p>
          <a:p>
            <a:r>
              <a:rPr lang="en-US" dirty="0"/>
              <a:t>Critical defects shouldn't simply be documented—they need to be resolved or formally accepted before we move forward.”</a:t>
            </a:r>
          </a:p>
          <a:p>
            <a:r>
              <a:rPr lang="en-US" b="1" dirty="0"/>
              <a:t>Risk &amp; Issue Management</a:t>
            </a:r>
            <a:endParaRPr lang="en-US" dirty="0"/>
          </a:p>
          <a:p>
            <a:r>
              <a:rPr lang="en-US" dirty="0"/>
              <a:t>“Next, we need to look at the remaining risks.</a:t>
            </a:r>
          </a:p>
          <a:p>
            <a:r>
              <a:rPr lang="en-US" dirty="0"/>
              <a:t>What could still go wrong?</a:t>
            </a:r>
          </a:p>
          <a:p>
            <a:r>
              <a:rPr lang="en-US" dirty="0"/>
              <a:t>Which issues are still open?</a:t>
            </a:r>
          </a:p>
          <a:p>
            <a:r>
              <a:rPr lang="en-US" dirty="0"/>
              <a:t>Which risks have been reduced, and which ones have been accepted?</a:t>
            </a:r>
          </a:p>
          <a:p>
            <a:r>
              <a:rPr lang="en-US" dirty="0"/>
              <a:t>A mature project doesn't pretend that risk doesn't exist. It understands the remaining risk and makes an informed decision about whether that risk is acceptable.”</a:t>
            </a:r>
          </a:p>
          <a:p>
            <a:r>
              <a:rPr lang="en-US" b="1" dirty="0"/>
              <a:t>Compliance Verification</a:t>
            </a:r>
            <a:endParaRPr lang="en-US" dirty="0"/>
          </a:p>
          <a:p>
            <a:r>
              <a:rPr lang="en-US" dirty="0"/>
              <a:t>“We also need to verify that Atlas meets the standards, policies, regulations, and organizational requirements that apply to it.</a:t>
            </a:r>
          </a:p>
          <a:p>
            <a:r>
              <a:rPr lang="en-US" dirty="0"/>
              <a:t>That can include security, privacy, accessibility, data handling, documentation, and other compliance requirements.</a:t>
            </a:r>
          </a:p>
          <a:p>
            <a:r>
              <a:rPr lang="en-US" dirty="0"/>
              <a:t>The question is:</a:t>
            </a:r>
          </a:p>
          <a:p>
            <a:r>
              <a:rPr lang="en-US" b="1" dirty="0"/>
              <a:t>Have we met the obligations necessary to responsibly release this system?</a:t>
            </a:r>
            <a:r>
              <a:rPr lang="en-US" dirty="0"/>
              <a:t>”</a:t>
            </a:r>
          </a:p>
          <a:p>
            <a:r>
              <a:rPr lang="en-US" b="1" dirty="0"/>
              <a:t>User Acceptance Testing</a:t>
            </a:r>
            <a:endParaRPr lang="en-US" dirty="0"/>
          </a:p>
          <a:p>
            <a:r>
              <a:rPr lang="en-US" dirty="0"/>
              <a:t>“This is where we bring the user's perspective into the final decision.</a:t>
            </a:r>
          </a:p>
          <a:p>
            <a:r>
              <a:rPr lang="en-US" dirty="0"/>
              <a:t>Technical teams can tell us that the software works according to the specification.</a:t>
            </a:r>
          </a:p>
          <a:p>
            <a:r>
              <a:rPr lang="en-US" dirty="0"/>
              <a:t>But users can tell us whether the software actually works </a:t>
            </a:r>
            <a:r>
              <a:rPr lang="en-US" b="1" dirty="0"/>
              <a:t>for them</a:t>
            </a:r>
            <a:r>
              <a:rPr lang="en-US" dirty="0"/>
              <a:t>.</a:t>
            </a:r>
          </a:p>
          <a:p>
            <a:r>
              <a:rPr lang="en-US" dirty="0"/>
              <a:t>User acceptance testing asks whether Atlas solves the real problem, supports real workflows, and is usable enough for the people who depend on it.”</a:t>
            </a:r>
          </a:p>
          <a:p>
            <a:r>
              <a:rPr lang="en-US" b="1" dirty="0"/>
              <a:t>Stakeholder Sign-Off</a:t>
            </a:r>
            <a:endParaRPr lang="en-US" dirty="0"/>
          </a:p>
          <a:p>
            <a:r>
              <a:rPr lang="en-US" dirty="0"/>
              <a:t>“Once the evidence has been collected, the appropriate stakeholders need to review it.</a:t>
            </a:r>
          </a:p>
          <a:p>
            <a:r>
              <a:rPr lang="en-US" dirty="0"/>
              <a:t>They need to understand what we're launching, what risks remain, what has been tested, and what the expected outcomes are.</a:t>
            </a:r>
          </a:p>
          <a:p>
            <a:r>
              <a:rPr lang="en-US" dirty="0"/>
              <a:t>Then someone has to make the decision:</a:t>
            </a:r>
          </a:p>
          <a:p>
            <a:r>
              <a:rPr lang="en-US" b="1" dirty="0"/>
              <a:t>Are we approving Atlas for production?</a:t>
            </a:r>
            <a:endParaRPr lang="en-US" dirty="0"/>
          </a:p>
          <a:p>
            <a:r>
              <a:rPr lang="en-US" dirty="0"/>
              <a:t>That approval represents accountability. We're not simply pushing a button—we're making a deliberate organizational decision.”</a:t>
            </a:r>
          </a:p>
          <a:p>
            <a:r>
              <a:rPr lang="en-US" b="1" dirty="0"/>
              <a:t>Readiness Reporting</a:t>
            </a:r>
            <a:endParaRPr lang="en-US" dirty="0"/>
          </a:p>
          <a:p>
            <a:r>
              <a:rPr lang="en-US" dirty="0"/>
              <a:t>“Finally, we need to bring everything together.</a:t>
            </a:r>
          </a:p>
          <a:p>
            <a:r>
              <a:rPr lang="en-US" dirty="0"/>
              <a:t>Our readiness report should summarize the testing results, outstanding issues, risk status, compliance verification, user acceptance results, and stakeholder approvals.</a:t>
            </a:r>
          </a:p>
          <a:p>
            <a:r>
              <a:rPr lang="en-US" dirty="0"/>
              <a:t>This creates a record of </a:t>
            </a:r>
            <a:r>
              <a:rPr lang="en-US" b="1" dirty="0"/>
              <a:t>why we believe Atlas was ready to launch</a:t>
            </a:r>
            <a:r>
              <a:rPr lang="en-US" dirty="0"/>
              <a:t>.”</a:t>
            </a:r>
          </a:p>
          <a:p>
            <a:r>
              <a:rPr lang="en-US" b="1" dirty="0"/>
              <a:t>The Readiness Gate</a:t>
            </a:r>
          </a:p>
          <a:p>
            <a:r>
              <a:rPr lang="en-US" dirty="0"/>
              <a:t>“Think of this artifact as a gate.</a:t>
            </a:r>
          </a:p>
          <a:p>
            <a:r>
              <a:rPr lang="en-US" dirty="0"/>
              <a:t>Atlas doesn't simply move from development to production because the calendar says it's time.</a:t>
            </a:r>
          </a:p>
          <a:p>
            <a:r>
              <a:rPr lang="en-US" dirty="0"/>
              <a:t>It moves forward because we've satisfied the criteria necessary to release it responsibly.</a:t>
            </a:r>
          </a:p>
          <a:p>
            <a:r>
              <a:rPr lang="en-US" dirty="0"/>
              <a:t>The gate asks:</a:t>
            </a:r>
          </a:p>
          <a:p>
            <a:r>
              <a:rPr lang="en-US" b="1" dirty="0"/>
              <a:t>Does Atlas work?</a:t>
            </a:r>
            <a:endParaRPr lang="en-US" dirty="0"/>
          </a:p>
          <a:p>
            <a:r>
              <a:rPr lang="en-US" b="1" dirty="0"/>
              <a:t>Is Atlas secure?</a:t>
            </a:r>
            <a:endParaRPr lang="en-US" dirty="0"/>
          </a:p>
          <a:p>
            <a:r>
              <a:rPr lang="en-US" b="1" dirty="0"/>
              <a:t>Are the risks understood?</a:t>
            </a:r>
            <a:endParaRPr lang="en-US" dirty="0"/>
          </a:p>
          <a:p>
            <a:r>
              <a:rPr lang="en-US" b="1" dirty="0"/>
              <a:t>Are users prepared?</a:t>
            </a:r>
            <a:endParaRPr lang="en-US" dirty="0"/>
          </a:p>
          <a:p>
            <a:r>
              <a:rPr lang="en-US" b="1" dirty="0"/>
              <a:t>Are the teams prepared?</a:t>
            </a:r>
            <a:endParaRPr lang="en-US" dirty="0"/>
          </a:p>
          <a:p>
            <a:r>
              <a:rPr lang="en-US" b="1" dirty="0"/>
              <a:t>Have the right people approved the release?</a:t>
            </a:r>
            <a:r>
              <a:rPr lang="en-US" dirty="0"/>
              <a:t>”</a:t>
            </a:r>
          </a:p>
          <a:p>
            <a:r>
              <a:rPr lang="en-US" b="1" dirty="0"/>
              <a:t>Ready Means Proven</a:t>
            </a:r>
          </a:p>
          <a:p>
            <a:r>
              <a:rPr lang="en-US" dirty="0"/>
              <a:t>“The key statement on this slide is:</a:t>
            </a:r>
          </a:p>
          <a:p>
            <a:r>
              <a:rPr lang="en-US" b="1" dirty="0"/>
              <a:t>Ready means proven.</a:t>
            </a:r>
            <a:endParaRPr lang="en-US" dirty="0"/>
          </a:p>
          <a:p>
            <a:r>
              <a:rPr lang="en-US" dirty="0"/>
              <a:t>We don't hope Atlas is ready.</a:t>
            </a:r>
          </a:p>
          <a:p>
            <a:r>
              <a:rPr lang="en-US" dirty="0"/>
              <a:t>We don't assume Atlas is ready.</a:t>
            </a:r>
          </a:p>
          <a:p>
            <a:r>
              <a:rPr lang="en-US" dirty="0"/>
              <a:t>We prove it through evidence.</a:t>
            </a:r>
          </a:p>
          <a:p>
            <a:r>
              <a:rPr lang="en-US" dirty="0"/>
              <a:t>This mindset is important because production systems affect real people. Once Atlas goes live, defects and failures aren't just development problems anymore—they can become operational, financial, or customer problems.”</a:t>
            </a:r>
          </a:p>
          <a:p>
            <a:r>
              <a:rPr lang="en-US" b="1" dirty="0"/>
              <a:t>The Go-Live Decision</a:t>
            </a:r>
          </a:p>
          <a:p>
            <a:r>
              <a:rPr lang="en-US" dirty="0"/>
              <a:t>“At this point, we should have enough evidence to make one of three decisions.</a:t>
            </a:r>
          </a:p>
          <a:p>
            <a:r>
              <a:rPr lang="en-US" b="1" dirty="0"/>
              <a:t>Go:</a:t>
            </a:r>
            <a:r>
              <a:rPr lang="en-US" dirty="0"/>
              <a:t> Atlas meets the readiness criteria and can move forward.</a:t>
            </a:r>
          </a:p>
          <a:p>
            <a:r>
              <a:rPr lang="en-US" b="1" dirty="0"/>
              <a:t>No-Go:</a:t>
            </a:r>
            <a:r>
              <a:rPr lang="en-US" dirty="0"/>
              <a:t> Significant problems remain and the release needs to stop.</a:t>
            </a:r>
          </a:p>
          <a:p>
            <a:r>
              <a:rPr lang="en-US" dirty="0"/>
              <a:t>Or, in some situations, </a:t>
            </a:r>
            <a:r>
              <a:rPr lang="en-US" b="1" dirty="0"/>
              <a:t>conditional approval:</a:t>
            </a:r>
            <a:r>
              <a:rPr lang="en-US" dirty="0"/>
              <a:t> Atlas can proceed with clearly documented limitations, mitigations, and ownership.</a:t>
            </a:r>
          </a:p>
          <a:p>
            <a:r>
              <a:rPr lang="en-US" dirty="0"/>
              <a:t>The important thing is that the decision is intentional and supported by evidence.”</a:t>
            </a:r>
          </a:p>
          <a:p>
            <a:r>
              <a:rPr lang="en-US" b="1" dirty="0"/>
              <a:t>Closing</a:t>
            </a:r>
          </a:p>
          <a:p>
            <a:r>
              <a:rPr lang="en-US" dirty="0"/>
              <a:t>“So we've reached the final gate of </a:t>
            </a:r>
            <a:r>
              <a:rPr lang="en-US" b="1" dirty="0"/>
              <a:t>PREPARE IT</a:t>
            </a:r>
            <a:r>
              <a:rPr lang="en-US" dirty="0"/>
              <a:t>.</a:t>
            </a:r>
          </a:p>
          <a:p>
            <a:r>
              <a:rPr lang="en-US" dirty="0"/>
              <a:t>We've moved through reliability, observability, usability, security, performance, and operations.</a:t>
            </a:r>
          </a:p>
          <a:p>
            <a:r>
              <a:rPr lang="en-US" dirty="0"/>
              <a:t>Now we've validated the complete system and confirmed whether it is ready for real-world use.</a:t>
            </a:r>
          </a:p>
          <a:p>
            <a:r>
              <a:rPr lang="en-US" dirty="0"/>
              <a:t>And if the evidence says yes, there's only one thing left to do:</a:t>
            </a:r>
          </a:p>
          <a:p>
            <a:r>
              <a:rPr lang="en-US" b="1" dirty="0"/>
              <a:t>Launch Atlas.</a:t>
            </a:r>
            <a:endParaRPr lang="en-US" dirty="0"/>
          </a:p>
          <a:p>
            <a:r>
              <a:rPr lang="en-US" dirty="0"/>
              <a:t>That's our next artifact—and that's where preparation turns into impact.”</a:t>
            </a:r>
          </a:p>
          <a:p>
            <a:endParaRPr lang="en-US" dirty="0"/>
          </a:p>
        </p:txBody>
      </p:sp>
      <p:sp>
        <p:nvSpPr>
          <p:cNvPr id="4" name="Slide Number Placeholder 3"/>
          <p:cNvSpPr>
            <a:spLocks noGrp="1"/>
          </p:cNvSpPr>
          <p:nvPr>
            <p:ph type="sldNum" sz="quarter" idx="5"/>
          </p:nvPr>
        </p:nvSpPr>
        <p:spPr/>
        <p:txBody>
          <a:bodyPr/>
          <a:lstStyle/>
          <a:p>
            <a:fld id="{5AFC1053-384D-42E4-B963-6C2B9553F5DF}" type="slidenum">
              <a:rPr lang="en-US" smtClean="0"/>
              <a:t>9</a:t>
            </a:fld>
            <a:endParaRPr lang="en-US"/>
          </a:p>
        </p:txBody>
      </p:sp>
    </p:spTree>
    <p:extLst>
      <p:ext uri="{BB962C8B-B14F-4D97-AF65-F5344CB8AC3E}">
        <p14:creationId xmlns:p14="http://schemas.microsoft.com/office/powerpoint/2010/main" val="1034197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Launch Atlas</a:t>
            </a:r>
          </a:p>
          <a:p>
            <a:r>
              <a:rPr lang="en-US" b="1" dirty="0"/>
              <a:t>Opening</a:t>
            </a:r>
          </a:p>
          <a:p>
            <a:r>
              <a:rPr lang="en-US" dirty="0"/>
              <a:t>“We've reached the moment we've been preparing for.</a:t>
            </a:r>
          </a:p>
          <a:p>
            <a:r>
              <a:rPr lang="en-US" dirty="0"/>
              <a:t>We've built Atlas. We've tested it. We've secured it. We've optimized it. We've prepared our operations and our teams. And we've validated that Atlas is ready.</a:t>
            </a:r>
          </a:p>
          <a:p>
            <a:r>
              <a:rPr lang="en-US" dirty="0"/>
              <a:t>Now it's time to </a:t>
            </a:r>
            <a:r>
              <a:rPr lang="en-US" b="1" dirty="0"/>
              <a:t>Launch Atlas</a:t>
            </a:r>
            <a:r>
              <a:rPr lang="en-US" dirty="0"/>
              <a:t>.</a:t>
            </a:r>
          </a:p>
          <a:p>
            <a:r>
              <a:rPr lang="en-US" dirty="0"/>
              <a:t>But launch isn't simply the moment we move a deployment into production.</a:t>
            </a:r>
          </a:p>
          <a:p>
            <a:r>
              <a:rPr lang="en-US" dirty="0"/>
              <a:t>Launch is the moment when the work we've done begins creating value for real users.”</a:t>
            </a:r>
          </a:p>
          <a:p>
            <a:br>
              <a:rPr lang="en-US" dirty="0"/>
            </a:br>
            <a:endParaRPr lang="en-US" dirty="0"/>
          </a:p>
          <a:p>
            <a:r>
              <a:rPr lang="en-US" b="1" dirty="0"/>
              <a:t>From Project to Product</a:t>
            </a:r>
          </a:p>
          <a:p>
            <a:r>
              <a:rPr lang="en-US" dirty="0"/>
              <a:t>“Up until this point, we've primarily been thinking about Atlas as a project.</a:t>
            </a:r>
          </a:p>
          <a:p>
            <a:r>
              <a:rPr lang="en-US" dirty="0"/>
              <a:t>We've had requirements, designs, tasks, milestones, tests, and deliverables.</a:t>
            </a:r>
          </a:p>
          <a:p>
            <a:r>
              <a:rPr lang="en-US" dirty="0"/>
              <a:t>But once Atlas launches, our mindset has to change.</a:t>
            </a:r>
          </a:p>
          <a:p>
            <a:r>
              <a:rPr lang="en-US" dirty="0"/>
              <a:t>Atlas is no longer just something we're building.</a:t>
            </a:r>
          </a:p>
          <a:p>
            <a:r>
              <a:rPr lang="en-US" b="1" dirty="0"/>
              <a:t>Atlas is now something we're responsible for.</a:t>
            </a:r>
            <a:endParaRPr lang="en-US" dirty="0"/>
          </a:p>
          <a:p>
            <a:r>
              <a:rPr lang="en-US" dirty="0"/>
              <a:t>Users will depend on it. Teams will support it. Stakeholders will measure it. And the organization will expect it to deliver results.</a:t>
            </a:r>
          </a:p>
          <a:p>
            <a:r>
              <a:rPr lang="en-US" dirty="0"/>
              <a:t>Launch is where the project becomes a living product.”</a:t>
            </a:r>
          </a:p>
          <a:p>
            <a:br>
              <a:rPr lang="en-US" dirty="0"/>
            </a:br>
            <a:endParaRPr lang="en-US" dirty="0"/>
          </a:p>
          <a:p>
            <a:r>
              <a:rPr lang="en-US" b="1" dirty="0"/>
              <a:t>Key Focus Areas</a:t>
            </a:r>
          </a:p>
          <a:p>
            <a:r>
              <a:rPr lang="en-US" b="1" dirty="0"/>
              <a:t>Final Launch Checklist</a:t>
            </a:r>
            <a:endParaRPr lang="en-US" dirty="0"/>
          </a:p>
          <a:p>
            <a:r>
              <a:rPr lang="en-US" dirty="0"/>
              <a:t>“Before we actually go live, we perform one final check.</a:t>
            </a:r>
          </a:p>
          <a:p>
            <a:r>
              <a:rPr lang="en-US" dirty="0"/>
              <a:t>Are all critical tests complete?</a:t>
            </a:r>
          </a:p>
          <a:p>
            <a:r>
              <a:rPr lang="en-US" dirty="0"/>
              <a:t>Are known critical issues resolved?</a:t>
            </a:r>
          </a:p>
          <a:p>
            <a:r>
              <a:rPr lang="en-US" dirty="0"/>
              <a:t>Are backups working?</a:t>
            </a:r>
          </a:p>
          <a:p>
            <a:r>
              <a:rPr lang="en-US" dirty="0"/>
              <a:t>Are monitoring and alerts active?</a:t>
            </a:r>
          </a:p>
          <a:p>
            <a:r>
              <a:rPr lang="en-US" dirty="0"/>
              <a:t>Are deployment and rollback procedures documented?</a:t>
            </a:r>
          </a:p>
          <a:p>
            <a:r>
              <a:rPr lang="en-US" dirty="0"/>
              <a:t>Are users and support teams prepared?</a:t>
            </a:r>
          </a:p>
          <a:p>
            <a:r>
              <a:rPr lang="en-US" dirty="0"/>
              <a:t>The launch checklist gives us confidence that we're not forgetting something important at the last moment.”</a:t>
            </a:r>
          </a:p>
          <a:p>
            <a:br>
              <a:rPr lang="en-US" dirty="0"/>
            </a:br>
            <a:endParaRPr lang="en-US" dirty="0"/>
          </a:p>
          <a:p>
            <a:r>
              <a:rPr lang="en-US" b="1" dirty="0"/>
              <a:t>Communication &amp; Change</a:t>
            </a:r>
            <a:endParaRPr lang="en-US" dirty="0"/>
          </a:p>
          <a:p>
            <a:r>
              <a:rPr lang="en-US" dirty="0"/>
              <a:t>“A successful launch is also a communication exercise.</a:t>
            </a:r>
          </a:p>
          <a:p>
            <a:r>
              <a:rPr lang="en-US" dirty="0"/>
              <a:t>Users need to know that Atlas is coming, what is changing, why it matters, and where they can get help.</a:t>
            </a:r>
          </a:p>
          <a:p>
            <a:r>
              <a:rPr lang="en-US" dirty="0"/>
              <a:t>Stakeholders need to understand what to expect.</a:t>
            </a:r>
          </a:p>
          <a:p>
            <a:r>
              <a:rPr lang="en-US" dirty="0"/>
              <a:t>And support teams need to know how to respond when questions or problems arise.</a:t>
            </a:r>
          </a:p>
          <a:p>
            <a:r>
              <a:rPr lang="en-US" dirty="0"/>
              <a:t>Technology adoption doesn't happen automatically.</a:t>
            </a:r>
          </a:p>
          <a:p>
            <a:r>
              <a:rPr lang="en-US" dirty="0"/>
              <a:t>We have to bring people along with us.”</a:t>
            </a:r>
          </a:p>
          <a:p>
            <a:br>
              <a:rPr lang="en-US" dirty="0"/>
            </a:br>
            <a:endParaRPr lang="en-US" dirty="0"/>
          </a:p>
          <a:p>
            <a:r>
              <a:rPr lang="en-US" b="1" dirty="0"/>
              <a:t>Hypercare Support</a:t>
            </a:r>
            <a:endParaRPr lang="en-US" dirty="0"/>
          </a:p>
          <a:p>
            <a:r>
              <a:rPr lang="en-US" dirty="0"/>
              <a:t>“The first few days or weeks after launch are particularly important.</a:t>
            </a:r>
          </a:p>
          <a:p>
            <a:r>
              <a:rPr lang="en-US" dirty="0"/>
              <a:t>This period is often called </a:t>
            </a:r>
            <a:r>
              <a:rPr lang="en-US" b="1" dirty="0" err="1"/>
              <a:t>hypercare</a:t>
            </a:r>
            <a:r>
              <a:rPr lang="en-US" dirty="0"/>
              <a:t>.</a:t>
            </a:r>
          </a:p>
          <a:p>
            <a:r>
              <a:rPr lang="en-US" dirty="0"/>
              <a:t>During </a:t>
            </a:r>
            <a:r>
              <a:rPr lang="en-US" dirty="0" err="1"/>
              <a:t>hypercare</a:t>
            </a:r>
            <a:r>
              <a:rPr lang="en-US" dirty="0"/>
              <a:t>, we provide additional support and closely monitor Atlas.</a:t>
            </a:r>
          </a:p>
          <a:p>
            <a:r>
              <a:rPr lang="en-US" dirty="0"/>
              <a:t>We're looking for unexpected problems, usability issues, performance concerns, and questions from real users.</a:t>
            </a:r>
          </a:p>
          <a:p>
            <a:r>
              <a:rPr lang="en-US" dirty="0"/>
              <a:t>The goal isn't to panic when something happens.</a:t>
            </a:r>
          </a:p>
          <a:p>
            <a:r>
              <a:rPr lang="en-US" dirty="0"/>
              <a:t>The goal is to respond quickly, learn from what we're seeing, and stabilize the system.”</a:t>
            </a:r>
          </a:p>
          <a:p>
            <a:br>
              <a:rPr lang="en-US" dirty="0"/>
            </a:br>
            <a:endParaRPr lang="en-US" dirty="0"/>
          </a:p>
          <a:p>
            <a:r>
              <a:rPr lang="en-US" b="1" dirty="0"/>
              <a:t>Monitor &amp; Learn</a:t>
            </a:r>
            <a:endParaRPr lang="en-US" dirty="0"/>
          </a:p>
          <a:p>
            <a:r>
              <a:rPr lang="en-US" dirty="0"/>
              <a:t>“Once Atlas is live, we start collecting real-world evidence.</a:t>
            </a:r>
          </a:p>
          <a:p>
            <a:r>
              <a:rPr lang="en-US" dirty="0"/>
              <a:t>We're watching system metrics.</a:t>
            </a:r>
          </a:p>
          <a:p>
            <a:r>
              <a:rPr lang="en-US" dirty="0"/>
              <a:t>We're looking at errors.</a:t>
            </a:r>
          </a:p>
          <a:p>
            <a:r>
              <a:rPr lang="en-US" dirty="0"/>
              <a:t>We're listening to users.</a:t>
            </a:r>
          </a:p>
          <a:p>
            <a:r>
              <a:rPr lang="en-US" dirty="0"/>
              <a:t>We're examining how people actually use the system compared with how we expected them to use it.</a:t>
            </a:r>
          </a:p>
          <a:p>
            <a:r>
              <a:rPr lang="en-US" dirty="0"/>
              <a:t>This is important because our assumptions during development aren't always correct.</a:t>
            </a:r>
          </a:p>
          <a:p>
            <a:r>
              <a:rPr lang="en-US" dirty="0"/>
              <a:t>Production gives us information that development simply cannot.”</a:t>
            </a:r>
          </a:p>
          <a:p>
            <a:br>
              <a:rPr lang="en-US" dirty="0"/>
            </a:br>
            <a:endParaRPr lang="en-US" dirty="0"/>
          </a:p>
          <a:p>
            <a:r>
              <a:rPr lang="en-US" b="1" dirty="0"/>
              <a:t>Measure Success</a:t>
            </a:r>
            <a:endParaRPr lang="en-US" dirty="0"/>
          </a:p>
          <a:p>
            <a:r>
              <a:rPr lang="en-US" dirty="0"/>
              <a:t>“We also need to determine whether Atlas is actually delivering the value we promised.</a:t>
            </a:r>
          </a:p>
          <a:p>
            <a:r>
              <a:rPr lang="en-US" dirty="0"/>
              <a:t>Remember the original problem we were trying to solve.</a:t>
            </a:r>
          </a:p>
          <a:p>
            <a:r>
              <a:rPr lang="en-US" dirty="0"/>
              <a:t>Did Atlas improve the process?</a:t>
            </a:r>
          </a:p>
          <a:p>
            <a:r>
              <a:rPr lang="en-US" dirty="0"/>
              <a:t>Did it save time?</a:t>
            </a:r>
          </a:p>
          <a:p>
            <a:r>
              <a:rPr lang="en-US" dirty="0"/>
              <a:t>Did it reduce errors?</a:t>
            </a:r>
          </a:p>
          <a:p>
            <a:r>
              <a:rPr lang="en-US" dirty="0"/>
              <a:t>Did it improve the user experience?</a:t>
            </a:r>
          </a:p>
          <a:p>
            <a:r>
              <a:rPr lang="en-US" dirty="0"/>
              <a:t>Did it reduce costs or increase efficiency?</a:t>
            </a:r>
          </a:p>
          <a:p>
            <a:r>
              <a:rPr lang="en-US" dirty="0"/>
              <a:t>These are the questions that determine whether our project was successful.</a:t>
            </a:r>
          </a:p>
          <a:p>
            <a:r>
              <a:rPr lang="en-US" dirty="0"/>
              <a:t>A system can be technically excellent and still fail if it doesn't create meaningful value.”</a:t>
            </a:r>
          </a:p>
          <a:p>
            <a:br>
              <a:rPr lang="en-US" dirty="0"/>
            </a:br>
            <a:endParaRPr lang="en-US" dirty="0"/>
          </a:p>
          <a:p>
            <a:r>
              <a:rPr lang="en-US" b="1" dirty="0"/>
              <a:t>Roadmap Forward</a:t>
            </a:r>
            <a:endParaRPr lang="en-US" dirty="0"/>
          </a:p>
          <a:p>
            <a:r>
              <a:rPr lang="en-US" dirty="0"/>
              <a:t>“Finally, launch isn't the end of development.</a:t>
            </a:r>
          </a:p>
          <a:p>
            <a:r>
              <a:rPr lang="en-US" dirty="0"/>
              <a:t>It's the beginning of the next phase.</a:t>
            </a:r>
          </a:p>
          <a:p>
            <a:r>
              <a:rPr lang="en-US" dirty="0"/>
              <a:t>Once Atlas is being used, we'll discover new requirements, new opportunities, and new challenges.</a:t>
            </a:r>
          </a:p>
          <a:p>
            <a:r>
              <a:rPr lang="en-US" dirty="0"/>
              <a:t>We'll prioritize what comes next based on evidence.</a:t>
            </a:r>
          </a:p>
          <a:p>
            <a:r>
              <a:rPr lang="en-US" dirty="0"/>
              <a:t>That means continuing to improve Atlas rather than treating version one as the final version.</a:t>
            </a:r>
          </a:p>
          <a:p>
            <a:r>
              <a:rPr lang="en-US" dirty="0"/>
              <a:t>The product evolves because the users, technology, and business environment evolve.”</a:t>
            </a:r>
          </a:p>
          <a:p>
            <a:br>
              <a:rPr lang="en-US" dirty="0"/>
            </a:br>
            <a:endParaRPr lang="en-US" dirty="0"/>
          </a:p>
          <a:p>
            <a:r>
              <a:rPr lang="en-US" b="1" dirty="0"/>
              <a:t>The Six Outcomes of a Successful Launch</a:t>
            </a:r>
          </a:p>
          <a:p>
            <a:r>
              <a:rPr lang="en-US" dirty="0"/>
              <a:t>“The slide identifies six important outcomes we want from our launch.</a:t>
            </a:r>
          </a:p>
          <a:p>
            <a:r>
              <a:rPr lang="en-US" b="1" dirty="0"/>
              <a:t>Go-Live</a:t>
            </a:r>
            <a:r>
              <a:rPr lang="en-US" dirty="0"/>
              <a:t> means Atlas is actually available and delivering the functionality we promised.</a:t>
            </a:r>
          </a:p>
          <a:p>
            <a:r>
              <a:rPr lang="en-US" b="1" dirty="0"/>
              <a:t>User Impact</a:t>
            </a:r>
            <a:r>
              <a:rPr lang="en-US" dirty="0"/>
              <a:t> means real people are benefiting from the system.</a:t>
            </a:r>
          </a:p>
          <a:p>
            <a:r>
              <a:rPr lang="en-US" b="1" dirty="0"/>
              <a:t>Business Value</a:t>
            </a:r>
            <a:r>
              <a:rPr lang="en-US" dirty="0"/>
              <a:t> means the organization is seeing measurable results.</a:t>
            </a:r>
          </a:p>
          <a:p>
            <a:r>
              <a:rPr lang="en-US" b="1" dirty="0"/>
              <a:t>Reliable &amp; Secure</a:t>
            </a:r>
            <a:r>
              <a:rPr lang="en-US" dirty="0"/>
              <a:t> means the system continues to perform while protecting its users and data.</a:t>
            </a:r>
          </a:p>
          <a:p>
            <a:r>
              <a:rPr lang="en-US" b="1" dirty="0"/>
              <a:t>Team Enabled</a:t>
            </a:r>
            <a:r>
              <a:rPr lang="en-US" dirty="0"/>
              <a:t> means the people responsible for Atlas know how to support and improve it.</a:t>
            </a:r>
          </a:p>
          <a:p>
            <a:r>
              <a:rPr lang="en-US" dirty="0"/>
              <a:t>And </a:t>
            </a:r>
            <a:r>
              <a:rPr lang="en-US" b="1" dirty="0"/>
              <a:t>Continuous Evolution</a:t>
            </a:r>
            <a:r>
              <a:rPr lang="en-US" dirty="0"/>
              <a:t> means we're prepared to learn, adapt, and keep improving.”</a:t>
            </a:r>
          </a:p>
          <a:p>
            <a:br>
              <a:rPr lang="en-US" dirty="0"/>
            </a:br>
            <a:endParaRPr lang="en-US" dirty="0"/>
          </a:p>
          <a:p>
            <a:r>
              <a:rPr lang="en-US" b="1" dirty="0"/>
              <a:t>Launch Is Not the Finish Line</a:t>
            </a:r>
          </a:p>
          <a:p>
            <a:r>
              <a:rPr lang="en-US" dirty="0"/>
              <a:t>“One of the most important messages in this entire sprint is at the bottom of the slide:</a:t>
            </a:r>
          </a:p>
          <a:p>
            <a:r>
              <a:rPr lang="en-US" b="1" dirty="0"/>
              <a:t>This is not the end. This is the beginning of impact.</a:t>
            </a:r>
            <a:endParaRPr lang="en-US" dirty="0"/>
          </a:p>
          <a:p>
            <a:r>
              <a:rPr lang="en-US" dirty="0"/>
              <a:t>That's the mindset I want you to take away.</a:t>
            </a:r>
          </a:p>
          <a:p>
            <a:r>
              <a:rPr lang="en-US" dirty="0"/>
              <a:t>A software project isn't successful simply because we finished the code.</a:t>
            </a:r>
          </a:p>
          <a:p>
            <a:r>
              <a:rPr lang="en-US" dirty="0"/>
              <a:t>It's successful when people actually use what we built and it makes their lives, their work, or their organization better.”</a:t>
            </a:r>
          </a:p>
          <a:p>
            <a:br>
              <a:rPr lang="en-US" dirty="0"/>
            </a:br>
            <a:endParaRPr lang="en-US" dirty="0"/>
          </a:p>
          <a:p>
            <a:r>
              <a:rPr lang="en-US" b="1" dirty="0"/>
              <a:t>Connecting Back to Atlas</a:t>
            </a:r>
          </a:p>
          <a:p>
            <a:r>
              <a:rPr lang="en-US" dirty="0"/>
              <a:t>“Think about everything we've done throughout the Atlas </a:t>
            </a:r>
            <a:r>
              <a:rPr lang="en-US" dirty="0" err="1"/>
              <a:t>TaskFlow</a:t>
            </a:r>
            <a:r>
              <a:rPr lang="en-US" dirty="0"/>
              <a:t>.</a:t>
            </a:r>
          </a:p>
          <a:p>
            <a:r>
              <a:rPr lang="en-US" dirty="0"/>
              <a:t>We started with an idea.</a:t>
            </a:r>
          </a:p>
          <a:p>
            <a:r>
              <a:rPr lang="en-US" dirty="0"/>
              <a:t>We planned it.</a:t>
            </a:r>
          </a:p>
          <a:p>
            <a:r>
              <a:rPr lang="en-US" dirty="0"/>
              <a:t>We designed it.</a:t>
            </a:r>
          </a:p>
          <a:p>
            <a:r>
              <a:rPr lang="en-US" dirty="0"/>
              <a:t>We built it.</a:t>
            </a:r>
          </a:p>
          <a:p>
            <a:r>
              <a:rPr lang="en-US" dirty="0"/>
              <a:t>We tested it.</a:t>
            </a:r>
          </a:p>
          <a:p>
            <a:r>
              <a:rPr lang="en-US" dirty="0"/>
              <a:t>We deployed it.</a:t>
            </a:r>
          </a:p>
          <a:p>
            <a:r>
              <a:rPr lang="en-US" dirty="0"/>
              <a:t>We made it observable.</a:t>
            </a:r>
          </a:p>
          <a:p>
            <a:r>
              <a:rPr lang="en-US" dirty="0"/>
              <a:t>We made it usable.</a:t>
            </a:r>
          </a:p>
          <a:p>
            <a:r>
              <a:rPr lang="en-US" dirty="0"/>
              <a:t>We secured it.</a:t>
            </a:r>
          </a:p>
          <a:p>
            <a:r>
              <a:rPr lang="en-US" dirty="0"/>
              <a:t>We made it perform.</a:t>
            </a:r>
          </a:p>
          <a:p>
            <a:r>
              <a:rPr lang="en-US" dirty="0"/>
              <a:t>We made it operable.</a:t>
            </a:r>
          </a:p>
          <a:p>
            <a:r>
              <a:rPr lang="en-US" dirty="0"/>
              <a:t>We proved that it was ready.</a:t>
            </a:r>
          </a:p>
          <a:p>
            <a:r>
              <a:rPr lang="en-US" dirty="0"/>
              <a:t>And now we're launching it.”</a:t>
            </a:r>
          </a:p>
          <a:p>
            <a:br>
              <a:rPr lang="en-US" dirty="0"/>
            </a:br>
            <a:endParaRPr lang="en-US" dirty="0"/>
          </a:p>
          <a:p>
            <a:r>
              <a:rPr lang="en-US" b="1" dirty="0"/>
              <a:t>The Real Definition of Done</a:t>
            </a:r>
          </a:p>
          <a:p>
            <a:r>
              <a:rPr lang="en-US" dirty="0"/>
              <a:t>“This gives us a much better definition of </a:t>
            </a:r>
            <a:r>
              <a:rPr lang="en-US" b="1" dirty="0"/>
              <a:t>done</a:t>
            </a:r>
            <a:r>
              <a:rPr lang="en-US" dirty="0"/>
              <a:t>.</a:t>
            </a:r>
          </a:p>
          <a:p>
            <a:r>
              <a:rPr lang="en-US" dirty="0"/>
              <a:t>Done isn't:</a:t>
            </a:r>
          </a:p>
          <a:p>
            <a:r>
              <a:rPr lang="en-US" dirty="0"/>
              <a:t>‘The developer finished the feature.’</a:t>
            </a:r>
          </a:p>
          <a:p>
            <a:r>
              <a:rPr lang="en-US" dirty="0"/>
              <a:t>Done isn't:</a:t>
            </a:r>
          </a:p>
          <a:p>
            <a:r>
              <a:rPr lang="en-US" dirty="0"/>
              <a:t>‘The code compiled.’</a:t>
            </a:r>
          </a:p>
          <a:p>
            <a:r>
              <a:rPr lang="en-US" dirty="0"/>
              <a:t>Done isn't even:</a:t>
            </a:r>
          </a:p>
          <a:p>
            <a:r>
              <a:rPr lang="en-US" dirty="0"/>
              <a:t>‘The application was deployed.’</a:t>
            </a:r>
          </a:p>
          <a:p>
            <a:r>
              <a:rPr lang="en-US" dirty="0"/>
              <a:t>Done means the system is </a:t>
            </a:r>
            <a:r>
              <a:rPr lang="en-US" b="1" dirty="0"/>
              <a:t>delivering value safely, reliably, and sustainably to real users</a:t>
            </a:r>
            <a:r>
              <a:rPr lang="en-US" dirty="0"/>
              <a:t>.</a:t>
            </a:r>
          </a:p>
          <a:p>
            <a:r>
              <a:rPr lang="en-US" dirty="0"/>
              <a:t>That's the standard we should strive for.”</a:t>
            </a:r>
          </a:p>
          <a:p>
            <a:br>
              <a:rPr lang="en-US" dirty="0"/>
            </a:br>
            <a:endParaRPr lang="en-US" dirty="0"/>
          </a:p>
          <a:p>
            <a:r>
              <a:rPr lang="en-US" b="1" dirty="0"/>
              <a:t>Closing Sprint 7</a:t>
            </a:r>
          </a:p>
          <a:p>
            <a:r>
              <a:rPr lang="en-US" dirty="0"/>
              <a:t>“And that brings us to the end of </a:t>
            </a:r>
            <a:r>
              <a:rPr lang="en-US" b="1" dirty="0"/>
              <a:t>Sprint 7: PREPARE IT</a:t>
            </a:r>
            <a:r>
              <a:rPr lang="en-US" dirty="0"/>
              <a:t>.</a:t>
            </a:r>
          </a:p>
          <a:p>
            <a:r>
              <a:rPr lang="en-US" dirty="0"/>
              <a:t>We've prepared Atlas not simply to exist, but to succeed in the real world.</a:t>
            </a:r>
          </a:p>
          <a:p>
            <a:r>
              <a:rPr lang="en-US" dirty="0"/>
              <a:t>The next challenge isn't about getting Atlas ready anymore.</a:t>
            </a:r>
          </a:p>
          <a:p>
            <a:r>
              <a:rPr lang="en-US" dirty="0"/>
              <a:t>It's about what happens </a:t>
            </a:r>
            <a:r>
              <a:rPr lang="en-US" b="1" dirty="0"/>
              <a:t>after</a:t>
            </a:r>
            <a:r>
              <a:rPr lang="en-US" dirty="0"/>
              <a:t> readiness.</a:t>
            </a:r>
          </a:p>
          <a:p>
            <a:r>
              <a:rPr lang="en-US" dirty="0"/>
              <a:t>How do we operate it?</a:t>
            </a:r>
          </a:p>
          <a:p>
            <a:r>
              <a:rPr lang="en-US" dirty="0"/>
              <a:t>How do we learn from it?</a:t>
            </a:r>
          </a:p>
          <a:p>
            <a:r>
              <a:rPr lang="en-US" dirty="0"/>
              <a:t>How do we measure it?</a:t>
            </a:r>
          </a:p>
          <a:p>
            <a:r>
              <a:rPr lang="en-US" dirty="0"/>
              <a:t>How do we improve it?</a:t>
            </a:r>
          </a:p>
          <a:p>
            <a:r>
              <a:rPr lang="en-US" dirty="0"/>
              <a:t>And how do we keep creating value over time?</a:t>
            </a:r>
          </a:p>
          <a:p>
            <a:r>
              <a:rPr lang="en-US" dirty="0"/>
              <a:t>Because building Atlas isn't about reaching a finish line.</a:t>
            </a:r>
          </a:p>
          <a:p>
            <a:r>
              <a:rPr lang="en-US" b="1" dirty="0"/>
              <a:t>We're building something that can continue to evolve.</a:t>
            </a:r>
            <a:r>
              <a:rPr lang="en-US" dirty="0"/>
              <a:t>”</a:t>
            </a:r>
          </a:p>
          <a:p>
            <a:r>
              <a:rPr lang="en-US" b="1" dirty="0"/>
              <a:t>Final Statement</a:t>
            </a:r>
          </a:p>
          <a:p>
            <a:r>
              <a:rPr lang="en-US" dirty="0"/>
              <a:t>“So let's launch Atlas.</a:t>
            </a:r>
          </a:p>
          <a:p>
            <a:r>
              <a:rPr lang="en-US" b="1" dirty="0"/>
              <a:t>Deliver value. Build confidence. Create impact.</a:t>
            </a:r>
            <a:endParaRPr lang="en-US" dirty="0"/>
          </a:p>
          <a:p>
            <a:r>
              <a:rPr lang="en-US" dirty="0"/>
              <a:t>And remember:</a:t>
            </a:r>
          </a:p>
          <a:p>
            <a:r>
              <a:rPr lang="en-US" b="1" dirty="0"/>
              <a:t>This is not the end.</a:t>
            </a:r>
            <a:br>
              <a:rPr lang="en-US" b="1" dirty="0"/>
            </a:br>
            <a:r>
              <a:rPr lang="en-US" b="1" dirty="0"/>
              <a:t>This is the beginning of impact.</a:t>
            </a:r>
            <a:r>
              <a:rPr lang="en-US" dirty="0"/>
              <a:t>”</a:t>
            </a:r>
          </a:p>
          <a:p>
            <a:endParaRPr lang="en-US" dirty="0"/>
          </a:p>
        </p:txBody>
      </p:sp>
      <p:sp>
        <p:nvSpPr>
          <p:cNvPr id="4" name="Slide Number Placeholder 3"/>
          <p:cNvSpPr>
            <a:spLocks noGrp="1"/>
          </p:cNvSpPr>
          <p:nvPr>
            <p:ph type="sldNum" sz="quarter" idx="5"/>
          </p:nvPr>
        </p:nvSpPr>
        <p:spPr/>
        <p:txBody>
          <a:bodyPr/>
          <a:lstStyle/>
          <a:p>
            <a:fld id="{5AFC1053-384D-42E4-B963-6C2B9553F5DF}" type="slidenum">
              <a:rPr lang="en-US" smtClean="0"/>
              <a:t>10</a:t>
            </a:fld>
            <a:endParaRPr lang="en-US"/>
          </a:p>
        </p:txBody>
      </p:sp>
    </p:spTree>
    <p:extLst>
      <p:ext uri="{BB962C8B-B14F-4D97-AF65-F5344CB8AC3E}">
        <p14:creationId xmlns:p14="http://schemas.microsoft.com/office/powerpoint/2010/main" val="2683478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1B72F-F09C-B485-211D-B7C65E259A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7A8E86-A155-D7D9-775C-78ABF266C0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C6A41C-90A4-4D91-B0B8-B626662A3850}"/>
              </a:ext>
            </a:extLst>
          </p:cNvPr>
          <p:cNvSpPr>
            <a:spLocks noGrp="1"/>
          </p:cNvSpPr>
          <p:nvPr>
            <p:ph type="dt" sz="half" idx="10"/>
          </p:nvPr>
        </p:nvSpPr>
        <p:spPr/>
        <p:txBody>
          <a:bodyPr/>
          <a:lstStyle/>
          <a:p>
            <a:fld id="{23934DCE-1E45-4E8F-9F45-7DB7D23085E9}" type="datetimeFigureOut">
              <a:rPr lang="en-US" smtClean="0"/>
              <a:t>8/13/2026</a:t>
            </a:fld>
            <a:endParaRPr lang="en-US"/>
          </a:p>
        </p:txBody>
      </p:sp>
      <p:sp>
        <p:nvSpPr>
          <p:cNvPr id="5" name="Footer Placeholder 4">
            <a:extLst>
              <a:ext uri="{FF2B5EF4-FFF2-40B4-BE49-F238E27FC236}">
                <a16:creationId xmlns:a16="http://schemas.microsoft.com/office/drawing/2014/main" id="{A2F81831-E2D5-F73D-1847-A162487DC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46B2F-6CA2-1F6F-C8B7-3D3CAAE54297}"/>
              </a:ext>
            </a:extLst>
          </p:cNvPr>
          <p:cNvSpPr>
            <a:spLocks noGrp="1"/>
          </p:cNvSpPr>
          <p:nvPr>
            <p:ph type="sldNum" sz="quarter" idx="12"/>
          </p:nvPr>
        </p:nvSpPr>
        <p:spPr/>
        <p:txBody>
          <a:bodyPr/>
          <a:lstStyle/>
          <a:p>
            <a:fld id="{87F59ECF-3EB6-4D30-AB19-D1FB81F92804}" type="slidenum">
              <a:rPr lang="en-US" smtClean="0"/>
              <a:t>‹#›</a:t>
            </a:fld>
            <a:endParaRPr lang="en-US"/>
          </a:p>
        </p:txBody>
      </p:sp>
    </p:spTree>
    <p:extLst>
      <p:ext uri="{BB962C8B-B14F-4D97-AF65-F5344CB8AC3E}">
        <p14:creationId xmlns:p14="http://schemas.microsoft.com/office/powerpoint/2010/main" val="2482065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83A16-2E90-9708-E406-675D8B1D0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2CBCF7-4450-54AC-A69B-F5747F63AF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CC6B80-4C70-0758-CAE6-FDA4265BC16E}"/>
              </a:ext>
            </a:extLst>
          </p:cNvPr>
          <p:cNvSpPr>
            <a:spLocks noGrp="1"/>
          </p:cNvSpPr>
          <p:nvPr>
            <p:ph type="dt" sz="half" idx="10"/>
          </p:nvPr>
        </p:nvSpPr>
        <p:spPr/>
        <p:txBody>
          <a:bodyPr/>
          <a:lstStyle/>
          <a:p>
            <a:fld id="{23934DCE-1E45-4E8F-9F45-7DB7D23085E9}" type="datetimeFigureOut">
              <a:rPr lang="en-US" smtClean="0"/>
              <a:t>8/13/2026</a:t>
            </a:fld>
            <a:endParaRPr lang="en-US"/>
          </a:p>
        </p:txBody>
      </p:sp>
      <p:sp>
        <p:nvSpPr>
          <p:cNvPr id="5" name="Footer Placeholder 4">
            <a:extLst>
              <a:ext uri="{FF2B5EF4-FFF2-40B4-BE49-F238E27FC236}">
                <a16:creationId xmlns:a16="http://schemas.microsoft.com/office/drawing/2014/main" id="{5B3A669E-A2C8-CC24-BCBD-D1B606D2E3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E34CE6-A977-E054-DEC9-8EA646D6BF71}"/>
              </a:ext>
            </a:extLst>
          </p:cNvPr>
          <p:cNvSpPr>
            <a:spLocks noGrp="1"/>
          </p:cNvSpPr>
          <p:nvPr>
            <p:ph type="sldNum" sz="quarter" idx="12"/>
          </p:nvPr>
        </p:nvSpPr>
        <p:spPr/>
        <p:txBody>
          <a:bodyPr/>
          <a:lstStyle/>
          <a:p>
            <a:fld id="{87F59ECF-3EB6-4D30-AB19-D1FB81F92804}" type="slidenum">
              <a:rPr lang="en-US" smtClean="0"/>
              <a:t>‹#›</a:t>
            </a:fld>
            <a:endParaRPr lang="en-US"/>
          </a:p>
        </p:txBody>
      </p:sp>
    </p:spTree>
    <p:extLst>
      <p:ext uri="{BB962C8B-B14F-4D97-AF65-F5344CB8AC3E}">
        <p14:creationId xmlns:p14="http://schemas.microsoft.com/office/powerpoint/2010/main" val="3088773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3A68-869A-B7E7-90C4-65D489C5AB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960EFA-5261-C368-D21A-C3C4D0D180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DF24AB-7779-710C-E14A-D0A8EED9130C}"/>
              </a:ext>
            </a:extLst>
          </p:cNvPr>
          <p:cNvSpPr>
            <a:spLocks noGrp="1"/>
          </p:cNvSpPr>
          <p:nvPr>
            <p:ph type="dt" sz="half" idx="10"/>
          </p:nvPr>
        </p:nvSpPr>
        <p:spPr/>
        <p:txBody>
          <a:bodyPr/>
          <a:lstStyle/>
          <a:p>
            <a:fld id="{23934DCE-1E45-4E8F-9F45-7DB7D23085E9}" type="datetimeFigureOut">
              <a:rPr lang="en-US" smtClean="0"/>
              <a:t>8/13/2026</a:t>
            </a:fld>
            <a:endParaRPr lang="en-US"/>
          </a:p>
        </p:txBody>
      </p:sp>
      <p:sp>
        <p:nvSpPr>
          <p:cNvPr id="5" name="Footer Placeholder 4">
            <a:extLst>
              <a:ext uri="{FF2B5EF4-FFF2-40B4-BE49-F238E27FC236}">
                <a16:creationId xmlns:a16="http://schemas.microsoft.com/office/drawing/2014/main" id="{0C69E562-5B86-B7F3-A112-B0A1BD0326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6B2C84-1ECE-E558-5374-274D1875F806}"/>
              </a:ext>
            </a:extLst>
          </p:cNvPr>
          <p:cNvSpPr>
            <a:spLocks noGrp="1"/>
          </p:cNvSpPr>
          <p:nvPr>
            <p:ph type="sldNum" sz="quarter" idx="12"/>
          </p:nvPr>
        </p:nvSpPr>
        <p:spPr/>
        <p:txBody>
          <a:bodyPr/>
          <a:lstStyle/>
          <a:p>
            <a:fld id="{87F59ECF-3EB6-4D30-AB19-D1FB81F92804}" type="slidenum">
              <a:rPr lang="en-US" smtClean="0"/>
              <a:t>‹#›</a:t>
            </a:fld>
            <a:endParaRPr lang="en-US"/>
          </a:p>
        </p:txBody>
      </p:sp>
    </p:spTree>
    <p:extLst>
      <p:ext uri="{BB962C8B-B14F-4D97-AF65-F5344CB8AC3E}">
        <p14:creationId xmlns:p14="http://schemas.microsoft.com/office/powerpoint/2010/main" val="3629276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F6846-79DB-3D9E-ABCF-900F059A98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B0A6DF-816B-15B8-E881-9492ACD169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9D4F9B-95E5-5370-9EA3-74DF517199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557A05-60D7-6673-31C6-3EC2FAE81EE3}"/>
              </a:ext>
            </a:extLst>
          </p:cNvPr>
          <p:cNvSpPr>
            <a:spLocks noGrp="1"/>
          </p:cNvSpPr>
          <p:nvPr>
            <p:ph type="dt" sz="half" idx="10"/>
          </p:nvPr>
        </p:nvSpPr>
        <p:spPr/>
        <p:txBody>
          <a:bodyPr/>
          <a:lstStyle/>
          <a:p>
            <a:fld id="{23934DCE-1E45-4E8F-9F45-7DB7D23085E9}" type="datetimeFigureOut">
              <a:rPr lang="en-US" smtClean="0"/>
              <a:t>8/13/2026</a:t>
            </a:fld>
            <a:endParaRPr lang="en-US"/>
          </a:p>
        </p:txBody>
      </p:sp>
      <p:sp>
        <p:nvSpPr>
          <p:cNvPr id="6" name="Footer Placeholder 5">
            <a:extLst>
              <a:ext uri="{FF2B5EF4-FFF2-40B4-BE49-F238E27FC236}">
                <a16:creationId xmlns:a16="http://schemas.microsoft.com/office/drawing/2014/main" id="{27FB8A68-F89B-9172-F12C-3FC1AEF248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1AB82B-2128-6C4C-1212-435DA9EC357B}"/>
              </a:ext>
            </a:extLst>
          </p:cNvPr>
          <p:cNvSpPr>
            <a:spLocks noGrp="1"/>
          </p:cNvSpPr>
          <p:nvPr>
            <p:ph type="sldNum" sz="quarter" idx="12"/>
          </p:nvPr>
        </p:nvSpPr>
        <p:spPr/>
        <p:txBody>
          <a:bodyPr/>
          <a:lstStyle/>
          <a:p>
            <a:fld id="{87F59ECF-3EB6-4D30-AB19-D1FB81F92804}" type="slidenum">
              <a:rPr lang="en-US" smtClean="0"/>
              <a:t>‹#›</a:t>
            </a:fld>
            <a:endParaRPr lang="en-US"/>
          </a:p>
        </p:txBody>
      </p:sp>
    </p:spTree>
    <p:extLst>
      <p:ext uri="{BB962C8B-B14F-4D97-AF65-F5344CB8AC3E}">
        <p14:creationId xmlns:p14="http://schemas.microsoft.com/office/powerpoint/2010/main" val="2685883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5A50F-21FA-F5E6-5CFE-B84E69EB02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25AFA0-8F3F-8092-6A51-FAB8F81C04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3CAE3C-AEFF-CAC4-7682-6F62963B83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2828BB-5EE4-FBD4-4275-18289F320E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BAD791-E00D-6DA2-27FF-72E7149747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C21966-E69C-17DD-0434-B271133AAC2F}"/>
              </a:ext>
            </a:extLst>
          </p:cNvPr>
          <p:cNvSpPr>
            <a:spLocks noGrp="1"/>
          </p:cNvSpPr>
          <p:nvPr>
            <p:ph type="dt" sz="half" idx="10"/>
          </p:nvPr>
        </p:nvSpPr>
        <p:spPr/>
        <p:txBody>
          <a:bodyPr/>
          <a:lstStyle/>
          <a:p>
            <a:fld id="{23934DCE-1E45-4E8F-9F45-7DB7D23085E9}" type="datetimeFigureOut">
              <a:rPr lang="en-US" smtClean="0"/>
              <a:t>8/13/2026</a:t>
            </a:fld>
            <a:endParaRPr lang="en-US"/>
          </a:p>
        </p:txBody>
      </p:sp>
      <p:sp>
        <p:nvSpPr>
          <p:cNvPr id="8" name="Footer Placeholder 7">
            <a:extLst>
              <a:ext uri="{FF2B5EF4-FFF2-40B4-BE49-F238E27FC236}">
                <a16:creationId xmlns:a16="http://schemas.microsoft.com/office/drawing/2014/main" id="{4113349B-0F27-CF66-8BB0-AB0EBC8662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67436B-541E-8A86-A1B5-BDE4097BFE5D}"/>
              </a:ext>
            </a:extLst>
          </p:cNvPr>
          <p:cNvSpPr>
            <a:spLocks noGrp="1"/>
          </p:cNvSpPr>
          <p:nvPr>
            <p:ph type="sldNum" sz="quarter" idx="12"/>
          </p:nvPr>
        </p:nvSpPr>
        <p:spPr/>
        <p:txBody>
          <a:bodyPr/>
          <a:lstStyle/>
          <a:p>
            <a:fld id="{87F59ECF-3EB6-4D30-AB19-D1FB81F92804}" type="slidenum">
              <a:rPr lang="en-US" smtClean="0"/>
              <a:t>‹#›</a:t>
            </a:fld>
            <a:endParaRPr lang="en-US"/>
          </a:p>
        </p:txBody>
      </p:sp>
    </p:spTree>
    <p:extLst>
      <p:ext uri="{BB962C8B-B14F-4D97-AF65-F5344CB8AC3E}">
        <p14:creationId xmlns:p14="http://schemas.microsoft.com/office/powerpoint/2010/main" val="1507271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13938-3655-CB1F-BE5F-B776739C0D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DE188C-AD23-CB50-3628-359DB551E922}"/>
              </a:ext>
            </a:extLst>
          </p:cNvPr>
          <p:cNvSpPr>
            <a:spLocks noGrp="1"/>
          </p:cNvSpPr>
          <p:nvPr>
            <p:ph type="dt" sz="half" idx="10"/>
          </p:nvPr>
        </p:nvSpPr>
        <p:spPr/>
        <p:txBody>
          <a:bodyPr/>
          <a:lstStyle/>
          <a:p>
            <a:fld id="{23934DCE-1E45-4E8F-9F45-7DB7D23085E9}" type="datetimeFigureOut">
              <a:rPr lang="en-US" smtClean="0"/>
              <a:t>8/13/2026</a:t>
            </a:fld>
            <a:endParaRPr lang="en-US"/>
          </a:p>
        </p:txBody>
      </p:sp>
      <p:sp>
        <p:nvSpPr>
          <p:cNvPr id="4" name="Footer Placeholder 3">
            <a:extLst>
              <a:ext uri="{FF2B5EF4-FFF2-40B4-BE49-F238E27FC236}">
                <a16:creationId xmlns:a16="http://schemas.microsoft.com/office/drawing/2014/main" id="{3BFB8138-E322-D67B-351B-7494B00A1E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3A4A95-A981-6F0E-264E-C9A4837E9FD3}"/>
              </a:ext>
            </a:extLst>
          </p:cNvPr>
          <p:cNvSpPr>
            <a:spLocks noGrp="1"/>
          </p:cNvSpPr>
          <p:nvPr>
            <p:ph type="sldNum" sz="quarter" idx="12"/>
          </p:nvPr>
        </p:nvSpPr>
        <p:spPr/>
        <p:txBody>
          <a:bodyPr/>
          <a:lstStyle/>
          <a:p>
            <a:fld id="{87F59ECF-3EB6-4D30-AB19-D1FB81F92804}" type="slidenum">
              <a:rPr lang="en-US" smtClean="0"/>
              <a:t>‹#›</a:t>
            </a:fld>
            <a:endParaRPr lang="en-US"/>
          </a:p>
        </p:txBody>
      </p:sp>
    </p:spTree>
    <p:extLst>
      <p:ext uri="{BB962C8B-B14F-4D97-AF65-F5344CB8AC3E}">
        <p14:creationId xmlns:p14="http://schemas.microsoft.com/office/powerpoint/2010/main" val="291498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5B22E0-9233-EB91-EDEA-97580E25437F}"/>
              </a:ext>
            </a:extLst>
          </p:cNvPr>
          <p:cNvSpPr>
            <a:spLocks noGrp="1"/>
          </p:cNvSpPr>
          <p:nvPr>
            <p:ph type="dt" sz="half" idx="10"/>
          </p:nvPr>
        </p:nvSpPr>
        <p:spPr/>
        <p:txBody>
          <a:bodyPr/>
          <a:lstStyle/>
          <a:p>
            <a:fld id="{23934DCE-1E45-4E8F-9F45-7DB7D23085E9}" type="datetimeFigureOut">
              <a:rPr lang="en-US" smtClean="0"/>
              <a:t>8/13/2026</a:t>
            </a:fld>
            <a:endParaRPr lang="en-US"/>
          </a:p>
        </p:txBody>
      </p:sp>
      <p:sp>
        <p:nvSpPr>
          <p:cNvPr id="3" name="Footer Placeholder 2">
            <a:extLst>
              <a:ext uri="{FF2B5EF4-FFF2-40B4-BE49-F238E27FC236}">
                <a16:creationId xmlns:a16="http://schemas.microsoft.com/office/drawing/2014/main" id="{BAAE4017-8CDA-2482-3C0A-781E08DBA6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EDAC17-A0C0-5417-839F-D3F00322C3B9}"/>
              </a:ext>
            </a:extLst>
          </p:cNvPr>
          <p:cNvSpPr>
            <a:spLocks noGrp="1"/>
          </p:cNvSpPr>
          <p:nvPr>
            <p:ph type="sldNum" sz="quarter" idx="12"/>
          </p:nvPr>
        </p:nvSpPr>
        <p:spPr/>
        <p:txBody>
          <a:bodyPr/>
          <a:lstStyle/>
          <a:p>
            <a:fld id="{87F59ECF-3EB6-4D30-AB19-D1FB81F92804}" type="slidenum">
              <a:rPr lang="en-US" smtClean="0"/>
              <a:t>‹#›</a:t>
            </a:fld>
            <a:endParaRPr lang="en-US"/>
          </a:p>
        </p:txBody>
      </p:sp>
    </p:spTree>
    <p:extLst>
      <p:ext uri="{BB962C8B-B14F-4D97-AF65-F5344CB8AC3E}">
        <p14:creationId xmlns:p14="http://schemas.microsoft.com/office/powerpoint/2010/main" val="323336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77E1-01E4-4C93-9028-FB333011A0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EC1442-FE31-680D-2A78-FB3BE866EE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C5D92C-4DAE-7F40-35CD-2A44E383B6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C47F3E-100C-C5E9-664F-7E530725B36F}"/>
              </a:ext>
            </a:extLst>
          </p:cNvPr>
          <p:cNvSpPr>
            <a:spLocks noGrp="1"/>
          </p:cNvSpPr>
          <p:nvPr>
            <p:ph type="dt" sz="half" idx="10"/>
          </p:nvPr>
        </p:nvSpPr>
        <p:spPr/>
        <p:txBody>
          <a:bodyPr/>
          <a:lstStyle/>
          <a:p>
            <a:fld id="{23934DCE-1E45-4E8F-9F45-7DB7D23085E9}" type="datetimeFigureOut">
              <a:rPr lang="en-US" smtClean="0"/>
              <a:t>8/13/2026</a:t>
            </a:fld>
            <a:endParaRPr lang="en-US"/>
          </a:p>
        </p:txBody>
      </p:sp>
      <p:sp>
        <p:nvSpPr>
          <p:cNvPr id="6" name="Footer Placeholder 5">
            <a:extLst>
              <a:ext uri="{FF2B5EF4-FFF2-40B4-BE49-F238E27FC236}">
                <a16:creationId xmlns:a16="http://schemas.microsoft.com/office/drawing/2014/main" id="{A2345E0D-0C88-832D-604A-7F277FEBB0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168C53-42D1-6C4A-1901-7A421E2C3CEA}"/>
              </a:ext>
            </a:extLst>
          </p:cNvPr>
          <p:cNvSpPr>
            <a:spLocks noGrp="1"/>
          </p:cNvSpPr>
          <p:nvPr>
            <p:ph type="sldNum" sz="quarter" idx="12"/>
          </p:nvPr>
        </p:nvSpPr>
        <p:spPr/>
        <p:txBody>
          <a:bodyPr/>
          <a:lstStyle/>
          <a:p>
            <a:fld id="{87F59ECF-3EB6-4D30-AB19-D1FB81F92804}" type="slidenum">
              <a:rPr lang="en-US" smtClean="0"/>
              <a:t>‹#›</a:t>
            </a:fld>
            <a:endParaRPr lang="en-US"/>
          </a:p>
        </p:txBody>
      </p:sp>
    </p:spTree>
    <p:extLst>
      <p:ext uri="{BB962C8B-B14F-4D97-AF65-F5344CB8AC3E}">
        <p14:creationId xmlns:p14="http://schemas.microsoft.com/office/powerpoint/2010/main" val="3573366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AEDC6-8BDC-066A-65D3-425A9CC0CD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61A9D9-AA2D-749D-5592-0077F22140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0397D2-D91F-FB21-4DE9-76D516603F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8676D1-0D99-35BC-CDBA-F053D9A02952}"/>
              </a:ext>
            </a:extLst>
          </p:cNvPr>
          <p:cNvSpPr>
            <a:spLocks noGrp="1"/>
          </p:cNvSpPr>
          <p:nvPr>
            <p:ph type="dt" sz="half" idx="10"/>
          </p:nvPr>
        </p:nvSpPr>
        <p:spPr/>
        <p:txBody>
          <a:bodyPr/>
          <a:lstStyle/>
          <a:p>
            <a:fld id="{23934DCE-1E45-4E8F-9F45-7DB7D23085E9}" type="datetimeFigureOut">
              <a:rPr lang="en-US" smtClean="0"/>
              <a:t>8/13/2026</a:t>
            </a:fld>
            <a:endParaRPr lang="en-US"/>
          </a:p>
        </p:txBody>
      </p:sp>
      <p:sp>
        <p:nvSpPr>
          <p:cNvPr id="6" name="Footer Placeholder 5">
            <a:extLst>
              <a:ext uri="{FF2B5EF4-FFF2-40B4-BE49-F238E27FC236}">
                <a16:creationId xmlns:a16="http://schemas.microsoft.com/office/drawing/2014/main" id="{9B9E8375-A9BD-62E2-C718-F4C43BB61D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CE1CC6-26F1-71D2-FF8F-DA32C1B03135}"/>
              </a:ext>
            </a:extLst>
          </p:cNvPr>
          <p:cNvSpPr>
            <a:spLocks noGrp="1"/>
          </p:cNvSpPr>
          <p:nvPr>
            <p:ph type="sldNum" sz="quarter" idx="12"/>
          </p:nvPr>
        </p:nvSpPr>
        <p:spPr/>
        <p:txBody>
          <a:bodyPr/>
          <a:lstStyle/>
          <a:p>
            <a:fld id="{87F59ECF-3EB6-4D30-AB19-D1FB81F92804}" type="slidenum">
              <a:rPr lang="en-US" smtClean="0"/>
              <a:t>‹#›</a:t>
            </a:fld>
            <a:endParaRPr lang="en-US"/>
          </a:p>
        </p:txBody>
      </p:sp>
    </p:spTree>
    <p:extLst>
      <p:ext uri="{BB962C8B-B14F-4D97-AF65-F5344CB8AC3E}">
        <p14:creationId xmlns:p14="http://schemas.microsoft.com/office/powerpoint/2010/main" val="1057545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6D13-A26B-60EF-6E5C-CEB97A676C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022294-016F-FC22-0DD7-6584C790C4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1CAF15-E152-D341-8FE8-42AC833D3189}"/>
              </a:ext>
            </a:extLst>
          </p:cNvPr>
          <p:cNvSpPr>
            <a:spLocks noGrp="1"/>
          </p:cNvSpPr>
          <p:nvPr>
            <p:ph type="dt" sz="half" idx="10"/>
          </p:nvPr>
        </p:nvSpPr>
        <p:spPr/>
        <p:txBody>
          <a:bodyPr/>
          <a:lstStyle/>
          <a:p>
            <a:fld id="{23934DCE-1E45-4E8F-9F45-7DB7D23085E9}" type="datetimeFigureOut">
              <a:rPr lang="en-US" smtClean="0"/>
              <a:t>8/13/2026</a:t>
            </a:fld>
            <a:endParaRPr lang="en-US"/>
          </a:p>
        </p:txBody>
      </p:sp>
      <p:sp>
        <p:nvSpPr>
          <p:cNvPr id="5" name="Footer Placeholder 4">
            <a:extLst>
              <a:ext uri="{FF2B5EF4-FFF2-40B4-BE49-F238E27FC236}">
                <a16:creationId xmlns:a16="http://schemas.microsoft.com/office/drawing/2014/main" id="{D07BEAD8-9D65-2ED3-FF99-97A5FB2774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B4959-ACC4-C977-D92E-74AA0D99DDA1}"/>
              </a:ext>
            </a:extLst>
          </p:cNvPr>
          <p:cNvSpPr>
            <a:spLocks noGrp="1"/>
          </p:cNvSpPr>
          <p:nvPr>
            <p:ph type="sldNum" sz="quarter" idx="12"/>
          </p:nvPr>
        </p:nvSpPr>
        <p:spPr/>
        <p:txBody>
          <a:bodyPr/>
          <a:lstStyle/>
          <a:p>
            <a:fld id="{87F59ECF-3EB6-4D30-AB19-D1FB81F92804}" type="slidenum">
              <a:rPr lang="en-US" smtClean="0"/>
              <a:t>‹#›</a:t>
            </a:fld>
            <a:endParaRPr lang="en-US"/>
          </a:p>
        </p:txBody>
      </p:sp>
    </p:spTree>
    <p:extLst>
      <p:ext uri="{BB962C8B-B14F-4D97-AF65-F5344CB8AC3E}">
        <p14:creationId xmlns:p14="http://schemas.microsoft.com/office/powerpoint/2010/main" val="680550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A8DA86-FE15-6C07-A752-613E064FDFF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F17C87-9729-7C2E-F0D5-1828EE3B5D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16B3BA-F689-B910-F25D-1250AA303C39}"/>
              </a:ext>
            </a:extLst>
          </p:cNvPr>
          <p:cNvSpPr>
            <a:spLocks noGrp="1"/>
          </p:cNvSpPr>
          <p:nvPr>
            <p:ph type="dt" sz="half" idx="10"/>
          </p:nvPr>
        </p:nvSpPr>
        <p:spPr/>
        <p:txBody>
          <a:bodyPr/>
          <a:lstStyle/>
          <a:p>
            <a:fld id="{23934DCE-1E45-4E8F-9F45-7DB7D23085E9}" type="datetimeFigureOut">
              <a:rPr lang="en-US" smtClean="0"/>
              <a:t>8/13/2026</a:t>
            </a:fld>
            <a:endParaRPr lang="en-US"/>
          </a:p>
        </p:txBody>
      </p:sp>
      <p:sp>
        <p:nvSpPr>
          <p:cNvPr id="5" name="Footer Placeholder 4">
            <a:extLst>
              <a:ext uri="{FF2B5EF4-FFF2-40B4-BE49-F238E27FC236}">
                <a16:creationId xmlns:a16="http://schemas.microsoft.com/office/drawing/2014/main" id="{F96A4DF8-BAF5-859B-56AF-99B27C8A0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D3B8DB-97EF-E72B-9473-A6CC76FE00CD}"/>
              </a:ext>
            </a:extLst>
          </p:cNvPr>
          <p:cNvSpPr>
            <a:spLocks noGrp="1"/>
          </p:cNvSpPr>
          <p:nvPr>
            <p:ph type="sldNum" sz="quarter" idx="12"/>
          </p:nvPr>
        </p:nvSpPr>
        <p:spPr/>
        <p:txBody>
          <a:bodyPr/>
          <a:lstStyle/>
          <a:p>
            <a:fld id="{87F59ECF-3EB6-4D30-AB19-D1FB81F92804}" type="slidenum">
              <a:rPr lang="en-US" smtClean="0"/>
              <a:t>‹#›</a:t>
            </a:fld>
            <a:endParaRPr lang="en-US"/>
          </a:p>
        </p:txBody>
      </p:sp>
    </p:spTree>
    <p:extLst>
      <p:ext uri="{BB962C8B-B14F-4D97-AF65-F5344CB8AC3E}">
        <p14:creationId xmlns:p14="http://schemas.microsoft.com/office/powerpoint/2010/main" val="2538208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7925EA-3A0E-4D97-09A8-F8B3BF7577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07CBAC-20A2-EEB5-DF5F-8ECC78FFD9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8C5093-BE57-C8C9-DF3C-2D829370BB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934DCE-1E45-4E8F-9F45-7DB7D23085E9}" type="datetimeFigureOut">
              <a:rPr lang="en-US" smtClean="0"/>
              <a:t>8/13/2026</a:t>
            </a:fld>
            <a:endParaRPr lang="en-US"/>
          </a:p>
        </p:txBody>
      </p:sp>
      <p:sp>
        <p:nvSpPr>
          <p:cNvPr id="5" name="Footer Placeholder 4">
            <a:extLst>
              <a:ext uri="{FF2B5EF4-FFF2-40B4-BE49-F238E27FC236}">
                <a16:creationId xmlns:a16="http://schemas.microsoft.com/office/drawing/2014/main" id="{113EA441-1860-F84C-03AA-1A24DB2BD7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E3A78C8-9A9D-499B-C9E5-4E04E8F54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F59ECF-3EB6-4D30-AB19-D1FB81F92804}" type="slidenum">
              <a:rPr lang="en-US" smtClean="0"/>
              <a:t>‹#›</a:t>
            </a:fld>
            <a:endParaRPr lang="en-US"/>
          </a:p>
        </p:txBody>
      </p:sp>
    </p:spTree>
    <p:extLst>
      <p:ext uri="{BB962C8B-B14F-4D97-AF65-F5344CB8AC3E}">
        <p14:creationId xmlns:p14="http://schemas.microsoft.com/office/powerpoint/2010/main" val="252204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0F318-8759-05C8-B81D-31EA477764D7}"/>
              </a:ext>
            </a:extLst>
          </p:cNvPr>
          <p:cNvSpPr>
            <a:spLocks noGrp="1"/>
          </p:cNvSpPr>
          <p:nvPr>
            <p:ph type="ctrTitle"/>
          </p:nvPr>
        </p:nvSpPr>
        <p:spPr/>
        <p:txBody>
          <a:bodyPr/>
          <a:lstStyle/>
          <a:p>
            <a:r>
              <a:rPr lang="en-US" dirty="0"/>
              <a:t>7-01</a:t>
            </a:r>
          </a:p>
        </p:txBody>
      </p:sp>
      <p:sp>
        <p:nvSpPr>
          <p:cNvPr id="3" name="Subtitle 2">
            <a:extLst>
              <a:ext uri="{FF2B5EF4-FFF2-40B4-BE49-F238E27FC236}">
                <a16:creationId xmlns:a16="http://schemas.microsoft.com/office/drawing/2014/main" id="{92EA919D-8F9B-A912-3504-0ADAD8B565FF}"/>
              </a:ext>
            </a:extLst>
          </p:cNvPr>
          <p:cNvSpPr>
            <a:spLocks noGrp="1"/>
          </p:cNvSpPr>
          <p:nvPr>
            <p:ph type="subTitle" idx="1"/>
          </p:nvPr>
        </p:nvSpPr>
        <p:spPr/>
        <p:txBody>
          <a:bodyPr/>
          <a:lstStyle/>
          <a:p>
            <a:endParaRPr lang="en-US"/>
          </a:p>
        </p:txBody>
      </p:sp>
      <p:pic>
        <p:nvPicPr>
          <p:cNvPr id="5" name="Picture 4" descr="A colorful infographic poster titled &quot;Sprint 7 Engineering Brief — Is Atlas Ready?&quot; outlines readiness criteria for Atlas TaskFlow, focusing on functionality, reliability, security, configuration, testing, usability, documentation, and operations. It features sections on mission goals, engineering questions, development-to-production workflow, key sprint areas, readiness questions, and results, using icons, color-coded categories, and a timeline to emphasize quality assurance and confidence-building in software delivery.&#10;&#10;">
            <a:extLst>
              <a:ext uri="{FF2B5EF4-FFF2-40B4-BE49-F238E27FC236}">
                <a16:creationId xmlns:a16="http://schemas.microsoft.com/office/drawing/2014/main" id="{8C36AE00-AA19-DBBD-8D11-0E919D4CB869}"/>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467268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F8168-DFE8-B23F-7AE9-E59909CBB0A8}"/>
              </a:ext>
            </a:extLst>
          </p:cNvPr>
          <p:cNvSpPr>
            <a:spLocks noGrp="1"/>
          </p:cNvSpPr>
          <p:nvPr>
            <p:ph type="title"/>
          </p:nvPr>
        </p:nvSpPr>
        <p:spPr/>
        <p:txBody>
          <a:bodyPr/>
          <a:lstStyle/>
          <a:p>
            <a:r>
              <a:rPr lang="en-US" dirty="0"/>
              <a:t>7-02</a:t>
            </a:r>
          </a:p>
        </p:txBody>
      </p:sp>
      <p:sp>
        <p:nvSpPr>
          <p:cNvPr id="3" name="Content Placeholder 2">
            <a:extLst>
              <a:ext uri="{FF2B5EF4-FFF2-40B4-BE49-F238E27FC236}">
                <a16:creationId xmlns:a16="http://schemas.microsoft.com/office/drawing/2014/main" id="{8D1A256C-BE46-90C1-52EB-4342A6DFEB44}"/>
              </a:ext>
            </a:extLst>
          </p:cNvPr>
          <p:cNvSpPr>
            <a:spLocks noGrp="1"/>
          </p:cNvSpPr>
          <p:nvPr>
            <p:ph idx="1"/>
          </p:nvPr>
        </p:nvSpPr>
        <p:spPr/>
        <p:txBody>
          <a:bodyPr/>
          <a:lstStyle/>
          <a:p>
            <a:endParaRPr lang="en-US"/>
          </a:p>
        </p:txBody>
      </p:sp>
      <p:pic>
        <p:nvPicPr>
          <p:cNvPr id="5" name="Picture 4" descr="A detailed infographic poster explains differences between development, testing, staging, and production environments in software engineering, emphasizing their unique purposes and configurations. It includes a color-coded table comparing key environment attributes, a roadmap for deployment stages, common pitfalls, and best practices to ensure smooth transitions from development to production.&#10;&#10;">
            <a:extLst>
              <a:ext uri="{FF2B5EF4-FFF2-40B4-BE49-F238E27FC236}">
                <a16:creationId xmlns:a16="http://schemas.microsoft.com/office/drawing/2014/main" id="{B3AF04E4-BF4C-744A-47DE-891AE3219EEF}"/>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731382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ED6A4-A9EC-50A5-C496-DD4D93563306}"/>
              </a:ext>
            </a:extLst>
          </p:cNvPr>
          <p:cNvSpPr>
            <a:spLocks noGrp="1"/>
          </p:cNvSpPr>
          <p:nvPr>
            <p:ph type="title"/>
          </p:nvPr>
        </p:nvSpPr>
        <p:spPr/>
        <p:txBody>
          <a:bodyPr/>
          <a:lstStyle/>
          <a:p>
            <a:r>
              <a:rPr lang="en-US" dirty="0"/>
              <a:t>7-03</a:t>
            </a:r>
          </a:p>
        </p:txBody>
      </p:sp>
      <p:sp>
        <p:nvSpPr>
          <p:cNvPr id="3" name="Content Placeholder 2">
            <a:extLst>
              <a:ext uri="{FF2B5EF4-FFF2-40B4-BE49-F238E27FC236}">
                <a16:creationId xmlns:a16="http://schemas.microsoft.com/office/drawing/2014/main" id="{637060A7-185E-70F3-E1C6-F43EB11ED681}"/>
              </a:ext>
            </a:extLst>
          </p:cNvPr>
          <p:cNvSpPr>
            <a:spLocks noGrp="1"/>
          </p:cNvSpPr>
          <p:nvPr>
            <p:ph idx="1"/>
          </p:nvPr>
        </p:nvSpPr>
        <p:spPr/>
        <p:txBody>
          <a:bodyPr/>
          <a:lstStyle/>
          <a:p>
            <a:endParaRPr lang="en-US"/>
          </a:p>
        </p:txBody>
      </p:sp>
      <p:pic>
        <p:nvPicPr>
          <p:cNvPr id="5" name="Picture 4" descr="A colorful educational poster titled &quot;Sprint 7 Make It Reliable&quot; presents best practices for building reliable systems using Atlas Taskflow. It features sections with icons and text on common issues, reliability pitfalls, backup strategies, recovery methods, protection tips, test failure scenarios, scalability advice, and a checklist, using blue, red, green, and yellow color coding to emphasize key points and workflows.&#10;">
            <a:extLst>
              <a:ext uri="{FF2B5EF4-FFF2-40B4-BE49-F238E27FC236}">
                <a16:creationId xmlns:a16="http://schemas.microsoft.com/office/drawing/2014/main" id="{D827951F-B3B1-4259-E78B-8A04D1D48084}"/>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502288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2F815-C9A4-5275-9DBF-4CE3C27E87A4}"/>
              </a:ext>
            </a:extLst>
          </p:cNvPr>
          <p:cNvSpPr>
            <a:spLocks noGrp="1"/>
          </p:cNvSpPr>
          <p:nvPr>
            <p:ph type="title"/>
          </p:nvPr>
        </p:nvSpPr>
        <p:spPr/>
        <p:txBody>
          <a:bodyPr/>
          <a:lstStyle/>
          <a:p>
            <a:r>
              <a:rPr lang="en-US" dirty="0"/>
              <a:t>7-04</a:t>
            </a:r>
          </a:p>
        </p:txBody>
      </p:sp>
      <p:sp>
        <p:nvSpPr>
          <p:cNvPr id="3" name="Content Placeholder 2">
            <a:extLst>
              <a:ext uri="{FF2B5EF4-FFF2-40B4-BE49-F238E27FC236}">
                <a16:creationId xmlns:a16="http://schemas.microsoft.com/office/drawing/2014/main" id="{4213A3B7-84D9-72E5-4CDA-7A922B4F423D}"/>
              </a:ext>
            </a:extLst>
          </p:cNvPr>
          <p:cNvSpPr>
            <a:spLocks noGrp="1"/>
          </p:cNvSpPr>
          <p:nvPr>
            <p:ph idx="1"/>
          </p:nvPr>
        </p:nvSpPr>
        <p:spPr/>
        <p:txBody>
          <a:bodyPr/>
          <a:lstStyle/>
          <a:p>
            <a:endParaRPr lang="en-US"/>
          </a:p>
        </p:txBody>
      </p:sp>
      <p:pic>
        <p:nvPicPr>
          <p:cNvPr id="5" name="Picture 4" descr="Infographic poster explaining Atlas TaskFlow's observability framework, focusing on how to monitor and improve system performance in real time. It features color-coded sections with icons, charts, and checklists detailing key questions, observability pillars, telemetry data types, and user analytics to help teams detect, diagnose, and act on system issues efficiently.&#10;&#10;">
            <a:extLst>
              <a:ext uri="{FF2B5EF4-FFF2-40B4-BE49-F238E27FC236}">
                <a16:creationId xmlns:a16="http://schemas.microsoft.com/office/drawing/2014/main" id="{630FB533-F5CB-C3F7-E69B-D7FBD4067487}"/>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708016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62971-68EC-6C47-FD01-5463EC4F0F2E}"/>
              </a:ext>
            </a:extLst>
          </p:cNvPr>
          <p:cNvSpPr>
            <a:spLocks noGrp="1"/>
          </p:cNvSpPr>
          <p:nvPr>
            <p:ph type="title"/>
          </p:nvPr>
        </p:nvSpPr>
        <p:spPr/>
        <p:txBody>
          <a:bodyPr/>
          <a:lstStyle/>
          <a:p>
            <a:r>
              <a:rPr lang="en-US" dirty="0"/>
              <a:t>7-05</a:t>
            </a:r>
          </a:p>
        </p:txBody>
      </p:sp>
      <p:sp>
        <p:nvSpPr>
          <p:cNvPr id="3" name="Content Placeholder 2">
            <a:extLst>
              <a:ext uri="{FF2B5EF4-FFF2-40B4-BE49-F238E27FC236}">
                <a16:creationId xmlns:a16="http://schemas.microsoft.com/office/drawing/2014/main" id="{7083F815-67AD-9FAF-7036-3B83B26F92BD}"/>
              </a:ext>
            </a:extLst>
          </p:cNvPr>
          <p:cNvSpPr>
            <a:spLocks noGrp="1"/>
          </p:cNvSpPr>
          <p:nvPr>
            <p:ph idx="1"/>
          </p:nvPr>
        </p:nvSpPr>
        <p:spPr/>
        <p:txBody>
          <a:bodyPr/>
          <a:lstStyle/>
          <a:p>
            <a:endParaRPr lang="en-US"/>
          </a:p>
        </p:txBody>
      </p:sp>
      <p:pic>
        <p:nvPicPr>
          <p:cNvPr id="5" name="Picture 4" descr="A detailed infographic poster titled &quot;Sprint 7 Learning Poster 5&quot; from Atlas Taskflow outlines usability principles, goals, and best practices for creating user-friendly products. It features sections on user experience journey steps, usability pillars, accessibility checklist, and examples of poor versus great usability with color-coded labels, icons, and text emphasizing clarity, consistency, and user-centered design.&#10;&#10;">
            <a:extLst>
              <a:ext uri="{FF2B5EF4-FFF2-40B4-BE49-F238E27FC236}">
                <a16:creationId xmlns:a16="http://schemas.microsoft.com/office/drawing/2014/main" id="{E9BC5315-DECE-A32B-9FC3-1510C4DD0FAB}"/>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583209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020ED-120B-FB37-9B6F-C8A2375B23DF}"/>
              </a:ext>
            </a:extLst>
          </p:cNvPr>
          <p:cNvSpPr>
            <a:spLocks noGrp="1"/>
          </p:cNvSpPr>
          <p:nvPr>
            <p:ph type="title"/>
          </p:nvPr>
        </p:nvSpPr>
        <p:spPr/>
        <p:txBody>
          <a:bodyPr/>
          <a:lstStyle/>
          <a:p>
            <a:r>
              <a:rPr lang="en-US" dirty="0"/>
              <a:t>7-06</a:t>
            </a:r>
          </a:p>
        </p:txBody>
      </p:sp>
      <p:sp>
        <p:nvSpPr>
          <p:cNvPr id="3" name="Content Placeholder 2">
            <a:extLst>
              <a:ext uri="{FF2B5EF4-FFF2-40B4-BE49-F238E27FC236}">
                <a16:creationId xmlns:a16="http://schemas.microsoft.com/office/drawing/2014/main" id="{B112FCC8-2862-427A-45B1-CE7B98726790}"/>
              </a:ext>
            </a:extLst>
          </p:cNvPr>
          <p:cNvSpPr>
            <a:spLocks noGrp="1"/>
          </p:cNvSpPr>
          <p:nvPr>
            <p:ph idx="1"/>
          </p:nvPr>
        </p:nvSpPr>
        <p:spPr/>
        <p:txBody>
          <a:bodyPr/>
          <a:lstStyle/>
          <a:p>
            <a:endParaRPr lang="en-US"/>
          </a:p>
        </p:txBody>
      </p:sp>
      <p:pic>
        <p:nvPicPr>
          <p:cNvPr id="5" name="Picture 4" descr="Screenshot of a cybersecurity-themed dashboard titled &quot;Make It Secure&quot; from Atlas Taskflow, emphasizing key focus areas like identity &amp; access, data protection, threat detection, vulnerability management, and compliance &amp; privacy. The design features a central shield icon with a lock, color-coded icons for each focus area, and a section highlighting industry standards such as OWASP Top 10, SOC 2 Principles, ISO 27001 Controls, and GDPR Privacy.&#10;">
            <a:extLst>
              <a:ext uri="{FF2B5EF4-FFF2-40B4-BE49-F238E27FC236}">
                <a16:creationId xmlns:a16="http://schemas.microsoft.com/office/drawing/2014/main" id="{E915846D-ABA9-AA00-9845-703BE9A5EC54}"/>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863313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DC86-743D-9E4A-5232-3BF0B647E20B}"/>
              </a:ext>
            </a:extLst>
          </p:cNvPr>
          <p:cNvSpPr>
            <a:spLocks noGrp="1"/>
          </p:cNvSpPr>
          <p:nvPr>
            <p:ph type="title"/>
          </p:nvPr>
        </p:nvSpPr>
        <p:spPr/>
        <p:txBody>
          <a:bodyPr/>
          <a:lstStyle/>
          <a:p>
            <a:r>
              <a:rPr lang="en-US" dirty="0"/>
              <a:t>7-07</a:t>
            </a:r>
          </a:p>
        </p:txBody>
      </p:sp>
      <p:sp>
        <p:nvSpPr>
          <p:cNvPr id="9" name="Content Placeholder 8">
            <a:extLst>
              <a:ext uri="{FF2B5EF4-FFF2-40B4-BE49-F238E27FC236}">
                <a16:creationId xmlns:a16="http://schemas.microsoft.com/office/drawing/2014/main" id="{28B2568B-0B51-1F46-8D75-F5FCC99566DB}"/>
              </a:ext>
            </a:extLst>
          </p:cNvPr>
          <p:cNvSpPr>
            <a:spLocks noGrp="1"/>
          </p:cNvSpPr>
          <p:nvPr>
            <p:ph idx="1"/>
          </p:nvPr>
        </p:nvSpPr>
        <p:spPr/>
        <p:txBody>
          <a:bodyPr/>
          <a:lstStyle/>
          <a:p>
            <a:endParaRPr lang="en-US"/>
          </a:p>
        </p:txBody>
      </p:sp>
      <p:pic>
        <p:nvPicPr>
          <p:cNvPr id="11" name="Picture 10" descr="Infographic titled &quot;Make It Perform&quot; from Atlas Taskflow emphasizes optimizing software performance for speed, scalability, resource efficiency, and reliability under real-world demand. It features a rocket graphic with key focus areas like response time, scalability, resource efficiency, load and stress testing, and performance monitoring, alongside results such as happier users, greater scale, lower costs, and competitive edge.&#10;">
            <a:extLst>
              <a:ext uri="{FF2B5EF4-FFF2-40B4-BE49-F238E27FC236}">
                <a16:creationId xmlns:a16="http://schemas.microsoft.com/office/drawing/2014/main" id="{895CB6B0-4340-9CFB-962F-C6262A9AE6FA}"/>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200824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294AC-1D23-3120-A92C-E79BA21115E9}"/>
              </a:ext>
            </a:extLst>
          </p:cNvPr>
          <p:cNvSpPr>
            <a:spLocks noGrp="1"/>
          </p:cNvSpPr>
          <p:nvPr>
            <p:ph type="title"/>
          </p:nvPr>
        </p:nvSpPr>
        <p:spPr/>
        <p:txBody>
          <a:bodyPr/>
          <a:lstStyle/>
          <a:p>
            <a:r>
              <a:rPr lang="en-US" dirty="0"/>
              <a:t>7-08</a:t>
            </a:r>
          </a:p>
        </p:txBody>
      </p:sp>
      <p:sp>
        <p:nvSpPr>
          <p:cNvPr id="3" name="Content Placeholder 2">
            <a:extLst>
              <a:ext uri="{FF2B5EF4-FFF2-40B4-BE49-F238E27FC236}">
                <a16:creationId xmlns:a16="http://schemas.microsoft.com/office/drawing/2014/main" id="{CF62F277-EDF0-5DEE-EABC-576325DFB550}"/>
              </a:ext>
            </a:extLst>
          </p:cNvPr>
          <p:cNvSpPr>
            <a:spLocks noGrp="1"/>
          </p:cNvSpPr>
          <p:nvPr>
            <p:ph idx="1"/>
          </p:nvPr>
        </p:nvSpPr>
        <p:spPr/>
        <p:txBody>
          <a:bodyPr/>
          <a:lstStyle/>
          <a:p>
            <a:endParaRPr lang="en-US"/>
          </a:p>
        </p:txBody>
      </p:sp>
      <p:pic>
        <p:nvPicPr>
          <p:cNvPr id="5" name="Picture 4" descr="Screenshot of a software dashboard titled &quot;Make It Operable&quot; from Atlas Taskflow, focusing on operational excellence and system reliability. It features key focus areas like runbooks, incident management, change and release management, backups, and team knowledge, alongside visual gear icons representing clear processes, people-first approach, continuous improvement, and resilience, with standards such as ITIL 4, SRE, ISO 20000-1, NIST CSF, and Lean highlighted.&#10;">
            <a:extLst>
              <a:ext uri="{FF2B5EF4-FFF2-40B4-BE49-F238E27FC236}">
                <a16:creationId xmlns:a16="http://schemas.microsoft.com/office/drawing/2014/main" id="{CA1F298F-C60E-B7F8-BA3E-7F553645E215}"/>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952148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CF286-1DD1-0160-B75C-E5BD5DA5459B}"/>
              </a:ext>
            </a:extLst>
          </p:cNvPr>
          <p:cNvSpPr>
            <a:spLocks noGrp="1"/>
          </p:cNvSpPr>
          <p:nvPr>
            <p:ph type="title"/>
          </p:nvPr>
        </p:nvSpPr>
        <p:spPr/>
        <p:txBody>
          <a:bodyPr/>
          <a:lstStyle/>
          <a:p>
            <a:r>
              <a:rPr lang="en-US" dirty="0"/>
              <a:t>7-09</a:t>
            </a:r>
          </a:p>
        </p:txBody>
      </p:sp>
      <p:sp>
        <p:nvSpPr>
          <p:cNvPr id="3" name="Content Placeholder 2">
            <a:extLst>
              <a:ext uri="{FF2B5EF4-FFF2-40B4-BE49-F238E27FC236}">
                <a16:creationId xmlns:a16="http://schemas.microsoft.com/office/drawing/2014/main" id="{0150BFD1-781B-1B83-CE88-54E93D611407}"/>
              </a:ext>
            </a:extLst>
          </p:cNvPr>
          <p:cNvSpPr>
            <a:spLocks noGrp="1"/>
          </p:cNvSpPr>
          <p:nvPr>
            <p:ph idx="1"/>
          </p:nvPr>
        </p:nvSpPr>
        <p:spPr/>
        <p:txBody>
          <a:bodyPr/>
          <a:lstStyle/>
          <a:p>
            <a:endParaRPr lang="en-US"/>
          </a:p>
        </p:txBody>
      </p:sp>
      <p:pic>
        <p:nvPicPr>
          <p:cNvPr id="5" name="Picture 4" descr="A digital infographic titled &quot;Make It Ready&quot; from Atlas Taskflow outlines key focus areas for readiness validation, including test and quality validation, risk and issue management, compliance assessment, user acceptance testing, stakeholder sign-off, and readiness reporting. The infographic uses color-coded boxes, icons, and a central shield graphic with a checkmark to emphasize quality gate, compliance check, go-live approval, risk assessment, user acceptance, and readiness metrics, highlighting adherence to trusted readiness standards like ISO 9001 and ITIL 4.&#10;">
            <a:extLst>
              <a:ext uri="{FF2B5EF4-FFF2-40B4-BE49-F238E27FC236}">
                <a16:creationId xmlns:a16="http://schemas.microsoft.com/office/drawing/2014/main" id="{F14EC406-221C-59AE-1A19-2748206466C9}"/>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978156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5E597-7340-C8BF-5F5C-35C344EA497B}"/>
              </a:ext>
            </a:extLst>
          </p:cNvPr>
          <p:cNvSpPr>
            <a:spLocks noGrp="1"/>
          </p:cNvSpPr>
          <p:nvPr>
            <p:ph type="title"/>
          </p:nvPr>
        </p:nvSpPr>
        <p:spPr/>
        <p:txBody>
          <a:bodyPr/>
          <a:lstStyle/>
          <a:p>
            <a:r>
              <a:rPr lang="en-US" dirty="0"/>
              <a:t>7-10</a:t>
            </a:r>
          </a:p>
        </p:txBody>
      </p:sp>
      <p:sp>
        <p:nvSpPr>
          <p:cNvPr id="3" name="Content Placeholder 2">
            <a:extLst>
              <a:ext uri="{FF2B5EF4-FFF2-40B4-BE49-F238E27FC236}">
                <a16:creationId xmlns:a16="http://schemas.microsoft.com/office/drawing/2014/main" id="{89117DF1-DE31-5483-EEDC-79D43453525A}"/>
              </a:ext>
            </a:extLst>
          </p:cNvPr>
          <p:cNvSpPr>
            <a:spLocks noGrp="1"/>
          </p:cNvSpPr>
          <p:nvPr>
            <p:ph idx="1"/>
          </p:nvPr>
        </p:nvSpPr>
        <p:spPr/>
        <p:txBody>
          <a:bodyPr/>
          <a:lstStyle/>
          <a:p>
            <a:endParaRPr lang="en-US"/>
          </a:p>
        </p:txBody>
      </p:sp>
      <p:pic>
        <p:nvPicPr>
          <p:cNvPr id="5" name="Picture 4" descr="A digital infographic titled &quot;Launch Atlas&quot; from Atlas Taskflow outlines key focus areas and outcomes for a successful product launch. It features a rocket graphic with labeled sections highlighting user impact, business value, team enablement, and continuous evolution, alongside icons and color-coded focus areas such as communication, user support, and measuring success.&#10;">
            <a:extLst>
              <a:ext uri="{FF2B5EF4-FFF2-40B4-BE49-F238E27FC236}">
                <a16:creationId xmlns:a16="http://schemas.microsoft.com/office/drawing/2014/main" id="{9AA7CC31-40D4-83D5-A033-F86ACDE76F25}"/>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34282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1146</TotalTime>
  <Words>19339</Words>
  <Application>Microsoft Office PowerPoint</Application>
  <PresentationFormat>Widescreen</PresentationFormat>
  <Paragraphs>8192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7-01</vt:lpstr>
      <vt:lpstr>7-02</vt:lpstr>
      <vt:lpstr>7-03</vt:lpstr>
      <vt:lpstr>7-04</vt:lpstr>
      <vt:lpstr>7-05</vt:lpstr>
      <vt:lpstr>7-06</vt:lpstr>
      <vt:lpstr>7-07</vt:lpstr>
      <vt:lpstr>7-08</vt:lpstr>
      <vt:lpstr>7-09</vt:lpstr>
      <vt:lpstr>7-10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CT Thompson</dc:creator>
  <cp:lastModifiedBy>CT THOMPSON</cp:lastModifiedBy>
  <cp:revision>3</cp:revision>
  <dcterms:created xsi:type="dcterms:W3CDTF">2026-08-11T17:44:54Z</dcterms:created>
  <dcterms:modified xsi:type="dcterms:W3CDTF">2026-08-13T18:03:35Z</dcterms:modified>
</cp:coreProperties>
</file>