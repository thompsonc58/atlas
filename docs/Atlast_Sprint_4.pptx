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943D2F-A7DC-40BA-AD5B-CA55C546281A}"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D926CD-6670-42D0-85D8-84B9A42AA528}" type="slidenum">
              <a:rPr lang="en-US" smtClean="0"/>
              <a:t>‹#›</a:t>
            </a:fld>
            <a:endParaRPr lang="en-US"/>
          </a:p>
        </p:txBody>
      </p:sp>
    </p:spTree>
    <p:extLst>
      <p:ext uri="{BB962C8B-B14F-4D97-AF65-F5344CB8AC3E}">
        <p14:creationId xmlns:p14="http://schemas.microsoft.com/office/powerpoint/2010/main" val="1972303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ENGINEERING BRIEF</a:t>
            </a:r>
          </a:p>
          <a:p>
            <a:endParaRPr lang="en-US" dirty="0"/>
          </a:p>
          <a:p>
            <a:r>
              <a:rPr lang="en-US" dirty="0"/>
              <a:t>BUILDING A SAAS APPLICATION</a:t>
            </a:r>
          </a:p>
          <a:p>
            <a:endParaRPr lang="en-US" dirty="0"/>
          </a:p>
          <a:p>
            <a:r>
              <a:rPr lang="en-US" dirty="0"/>
              <a:t>============================================================</a:t>
            </a:r>
          </a:p>
          <a:p>
            <a:endParaRPr lang="en-US" dirty="0"/>
          </a:p>
          <a:p>
            <a:r>
              <a:rPr lang="en-US" dirty="0"/>
              <a:t>SLIDE PURPOSE</a:t>
            </a:r>
          </a:p>
          <a:p>
            <a:endParaRPr lang="en-US" dirty="0"/>
          </a:p>
          <a:p>
            <a:r>
              <a:rPr lang="en-US" dirty="0"/>
              <a:t>Welcome students into the implementation phase of Atlas </a:t>
            </a:r>
            <a:r>
              <a:rPr lang="en-US" dirty="0" err="1"/>
              <a:t>TaskFlow</a:t>
            </a:r>
            <a:r>
              <a:rPr lang="en-US" dirty="0"/>
              <a:t>.</a:t>
            </a:r>
          </a:p>
          <a:p>
            <a:endParaRPr lang="en-US" dirty="0"/>
          </a:p>
          <a:p>
            <a:r>
              <a:rPr lang="en-US" dirty="0"/>
              <a:t>This brief marks the transition from software design to software</a:t>
            </a:r>
          </a:p>
          <a:p>
            <a:r>
              <a:rPr lang="en-US" dirty="0"/>
              <a:t>development.</a:t>
            </a:r>
          </a:p>
          <a:p>
            <a:endParaRPr lang="en-US" dirty="0"/>
          </a:p>
          <a:p>
            <a:r>
              <a:rPr lang="en-US" dirty="0"/>
              <a:t>Students should leave this lesson understanding that they are no longer</a:t>
            </a:r>
          </a:p>
          <a:p>
            <a:r>
              <a:rPr lang="en-US" dirty="0"/>
              <a:t>planning the application—they are now building it.</a:t>
            </a:r>
          </a:p>
          <a:p>
            <a:endParaRPr lang="en-US" dirty="0"/>
          </a:p>
          <a:p>
            <a:r>
              <a:rPr lang="en-US" dirty="0"/>
              <a:t>This sprint introduces the foundations of a cloud-hosted SaaS</a:t>
            </a:r>
          </a:p>
          <a:p>
            <a:r>
              <a:rPr lang="en-US" dirty="0"/>
              <a:t>application using ASP.NET Core MVC, while keeping the focus on software</a:t>
            </a:r>
          </a:p>
          <a:p>
            <a:r>
              <a:rPr lang="en-US" dirty="0"/>
              <a:t>engineering rather than framework mastery.</a:t>
            </a:r>
          </a:p>
          <a:p>
            <a:endParaRPr lang="en-US" dirty="0"/>
          </a:p>
          <a:p>
            <a:r>
              <a:rPr lang="en-US" dirty="0"/>
              <a:t>------------------------------------------------------------</a:t>
            </a:r>
          </a:p>
          <a:p>
            <a:endParaRPr lang="en-US" dirty="0"/>
          </a:p>
          <a:p>
            <a:r>
              <a:rPr lang="en-US" dirty="0"/>
              <a:t>OPENING</a:t>
            </a:r>
          </a:p>
          <a:p>
            <a:endParaRPr lang="en-US" dirty="0"/>
          </a:p>
          <a:p>
            <a:r>
              <a:rPr lang="en-US" dirty="0"/>
              <a:t>"Good evening, engineers."</a:t>
            </a:r>
          </a:p>
          <a:p>
            <a:endParaRPr lang="en-US" dirty="0"/>
          </a:p>
          <a:p>
            <a:r>
              <a:rPr lang="en-US" dirty="0"/>
              <a:t>Pause.</a:t>
            </a:r>
          </a:p>
          <a:p>
            <a:endParaRPr lang="en-US" dirty="0"/>
          </a:p>
          <a:p>
            <a:r>
              <a:rPr lang="en-US" dirty="0"/>
              <a:t>"Last sprint..."</a:t>
            </a:r>
          </a:p>
          <a:p>
            <a:endParaRPr lang="en-US" dirty="0"/>
          </a:p>
          <a:p>
            <a:r>
              <a:rPr lang="en-US" dirty="0"/>
              <a:t>"You weren't programmers."</a:t>
            </a:r>
          </a:p>
          <a:p>
            <a:endParaRPr lang="en-US" dirty="0"/>
          </a:p>
          <a:p>
            <a:r>
              <a:rPr lang="en-US" dirty="0"/>
              <a:t>"You were software designers."</a:t>
            </a:r>
          </a:p>
          <a:p>
            <a:endParaRPr lang="en-US" dirty="0"/>
          </a:p>
          <a:p>
            <a:r>
              <a:rPr lang="en-US" dirty="0"/>
              <a:t>"You met with the client."</a:t>
            </a:r>
          </a:p>
          <a:p>
            <a:endParaRPr lang="en-US" dirty="0"/>
          </a:p>
          <a:p>
            <a:r>
              <a:rPr lang="en-US" dirty="0"/>
              <a:t>"You gathered requirements."</a:t>
            </a:r>
          </a:p>
          <a:p>
            <a:endParaRPr lang="en-US" dirty="0"/>
          </a:p>
          <a:p>
            <a:r>
              <a:rPr lang="en-US" dirty="0"/>
              <a:t>"You designed an application."</a:t>
            </a:r>
          </a:p>
          <a:p>
            <a:endParaRPr lang="en-US" dirty="0"/>
          </a:p>
          <a:p>
            <a:r>
              <a:rPr lang="en-US" dirty="0"/>
              <a:t>"You organized its architecture."</a:t>
            </a:r>
          </a:p>
          <a:p>
            <a:endParaRPr lang="en-US" dirty="0"/>
          </a:p>
          <a:p>
            <a:r>
              <a:rPr lang="en-US" dirty="0"/>
              <a:t>"And you delivered a professional design package."</a:t>
            </a:r>
          </a:p>
          <a:p>
            <a:endParaRPr lang="en-US" dirty="0"/>
          </a:p>
          <a:p>
            <a:r>
              <a:rPr lang="en-US" dirty="0"/>
              <a:t>Pause.</a:t>
            </a:r>
          </a:p>
          <a:p>
            <a:endParaRPr lang="en-US" dirty="0"/>
          </a:p>
          <a:p>
            <a:r>
              <a:rPr lang="en-US" dirty="0"/>
              <a:t>"Today..."</a:t>
            </a:r>
          </a:p>
          <a:p>
            <a:endParaRPr lang="en-US" dirty="0"/>
          </a:p>
          <a:p>
            <a:r>
              <a:rPr lang="en-US" dirty="0"/>
              <a:t>"Everything changes."</a:t>
            </a:r>
          </a:p>
          <a:p>
            <a:endParaRPr lang="en-US" dirty="0"/>
          </a:p>
          <a:p>
            <a:r>
              <a:rPr lang="en-US" dirty="0"/>
              <a:t>------------------------------------------------------------</a:t>
            </a:r>
          </a:p>
          <a:p>
            <a:endParaRPr lang="en-US" dirty="0"/>
          </a:p>
          <a:p>
            <a:r>
              <a:rPr lang="en-US" dirty="0"/>
              <a:t>THE CLIENT APPROVAL</a:t>
            </a:r>
          </a:p>
          <a:p>
            <a:endParaRPr lang="en-US" dirty="0"/>
          </a:p>
          <a:p>
            <a:r>
              <a:rPr lang="en-US" dirty="0"/>
              <a:t>Point to the Sprint Story.</a:t>
            </a:r>
          </a:p>
          <a:p>
            <a:endParaRPr lang="en-US" dirty="0"/>
          </a:p>
          <a:p>
            <a:r>
              <a:rPr lang="en-US" dirty="0"/>
              <a:t>Read it naturally.</a:t>
            </a:r>
          </a:p>
          <a:p>
            <a:endParaRPr lang="en-US" dirty="0"/>
          </a:p>
          <a:p>
            <a:r>
              <a:rPr lang="en-US" dirty="0"/>
              <a:t>"Our client has reviewed our proposal."</a:t>
            </a:r>
          </a:p>
          <a:p>
            <a:endParaRPr lang="en-US" dirty="0"/>
          </a:p>
          <a:p>
            <a:r>
              <a:rPr lang="en-US" dirty="0"/>
              <a:t>"They've approved the design."</a:t>
            </a:r>
          </a:p>
          <a:p>
            <a:endParaRPr lang="en-US" dirty="0"/>
          </a:p>
          <a:p>
            <a:r>
              <a:rPr lang="en-US" dirty="0"/>
              <a:t>"They've authorized development."</a:t>
            </a:r>
          </a:p>
          <a:p>
            <a:endParaRPr lang="en-US" dirty="0"/>
          </a:p>
          <a:p>
            <a:r>
              <a:rPr lang="en-US" dirty="0"/>
              <a:t>Explain.</a:t>
            </a:r>
          </a:p>
          <a:p>
            <a:endParaRPr lang="en-US" dirty="0"/>
          </a:p>
          <a:p>
            <a:r>
              <a:rPr lang="en-US" dirty="0"/>
              <a:t>"This is exactly what happens in professional software projects."</a:t>
            </a:r>
          </a:p>
          <a:p>
            <a:endParaRPr lang="en-US" dirty="0"/>
          </a:p>
          <a:p>
            <a:r>
              <a:rPr lang="en-US" dirty="0"/>
              <a:t>"Planning eventually ends."</a:t>
            </a:r>
          </a:p>
          <a:p>
            <a:endParaRPr lang="en-US" dirty="0"/>
          </a:p>
          <a:p>
            <a:r>
              <a:rPr lang="en-US" dirty="0"/>
              <a:t>"And engineering begins."</a:t>
            </a:r>
          </a:p>
          <a:p>
            <a:endParaRPr lang="en-US" dirty="0"/>
          </a:p>
          <a:p>
            <a:r>
              <a:rPr lang="en-US" dirty="0"/>
              <a:t>Smile.</a:t>
            </a:r>
          </a:p>
          <a:p>
            <a:endParaRPr lang="en-US" dirty="0"/>
          </a:p>
          <a:p>
            <a:r>
              <a:rPr lang="en-US" dirty="0"/>
              <a:t>"Welcome to Sprint 4."</a:t>
            </a:r>
          </a:p>
          <a:p>
            <a:endParaRPr lang="en-US" dirty="0"/>
          </a:p>
          <a:p>
            <a:r>
              <a:rPr lang="en-US" dirty="0"/>
              <a:t>------------------------------------------------------------</a:t>
            </a:r>
          </a:p>
          <a:p>
            <a:endParaRPr lang="en-US" dirty="0"/>
          </a:p>
          <a:p>
            <a:r>
              <a:rPr lang="en-US" dirty="0"/>
              <a:t>THE BIG IDEA</a:t>
            </a:r>
          </a:p>
          <a:p>
            <a:endParaRPr lang="en-US" dirty="0"/>
          </a:p>
          <a:p>
            <a:r>
              <a:rPr lang="en-US" dirty="0"/>
              <a:t>Ask the class:</a:t>
            </a:r>
          </a:p>
          <a:p>
            <a:endParaRPr lang="en-US" dirty="0"/>
          </a:p>
          <a:p>
            <a:r>
              <a:rPr lang="en-US" dirty="0"/>
              <a:t>"What is the difference between designing software..."</a:t>
            </a:r>
          </a:p>
          <a:p>
            <a:endParaRPr lang="en-US" dirty="0"/>
          </a:p>
          <a:p>
            <a:r>
              <a:rPr lang="en-US" dirty="0"/>
              <a:t>"...and building software?"</a:t>
            </a:r>
          </a:p>
          <a:p>
            <a:endParaRPr lang="en-US" dirty="0"/>
          </a:p>
          <a:p>
            <a:r>
              <a:rPr lang="en-US" dirty="0"/>
              <a:t>Allow discussion.</a:t>
            </a:r>
          </a:p>
          <a:p>
            <a:endParaRPr lang="en-US" dirty="0"/>
          </a:p>
          <a:p>
            <a:r>
              <a:rPr lang="en-US" dirty="0"/>
              <a:t>Guide them toward these ideas:</a:t>
            </a:r>
          </a:p>
          <a:p>
            <a:endParaRPr lang="en-US" dirty="0"/>
          </a:p>
          <a:p>
            <a:r>
              <a:rPr lang="en-US" dirty="0"/>
              <a:t>Design defines intent.</a:t>
            </a:r>
          </a:p>
          <a:p>
            <a:endParaRPr lang="en-US" dirty="0"/>
          </a:p>
          <a:p>
            <a:r>
              <a:rPr lang="en-US" dirty="0"/>
              <a:t>Development creates reality.</a:t>
            </a:r>
          </a:p>
          <a:p>
            <a:endParaRPr lang="en-US" dirty="0"/>
          </a:p>
          <a:p>
            <a:r>
              <a:rPr lang="en-US" dirty="0"/>
              <a:t>Explain:</a:t>
            </a:r>
          </a:p>
          <a:p>
            <a:endParaRPr lang="en-US" dirty="0"/>
          </a:p>
          <a:p>
            <a:r>
              <a:rPr lang="en-US" dirty="0"/>
              <a:t>"During Sprint 3 we answered..."</a:t>
            </a:r>
          </a:p>
          <a:p>
            <a:endParaRPr lang="en-US" dirty="0"/>
          </a:p>
          <a:p>
            <a:r>
              <a:rPr lang="en-US" dirty="0"/>
              <a:t>"What should we build?"</a:t>
            </a:r>
          </a:p>
          <a:p>
            <a:endParaRPr lang="en-US" dirty="0"/>
          </a:p>
          <a:p>
            <a:r>
              <a:rPr lang="en-US" dirty="0"/>
              <a:t>"This sprint answers..."</a:t>
            </a:r>
          </a:p>
          <a:p>
            <a:endParaRPr lang="en-US" dirty="0"/>
          </a:p>
          <a:p>
            <a:r>
              <a:rPr lang="en-US" dirty="0"/>
              <a:t>"How do we build it?"</a:t>
            </a:r>
          </a:p>
          <a:p>
            <a:endParaRPr lang="en-US" dirty="0"/>
          </a:p>
          <a:p>
            <a:r>
              <a:rPr lang="en-US" dirty="0"/>
              <a:t>------------------------------------------------------------</a:t>
            </a:r>
          </a:p>
          <a:p>
            <a:endParaRPr lang="en-US" dirty="0"/>
          </a:p>
          <a:p>
            <a:r>
              <a:rPr lang="en-US" dirty="0"/>
              <a:t>SPRINT MISSION</a:t>
            </a:r>
          </a:p>
          <a:p>
            <a:endParaRPr lang="en-US" dirty="0"/>
          </a:p>
          <a:p>
            <a:r>
              <a:rPr lang="en-US" dirty="0"/>
              <a:t>Read the mission statement.</a:t>
            </a:r>
          </a:p>
          <a:p>
            <a:endParaRPr lang="en-US" dirty="0"/>
          </a:p>
          <a:p>
            <a:r>
              <a:rPr lang="en-US" dirty="0"/>
              <a:t>"Our goal is not to finish Atlas </a:t>
            </a:r>
            <a:r>
              <a:rPr lang="en-US" dirty="0" err="1"/>
              <a:t>TaskFlow</a:t>
            </a:r>
            <a:r>
              <a:rPr lang="en-US" dirty="0"/>
              <a:t>."</a:t>
            </a:r>
          </a:p>
          <a:p>
            <a:endParaRPr lang="en-US" dirty="0"/>
          </a:p>
          <a:p>
            <a:r>
              <a:rPr lang="en-US" dirty="0"/>
              <a:t>"Our goal is to build its foundation."</a:t>
            </a:r>
          </a:p>
          <a:p>
            <a:endParaRPr lang="en-US" dirty="0"/>
          </a:p>
          <a:p>
            <a:r>
              <a:rPr lang="en-US" dirty="0"/>
              <a:t>Pause.</a:t>
            </a:r>
          </a:p>
          <a:p>
            <a:endParaRPr lang="en-US" dirty="0"/>
          </a:p>
          <a:p>
            <a:r>
              <a:rPr lang="en-US" dirty="0"/>
              <a:t>"Professional software isn't built all at once."</a:t>
            </a:r>
          </a:p>
          <a:p>
            <a:endParaRPr lang="en-US" dirty="0"/>
          </a:p>
          <a:p>
            <a:r>
              <a:rPr lang="en-US" dirty="0"/>
              <a:t>"It's built one working version at a time."</a:t>
            </a:r>
          </a:p>
          <a:p>
            <a:endParaRPr lang="en-US" dirty="0"/>
          </a:p>
          <a:p>
            <a:r>
              <a:rPr lang="en-US" dirty="0"/>
              <a:t>Introduce the term:</a:t>
            </a:r>
          </a:p>
          <a:p>
            <a:endParaRPr lang="en-US" dirty="0"/>
          </a:p>
          <a:p>
            <a:r>
              <a:rPr lang="en-US" dirty="0"/>
              <a:t>Incremental Development.</a:t>
            </a:r>
          </a:p>
          <a:p>
            <a:endParaRPr lang="en-US" dirty="0"/>
          </a:p>
          <a:p>
            <a:r>
              <a:rPr lang="en-US" dirty="0"/>
              <a:t>------------------------------------------------------------</a:t>
            </a:r>
          </a:p>
          <a:p>
            <a:endParaRPr lang="en-US" dirty="0"/>
          </a:p>
          <a:p>
            <a:r>
              <a:rPr lang="en-US" dirty="0"/>
              <a:t>LEARNING OUTCOMES</a:t>
            </a:r>
          </a:p>
          <a:p>
            <a:endParaRPr lang="en-US" dirty="0"/>
          </a:p>
          <a:p>
            <a:r>
              <a:rPr lang="en-US" dirty="0"/>
              <a:t>Walk through each outcome.</a:t>
            </a:r>
          </a:p>
          <a:p>
            <a:endParaRPr lang="en-US" dirty="0"/>
          </a:p>
          <a:p>
            <a:r>
              <a:rPr lang="en-US" dirty="0"/>
              <a:t>Notice that none of them say:</a:t>
            </a:r>
          </a:p>
          <a:p>
            <a:endParaRPr lang="en-US" dirty="0"/>
          </a:p>
          <a:p>
            <a:r>
              <a:rPr lang="en-US" dirty="0"/>
              <a:t>"Become an MVC expert."</a:t>
            </a:r>
          </a:p>
          <a:p>
            <a:endParaRPr lang="en-US" dirty="0"/>
          </a:p>
          <a:p>
            <a:r>
              <a:rPr lang="en-US" dirty="0"/>
              <a:t>Explain why.</a:t>
            </a:r>
          </a:p>
          <a:p>
            <a:endParaRPr lang="en-US" dirty="0"/>
          </a:p>
          <a:p>
            <a:r>
              <a:rPr lang="en-US" dirty="0"/>
              <a:t>"This course isn't about mastering ASP.NET."</a:t>
            </a:r>
          </a:p>
          <a:p>
            <a:endParaRPr lang="en-US" dirty="0"/>
          </a:p>
          <a:p>
            <a:r>
              <a:rPr lang="en-US" dirty="0"/>
              <a:t>"It's about understanding how cloud applications are built and</a:t>
            </a:r>
          </a:p>
          <a:p>
            <a:r>
              <a:rPr lang="en-US" dirty="0"/>
              <a:t>delivered."</a:t>
            </a:r>
          </a:p>
          <a:p>
            <a:endParaRPr lang="en-US" dirty="0"/>
          </a:p>
          <a:p>
            <a:r>
              <a:rPr lang="en-US" dirty="0"/>
              <a:t>MVC is simply the tool we'll use.</a:t>
            </a:r>
          </a:p>
          <a:p>
            <a:endParaRPr lang="en-US" dirty="0"/>
          </a:p>
          <a:p>
            <a:r>
              <a:rPr lang="en-US" dirty="0"/>
              <a:t>------------------------------------------------------------</a:t>
            </a:r>
          </a:p>
          <a:p>
            <a:endParaRPr lang="en-US" dirty="0"/>
          </a:p>
          <a:p>
            <a:r>
              <a:rPr lang="en-US" dirty="0"/>
              <a:t>ENGINEERING MINDSET</a:t>
            </a:r>
          </a:p>
          <a:p>
            <a:endParaRPr lang="en-US" dirty="0"/>
          </a:p>
          <a:p>
            <a:r>
              <a:rPr lang="en-US" dirty="0"/>
              <a:t>Read the Engineering Mindset panel.</a:t>
            </a:r>
          </a:p>
          <a:p>
            <a:endParaRPr lang="en-US" dirty="0"/>
          </a:p>
          <a:p>
            <a:r>
              <a:rPr lang="en-US" dirty="0"/>
              <a:t>Discuss.</a:t>
            </a:r>
          </a:p>
          <a:p>
            <a:endParaRPr lang="en-US" dirty="0"/>
          </a:p>
          <a:p>
            <a:r>
              <a:rPr lang="en-US" dirty="0"/>
              <a:t>"Software engineering isn't measured by the number of lines of code."</a:t>
            </a:r>
          </a:p>
          <a:p>
            <a:endParaRPr lang="en-US" dirty="0"/>
          </a:p>
          <a:p>
            <a:r>
              <a:rPr lang="en-US" dirty="0"/>
              <a:t>"It's measured by the value those lines create."</a:t>
            </a:r>
          </a:p>
          <a:p>
            <a:endParaRPr lang="en-US" dirty="0"/>
          </a:p>
          <a:p>
            <a:r>
              <a:rPr lang="en-US" dirty="0"/>
              <a:t>Point back to Sprint 3.</a:t>
            </a:r>
          </a:p>
          <a:p>
            <a:endParaRPr lang="en-US" dirty="0"/>
          </a:p>
          <a:p>
            <a:r>
              <a:rPr lang="en-US" dirty="0"/>
              <a:t>"Every line of code we write should trace back to a requirement."</a:t>
            </a:r>
          </a:p>
          <a:p>
            <a:endParaRPr lang="en-US" dirty="0"/>
          </a:p>
          <a:p>
            <a:r>
              <a:rPr lang="en-US" dirty="0"/>
              <a:t>"That's why we spent so much time designing first."</a:t>
            </a:r>
          </a:p>
          <a:p>
            <a:endParaRPr lang="en-US" dirty="0"/>
          </a:p>
          <a:p>
            <a:r>
              <a:rPr lang="en-US" dirty="0"/>
              <a:t>------------------------------------------------------------</a:t>
            </a:r>
          </a:p>
          <a:p>
            <a:endParaRPr lang="en-US" dirty="0"/>
          </a:p>
          <a:p>
            <a:r>
              <a:rPr lang="en-US" dirty="0"/>
              <a:t>SPRINT DELIVERABLES</a:t>
            </a:r>
          </a:p>
          <a:p>
            <a:endParaRPr lang="en-US" dirty="0"/>
          </a:p>
          <a:p>
            <a:r>
              <a:rPr lang="en-US" dirty="0"/>
              <a:t>Walk through each deliverable.</a:t>
            </a:r>
          </a:p>
          <a:p>
            <a:endParaRPr lang="en-US" dirty="0"/>
          </a:p>
          <a:p>
            <a:r>
              <a:rPr lang="en-US" dirty="0"/>
              <a:t>MVC Project</a:t>
            </a:r>
          </a:p>
          <a:p>
            <a:endParaRPr lang="en-US" dirty="0"/>
          </a:p>
          <a:p>
            <a:r>
              <a:rPr lang="en-US" dirty="0"/>
              <a:t>Navigation</a:t>
            </a:r>
          </a:p>
          <a:p>
            <a:endParaRPr lang="en-US" dirty="0"/>
          </a:p>
          <a:p>
            <a:r>
              <a:rPr lang="en-US" dirty="0"/>
              <a:t>Dashboard</a:t>
            </a:r>
          </a:p>
          <a:p>
            <a:endParaRPr lang="en-US" dirty="0"/>
          </a:p>
          <a:p>
            <a:r>
              <a:rPr lang="en-US" dirty="0" err="1"/>
              <a:t>TaskFlow</a:t>
            </a:r>
            <a:r>
              <a:rPr lang="en-US" dirty="0"/>
              <a:t> Pages</a:t>
            </a:r>
          </a:p>
          <a:p>
            <a:endParaRPr lang="en-US" dirty="0"/>
          </a:p>
          <a:p>
            <a:r>
              <a:rPr lang="en-US" dirty="0"/>
              <a:t>GitHub Repository</a:t>
            </a:r>
          </a:p>
          <a:p>
            <a:endParaRPr lang="en-US" dirty="0"/>
          </a:p>
          <a:p>
            <a:r>
              <a:rPr lang="en-US" dirty="0"/>
              <a:t>Azure Deployment</a:t>
            </a:r>
          </a:p>
          <a:p>
            <a:endParaRPr lang="en-US" dirty="0"/>
          </a:p>
          <a:p>
            <a:r>
              <a:rPr lang="en-US" dirty="0"/>
              <a:t>Explain.</a:t>
            </a:r>
          </a:p>
          <a:p>
            <a:endParaRPr lang="en-US" dirty="0"/>
          </a:p>
          <a:p>
            <a:r>
              <a:rPr lang="en-US" dirty="0"/>
              <a:t>"Notice something."</a:t>
            </a:r>
          </a:p>
          <a:p>
            <a:endParaRPr lang="en-US" dirty="0"/>
          </a:p>
          <a:p>
            <a:r>
              <a:rPr lang="en-US" dirty="0"/>
              <a:t>"Every deliverable is something you can demonstrate."</a:t>
            </a:r>
          </a:p>
          <a:p>
            <a:endParaRPr lang="en-US" dirty="0"/>
          </a:p>
          <a:p>
            <a:r>
              <a:rPr lang="en-US" dirty="0"/>
              <a:t>"By the end of this sprint..."</a:t>
            </a:r>
          </a:p>
          <a:p>
            <a:endParaRPr lang="en-US" dirty="0"/>
          </a:p>
          <a:p>
            <a:r>
              <a:rPr lang="en-US" dirty="0"/>
              <a:t>"You'll have a real cloud application."</a:t>
            </a:r>
          </a:p>
          <a:p>
            <a:endParaRPr lang="en-US" dirty="0"/>
          </a:p>
          <a:p>
            <a:r>
              <a:rPr lang="en-US" dirty="0"/>
              <a:t>------------------------------------------------------------</a:t>
            </a:r>
          </a:p>
          <a:p>
            <a:endParaRPr lang="en-US" dirty="0"/>
          </a:p>
          <a:p>
            <a:r>
              <a:rPr lang="en-US" dirty="0"/>
              <a:t>SUCCESS CRITERIA</a:t>
            </a:r>
          </a:p>
          <a:p>
            <a:endParaRPr lang="en-US" dirty="0"/>
          </a:p>
          <a:p>
            <a:r>
              <a:rPr lang="en-US" dirty="0"/>
              <a:t>Read each item.</a:t>
            </a:r>
          </a:p>
          <a:p>
            <a:endParaRPr lang="en-US" dirty="0"/>
          </a:p>
          <a:p>
            <a:r>
              <a:rPr lang="en-US" dirty="0"/>
              <a:t>Ask students:</a:t>
            </a:r>
          </a:p>
          <a:p>
            <a:endParaRPr lang="en-US" dirty="0"/>
          </a:p>
          <a:p>
            <a:r>
              <a:rPr lang="en-US" dirty="0"/>
              <a:t>"How will we know we've been successful?"</a:t>
            </a:r>
          </a:p>
          <a:p>
            <a:endParaRPr lang="en-US" dirty="0"/>
          </a:p>
          <a:p>
            <a:r>
              <a:rPr lang="en-US" dirty="0"/>
              <a:t>Guide them toward:</a:t>
            </a:r>
          </a:p>
          <a:p>
            <a:endParaRPr lang="en-US" dirty="0"/>
          </a:p>
          <a:p>
            <a:r>
              <a:rPr lang="en-US" dirty="0"/>
              <a:t>The application runs.</a:t>
            </a:r>
          </a:p>
          <a:p>
            <a:endParaRPr lang="en-US" dirty="0"/>
          </a:p>
          <a:p>
            <a:r>
              <a:rPr lang="en-US" dirty="0"/>
              <a:t>The navigation works.</a:t>
            </a:r>
          </a:p>
          <a:p>
            <a:endParaRPr lang="en-US" dirty="0"/>
          </a:p>
          <a:p>
            <a:r>
              <a:rPr lang="en-US" dirty="0"/>
              <a:t>The UI reflects the design.</a:t>
            </a:r>
          </a:p>
          <a:p>
            <a:endParaRPr lang="en-US" dirty="0"/>
          </a:p>
          <a:p>
            <a:r>
              <a:rPr lang="en-US" dirty="0"/>
              <a:t>The application is deployed.</a:t>
            </a:r>
          </a:p>
          <a:p>
            <a:endParaRPr lang="en-US" dirty="0"/>
          </a:p>
          <a:p>
            <a:r>
              <a:rPr lang="en-US" dirty="0"/>
              <a:t>Users can access it.</a:t>
            </a:r>
          </a:p>
          <a:p>
            <a:endParaRPr lang="en-US" dirty="0"/>
          </a:p>
          <a:p>
            <a:r>
              <a:rPr lang="en-US" dirty="0"/>
              <a:t>Explain.</a:t>
            </a:r>
          </a:p>
          <a:p>
            <a:endParaRPr lang="en-US" dirty="0"/>
          </a:p>
          <a:p>
            <a:r>
              <a:rPr lang="en-US" dirty="0"/>
              <a:t>"Success isn't perfection."</a:t>
            </a:r>
          </a:p>
          <a:p>
            <a:endParaRPr lang="en-US" dirty="0"/>
          </a:p>
          <a:p>
            <a:r>
              <a:rPr lang="en-US" dirty="0"/>
              <a:t>"Success is working software."</a:t>
            </a:r>
          </a:p>
          <a:p>
            <a:endParaRPr lang="en-US" dirty="0"/>
          </a:p>
          <a:p>
            <a:r>
              <a:rPr lang="en-US" dirty="0"/>
              <a:t>------------------------------------------------------------</a:t>
            </a:r>
          </a:p>
          <a:p>
            <a:endParaRPr lang="en-US" dirty="0"/>
          </a:p>
          <a:p>
            <a:r>
              <a:rPr lang="en-US" dirty="0"/>
              <a:t>SPRINT ROADMAP</a:t>
            </a:r>
          </a:p>
          <a:p>
            <a:endParaRPr lang="en-US" dirty="0"/>
          </a:p>
          <a:p>
            <a:r>
              <a:rPr lang="en-US" dirty="0"/>
              <a:t>Walk through the roadmap.</a:t>
            </a:r>
          </a:p>
          <a:p>
            <a:endParaRPr lang="en-US" dirty="0"/>
          </a:p>
          <a:p>
            <a:r>
              <a:rPr lang="en-US" dirty="0"/>
              <a:t>How SaaS Applications Work</a:t>
            </a:r>
          </a:p>
          <a:p>
            <a:endParaRPr lang="en-US" dirty="0"/>
          </a:p>
          <a:p>
            <a:r>
              <a:rPr lang="en-US" dirty="0"/>
              <a:t>↓</a:t>
            </a:r>
          </a:p>
          <a:p>
            <a:endParaRPr lang="en-US" dirty="0"/>
          </a:p>
          <a:p>
            <a:r>
              <a:rPr lang="en-US" dirty="0"/>
              <a:t>Create Atlas </a:t>
            </a:r>
            <a:r>
              <a:rPr lang="en-US" dirty="0" err="1"/>
              <a:t>TaskFlow</a:t>
            </a:r>
            <a:endParaRPr lang="en-US" dirty="0"/>
          </a:p>
          <a:p>
            <a:endParaRPr lang="en-US" dirty="0"/>
          </a:p>
          <a:p>
            <a:r>
              <a:rPr lang="en-US" dirty="0"/>
              <a:t>↓</a:t>
            </a:r>
          </a:p>
          <a:p>
            <a:endParaRPr lang="en-US" dirty="0"/>
          </a:p>
          <a:p>
            <a:r>
              <a:rPr lang="en-US" dirty="0"/>
              <a:t>Understanding MVC</a:t>
            </a:r>
          </a:p>
          <a:p>
            <a:endParaRPr lang="en-US" dirty="0"/>
          </a:p>
          <a:p>
            <a:r>
              <a:rPr lang="en-US" dirty="0"/>
              <a:t>↓</a:t>
            </a:r>
          </a:p>
          <a:p>
            <a:endParaRPr lang="en-US" dirty="0"/>
          </a:p>
          <a:p>
            <a:r>
              <a:rPr lang="en-US" dirty="0"/>
              <a:t>Build the User Interface</a:t>
            </a:r>
          </a:p>
          <a:p>
            <a:endParaRPr lang="en-US" dirty="0"/>
          </a:p>
          <a:p>
            <a:r>
              <a:rPr lang="en-US" dirty="0"/>
              <a:t>↓</a:t>
            </a:r>
          </a:p>
          <a:p>
            <a:endParaRPr lang="en-US" dirty="0"/>
          </a:p>
          <a:p>
            <a:r>
              <a:rPr lang="en-US" dirty="0"/>
              <a:t>Run &amp; Test</a:t>
            </a:r>
          </a:p>
          <a:p>
            <a:endParaRPr lang="en-US" dirty="0"/>
          </a:p>
          <a:p>
            <a:r>
              <a:rPr lang="en-US" dirty="0"/>
              <a:t>↓</a:t>
            </a:r>
          </a:p>
          <a:p>
            <a:endParaRPr lang="en-US" dirty="0"/>
          </a:p>
          <a:p>
            <a:r>
              <a:rPr lang="en-US" dirty="0"/>
              <a:t>Deploy to Azure</a:t>
            </a:r>
          </a:p>
          <a:p>
            <a:endParaRPr lang="en-US" dirty="0"/>
          </a:p>
          <a:p>
            <a:r>
              <a:rPr lang="en-US" dirty="0"/>
              <a:t>↓</a:t>
            </a:r>
          </a:p>
          <a:p>
            <a:endParaRPr lang="en-US" dirty="0"/>
          </a:p>
          <a:p>
            <a:r>
              <a:rPr lang="en-US" dirty="0"/>
              <a:t>Sprint Review</a:t>
            </a:r>
          </a:p>
          <a:p>
            <a:endParaRPr lang="en-US" dirty="0"/>
          </a:p>
          <a:p>
            <a:r>
              <a:rPr lang="en-US" dirty="0"/>
              <a:t>Explain.</a:t>
            </a:r>
          </a:p>
          <a:p>
            <a:endParaRPr lang="en-US" dirty="0"/>
          </a:p>
          <a:p>
            <a:r>
              <a:rPr lang="en-US" dirty="0"/>
              <a:t>"This roadmap should feel familiar."</a:t>
            </a:r>
          </a:p>
          <a:p>
            <a:endParaRPr lang="en-US" dirty="0"/>
          </a:p>
          <a:p>
            <a:r>
              <a:rPr lang="en-US" dirty="0"/>
              <a:t>"Every lesson moves the application forward."</a:t>
            </a:r>
          </a:p>
          <a:p>
            <a:endParaRPr lang="en-US" dirty="0"/>
          </a:p>
          <a:p>
            <a:r>
              <a:rPr lang="en-US" dirty="0"/>
              <a:t>"There are no random labs."</a:t>
            </a:r>
          </a:p>
          <a:p>
            <a:endParaRPr lang="en-US" dirty="0"/>
          </a:p>
          <a:p>
            <a:r>
              <a:rPr lang="en-US" dirty="0"/>
              <a:t>"There are no disconnected exercises."</a:t>
            </a:r>
          </a:p>
          <a:p>
            <a:endParaRPr lang="en-US" dirty="0"/>
          </a:p>
          <a:p>
            <a:r>
              <a:rPr lang="en-US" dirty="0"/>
              <a:t>"We're building one product together."</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"Every great SaaS application begins with a single successful</a:t>
            </a:r>
          </a:p>
          <a:p>
            <a:r>
              <a:rPr lang="en-US" dirty="0"/>
              <a:t>deployment."</a:t>
            </a:r>
          </a:p>
          <a:p>
            <a:endParaRPr lang="en-US" dirty="0"/>
          </a:p>
          <a:p>
            <a:r>
              <a:rPr lang="en-US" dirty="0"/>
              <a:t>Pause.</a:t>
            </a:r>
          </a:p>
          <a:p>
            <a:endParaRPr lang="en-US" dirty="0"/>
          </a:p>
          <a:p>
            <a:r>
              <a:rPr lang="en-US" dirty="0"/>
              <a:t>Then ask:</a:t>
            </a:r>
          </a:p>
          <a:p>
            <a:endParaRPr lang="en-US" dirty="0"/>
          </a:p>
          <a:p>
            <a:r>
              <a:rPr lang="en-US" dirty="0"/>
              <a:t>"What do you think the first deployment of Google looked like?"</a:t>
            </a:r>
          </a:p>
          <a:p>
            <a:endParaRPr lang="en-US" dirty="0"/>
          </a:p>
          <a:p>
            <a:r>
              <a:rPr lang="en-US" dirty="0"/>
              <a:t>Students usually laugh.</a:t>
            </a:r>
          </a:p>
          <a:p>
            <a:endParaRPr lang="en-US" dirty="0"/>
          </a:p>
          <a:p>
            <a:r>
              <a:rPr lang="en-US" dirty="0"/>
              <a:t>Explain.</a:t>
            </a:r>
          </a:p>
          <a:p>
            <a:endParaRPr lang="en-US" dirty="0"/>
          </a:p>
          <a:p>
            <a:r>
              <a:rPr lang="en-US" dirty="0"/>
              <a:t>"It probably wasn't perfect."</a:t>
            </a:r>
          </a:p>
          <a:p>
            <a:endParaRPr lang="en-US" dirty="0"/>
          </a:p>
          <a:p>
            <a:r>
              <a:rPr lang="en-US" dirty="0"/>
              <a:t>"It simply worked."</a:t>
            </a:r>
          </a:p>
          <a:p>
            <a:endParaRPr lang="en-US" dirty="0"/>
          </a:p>
          <a:p>
            <a:r>
              <a:rPr lang="en-US" dirty="0"/>
              <a:t>"And that's exactly what we're building."</a:t>
            </a:r>
          </a:p>
          <a:p>
            <a:endParaRPr lang="en-US" dirty="0"/>
          </a:p>
          <a:p>
            <a:r>
              <a:rPr lang="en-US" dirty="0"/>
              <a:t>------------------------------------------------------------</a:t>
            </a:r>
          </a:p>
          <a:p>
            <a:endParaRPr lang="en-US" dirty="0"/>
          </a:p>
          <a:p>
            <a:r>
              <a:rPr lang="en-US" dirty="0"/>
              <a:t>LOOKING AHEAD</a:t>
            </a:r>
          </a:p>
          <a:p>
            <a:endParaRPr lang="en-US" dirty="0"/>
          </a:p>
          <a:p>
            <a:r>
              <a:rPr lang="en-US" dirty="0"/>
              <a:t>Point to the final panel.</a:t>
            </a:r>
          </a:p>
          <a:p>
            <a:endParaRPr lang="en-US" dirty="0"/>
          </a:p>
          <a:p>
            <a:r>
              <a:rPr lang="en-US" dirty="0"/>
              <a:t>"Our application still has one limitation."</a:t>
            </a:r>
          </a:p>
          <a:p>
            <a:endParaRPr lang="en-US" dirty="0"/>
          </a:p>
          <a:p>
            <a:r>
              <a:rPr lang="en-US" dirty="0"/>
              <a:t>"It can't remember anything."</a:t>
            </a:r>
          </a:p>
          <a:p>
            <a:endParaRPr lang="en-US" dirty="0"/>
          </a:p>
          <a:p>
            <a:r>
              <a:rPr lang="en-US" dirty="0"/>
              <a:t>"It has no database."</a:t>
            </a:r>
          </a:p>
          <a:p>
            <a:endParaRPr lang="en-US" dirty="0"/>
          </a:p>
          <a:p>
            <a:r>
              <a:rPr lang="en-US" dirty="0"/>
              <a:t>Smile.</a:t>
            </a:r>
          </a:p>
          <a:p>
            <a:endParaRPr lang="en-US" dirty="0"/>
          </a:p>
          <a:p>
            <a:r>
              <a:rPr lang="en-US" dirty="0"/>
              <a:t>"But that's okay."</a:t>
            </a:r>
          </a:p>
          <a:p>
            <a:endParaRPr lang="en-US" dirty="0"/>
          </a:p>
          <a:p>
            <a:r>
              <a:rPr lang="en-US" dirty="0"/>
              <a:t>"One sprint at a time."</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part of Sprint 3 do you think will help us the most while</a:t>
            </a:r>
          </a:p>
          <a:p>
            <a:r>
              <a:rPr lang="en-US" dirty="0"/>
              <a:t>building?"</a:t>
            </a:r>
          </a:p>
          <a:p>
            <a:endParaRPr lang="en-US" dirty="0"/>
          </a:p>
          <a:p>
            <a:r>
              <a:rPr lang="en-US" dirty="0"/>
              <a:t>Possible answers:</a:t>
            </a:r>
          </a:p>
          <a:p>
            <a:endParaRPr lang="en-US" dirty="0"/>
          </a:p>
          <a:p>
            <a:r>
              <a:rPr lang="en-US" dirty="0"/>
              <a:t>Requirements</a:t>
            </a:r>
          </a:p>
          <a:p>
            <a:endParaRPr lang="en-US" dirty="0"/>
          </a:p>
          <a:p>
            <a:r>
              <a:rPr lang="en-US" dirty="0"/>
              <a:t>Wireframes</a:t>
            </a:r>
          </a:p>
          <a:p>
            <a:endParaRPr lang="en-US" dirty="0"/>
          </a:p>
          <a:p>
            <a:r>
              <a:rPr lang="en-US" dirty="0"/>
              <a:t>Navigation</a:t>
            </a:r>
          </a:p>
          <a:p>
            <a:endParaRPr lang="en-US" dirty="0"/>
          </a:p>
          <a:p>
            <a:r>
              <a:rPr lang="en-US" dirty="0"/>
              <a:t>User Stories</a:t>
            </a:r>
          </a:p>
          <a:p>
            <a:endParaRPr lang="en-US" dirty="0"/>
          </a:p>
          <a:p>
            <a:r>
              <a:rPr lang="en-US" dirty="0"/>
              <a:t>Personas</a:t>
            </a:r>
          </a:p>
          <a:p>
            <a:endParaRPr lang="en-US" dirty="0"/>
          </a:p>
          <a:p>
            <a:r>
              <a:rPr lang="en-US" dirty="0"/>
              <a:t>Help students recognize that every design artifact now becomes a</a:t>
            </a:r>
          </a:p>
          <a:p>
            <a:r>
              <a:rPr lang="en-US" dirty="0"/>
              <a:t>development guide.</a:t>
            </a:r>
          </a:p>
          <a:p>
            <a:endParaRPr lang="en-US" dirty="0"/>
          </a:p>
          <a:p>
            <a:r>
              <a:rPr lang="en-US" dirty="0"/>
              <a:t>------------------------------------------------------------</a:t>
            </a:r>
          </a:p>
          <a:p>
            <a:endParaRPr lang="en-US" dirty="0"/>
          </a:p>
          <a:p>
            <a:r>
              <a:rPr lang="en-US" dirty="0"/>
              <a:t>THE MOMENT</a:t>
            </a:r>
          </a:p>
          <a:p>
            <a:endParaRPr lang="en-US" dirty="0"/>
          </a:p>
          <a:p>
            <a:r>
              <a:rPr lang="en-US" dirty="0"/>
              <a:t>This is where I would slow down.</a:t>
            </a:r>
          </a:p>
          <a:p>
            <a:endParaRPr lang="en-US" dirty="0"/>
          </a:p>
          <a:p>
            <a:r>
              <a:rPr lang="en-US" dirty="0"/>
              <a:t>Walk to the center of the room.</a:t>
            </a:r>
          </a:p>
          <a:p>
            <a:endParaRPr lang="en-US" dirty="0"/>
          </a:p>
          <a:p>
            <a:r>
              <a:rPr lang="en-US" dirty="0"/>
              <a:t>Pause.</a:t>
            </a:r>
          </a:p>
          <a:p>
            <a:endParaRPr lang="en-US" dirty="0"/>
          </a:p>
          <a:p>
            <a:r>
              <a:rPr lang="en-US" dirty="0"/>
              <a:t>Then say...</a:t>
            </a:r>
          </a:p>
          <a:p>
            <a:endParaRPr lang="en-US" dirty="0"/>
          </a:p>
          <a:p>
            <a:r>
              <a:rPr lang="en-US" dirty="0"/>
              <a:t>"Three weeks ago..."</a:t>
            </a:r>
          </a:p>
          <a:p>
            <a:endParaRPr lang="en-US" dirty="0"/>
          </a:p>
          <a:p>
            <a:r>
              <a:rPr lang="en-US" dirty="0"/>
              <a:t>"You started with a blank page."</a:t>
            </a:r>
          </a:p>
          <a:p>
            <a:endParaRPr lang="en-US" dirty="0"/>
          </a:p>
          <a:p>
            <a:r>
              <a:rPr lang="en-US" dirty="0"/>
              <a:t>"You imagined an application."</a:t>
            </a:r>
          </a:p>
          <a:p>
            <a:endParaRPr lang="en-US" dirty="0"/>
          </a:p>
          <a:p>
            <a:r>
              <a:rPr lang="en-US" dirty="0"/>
              <a:t>"You designed it."</a:t>
            </a:r>
          </a:p>
          <a:p>
            <a:endParaRPr lang="en-US" dirty="0"/>
          </a:p>
          <a:p>
            <a:r>
              <a:rPr lang="en-US" dirty="0"/>
              <a:t>"You defended it."</a:t>
            </a:r>
          </a:p>
          <a:p>
            <a:endParaRPr lang="en-US" dirty="0"/>
          </a:p>
          <a:p>
            <a:r>
              <a:rPr lang="en-US" dirty="0"/>
              <a:t>"You improved it."</a:t>
            </a:r>
          </a:p>
          <a:p>
            <a:endParaRPr lang="en-US" dirty="0"/>
          </a:p>
          <a:p>
            <a:r>
              <a:rPr lang="en-US" dirty="0"/>
              <a:t>"And now..."</a:t>
            </a:r>
          </a:p>
          <a:p>
            <a:endParaRPr lang="en-US" dirty="0"/>
          </a:p>
          <a:p>
            <a:r>
              <a:rPr lang="en-US" dirty="0"/>
              <a:t>"You're about to build it."</a:t>
            </a:r>
          </a:p>
          <a:p>
            <a:endParaRPr lang="en-US" dirty="0"/>
          </a:p>
          <a:p>
            <a:r>
              <a:rPr lang="en-US" dirty="0"/>
              <a:t>Pause.</a:t>
            </a:r>
          </a:p>
          <a:p>
            <a:endParaRPr lang="en-US" dirty="0"/>
          </a:p>
          <a:p>
            <a:r>
              <a:rPr lang="en-US" dirty="0"/>
              <a:t>Look around the room.</a:t>
            </a:r>
          </a:p>
          <a:p>
            <a:endParaRPr lang="en-US" dirty="0"/>
          </a:p>
          <a:p>
            <a:r>
              <a:rPr lang="en-US" dirty="0"/>
              <a:t>Then say...</a:t>
            </a:r>
          </a:p>
          <a:p>
            <a:endParaRPr lang="en-US" dirty="0"/>
          </a:p>
          <a:p>
            <a:r>
              <a:rPr lang="en-US" dirty="0"/>
              <a:t>"Open Visual Studio."</a:t>
            </a:r>
          </a:p>
          <a:p>
            <a:endParaRPr lang="en-US" dirty="0"/>
          </a:p>
          <a:p>
            <a:r>
              <a:rPr lang="en-US" dirty="0"/>
              <a:t>Smile.</a:t>
            </a:r>
          </a:p>
          <a:p>
            <a:endParaRPr lang="en-US" dirty="0"/>
          </a:p>
          <a:p>
            <a:r>
              <a:rPr lang="en-US" dirty="0"/>
              <a:t>"Development begins."</a:t>
            </a:r>
          </a:p>
          <a:p>
            <a:endParaRPr lang="en-US" dirty="0"/>
          </a:p>
          <a:p>
            <a:r>
              <a:rPr lang="en-US" dirty="0"/>
              <a:t>------------------------------------------------------------</a:t>
            </a:r>
          </a:p>
          <a:p>
            <a:endParaRPr lang="en-US" dirty="0"/>
          </a:p>
          <a:p>
            <a:r>
              <a:rPr lang="en-US" dirty="0"/>
              <a:t>ESTIMATED TIME</a:t>
            </a:r>
          </a:p>
          <a:p>
            <a:endParaRPr lang="en-US" dirty="0"/>
          </a:p>
          <a:p>
            <a:r>
              <a:rPr lang="en-US" dirty="0"/>
              <a:t>Sprint Welcome.....................5 minutes</a:t>
            </a:r>
          </a:p>
          <a:p>
            <a:endParaRPr lang="en-US" dirty="0"/>
          </a:p>
          <a:p>
            <a:r>
              <a:rPr lang="en-US" dirty="0"/>
              <a:t>Sprint Story.......................8 minutes</a:t>
            </a:r>
          </a:p>
          <a:p>
            <a:endParaRPr lang="en-US" dirty="0"/>
          </a:p>
          <a:p>
            <a:r>
              <a:rPr lang="en-US" dirty="0"/>
              <a:t>Mission &amp; Outcomes.................8 minutes</a:t>
            </a:r>
          </a:p>
          <a:p>
            <a:endParaRPr lang="en-US" dirty="0"/>
          </a:p>
          <a:p>
            <a:r>
              <a:rPr lang="en-US" dirty="0"/>
              <a:t>Engineering Mindset................7 minutes</a:t>
            </a:r>
          </a:p>
          <a:p>
            <a:endParaRPr lang="en-US" dirty="0"/>
          </a:p>
          <a:p>
            <a:r>
              <a:rPr lang="en-US" dirty="0"/>
              <a:t>Deliverables.......................8 minutes</a:t>
            </a:r>
          </a:p>
          <a:p>
            <a:endParaRPr lang="en-US" dirty="0"/>
          </a:p>
          <a:p>
            <a:r>
              <a:rPr lang="en-US" dirty="0"/>
              <a:t>Roadmap............................7 minutes</a:t>
            </a:r>
          </a:p>
          <a:p>
            <a:endParaRPr lang="en-US" dirty="0"/>
          </a:p>
          <a:p>
            <a:r>
              <a:rPr lang="en-US" dirty="0"/>
              <a:t>Discussion.........................8 minutes</a:t>
            </a:r>
          </a:p>
          <a:p>
            <a:endParaRPr lang="en-US" dirty="0"/>
          </a:p>
          <a:p>
            <a:r>
              <a:rPr lang="en-US" dirty="0"/>
              <a:t>Closing............................4 minutes</a:t>
            </a:r>
          </a:p>
          <a:p>
            <a:endParaRPr lang="en-US" dirty="0"/>
          </a:p>
          <a:p>
            <a:r>
              <a:rPr lang="en-US" dirty="0"/>
              <a:t>Total.............................55 minutes</a:t>
            </a:r>
          </a:p>
          <a:p>
            <a:endParaRPr lang="en-US" dirty="0"/>
          </a:p>
          <a:p>
            <a:r>
              <a:rPr lang="en-US" dirty="0"/>
              <a:t>------------------------------------------------------------</a:t>
            </a:r>
          </a:p>
          <a:p>
            <a:endParaRPr lang="en-US" dirty="0"/>
          </a:p>
          <a:p>
            <a:r>
              <a:rPr lang="en-US" dirty="0"/>
              <a:t>INSTRUCTOR NOTES</a:t>
            </a:r>
          </a:p>
          <a:p>
            <a:endParaRPr lang="en-US" dirty="0"/>
          </a:p>
          <a:p>
            <a:r>
              <a:rPr lang="en-US" dirty="0"/>
              <a:t>This lecture should feel like a kickoff meeting rather than a lecture.</a:t>
            </a:r>
          </a:p>
          <a:p>
            <a:endParaRPr lang="en-US" dirty="0"/>
          </a:p>
          <a:p>
            <a:r>
              <a:rPr lang="en-US" dirty="0"/>
              <a:t>Avoid diving into technical details.</a:t>
            </a:r>
          </a:p>
          <a:p>
            <a:endParaRPr lang="en-US" dirty="0"/>
          </a:p>
          <a:p>
            <a:r>
              <a:rPr lang="en-US" dirty="0"/>
              <a:t>The purpose is to build excitement and establish the sprint's mission.</a:t>
            </a:r>
          </a:p>
          <a:p>
            <a:endParaRPr lang="en-US" dirty="0"/>
          </a:p>
          <a:p>
            <a:r>
              <a:rPr lang="en-US" dirty="0"/>
              <a:t>Keep referring back to Sprint 3 and remind students that the work they</a:t>
            </a:r>
          </a:p>
          <a:p>
            <a:r>
              <a:rPr lang="en-US" dirty="0"/>
              <a:t>completed was not theoretical—it now serves as the blueprint for the</a:t>
            </a:r>
          </a:p>
          <a:p>
            <a:r>
              <a:rPr lang="en-US" dirty="0"/>
              <a:t>application they are about to build.</a:t>
            </a:r>
          </a:p>
          <a:p>
            <a:endParaRPr lang="en-US" dirty="0"/>
          </a:p>
          <a:p>
            <a:r>
              <a:rPr lang="en-US" dirty="0"/>
              <a:t>End the class with energy.</a:t>
            </a:r>
          </a:p>
          <a:p>
            <a:endParaRPr lang="en-US" dirty="0"/>
          </a:p>
          <a:p>
            <a:r>
              <a:rPr lang="en-US" dirty="0"/>
              <a:t>Stand at the front of the room.</a:t>
            </a:r>
          </a:p>
          <a:p>
            <a:endParaRPr lang="en-US" dirty="0"/>
          </a:p>
          <a:p>
            <a:r>
              <a:rPr lang="en-US" dirty="0"/>
              <a:t>Smile.</a:t>
            </a:r>
          </a:p>
          <a:p>
            <a:endParaRPr lang="en-US" dirty="0"/>
          </a:p>
          <a:p>
            <a:r>
              <a:rPr lang="en-US" dirty="0"/>
              <a:t>Then simply say:</a:t>
            </a:r>
          </a:p>
          <a:p>
            <a:endParaRPr lang="en-US" dirty="0"/>
          </a:p>
          <a:p>
            <a:r>
              <a:rPr lang="en-US" dirty="0"/>
              <a:t>"Engineers..."</a:t>
            </a:r>
          </a:p>
          <a:p>
            <a:endParaRPr lang="en-US" dirty="0"/>
          </a:p>
          <a:p>
            <a:r>
              <a:rPr lang="en-US" dirty="0"/>
              <a:t>"The client approved our design."</a:t>
            </a:r>
          </a:p>
          <a:p>
            <a:endParaRPr lang="en-US" dirty="0"/>
          </a:p>
          <a:p>
            <a:r>
              <a:rPr lang="en-US" dirty="0"/>
              <a:t>"It's time to build."</a:t>
            </a:r>
          </a:p>
          <a:p>
            <a:endParaRPr lang="en-US" dirty="0"/>
          </a:p>
          <a:p>
            <a:r>
              <a:rPr lang="en-US" dirty="0"/>
              <a:t>"Let's open Visual Studio."</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1</a:t>
            </a:fld>
            <a:endParaRPr lang="en-US"/>
          </a:p>
        </p:txBody>
      </p:sp>
    </p:spTree>
    <p:extLst>
      <p:ext uri="{BB962C8B-B14F-4D97-AF65-F5344CB8AC3E}">
        <p14:creationId xmlns:p14="http://schemas.microsoft.com/office/powerpoint/2010/main" val="4217671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HOW A SAAS APPLICATION WORKS</a:t>
            </a:r>
          </a:p>
          <a:p>
            <a:endParaRPr lang="en-US" dirty="0"/>
          </a:p>
          <a:p>
            <a:r>
              <a:rPr lang="en-US" dirty="0"/>
              <a:t>============================================================</a:t>
            </a:r>
          </a:p>
          <a:p>
            <a:endParaRPr lang="en-US" dirty="0"/>
          </a:p>
          <a:p>
            <a:r>
              <a:rPr lang="en-US" dirty="0"/>
              <a:t>SLIDE PURPOSE</a:t>
            </a:r>
          </a:p>
          <a:p>
            <a:endParaRPr lang="en-US" dirty="0"/>
          </a:p>
          <a:p>
            <a:r>
              <a:rPr lang="en-US" dirty="0"/>
              <a:t>Introduce students to the request/response lifecycle used by modern</a:t>
            </a:r>
          </a:p>
          <a:p>
            <a:r>
              <a:rPr lang="en-US" dirty="0"/>
              <a:t>Software as a Service (SaaS) applications.</a:t>
            </a:r>
          </a:p>
          <a:p>
            <a:endParaRPr lang="en-US" dirty="0"/>
          </a:p>
          <a:p>
            <a:r>
              <a:rPr lang="en-US" dirty="0"/>
              <a:t>Students should understand how a browser communicates with a cloud-hosted</a:t>
            </a:r>
          </a:p>
          <a:p>
            <a:r>
              <a:rPr lang="en-US" dirty="0"/>
              <a:t>application and how a response is returned to the user.</a:t>
            </a:r>
          </a:p>
          <a:p>
            <a:endParaRPr lang="en-US" dirty="0"/>
          </a:p>
          <a:p>
            <a:r>
              <a:rPr lang="en-US" dirty="0"/>
              <a:t>The objective is conceptual understanding—not deep networking or ASP.NET</a:t>
            </a:r>
          </a:p>
          <a:p>
            <a:r>
              <a:rPr lang="en-US" dirty="0"/>
              <a:t>internals.</a:t>
            </a:r>
          </a:p>
          <a:p>
            <a:endParaRPr lang="en-US" dirty="0"/>
          </a:p>
          <a:p>
            <a:r>
              <a:rPr lang="en-US" dirty="0"/>
              <a:t>------------------------------------------------------------</a:t>
            </a:r>
          </a:p>
          <a:p>
            <a:endParaRPr lang="en-US" dirty="0"/>
          </a:p>
          <a:p>
            <a:r>
              <a:rPr lang="en-US" dirty="0"/>
              <a:t>OPENING</a:t>
            </a:r>
          </a:p>
          <a:p>
            <a:endParaRPr lang="en-US" dirty="0"/>
          </a:p>
          <a:p>
            <a:r>
              <a:rPr lang="en-US" dirty="0"/>
              <a:t>"Before we build Atlas </a:t>
            </a:r>
            <a:r>
              <a:rPr lang="en-US" dirty="0" err="1"/>
              <a:t>TaskFlow</a:t>
            </a:r>
            <a:r>
              <a:rPr lang="en-US" dirty="0"/>
              <a:t>..."</a:t>
            </a:r>
          </a:p>
          <a:p>
            <a:endParaRPr lang="en-US" dirty="0"/>
          </a:p>
          <a:p>
            <a:r>
              <a:rPr lang="en-US" dirty="0"/>
              <a:t>"I want to answer one important question."</a:t>
            </a:r>
          </a:p>
          <a:p>
            <a:endParaRPr lang="en-US" dirty="0"/>
          </a:p>
          <a:p>
            <a:r>
              <a:rPr lang="en-US" dirty="0"/>
              <a:t>"When you click a button on a website..."</a:t>
            </a:r>
          </a:p>
          <a:p>
            <a:endParaRPr lang="en-US" dirty="0"/>
          </a:p>
          <a:p>
            <a:r>
              <a:rPr lang="en-US" dirty="0"/>
              <a:t>"What actually happens?"</a:t>
            </a:r>
          </a:p>
          <a:p>
            <a:endParaRPr lang="en-US" dirty="0"/>
          </a:p>
          <a:p>
            <a:r>
              <a:rPr lang="en-US" dirty="0"/>
              <a:t>Pause.</a:t>
            </a:r>
          </a:p>
          <a:p>
            <a:endParaRPr lang="en-US" dirty="0"/>
          </a:p>
          <a:p>
            <a:r>
              <a:rPr lang="en-US" dirty="0"/>
              <a:t>"To many people..."</a:t>
            </a:r>
          </a:p>
          <a:p>
            <a:endParaRPr lang="en-US" dirty="0"/>
          </a:p>
          <a:p>
            <a:r>
              <a:rPr lang="en-US" dirty="0"/>
              <a:t>"It feels like magic."</a:t>
            </a:r>
          </a:p>
          <a:p>
            <a:endParaRPr lang="en-US" dirty="0"/>
          </a:p>
          <a:p>
            <a:r>
              <a:rPr lang="en-US" dirty="0"/>
              <a:t>"But today..."</a:t>
            </a:r>
          </a:p>
          <a:p>
            <a:endParaRPr lang="en-US" dirty="0"/>
          </a:p>
          <a:p>
            <a:r>
              <a:rPr lang="en-US" dirty="0"/>
              <a:t>"We're going to remove the magic."</a:t>
            </a:r>
          </a:p>
          <a:p>
            <a:endParaRPr lang="en-US" dirty="0"/>
          </a:p>
          <a:p>
            <a:r>
              <a:rPr lang="en-US" dirty="0"/>
              <a:t>------------------------------------------------------------</a:t>
            </a:r>
          </a:p>
          <a:p>
            <a:endParaRPr lang="en-US" dirty="0"/>
          </a:p>
          <a:p>
            <a:r>
              <a:rPr lang="en-US" dirty="0"/>
              <a:t>THE BIG IDEA</a:t>
            </a:r>
          </a:p>
          <a:p>
            <a:endParaRPr lang="en-US" dirty="0"/>
          </a:p>
          <a:p>
            <a:r>
              <a:rPr lang="en-US" dirty="0"/>
              <a:t>Point to the subtitle.</a:t>
            </a:r>
          </a:p>
          <a:p>
            <a:endParaRPr lang="en-US" dirty="0"/>
          </a:p>
          <a:p>
            <a:r>
              <a:rPr lang="en-US" dirty="0"/>
              <a:t>"Every click begins a conversation between a user and your application."</a:t>
            </a:r>
          </a:p>
          <a:p>
            <a:endParaRPr lang="en-US" dirty="0"/>
          </a:p>
          <a:p>
            <a:r>
              <a:rPr lang="en-US" dirty="0"/>
              <a:t>Ask the class:</a:t>
            </a:r>
          </a:p>
          <a:p>
            <a:endParaRPr lang="en-US" dirty="0"/>
          </a:p>
          <a:p>
            <a:r>
              <a:rPr lang="en-US" dirty="0"/>
              <a:t>"What happens after you click the Login button on a website?"</a:t>
            </a:r>
          </a:p>
          <a:p>
            <a:endParaRPr lang="en-US" dirty="0"/>
          </a:p>
          <a:p>
            <a:r>
              <a:rPr lang="en-US" dirty="0"/>
              <a:t>Allow several answers.</a:t>
            </a:r>
          </a:p>
          <a:p>
            <a:endParaRPr lang="en-US" dirty="0"/>
          </a:p>
          <a:p>
            <a:r>
              <a:rPr lang="en-US" dirty="0"/>
              <a:t>Then explain:</a:t>
            </a:r>
          </a:p>
          <a:p>
            <a:endParaRPr lang="en-US" dirty="0"/>
          </a:p>
          <a:p>
            <a:r>
              <a:rPr lang="en-US" dirty="0"/>
              <a:t>"The browser doesn't already know the answer."</a:t>
            </a:r>
          </a:p>
          <a:p>
            <a:endParaRPr lang="en-US" dirty="0"/>
          </a:p>
          <a:p>
            <a:r>
              <a:rPr lang="en-US" dirty="0"/>
              <a:t>"It has to ask."</a:t>
            </a:r>
          </a:p>
          <a:p>
            <a:endParaRPr lang="en-US" dirty="0"/>
          </a:p>
          <a:p>
            <a:r>
              <a:rPr lang="en-US" dirty="0"/>
              <a:t>"And that's exactly what happens every time you interact with a SaaS</a:t>
            </a:r>
          </a:p>
          <a:p>
            <a:r>
              <a:rPr lang="en-US" dirty="0"/>
              <a:t>application."</a:t>
            </a:r>
          </a:p>
          <a:p>
            <a:endParaRPr lang="en-US" dirty="0"/>
          </a:p>
          <a:p>
            <a:r>
              <a:rPr lang="en-US" dirty="0"/>
              <a:t>------------------------------------------------------------</a:t>
            </a:r>
          </a:p>
          <a:p>
            <a:endParaRPr lang="en-US" dirty="0"/>
          </a:p>
          <a:p>
            <a:r>
              <a:rPr lang="en-US" dirty="0"/>
              <a:t>WHAT IS SAAS?</a:t>
            </a:r>
          </a:p>
          <a:p>
            <a:endParaRPr lang="en-US" dirty="0"/>
          </a:p>
          <a:p>
            <a:r>
              <a:rPr lang="en-US" dirty="0"/>
              <a:t>Point to the definition at the top.</a:t>
            </a:r>
          </a:p>
          <a:p>
            <a:endParaRPr lang="en-US" dirty="0"/>
          </a:p>
          <a:p>
            <a:r>
              <a:rPr lang="en-US" dirty="0"/>
              <a:t>Explain:</a:t>
            </a:r>
          </a:p>
          <a:p>
            <a:endParaRPr lang="en-US" dirty="0"/>
          </a:p>
          <a:p>
            <a:r>
              <a:rPr lang="en-US" dirty="0"/>
              <a:t>"A Software as a Service application is hosted in the cloud."</a:t>
            </a:r>
          </a:p>
          <a:p>
            <a:endParaRPr lang="en-US" dirty="0"/>
          </a:p>
          <a:p>
            <a:r>
              <a:rPr lang="en-US" dirty="0"/>
              <a:t>"You don't install it."</a:t>
            </a:r>
          </a:p>
          <a:p>
            <a:endParaRPr lang="en-US" dirty="0"/>
          </a:p>
          <a:p>
            <a:r>
              <a:rPr lang="en-US" dirty="0"/>
              <a:t>"You simply open a browser."</a:t>
            </a:r>
          </a:p>
          <a:p>
            <a:endParaRPr lang="en-US" dirty="0"/>
          </a:p>
          <a:p>
            <a:r>
              <a:rPr lang="en-US" dirty="0"/>
              <a:t>Ask students:</a:t>
            </a:r>
          </a:p>
          <a:p>
            <a:endParaRPr lang="en-US" dirty="0"/>
          </a:p>
          <a:p>
            <a:r>
              <a:rPr lang="en-US" dirty="0"/>
              <a:t>"How many of you installed Microsoft Teams?"</a:t>
            </a:r>
          </a:p>
          <a:p>
            <a:endParaRPr lang="en-US" dirty="0"/>
          </a:p>
          <a:p>
            <a:r>
              <a:rPr lang="en-US" dirty="0"/>
              <a:t>Most will say no.</a:t>
            </a:r>
          </a:p>
          <a:p>
            <a:endParaRPr lang="en-US" dirty="0"/>
          </a:p>
          <a:p>
            <a:r>
              <a:rPr lang="en-US" dirty="0"/>
              <a:t>Continue:</a:t>
            </a:r>
          </a:p>
          <a:p>
            <a:endParaRPr lang="en-US" dirty="0"/>
          </a:p>
          <a:p>
            <a:r>
              <a:rPr lang="en-US" dirty="0"/>
              <a:t>"You opened a browser."</a:t>
            </a:r>
          </a:p>
          <a:p>
            <a:endParaRPr lang="en-US" dirty="0"/>
          </a:p>
          <a:p>
            <a:r>
              <a:rPr lang="en-US" dirty="0"/>
              <a:t>"Or launched an app that communicates with a cloud service."</a:t>
            </a:r>
          </a:p>
          <a:p>
            <a:endParaRPr lang="en-US" dirty="0"/>
          </a:p>
          <a:p>
            <a:r>
              <a:rPr lang="en-US" dirty="0"/>
              <a:t>"That's SaaS."</a:t>
            </a:r>
          </a:p>
          <a:p>
            <a:endParaRPr lang="en-US" dirty="0"/>
          </a:p>
          <a:p>
            <a:r>
              <a:rPr lang="en-US" dirty="0"/>
              <a:t>Give additional examples:</a:t>
            </a:r>
          </a:p>
          <a:p>
            <a:endParaRPr lang="en-US" dirty="0"/>
          </a:p>
          <a:p>
            <a:r>
              <a:rPr lang="en-US" dirty="0"/>
              <a:t>Canvas</a:t>
            </a:r>
          </a:p>
          <a:p>
            <a:endParaRPr lang="en-US" dirty="0"/>
          </a:p>
          <a:p>
            <a:r>
              <a:rPr lang="en-US" dirty="0"/>
              <a:t>Gmail</a:t>
            </a:r>
          </a:p>
          <a:p>
            <a:endParaRPr lang="en-US" dirty="0"/>
          </a:p>
          <a:p>
            <a:r>
              <a:rPr lang="en-US" dirty="0"/>
              <a:t>Spotify</a:t>
            </a:r>
          </a:p>
          <a:p>
            <a:endParaRPr lang="en-US" dirty="0"/>
          </a:p>
          <a:p>
            <a:r>
              <a:rPr lang="en-US" dirty="0"/>
              <a:t>Netflix</a:t>
            </a:r>
          </a:p>
          <a:p>
            <a:endParaRPr lang="en-US" dirty="0"/>
          </a:p>
          <a:p>
            <a:r>
              <a:rPr lang="en-US" dirty="0"/>
              <a:t>GitHub</a:t>
            </a:r>
          </a:p>
          <a:p>
            <a:endParaRPr lang="en-US" dirty="0"/>
          </a:p>
          <a:p>
            <a:r>
              <a:rPr lang="en-US" dirty="0"/>
              <a:t>Atlas </a:t>
            </a:r>
            <a:r>
              <a:rPr lang="en-US" dirty="0" err="1"/>
              <a:t>TaskFlow</a:t>
            </a:r>
            <a:endParaRPr lang="en-US" dirty="0"/>
          </a:p>
          <a:p>
            <a:endParaRPr lang="en-US" dirty="0"/>
          </a:p>
          <a:p>
            <a:r>
              <a:rPr lang="en-US" dirty="0"/>
              <a:t>------------------------------------------------------------</a:t>
            </a:r>
          </a:p>
          <a:p>
            <a:endParaRPr lang="en-US" dirty="0"/>
          </a:p>
          <a:p>
            <a:r>
              <a:rPr lang="en-US" dirty="0"/>
              <a:t>THE REQUEST / RESPONSE FLOW</a:t>
            </a:r>
          </a:p>
          <a:p>
            <a:endParaRPr lang="en-US" dirty="0"/>
          </a:p>
          <a:p>
            <a:r>
              <a:rPr lang="en-US" dirty="0"/>
              <a:t>Move to the center diagram.</a:t>
            </a:r>
          </a:p>
          <a:p>
            <a:endParaRPr lang="en-US" dirty="0"/>
          </a:p>
          <a:p>
            <a:r>
              <a:rPr lang="en-US" dirty="0"/>
              <a:t>Walk through each step slowly.</a:t>
            </a:r>
          </a:p>
          <a:p>
            <a:endParaRPr lang="en-US" dirty="0"/>
          </a:p>
          <a:p>
            <a:r>
              <a:rPr lang="en-US" dirty="0"/>
              <a:t>STEP 1</a:t>
            </a:r>
          </a:p>
          <a:p>
            <a:endParaRPr lang="en-US" dirty="0"/>
          </a:p>
          <a:p>
            <a:r>
              <a:rPr lang="en-US" dirty="0"/>
              <a:t>The User</a:t>
            </a:r>
          </a:p>
          <a:p>
            <a:endParaRPr lang="en-US" dirty="0"/>
          </a:p>
          <a:p>
            <a:r>
              <a:rPr lang="en-US" dirty="0"/>
              <a:t>Explain:</a:t>
            </a:r>
          </a:p>
          <a:p>
            <a:endParaRPr lang="en-US" dirty="0"/>
          </a:p>
          <a:p>
            <a:r>
              <a:rPr lang="en-US" dirty="0"/>
              <a:t>"Everything begins with a person."</a:t>
            </a:r>
          </a:p>
          <a:p>
            <a:endParaRPr lang="en-US" dirty="0"/>
          </a:p>
          <a:p>
            <a:r>
              <a:rPr lang="en-US" dirty="0"/>
              <a:t>"They click."</a:t>
            </a:r>
          </a:p>
          <a:p>
            <a:endParaRPr lang="en-US" dirty="0"/>
          </a:p>
          <a:p>
            <a:r>
              <a:rPr lang="en-US" dirty="0"/>
              <a:t>"They type."</a:t>
            </a:r>
          </a:p>
          <a:p>
            <a:endParaRPr lang="en-US" dirty="0"/>
          </a:p>
          <a:p>
            <a:r>
              <a:rPr lang="en-US" dirty="0"/>
              <a:t>"They search."</a:t>
            </a:r>
          </a:p>
          <a:p>
            <a:endParaRPr lang="en-US" dirty="0"/>
          </a:p>
          <a:p>
            <a:r>
              <a:rPr lang="en-US" dirty="0"/>
              <a:t>"They interact."</a:t>
            </a:r>
          </a:p>
          <a:p>
            <a:endParaRPr lang="en-US" dirty="0"/>
          </a:p>
          <a:p>
            <a:r>
              <a:rPr lang="en-US" dirty="0"/>
              <a:t>Without users...</a:t>
            </a:r>
          </a:p>
          <a:p>
            <a:endParaRPr lang="en-US" dirty="0"/>
          </a:p>
          <a:p>
            <a:r>
              <a:rPr lang="en-US" dirty="0"/>
              <a:t>There is no application.</a:t>
            </a:r>
          </a:p>
          <a:p>
            <a:endParaRPr lang="en-US" dirty="0"/>
          </a:p>
          <a:p>
            <a:r>
              <a:rPr lang="en-US" dirty="0"/>
              <a:t>------------------------------------------------------------</a:t>
            </a:r>
          </a:p>
          <a:p>
            <a:endParaRPr lang="en-US" dirty="0"/>
          </a:p>
          <a:p>
            <a:r>
              <a:rPr lang="en-US" dirty="0"/>
              <a:t>STEP 2</a:t>
            </a:r>
          </a:p>
          <a:p>
            <a:endParaRPr lang="en-US" dirty="0"/>
          </a:p>
          <a:p>
            <a:r>
              <a:rPr lang="en-US" dirty="0"/>
              <a:t>Browser</a:t>
            </a:r>
          </a:p>
          <a:p>
            <a:endParaRPr lang="en-US" dirty="0"/>
          </a:p>
          <a:p>
            <a:r>
              <a:rPr lang="en-US" dirty="0"/>
              <a:t>Explain:</a:t>
            </a:r>
          </a:p>
          <a:p>
            <a:endParaRPr lang="en-US" dirty="0"/>
          </a:p>
          <a:p>
            <a:r>
              <a:rPr lang="en-US" dirty="0"/>
              <a:t>"The browser is simply the messenger."</a:t>
            </a:r>
          </a:p>
          <a:p>
            <a:endParaRPr lang="en-US" dirty="0"/>
          </a:p>
          <a:p>
            <a:r>
              <a:rPr lang="en-US" dirty="0"/>
              <a:t>"It packages your request."</a:t>
            </a:r>
          </a:p>
          <a:p>
            <a:endParaRPr lang="en-US" dirty="0"/>
          </a:p>
          <a:p>
            <a:r>
              <a:rPr lang="en-US" dirty="0"/>
              <a:t>"And sends it securely across the Internet."</a:t>
            </a:r>
          </a:p>
          <a:p>
            <a:endParaRPr lang="en-US" dirty="0"/>
          </a:p>
          <a:p>
            <a:r>
              <a:rPr lang="en-US" dirty="0"/>
              <a:t>Point to HTTPS.</a:t>
            </a:r>
          </a:p>
          <a:p>
            <a:endParaRPr lang="en-US" dirty="0"/>
          </a:p>
          <a:p>
            <a:r>
              <a:rPr lang="en-US" dirty="0"/>
              <a:t>Explain:</a:t>
            </a:r>
          </a:p>
          <a:p>
            <a:endParaRPr lang="en-US" dirty="0"/>
          </a:p>
          <a:p>
            <a:r>
              <a:rPr lang="en-US" dirty="0"/>
              <a:t>"The 'S' stands for Secure."</a:t>
            </a:r>
          </a:p>
          <a:p>
            <a:endParaRPr lang="en-US" dirty="0"/>
          </a:p>
          <a:p>
            <a:r>
              <a:rPr lang="en-US" dirty="0"/>
              <a:t>"This protects communication between the user and the application."</a:t>
            </a:r>
          </a:p>
          <a:p>
            <a:endParaRPr lang="en-US" dirty="0"/>
          </a:p>
          <a:p>
            <a:r>
              <a:rPr lang="en-US" dirty="0"/>
              <a:t>No need to discuss certificates or encryption in detail.</a:t>
            </a:r>
          </a:p>
          <a:p>
            <a:endParaRPr lang="en-US" dirty="0"/>
          </a:p>
          <a:p>
            <a:r>
              <a:rPr lang="en-US" dirty="0"/>
              <a:t>------------------------------------------------------------</a:t>
            </a:r>
          </a:p>
          <a:p>
            <a:endParaRPr lang="en-US" dirty="0"/>
          </a:p>
          <a:p>
            <a:r>
              <a:rPr lang="en-US" dirty="0"/>
              <a:t>STEP 3</a:t>
            </a:r>
          </a:p>
          <a:p>
            <a:endParaRPr lang="en-US" dirty="0"/>
          </a:p>
          <a:p>
            <a:r>
              <a:rPr lang="en-US" dirty="0"/>
              <a:t>Azure App Service</a:t>
            </a:r>
          </a:p>
          <a:p>
            <a:endParaRPr lang="en-US" dirty="0"/>
          </a:p>
          <a:p>
            <a:r>
              <a:rPr lang="en-US" dirty="0"/>
              <a:t>Point to Azure.</a:t>
            </a:r>
          </a:p>
          <a:p>
            <a:endParaRPr lang="en-US" dirty="0"/>
          </a:p>
          <a:p>
            <a:r>
              <a:rPr lang="en-US" dirty="0"/>
              <a:t>Explain:</a:t>
            </a:r>
          </a:p>
          <a:p>
            <a:endParaRPr lang="en-US" dirty="0"/>
          </a:p>
          <a:p>
            <a:r>
              <a:rPr lang="en-US" dirty="0"/>
              <a:t>"This is where our application lives."</a:t>
            </a:r>
          </a:p>
          <a:p>
            <a:endParaRPr lang="en-US" dirty="0"/>
          </a:p>
          <a:p>
            <a:r>
              <a:rPr lang="en-US" dirty="0"/>
              <a:t>Not on our laptop.</a:t>
            </a:r>
          </a:p>
          <a:p>
            <a:endParaRPr lang="en-US" dirty="0"/>
          </a:p>
          <a:p>
            <a:r>
              <a:rPr lang="en-US" dirty="0"/>
              <a:t>Not inside the browser.</a:t>
            </a:r>
          </a:p>
          <a:p>
            <a:endParaRPr lang="en-US" dirty="0"/>
          </a:p>
          <a:p>
            <a:r>
              <a:rPr lang="en-US" dirty="0"/>
              <a:t>In the cloud.</a:t>
            </a:r>
          </a:p>
          <a:p>
            <a:endParaRPr lang="en-US" dirty="0"/>
          </a:p>
          <a:p>
            <a:r>
              <a:rPr lang="en-US" dirty="0"/>
              <a:t>Pause.</a:t>
            </a:r>
          </a:p>
          <a:p>
            <a:endParaRPr lang="en-US" dirty="0"/>
          </a:p>
          <a:p>
            <a:r>
              <a:rPr lang="en-US" dirty="0"/>
              <a:t>Ask:</a:t>
            </a:r>
          </a:p>
          <a:p>
            <a:endParaRPr lang="en-US" dirty="0"/>
          </a:p>
          <a:p>
            <a:r>
              <a:rPr lang="en-US" dirty="0"/>
              <a:t>"If your computer shuts off..."</a:t>
            </a:r>
          </a:p>
          <a:p>
            <a:endParaRPr lang="en-US" dirty="0"/>
          </a:p>
          <a:p>
            <a:r>
              <a:rPr lang="en-US" dirty="0"/>
              <a:t>"Can users still access Atlas </a:t>
            </a:r>
            <a:r>
              <a:rPr lang="en-US" dirty="0" err="1"/>
              <a:t>TaskFlow</a:t>
            </a:r>
            <a:r>
              <a:rPr lang="en-US" dirty="0"/>
              <a:t>?"</a:t>
            </a:r>
          </a:p>
          <a:p>
            <a:endParaRPr lang="en-US" dirty="0"/>
          </a:p>
          <a:p>
            <a:r>
              <a:rPr lang="en-US" dirty="0"/>
              <a:t>Students answer:</a:t>
            </a:r>
          </a:p>
          <a:p>
            <a:endParaRPr lang="en-US" dirty="0"/>
          </a:p>
          <a:p>
            <a:r>
              <a:rPr lang="en-US" dirty="0"/>
              <a:t>"Yes."</a:t>
            </a:r>
          </a:p>
          <a:p>
            <a:endParaRPr lang="en-US" dirty="0"/>
          </a:p>
          <a:p>
            <a:r>
              <a:rPr lang="en-US" dirty="0"/>
              <a:t>Explain why.</a:t>
            </a:r>
          </a:p>
          <a:p>
            <a:endParaRPr lang="en-US" dirty="0"/>
          </a:p>
          <a:p>
            <a:r>
              <a:rPr lang="en-US" dirty="0"/>
              <a:t>------------------------------------------------------------</a:t>
            </a:r>
          </a:p>
          <a:p>
            <a:endParaRPr lang="en-US" dirty="0"/>
          </a:p>
          <a:p>
            <a:r>
              <a:rPr lang="en-US" dirty="0"/>
              <a:t>STEP 4</a:t>
            </a:r>
          </a:p>
          <a:p>
            <a:endParaRPr lang="en-US" dirty="0"/>
          </a:p>
          <a:p>
            <a:r>
              <a:rPr lang="en-US" dirty="0"/>
              <a:t>Atlas </a:t>
            </a:r>
            <a:r>
              <a:rPr lang="en-US" dirty="0" err="1"/>
              <a:t>TaskFlow</a:t>
            </a:r>
            <a:endParaRPr lang="en-US" dirty="0"/>
          </a:p>
          <a:p>
            <a:endParaRPr lang="en-US" dirty="0"/>
          </a:p>
          <a:p>
            <a:r>
              <a:rPr lang="en-US" dirty="0"/>
              <a:t>Point to the MVC icon.</a:t>
            </a:r>
          </a:p>
          <a:p>
            <a:endParaRPr lang="en-US" dirty="0"/>
          </a:p>
          <a:p>
            <a:r>
              <a:rPr lang="en-US" dirty="0"/>
              <a:t>Explain:</a:t>
            </a:r>
          </a:p>
          <a:p>
            <a:endParaRPr lang="en-US" dirty="0"/>
          </a:p>
          <a:p>
            <a:r>
              <a:rPr lang="en-US" dirty="0"/>
              <a:t>"This is our application."</a:t>
            </a:r>
          </a:p>
          <a:p>
            <a:endParaRPr lang="en-US" dirty="0"/>
          </a:p>
          <a:p>
            <a:r>
              <a:rPr lang="en-US" dirty="0"/>
              <a:t>"It receives the request."</a:t>
            </a:r>
          </a:p>
          <a:p>
            <a:endParaRPr lang="en-US" dirty="0"/>
          </a:p>
          <a:p>
            <a:r>
              <a:rPr lang="en-US" dirty="0"/>
              <a:t>"It decides what information is needed."</a:t>
            </a:r>
          </a:p>
          <a:p>
            <a:endParaRPr lang="en-US" dirty="0"/>
          </a:p>
          <a:p>
            <a:r>
              <a:rPr lang="en-US" dirty="0"/>
              <a:t>"It builds the page."</a:t>
            </a:r>
          </a:p>
          <a:p>
            <a:endParaRPr lang="en-US" dirty="0"/>
          </a:p>
          <a:p>
            <a:r>
              <a:rPr lang="en-US" dirty="0"/>
              <a:t>Emphasize:</a:t>
            </a:r>
          </a:p>
          <a:p>
            <a:endParaRPr lang="en-US" dirty="0"/>
          </a:p>
          <a:p>
            <a:r>
              <a:rPr lang="en-US" dirty="0"/>
              <a:t>"This is where our code executes."</a:t>
            </a:r>
          </a:p>
          <a:p>
            <a:endParaRPr lang="en-US" dirty="0"/>
          </a:p>
          <a:p>
            <a:r>
              <a:rPr lang="en-US" dirty="0"/>
              <a:t>Pause.</a:t>
            </a:r>
          </a:p>
          <a:p>
            <a:endParaRPr lang="en-US" dirty="0"/>
          </a:p>
          <a:p>
            <a:r>
              <a:rPr lang="en-US" dirty="0"/>
              <a:t>"This..."</a:t>
            </a:r>
          </a:p>
          <a:p>
            <a:endParaRPr lang="en-US" dirty="0"/>
          </a:p>
          <a:p>
            <a:r>
              <a:rPr lang="en-US" dirty="0"/>
              <a:t>"is why we're learning MVC."</a:t>
            </a:r>
          </a:p>
          <a:p>
            <a:endParaRPr lang="en-US" dirty="0"/>
          </a:p>
          <a:p>
            <a:r>
              <a:rPr lang="en-US" dirty="0"/>
              <a:t>------------------------------------------------------------</a:t>
            </a:r>
          </a:p>
          <a:p>
            <a:endParaRPr lang="en-US" dirty="0"/>
          </a:p>
          <a:p>
            <a:r>
              <a:rPr lang="en-US" dirty="0"/>
              <a:t>STEP 5</a:t>
            </a:r>
          </a:p>
          <a:p>
            <a:endParaRPr lang="en-US" dirty="0"/>
          </a:p>
          <a:p>
            <a:r>
              <a:rPr lang="en-US" dirty="0"/>
              <a:t>HTML RESPONSE</a:t>
            </a:r>
          </a:p>
          <a:p>
            <a:endParaRPr lang="en-US" dirty="0"/>
          </a:p>
          <a:p>
            <a:r>
              <a:rPr lang="en-US" dirty="0"/>
              <a:t>Point to the response.</a:t>
            </a:r>
          </a:p>
          <a:p>
            <a:endParaRPr lang="en-US" dirty="0"/>
          </a:p>
          <a:p>
            <a:r>
              <a:rPr lang="en-US" dirty="0"/>
              <a:t>Explain:</a:t>
            </a:r>
          </a:p>
          <a:p>
            <a:endParaRPr lang="en-US" dirty="0"/>
          </a:p>
          <a:p>
            <a:r>
              <a:rPr lang="en-US" dirty="0"/>
              <a:t>"Our application creates HTML."</a:t>
            </a:r>
          </a:p>
          <a:p>
            <a:endParaRPr lang="en-US" dirty="0"/>
          </a:p>
          <a:p>
            <a:r>
              <a:rPr lang="en-US" dirty="0"/>
              <a:t>"It sends that HTML back to the browser."</a:t>
            </a:r>
          </a:p>
          <a:p>
            <a:endParaRPr lang="en-US" dirty="0"/>
          </a:p>
          <a:p>
            <a:r>
              <a:rPr lang="en-US" dirty="0"/>
              <a:t>"The browser displays the page."</a:t>
            </a:r>
          </a:p>
          <a:p>
            <a:endParaRPr lang="en-US" dirty="0"/>
          </a:p>
          <a:p>
            <a:r>
              <a:rPr lang="en-US" dirty="0"/>
              <a:t>Students often think the browser creates the page.</a:t>
            </a:r>
          </a:p>
          <a:p>
            <a:endParaRPr lang="en-US" dirty="0"/>
          </a:p>
          <a:p>
            <a:r>
              <a:rPr lang="en-US" dirty="0"/>
              <a:t>Clarify:</a:t>
            </a:r>
          </a:p>
          <a:p>
            <a:endParaRPr lang="en-US" dirty="0"/>
          </a:p>
          <a:p>
            <a:r>
              <a:rPr lang="en-US" dirty="0"/>
              <a:t>"The browser displays the page."</a:t>
            </a:r>
          </a:p>
          <a:p>
            <a:endParaRPr lang="en-US" dirty="0"/>
          </a:p>
          <a:p>
            <a:r>
              <a:rPr lang="en-US" dirty="0"/>
              <a:t>"Our application builds it."</a:t>
            </a:r>
          </a:p>
          <a:p>
            <a:endParaRPr lang="en-US" dirty="0"/>
          </a:p>
          <a:p>
            <a:r>
              <a:rPr lang="en-US" dirty="0"/>
              <a:t>------------------------------------------------------------</a:t>
            </a:r>
          </a:p>
          <a:p>
            <a:endParaRPr lang="en-US" dirty="0"/>
          </a:p>
          <a:p>
            <a:r>
              <a:rPr lang="en-US" dirty="0"/>
              <a:t>THE RETURN TRIP</a:t>
            </a:r>
          </a:p>
          <a:p>
            <a:endParaRPr lang="en-US" dirty="0"/>
          </a:p>
          <a:p>
            <a:r>
              <a:rPr lang="en-US" dirty="0"/>
              <a:t>Follow the purple arrow.</a:t>
            </a:r>
          </a:p>
          <a:p>
            <a:endParaRPr lang="en-US" dirty="0"/>
          </a:p>
          <a:p>
            <a:r>
              <a:rPr lang="en-US" dirty="0"/>
              <a:t>Explain:</a:t>
            </a:r>
          </a:p>
          <a:p>
            <a:endParaRPr lang="en-US" dirty="0"/>
          </a:p>
          <a:p>
            <a:r>
              <a:rPr lang="en-US" dirty="0"/>
              <a:t>"Notice something."</a:t>
            </a:r>
          </a:p>
          <a:p>
            <a:endParaRPr lang="en-US" dirty="0"/>
          </a:p>
          <a:p>
            <a:r>
              <a:rPr lang="en-US" dirty="0"/>
              <a:t>"The conversation isn't finished."</a:t>
            </a:r>
          </a:p>
          <a:p>
            <a:endParaRPr lang="en-US" dirty="0"/>
          </a:p>
          <a:p>
            <a:r>
              <a:rPr lang="en-US" dirty="0"/>
              <a:t>"As soon as the user clicks again..."</a:t>
            </a:r>
          </a:p>
          <a:p>
            <a:endParaRPr lang="en-US" dirty="0"/>
          </a:p>
          <a:p>
            <a:r>
              <a:rPr lang="en-US" dirty="0"/>
              <a:t>"The entire process repeats."</a:t>
            </a:r>
          </a:p>
          <a:p>
            <a:endParaRPr lang="en-US" dirty="0"/>
          </a:p>
          <a:p>
            <a:r>
              <a:rPr lang="en-US" dirty="0"/>
              <a:t>Millions of times every day.</a:t>
            </a:r>
          </a:p>
          <a:p>
            <a:endParaRPr lang="en-US" dirty="0"/>
          </a:p>
          <a:p>
            <a:r>
              <a:rPr lang="en-US" dirty="0"/>
              <a:t>------------------------------------------------------------</a:t>
            </a:r>
          </a:p>
          <a:p>
            <a:endParaRPr lang="en-US" dirty="0"/>
          </a:p>
          <a:p>
            <a:r>
              <a:rPr lang="en-US" dirty="0"/>
              <a:t>REQUEST PANEL</a:t>
            </a:r>
          </a:p>
          <a:p>
            <a:endParaRPr lang="en-US" dirty="0"/>
          </a:p>
          <a:p>
            <a:r>
              <a:rPr lang="en-US" dirty="0"/>
              <a:t>Walk through the Request panel.</a:t>
            </a:r>
          </a:p>
          <a:p>
            <a:endParaRPr lang="en-US" dirty="0"/>
          </a:p>
          <a:p>
            <a:r>
              <a:rPr lang="en-US" dirty="0"/>
              <a:t>Click</a:t>
            </a:r>
          </a:p>
          <a:p>
            <a:endParaRPr lang="en-US" dirty="0"/>
          </a:p>
          <a:p>
            <a:r>
              <a:rPr lang="en-US" dirty="0"/>
              <a:t>↓</a:t>
            </a:r>
          </a:p>
          <a:p>
            <a:endParaRPr lang="en-US" dirty="0"/>
          </a:p>
          <a:p>
            <a:r>
              <a:rPr lang="en-US" dirty="0"/>
              <a:t>HTTPS Request</a:t>
            </a:r>
          </a:p>
          <a:p>
            <a:endParaRPr lang="en-US" dirty="0"/>
          </a:p>
          <a:p>
            <a:r>
              <a:rPr lang="en-US" dirty="0"/>
              <a:t>↓</a:t>
            </a:r>
          </a:p>
          <a:p>
            <a:endParaRPr lang="en-US" dirty="0"/>
          </a:p>
          <a:p>
            <a:r>
              <a:rPr lang="en-US" dirty="0"/>
              <a:t>Azure</a:t>
            </a:r>
          </a:p>
          <a:p>
            <a:endParaRPr lang="en-US" dirty="0"/>
          </a:p>
          <a:p>
            <a:r>
              <a:rPr lang="en-US" dirty="0"/>
              <a:t>↓</a:t>
            </a:r>
          </a:p>
          <a:p>
            <a:endParaRPr lang="en-US" dirty="0"/>
          </a:p>
          <a:p>
            <a:r>
              <a:rPr lang="en-US" dirty="0"/>
              <a:t>Atlas </a:t>
            </a:r>
            <a:r>
              <a:rPr lang="en-US" dirty="0" err="1"/>
              <a:t>TaskFlow</a:t>
            </a:r>
            <a:endParaRPr lang="en-US" dirty="0"/>
          </a:p>
          <a:p>
            <a:endParaRPr lang="en-US" dirty="0"/>
          </a:p>
          <a:p>
            <a:r>
              <a:rPr lang="en-US" dirty="0"/>
              <a:t>Explain:</a:t>
            </a:r>
          </a:p>
          <a:p>
            <a:endParaRPr lang="en-US" dirty="0"/>
          </a:p>
          <a:p>
            <a:r>
              <a:rPr lang="en-US" dirty="0"/>
              <a:t>"This is the journey to the application."</a:t>
            </a:r>
          </a:p>
          <a:p>
            <a:endParaRPr lang="en-US" dirty="0"/>
          </a:p>
          <a:p>
            <a:r>
              <a:rPr lang="en-US" dirty="0"/>
              <a:t>------------------------------------------------------------</a:t>
            </a:r>
          </a:p>
          <a:p>
            <a:endParaRPr lang="en-US" dirty="0"/>
          </a:p>
          <a:p>
            <a:r>
              <a:rPr lang="en-US" dirty="0"/>
              <a:t>RESPONSE PANEL</a:t>
            </a:r>
          </a:p>
          <a:p>
            <a:endParaRPr lang="en-US" dirty="0"/>
          </a:p>
          <a:p>
            <a:r>
              <a:rPr lang="en-US" dirty="0"/>
              <a:t>Walk through the Response panel.</a:t>
            </a:r>
          </a:p>
          <a:p>
            <a:endParaRPr lang="en-US" dirty="0"/>
          </a:p>
          <a:p>
            <a:r>
              <a:rPr lang="en-US" dirty="0"/>
              <a:t>MVC</a:t>
            </a:r>
          </a:p>
          <a:p>
            <a:endParaRPr lang="en-US" dirty="0"/>
          </a:p>
          <a:p>
            <a:r>
              <a:rPr lang="en-US" dirty="0"/>
              <a:t>↓</a:t>
            </a:r>
          </a:p>
          <a:p>
            <a:endParaRPr lang="en-US" dirty="0"/>
          </a:p>
          <a:p>
            <a:r>
              <a:rPr lang="en-US" dirty="0"/>
              <a:t>HTML</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User</a:t>
            </a:r>
          </a:p>
          <a:p>
            <a:endParaRPr lang="en-US" dirty="0"/>
          </a:p>
          <a:p>
            <a:r>
              <a:rPr lang="en-US" dirty="0"/>
              <a:t>Explain:</a:t>
            </a:r>
          </a:p>
          <a:p>
            <a:endParaRPr lang="en-US" dirty="0"/>
          </a:p>
          <a:p>
            <a:r>
              <a:rPr lang="en-US" dirty="0"/>
              <a:t>"This is the journey back."</a:t>
            </a:r>
          </a:p>
          <a:p>
            <a:endParaRPr lang="en-US" dirty="0"/>
          </a:p>
          <a:p>
            <a:r>
              <a:rPr lang="en-US" dirty="0"/>
              <a:t>------------------------------------------------------------</a:t>
            </a:r>
          </a:p>
          <a:p>
            <a:endParaRPr lang="en-US" dirty="0"/>
          </a:p>
          <a:p>
            <a:r>
              <a:rPr lang="en-US" dirty="0"/>
              <a:t>ATLAS TASKFLOW COMPONENTS</a:t>
            </a:r>
          </a:p>
          <a:p>
            <a:endParaRPr lang="en-US" dirty="0"/>
          </a:p>
          <a:p>
            <a:r>
              <a:rPr lang="en-US" dirty="0"/>
              <a:t>Review each component.</a:t>
            </a:r>
          </a:p>
          <a:p>
            <a:endParaRPr lang="en-US" dirty="0"/>
          </a:p>
          <a:p>
            <a:r>
              <a:rPr lang="en-US" dirty="0"/>
              <a:t>Browser</a:t>
            </a:r>
          </a:p>
          <a:p>
            <a:endParaRPr lang="en-US" dirty="0"/>
          </a:p>
          <a:p>
            <a:r>
              <a:rPr lang="en-US" dirty="0"/>
              <a:t>Internet</a:t>
            </a:r>
          </a:p>
          <a:p>
            <a:endParaRPr lang="en-US" dirty="0"/>
          </a:p>
          <a:p>
            <a:r>
              <a:rPr lang="en-US" dirty="0"/>
              <a:t>Azure App Service</a:t>
            </a:r>
          </a:p>
          <a:p>
            <a:endParaRPr lang="en-US" dirty="0"/>
          </a:p>
          <a:p>
            <a:r>
              <a:rPr lang="en-US" dirty="0"/>
              <a:t>Atlas </a:t>
            </a:r>
            <a:r>
              <a:rPr lang="en-US" dirty="0" err="1"/>
              <a:t>TaskFlow</a:t>
            </a:r>
            <a:endParaRPr lang="en-US" dirty="0"/>
          </a:p>
          <a:p>
            <a:endParaRPr lang="en-US" dirty="0"/>
          </a:p>
          <a:p>
            <a:r>
              <a:rPr lang="en-US" dirty="0"/>
              <a:t>Bootstrap UI</a:t>
            </a:r>
          </a:p>
          <a:p>
            <a:endParaRPr lang="en-US" dirty="0"/>
          </a:p>
          <a:p>
            <a:r>
              <a:rPr lang="en-US" dirty="0"/>
              <a:t>Explain each in one sentence.</a:t>
            </a:r>
          </a:p>
          <a:p>
            <a:endParaRPr lang="en-US" dirty="0"/>
          </a:p>
          <a:p>
            <a:r>
              <a:rPr lang="en-US" dirty="0"/>
              <a:t>Avoid technical detail.</a:t>
            </a:r>
          </a:p>
          <a:p>
            <a:endParaRPr lang="en-US" dirty="0"/>
          </a:p>
          <a:p>
            <a:r>
              <a:rPr lang="en-US" dirty="0"/>
              <a:t>Students only need to recognize each piece.</a:t>
            </a:r>
          </a:p>
          <a:p>
            <a:endParaRPr lang="en-US" dirty="0"/>
          </a:p>
          <a:p>
            <a:r>
              <a:rPr lang="en-US" dirty="0"/>
              <a:t>------------------------------------------------------------</a:t>
            </a:r>
          </a:p>
          <a:p>
            <a:endParaRPr lang="en-US" dirty="0"/>
          </a:p>
          <a:p>
            <a:r>
              <a:rPr lang="en-US" dirty="0"/>
              <a:t>ARCHITECTURE SPOTLIGHT</a:t>
            </a:r>
          </a:p>
          <a:p>
            <a:endParaRPr lang="en-US" dirty="0"/>
          </a:p>
          <a:p>
            <a:r>
              <a:rPr lang="en-US" dirty="0"/>
              <a:t>GitHub</a:t>
            </a:r>
          </a:p>
          <a:p>
            <a:endParaRPr lang="en-US" dirty="0"/>
          </a:p>
          <a:p>
            <a:r>
              <a:rPr lang="en-US" dirty="0"/>
              <a:t>Ask:</a:t>
            </a:r>
          </a:p>
          <a:p>
            <a:endParaRPr lang="en-US" dirty="0"/>
          </a:p>
          <a:p>
            <a:r>
              <a:rPr lang="en-US" dirty="0"/>
              <a:t>"Where is GitHub running?"</a:t>
            </a:r>
          </a:p>
          <a:p>
            <a:endParaRPr lang="en-US" dirty="0"/>
          </a:p>
          <a:p>
            <a:r>
              <a:rPr lang="en-US" dirty="0"/>
              <a:t>Students usually answer:</a:t>
            </a:r>
          </a:p>
          <a:p>
            <a:endParaRPr lang="en-US" dirty="0"/>
          </a:p>
          <a:p>
            <a:r>
              <a:rPr lang="en-US" dirty="0"/>
              <a:t>"The cloud."</a:t>
            </a:r>
          </a:p>
          <a:p>
            <a:endParaRPr lang="en-US" dirty="0"/>
          </a:p>
          <a:p>
            <a:r>
              <a:rPr lang="en-US" dirty="0"/>
              <a:t>Explain:</a:t>
            </a:r>
          </a:p>
          <a:p>
            <a:endParaRPr lang="en-US" dirty="0"/>
          </a:p>
          <a:p>
            <a:r>
              <a:rPr lang="en-US" dirty="0"/>
              <a:t>"You don't install GitHub."</a:t>
            </a:r>
          </a:p>
          <a:p>
            <a:endParaRPr lang="en-US" dirty="0"/>
          </a:p>
          <a:p>
            <a:r>
              <a:rPr lang="en-US" dirty="0"/>
              <a:t>"You visit GitHub."</a:t>
            </a:r>
          </a:p>
          <a:p>
            <a:endParaRPr lang="en-US" dirty="0"/>
          </a:p>
          <a:p>
            <a:r>
              <a:rPr lang="en-US" dirty="0"/>
              <a:t>"It behaves exactly like Atlas </a:t>
            </a:r>
            <a:r>
              <a:rPr lang="en-US" dirty="0" err="1"/>
              <a:t>TaskFlow</a:t>
            </a:r>
            <a:r>
              <a:rPr lang="en-US" dirty="0"/>
              <a:t> will."</a:t>
            </a:r>
          </a:p>
          <a:p>
            <a:endParaRPr lang="en-US" dirty="0"/>
          </a:p>
          <a:p>
            <a:r>
              <a:rPr lang="en-US" dirty="0"/>
              <a:t>Connect it back to SaaS.</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"Every click begins a conversation between a user and your application."</a:t>
            </a:r>
          </a:p>
          <a:p>
            <a:endParaRPr lang="en-US" dirty="0"/>
          </a:p>
          <a:p>
            <a:r>
              <a:rPr lang="en-US" dirty="0"/>
              <a:t>Pause.</a:t>
            </a:r>
          </a:p>
          <a:p>
            <a:endParaRPr lang="en-US" dirty="0"/>
          </a:p>
          <a:p>
            <a:r>
              <a:rPr lang="en-US" dirty="0"/>
              <a:t>Explain:</a:t>
            </a:r>
          </a:p>
          <a:p>
            <a:endParaRPr lang="en-US" dirty="0"/>
          </a:p>
          <a:p>
            <a:r>
              <a:rPr lang="en-US" dirty="0"/>
              <a:t>"Software engineering is really about conversations."</a:t>
            </a:r>
          </a:p>
          <a:p>
            <a:endParaRPr lang="en-US" dirty="0"/>
          </a:p>
          <a:p>
            <a:r>
              <a:rPr lang="en-US" dirty="0"/>
              <a:t>"The user asks."</a:t>
            </a:r>
          </a:p>
          <a:p>
            <a:endParaRPr lang="en-US" dirty="0"/>
          </a:p>
          <a:p>
            <a:r>
              <a:rPr lang="en-US" dirty="0"/>
              <a:t>"The application answers."</a:t>
            </a:r>
          </a:p>
          <a:p>
            <a:endParaRPr lang="en-US" dirty="0"/>
          </a:p>
          <a:p>
            <a:r>
              <a:rPr lang="en-US" dirty="0"/>
              <a:t>------------------------------------------------------------</a:t>
            </a:r>
          </a:p>
          <a:p>
            <a:endParaRPr lang="en-US" dirty="0"/>
          </a:p>
          <a:p>
            <a:r>
              <a:rPr lang="en-US" dirty="0"/>
              <a:t>BUILD CHALLENGE</a:t>
            </a:r>
          </a:p>
          <a:p>
            <a:endParaRPr lang="en-US" dirty="0"/>
          </a:p>
          <a:p>
            <a:r>
              <a:rPr lang="en-US" dirty="0"/>
              <a:t>Ask students to close their laptops.</a:t>
            </a:r>
          </a:p>
          <a:p>
            <a:endParaRPr lang="en-US" dirty="0"/>
          </a:p>
          <a:p>
            <a:r>
              <a:rPr lang="en-US" dirty="0"/>
              <a:t>Hand them a sheet of paper.</a:t>
            </a:r>
          </a:p>
          <a:p>
            <a:endParaRPr lang="en-US" dirty="0"/>
          </a:p>
          <a:p>
            <a:r>
              <a:rPr lang="en-US" dirty="0"/>
              <a:t>Challenge:</a:t>
            </a:r>
          </a:p>
          <a:p>
            <a:endParaRPr lang="en-US" dirty="0"/>
          </a:p>
          <a:p>
            <a:r>
              <a:rPr lang="en-US" dirty="0"/>
              <a:t>Draw the request/response flow from memory.</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Azure</a:t>
            </a:r>
          </a:p>
          <a:p>
            <a:endParaRPr lang="en-US" dirty="0"/>
          </a:p>
          <a:p>
            <a:r>
              <a:rPr lang="en-US" dirty="0"/>
              <a:t>↓</a:t>
            </a:r>
          </a:p>
          <a:p>
            <a:endParaRPr lang="en-US" dirty="0"/>
          </a:p>
          <a:p>
            <a:r>
              <a:rPr lang="en-US" dirty="0"/>
              <a:t>Atlas </a:t>
            </a:r>
            <a:r>
              <a:rPr lang="en-US" dirty="0" err="1"/>
              <a:t>TaskFlow</a:t>
            </a:r>
            <a:endParaRPr lang="en-US" dirty="0"/>
          </a:p>
          <a:p>
            <a:endParaRPr lang="en-US" dirty="0"/>
          </a:p>
          <a:p>
            <a:r>
              <a:rPr lang="en-US" dirty="0"/>
              <a:t>↓</a:t>
            </a:r>
          </a:p>
          <a:p>
            <a:endParaRPr lang="en-US" dirty="0"/>
          </a:p>
          <a:p>
            <a:r>
              <a:rPr lang="en-US" dirty="0"/>
              <a:t>HTML</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User</a:t>
            </a:r>
          </a:p>
          <a:p>
            <a:endParaRPr lang="en-US" dirty="0"/>
          </a:p>
          <a:p>
            <a:r>
              <a:rPr lang="en-US" dirty="0"/>
              <a:t>Walk around the room.</a:t>
            </a:r>
          </a:p>
          <a:p>
            <a:endParaRPr lang="en-US" dirty="0"/>
          </a:p>
          <a:p>
            <a:r>
              <a:rPr lang="en-US" dirty="0"/>
              <a:t>Help students connect the pieces.</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"Software as a Service isn't installed..."</a:t>
            </a:r>
          </a:p>
          <a:p>
            <a:endParaRPr lang="en-US" dirty="0"/>
          </a:p>
          <a:p>
            <a:r>
              <a:rPr lang="en-US" dirty="0"/>
              <a:t>"...it is delivered."</a:t>
            </a:r>
          </a:p>
          <a:p>
            <a:endParaRPr lang="en-US" dirty="0"/>
          </a:p>
          <a:p>
            <a:r>
              <a:rPr lang="en-US" dirty="0"/>
              <a:t>Explain.</a:t>
            </a:r>
          </a:p>
          <a:p>
            <a:endParaRPr lang="en-US" dirty="0"/>
          </a:p>
          <a:p>
            <a:r>
              <a:rPr lang="en-US" dirty="0"/>
              <a:t>"That's why this course exists."</a:t>
            </a:r>
          </a:p>
          <a:p>
            <a:endParaRPr lang="en-US" dirty="0"/>
          </a:p>
          <a:p>
            <a:r>
              <a:rPr lang="en-US" dirty="0"/>
              <a:t>"We're learning how software reaches people."</a:t>
            </a:r>
          </a:p>
          <a:p>
            <a:endParaRPr lang="en-US" dirty="0"/>
          </a:p>
          <a:p>
            <a:r>
              <a:rPr lang="en-US" dirty="0"/>
              <a:t>------------------------------------------------------------</a:t>
            </a:r>
          </a:p>
          <a:p>
            <a:endParaRPr lang="en-US" dirty="0"/>
          </a:p>
          <a:p>
            <a:r>
              <a:rPr lang="en-US" dirty="0"/>
              <a:t>ROADMAP</a:t>
            </a:r>
          </a:p>
          <a:p>
            <a:endParaRPr lang="en-US" dirty="0"/>
          </a:p>
          <a:p>
            <a:r>
              <a:rPr lang="en-US" dirty="0"/>
              <a:t>Point to the roadmap.</a:t>
            </a:r>
          </a:p>
          <a:p>
            <a:endParaRPr lang="en-US" dirty="0"/>
          </a:p>
          <a:p>
            <a:r>
              <a:rPr lang="en-US" dirty="0"/>
              <a:t>Explain where we are.</a:t>
            </a:r>
          </a:p>
          <a:p>
            <a:endParaRPr lang="en-US" dirty="0"/>
          </a:p>
          <a:p>
            <a:r>
              <a:rPr lang="en-US" dirty="0"/>
              <a:t>Sprint 3</a:t>
            </a:r>
          </a:p>
          <a:p>
            <a:endParaRPr lang="en-US" dirty="0"/>
          </a:p>
          <a:p>
            <a:r>
              <a:rPr lang="en-US" dirty="0"/>
              <a:t>Design</a:t>
            </a:r>
          </a:p>
          <a:p>
            <a:endParaRPr lang="en-US" dirty="0"/>
          </a:p>
          <a:p>
            <a:r>
              <a:rPr lang="en-US" dirty="0"/>
              <a:t>Sprint 4</a:t>
            </a:r>
          </a:p>
          <a:p>
            <a:endParaRPr lang="en-US" dirty="0"/>
          </a:p>
          <a:p>
            <a:r>
              <a:rPr lang="en-US" dirty="0"/>
              <a:t>Foundation</a:t>
            </a:r>
          </a:p>
          <a:p>
            <a:endParaRPr lang="en-US" dirty="0"/>
          </a:p>
          <a:p>
            <a:r>
              <a:rPr lang="en-US" dirty="0"/>
              <a:t>Sprint 5</a:t>
            </a:r>
          </a:p>
          <a:p>
            <a:endParaRPr lang="en-US" dirty="0"/>
          </a:p>
          <a:p>
            <a:r>
              <a:rPr lang="en-US" dirty="0"/>
              <a:t>Data</a:t>
            </a:r>
          </a:p>
          <a:p>
            <a:endParaRPr lang="en-US" dirty="0"/>
          </a:p>
          <a:p>
            <a:r>
              <a:rPr lang="en-US" dirty="0"/>
              <a:t>Sprint 6</a:t>
            </a:r>
          </a:p>
          <a:p>
            <a:endParaRPr lang="en-US" dirty="0"/>
          </a:p>
          <a:p>
            <a:r>
              <a:rPr lang="en-US" dirty="0"/>
              <a:t>Features</a:t>
            </a:r>
          </a:p>
          <a:p>
            <a:endParaRPr lang="en-US" dirty="0"/>
          </a:p>
          <a:p>
            <a:r>
              <a:rPr lang="en-US" dirty="0"/>
              <a:t>Sprint 7</a:t>
            </a:r>
          </a:p>
          <a:p>
            <a:endParaRPr lang="en-US" dirty="0"/>
          </a:p>
          <a:p>
            <a:r>
              <a:rPr lang="en-US" dirty="0"/>
              <a:t>Deployment &amp; Polish</a:t>
            </a:r>
          </a:p>
          <a:p>
            <a:endParaRPr lang="en-US" dirty="0"/>
          </a:p>
          <a:p>
            <a:r>
              <a:rPr lang="en-US" dirty="0"/>
              <a:t>Sprint 8</a:t>
            </a:r>
          </a:p>
          <a:p>
            <a:endParaRPr lang="en-US" dirty="0"/>
          </a:p>
          <a:p>
            <a:r>
              <a:rPr lang="en-US" dirty="0"/>
              <a:t>Final Release</a:t>
            </a:r>
          </a:p>
          <a:p>
            <a:endParaRPr lang="en-US" dirty="0"/>
          </a:p>
          <a:p>
            <a:r>
              <a:rPr lang="en-US" dirty="0"/>
              <a:t>Students should see progress.</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"So..."</a:t>
            </a:r>
          </a:p>
          <a:p>
            <a:endParaRPr lang="en-US" dirty="0"/>
          </a:p>
          <a:p>
            <a:r>
              <a:rPr lang="en-US" dirty="0"/>
              <a:t>"Now that we understand how software reaches users..."</a:t>
            </a:r>
          </a:p>
          <a:p>
            <a:endParaRPr lang="en-US" dirty="0"/>
          </a:p>
          <a:p>
            <a:r>
              <a:rPr lang="en-US" dirty="0"/>
              <a:t>"What should we do next?"</a:t>
            </a:r>
          </a:p>
          <a:p>
            <a:endParaRPr lang="en-US" dirty="0"/>
          </a:p>
          <a:p>
            <a:r>
              <a:rPr lang="en-US" dirty="0"/>
              <a:t>Pause.</a:t>
            </a:r>
          </a:p>
          <a:p>
            <a:endParaRPr lang="en-US" dirty="0"/>
          </a:p>
          <a:p>
            <a:r>
              <a:rPr lang="en-US" dirty="0"/>
              <a:t>Smile.</a:t>
            </a:r>
          </a:p>
          <a:p>
            <a:endParaRPr lang="en-US" dirty="0"/>
          </a:p>
          <a:p>
            <a:r>
              <a:rPr lang="en-US" dirty="0"/>
              <a:t>"We build Atlas </a:t>
            </a:r>
            <a:r>
              <a:rPr lang="en-US" dirty="0" err="1"/>
              <a:t>TaskFlow</a:t>
            </a:r>
            <a:r>
              <a:rPr lang="en-US" dirty="0"/>
              <a:t>."</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surprised you most about the request/response process?"</a:t>
            </a:r>
          </a:p>
          <a:p>
            <a:endParaRPr lang="en-US" dirty="0"/>
          </a:p>
          <a:p>
            <a:r>
              <a:rPr lang="en-US" dirty="0"/>
              <a:t>"What part of the diagram seems most important?"</a:t>
            </a:r>
          </a:p>
          <a:p>
            <a:endParaRPr lang="en-US" dirty="0"/>
          </a:p>
          <a:p>
            <a:r>
              <a:rPr lang="en-US" dirty="0"/>
              <a:t>"If Azure disappeared..."</a:t>
            </a:r>
          </a:p>
          <a:p>
            <a:endParaRPr lang="en-US" dirty="0"/>
          </a:p>
          <a:p>
            <a:r>
              <a:rPr lang="en-US" dirty="0"/>
              <a:t>"What would happen?"</a:t>
            </a:r>
          </a:p>
          <a:p>
            <a:endParaRPr lang="en-US" dirty="0"/>
          </a:p>
          <a:p>
            <a:r>
              <a:rPr lang="en-US" dirty="0"/>
              <a:t>Guide students toward understanding that cloud hosting is what enables</a:t>
            </a:r>
          </a:p>
          <a:p>
            <a:r>
              <a:rPr lang="en-US" dirty="0"/>
              <a:t>Software as a Service.</a:t>
            </a:r>
          </a:p>
          <a:p>
            <a:endParaRPr lang="en-US" dirty="0"/>
          </a:p>
          <a:p>
            <a:r>
              <a:rPr lang="en-US" dirty="0"/>
              <a:t>------------------------------------------------------------</a:t>
            </a:r>
          </a:p>
          <a:p>
            <a:endParaRPr lang="en-US" dirty="0"/>
          </a:p>
          <a:p>
            <a:r>
              <a:rPr lang="en-US" dirty="0"/>
              <a:t>THE MOMENT</a:t>
            </a:r>
          </a:p>
          <a:p>
            <a:endParaRPr lang="en-US" dirty="0"/>
          </a:p>
          <a:p>
            <a:r>
              <a:rPr lang="en-US" dirty="0"/>
              <a:t>Walk to the center of the room.</a:t>
            </a:r>
          </a:p>
          <a:p>
            <a:endParaRPr lang="en-US" dirty="0"/>
          </a:p>
          <a:p>
            <a:r>
              <a:rPr lang="en-US" dirty="0"/>
              <a:t>Point to the diagram.</a:t>
            </a:r>
          </a:p>
          <a:p>
            <a:endParaRPr lang="en-US" dirty="0"/>
          </a:p>
          <a:p>
            <a:r>
              <a:rPr lang="en-US" dirty="0"/>
              <a:t>Then say:</a:t>
            </a:r>
          </a:p>
          <a:p>
            <a:endParaRPr lang="en-US" dirty="0"/>
          </a:p>
          <a:p>
            <a:r>
              <a:rPr lang="en-US" dirty="0"/>
              <a:t>"Every website."</a:t>
            </a:r>
          </a:p>
          <a:p>
            <a:endParaRPr lang="en-US" dirty="0"/>
          </a:p>
          <a:p>
            <a:r>
              <a:rPr lang="en-US" dirty="0"/>
              <a:t>"Every online game."</a:t>
            </a:r>
          </a:p>
          <a:p>
            <a:endParaRPr lang="en-US" dirty="0"/>
          </a:p>
          <a:p>
            <a:r>
              <a:rPr lang="en-US" dirty="0"/>
              <a:t>"Every banking app."</a:t>
            </a:r>
          </a:p>
          <a:p>
            <a:endParaRPr lang="en-US" dirty="0"/>
          </a:p>
          <a:p>
            <a:r>
              <a:rPr lang="en-US" dirty="0"/>
              <a:t>"Every streaming service."</a:t>
            </a:r>
          </a:p>
          <a:p>
            <a:endParaRPr lang="en-US" dirty="0"/>
          </a:p>
          <a:p>
            <a:r>
              <a:rPr lang="en-US" dirty="0"/>
              <a:t>"They all follow this same conversation."</a:t>
            </a:r>
          </a:p>
          <a:p>
            <a:endParaRPr lang="en-US" dirty="0"/>
          </a:p>
          <a:p>
            <a:r>
              <a:rPr lang="en-US" dirty="0"/>
              <a:t>Pause.</a:t>
            </a:r>
          </a:p>
          <a:p>
            <a:endParaRPr lang="en-US" dirty="0"/>
          </a:p>
          <a:p>
            <a:r>
              <a:rPr lang="en-US" dirty="0"/>
              <a:t>"Now..."</a:t>
            </a:r>
          </a:p>
          <a:p>
            <a:endParaRPr lang="en-US" dirty="0"/>
          </a:p>
          <a:p>
            <a:r>
              <a:rPr lang="en-US" dirty="0"/>
              <a:t>"We're going to build one."</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SaaS Overview.......................8 minutes</a:t>
            </a:r>
          </a:p>
          <a:p>
            <a:endParaRPr lang="en-US" dirty="0"/>
          </a:p>
          <a:p>
            <a:r>
              <a:rPr lang="en-US" dirty="0"/>
              <a:t>Request Flow........................15 minutes</a:t>
            </a:r>
          </a:p>
          <a:p>
            <a:endParaRPr lang="en-US" dirty="0"/>
          </a:p>
          <a:p>
            <a:r>
              <a:rPr lang="en-US" dirty="0"/>
              <a:t>Response Flow.......................10 minutes</a:t>
            </a:r>
          </a:p>
          <a:p>
            <a:endParaRPr lang="en-US" dirty="0"/>
          </a:p>
          <a:p>
            <a:r>
              <a:rPr lang="en-US" dirty="0"/>
              <a:t>Architecture Spotlight...............7 minutes</a:t>
            </a:r>
          </a:p>
          <a:p>
            <a:endParaRPr lang="en-US" dirty="0"/>
          </a:p>
          <a:p>
            <a:r>
              <a:rPr lang="en-US" dirty="0"/>
              <a:t>Build Challenge.....................10 minutes</a:t>
            </a:r>
          </a:p>
          <a:p>
            <a:endParaRPr lang="en-US" dirty="0"/>
          </a:p>
          <a:p>
            <a:r>
              <a:rPr lang="en-US" dirty="0"/>
              <a:t>Discussion...........................5 minutes</a:t>
            </a:r>
          </a:p>
          <a:p>
            <a:endParaRPr lang="en-US" dirty="0"/>
          </a:p>
          <a:p>
            <a:r>
              <a:rPr lang="en-US" dirty="0"/>
              <a:t>Closing..............................5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this lesson visual.</a:t>
            </a:r>
          </a:p>
          <a:p>
            <a:endParaRPr lang="en-US" dirty="0"/>
          </a:p>
          <a:p>
            <a:r>
              <a:rPr lang="en-US" dirty="0"/>
              <a:t>Do not lecture about networking protocols, ports, IIS, middleware, or</a:t>
            </a:r>
          </a:p>
          <a:p>
            <a:r>
              <a:rPr lang="en-US" dirty="0"/>
              <a:t>advanced web architecture.</a:t>
            </a:r>
          </a:p>
          <a:p>
            <a:endParaRPr lang="en-US" dirty="0"/>
          </a:p>
          <a:p>
            <a:r>
              <a:rPr lang="en-US" dirty="0"/>
              <a:t>The objective is confidence—not complexity.</a:t>
            </a:r>
          </a:p>
          <a:p>
            <a:endParaRPr lang="en-US" dirty="0"/>
          </a:p>
          <a:p>
            <a:r>
              <a:rPr lang="en-US" dirty="0"/>
              <a:t>Students should leave understanding one simple truth:</a:t>
            </a:r>
          </a:p>
          <a:p>
            <a:endParaRPr lang="en-US" dirty="0"/>
          </a:p>
          <a:p>
            <a:r>
              <a:rPr lang="en-US" dirty="0"/>
              <a:t>A browser asks.</a:t>
            </a:r>
          </a:p>
          <a:p>
            <a:endParaRPr lang="en-US" dirty="0"/>
          </a:p>
          <a:p>
            <a:r>
              <a:rPr lang="en-US" dirty="0"/>
              <a:t>The cloud responds.</a:t>
            </a:r>
          </a:p>
          <a:p>
            <a:endParaRPr lang="en-US" dirty="0"/>
          </a:p>
          <a:p>
            <a:r>
              <a:rPr lang="en-US" dirty="0"/>
              <a:t>Our application makes the conversation possible.</a:t>
            </a:r>
          </a:p>
          <a:p>
            <a:endParaRPr lang="en-US" dirty="0"/>
          </a:p>
          <a:p>
            <a:r>
              <a:rPr lang="en-US" dirty="0"/>
              <a:t>Close with:</a:t>
            </a:r>
          </a:p>
          <a:p>
            <a:endParaRPr lang="en-US" dirty="0"/>
          </a:p>
          <a:p>
            <a:r>
              <a:rPr lang="en-US" dirty="0"/>
              <a:t>"Engineers..."</a:t>
            </a:r>
          </a:p>
          <a:p>
            <a:endParaRPr lang="en-US" dirty="0"/>
          </a:p>
          <a:p>
            <a:r>
              <a:rPr lang="en-US" dirty="0"/>
              <a:t>"Now you know how users reach our software."</a:t>
            </a:r>
          </a:p>
          <a:p>
            <a:endParaRPr lang="en-US" dirty="0"/>
          </a:p>
          <a:p>
            <a:r>
              <a:rPr lang="en-US" dirty="0"/>
              <a:t>"Next..."</a:t>
            </a:r>
          </a:p>
          <a:p>
            <a:endParaRPr lang="en-US" dirty="0"/>
          </a:p>
          <a:p>
            <a:r>
              <a:rPr lang="en-US" dirty="0"/>
              <a:t>"Let's build Atlas </a:t>
            </a:r>
            <a:r>
              <a:rPr lang="en-US" dirty="0" err="1"/>
              <a:t>TaskFlow</a:t>
            </a:r>
            <a:r>
              <a:rPr lang="en-US" dirty="0"/>
              <a:t>."</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2</a:t>
            </a:fld>
            <a:endParaRPr lang="en-US"/>
          </a:p>
        </p:txBody>
      </p:sp>
    </p:spTree>
    <p:extLst>
      <p:ext uri="{BB962C8B-B14F-4D97-AF65-F5344CB8AC3E}">
        <p14:creationId xmlns:p14="http://schemas.microsoft.com/office/powerpoint/2010/main" val="1635667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BUILDING ATLAS TASKFLOW</a:t>
            </a:r>
          </a:p>
          <a:p>
            <a:endParaRPr lang="en-US" dirty="0"/>
          </a:p>
          <a:p>
            <a:r>
              <a:rPr lang="en-US" dirty="0"/>
              <a:t>============================================================</a:t>
            </a:r>
          </a:p>
          <a:p>
            <a:endParaRPr lang="en-US" dirty="0"/>
          </a:p>
          <a:p>
            <a:r>
              <a:rPr lang="en-US" dirty="0"/>
              <a:t>SLIDE PURPOSE</a:t>
            </a:r>
          </a:p>
          <a:p>
            <a:endParaRPr lang="en-US" dirty="0"/>
          </a:p>
          <a:p>
            <a:r>
              <a:rPr lang="en-US" dirty="0"/>
              <a:t>Guide students through creating the Atlas </a:t>
            </a:r>
            <a:r>
              <a:rPr lang="en-US" dirty="0" err="1"/>
              <a:t>TaskFlow</a:t>
            </a:r>
            <a:r>
              <a:rPr lang="en-US" dirty="0"/>
              <a:t> ASP.NET Core MVC</a:t>
            </a:r>
          </a:p>
          <a:p>
            <a:r>
              <a:rPr lang="en-US" dirty="0"/>
              <a:t>project that will serve as the foundation for the remainder of the</a:t>
            </a:r>
          </a:p>
          <a:p>
            <a:r>
              <a:rPr lang="en-US" dirty="0"/>
              <a:t>course.</a:t>
            </a:r>
          </a:p>
          <a:p>
            <a:endParaRPr lang="en-US" dirty="0"/>
          </a:p>
          <a:p>
            <a:r>
              <a:rPr lang="en-US" dirty="0"/>
              <a:t>This lesson is intentionally simple.</a:t>
            </a:r>
          </a:p>
          <a:p>
            <a:endParaRPr lang="en-US" dirty="0"/>
          </a:p>
          <a:p>
            <a:r>
              <a:rPr lang="en-US" dirty="0"/>
              <a:t>The objective is not to master ASP.NET Core or MVC.</a:t>
            </a:r>
          </a:p>
          <a:p>
            <a:endParaRPr lang="en-US" dirty="0"/>
          </a:p>
          <a:p>
            <a:r>
              <a:rPr lang="en-US" dirty="0"/>
              <a:t>The objective is to successfully create, run, and understand the</a:t>
            </a:r>
          </a:p>
          <a:p>
            <a:r>
              <a:rPr lang="en-US" dirty="0"/>
              <a:t>structure of a professional SaaS application.</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Pause.</a:t>
            </a:r>
          </a:p>
          <a:p>
            <a:endParaRPr lang="en-US" dirty="0"/>
          </a:p>
          <a:p>
            <a:r>
              <a:rPr lang="en-US" dirty="0"/>
              <a:t>"This is the moment we've been working toward."</a:t>
            </a:r>
          </a:p>
          <a:p>
            <a:endParaRPr lang="en-US" dirty="0"/>
          </a:p>
          <a:p>
            <a:r>
              <a:rPr lang="en-US" dirty="0"/>
              <a:t>"For three sprints..."</a:t>
            </a:r>
          </a:p>
          <a:p>
            <a:endParaRPr lang="en-US" dirty="0"/>
          </a:p>
          <a:p>
            <a:r>
              <a:rPr lang="en-US" dirty="0"/>
              <a:t>"We planned."</a:t>
            </a:r>
          </a:p>
          <a:p>
            <a:endParaRPr lang="en-US" dirty="0"/>
          </a:p>
          <a:p>
            <a:r>
              <a:rPr lang="en-US" dirty="0"/>
              <a:t>"We researched."</a:t>
            </a:r>
          </a:p>
          <a:p>
            <a:endParaRPr lang="en-US" dirty="0"/>
          </a:p>
          <a:p>
            <a:r>
              <a:rPr lang="en-US" dirty="0"/>
              <a:t>"We designed."</a:t>
            </a:r>
          </a:p>
          <a:p>
            <a:endParaRPr lang="en-US" dirty="0"/>
          </a:p>
          <a:p>
            <a:r>
              <a:rPr lang="en-US" dirty="0"/>
              <a:t>"We organized."</a:t>
            </a:r>
          </a:p>
          <a:p>
            <a:endParaRPr lang="en-US" dirty="0"/>
          </a:p>
          <a:p>
            <a:r>
              <a:rPr lang="en-US" dirty="0"/>
              <a:t>"And today..."</a:t>
            </a:r>
          </a:p>
          <a:p>
            <a:endParaRPr lang="en-US" dirty="0"/>
          </a:p>
          <a:p>
            <a:r>
              <a:rPr lang="en-US" dirty="0"/>
              <a:t>"We finally begin building."</a:t>
            </a:r>
          </a:p>
          <a:p>
            <a:endParaRPr lang="en-US" dirty="0"/>
          </a:p>
          <a:p>
            <a:r>
              <a:rPr lang="en-US" dirty="0"/>
              <a:t>Smile.</a:t>
            </a:r>
          </a:p>
          <a:p>
            <a:endParaRPr lang="en-US" dirty="0"/>
          </a:p>
          <a:p>
            <a:r>
              <a:rPr lang="en-US" dirty="0"/>
              <a:t>"Let's create Atlas </a:t>
            </a:r>
            <a:r>
              <a:rPr lang="en-US" dirty="0" err="1"/>
              <a:t>TaskFlow</a:t>
            </a:r>
            <a:r>
              <a:rPr lang="en-US" dirty="0"/>
              <a:t>."</a:t>
            </a:r>
          </a:p>
          <a:p>
            <a:endParaRPr lang="en-US" dirty="0"/>
          </a:p>
          <a:p>
            <a:r>
              <a:rPr lang="en-US" dirty="0"/>
              <a:t>------------------------------------------------------------</a:t>
            </a:r>
          </a:p>
          <a:p>
            <a:endParaRPr lang="en-US" dirty="0"/>
          </a:p>
          <a:p>
            <a:r>
              <a:rPr lang="en-US" dirty="0"/>
              <a:t>THE BIG IDEA</a:t>
            </a:r>
          </a:p>
          <a:p>
            <a:endParaRPr lang="en-US" dirty="0"/>
          </a:p>
          <a:p>
            <a:r>
              <a:rPr lang="en-US" dirty="0"/>
              <a:t>Point to the statement near the top.</a:t>
            </a:r>
          </a:p>
          <a:p>
            <a:endParaRPr lang="en-US" dirty="0"/>
          </a:p>
          <a:p>
            <a:r>
              <a:rPr lang="en-US" dirty="0"/>
              <a:t>"Every great application begins with a project."</a:t>
            </a:r>
          </a:p>
          <a:p>
            <a:endParaRPr lang="en-US" dirty="0"/>
          </a:p>
          <a:p>
            <a:r>
              <a:rPr lang="en-US" dirty="0"/>
              <a:t>Explain.</a:t>
            </a:r>
          </a:p>
          <a:p>
            <a:endParaRPr lang="en-US" dirty="0"/>
          </a:p>
          <a:p>
            <a:r>
              <a:rPr lang="en-US" dirty="0"/>
              <a:t>"We're not building features today."</a:t>
            </a:r>
          </a:p>
          <a:p>
            <a:endParaRPr lang="en-US" dirty="0"/>
          </a:p>
          <a:p>
            <a:r>
              <a:rPr lang="en-US" dirty="0"/>
              <a:t>"We're building the foundation."</a:t>
            </a:r>
          </a:p>
          <a:p>
            <a:endParaRPr lang="en-US" dirty="0"/>
          </a:p>
          <a:p>
            <a:r>
              <a:rPr lang="en-US" dirty="0"/>
              <a:t>"A strong foundation makes everything that comes later easier."</a:t>
            </a:r>
          </a:p>
          <a:p>
            <a:endParaRPr lang="en-US" dirty="0"/>
          </a:p>
          <a:p>
            <a:r>
              <a:rPr lang="en-US" dirty="0"/>
              <a:t>Relate it to construction.</a:t>
            </a:r>
          </a:p>
          <a:p>
            <a:endParaRPr lang="en-US" dirty="0"/>
          </a:p>
          <a:p>
            <a:r>
              <a:rPr lang="en-US" dirty="0"/>
              <a:t>"You don't build the roof first."</a:t>
            </a:r>
          </a:p>
          <a:p>
            <a:endParaRPr lang="en-US" dirty="0"/>
          </a:p>
          <a:p>
            <a:r>
              <a:rPr lang="en-US" dirty="0"/>
              <a:t>"You build the foundation."</a:t>
            </a:r>
          </a:p>
          <a:p>
            <a:endParaRPr lang="en-US" dirty="0"/>
          </a:p>
          <a:p>
            <a:r>
              <a:rPr lang="en-US" dirty="0"/>
              <a:t>------------------------------------------------------------</a:t>
            </a:r>
          </a:p>
          <a:p>
            <a:endParaRPr lang="en-US" dirty="0"/>
          </a:p>
          <a:p>
            <a:r>
              <a:rPr lang="en-US" dirty="0"/>
              <a:t>WHY THIS MATTERS</a:t>
            </a:r>
          </a:p>
          <a:p>
            <a:endParaRPr lang="en-US" dirty="0"/>
          </a:p>
          <a:p>
            <a:r>
              <a:rPr lang="en-US" dirty="0"/>
              <a:t>Walk through each point.</a:t>
            </a:r>
          </a:p>
          <a:p>
            <a:endParaRPr lang="en-US" dirty="0"/>
          </a:p>
          <a:p>
            <a:r>
              <a:rPr lang="en-US" dirty="0"/>
              <a:t>Host our application in the cloud.</a:t>
            </a:r>
          </a:p>
          <a:p>
            <a:endParaRPr lang="en-US" dirty="0"/>
          </a:p>
          <a:p>
            <a:r>
              <a:rPr lang="en-US" dirty="0"/>
              <a:t>Organize our code.</a:t>
            </a:r>
          </a:p>
          <a:p>
            <a:endParaRPr lang="en-US" dirty="0"/>
          </a:p>
          <a:p>
            <a:r>
              <a:rPr lang="en-US" dirty="0"/>
              <a:t>Support future features.</a:t>
            </a:r>
          </a:p>
          <a:p>
            <a:endParaRPr lang="en-US" dirty="0"/>
          </a:p>
          <a:p>
            <a:r>
              <a:rPr lang="en-US" dirty="0"/>
              <a:t>Create a professional structure.</a:t>
            </a:r>
          </a:p>
          <a:p>
            <a:endParaRPr lang="en-US" dirty="0"/>
          </a:p>
          <a:p>
            <a:r>
              <a:rPr lang="en-US" dirty="0"/>
              <a:t>Explain:</a:t>
            </a:r>
          </a:p>
          <a:p>
            <a:endParaRPr lang="en-US" dirty="0"/>
          </a:p>
          <a:p>
            <a:r>
              <a:rPr lang="en-US" dirty="0"/>
              <a:t>"Today's work isn't exciting because of what it does."</a:t>
            </a:r>
          </a:p>
          <a:p>
            <a:endParaRPr lang="en-US" dirty="0"/>
          </a:p>
          <a:p>
            <a:r>
              <a:rPr lang="en-US" dirty="0"/>
              <a:t>"It's exciting because of what it enables."</a:t>
            </a:r>
          </a:p>
          <a:p>
            <a:endParaRPr lang="en-US" dirty="0"/>
          </a:p>
          <a:p>
            <a:r>
              <a:rPr lang="en-US" dirty="0"/>
              <a:t>------------------------------------------------------------</a:t>
            </a:r>
          </a:p>
          <a:p>
            <a:endParaRPr lang="en-US" dirty="0"/>
          </a:p>
          <a:p>
            <a:r>
              <a:rPr lang="en-US" dirty="0"/>
              <a:t>PROJECT CREATION</a:t>
            </a:r>
          </a:p>
          <a:p>
            <a:endParaRPr lang="en-US" dirty="0"/>
          </a:p>
          <a:p>
            <a:r>
              <a:rPr lang="en-US" dirty="0"/>
              <a:t>Move to the six-step process.</a:t>
            </a:r>
          </a:p>
          <a:p>
            <a:endParaRPr lang="en-US" dirty="0"/>
          </a:p>
          <a:p>
            <a:r>
              <a:rPr lang="en-US" dirty="0"/>
              <a:t>Tell students:</a:t>
            </a:r>
          </a:p>
          <a:p>
            <a:endParaRPr lang="en-US" dirty="0"/>
          </a:p>
          <a:p>
            <a:r>
              <a:rPr lang="en-US" dirty="0"/>
              <a:t>"I'm going to build this with you."</a:t>
            </a:r>
          </a:p>
          <a:p>
            <a:endParaRPr lang="en-US" dirty="0"/>
          </a:p>
          <a:p>
            <a:r>
              <a:rPr lang="en-US" dirty="0"/>
              <a:t>"We're not watching."</a:t>
            </a:r>
          </a:p>
          <a:p>
            <a:endParaRPr lang="en-US" dirty="0"/>
          </a:p>
          <a:p>
            <a:r>
              <a:rPr lang="en-US" dirty="0"/>
              <a:t>"We're engineering."</a:t>
            </a:r>
          </a:p>
          <a:p>
            <a:endParaRPr lang="en-US" dirty="0"/>
          </a:p>
          <a:p>
            <a:r>
              <a:rPr lang="en-US" dirty="0"/>
              <a:t>------------------------------------------------------------</a:t>
            </a:r>
          </a:p>
          <a:p>
            <a:endParaRPr lang="en-US" dirty="0"/>
          </a:p>
          <a:p>
            <a:r>
              <a:rPr lang="en-US" dirty="0"/>
              <a:t>STEP 1</a:t>
            </a:r>
          </a:p>
          <a:p>
            <a:endParaRPr lang="en-US" dirty="0"/>
          </a:p>
          <a:p>
            <a:r>
              <a:rPr lang="en-US" dirty="0"/>
              <a:t>Open Visual Studio</a:t>
            </a:r>
          </a:p>
          <a:p>
            <a:endParaRPr lang="en-US" dirty="0"/>
          </a:p>
          <a:p>
            <a:r>
              <a:rPr lang="en-US" dirty="0"/>
              <a:t>Explain.</a:t>
            </a:r>
          </a:p>
          <a:p>
            <a:endParaRPr lang="en-US" dirty="0"/>
          </a:p>
          <a:p>
            <a:r>
              <a:rPr lang="en-US" dirty="0"/>
              <a:t>"This is our engineering workstation."</a:t>
            </a:r>
          </a:p>
          <a:p>
            <a:endParaRPr lang="en-US" dirty="0"/>
          </a:p>
          <a:p>
            <a:r>
              <a:rPr lang="en-US" dirty="0"/>
              <a:t>Point out:</a:t>
            </a:r>
          </a:p>
          <a:p>
            <a:endParaRPr lang="en-US" dirty="0"/>
          </a:p>
          <a:p>
            <a:r>
              <a:rPr lang="en-US" dirty="0"/>
              <a:t>Community Edition is fine.</a:t>
            </a:r>
          </a:p>
          <a:p>
            <a:endParaRPr lang="en-US" dirty="0"/>
          </a:p>
          <a:p>
            <a:r>
              <a:rPr lang="en-US" dirty="0"/>
              <a:t>Professional is fine.</a:t>
            </a:r>
          </a:p>
          <a:p>
            <a:endParaRPr lang="en-US" dirty="0"/>
          </a:p>
          <a:p>
            <a:r>
              <a:rPr lang="en-US" dirty="0"/>
              <a:t>Everyone starts the same way.</a:t>
            </a:r>
          </a:p>
          <a:p>
            <a:endParaRPr lang="en-US" dirty="0"/>
          </a:p>
          <a:p>
            <a:r>
              <a:rPr lang="en-US" dirty="0"/>
              <a:t>------------------------------------------------------------</a:t>
            </a:r>
          </a:p>
          <a:p>
            <a:endParaRPr lang="en-US" dirty="0"/>
          </a:p>
          <a:p>
            <a:r>
              <a:rPr lang="en-US" dirty="0"/>
              <a:t>STEP 2</a:t>
            </a:r>
          </a:p>
          <a:p>
            <a:endParaRPr lang="en-US" dirty="0"/>
          </a:p>
          <a:p>
            <a:r>
              <a:rPr lang="en-US" dirty="0"/>
              <a:t>Choose ASP.NET Core MVC</a:t>
            </a:r>
          </a:p>
          <a:p>
            <a:endParaRPr lang="en-US" dirty="0"/>
          </a:p>
          <a:p>
            <a:r>
              <a:rPr lang="en-US" dirty="0"/>
              <a:t>Pause.</a:t>
            </a:r>
          </a:p>
          <a:p>
            <a:endParaRPr lang="en-US" dirty="0"/>
          </a:p>
          <a:p>
            <a:r>
              <a:rPr lang="en-US" dirty="0"/>
              <a:t>Say:</a:t>
            </a:r>
          </a:p>
          <a:p>
            <a:endParaRPr lang="en-US" dirty="0"/>
          </a:p>
          <a:p>
            <a:r>
              <a:rPr lang="en-US" dirty="0"/>
              <a:t>"Don't worry about memorizing every template."</a:t>
            </a:r>
          </a:p>
          <a:p>
            <a:endParaRPr lang="en-US" dirty="0"/>
          </a:p>
          <a:p>
            <a:r>
              <a:rPr lang="en-US" dirty="0"/>
              <a:t>"Today we only need one."</a:t>
            </a:r>
          </a:p>
          <a:p>
            <a:endParaRPr lang="en-US" dirty="0"/>
          </a:p>
          <a:p>
            <a:r>
              <a:rPr lang="en-US" dirty="0"/>
              <a:t>Explain why MVC.</a:t>
            </a:r>
          </a:p>
          <a:p>
            <a:endParaRPr lang="en-US" dirty="0"/>
          </a:p>
          <a:p>
            <a:r>
              <a:rPr lang="en-US" dirty="0"/>
              <a:t>"MVC helps organize applications."</a:t>
            </a:r>
          </a:p>
          <a:p>
            <a:endParaRPr lang="en-US" dirty="0"/>
          </a:p>
          <a:p>
            <a:r>
              <a:rPr lang="en-US" dirty="0"/>
              <a:t>"We'll understand more about it next lesson."</a:t>
            </a:r>
          </a:p>
          <a:p>
            <a:endParaRPr lang="en-US" dirty="0"/>
          </a:p>
          <a:p>
            <a:r>
              <a:rPr lang="en-US" dirty="0"/>
              <a:t>Today...</a:t>
            </a:r>
          </a:p>
          <a:p>
            <a:endParaRPr lang="en-US" dirty="0"/>
          </a:p>
          <a:p>
            <a:r>
              <a:rPr lang="en-US" dirty="0"/>
              <a:t>Accept the template.</a:t>
            </a:r>
          </a:p>
          <a:p>
            <a:endParaRPr lang="en-US" dirty="0"/>
          </a:p>
          <a:p>
            <a:r>
              <a:rPr lang="en-US" dirty="0"/>
              <a:t>Move forward.</a:t>
            </a:r>
          </a:p>
          <a:p>
            <a:endParaRPr lang="en-US" dirty="0"/>
          </a:p>
          <a:p>
            <a:r>
              <a:rPr lang="en-US" dirty="0"/>
              <a:t>------------------------------------------------------------</a:t>
            </a:r>
          </a:p>
          <a:p>
            <a:endParaRPr lang="en-US" dirty="0"/>
          </a:p>
          <a:p>
            <a:r>
              <a:rPr lang="en-US" dirty="0"/>
              <a:t>STEP 3</a:t>
            </a:r>
          </a:p>
          <a:p>
            <a:endParaRPr lang="en-US" dirty="0"/>
          </a:p>
          <a:p>
            <a:r>
              <a:rPr lang="en-US" dirty="0"/>
              <a:t>Name the Project</a:t>
            </a:r>
          </a:p>
          <a:p>
            <a:endParaRPr lang="en-US" dirty="0"/>
          </a:p>
          <a:p>
            <a:r>
              <a:rPr lang="en-US" dirty="0"/>
              <a:t>Use:</a:t>
            </a:r>
          </a:p>
          <a:p>
            <a:endParaRPr lang="en-US" dirty="0"/>
          </a:p>
          <a:p>
            <a:r>
              <a:rPr lang="en-US" dirty="0" err="1"/>
              <a:t>AtlasTaskFlow</a:t>
            </a:r>
            <a:endParaRPr lang="en-US" dirty="0"/>
          </a:p>
          <a:p>
            <a:endParaRPr lang="en-US" dirty="0"/>
          </a:p>
          <a:p>
            <a:r>
              <a:rPr lang="en-US" dirty="0"/>
              <a:t>Explain why naming matters.</a:t>
            </a:r>
          </a:p>
          <a:p>
            <a:endParaRPr lang="en-US" dirty="0"/>
          </a:p>
          <a:p>
            <a:r>
              <a:rPr lang="en-US" dirty="0"/>
              <a:t>Professional software uses consistent names.</a:t>
            </a:r>
          </a:p>
          <a:p>
            <a:endParaRPr lang="en-US" dirty="0"/>
          </a:p>
          <a:p>
            <a:r>
              <a:rPr lang="en-US" dirty="0"/>
              <a:t>Discuss namespaces briefly.</a:t>
            </a:r>
          </a:p>
          <a:p>
            <a:endParaRPr lang="en-US" dirty="0"/>
          </a:p>
          <a:p>
            <a:r>
              <a:rPr lang="en-US" dirty="0"/>
              <a:t>Keep it simple.</a:t>
            </a:r>
          </a:p>
          <a:p>
            <a:endParaRPr lang="en-US" dirty="0"/>
          </a:p>
          <a:p>
            <a:r>
              <a:rPr lang="en-US" dirty="0"/>
              <a:t>------------------------------------------------------------</a:t>
            </a:r>
          </a:p>
          <a:p>
            <a:endParaRPr lang="en-US" dirty="0"/>
          </a:p>
          <a:p>
            <a:r>
              <a:rPr lang="en-US" dirty="0"/>
              <a:t>STEP 4</a:t>
            </a:r>
          </a:p>
          <a:p>
            <a:endParaRPr lang="en-US" dirty="0"/>
          </a:p>
          <a:p>
            <a:r>
              <a:rPr lang="en-US" dirty="0"/>
              <a:t>Configure the Project</a:t>
            </a:r>
          </a:p>
          <a:p>
            <a:endParaRPr lang="en-US" dirty="0"/>
          </a:p>
          <a:p>
            <a:r>
              <a:rPr lang="en-US" dirty="0"/>
              <a:t>Explain:</a:t>
            </a:r>
          </a:p>
          <a:p>
            <a:endParaRPr lang="en-US" dirty="0"/>
          </a:p>
          <a:p>
            <a:r>
              <a:rPr lang="en-US" dirty="0"/>
              <a:t>".NET LTS simply means Long-Term Support."</a:t>
            </a:r>
          </a:p>
          <a:p>
            <a:endParaRPr lang="en-US" dirty="0"/>
          </a:p>
          <a:p>
            <a:r>
              <a:rPr lang="en-US" dirty="0"/>
              <a:t>"We're choosing the stable version."</a:t>
            </a:r>
          </a:p>
          <a:p>
            <a:endParaRPr lang="en-US" dirty="0"/>
          </a:p>
          <a:p>
            <a:r>
              <a:rPr lang="en-US" dirty="0"/>
              <a:t>Authentication:</a:t>
            </a:r>
          </a:p>
          <a:p>
            <a:endParaRPr lang="en-US" dirty="0"/>
          </a:p>
          <a:p>
            <a:r>
              <a:rPr lang="en-US" dirty="0"/>
              <a:t>None.</a:t>
            </a:r>
          </a:p>
          <a:p>
            <a:endParaRPr lang="en-US" dirty="0"/>
          </a:p>
          <a:p>
            <a:r>
              <a:rPr lang="en-US" dirty="0"/>
              <a:t>Explain why.</a:t>
            </a:r>
          </a:p>
          <a:p>
            <a:endParaRPr lang="en-US" dirty="0"/>
          </a:p>
          <a:p>
            <a:r>
              <a:rPr lang="en-US" dirty="0"/>
              <a:t>"We'll add security later."</a:t>
            </a:r>
          </a:p>
          <a:p>
            <a:endParaRPr lang="en-US" dirty="0"/>
          </a:p>
          <a:p>
            <a:r>
              <a:rPr lang="en-US" dirty="0"/>
              <a:t>One sprint at a time.</a:t>
            </a:r>
          </a:p>
          <a:p>
            <a:endParaRPr lang="en-US" dirty="0"/>
          </a:p>
          <a:p>
            <a:r>
              <a:rPr lang="en-US" dirty="0"/>
              <a:t>------------------------------------------------------------</a:t>
            </a:r>
          </a:p>
          <a:p>
            <a:endParaRPr lang="en-US" dirty="0"/>
          </a:p>
          <a:p>
            <a:r>
              <a:rPr lang="en-US" dirty="0"/>
              <a:t>STEP 5</a:t>
            </a:r>
          </a:p>
          <a:p>
            <a:endParaRPr lang="en-US" dirty="0"/>
          </a:p>
          <a:p>
            <a:r>
              <a:rPr lang="en-US" dirty="0"/>
              <a:t>Project Created</a:t>
            </a:r>
          </a:p>
          <a:p>
            <a:endParaRPr lang="en-US" dirty="0"/>
          </a:p>
          <a:p>
            <a:r>
              <a:rPr lang="en-US" dirty="0"/>
              <a:t>Visual Studio generates the solution.</a:t>
            </a:r>
          </a:p>
          <a:p>
            <a:endParaRPr lang="en-US" dirty="0"/>
          </a:p>
          <a:p>
            <a:r>
              <a:rPr lang="en-US" dirty="0"/>
              <a:t>Pause.</a:t>
            </a:r>
          </a:p>
          <a:p>
            <a:endParaRPr lang="en-US" dirty="0"/>
          </a:p>
          <a:p>
            <a:r>
              <a:rPr lang="en-US" dirty="0"/>
              <a:t>Then say:</a:t>
            </a:r>
          </a:p>
          <a:p>
            <a:endParaRPr lang="en-US" dirty="0"/>
          </a:p>
          <a:p>
            <a:r>
              <a:rPr lang="en-US" dirty="0"/>
              <a:t>"Look around."</a:t>
            </a:r>
          </a:p>
          <a:p>
            <a:endParaRPr lang="en-US" dirty="0"/>
          </a:p>
          <a:p>
            <a:r>
              <a:rPr lang="en-US" dirty="0"/>
              <a:t>"This..."</a:t>
            </a:r>
          </a:p>
          <a:p>
            <a:endParaRPr lang="en-US" dirty="0"/>
          </a:p>
          <a:p>
            <a:r>
              <a:rPr lang="en-US" dirty="0"/>
              <a:t>"is what a professional project looks like."</a:t>
            </a:r>
          </a:p>
          <a:p>
            <a:endParaRPr lang="en-US" dirty="0"/>
          </a:p>
          <a:p>
            <a:r>
              <a:rPr lang="en-US" dirty="0"/>
              <a:t>Don't explain every folder yet.</a:t>
            </a:r>
          </a:p>
          <a:p>
            <a:endParaRPr lang="en-US" dirty="0"/>
          </a:p>
          <a:p>
            <a:r>
              <a:rPr lang="en-US" dirty="0"/>
              <a:t>Simply allow students to become comfortable.</a:t>
            </a:r>
          </a:p>
          <a:p>
            <a:endParaRPr lang="en-US" dirty="0"/>
          </a:p>
          <a:p>
            <a:r>
              <a:rPr lang="en-US" dirty="0"/>
              <a:t>------------------------------------------------------------</a:t>
            </a:r>
          </a:p>
          <a:p>
            <a:endParaRPr lang="en-US" dirty="0"/>
          </a:p>
          <a:p>
            <a:r>
              <a:rPr lang="en-US" dirty="0"/>
              <a:t>STEP 6</a:t>
            </a:r>
          </a:p>
          <a:p>
            <a:endParaRPr lang="en-US" dirty="0"/>
          </a:p>
          <a:p>
            <a:r>
              <a:rPr lang="en-US" dirty="0"/>
              <a:t>Run the Project</a:t>
            </a:r>
          </a:p>
          <a:p>
            <a:endParaRPr lang="en-US" dirty="0"/>
          </a:p>
          <a:p>
            <a:r>
              <a:rPr lang="en-US" dirty="0"/>
              <a:t>Press F5.</a:t>
            </a:r>
          </a:p>
          <a:p>
            <a:endParaRPr lang="en-US" dirty="0"/>
          </a:p>
          <a:p>
            <a:r>
              <a:rPr lang="en-US" dirty="0"/>
              <a:t>Wait.</a:t>
            </a:r>
          </a:p>
          <a:p>
            <a:endParaRPr lang="en-US" dirty="0"/>
          </a:p>
          <a:p>
            <a:r>
              <a:rPr lang="en-US" dirty="0"/>
              <a:t>When the browser opens...</a:t>
            </a:r>
          </a:p>
          <a:p>
            <a:endParaRPr lang="en-US" dirty="0"/>
          </a:p>
          <a:p>
            <a:r>
              <a:rPr lang="en-US" dirty="0"/>
              <a:t>Pause.</a:t>
            </a:r>
          </a:p>
          <a:p>
            <a:endParaRPr lang="en-US" dirty="0"/>
          </a:p>
          <a:p>
            <a:r>
              <a:rPr lang="en-US" dirty="0"/>
              <a:t>Smile.</a:t>
            </a:r>
          </a:p>
          <a:p>
            <a:endParaRPr lang="en-US" dirty="0"/>
          </a:p>
          <a:p>
            <a:r>
              <a:rPr lang="en-US" dirty="0"/>
              <a:t>Then say:</a:t>
            </a:r>
          </a:p>
          <a:p>
            <a:endParaRPr lang="en-US" dirty="0"/>
          </a:p>
          <a:p>
            <a:r>
              <a:rPr lang="en-US" dirty="0"/>
              <a:t>"Congratulations."</a:t>
            </a:r>
          </a:p>
          <a:p>
            <a:endParaRPr lang="en-US" dirty="0"/>
          </a:p>
          <a:p>
            <a:r>
              <a:rPr lang="en-US" dirty="0"/>
              <a:t>"You just built your first SaaS application foundation."</a:t>
            </a:r>
          </a:p>
          <a:p>
            <a:endParaRPr lang="en-US" dirty="0"/>
          </a:p>
          <a:p>
            <a:r>
              <a:rPr lang="en-US" dirty="0"/>
              <a:t>Students usually smile here.</a:t>
            </a:r>
          </a:p>
          <a:p>
            <a:endParaRPr lang="en-US" dirty="0"/>
          </a:p>
          <a:p>
            <a:r>
              <a:rPr lang="en-US" dirty="0"/>
              <a:t>Celebrate it.</a:t>
            </a:r>
          </a:p>
          <a:p>
            <a:endParaRPr lang="en-US" dirty="0"/>
          </a:p>
          <a:p>
            <a:r>
              <a:rPr lang="en-US" dirty="0"/>
              <a:t>------------------------------------------------------------</a:t>
            </a:r>
          </a:p>
          <a:p>
            <a:endParaRPr lang="en-US" dirty="0"/>
          </a:p>
          <a:p>
            <a:r>
              <a:rPr lang="en-US" dirty="0"/>
              <a:t>WHAT YOU JUST BUILT</a:t>
            </a:r>
          </a:p>
          <a:p>
            <a:endParaRPr lang="en-US" dirty="0"/>
          </a:p>
          <a:p>
            <a:r>
              <a:rPr lang="en-US" dirty="0"/>
              <a:t>Review the summary.</a:t>
            </a:r>
          </a:p>
          <a:p>
            <a:endParaRPr lang="en-US" dirty="0"/>
          </a:p>
          <a:p>
            <a:r>
              <a:rPr lang="en-US" dirty="0"/>
              <a:t>A professional MVC project.</a:t>
            </a:r>
          </a:p>
          <a:p>
            <a:endParaRPr lang="en-US" dirty="0"/>
          </a:p>
          <a:p>
            <a:r>
              <a:rPr lang="en-US" dirty="0"/>
              <a:t>Ready for development.</a:t>
            </a:r>
          </a:p>
          <a:p>
            <a:endParaRPr lang="en-US" dirty="0"/>
          </a:p>
          <a:p>
            <a:r>
              <a:rPr lang="en-US" dirty="0"/>
              <a:t>Ready for Azure.</a:t>
            </a:r>
          </a:p>
          <a:p>
            <a:endParaRPr lang="en-US" dirty="0"/>
          </a:p>
          <a:p>
            <a:r>
              <a:rPr lang="en-US" dirty="0"/>
              <a:t>Ready for Sprint 5.</a:t>
            </a:r>
          </a:p>
          <a:p>
            <a:endParaRPr lang="en-US" dirty="0"/>
          </a:p>
          <a:p>
            <a:r>
              <a:rPr lang="en-US" dirty="0"/>
              <a:t>Explain.</a:t>
            </a:r>
          </a:p>
          <a:p>
            <a:endParaRPr lang="en-US" dirty="0"/>
          </a:p>
          <a:p>
            <a:r>
              <a:rPr lang="en-US" dirty="0"/>
              <a:t>"It doesn't do much yet."</a:t>
            </a:r>
          </a:p>
          <a:p>
            <a:endParaRPr lang="en-US" dirty="0"/>
          </a:p>
          <a:p>
            <a:r>
              <a:rPr lang="en-US" dirty="0"/>
              <a:t>"But that's okay."</a:t>
            </a:r>
          </a:p>
          <a:p>
            <a:endParaRPr lang="en-US" dirty="0"/>
          </a:p>
          <a:p>
            <a:r>
              <a:rPr lang="en-US" dirty="0"/>
              <a:t>"It runs."</a:t>
            </a:r>
          </a:p>
          <a:p>
            <a:endParaRPr lang="en-US" dirty="0"/>
          </a:p>
          <a:p>
            <a:r>
              <a:rPr lang="en-US" dirty="0"/>
              <a:t>"And working software is progress."</a:t>
            </a:r>
          </a:p>
          <a:p>
            <a:endParaRPr lang="en-US" dirty="0"/>
          </a:p>
          <a:p>
            <a:r>
              <a:rPr lang="en-US" dirty="0"/>
              <a:t>------------------------------------------------------------</a:t>
            </a:r>
          </a:p>
          <a:p>
            <a:endParaRPr lang="en-US" dirty="0"/>
          </a:p>
          <a:p>
            <a:r>
              <a:rPr lang="en-US" dirty="0"/>
              <a:t>PROJECT STRUCTURE</a:t>
            </a:r>
          </a:p>
          <a:p>
            <a:endParaRPr lang="en-US" dirty="0"/>
          </a:p>
          <a:p>
            <a:r>
              <a:rPr lang="en-US" dirty="0"/>
              <a:t>Point to the folder tree.</a:t>
            </a:r>
          </a:p>
          <a:p>
            <a:endParaRPr lang="en-US" dirty="0"/>
          </a:p>
          <a:p>
            <a:r>
              <a:rPr lang="en-US" dirty="0"/>
              <a:t>Controllers</a:t>
            </a:r>
          </a:p>
          <a:p>
            <a:endParaRPr lang="en-US" dirty="0"/>
          </a:p>
          <a:p>
            <a:r>
              <a:rPr lang="en-US" dirty="0"/>
              <a:t>Models</a:t>
            </a:r>
          </a:p>
          <a:p>
            <a:endParaRPr lang="en-US" dirty="0"/>
          </a:p>
          <a:p>
            <a:r>
              <a:rPr lang="en-US" dirty="0"/>
              <a:t>Views</a:t>
            </a:r>
          </a:p>
          <a:p>
            <a:endParaRPr lang="en-US" dirty="0"/>
          </a:p>
          <a:p>
            <a:r>
              <a:rPr lang="en-US" dirty="0" err="1"/>
              <a:t>wwwroot</a:t>
            </a:r>
            <a:endParaRPr lang="en-US" dirty="0"/>
          </a:p>
          <a:p>
            <a:endParaRPr lang="en-US" dirty="0"/>
          </a:p>
          <a:p>
            <a:r>
              <a:rPr lang="en-US" dirty="0" err="1"/>
              <a:t>Program.cs</a:t>
            </a:r>
            <a:endParaRPr lang="en-US" dirty="0"/>
          </a:p>
          <a:p>
            <a:endParaRPr lang="en-US" dirty="0"/>
          </a:p>
          <a:p>
            <a:r>
              <a:rPr lang="en-US" dirty="0" err="1"/>
              <a:t>appsettings.json</a:t>
            </a:r>
            <a:endParaRPr lang="en-US" dirty="0"/>
          </a:p>
          <a:p>
            <a:endParaRPr lang="en-US" dirty="0"/>
          </a:p>
          <a:p>
            <a:r>
              <a:rPr lang="en-US" dirty="0"/>
              <a:t>Keep explanations extremely short.</a:t>
            </a:r>
          </a:p>
          <a:p>
            <a:endParaRPr lang="en-US" dirty="0"/>
          </a:p>
          <a:p>
            <a:r>
              <a:rPr lang="en-US" dirty="0"/>
              <a:t>Controllers</a:t>
            </a:r>
          </a:p>
          <a:p>
            <a:endParaRPr lang="en-US" dirty="0"/>
          </a:p>
          <a:p>
            <a:r>
              <a:rPr lang="en-US" dirty="0"/>
              <a:t>Handle requests.</a:t>
            </a:r>
          </a:p>
          <a:p>
            <a:endParaRPr lang="en-US" dirty="0"/>
          </a:p>
          <a:p>
            <a:r>
              <a:rPr lang="en-US" dirty="0"/>
              <a:t>Models</a:t>
            </a:r>
          </a:p>
          <a:p>
            <a:endParaRPr lang="en-US" dirty="0"/>
          </a:p>
          <a:p>
            <a:r>
              <a:rPr lang="en-US" dirty="0"/>
              <a:t>Represent information.</a:t>
            </a:r>
          </a:p>
          <a:p>
            <a:endParaRPr lang="en-US" dirty="0"/>
          </a:p>
          <a:p>
            <a:r>
              <a:rPr lang="en-US" dirty="0"/>
              <a:t>Views</a:t>
            </a:r>
          </a:p>
          <a:p>
            <a:endParaRPr lang="en-US" dirty="0"/>
          </a:p>
          <a:p>
            <a:r>
              <a:rPr lang="en-US" dirty="0"/>
              <a:t>Display pages.</a:t>
            </a:r>
          </a:p>
          <a:p>
            <a:endParaRPr lang="en-US" dirty="0"/>
          </a:p>
          <a:p>
            <a:r>
              <a:rPr lang="en-US" dirty="0" err="1"/>
              <a:t>wwwroot</a:t>
            </a:r>
            <a:endParaRPr lang="en-US" dirty="0"/>
          </a:p>
          <a:p>
            <a:endParaRPr lang="en-US" dirty="0"/>
          </a:p>
          <a:p>
            <a:r>
              <a:rPr lang="en-US" dirty="0"/>
              <a:t>Stores static files.</a:t>
            </a:r>
          </a:p>
          <a:p>
            <a:endParaRPr lang="en-US" dirty="0"/>
          </a:p>
          <a:p>
            <a:r>
              <a:rPr lang="en-US" dirty="0" err="1"/>
              <a:t>Program.cs</a:t>
            </a:r>
            <a:endParaRPr lang="en-US" dirty="0"/>
          </a:p>
          <a:p>
            <a:endParaRPr lang="en-US" dirty="0"/>
          </a:p>
          <a:p>
            <a:r>
              <a:rPr lang="en-US" dirty="0"/>
              <a:t>Starts the application.</a:t>
            </a:r>
          </a:p>
          <a:p>
            <a:endParaRPr lang="en-US" dirty="0"/>
          </a:p>
          <a:p>
            <a:r>
              <a:rPr lang="en-US" dirty="0" err="1"/>
              <a:t>appsettings.json</a:t>
            </a:r>
            <a:endParaRPr lang="en-US" dirty="0"/>
          </a:p>
          <a:p>
            <a:endParaRPr lang="en-US" dirty="0"/>
          </a:p>
          <a:p>
            <a:r>
              <a:rPr lang="en-US" dirty="0"/>
              <a:t>Stores configuration.</a:t>
            </a:r>
          </a:p>
          <a:p>
            <a:endParaRPr lang="en-US" dirty="0"/>
          </a:p>
          <a:p>
            <a:r>
              <a:rPr lang="en-US" dirty="0"/>
              <a:t>Do not dive deeper.</a:t>
            </a:r>
          </a:p>
          <a:p>
            <a:endParaRPr lang="en-US" dirty="0"/>
          </a:p>
          <a:p>
            <a:r>
              <a:rPr lang="en-US" dirty="0"/>
              <a:t>Students only need recognition today.</a:t>
            </a:r>
          </a:p>
          <a:p>
            <a:endParaRPr lang="en-US" dirty="0"/>
          </a:p>
          <a:p>
            <a:r>
              <a:rPr lang="en-US" dirty="0"/>
              <a:t>------------------------------------------------------------</a:t>
            </a:r>
          </a:p>
          <a:p>
            <a:endParaRPr lang="en-US" dirty="0"/>
          </a:p>
          <a:p>
            <a:r>
              <a:rPr lang="en-US" dirty="0"/>
              <a:t>ARCHITECTURE SPOTLIGHT</a:t>
            </a:r>
          </a:p>
          <a:p>
            <a:endParaRPr lang="en-US" dirty="0"/>
          </a:p>
          <a:p>
            <a:r>
              <a:rPr lang="en-US" dirty="0"/>
              <a:t>Microsoft Azure</a:t>
            </a:r>
          </a:p>
          <a:p>
            <a:endParaRPr lang="en-US" dirty="0"/>
          </a:p>
          <a:p>
            <a:r>
              <a:rPr lang="en-US" dirty="0"/>
              <a:t>Ask:</a:t>
            </a:r>
          </a:p>
          <a:p>
            <a:endParaRPr lang="en-US" dirty="0"/>
          </a:p>
          <a:p>
            <a:r>
              <a:rPr lang="en-US" dirty="0"/>
              <a:t>"When we deploy..."</a:t>
            </a:r>
          </a:p>
          <a:p>
            <a:endParaRPr lang="en-US" dirty="0"/>
          </a:p>
          <a:p>
            <a:r>
              <a:rPr lang="en-US" dirty="0"/>
              <a:t>"Where will this project run?"</a:t>
            </a:r>
          </a:p>
          <a:p>
            <a:endParaRPr lang="en-US" dirty="0"/>
          </a:p>
          <a:p>
            <a:r>
              <a:rPr lang="en-US" dirty="0"/>
              <a:t>Students answer:</a:t>
            </a:r>
          </a:p>
          <a:p>
            <a:endParaRPr lang="en-US" dirty="0"/>
          </a:p>
          <a:p>
            <a:r>
              <a:rPr lang="en-US" dirty="0"/>
              <a:t>"In Azure."</a:t>
            </a:r>
          </a:p>
          <a:p>
            <a:endParaRPr lang="en-US" dirty="0"/>
          </a:p>
          <a:p>
            <a:r>
              <a:rPr lang="en-US" dirty="0"/>
              <a:t>Explain.</a:t>
            </a:r>
          </a:p>
          <a:p>
            <a:endParaRPr lang="en-US" dirty="0"/>
          </a:p>
          <a:p>
            <a:r>
              <a:rPr lang="en-US" dirty="0"/>
              <a:t>"Exactly."</a:t>
            </a:r>
          </a:p>
          <a:p>
            <a:endParaRPr lang="en-US" dirty="0"/>
          </a:p>
          <a:p>
            <a:r>
              <a:rPr lang="en-US" dirty="0"/>
              <a:t>"Not on our laptop."</a:t>
            </a:r>
          </a:p>
          <a:p>
            <a:endParaRPr lang="en-US" dirty="0"/>
          </a:p>
          <a:p>
            <a:r>
              <a:rPr lang="en-US" dirty="0"/>
              <a:t>"Our users connect to Azure."</a:t>
            </a:r>
          </a:p>
          <a:p>
            <a:endParaRPr lang="en-US" dirty="0"/>
          </a:p>
          <a:p>
            <a:r>
              <a:rPr lang="en-US" dirty="0"/>
              <a:t>------------------------------------------------------------</a:t>
            </a:r>
          </a:p>
          <a:p>
            <a:endParaRPr lang="en-US" dirty="0"/>
          </a:p>
          <a:p>
            <a:r>
              <a:rPr lang="en-US" dirty="0"/>
              <a:t>ENGINEERING INSIGHT</a:t>
            </a:r>
          </a:p>
          <a:p>
            <a:endParaRPr lang="en-US" dirty="0"/>
          </a:p>
          <a:p>
            <a:r>
              <a:rPr lang="en-US" dirty="0"/>
              <a:t>Read the quote.</a:t>
            </a:r>
          </a:p>
          <a:p>
            <a:endParaRPr lang="en-US" dirty="0"/>
          </a:p>
          <a:p>
            <a:r>
              <a:rPr lang="en-US" dirty="0"/>
              <a:t>"A strong foundation makes every future feature possible."</a:t>
            </a:r>
          </a:p>
          <a:p>
            <a:endParaRPr lang="en-US" dirty="0"/>
          </a:p>
          <a:p>
            <a:r>
              <a:rPr lang="en-US" dirty="0"/>
              <a:t>Pause.</a:t>
            </a:r>
          </a:p>
          <a:p>
            <a:endParaRPr lang="en-US" dirty="0"/>
          </a:p>
          <a:p>
            <a:r>
              <a:rPr lang="en-US" dirty="0"/>
              <a:t>Explain.</a:t>
            </a:r>
          </a:p>
          <a:p>
            <a:endParaRPr lang="en-US" dirty="0"/>
          </a:p>
          <a:p>
            <a:r>
              <a:rPr lang="en-US" dirty="0"/>
              <a:t>"The best software isn't built by rushing."</a:t>
            </a:r>
          </a:p>
          <a:p>
            <a:endParaRPr lang="en-US" dirty="0"/>
          </a:p>
          <a:p>
            <a:r>
              <a:rPr lang="en-US" dirty="0"/>
              <a:t>"It's built carefully."</a:t>
            </a:r>
          </a:p>
          <a:p>
            <a:endParaRPr lang="en-US" dirty="0"/>
          </a:p>
          <a:p>
            <a:r>
              <a:rPr lang="en-US" dirty="0"/>
              <a:t>------------------------------------------------------------</a:t>
            </a:r>
          </a:p>
          <a:p>
            <a:endParaRPr lang="en-US" dirty="0"/>
          </a:p>
          <a:p>
            <a:r>
              <a:rPr lang="en-US" dirty="0"/>
              <a:t>BUILD CHALLENGE</a:t>
            </a:r>
          </a:p>
          <a:p>
            <a:endParaRPr lang="en-US" dirty="0"/>
          </a:p>
          <a:p>
            <a:r>
              <a:rPr lang="en-US" dirty="0"/>
              <a:t>Challenge students.</a:t>
            </a:r>
          </a:p>
          <a:p>
            <a:endParaRPr lang="en-US" dirty="0"/>
          </a:p>
          <a:p>
            <a:r>
              <a:rPr lang="en-US" dirty="0"/>
              <a:t>Create the project.</a:t>
            </a:r>
          </a:p>
          <a:p>
            <a:endParaRPr lang="en-US" dirty="0"/>
          </a:p>
          <a:p>
            <a:r>
              <a:rPr lang="en-US" dirty="0"/>
              <a:t>Run it successfully.</a:t>
            </a:r>
          </a:p>
          <a:p>
            <a:endParaRPr lang="en-US" dirty="0"/>
          </a:p>
          <a:p>
            <a:r>
              <a:rPr lang="en-US" dirty="0"/>
              <a:t>Take a screenshot of the default home page.</a:t>
            </a:r>
          </a:p>
          <a:p>
            <a:endParaRPr lang="en-US" dirty="0"/>
          </a:p>
          <a:p>
            <a:r>
              <a:rPr lang="en-US" dirty="0"/>
              <a:t>Save it in your engineering journal.</a:t>
            </a:r>
          </a:p>
          <a:p>
            <a:endParaRPr lang="en-US" dirty="0"/>
          </a:p>
          <a:p>
            <a:r>
              <a:rPr lang="en-US" dirty="0"/>
              <a:t>Explain:</a:t>
            </a:r>
          </a:p>
          <a:p>
            <a:endParaRPr lang="en-US" dirty="0"/>
          </a:p>
          <a:p>
            <a:r>
              <a:rPr lang="en-US" dirty="0"/>
              <a:t>"This is the first milestone of Atlas </a:t>
            </a:r>
            <a:r>
              <a:rPr lang="en-US" dirty="0" err="1"/>
              <a:t>TaskFlow</a:t>
            </a:r>
            <a:r>
              <a:rPr lang="en-US" dirty="0"/>
              <a:t>."</a:t>
            </a:r>
          </a:p>
          <a:p>
            <a:endParaRPr lang="en-US" dirty="0"/>
          </a:p>
          <a:p>
            <a:r>
              <a:rPr lang="en-US" dirty="0"/>
              <a:t>------------------------------------------------------------</a:t>
            </a:r>
          </a:p>
          <a:p>
            <a:endParaRPr lang="en-US" dirty="0"/>
          </a:p>
          <a:p>
            <a:r>
              <a:rPr lang="en-US" dirty="0"/>
              <a:t>ROADMAP</a:t>
            </a:r>
          </a:p>
          <a:p>
            <a:endParaRPr lang="en-US" dirty="0"/>
          </a:p>
          <a:p>
            <a:r>
              <a:rPr lang="en-US" dirty="0"/>
              <a:t>Point to Sprint 4.</a:t>
            </a:r>
          </a:p>
          <a:p>
            <a:endParaRPr lang="en-US" dirty="0"/>
          </a:p>
          <a:p>
            <a:r>
              <a:rPr lang="en-US" dirty="0"/>
              <a:t>Explain.</a:t>
            </a:r>
          </a:p>
          <a:p>
            <a:endParaRPr lang="en-US" dirty="0"/>
          </a:p>
          <a:p>
            <a:r>
              <a:rPr lang="en-US" dirty="0"/>
              <a:t>"Today we built the foundation."</a:t>
            </a:r>
          </a:p>
          <a:p>
            <a:endParaRPr lang="en-US" dirty="0"/>
          </a:p>
          <a:p>
            <a:r>
              <a:rPr lang="en-US" dirty="0"/>
              <a:t>Next:</a:t>
            </a:r>
          </a:p>
          <a:p>
            <a:endParaRPr lang="en-US" dirty="0"/>
          </a:p>
          <a:p>
            <a:r>
              <a:rPr lang="en-US" dirty="0"/>
              <a:t>Understand MVC.</a:t>
            </a:r>
          </a:p>
          <a:p>
            <a:endParaRPr lang="en-US" dirty="0"/>
          </a:p>
          <a:p>
            <a:r>
              <a:rPr lang="en-US" dirty="0"/>
              <a:t>Build the interface.</a:t>
            </a:r>
          </a:p>
          <a:p>
            <a:endParaRPr lang="en-US" dirty="0"/>
          </a:p>
          <a:p>
            <a:r>
              <a:rPr lang="en-US" dirty="0"/>
              <a:t>Deploy.</a:t>
            </a:r>
          </a:p>
          <a:p>
            <a:endParaRPr lang="en-US" dirty="0"/>
          </a:p>
          <a:p>
            <a:r>
              <a:rPr lang="en-US" dirty="0"/>
              <a:t>Every lesson moves the application forward.</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"What happens after we create a project?"</a:t>
            </a:r>
          </a:p>
          <a:p>
            <a:endParaRPr lang="en-US" dirty="0"/>
          </a:p>
          <a:p>
            <a:r>
              <a:rPr lang="en-US" dirty="0"/>
              <a:t>Students answer:</a:t>
            </a:r>
          </a:p>
          <a:p>
            <a:endParaRPr lang="en-US" dirty="0"/>
          </a:p>
          <a:p>
            <a:r>
              <a:rPr lang="en-US" dirty="0"/>
              <a:t>"We start building."</a:t>
            </a:r>
          </a:p>
          <a:p>
            <a:endParaRPr lang="en-US" dirty="0"/>
          </a:p>
          <a:p>
            <a:r>
              <a:rPr lang="en-US" dirty="0"/>
              <a:t>Exactly.</a:t>
            </a:r>
          </a:p>
          <a:p>
            <a:endParaRPr lang="en-US" dirty="0"/>
          </a:p>
          <a:p>
            <a:r>
              <a:rPr lang="en-US" dirty="0"/>
              <a:t>"Our project exists."</a:t>
            </a:r>
          </a:p>
          <a:p>
            <a:endParaRPr lang="en-US" dirty="0"/>
          </a:p>
          <a:p>
            <a:r>
              <a:rPr lang="en-US" dirty="0"/>
              <a:t>"Now let's understand how it's organized."</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surprised you most about creating the project?"</a:t>
            </a:r>
          </a:p>
          <a:p>
            <a:endParaRPr lang="en-US" dirty="0"/>
          </a:p>
          <a:p>
            <a:r>
              <a:rPr lang="en-US" dirty="0"/>
              <a:t>"Did the structure look different than a desktop application?"</a:t>
            </a:r>
          </a:p>
          <a:p>
            <a:endParaRPr lang="en-US" dirty="0"/>
          </a:p>
          <a:p>
            <a:r>
              <a:rPr lang="en-US" dirty="0"/>
              <a:t>"What folders looked familiar?"</a:t>
            </a:r>
          </a:p>
          <a:p>
            <a:endParaRPr lang="en-US" dirty="0"/>
          </a:p>
          <a:p>
            <a:r>
              <a:rPr lang="en-US" dirty="0"/>
              <a:t>Keep discussion informal.</a:t>
            </a:r>
          </a:p>
          <a:p>
            <a:endParaRPr lang="en-US" dirty="0"/>
          </a:p>
          <a:p>
            <a:r>
              <a:rPr lang="en-US" dirty="0"/>
              <a:t>------------------------------------------------------------</a:t>
            </a:r>
          </a:p>
          <a:p>
            <a:endParaRPr lang="en-US" dirty="0"/>
          </a:p>
          <a:p>
            <a:r>
              <a:rPr lang="en-US" dirty="0"/>
              <a:t>THE MOMENT</a:t>
            </a:r>
          </a:p>
          <a:p>
            <a:endParaRPr lang="en-US" dirty="0"/>
          </a:p>
          <a:p>
            <a:r>
              <a:rPr lang="en-US" dirty="0"/>
              <a:t>Walk around the classroom.</a:t>
            </a:r>
          </a:p>
          <a:p>
            <a:endParaRPr lang="en-US" dirty="0"/>
          </a:p>
          <a:p>
            <a:r>
              <a:rPr lang="en-US" dirty="0"/>
              <a:t>Look at students' screens.</a:t>
            </a:r>
          </a:p>
          <a:p>
            <a:endParaRPr lang="en-US" dirty="0"/>
          </a:p>
          <a:p>
            <a:r>
              <a:rPr lang="en-US" dirty="0"/>
              <a:t>Then say...</a:t>
            </a:r>
          </a:p>
          <a:p>
            <a:endParaRPr lang="en-US" dirty="0"/>
          </a:p>
          <a:p>
            <a:r>
              <a:rPr lang="en-US" dirty="0"/>
              <a:t>"Every application you've ever used..."</a:t>
            </a:r>
          </a:p>
          <a:p>
            <a:endParaRPr lang="en-US" dirty="0"/>
          </a:p>
          <a:p>
            <a:r>
              <a:rPr lang="en-US" dirty="0"/>
              <a:t>"Started exactly like this."</a:t>
            </a:r>
          </a:p>
          <a:p>
            <a:endParaRPr lang="en-US" dirty="0"/>
          </a:p>
          <a:p>
            <a:r>
              <a:rPr lang="en-US" dirty="0"/>
              <a:t>Pause.</a:t>
            </a:r>
          </a:p>
          <a:p>
            <a:endParaRPr lang="en-US" dirty="0"/>
          </a:p>
          <a:p>
            <a:r>
              <a:rPr lang="en-US" dirty="0"/>
              <a:t>"Google."</a:t>
            </a:r>
          </a:p>
          <a:p>
            <a:endParaRPr lang="en-US" dirty="0"/>
          </a:p>
          <a:p>
            <a:r>
              <a:rPr lang="en-US" dirty="0"/>
              <a:t>"Amazon."</a:t>
            </a:r>
          </a:p>
          <a:p>
            <a:endParaRPr lang="en-US" dirty="0"/>
          </a:p>
          <a:p>
            <a:r>
              <a:rPr lang="en-US" dirty="0"/>
              <a:t>"Canvas."</a:t>
            </a:r>
          </a:p>
          <a:p>
            <a:endParaRPr lang="en-US" dirty="0"/>
          </a:p>
          <a:p>
            <a:r>
              <a:rPr lang="en-US" dirty="0"/>
              <a:t>"GitHub."</a:t>
            </a:r>
          </a:p>
          <a:p>
            <a:endParaRPr lang="en-US" dirty="0"/>
          </a:p>
          <a:p>
            <a:r>
              <a:rPr lang="en-US" dirty="0"/>
              <a:t>"They all began..."</a:t>
            </a:r>
          </a:p>
          <a:p>
            <a:endParaRPr lang="en-US" dirty="0"/>
          </a:p>
          <a:p>
            <a:r>
              <a:rPr lang="en-US" dirty="0"/>
              <a:t>"With someone's first project."</a:t>
            </a:r>
          </a:p>
          <a:p>
            <a:endParaRPr lang="en-US" dirty="0"/>
          </a:p>
          <a:p>
            <a:r>
              <a:rPr lang="en-US" dirty="0"/>
              <a:t>Look around.</a:t>
            </a:r>
          </a:p>
          <a:p>
            <a:endParaRPr lang="en-US" dirty="0"/>
          </a:p>
          <a:p>
            <a:r>
              <a:rPr lang="en-US" dirty="0"/>
              <a:t>Then smile.</a:t>
            </a:r>
          </a:p>
          <a:p>
            <a:endParaRPr lang="en-US" dirty="0"/>
          </a:p>
          <a:p>
            <a:r>
              <a:rPr lang="en-US" dirty="0"/>
              <a:t>"And today..."</a:t>
            </a:r>
          </a:p>
          <a:p>
            <a:endParaRPr lang="en-US" dirty="0"/>
          </a:p>
          <a:p>
            <a:r>
              <a:rPr lang="en-US" dirty="0"/>
              <a:t>"So did yours."</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Why This Matters...................8 minutes</a:t>
            </a:r>
          </a:p>
          <a:p>
            <a:endParaRPr lang="en-US" dirty="0"/>
          </a:p>
          <a:p>
            <a:r>
              <a:rPr lang="en-US" dirty="0"/>
              <a:t>Project Creation..................20 minutes</a:t>
            </a:r>
          </a:p>
          <a:p>
            <a:endParaRPr lang="en-US" dirty="0"/>
          </a:p>
          <a:p>
            <a:r>
              <a:rPr lang="en-US" dirty="0"/>
              <a:t>Project Structure.................10 minutes</a:t>
            </a:r>
          </a:p>
          <a:p>
            <a:endParaRPr lang="en-US" dirty="0"/>
          </a:p>
          <a:p>
            <a:r>
              <a:rPr lang="en-US" dirty="0"/>
              <a:t>Architecture Spotlight............5 minutes</a:t>
            </a:r>
          </a:p>
          <a:p>
            <a:endParaRPr lang="en-US" dirty="0"/>
          </a:p>
          <a:p>
            <a:r>
              <a:rPr lang="en-US" dirty="0"/>
              <a:t>Build Challenge..................10 minutes</a:t>
            </a:r>
          </a:p>
          <a:p>
            <a:endParaRPr lang="en-US" dirty="0"/>
          </a:p>
          <a:p>
            <a:r>
              <a:rPr lang="en-US" dirty="0"/>
              <a:t>Discussion........................5 minutes</a:t>
            </a:r>
          </a:p>
          <a:p>
            <a:endParaRPr lang="en-US" dirty="0"/>
          </a:p>
          <a:p>
            <a:r>
              <a:rPr lang="en-US" dirty="0"/>
              <a:t>Closing...........................2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lesson should feel like a workshop rather than a lecture.</a:t>
            </a:r>
          </a:p>
          <a:p>
            <a:endParaRPr lang="en-US" dirty="0"/>
          </a:p>
          <a:p>
            <a:r>
              <a:rPr lang="en-US" dirty="0"/>
              <a:t>Walk around the classroom.</a:t>
            </a:r>
          </a:p>
          <a:p>
            <a:endParaRPr lang="en-US" dirty="0"/>
          </a:p>
          <a:p>
            <a:r>
              <a:rPr lang="en-US" dirty="0"/>
              <a:t>Help students individually.</a:t>
            </a:r>
          </a:p>
          <a:p>
            <a:endParaRPr lang="en-US" dirty="0"/>
          </a:p>
          <a:p>
            <a:r>
              <a:rPr lang="en-US" dirty="0"/>
              <a:t>Celebrate every successful build.</a:t>
            </a:r>
          </a:p>
          <a:p>
            <a:endParaRPr lang="en-US" dirty="0"/>
          </a:p>
          <a:p>
            <a:r>
              <a:rPr lang="en-US" dirty="0"/>
              <a:t>Avoid teaching advanced MVC concepts.</a:t>
            </a:r>
          </a:p>
          <a:p>
            <a:endParaRPr lang="en-US" dirty="0"/>
          </a:p>
          <a:p>
            <a:r>
              <a:rPr lang="en-US" dirty="0"/>
              <a:t>Avoid discussing dependency injection, middleware, routing,</a:t>
            </a:r>
          </a:p>
          <a:p>
            <a:r>
              <a:rPr lang="en-US" dirty="0"/>
              <a:t>configuration, or services.</a:t>
            </a:r>
          </a:p>
          <a:p>
            <a:endParaRPr lang="en-US" dirty="0"/>
          </a:p>
          <a:p>
            <a:r>
              <a:rPr lang="en-US" dirty="0"/>
              <a:t>Those belong in future lessons.</a:t>
            </a:r>
          </a:p>
          <a:p>
            <a:endParaRPr lang="en-US" dirty="0"/>
          </a:p>
          <a:p>
            <a:r>
              <a:rPr lang="en-US" dirty="0"/>
              <a:t>Today's goal is simple:</a:t>
            </a:r>
          </a:p>
          <a:p>
            <a:endParaRPr lang="en-US" dirty="0"/>
          </a:p>
          <a:p>
            <a:r>
              <a:rPr lang="en-US" dirty="0"/>
              <a:t>Students create a professional project.</a:t>
            </a:r>
          </a:p>
          <a:p>
            <a:endParaRPr lang="en-US" dirty="0"/>
          </a:p>
          <a:p>
            <a:r>
              <a:rPr lang="en-US" dirty="0"/>
              <a:t>Students run the application.</a:t>
            </a:r>
          </a:p>
          <a:p>
            <a:endParaRPr lang="en-US" dirty="0"/>
          </a:p>
          <a:p>
            <a:r>
              <a:rPr lang="en-US" dirty="0"/>
              <a:t>Students gain confidence.</a:t>
            </a:r>
          </a:p>
          <a:p>
            <a:endParaRPr lang="en-US" dirty="0"/>
          </a:p>
          <a:p>
            <a:r>
              <a:rPr lang="en-US" dirty="0"/>
              <a:t>Close with:</a:t>
            </a:r>
          </a:p>
          <a:p>
            <a:endParaRPr lang="en-US" dirty="0"/>
          </a:p>
          <a:p>
            <a:r>
              <a:rPr lang="en-US" dirty="0"/>
              <a:t>"Engineers..."</a:t>
            </a:r>
          </a:p>
          <a:p>
            <a:endParaRPr lang="en-US" dirty="0"/>
          </a:p>
          <a:p>
            <a:r>
              <a:rPr lang="en-US" dirty="0"/>
              <a:t>"Atlas </a:t>
            </a:r>
            <a:r>
              <a:rPr lang="en-US" dirty="0" err="1"/>
              <a:t>TaskFlow</a:t>
            </a:r>
            <a:r>
              <a:rPr lang="en-US" dirty="0"/>
              <a:t> officially exists."</a:t>
            </a:r>
          </a:p>
          <a:p>
            <a:endParaRPr lang="en-US" dirty="0"/>
          </a:p>
          <a:p>
            <a:r>
              <a:rPr lang="en-US" dirty="0"/>
              <a:t>"And we're just getting started."</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3</a:t>
            </a:fld>
            <a:endParaRPr lang="en-US"/>
          </a:p>
        </p:txBody>
      </p:sp>
    </p:spTree>
    <p:extLst>
      <p:ext uri="{BB962C8B-B14F-4D97-AF65-F5344CB8AC3E}">
        <p14:creationId xmlns:p14="http://schemas.microsoft.com/office/powerpoint/2010/main" val="4222927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UNDERSTANDING MVC</a:t>
            </a:r>
          </a:p>
          <a:p>
            <a:endParaRPr lang="en-US" dirty="0"/>
          </a:p>
          <a:p>
            <a:r>
              <a:rPr lang="en-US" dirty="0"/>
              <a:t>============================================================</a:t>
            </a:r>
          </a:p>
          <a:p>
            <a:endParaRPr lang="en-US" dirty="0"/>
          </a:p>
          <a:p>
            <a:r>
              <a:rPr lang="en-US" dirty="0"/>
              <a:t>SLIDE PURPOSE</a:t>
            </a:r>
          </a:p>
          <a:p>
            <a:endParaRPr lang="en-US" dirty="0"/>
          </a:p>
          <a:p>
            <a:r>
              <a:rPr lang="en-US" dirty="0"/>
              <a:t>Introduce the Model-View-Controller (MVC) architectural pattern used by</a:t>
            </a:r>
          </a:p>
          <a:p>
            <a:r>
              <a:rPr lang="en-US" dirty="0"/>
              <a:t>Atlas </a:t>
            </a:r>
            <a:r>
              <a:rPr lang="en-US" dirty="0" err="1"/>
              <a:t>TaskFlow</a:t>
            </a:r>
            <a:r>
              <a:rPr lang="en-US" dirty="0"/>
              <a:t>.</a:t>
            </a:r>
          </a:p>
          <a:p>
            <a:endParaRPr lang="en-US" dirty="0"/>
          </a:p>
          <a:p>
            <a:r>
              <a:rPr lang="en-US" dirty="0"/>
              <a:t>Students should understand that MVC is simply a way to organize an</a:t>
            </a:r>
          </a:p>
          <a:p>
            <a:r>
              <a:rPr lang="en-US" dirty="0"/>
              <a:t>application by giving each part a specific responsibility.</a:t>
            </a:r>
          </a:p>
          <a:p>
            <a:endParaRPr lang="en-US" dirty="0"/>
          </a:p>
          <a:p>
            <a:r>
              <a:rPr lang="en-US" dirty="0"/>
              <a:t>The goal is understanding—not mastery.</a:t>
            </a:r>
          </a:p>
          <a:p>
            <a:endParaRPr lang="en-US" dirty="0"/>
          </a:p>
          <a:p>
            <a:r>
              <a:rPr lang="en-US" dirty="0"/>
              <a:t>Avoid advanced MVC topics and keep the lesson focused on how MVC supports</a:t>
            </a:r>
          </a:p>
          <a:p>
            <a:r>
              <a:rPr lang="en-US" dirty="0"/>
              <a:t>the SaaS application they are building.</a:t>
            </a:r>
          </a:p>
          <a:p>
            <a:endParaRPr lang="en-US" dirty="0"/>
          </a:p>
          <a:p>
            <a:r>
              <a:rPr lang="en-US" dirty="0"/>
              <a:t>------------------------------------------------------------</a:t>
            </a:r>
          </a:p>
          <a:p>
            <a:endParaRPr lang="en-US" dirty="0"/>
          </a:p>
          <a:p>
            <a:r>
              <a:rPr lang="en-US" dirty="0"/>
              <a:t>OPENING</a:t>
            </a:r>
          </a:p>
          <a:p>
            <a:endParaRPr lang="en-US" dirty="0"/>
          </a:p>
          <a:p>
            <a:r>
              <a:rPr lang="en-US" dirty="0"/>
              <a:t>"Last class..."</a:t>
            </a:r>
          </a:p>
          <a:p>
            <a:endParaRPr lang="en-US" dirty="0"/>
          </a:p>
          <a:p>
            <a:r>
              <a:rPr lang="en-US" dirty="0"/>
              <a:t>"We created Atlas </a:t>
            </a:r>
            <a:r>
              <a:rPr lang="en-US" dirty="0" err="1"/>
              <a:t>TaskFlow</a:t>
            </a:r>
            <a:r>
              <a:rPr lang="en-US" dirty="0"/>
              <a:t>."</a:t>
            </a:r>
          </a:p>
          <a:p>
            <a:endParaRPr lang="en-US" dirty="0"/>
          </a:p>
          <a:p>
            <a:r>
              <a:rPr lang="en-US" dirty="0"/>
              <a:t>"It runs."</a:t>
            </a:r>
          </a:p>
          <a:p>
            <a:endParaRPr lang="en-US" dirty="0"/>
          </a:p>
          <a:p>
            <a:r>
              <a:rPr lang="en-US" dirty="0"/>
              <a:t>"It has folders."</a:t>
            </a:r>
          </a:p>
          <a:p>
            <a:endParaRPr lang="en-US" dirty="0"/>
          </a:p>
          <a:p>
            <a:r>
              <a:rPr lang="en-US" dirty="0"/>
              <a:t>"It has files."</a:t>
            </a:r>
          </a:p>
          <a:p>
            <a:endParaRPr lang="en-US" dirty="0"/>
          </a:p>
          <a:p>
            <a:r>
              <a:rPr lang="en-US" dirty="0"/>
              <a:t>"But today we're going to answer a simple question."</a:t>
            </a:r>
          </a:p>
          <a:p>
            <a:endParaRPr lang="en-US" dirty="0"/>
          </a:p>
          <a:p>
            <a:r>
              <a:rPr lang="en-US" dirty="0"/>
              <a:t>Pause.</a:t>
            </a:r>
          </a:p>
          <a:p>
            <a:endParaRPr lang="en-US" dirty="0"/>
          </a:p>
          <a:p>
            <a:r>
              <a:rPr lang="en-US" dirty="0"/>
              <a:t>"Why is it organized this way?"</a:t>
            </a:r>
          </a:p>
          <a:p>
            <a:endParaRPr lang="en-US" dirty="0"/>
          </a:p>
          <a:p>
            <a:r>
              <a:rPr lang="en-US" dirty="0"/>
              <a:t>Smile.</a:t>
            </a:r>
          </a:p>
          <a:p>
            <a:endParaRPr lang="en-US" dirty="0"/>
          </a:p>
          <a:p>
            <a:r>
              <a:rPr lang="en-US" dirty="0"/>
              <a:t>"That's where MVC comes in."</a:t>
            </a:r>
          </a:p>
          <a:p>
            <a:endParaRPr lang="en-US" dirty="0"/>
          </a:p>
          <a:p>
            <a:r>
              <a:rPr lang="en-US" dirty="0"/>
              <a:t>------------------------------------------------------------</a:t>
            </a:r>
          </a:p>
          <a:p>
            <a:endParaRPr lang="en-US" dirty="0"/>
          </a:p>
          <a:p>
            <a:r>
              <a:rPr lang="en-US" dirty="0"/>
              <a:t>THE BIG IDEA</a:t>
            </a:r>
          </a:p>
          <a:p>
            <a:endParaRPr lang="en-US" dirty="0"/>
          </a:p>
          <a:p>
            <a:r>
              <a:rPr lang="en-US" dirty="0"/>
              <a:t>Point to the subtitle.</a:t>
            </a:r>
          </a:p>
          <a:p>
            <a:endParaRPr lang="en-US" dirty="0"/>
          </a:p>
          <a:p>
            <a:r>
              <a:rPr lang="en-US" dirty="0"/>
              <a:t>"MVC is the blueprint that organizes our SaaS application."</a:t>
            </a:r>
          </a:p>
          <a:p>
            <a:endParaRPr lang="en-US" dirty="0"/>
          </a:p>
          <a:p>
            <a:r>
              <a:rPr lang="en-US" dirty="0"/>
              <a:t>Explain.</a:t>
            </a:r>
          </a:p>
          <a:p>
            <a:endParaRPr lang="en-US" dirty="0"/>
          </a:p>
          <a:p>
            <a:r>
              <a:rPr lang="en-US" dirty="0"/>
              <a:t>"When engineers build large applications..."</a:t>
            </a:r>
          </a:p>
          <a:p>
            <a:endParaRPr lang="en-US" dirty="0"/>
          </a:p>
          <a:p>
            <a:r>
              <a:rPr lang="en-US" dirty="0"/>
              <a:t>"They don't put everything into one file."</a:t>
            </a:r>
          </a:p>
          <a:p>
            <a:endParaRPr lang="en-US" dirty="0"/>
          </a:p>
          <a:p>
            <a:r>
              <a:rPr lang="en-US" dirty="0"/>
              <a:t>"They organize it."</a:t>
            </a:r>
          </a:p>
          <a:p>
            <a:endParaRPr lang="en-US" dirty="0"/>
          </a:p>
          <a:p>
            <a:r>
              <a:rPr lang="en-US" dirty="0"/>
              <a:t>"That's exactly what MVC helps us do."</a:t>
            </a:r>
          </a:p>
          <a:p>
            <a:endParaRPr lang="en-US" dirty="0"/>
          </a:p>
          <a:p>
            <a:r>
              <a:rPr lang="en-US" dirty="0"/>
              <a:t>------------------------------------------------------------</a:t>
            </a:r>
          </a:p>
          <a:p>
            <a:endParaRPr lang="en-US" dirty="0"/>
          </a:p>
          <a:p>
            <a:r>
              <a:rPr lang="en-US" dirty="0"/>
              <a:t>WHAT IS MVC?</a:t>
            </a:r>
          </a:p>
          <a:p>
            <a:endParaRPr lang="en-US" dirty="0"/>
          </a:p>
          <a:p>
            <a:r>
              <a:rPr lang="en-US" dirty="0"/>
              <a:t>Read the definition.</a:t>
            </a:r>
          </a:p>
          <a:p>
            <a:endParaRPr lang="en-US" dirty="0"/>
          </a:p>
          <a:p>
            <a:r>
              <a:rPr lang="en-US" dirty="0"/>
              <a:t>"MVC stands for Model-View-Controller."</a:t>
            </a:r>
          </a:p>
          <a:p>
            <a:endParaRPr lang="en-US" dirty="0"/>
          </a:p>
          <a:p>
            <a:r>
              <a:rPr lang="en-US" dirty="0"/>
              <a:t>Explain each word simply.</a:t>
            </a:r>
          </a:p>
          <a:p>
            <a:endParaRPr lang="en-US" dirty="0"/>
          </a:p>
          <a:p>
            <a:r>
              <a:rPr lang="en-US" dirty="0"/>
              <a:t>Model</a:t>
            </a:r>
          </a:p>
          <a:p>
            <a:endParaRPr lang="en-US" dirty="0"/>
          </a:p>
          <a:p>
            <a:r>
              <a:rPr lang="en-US" dirty="0"/>
              <a:t>Stores and represents information.</a:t>
            </a:r>
          </a:p>
          <a:p>
            <a:endParaRPr lang="en-US" dirty="0"/>
          </a:p>
          <a:p>
            <a:r>
              <a:rPr lang="en-US" dirty="0"/>
              <a:t>View</a:t>
            </a:r>
          </a:p>
          <a:p>
            <a:endParaRPr lang="en-US" dirty="0"/>
          </a:p>
          <a:p>
            <a:r>
              <a:rPr lang="en-US" dirty="0"/>
              <a:t>Displays information.</a:t>
            </a:r>
          </a:p>
          <a:p>
            <a:endParaRPr lang="en-US" dirty="0"/>
          </a:p>
          <a:p>
            <a:r>
              <a:rPr lang="en-US" dirty="0"/>
              <a:t>Controller</a:t>
            </a:r>
          </a:p>
          <a:p>
            <a:endParaRPr lang="en-US" dirty="0"/>
          </a:p>
          <a:p>
            <a:r>
              <a:rPr lang="en-US" dirty="0"/>
              <a:t>Coordinates what happens.</a:t>
            </a:r>
          </a:p>
          <a:p>
            <a:endParaRPr lang="en-US" dirty="0"/>
          </a:p>
          <a:p>
            <a:r>
              <a:rPr lang="en-US" dirty="0"/>
              <a:t>Pause.</a:t>
            </a:r>
          </a:p>
          <a:p>
            <a:endParaRPr lang="en-US" dirty="0"/>
          </a:p>
          <a:p>
            <a:r>
              <a:rPr lang="en-US" dirty="0"/>
              <a:t>Then say:</a:t>
            </a:r>
          </a:p>
          <a:p>
            <a:endParaRPr lang="en-US" dirty="0"/>
          </a:p>
          <a:p>
            <a:r>
              <a:rPr lang="en-US" dirty="0"/>
              <a:t>"Think of MVC as teamwork."</a:t>
            </a:r>
          </a:p>
          <a:p>
            <a:endParaRPr lang="en-US" dirty="0"/>
          </a:p>
          <a:p>
            <a:r>
              <a:rPr lang="en-US" dirty="0"/>
              <a:t>"Each part has one job."</a:t>
            </a:r>
          </a:p>
          <a:p>
            <a:endParaRPr lang="en-US" dirty="0"/>
          </a:p>
          <a:p>
            <a:r>
              <a:rPr lang="en-US" dirty="0"/>
              <a:t>------------------------------------------------------------</a:t>
            </a:r>
          </a:p>
          <a:p>
            <a:endParaRPr lang="en-US" dirty="0"/>
          </a:p>
          <a:p>
            <a:r>
              <a:rPr lang="en-US" dirty="0"/>
              <a:t>WHY MVC?</a:t>
            </a:r>
          </a:p>
          <a:p>
            <a:endParaRPr lang="en-US" dirty="0"/>
          </a:p>
          <a:p>
            <a:r>
              <a:rPr lang="en-US" dirty="0"/>
              <a:t>Point to the left panel.</a:t>
            </a:r>
          </a:p>
          <a:p>
            <a:endParaRPr lang="en-US" dirty="0"/>
          </a:p>
          <a:p>
            <a:r>
              <a:rPr lang="en-US" dirty="0"/>
              <a:t>Discuss each reason.</a:t>
            </a:r>
          </a:p>
          <a:p>
            <a:endParaRPr lang="en-US" dirty="0"/>
          </a:p>
          <a:p>
            <a:r>
              <a:rPr lang="en-US" dirty="0"/>
              <a:t>Organized.</a:t>
            </a:r>
          </a:p>
          <a:p>
            <a:endParaRPr lang="en-US" dirty="0"/>
          </a:p>
          <a:p>
            <a:r>
              <a:rPr lang="en-US" dirty="0"/>
              <a:t>Maintainable.</a:t>
            </a:r>
          </a:p>
          <a:p>
            <a:endParaRPr lang="en-US" dirty="0"/>
          </a:p>
          <a:p>
            <a:r>
              <a:rPr lang="en-US" dirty="0"/>
              <a:t>Testable.</a:t>
            </a:r>
          </a:p>
          <a:p>
            <a:endParaRPr lang="en-US" dirty="0"/>
          </a:p>
          <a:p>
            <a:r>
              <a:rPr lang="en-US" dirty="0"/>
              <a:t>Scalable.</a:t>
            </a:r>
          </a:p>
          <a:p>
            <a:endParaRPr lang="en-US" dirty="0"/>
          </a:p>
          <a:p>
            <a:r>
              <a:rPr lang="en-US" dirty="0"/>
              <a:t>Explain.</a:t>
            </a:r>
          </a:p>
          <a:p>
            <a:endParaRPr lang="en-US" dirty="0"/>
          </a:p>
          <a:p>
            <a:r>
              <a:rPr lang="en-US" dirty="0"/>
              <a:t>"If every part has one responsibility..."</a:t>
            </a:r>
          </a:p>
          <a:p>
            <a:endParaRPr lang="en-US" dirty="0"/>
          </a:p>
          <a:p>
            <a:r>
              <a:rPr lang="en-US" dirty="0"/>
              <a:t>"The application becomes easier to understand."</a:t>
            </a:r>
          </a:p>
          <a:p>
            <a:endParaRPr lang="en-US" dirty="0"/>
          </a:p>
          <a:p>
            <a:r>
              <a:rPr lang="en-US" dirty="0"/>
              <a:t>Ask:</a:t>
            </a:r>
          </a:p>
          <a:p>
            <a:endParaRPr lang="en-US" dirty="0"/>
          </a:p>
          <a:p>
            <a:r>
              <a:rPr lang="en-US" dirty="0"/>
              <a:t>"What happens when one person tries to do every job?"</a:t>
            </a:r>
          </a:p>
          <a:p>
            <a:endParaRPr lang="en-US" dirty="0"/>
          </a:p>
          <a:p>
            <a:r>
              <a:rPr lang="en-US" dirty="0"/>
              <a:t>Students answer:</a:t>
            </a:r>
          </a:p>
          <a:p>
            <a:endParaRPr lang="en-US" dirty="0"/>
          </a:p>
          <a:p>
            <a:r>
              <a:rPr lang="en-US" dirty="0"/>
              <a:t>"It becomes messy."</a:t>
            </a:r>
          </a:p>
          <a:p>
            <a:endParaRPr lang="en-US" dirty="0"/>
          </a:p>
          <a:p>
            <a:r>
              <a:rPr lang="en-US" dirty="0"/>
              <a:t>"Exactly."</a:t>
            </a:r>
          </a:p>
          <a:p>
            <a:endParaRPr lang="en-US" dirty="0"/>
          </a:p>
          <a:p>
            <a:r>
              <a:rPr lang="en-US" dirty="0"/>
              <a:t>"So does software."</a:t>
            </a:r>
          </a:p>
          <a:p>
            <a:endParaRPr lang="en-US" dirty="0"/>
          </a:p>
          <a:p>
            <a:r>
              <a:rPr lang="en-US" dirty="0"/>
              <a:t>------------------------------------------------------------</a:t>
            </a:r>
          </a:p>
          <a:p>
            <a:endParaRPr lang="en-US" dirty="0"/>
          </a:p>
          <a:p>
            <a:r>
              <a:rPr lang="en-US" dirty="0"/>
              <a:t>THE MVC DIAGRAM</a:t>
            </a:r>
          </a:p>
          <a:p>
            <a:endParaRPr lang="en-US" dirty="0"/>
          </a:p>
          <a:p>
            <a:r>
              <a:rPr lang="en-US" dirty="0"/>
              <a:t>Move to the center illustration.</a:t>
            </a:r>
          </a:p>
          <a:p>
            <a:endParaRPr lang="en-US" dirty="0"/>
          </a:p>
          <a:p>
            <a:r>
              <a:rPr lang="en-US" dirty="0"/>
              <a:t>Walk through the process slowly.</a:t>
            </a:r>
          </a:p>
          <a:p>
            <a:endParaRPr lang="en-US" dirty="0"/>
          </a:p>
          <a:p>
            <a:r>
              <a:rPr lang="en-US" dirty="0"/>
              <a:t>STEP 1</a:t>
            </a:r>
          </a:p>
          <a:p>
            <a:endParaRPr lang="en-US" dirty="0"/>
          </a:p>
          <a:p>
            <a:r>
              <a:rPr lang="en-US" dirty="0"/>
              <a:t>The user clicks a button.</a:t>
            </a:r>
          </a:p>
          <a:p>
            <a:endParaRPr lang="en-US" dirty="0"/>
          </a:p>
          <a:p>
            <a:r>
              <a:rPr lang="en-US" dirty="0"/>
              <a:t>Explain.</a:t>
            </a:r>
          </a:p>
          <a:p>
            <a:endParaRPr lang="en-US" dirty="0"/>
          </a:p>
          <a:p>
            <a:r>
              <a:rPr lang="en-US" dirty="0"/>
              <a:t>"The conversation begins."</a:t>
            </a:r>
          </a:p>
          <a:p>
            <a:endParaRPr lang="en-US" dirty="0"/>
          </a:p>
          <a:p>
            <a:r>
              <a:rPr lang="en-US" dirty="0"/>
              <a:t>------------------------------------------------------------</a:t>
            </a:r>
          </a:p>
          <a:p>
            <a:endParaRPr lang="en-US" dirty="0"/>
          </a:p>
          <a:p>
            <a:r>
              <a:rPr lang="en-US" dirty="0"/>
              <a:t>STEP 2</a:t>
            </a:r>
          </a:p>
          <a:p>
            <a:endParaRPr lang="en-US" dirty="0"/>
          </a:p>
          <a:p>
            <a:r>
              <a:rPr lang="en-US" dirty="0"/>
              <a:t>The Controller receives the request.</a:t>
            </a:r>
          </a:p>
          <a:p>
            <a:endParaRPr lang="en-US" dirty="0"/>
          </a:p>
          <a:p>
            <a:r>
              <a:rPr lang="en-US" dirty="0"/>
              <a:t>Explain.</a:t>
            </a:r>
          </a:p>
          <a:p>
            <a:endParaRPr lang="en-US" dirty="0"/>
          </a:p>
          <a:p>
            <a:r>
              <a:rPr lang="en-US" dirty="0"/>
              <a:t>"The Controller acts like a traffic director."</a:t>
            </a:r>
          </a:p>
          <a:p>
            <a:endParaRPr lang="en-US" dirty="0"/>
          </a:p>
          <a:p>
            <a:r>
              <a:rPr lang="en-US" dirty="0"/>
              <a:t>"It decides what needs to happen."</a:t>
            </a:r>
          </a:p>
          <a:p>
            <a:endParaRPr lang="en-US" dirty="0"/>
          </a:p>
          <a:p>
            <a:r>
              <a:rPr lang="en-US" dirty="0"/>
              <a:t>It doesn't store data.</a:t>
            </a:r>
          </a:p>
          <a:p>
            <a:endParaRPr lang="en-US" dirty="0"/>
          </a:p>
          <a:p>
            <a:r>
              <a:rPr lang="en-US" dirty="0"/>
              <a:t>It doesn't display the page.</a:t>
            </a:r>
          </a:p>
          <a:p>
            <a:endParaRPr lang="en-US" dirty="0"/>
          </a:p>
          <a:p>
            <a:r>
              <a:rPr lang="en-US" dirty="0"/>
              <a:t>It coordinates.</a:t>
            </a:r>
          </a:p>
          <a:p>
            <a:endParaRPr lang="en-US" dirty="0"/>
          </a:p>
          <a:p>
            <a:r>
              <a:rPr lang="en-US" dirty="0"/>
              <a:t>------------------------------------------------------------</a:t>
            </a:r>
          </a:p>
          <a:p>
            <a:endParaRPr lang="en-US" dirty="0"/>
          </a:p>
          <a:p>
            <a:r>
              <a:rPr lang="en-US" dirty="0"/>
              <a:t>STEP 3</a:t>
            </a:r>
          </a:p>
          <a:p>
            <a:endParaRPr lang="en-US" dirty="0"/>
          </a:p>
          <a:p>
            <a:r>
              <a:rPr lang="en-US" dirty="0"/>
              <a:t>The Model provides information.</a:t>
            </a:r>
          </a:p>
          <a:p>
            <a:endParaRPr lang="en-US" dirty="0"/>
          </a:p>
          <a:p>
            <a:r>
              <a:rPr lang="en-US" dirty="0"/>
              <a:t>Explain.</a:t>
            </a:r>
          </a:p>
          <a:p>
            <a:endParaRPr lang="en-US" dirty="0"/>
          </a:p>
          <a:p>
            <a:r>
              <a:rPr lang="en-US" dirty="0"/>
              <a:t>"The Model knows about the application's data."</a:t>
            </a:r>
          </a:p>
          <a:p>
            <a:endParaRPr lang="en-US" dirty="0"/>
          </a:p>
          <a:p>
            <a:r>
              <a:rPr lang="en-US" dirty="0"/>
              <a:t>"It represents information and business rules."</a:t>
            </a:r>
          </a:p>
          <a:p>
            <a:endParaRPr lang="en-US" dirty="0"/>
          </a:p>
          <a:p>
            <a:r>
              <a:rPr lang="en-US" dirty="0"/>
              <a:t>Do not discuss databases yet.</a:t>
            </a:r>
          </a:p>
          <a:p>
            <a:endParaRPr lang="en-US" dirty="0"/>
          </a:p>
          <a:p>
            <a:r>
              <a:rPr lang="en-US" dirty="0"/>
              <a:t>Simply say:</a:t>
            </a:r>
          </a:p>
          <a:p>
            <a:endParaRPr lang="en-US" dirty="0"/>
          </a:p>
          <a:p>
            <a:r>
              <a:rPr lang="en-US" dirty="0"/>
              <a:t>"We'll connect Models to a database in Sprint 5."</a:t>
            </a:r>
          </a:p>
          <a:p>
            <a:endParaRPr lang="en-US" dirty="0"/>
          </a:p>
          <a:p>
            <a:r>
              <a:rPr lang="en-US" dirty="0"/>
              <a:t>------------------------------------------------------------</a:t>
            </a:r>
          </a:p>
          <a:p>
            <a:endParaRPr lang="en-US" dirty="0"/>
          </a:p>
          <a:p>
            <a:r>
              <a:rPr lang="en-US" dirty="0"/>
              <a:t>STEP 4</a:t>
            </a:r>
          </a:p>
          <a:p>
            <a:endParaRPr lang="en-US" dirty="0"/>
          </a:p>
          <a:p>
            <a:r>
              <a:rPr lang="en-US" dirty="0"/>
              <a:t>The Controller selects a View.</a:t>
            </a:r>
          </a:p>
          <a:p>
            <a:endParaRPr lang="en-US" dirty="0"/>
          </a:p>
          <a:p>
            <a:r>
              <a:rPr lang="en-US" dirty="0"/>
              <a:t>Explain.</a:t>
            </a:r>
          </a:p>
          <a:p>
            <a:endParaRPr lang="en-US" dirty="0"/>
          </a:p>
          <a:p>
            <a:r>
              <a:rPr lang="en-US" dirty="0"/>
              <a:t>"The Controller chooses which page the user should see."</a:t>
            </a:r>
          </a:p>
          <a:p>
            <a:endParaRPr lang="en-US" dirty="0"/>
          </a:p>
          <a:p>
            <a:r>
              <a:rPr lang="en-US" dirty="0"/>
              <a:t>------------------------------------------------------------</a:t>
            </a:r>
          </a:p>
          <a:p>
            <a:endParaRPr lang="en-US" dirty="0"/>
          </a:p>
          <a:p>
            <a:r>
              <a:rPr lang="en-US" dirty="0"/>
              <a:t>STEP 5</a:t>
            </a:r>
          </a:p>
          <a:p>
            <a:endParaRPr lang="en-US" dirty="0"/>
          </a:p>
          <a:p>
            <a:r>
              <a:rPr lang="en-US" dirty="0"/>
              <a:t>The View displays the information.</a:t>
            </a:r>
          </a:p>
          <a:p>
            <a:endParaRPr lang="en-US" dirty="0"/>
          </a:p>
          <a:p>
            <a:r>
              <a:rPr lang="en-US" dirty="0"/>
              <a:t>Explain.</a:t>
            </a:r>
          </a:p>
          <a:p>
            <a:endParaRPr lang="en-US" dirty="0"/>
          </a:p>
          <a:p>
            <a:r>
              <a:rPr lang="en-US" dirty="0"/>
              <a:t>"The View generates the page."</a:t>
            </a:r>
          </a:p>
          <a:p>
            <a:endParaRPr lang="en-US" dirty="0"/>
          </a:p>
          <a:p>
            <a:r>
              <a:rPr lang="en-US" dirty="0"/>
              <a:t>"The browser displays it."</a:t>
            </a:r>
          </a:p>
          <a:p>
            <a:endParaRPr lang="en-US" dirty="0"/>
          </a:p>
          <a:p>
            <a:r>
              <a:rPr lang="en-US" dirty="0"/>
              <a:t>Pause.</a:t>
            </a:r>
          </a:p>
          <a:p>
            <a:endParaRPr lang="en-US" dirty="0"/>
          </a:p>
          <a:p>
            <a:r>
              <a:rPr lang="en-US" dirty="0"/>
              <a:t>Then point back to the User.</a:t>
            </a:r>
          </a:p>
          <a:p>
            <a:endParaRPr lang="en-US" dirty="0"/>
          </a:p>
          <a:p>
            <a:r>
              <a:rPr lang="en-US" dirty="0"/>
              <a:t>"The cycle begins again."</a:t>
            </a:r>
          </a:p>
          <a:p>
            <a:endParaRPr lang="en-US" dirty="0"/>
          </a:p>
          <a:p>
            <a:r>
              <a:rPr lang="en-US" dirty="0"/>
              <a:t>------------------------------------------------------------</a:t>
            </a:r>
          </a:p>
          <a:p>
            <a:endParaRPr lang="en-US" dirty="0"/>
          </a:p>
          <a:p>
            <a:r>
              <a:rPr lang="en-US" dirty="0"/>
              <a:t>MVC IS A CONVERSATION</a:t>
            </a:r>
          </a:p>
          <a:p>
            <a:endParaRPr lang="en-US" dirty="0"/>
          </a:p>
          <a:p>
            <a:r>
              <a:rPr lang="en-US" dirty="0"/>
              <a:t>Point to the statement beneath the diagram.</a:t>
            </a:r>
          </a:p>
          <a:p>
            <a:endParaRPr lang="en-US" dirty="0"/>
          </a:p>
          <a:p>
            <a:r>
              <a:rPr lang="en-US" dirty="0"/>
              <a:t>"MVC is a cycle."</a:t>
            </a:r>
          </a:p>
          <a:p>
            <a:endParaRPr lang="en-US" dirty="0"/>
          </a:p>
          <a:p>
            <a:r>
              <a:rPr lang="en-US" dirty="0"/>
              <a:t>Explain.</a:t>
            </a:r>
          </a:p>
          <a:p>
            <a:endParaRPr lang="en-US" dirty="0"/>
          </a:p>
          <a:p>
            <a:r>
              <a:rPr lang="en-US" dirty="0"/>
              <a:t>"Every button."</a:t>
            </a:r>
          </a:p>
          <a:p>
            <a:endParaRPr lang="en-US" dirty="0"/>
          </a:p>
          <a:p>
            <a:r>
              <a:rPr lang="en-US" dirty="0"/>
              <a:t>"Every menu."</a:t>
            </a:r>
          </a:p>
          <a:p>
            <a:endParaRPr lang="en-US" dirty="0"/>
          </a:p>
          <a:p>
            <a:r>
              <a:rPr lang="en-US" dirty="0"/>
              <a:t>"Every page."</a:t>
            </a:r>
          </a:p>
          <a:p>
            <a:endParaRPr lang="en-US" dirty="0"/>
          </a:p>
          <a:p>
            <a:r>
              <a:rPr lang="en-US" dirty="0"/>
              <a:t>Follows this same pattern.</a:t>
            </a:r>
          </a:p>
          <a:p>
            <a:endParaRPr lang="en-US" dirty="0"/>
          </a:p>
          <a:p>
            <a:r>
              <a:rPr lang="en-US" dirty="0"/>
              <a:t>------------------------------------------------------------</a:t>
            </a:r>
          </a:p>
          <a:p>
            <a:endParaRPr lang="en-US" dirty="0"/>
          </a:p>
          <a:p>
            <a:r>
              <a:rPr lang="en-US" dirty="0"/>
              <a:t>ATLAS TASKFLOW COMPONENTS</a:t>
            </a:r>
          </a:p>
          <a:p>
            <a:endParaRPr lang="en-US" dirty="0"/>
          </a:p>
          <a:p>
            <a:r>
              <a:rPr lang="en-US" dirty="0"/>
              <a:t>Walk through the three sections.</a:t>
            </a:r>
          </a:p>
          <a:p>
            <a:endParaRPr lang="en-US" dirty="0"/>
          </a:p>
          <a:p>
            <a:r>
              <a:rPr lang="en-US" dirty="0"/>
              <a:t>Controllers</a:t>
            </a:r>
          </a:p>
          <a:p>
            <a:endParaRPr lang="en-US" dirty="0"/>
          </a:p>
          <a:p>
            <a:r>
              <a:rPr lang="en-US" dirty="0"/>
              <a:t>Receive requests.</a:t>
            </a:r>
          </a:p>
          <a:p>
            <a:endParaRPr lang="en-US" dirty="0"/>
          </a:p>
          <a:p>
            <a:r>
              <a:rPr lang="en-US" dirty="0"/>
              <a:t>Examples:</a:t>
            </a:r>
          </a:p>
          <a:p>
            <a:endParaRPr lang="en-US" dirty="0"/>
          </a:p>
          <a:p>
            <a:r>
              <a:rPr lang="en-US" dirty="0" err="1"/>
              <a:t>HomeController</a:t>
            </a:r>
            <a:endParaRPr lang="en-US" dirty="0"/>
          </a:p>
          <a:p>
            <a:endParaRPr lang="en-US" dirty="0"/>
          </a:p>
          <a:p>
            <a:r>
              <a:rPr lang="en-US" dirty="0" err="1"/>
              <a:t>TaskController</a:t>
            </a:r>
            <a:endParaRPr lang="en-US" dirty="0"/>
          </a:p>
          <a:p>
            <a:endParaRPr lang="en-US" dirty="0"/>
          </a:p>
          <a:p>
            <a:r>
              <a:rPr lang="en-US" dirty="0" err="1"/>
              <a:t>DashboardController</a:t>
            </a:r>
            <a:endParaRPr lang="en-US" dirty="0"/>
          </a:p>
          <a:p>
            <a:endParaRPr lang="en-US" dirty="0"/>
          </a:p>
          <a:p>
            <a:r>
              <a:rPr lang="en-US" dirty="0"/>
              <a:t>Models</a:t>
            </a:r>
          </a:p>
          <a:p>
            <a:endParaRPr lang="en-US" dirty="0"/>
          </a:p>
          <a:p>
            <a:r>
              <a:rPr lang="en-US" dirty="0"/>
              <a:t>Represent application information.</a:t>
            </a:r>
          </a:p>
          <a:p>
            <a:endParaRPr lang="en-US" dirty="0"/>
          </a:p>
          <a:p>
            <a:r>
              <a:rPr lang="en-US" dirty="0"/>
              <a:t>Examples:</a:t>
            </a:r>
          </a:p>
          <a:p>
            <a:endParaRPr lang="en-US" dirty="0"/>
          </a:p>
          <a:p>
            <a:r>
              <a:rPr lang="en-US" dirty="0"/>
              <a:t>Task</a:t>
            </a:r>
          </a:p>
          <a:p>
            <a:endParaRPr lang="en-US" dirty="0"/>
          </a:p>
          <a:p>
            <a:r>
              <a:rPr lang="en-US" dirty="0"/>
              <a:t>User</a:t>
            </a:r>
          </a:p>
          <a:p>
            <a:endParaRPr lang="en-US" dirty="0"/>
          </a:p>
          <a:p>
            <a:r>
              <a:rPr lang="en-US" dirty="0"/>
              <a:t>Project</a:t>
            </a:r>
          </a:p>
          <a:p>
            <a:endParaRPr lang="en-US" dirty="0"/>
          </a:p>
          <a:p>
            <a:r>
              <a:rPr lang="en-US" dirty="0"/>
              <a:t>Views</a:t>
            </a:r>
          </a:p>
          <a:p>
            <a:endParaRPr lang="en-US" dirty="0"/>
          </a:p>
          <a:p>
            <a:r>
              <a:rPr lang="en-US" dirty="0"/>
              <a:t>Display HTML pages.</a:t>
            </a:r>
          </a:p>
          <a:p>
            <a:endParaRPr lang="en-US" dirty="0"/>
          </a:p>
          <a:p>
            <a:r>
              <a:rPr lang="en-US" dirty="0"/>
              <a:t>Examples:</a:t>
            </a:r>
          </a:p>
          <a:p>
            <a:endParaRPr lang="en-US" dirty="0"/>
          </a:p>
          <a:p>
            <a:r>
              <a:rPr lang="en-US" dirty="0"/>
              <a:t>Dashboard</a:t>
            </a:r>
          </a:p>
          <a:p>
            <a:endParaRPr lang="en-US" dirty="0"/>
          </a:p>
          <a:p>
            <a:r>
              <a:rPr lang="en-US" dirty="0"/>
              <a:t>Tasks</a:t>
            </a:r>
          </a:p>
          <a:p>
            <a:endParaRPr lang="en-US" dirty="0"/>
          </a:p>
          <a:p>
            <a:r>
              <a:rPr lang="en-US" dirty="0"/>
              <a:t>Projects</a:t>
            </a:r>
          </a:p>
          <a:p>
            <a:endParaRPr lang="en-US" dirty="0"/>
          </a:p>
          <a:p>
            <a:r>
              <a:rPr lang="en-US" dirty="0"/>
              <a:t>Keep explanations under one minute each.</a:t>
            </a:r>
          </a:p>
          <a:p>
            <a:endParaRPr lang="en-US" dirty="0"/>
          </a:p>
          <a:p>
            <a:r>
              <a:rPr lang="en-US" dirty="0"/>
              <a:t>------------------------------------------------------------</a:t>
            </a:r>
          </a:p>
          <a:p>
            <a:endParaRPr lang="en-US" dirty="0"/>
          </a:p>
          <a:p>
            <a:r>
              <a:rPr lang="en-US" dirty="0"/>
              <a:t>REQUEST FLOW</a:t>
            </a:r>
          </a:p>
          <a:p>
            <a:endParaRPr lang="en-US" dirty="0"/>
          </a:p>
          <a:p>
            <a:r>
              <a:rPr lang="en-US" dirty="0"/>
              <a:t>Point to the lower diagram.</a:t>
            </a:r>
          </a:p>
          <a:p>
            <a:endParaRPr lang="en-US" dirty="0"/>
          </a:p>
          <a:p>
            <a:r>
              <a:rPr lang="en-US" dirty="0"/>
              <a:t>Ask students to describe it.</a:t>
            </a:r>
          </a:p>
          <a:p>
            <a:endParaRPr lang="en-US" dirty="0"/>
          </a:p>
          <a:p>
            <a:r>
              <a:rPr lang="en-US" dirty="0"/>
              <a:t>User</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Model</a:t>
            </a:r>
          </a:p>
          <a:p>
            <a:endParaRPr lang="en-US" dirty="0"/>
          </a:p>
          <a:p>
            <a:r>
              <a:rPr lang="en-US" dirty="0"/>
              <a:t>↓</a:t>
            </a:r>
          </a:p>
          <a:p>
            <a:endParaRPr lang="en-US" dirty="0"/>
          </a:p>
          <a:p>
            <a:r>
              <a:rPr lang="en-US" dirty="0"/>
              <a:t>View</a:t>
            </a:r>
          </a:p>
          <a:p>
            <a:endParaRPr lang="en-US" dirty="0"/>
          </a:p>
          <a:p>
            <a:r>
              <a:rPr lang="en-US" dirty="0"/>
              <a:t>↓</a:t>
            </a:r>
          </a:p>
          <a:p>
            <a:endParaRPr lang="en-US" dirty="0"/>
          </a:p>
          <a:p>
            <a:r>
              <a:rPr lang="en-US" dirty="0"/>
              <a:t>User</a:t>
            </a:r>
          </a:p>
          <a:p>
            <a:endParaRPr lang="en-US" dirty="0"/>
          </a:p>
          <a:p>
            <a:r>
              <a:rPr lang="en-US" dirty="0"/>
              <a:t>Have students explain each step aloud.</a:t>
            </a:r>
          </a:p>
          <a:p>
            <a:endParaRPr lang="en-US" dirty="0"/>
          </a:p>
          <a:p>
            <a:r>
              <a:rPr lang="en-US" dirty="0"/>
              <a:t>------------------------------------------------------------</a:t>
            </a:r>
          </a:p>
          <a:p>
            <a:endParaRPr lang="en-US" dirty="0"/>
          </a:p>
          <a:p>
            <a:r>
              <a:rPr lang="en-US" dirty="0"/>
              <a:t>HOW MVC HELPS US</a:t>
            </a:r>
          </a:p>
          <a:p>
            <a:endParaRPr lang="en-US" dirty="0"/>
          </a:p>
          <a:p>
            <a:r>
              <a:rPr lang="en-US" dirty="0"/>
              <a:t>Review the benefits.</a:t>
            </a:r>
          </a:p>
          <a:p>
            <a:endParaRPr lang="en-US" dirty="0"/>
          </a:p>
          <a:p>
            <a:r>
              <a:rPr lang="en-US" dirty="0"/>
              <a:t>Separation</a:t>
            </a:r>
          </a:p>
          <a:p>
            <a:endParaRPr lang="en-US" dirty="0"/>
          </a:p>
          <a:p>
            <a:r>
              <a:rPr lang="en-US" dirty="0"/>
              <a:t>Maintainability</a:t>
            </a:r>
          </a:p>
          <a:p>
            <a:endParaRPr lang="en-US" dirty="0"/>
          </a:p>
          <a:p>
            <a:r>
              <a:rPr lang="en-US" dirty="0"/>
              <a:t>Professional Standard</a:t>
            </a:r>
          </a:p>
          <a:p>
            <a:endParaRPr lang="en-US" dirty="0"/>
          </a:p>
          <a:p>
            <a:r>
              <a:rPr lang="en-US" dirty="0"/>
              <a:t>Explain.</a:t>
            </a:r>
          </a:p>
          <a:p>
            <a:endParaRPr lang="en-US" dirty="0"/>
          </a:p>
          <a:p>
            <a:r>
              <a:rPr lang="en-US" dirty="0"/>
              <a:t>"Notice these aren't programming features."</a:t>
            </a:r>
          </a:p>
          <a:p>
            <a:endParaRPr lang="en-US" dirty="0"/>
          </a:p>
          <a:p>
            <a:r>
              <a:rPr lang="en-US" dirty="0"/>
              <a:t>"They're engineering advantages."</a:t>
            </a:r>
          </a:p>
          <a:p>
            <a:endParaRPr lang="en-US" dirty="0"/>
          </a:p>
          <a:p>
            <a:r>
              <a:rPr lang="en-US" dirty="0"/>
              <a:t>------------------------------------------------------------</a:t>
            </a:r>
          </a:p>
          <a:p>
            <a:endParaRPr lang="en-US" dirty="0"/>
          </a:p>
          <a:p>
            <a:r>
              <a:rPr lang="en-US" dirty="0"/>
              <a:t>ATLAS TASKFLOW EXAMPLE</a:t>
            </a:r>
          </a:p>
          <a:p>
            <a:endParaRPr lang="en-US" dirty="0"/>
          </a:p>
          <a:p>
            <a:r>
              <a:rPr lang="en-US" dirty="0"/>
              <a:t>Walk through the example.</a:t>
            </a:r>
          </a:p>
          <a:p>
            <a:endParaRPr lang="en-US" dirty="0"/>
          </a:p>
          <a:p>
            <a:r>
              <a:rPr lang="en-US" dirty="0"/>
              <a:t>User clicks Dashboard.</a:t>
            </a:r>
          </a:p>
          <a:p>
            <a:endParaRPr lang="en-US" dirty="0"/>
          </a:p>
          <a:p>
            <a:r>
              <a:rPr lang="en-US" dirty="0" err="1"/>
              <a:t>HomeController</a:t>
            </a:r>
            <a:r>
              <a:rPr lang="en-US" dirty="0"/>
              <a:t> receives the request.</a:t>
            </a:r>
          </a:p>
          <a:p>
            <a:endParaRPr lang="en-US" dirty="0"/>
          </a:p>
          <a:p>
            <a:r>
              <a:rPr lang="en-US" dirty="0"/>
              <a:t>Task information is prepared.</a:t>
            </a:r>
          </a:p>
          <a:p>
            <a:endParaRPr lang="en-US" dirty="0"/>
          </a:p>
          <a:p>
            <a:r>
              <a:rPr lang="en-US" dirty="0"/>
              <a:t>Dashboard View is displayed.</a:t>
            </a:r>
          </a:p>
          <a:p>
            <a:endParaRPr lang="en-US" dirty="0"/>
          </a:p>
          <a:p>
            <a:r>
              <a:rPr lang="en-US" dirty="0"/>
              <a:t>Students should recognize the flow from the previous lesson.</a:t>
            </a:r>
          </a:p>
          <a:p>
            <a:endParaRPr lang="en-US" dirty="0"/>
          </a:p>
          <a:p>
            <a:r>
              <a:rPr lang="en-US" dirty="0"/>
              <a:t>------------------------------------------------------------</a:t>
            </a:r>
          </a:p>
          <a:p>
            <a:endParaRPr lang="en-US" dirty="0"/>
          </a:p>
          <a:p>
            <a:r>
              <a:rPr lang="en-US" dirty="0"/>
              <a:t>BUILD CHALLENGE</a:t>
            </a:r>
          </a:p>
          <a:p>
            <a:endParaRPr lang="en-US" dirty="0"/>
          </a:p>
          <a:p>
            <a:r>
              <a:rPr lang="en-US" dirty="0"/>
              <a:t>Challenge students.</a:t>
            </a:r>
          </a:p>
          <a:p>
            <a:endParaRPr lang="en-US" dirty="0"/>
          </a:p>
          <a:p>
            <a:r>
              <a:rPr lang="en-US" dirty="0"/>
              <a:t>Open the project they created.</a:t>
            </a:r>
          </a:p>
          <a:p>
            <a:endParaRPr lang="en-US" dirty="0"/>
          </a:p>
          <a:p>
            <a:r>
              <a:rPr lang="en-US" dirty="0"/>
              <a:t>Find:</a:t>
            </a:r>
          </a:p>
          <a:p>
            <a:endParaRPr lang="en-US" dirty="0"/>
          </a:p>
          <a:p>
            <a:r>
              <a:rPr lang="en-US" dirty="0"/>
              <a:t>Controllers</a:t>
            </a:r>
          </a:p>
          <a:p>
            <a:endParaRPr lang="en-US" dirty="0"/>
          </a:p>
          <a:p>
            <a:r>
              <a:rPr lang="en-US" dirty="0"/>
              <a:t>Models</a:t>
            </a:r>
          </a:p>
          <a:p>
            <a:endParaRPr lang="en-US" dirty="0"/>
          </a:p>
          <a:p>
            <a:r>
              <a:rPr lang="en-US" dirty="0"/>
              <a:t>Views</a:t>
            </a:r>
          </a:p>
          <a:p>
            <a:endParaRPr lang="en-US" dirty="0"/>
          </a:p>
          <a:p>
            <a:r>
              <a:rPr lang="en-US" dirty="0"/>
              <a:t>Open:</a:t>
            </a:r>
          </a:p>
          <a:p>
            <a:endParaRPr lang="en-US" dirty="0"/>
          </a:p>
          <a:p>
            <a:r>
              <a:rPr lang="en-US" dirty="0" err="1"/>
              <a:t>HomeController.cs</a:t>
            </a:r>
            <a:endParaRPr lang="en-US" dirty="0"/>
          </a:p>
          <a:p>
            <a:endParaRPr lang="en-US" dirty="0"/>
          </a:p>
          <a:p>
            <a:r>
              <a:rPr lang="en-US" dirty="0"/>
              <a:t>Open:</a:t>
            </a:r>
          </a:p>
          <a:p>
            <a:endParaRPr lang="en-US" dirty="0"/>
          </a:p>
          <a:p>
            <a:r>
              <a:rPr lang="en-US" dirty="0" err="1"/>
              <a:t>Index.cshtml</a:t>
            </a:r>
            <a:endParaRPr lang="en-US" dirty="0"/>
          </a:p>
          <a:p>
            <a:endParaRPr lang="en-US" dirty="0"/>
          </a:p>
          <a:p>
            <a:r>
              <a:rPr lang="en-US" dirty="0"/>
              <a:t>Ask them to identify:</a:t>
            </a:r>
          </a:p>
          <a:p>
            <a:endParaRPr lang="en-US" dirty="0"/>
          </a:p>
          <a:p>
            <a:r>
              <a:rPr lang="en-US" dirty="0"/>
              <a:t>Which file is the Controller?</a:t>
            </a:r>
          </a:p>
          <a:p>
            <a:endParaRPr lang="en-US" dirty="0"/>
          </a:p>
          <a:p>
            <a:r>
              <a:rPr lang="en-US" dirty="0"/>
              <a:t>Which file is the View?</a:t>
            </a:r>
          </a:p>
          <a:p>
            <a:endParaRPr lang="en-US" dirty="0"/>
          </a:p>
          <a:p>
            <a:r>
              <a:rPr lang="en-US" dirty="0"/>
              <a:t>No coding yet.</a:t>
            </a:r>
          </a:p>
          <a:p>
            <a:endParaRPr lang="en-US" dirty="0"/>
          </a:p>
          <a:p>
            <a:r>
              <a:rPr lang="en-US" dirty="0"/>
              <a:t>Only exploration.</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"MVC gives our application structure."</a:t>
            </a:r>
          </a:p>
          <a:p>
            <a:endParaRPr lang="en-US" dirty="0"/>
          </a:p>
          <a:p>
            <a:r>
              <a:rPr lang="en-US" dirty="0"/>
              <a:t>"Structure gives our application strength."</a:t>
            </a:r>
          </a:p>
          <a:p>
            <a:endParaRPr lang="en-US" dirty="0"/>
          </a:p>
          <a:p>
            <a:r>
              <a:rPr lang="en-US" dirty="0"/>
              <a:t>Explain.</a:t>
            </a:r>
          </a:p>
          <a:p>
            <a:endParaRPr lang="en-US" dirty="0"/>
          </a:p>
          <a:p>
            <a:r>
              <a:rPr lang="en-US" dirty="0"/>
              <a:t>"Professional engineers don't organize applications this way because</a:t>
            </a:r>
          </a:p>
          <a:p>
            <a:r>
              <a:rPr lang="en-US" dirty="0"/>
              <a:t>it's fashionable."</a:t>
            </a:r>
          </a:p>
          <a:p>
            <a:endParaRPr lang="en-US" dirty="0"/>
          </a:p>
          <a:p>
            <a:r>
              <a:rPr lang="en-US" dirty="0"/>
              <a:t>"They organize them this way because it works."</a:t>
            </a:r>
          </a:p>
          <a:p>
            <a:endParaRPr lang="en-US" dirty="0"/>
          </a:p>
          <a:p>
            <a:r>
              <a:rPr lang="en-US" dirty="0"/>
              <a:t>------------------------------------------------------------</a:t>
            </a:r>
          </a:p>
          <a:p>
            <a:endParaRPr lang="en-US" dirty="0"/>
          </a:p>
          <a:p>
            <a:r>
              <a:rPr lang="en-US" dirty="0"/>
              <a:t>SPRINT ROADMAP</a:t>
            </a:r>
          </a:p>
          <a:p>
            <a:endParaRPr lang="en-US" dirty="0"/>
          </a:p>
          <a:p>
            <a:r>
              <a:rPr lang="en-US" dirty="0"/>
              <a:t>Point to Sprint 4.</a:t>
            </a:r>
          </a:p>
          <a:p>
            <a:endParaRPr lang="en-US" dirty="0"/>
          </a:p>
          <a:p>
            <a:r>
              <a:rPr lang="en-US" dirty="0"/>
              <a:t>Explain where today's lesson fits.</a:t>
            </a:r>
          </a:p>
          <a:p>
            <a:endParaRPr lang="en-US" dirty="0"/>
          </a:p>
          <a:p>
            <a:r>
              <a:rPr lang="en-US" dirty="0"/>
              <a:t>Last lesson:</a:t>
            </a:r>
          </a:p>
          <a:p>
            <a:endParaRPr lang="en-US" dirty="0"/>
          </a:p>
          <a:p>
            <a:r>
              <a:rPr lang="en-US" dirty="0"/>
              <a:t>We created the project.</a:t>
            </a:r>
          </a:p>
          <a:p>
            <a:endParaRPr lang="en-US" dirty="0"/>
          </a:p>
          <a:p>
            <a:r>
              <a:rPr lang="en-US" dirty="0"/>
              <a:t>Today:</a:t>
            </a:r>
          </a:p>
          <a:p>
            <a:endParaRPr lang="en-US" dirty="0"/>
          </a:p>
          <a:p>
            <a:r>
              <a:rPr lang="en-US" dirty="0"/>
              <a:t>We understand the structure.</a:t>
            </a:r>
          </a:p>
          <a:p>
            <a:endParaRPr lang="en-US" dirty="0"/>
          </a:p>
          <a:p>
            <a:r>
              <a:rPr lang="en-US" dirty="0"/>
              <a:t>Next:</a:t>
            </a:r>
          </a:p>
          <a:p>
            <a:endParaRPr lang="en-US" dirty="0"/>
          </a:p>
          <a:p>
            <a:r>
              <a:rPr lang="en-US" dirty="0"/>
              <a:t>We begin building the interface.</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"If we understand the project..."</a:t>
            </a:r>
          </a:p>
          <a:p>
            <a:endParaRPr lang="en-US" dirty="0"/>
          </a:p>
          <a:p>
            <a:r>
              <a:rPr lang="en-US" dirty="0"/>
              <a:t>"What should we build next?"</a:t>
            </a:r>
          </a:p>
          <a:p>
            <a:endParaRPr lang="en-US" dirty="0"/>
          </a:p>
          <a:p>
            <a:r>
              <a:rPr lang="en-US" dirty="0"/>
              <a:t>Pause.</a:t>
            </a:r>
          </a:p>
          <a:p>
            <a:endParaRPr lang="en-US" dirty="0"/>
          </a:p>
          <a:p>
            <a:r>
              <a:rPr lang="en-US" dirty="0"/>
              <a:t>"The user interface."</a:t>
            </a:r>
          </a:p>
          <a:p>
            <a:endParaRPr lang="en-US" dirty="0"/>
          </a:p>
          <a:p>
            <a:r>
              <a:rPr lang="en-US" dirty="0"/>
              <a:t>Smile.</a:t>
            </a:r>
          </a:p>
          <a:p>
            <a:endParaRPr lang="en-US" dirty="0"/>
          </a:p>
          <a:p>
            <a:r>
              <a:rPr lang="en-US" dirty="0"/>
              <a:t>"And that's exactly where we're going."</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"If MVC disappeared..."</a:t>
            </a:r>
          </a:p>
          <a:p>
            <a:endParaRPr lang="en-US" dirty="0"/>
          </a:p>
          <a:p>
            <a:r>
              <a:rPr lang="en-US" dirty="0"/>
              <a:t>"What problems might developers face?"</a:t>
            </a:r>
          </a:p>
          <a:p>
            <a:endParaRPr lang="en-US" dirty="0"/>
          </a:p>
          <a:p>
            <a:r>
              <a:rPr lang="en-US" dirty="0"/>
              <a:t>Guide discussion toward:</a:t>
            </a:r>
          </a:p>
          <a:p>
            <a:endParaRPr lang="en-US" dirty="0"/>
          </a:p>
          <a:p>
            <a:r>
              <a:rPr lang="en-US" dirty="0"/>
              <a:t>Large files.</a:t>
            </a:r>
          </a:p>
          <a:p>
            <a:endParaRPr lang="en-US" dirty="0"/>
          </a:p>
          <a:p>
            <a:r>
              <a:rPr lang="en-US" dirty="0"/>
              <a:t>Confusing code.</a:t>
            </a:r>
          </a:p>
          <a:p>
            <a:endParaRPr lang="en-US" dirty="0"/>
          </a:p>
          <a:p>
            <a:r>
              <a:rPr lang="en-US" dirty="0"/>
              <a:t>Difficult maintenance.</a:t>
            </a:r>
          </a:p>
          <a:p>
            <a:endParaRPr lang="en-US" dirty="0"/>
          </a:p>
          <a:p>
            <a:r>
              <a:rPr lang="en-US" dirty="0"/>
              <a:t>Harder teamwork.</a:t>
            </a:r>
          </a:p>
          <a:p>
            <a:endParaRPr lang="en-US" dirty="0"/>
          </a:p>
          <a:p>
            <a:r>
              <a:rPr lang="en-US" dirty="0"/>
              <a:t>Explain that MVC helps solve those problems.</a:t>
            </a:r>
          </a:p>
          <a:p>
            <a:endParaRPr lang="en-US" dirty="0"/>
          </a:p>
          <a:p>
            <a:r>
              <a:rPr lang="en-US" dirty="0"/>
              <a:t>------------------------------------------------------------</a:t>
            </a:r>
          </a:p>
          <a:p>
            <a:endParaRPr lang="en-US" dirty="0"/>
          </a:p>
          <a:p>
            <a:r>
              <a:rPr lang="en-US" dirty="0"/>
              <a:t>THE MOMENT</a:t>
            </a:r>
          </a:p>
          <a:p>
            <a:endParaRPr lang="en-US" dirty="0"/>
          </a:p>
          <a:p>
            <a:r>
              <a:rPr lang="en-US" dirty="0"/>
              <a:t>Walk to the center of the room.</a:t>
            </a:r>
          </a:p>
          <a:p>
            <a:endParaRPr lang="en-US" dirty="0"/>
          </a:p>
          <a:p>
            <a:r>
              <a:rPr lang="en-US" dirty="0"/>
              <a:t>Point to the MVC diagram.</a:t>
            </a:r>
          </a:p>
          <a:p>
            <a:endParaRPr lang="en-US" dirty="0"/>
          </a:p>
          <a:p>
            <a:r>
              <a:rPr lang="en-US" dirty="0"/>
              <a:t>Then say...</a:t>
            </a:r>
          </a:p>
          <a:p>
            <a:endParaRPr lang="en-US" dirty="0"/>
          </a:p>
          <a:p>
            <a:r>
              <a:rPr lang="en-US" dirty="0"/>
              <a:t>"This diagram..."</a:t>
            </a:r>
          </a:p>
          <a:p>
            <a:endParaRPr lang="en-US" dirty="0"/>
          </a:p>
          <a:p>
            <a:r>
              <a:rPr lang="en-US" dirty="0"/>
              <a:t>"Will appear in nearly every professional ASP.NET application you'll</a:t>
            </a:r>
          </a:p>
          <a:p>
            <a:r>
              <a:rPr lang="en-US" dirty="0"/>
              <a:t>ever see."</a:t>
            </a:r>
          </a:p>
          <a:p>
            <a:endParaRPr lang="en-US" dirty="0"/>
          </a:p>
          <a:p>
            <a:r>
              <a:rPr lang="en-US" dirty="0"/>
              <a:t>Pause.</a:t>
            </a:r>
          </a:p>
          <a:p>
            <a:endParaRPr lang="en-US" dirty="0"/>
          </a:p>
          <a:p>
            <a:r>
              <a:rPr lang="en-US" dirty="0"/>
              <a:t>"You don't need to memorize it."</a:t>
            </a:r>
          </a:p>
          <a:p>
            <a:endParaRPr lang="en-US" dirty="0"/>
          </a:p>
          <a:p>
            <a:r>
              <a:rPr lang="en-US" dirty="0"/>
              <a:t>"You only need to understand why it exists."</a:t>
            </a:r>
          </a:p>
          <a:p>
            <a:endParaRPr lang="en-US" dirty="0"/>
          </a:p>
          <a:p>
            <a:r>
              <a:rPr lang="en-US" dirty="0"/>
              <a:t>Smile.</a:t>
            </a:r>
          </a:p>
          <a:p>
            <a:endParaRPr lang="en-US" dirty="0"/>
          </a:p>
          <a:p>
            <a:r>
              <a:rPr lang="en-US" dirty="0"/>
              <a:t>"And now you do."</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What is MVC?.......................10 minutes</a:t>
            </a:r>
          </a:p>
          <a:p>
            <a:endParaRPr lang="en-US" dirty="0"/>
          </a:p>
          <a:p>
            <a:r>
              <a:rPr lang="en-US" dirty="0"/>
              <a:t>MVC Diagram........................15 minutes</a:t>
            </a:r>
          </a:p>
          <a:p>
            <a:endParaRPr lang="en-US" dirty="0"/>
          </a:p>
          <a:p>
            <a:r>
              <a:rPr lang="en-US" dirty="0"/>
              <a:t>Atlas Example......................10 minutes</a:t>
            </a:r>
          </a:p>
          <a:p>
            <a:endParaRPr lang="en-US" dirty="0"/>
          </a:p>
          <a:p>
            <a:r>
              <a:rPr lang="en-US" dirty="0"/>
              <a:t>Project Exploration................15 minutes</a:t>
            </a:r>
          </a:p>
          <a:p>
            <a:endParaRPr lang="en-US" dirty="0"/>
          </a:p>
          <a:p>
            <a:r>
              <a:rPr lang="en-US" dirty="0"/>
              <a:t>Discussion..........................5 minutes</a:t>
            </a:r>
          </a:p>
          <a:p>
            <a:endParaRPr lang="en-US" dirty="0"/>
          </a:p>
          <a:p>
            <a:r>
              <a:rPr lang="en-US" dirty="0"/>
              <a:t>Closing.............................5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this lesson conversational.</a:t>
            </a:r>
          </a:p>
          <a:p>
            <a:endParaRPr lang="en-US" dirty="0"/>
          </a:p>
          <a:p>
            <a:r>
              <a:rPr lang="en-US" dirty="0"/>
              <a:t>Do not teach advanced MVC topics such as dependency injection,</a:t>
            </a:r>
          </a:p>
          <a:p>
            <a:r>
              <a:rPr lang="en-US" dirty="0"/>
              <a:t>middleware, routing tables, filters, model binding, services, or</a:t>
            </a:r>
          </a:p>
          <a:p>
            <a:r>
              <a:rPr lang="en-US" dirty="0"/>
              <a:t>repositories.</a:t>
            </a:r>
          </a:p>
          <a:p>
            <a:endParaRPr lang="en-US" dirty="0"/>
          </a:p>
          <a:p>
            <a:r>
              <a:rPr lang="en-US" dirty="0"/>
              <a:t>Those belong in Advanced C#.</a:t>
            </a:r>
          </a:p>
          <a:p>
            <a:endParaRPr lang="en-US" dirty="0"/>
          </a:p>
          <a:p>
            <a:r>
              <a:rPr lang="en-US" dirty="0"/>
              <a:t>The objective today is simply to help students recognize how an MVC</a:t>
            </a:r>
          </a:p>
          <a:p>
            <a:r>
              <a:rPr lang="en-US" dirty="0"/>
              <a:t>application is organized and why that organization makes software easier</a:t>
            </a:r>
          </a:p>
          <a:p>
            <a:r>
              <a:rPr lang="en-US" dirty="0"/>
              <a:t>to build.</a:t>
            </a:r>
          </a:p>
          <a:p>
            <a:endParaRPr lang="en-US" dirty="0"/>
          </a:p>
          <a:p>
            <a:r>
              <a:rPr lang="en-US" dirty="0"/>
              <a:t>Students should leave class with one clear understanding:</a:t>
            </a:r>
          </a:p>
          <a:p>
            <a:endParaRPr lang="en-US" dirty="0"/>
          </a:p>
          <a:p>
            <a:r>
              <a:rPr lang="en-US" dirty="0"/>
              <a:t>The Controller coordinates.</a:t>
            </a:r>
          </a:p>
          <a:p>
            <a:endParaRPr lang="en-US" dirty="0"/>
          </a:p>
          <a:p>
            <a:r>
              <a:rPr lang="en-US" dirty="0"/>
              <a:t>The Model represents information.</a:t>
            </a:r>
          </a:p>
          <a:p>
            <a:endParaRPr lang="en-US" dirty="0"/>
          </a:p>
          <a:p>
            <a:r>
              <a:rPr lang="en-US" dirty="0"/>
              <a:t>The View displays information.</a:t>
            </a:r>
          </a:p>
          <a:p>
            <a:endParaRPr lang="en-US" dirty="0"/>
          </a:p>
          <a:p>
            <a:r>
              <a:rPr lang="en-US" dirty="0"/>
              <a:t>Together...</a:t>
            </a:r>
          </a:p>
          <a:p>
            <a:endParaRPr lang="en-US" dirty="0"/>
          </a:p>
          <a:p>
            <a:r>
              <a:rPr lang="en-US" dirty="0"/>
              <a:t>They create a well-organized SaaS application.</a:t>
            </a:r>
          </a:p>
          <a:p>
            <a:endParaRPr lang="en-US" dirty="0"/>
          </a:p>
          <a:p>
            <a:r>
              <a:rPr lang="en-US" dirty="0"/>
              <a:t>Close with:</a:t>
            </a:r>
          </a:p>
          <a:p>
            <a:endParaRPr lang="en-US" dirty="0"/>
          </a:p>
          <a:p>
            <a:r>
              <a:rPr lang="en-US" dirty="0"/>
              <a:t>"Engineers..."</a:t>
            </a:r>
          </a:p>
          <a:p>
            <a:endParaRPr lang="en-US" dirty="0"/>
          </a:p>
          <a:p>
            <a:r>
              <a:rPr lang="en-US" dirty="0"/>
              <a:t>"Now we know how Atlas </a:t>
            </a:r>
            <a:r>
              <a:rPr lang="en-US" dirty="0" err="1"/>
              <a:t>TaskFlow</a:t>
            </a:r>
            <a:r>
              <a:rPr lang="en-US" dirty="0"/>
              <a:t> is organized."</a:t>
            </a:r>
          </a:p>
          <a:p>
            <a:endParaRPr lang="en-US" dirty="0"/>
          </a:p>
          <a:p>
            <a:r>
              <a:rPr lang="en-US" dirty="0"/>
              <a:t>"Next..."</a:t>
            </a:r>
          </a:p>
          <a:p>
            <a:endParaRPr lang="en-US" dirty="0"/>
          </a:p>
          <a:p>
            <a:r>
              <a:rPr lang="en-US" dirty="0"/>
              <a:t>"We're going to make it look like the application we designed."</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4</a:t>
            </a:fld>
            <a:endParaRPr lang="en-US"/>
          </a:p>
        </p:txBody>
      </p:sp>
    </p:spTree>
    <p:extLst>
      <p:ext uri="{BB962C8B-B14F-4D97-AF65-F5344CB8AC3E}">
        <p14:creationId xmlns:p14="http://schemas.microsoft.com/office/powerpoint/2010/main" val="1371489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BUILDING THE USER INTERFACE</a:t>
            </a:r>
          </a:p>
          <a:p>
            <a:endParaRPr lang="en-US" dirty="0"/>
          </a:p>
          <a:p>
            <a:r>
              <a:rPr lang="en-US" dirty="0"/>
              <a:t>============================================================</a:t>
            </a:r>
          </a:p>
          <a:p>
            <a:endParaRPr lang="en-US" dirty="0"/>
          </a:p>
          <a:p>
            <a:r>
              <a:rPr lang="en-US" dirty="0"/>
              <a:t>SLIDE PURPOSE</a:t>
            </a:r>
          </a:p>
          <a:p>
            <a:endParaRPr lang="en-US" dirty="0"/>
          </a:p>
          <a:p>
            <a:r>
              <a:rPr lang="en-US" dirty="0"/>
              <a:t>Guide students through transforming the Atlas </a:t>
            </a:r>
            <a:r>
              <a:rPr lang="en-US" dirty="0" err="1"/>
              <a:t>TaskFlow</a:t>
            </a:r>
            <a:r>
              <a:rPr lang="en-US" dirty="0"/>
              <a:t> wireframes from</a:t>
            </a:r>
          </a:p>
          <a:p>
            <a:r>
              <a:rPr lang="en-US" dirty="0"/>
              <a:t>Sprint 3 into a working user interface using Razor Views and Bootstrap.</a:t>
            </a:r>
          </a:p>
          <a:p>
            <a:endParaRPr lang="en-US" dirty="0"/>
          </a:p>
          <a:p>
            <a:r>
              <a:rPr lang="en-US" dirty="0"/>
              <a:t>Students should recognize that they are not inventing a new design.</a:t>
            </a:r>
          </a:p>
          <a:p>
            <a:endParaRPr lang="en-US" dirty="0"/>
          </a:p>
          <a:p>
            <a:r>
              <a:rPr lang="en-US" dirty="0"/>
              <a:t>They are implementing the design they already created.</a:t>
            </a:r>
          </a:p>
          <a:p>
            <a:endParaRPr lang="en-US" dirty="0"/>
          </a:p>
          <a:p>
            <a:r>
              <a:rPr lang="en-US" dirty="0"/>
              <a:t>The objective is to build a clean, responsive interface that reflects</a:t>
            </a:r>
          </a:p>
          <a:p>
            <a:r>
              <a:rPr lang="en-US" dirty="0"/>
              <a:t>their original engineering decisions.</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"Today is one of my favorite days."</a:t>
            </a:r>
          </a:p>
          <a:p>
            <a:endParaRPr lang="en-US" dirty="0"/>
          </a:p>
          <a:p>
            <a:r>
              <a:rPr lang="en-US" dirty="0"/>
              <a:t>Pause.</a:t>
            </a:r>
          </a:p>
          <a:p>
            <a:endParaRPr lang="en-US" dirty="0"/>
          </a:p>
          <a:p>
            <a:r>
              <a:rPr lang="en-US" dirty="0"/>
              <a:t>"Three weeks ago..."</a:t>
            </a:r>
          </a:p>
          <a:p>
            <a:endParaRPr lang="en-US" dirty="0"/>
          </a:p>
          <a:p>
            <a:r>
              <a:rPr lang="en-US" dirty="0"/>
              <a:t>"You sketched an application."</a:t>
            </a:r>
          </a:p>
          <a:p>
            <a:endParaRPr lang="en-US" dirty="0"/>
          </a:p>
          <a:p>
            <a:r>
              <a:rPr lang="en-US" dirty="0"/>
              <a:t>"You imagined what users would see."</a:t>
            </a:r>
          </a:p>
          <a:p>
            <a:endParaRPr lang="en-US" dirty="0"/>
          </a:p>
          <a:p>
            <a:r>
              <a:rPr lang="en-US" dirty="0"/>
              <a:t>"You organized the navigation."</a:t>
            </a:r>
          </a:p>
          <a:p>
            <a:endParaRPr lang="en-US" dirty="0"/>
          </a:p>
          <a:p>
            <a:r>
              <a:rPr lang="en-US" dirty="0"/>
              <a:t>"You designed the dashboard."</a:t>
            </a:r>
          </a:p>
          <a:p>
            <a:endParaRPr lang="en-US" dirty="0"/>
          </a:p>
          <a:p>
            <a:r>
              <a:rPr lang="en-US" dirty="0"/>
              <a:t>Pause.</a:t>
            </a:r>
          </a:p>
          <a:p>
            <a:endParaRPr lang="en-US" dirty="0"/>
          </a:p>
          <a:p>
            <a:r>
              <a:rPr lang="en-US" dirty="0"/>
              <a:t>"Today..."</a:t>
            </a:r>
          </a:p>
          <a:p>
            <a:endParaRPr lang="en-US" dirty="0"/>
          </a:p>
          <a:p>
            <a:r>
              <a:rPr lang="en-US" dirty="0"/>
              <a:t>"We bring those designs to life."</a:t>
            </a:r>
          </a:p>
          <a:p>
            <a:endParaRPr lang="en-US" dirty="0"/>
          </a:p>
          <a:p>
            <a:r>
              <a:rPr lang="en-US" dirty="0"/>
              <a:t>------------------------------------------------------------</a:t>
            </a:r>
          </a:p>
          <a:p>
            <a:endParaRPr lang="en-US" dirty="0"/>
          </a:p>
          <a:p>
            <a:r>
              <a:rPr lang="en-US" dirty="0"/>
              <a:t>THE BIG IDEA</a:t>
            </a:r>
          </a:p>
          <a:p>
            <a:endParaRPr lang="en-US" dirty="0"/>
          </a:p>
          <a:p>
            <a:r>
              <a:rPr lang="en-US" dirty="0"/>
              <a:t>Point to the subtitle.</a:t>
            </a:r>
          </a:p>
          <a:p>
            <a:endParaRPr lang="en-US" dirty="0"/>
          </a:p>
          <a:p>
            <a:r>
              <a:rPr lang="en-US" dirty="0"/>
              <a:t>"Bring your designs to life."</a:t>
            </a:r>
          </a:p>
          <a:p>
            <a:endParaRPr lang="en-US" dirty="0"/>
          </a:p>
          <a:p>
            <a:r>
              <a:rPr lang="en-US" dirty="0"/>
              <a:t>Explain.</a:t>
            </a:r>
          </a:p>
          <a:p>
            <a:endParaRPr lang="en-US" dirty="0"/>
          </a:p>
          <a:p>
            <a:r>
              <a:rPr lang="en-US" dirty="0"/>
              <a:t>"Professional software doesn't start with code."</a:t>
            </a:r>
          </a:p>
          <a:p>
            <a:endParaRPr lang="en-US" dirty="0"/>
          </a:p>
          <a:p>
            <a:r>
              <a:rPr lang="en-US" dirty="0"/>
              <a:t>"It starts with ideas."</a:t>
            </a:r>
          </a:p>
          <a:p>
            <a:endParaRPr lang="en-US" dirty="0"/>
          </a:p>
          <a:p>
            <a:r>
              <a:rPr lang="en-US" dirty="0"/>
              <a:t>"Our ideas became wireframes."</a:t>
            </a:r>
          </a:p>
          <a:p>
            <a:endParaRPr lang="en-US" dirty="0"/>
          </a:p>
          <a:p>
            <a:r>
              <a:rPr lang="en-US" dirty="0"/>
              <a:t>"Our wireframes become pages."</a:t>
            </a:r>
          </a:p>
          <a:p>
            <a:endParaRPr lang="en-US" dirty="0"/>
          </a:p>
          <a:p>
            <a:r>
              <a:rPr lang="en-US" dirty="0"/>
              <a:t>"Our pages become software."</a:t>
            </a:r>
          </a:p>
          <a:p>
            <a:endParaRPr lang="en-US" dirty="0"/>
          </a:p>
          <a:p>
            <a:r>
              <a:rPr lang="en-US" dirty="0"/>
              <a:t>------------------------------------------------------------</a:t>
            </a:r>
          </a:p>
          <a:p>
            <a:endParaRPr lang="en-US" dirty="0"/>
          </a:p>
          <a:p>
            <a:r>
              <a:rPr lang="en-US" dirty="0"/>
              <a:t>OUR GOAL</a:t>
            </a:r>
          </a:p>
          <a:p>
            <a:endParaRPr lang="en-US" dirty="0"/>
          </a:p>
          <a:p>
            <a:r>
              <a:rPr lang="en-US" dirty="0"/>
              <a:t>Walk through the goals.</a:t>
            </a:r>
          </a:p>
          <a:p>
            <a:endParaRPr lang="en-US" dirty="0"/>
          </a:p>
          <a:p>
            <a:r>
              <a:rPr lang="en-US" dirty="0"/>
              <a:t>Create clean pages.</a:t>
            </a:r>
          </a:p>
          <a:p>
            <a:endParaRPr lang="en-US" dirty="0"/>
          </a:p>
          <a:p>
            <a:r>
              <a:rPr lang="en-US" dirty="0"/>
              <a:t>Follow the Sprint 3 wireframes.</a:t>
            </a:r>
          </a:p>
          <a:p>
            <a:endParaRPr lang="en-US" dirty="0"/>
          </a:p>
          <a:p>
            <a:r>
              <a:rPr lang="en-US" dirty="0"/>
              <a:t>Use Bootstrap for layout.</a:t>
            </a:r>
          </a:p>
          <a:p>
            <a:endParaRPr lang="en-US" dirty="0"/>
          </a:p>
          <a:p>
            <a:r>
              <a:rPr lang="en-US" dirty="0"/>
              <a:t>Build reusable components.</a:t>
            </a:r>
          </a:p>
          <a:p>
            <a:endParaRPr lang="en-US" dirty="0"/>
          </a:p>
          <a:p>
            <a:r>
              <a:rPr lang="en-US" dirty="0"/>
              <a:t>Support multiple devices.</a:t>
            </a:r>
          </a:p>
          <a:p>
            <a:endParaRPr lang="en-US" dirty="0"/>
          </a:p>
          <a:p>
            <a:r>
              <a:rPr lang="en-US" dirty="0"/>
              <a:t>Explain.</a:t>
            </a:r>
          </a:p>
          <a:p>
            <a:endParaRPr lang="en-US" dirty="0"/>
          </a:p>
          <a:p>
            <a:r>
              <a:rPr lang="en-US" dirty="0"/>
              <a:t>"Notice our goal."</a:t>
            </a:r>
          </a:p>
          <a:p>
            <a:endParaRPr lang="en-US" dirty="0"/>
          </a:p>
          <a:p>
            <a:r>
              <a:rPr lang="en-US" dirty="0"/>
              <a:t>"We're not trying to impress people."</a:t>
            </a:r>
          </a:p>
          <a:p>
            <a:endParaRPr lang="en-US" dirty="0"/>
          </a:p>
          <a:p>
            <a:r>
              <a:rPr lang="en-US" dirty="0"/>
              <a:t>"We're trying to make software easy to use."</a:t>
            </a:r>
          </a:p>
          <a:p>
            <a:endParaRPr lang="en-US" dirty="0"/>
          </a:p>
          <a:p>
            <a:r>
              <a:rPr lang="en-US" dirty="0"/>
              <a:t>------------------------------------------------------------</a:t>
            </a:r>
          </a:p>
          <a:p>
            <a:endParaRPr lang="en-US" dirty="0"/>
          </a:p>
          <a:p>
            <a:r>
              <a:rPr lang="en-US" dirty="0"/>
              <a:t>FROM DESIGN TO DEVELOPMENT</a:t>
            </a:r>
          </a:p>
          <a:p>
            <a:endParaRPr lang="en-US" dirty="0"/>
          </a:p>
          <a:p>
            <a:r>
              <a:rPr lang="en-US" dirty="0"/>
              <a:t>Point to the wireframe comparison.</a:t>
            </a:r>
          </a:p>
          <a:p>
            <a:endParaRPr lang="en-US" dirty="0"/>
          </a:p>
          <a:p>
            <a:r>
              <a:rPr lang="en-US" dirty="0"/>
              <a:t>Ask students:</a:t>
            </a:r>
          </a:p>
          <a:p>
            <a:endParaRPr lang="en-US" dirty="0"/>
          </a:p>
          <a:p>
            <a:r>
              <a:rPr lang="en-US" dirty="0"/>
              <a:t>"Does this dashboard look familiar?"</a:t>
            </a:r>
          </a:p>
          <a:p>
            <a:endParaRPr lang="en-US" dirty="0"/>
          </a:p>
          <a:p>
            <a:r>
              <a:rPr lang="en-US" dirty="0"/>
              <a:t>Smile.</a:t>
            </a:r>
          </a:p>
          <a:p>
            <a:endParaRPr lang="en-US" dirty="0"/>
          </a:p>
          <a:p>
            <a:r>
              <a:rPr lang="en-US" dirty="0"/>
              <a:t>"It should."</a:t>
            </a:r>
          </a:p>
          <a:p>
            <a:endParaRPr lang="en-US" dirty="0"/>
          </a:p>
          <a:p>
            <a:r>
              <a:rPr lang="en-US" dirty="0"/>
              <a:t>"You designed it."</a:t>
            </a:r>
          </a:p>
          <a:p>
            <a:endParaRPr lang="en-US" dirty="0"/>
          </a:p>
          <a:p>
            <a:r>
              <a:rPr lang="en-US" dirty="0"/>
              <a:t>Explain.</a:t>
            </a:r>
          </a:p>
          <a:p>
            <a:endParaRPr lang="en-US" dirty="0"/>
          </a:p>
          <a:p>
            <a:r>
              <a:rPr lang="en-US" dirty="0"/>
              <a:t>"This is why Sprint 3 mattered."</a:t>
            </a:r>
          </a:p>
          <a:p>
            <a:endParaRPr lang="en-US" dirty="0"/>
          </a:p>
          <a:p>
            <a:r>
              <a:rPr lang="en-US" dirty="0"/>
              <a:t>"We aren't guessing."</a:t>
            </a:r>
          </a:p>
          <a:p>
            <a:endParaRPr lang="en-US" dirty="0"/>
          </a:p>
          <a:p>
            <a:r>
              <a:rPr lang="en-US" dirty="0"/>
              <a:t>"We're implementing."</a:t>
            </a:r>
          </a:p>
          <a:p>
            <a:endParaRPr lang="en-US" dirty="0"/>
          </a:p>
          <a:p>
            <a:r>
              <a:rPr lang="en-US" dirty="0"/>
              <a:t>------------------------------------------------------------</a:t>
            </a:r>
          </a:p>
          <a:p>
            <a:endParaRPr lang="en-US" dirty="0"/>
          </a:p>
          <a:p>
            <a:r>
              <a:rPr lang="en-US" dirty="0"/>
              <a:t>UI DEVELOPMENT PROCESS</a:t>
            </a:r>
          </a:p>
          <a:p>
            <a:endParaRPr lang="en-US" dirty="0"/>
          </a:p>
          <a:p>
            <a:r>
              <a:rPr lang="en-US" dirty="0"/>
              <a:t>Walk through each step.</a:t>
            </a:r>
          </a:p>
          <a:p>
            <a:endParaRPr lang="en-US" dirty="0"/>
          </a:p>
          <a:p>
            <a:r>
              <a:rPr lang="en-US" dirty="0"/>
              <a:t>STEP 1</a:t>
            </a:r>
          </a:p>
          <a:p>
            <a:endParaRPr lang="en-US" dirty="0"/>
          </a:p>
          <a:p>
            <a:r>
              <a:rPr lang="en-US" dirty="0"/>
              <a:t>Review the wireframes.</a:t>
            </a:r>
          </a:p>
          <a:p>
            <a:endParaRPr lang="en-US" dirty="0"/>
          </a:p>
          <a:p>
            <a:r>
              <a:rPr lang="en-US" dirty="0"/>
              <a:t>Explain.</a:t>
            </a:r>
          </a:p>
          <a:p>
            <a:endParaRPr lang="en-US" dirty="0"/>
          </a:p>
          <a:p>
            <a:r>
              <a:rPr lang="en-US" dirty="0"/>
              <a:t>"Don't start coding."</a:t>
            </a:r>
          </a:p>
          <a:p>
            <a:endParaRPr lang="en-US" dirty="0"/>
          </a:p>
          <a:p>
            <a:r>
              <a:rPr lang="en-US" dirty="0"/>
              <a:t>"Start thinking."</a:t>
            </a:r>
          </a:p>
          <a:p>
            <a:endParaRPr lang="en-US" dirty="0"/>
          </a:p>
          <a:p>
            <a:r>
              <a:rPr lang="en-US" dirty="0"/>
              <a:t>"What did we design?"</a:t>
            </a:r>
          </a:p>
          <a:p>
            <a:endParaRPr lang="en-US" dirty="0"/>
          </a:p>
          <a:p>
            <a:r>
              <a:rPr lang="en-US" dirty="0"/>
              <a:t>------------------------------------------------------------</a:t>
            </a:r>
          </a:p>
          <a:p>
            <a:endParaRPr lang="en-US" dirty="0"/>
          </a:p>
          <a:p>
            <a:r>
              <a:rPr lang="en-US" dirty="0"/>
              <a:t>STEP 2</a:t>
            </a:r>
          </a:p>
          <a:p>
            <a:endParaRPr lang="en-US" dirty="0"/>
          </a:p>
          <a:p>
            <a:r>
              <a:rPr lang="en-US" dirty="0"/>
              <a:t>Plan the page.</a:t>
            </a:r>
          </a:p>
          <a:p>
            <a:endParaRPr lang="en-US" dirty="0"/>
          </a:p>
          <a:p>
            <a:r>
              <a:rPr lang="en-US" dirty="0"/>
              <a:t>Identify:</a:t>
            </a:r>
          </a:p>
          <a:p>
            <a:endParaRPr lang="en-US" dirty="0"/>
          </a:p>
          <a:p>
            <a:r>
              <a:rPr lang="en-US" dirty="0"/>
              <a:t>Navigation</a:t>
            </a:r>
          </a:p>
          <a:p>
            <a:endParaRPr lang="en-US" dirty="0"/>
          </a:p>
          <a:p>
            <a:r>
              <a:rPr lang="en-US" dirty="0"/>
              <a:t>Cards</a:t>
            </a:r>
          </a:p>
          <a:p>
            <a:endParaRPr lang="en-US" dirty="0"/>
          </a:p>
          <a:p>
            <a:r>
              <a:rPr lang="en-US" dirty="0"/>
              <a:t>Tables</a:t>
            </a:r>
          </a:p>
          <a:p>
            <a:endParaRPr lang="en-US" dirty="0"/>
          </a:p>
          <a:p>
            <a:r>
              <a:rPr lang="en-US" dirty="0"/>
              <a:t>Buttons</a:t>
            </a:r>
          </a:p>
          <a:p>
            <a:endParaRPr lang="en-US" dirty="0"/>
          </a:p>
          <a:p>
            <a:r>
              <a:rPr lang="en-US" dirty="0"/>
              <a:t>Content</a:t>
            </a:r>
          </a:p>
          <a:p>
            <a:endParaRPr lang="en-US" dirty="0"/>
          </a:p>
          <a:p>
            <a:r>
              <a:rPr lang="en-US" dirty="0"/>
              <a:t>Explain.</a:t>
            </a:r>
          </a:p>
          <a:p>
            <a:endParaRPr lang="en-US" dirty="0"/>
          </a:p>
          <a:p>
            <a:r>
              <a:rPr lang="en-US" dirty="0"/>
              <a:t>"Break large problems into small pieces."</a:t>
            </a:r>
          </a:p>
          <a:p>
            <a:endParaRPr lang="en-US" dirty="0"/>
          </a:p>
          <a:p>
            <a:r>
              <a:rPr lang="en-US" dirty="0"/>
              <a:t>------------------------------------------------------------</a:t>
            </a:r>
          </a:p>
          <a:p>
            <a:endParaRPr lang="en-US" dirty="0"/>
          </a:p>
          <a:p>
            <a:r>
              <a:rPr lang="en-US" dirty="0"/>
              <a:t>STEP 3</a:t>
            </a:r>
          </a:p>
          <a:p>
            <a:endParaRPr lang="en-US" dirty="0"/>
          </a:p>
          <a:p>
            <a:r>
              <a:rPr lang="en-US" dirty="0"/>
              <a:t>Build the markup.</a:t>
            </a:r>
          </a:p>
          <a:p>
            <a:endParaRPr lang="en-US" dirty="0"/>
          </a:p>
          <a:p>
            <a:r>
              <a:rPr lang="en-US" dirty="0"/>
              <a:t>Explain.</a:t>
            </a:r>
          </a:p>
          <a:p>
            <a:endParaRPr lang="en-US" dirty="0"/>
          </a:p>
          <a:p>
            <a:r>
              <a:rPr lang="en-US" dirty="0"/>
              <a:t>"We create the Razor View."</a:t>
            </a:r>
          </a:p>
          <a:p>
            <a:endParaRPr lang="en-US" dirty="0"/>
          </a:p>
          <a:p>
            <a:r>
              <a:rPr lang="en-US" dirty="0"/>
              <a:t>"We write the HTML."</a:t>
            </a:r>
          </a:p>
          <a:p>
            <a:endParaRPr lang="en-US" dirty="0"/>
          </a:p>
          <a:p>
            <a:r>
              <a:rPr lang="en-US" dirty="0"/>
              <a:t>"We build the structure."</a:t>
            </a:r>
          </a:p>
          <a:p>
            <a:endParaRPr lang="en-US" dirty="0"/>
          </a:p>
          <a:p>
            <a:r>
              <a:rPr lang="en-US" dirty="0"/>
              <a:t>Nothing fancy.</a:t>
            </a:r>
          </a:p>
          <a:p>
            <a:endParaRPr lang="en-US" dirty="0"/>
          </a:p>
          <a:p>
            <a:r>
              <a:rPr lang="en-US" dirty="0"/>
              <a:t>Just structure.</a:t>
            </a:r>
          </a:p>
          <a:p>
            <a:endParaRPr lang="en-US" dirty="0"/>
          </a:p>
          <a:p>
            <a:r>
              <a:rPr lang="en-US" dirty="0"/>
              <a:t>------------------------------------------------------------</a:t>
            </a:r>
          </a:p>
          <a:p>
            <a:endParaRPr lang="en-US" dirty="0"/>
          </a:p>
          <a:p>
            <a:r>
              <a:rPr lang="en-US" dirty="0"/>
              <a:t>STEP 4</a:t>
            </a:r>
          </a:p>
          <a:p>
            <a:endParaRPr lang="en-US" dirty="0"/>
          </a:p>
          <a:p>
            <a:r>
              <a:rPr lang="en-US" dirty="0"/>
              <a:t>Style with Bootstrap.</a:t>
            </a:r>
          </a:p>
          <a:p>
            <a:endParaRPr lang="en-US" dirty="0"/>
          </a:p>
          <a:p>
            <a:r>
              <a:rPr lang="en-US" dirty="0"/>
              <a:t>Explain.</a:t>
            </a:r>
          </a:p>
          <a:p>
            <a:endParaRPr lang="en-US" dirty="0"/>
          </a:p>
          <a:p>
            <a:r>
              <a:rPr lang="en-US" dirty="0"/>
              <a:t>"Bootstrap saves us time."</a:t>
            </a:r>
          </a:p>
          <a:p>
            <a:endParaRPr lang="en-US" dirty="0"/>
          </a:p>
          <a:p>
            <a:r>
              <a:rPr lang="en-US" dirty="0"/>
              <a:t>"It provides professional layouts."</a:t>
            </a:r>
          </a:p>
          <a:p>
            <a:endParaRPr lang="en-US" dirty="0"/>
          </a:p>
          <a:p>
            <a:r>
              <a:rPr lang="en-US" dirty="0"/>
              <a:t>"It helps our application work on many screen sizes."</a:t>
            </a:r>
          </a:p>
          <a:p>
            <a:endParaRPr lang="en-US" dirty="0"/>
          </a:p>
          <a:p>
            <a:r>
              <a:rPr lang="en-US" dirty="0"/>
              <a:t>Show examples.</a:t>
            </a:r>
          </a:p>
          <a:p>
            <a:endParaRPr lang="en-US" dirty="0"/>
          </a:p>
          <a:p>
            <a:r>
              <a:rPr lang="en-US" dirty="0"/>
              <a:t>Cards.</a:t>
            </a:r>
          </a:p>
          <a:p>
            <a:endParaRPr lang="en-US" dirty="0"/>
          </a:p>
          <a:p>
            <a:r>
              <a:rPr lang="en-US" dirty="0"/>
              <a:t>Buttons.</a:t>
            </a:r>
          </a:p>
          <a:p>
            <a:endParaRPr lang="en-US" dirty="0"/>
          </a:p>
          <a:p>
            <a:r>
              <a:rPr lang="en-US" dirty="0"/>
              <a:t>Navigation.</a:t>
            </a:r>
          </a:p>
          <a:p>
            <a:endParaRPr lang="en-US" dirty="0"/>
          </a:p>
          <a:p>
            <a:r>
              <a:rPr lang="en-US" dirty="0"/>
              <a:t>Tables.</a:t>
            </a:r>
          </a:p>
          <a:p>
            <a:endParaRPr lang="en-US" dirty="0"/>
          </a:p>
          <a:p>
            <a:r>
              <a:rPr lang="en-US" dirty="0"/>
              <a:t>------------------------------------------------------------</a:t>
            </a:r>
          </a:p>
          <a:p>
            <a:endParaRPr lang="en-US" dirty="0"/>
          </a:p>
          <a:p>
            <a:r>
              <a:rPr lang="en-US" dirty="0"/>
              <a:t>STEP 5</a:t>
            </a:r>
          </a:p>
          <a:p>
            <a:endParaRPr lang="en-US" dirty="0"/>
          </a:p>
          <a:p>
            <a:r>
              <a:rPr lang="en-US" dirty="0"/>
              <a:t>Test and refine.</a:t>
            </a:r>
          </a:p>
          <a:p>
            <a:endParaRPr lang="en-US" dirty="0"/>
          </a:p>
          <a:p>
            <a:r>
              <a:rPr lang="en-US" dirty="0"/>
              <a:t>Ask students:</a:t>
            </a:r>
          </a:p>
          <a:p>
            <a:endParaRPr lang="en-US" dirty="0"/>
          </a:p>
          <a:p>
            <a:r>
              <a:rPr lang="en-US" dirty="0"/>
              <a:t>"Does the page match your design?"</a:t>
            </a:r>
          </a:p>
          <a:p>
            <a:endParaRPr lang="en-US" dirty="0"/>
          </a:p>
          <a:p>
            <a:r>
              <a:rPr lang="en-US" dirty="0"/>
              <a:t>"If not..."</a:t>
            </a:r>
          </a:p>
          <a:p>
            <a:endParaRPr lang="en-US" dirty="0"/>
          </a:p>
          <a:p>
            <a:r>
              <a:rPr lang="en-US" dirty="0"/>
              <a:t>"Fix it."</a:t>
            </a:r>
          </a:p>
          <a:p>
            <a:endParaRPr lang="en-US" dirty="0"/>
          </a:p>
          <a:p>
            <a:r>
              <a:rPr lang="en-US" dirty="0"/>
              <a:t>Explain.</a:t>
            </a:r>
          </a:p>
          <a:p>
            <a:endParaRPr lang="en-US" dirty="0"/>
          </a:p>
          <a:p>
            <a:r>
              <a:rPr lang="en-US" dirty="0"/>
              <a:t>"Professional developers constantly improve the user experience."</a:t>
            </a:r>
          </a:p>
          <a:p>
            <a:endParaRPr lang="en-US" dirty="0"/>
          </a:p>
          <a:p>
            <a:r>
              <a:rPr lang="en-US" dirty="0"/>
              <a:t>------------------------------------------------------------</a:t>
            </a:r>
          </a:p>
          <a:p>
            <a:endParaRPr lang="en-US" dirty="0"/>
          </a:p>
          <a:p>
            <a:r>
              <a:rPr lang="en-US" dirty="0"/>
              <a:t>STEP 6</a:t>
            </a:r>
          </a:p>
          <a:p>
            <a:endParaRPr lang="en-US" dirty="0"/>
          </a:p>
          <a:p>
            <a:r>
              <a:rPr lang="en-US" dirty="0"/>
              <a:t>Repeat.</a:t>
            </a:r>
          </a:p>
          <a:p>
            <a:endParaRPr lang="en-US" dirty="0"/>
          </a:p>
          <a:p>
            <a:r>
              <a:rPr lang="en-US" dirty="0"/>
              <a:t>Explain.</a:t>
            </a:r>
          </a:p>
          <a:p>
            <a:endParaRPr lang="en-US" dirty="0"/>
          </a:p>
          <a:p>
            <a:r>
              <a:rPr lang="en-US" dirty="0"/>
              <a:t>"One page becomes two."</a:t>
            </a:r>
          </a:p>
          <a:p>
            <a:endParaRPr lang="en-US" dirty="0"/>
          </a:p>
          <a:p>
            <a:r>
              <a:rPr lang="en-US" dirty="0"/>
              <a:t>"Two become five."</a:t>
            </a:r>
          </a:p>
          <a:p>
            <a:endParaRPr lang="en-US" dirty="0"/>
          </a:p>
          <a:p>
            <a:r>
              <a:rPr lang="en-US" dirty="0"/>
              <a:t>"Five become an application."</a:t>
            </a:r>
          </a:p>
          <a:p>
            <a:endParaRPr lang="en-US" dirty="0"/>
          </a:p>
          <a:p>
            <a:r>
              <a:rPr lang="en-US" dirty="0"/>
              <a:t>Software grows one feature at a time.</a:t>
            </a:r>
          </a:p>
          <a:p>
            <a:endParaRPr lang="en-US" dirty="0"/>
          </a:p>
          <a:p>
            <a:r>
              <a:rPr lang="en-US" dirty="0"/>
              <a:t>------------------------------------------------------------</a:t>
            </a:r>
          </a:p>
          <a:p>
            <a:endParaRPr lang="en-US" dirty="0"/>
          </a:p>
          <a:p>
            <a:r>
              <a:rPr lang="en-US" dirty="0"/>
              <a:t>KEY PRINCIPLES</a:t>
            </a:r>
          </a:p>
          <a:p>
            <a:endParaRPr lang="en-US" dirty="0"/>
          </a:p>
          <a:p>
            <a:r>
              <a:rPr lang="en-US" dirty="0"/>
              <a:t>Walk through each principle.</a:t>
            </a:r>
          </a:p>
          <a:p>
            <a:endParaRPr lang="en-US" dirty="0"/>
          </a:p>
          <a:p>
            <a:r>
              <a:rPr lang="en-US" dirty="0"/>
              <a:t>User First</a:t>
            </a:r>
          </a:p>
          <a:p>
            <a:endParaRPr lang="en-US" dirty="0"/>
          </a:p>
          <a:p>
            <a:r>
              <a:rPr lang="en-US" dirty="0"/>
              <a:t>Consistency</a:t>
            </a:r>
          </a:p>
          <a:p>
            <a:endParaRPr lang="en-US" dirty="0"/>
          </a:p>
          <a:p>
            <a:r>
              <a:rPr lang="en-US" dirty="0"/>
              <a:t>Simplicity</a:t>
            </a:r>
          </a:p>
          <a:p>
            <a:endParaRPr lang="en-US" dirty="0"/>
          </a:p>
          <a:p>
            <a:r>
              <a:rPr lang="en-US" dirty="0"/>
              <a:t>Responsiveness</a:t>
            </a:r>
          </a:p>
          <a:p>
            <a:endParaRPr lang="en-US" dirty="0"/>
          </a:p>
          <a:p>
            <a:r>
              <a:rPr lang="en-US" dirty="0"/>
              <a:t>Ask:</a:t>
            </a:r>
          </a:p>
          <a:p>
            <a:endParaRPr lang="en-US" dirty="0"/>
          </a:p>
          <a:p>
            <a:r>
              <a:rPr lang="en-US" dirty="0"/>
              <a:t>"Which one is most important?"</a:t>
            </a:r>
          </a:p>
          <a:p>
            <a:endParaRPr lang="en-US" dirty="0"/>
          </a:p>
          <a:p>
            <a:r>
              <a:rPr lang="en-US" dirty="0"/>
              <a:t>Guide discussion.</a:t>
            </a:r>
          </a:p>
          <a:p>
            <a:endParaRPr lang="en-US" dirty="0"/>
          </a:p>
          <a:p>
            <a:r>
              <a:rPr lang="en-US" dirty="0"/>
              <a:t>There isn't one correct answer.</a:t>
            </a:r>
          </a:p>
          <a:p>
            <a:endParaRPr lang="en-US" dirty="0"/>
          </a:p>
          <a:p>
            <a:r>
              <a:rPr lang="en-US" dirty="0"/>
              <a:t>All four work together.</a:t>
            </a:r>
          </a:p>
          <a:p>
            <a:endParaRPr lang="en-US" dirty="0"/>
          </a:p>
          <a:p>
            <a:r>
              <a:rPr lang="en-US" dirty="0"/>
              <a:t>------------------------------------------------------------</a:t>
            </a:r>
          </a:p>
          <a:p>
            <a:endParaRPr lang="en-US" dirty="0"/>
          </a:p>
          <a:p>
            <a:r>
              <a:rPr lang="en-US" dirty="0"/>
              <a:t>TOOLS WE USE</a:t>
            </a:r>
          </a:p>
          <a:p>
            <a:endParaRPr lang="en-US" dirty="0"/>
          </a:p>
          <a:p>
            <a:r>
              <a:rPr lang="en-US" dirty="0"/>
              <a:t>Review each technology.</a:t>
            </a:r>
          </a:p>
          <a:p>
            <a:endParaRPr lang="en-US" dirty="0"/>
          </a:p>
          <a:p>
            <a:r>
              <a:rPr lang="en-US" dirty="0"/>
              <a:t>Razor Views</a:t>
            </a:r>
          </a:p>
          <a:p>
            <a:endParaRPr lang="en-US" dirty="0"/>
          </a:p>
          <a:p>
            <a:r>
              <a:rPr lang="en-US" dirty="0"/>
              <a:t>HTML</a:t>
            </a:r>
          </a:p>
          <a:p>
            <a:endParaRPr lang="en-US" dirty="0"/>
          </a:p>
          <a:p>
            <a:r>
              <a:rPr lang="en-US" dirty="0"/>
              <a:t>Bootstrap</a:t>
            </a:r>
          </a:p>
          <a:p>
            <a:endParaRPr lang="en-US" dirty="0"/>
          </a:p>
          <a:p>
            <a:r>
              <a:rPr lang="en-US" dirty="0"/>
              <a:t>CSS</a:t>
            </a:r>
          </a:p>
          <a:p>
            <a:endParaRPr lang="en-US" dirty="0"/>
          </a:p>
          <a:p>
            <a:r>
              <a:rPr lang="en-US" dirty="0"/>
              <a:t>Light JavaScript</a:t>
            </a:r>
          </a:p>
          <a:p>
            <a:endParaRPr lang="en-US" dirty="0"/>
          </a:p>
          <a:p>
            <a:r>
              <a:rPr lang="en-US" dirty="0"/>
              <a:t>Explain.</a:t>
            </a:r>
          </a:p>
          <a:p>
            <a:endParaRPr lang="en-US" dirty="0"/>
          </a:p>
          <a:p>
            <a:r>
              <a:rPr lang="en-US" dirty="0"/>
              <a:t>"We're only using enough technology to build our interface."</a:t>
            </a:r>
          </a:p>
          <a:p>
            <a:endParaRPr lang="en-US" dirty="0"/>
          </a:p>
          <a:p>
            <a:r>
              <a:rPr lang="en-US" dirty="0"/>
              <a:t>"This isn't a web development course."</a:t>
            </a:r>
          </a:p>
          <a:p>
            <a:endParaRPr lang="en-US" dirty="0"/>
          </a:p>
          <a:p>
            <a:r>
              <a:rPr lang="en-US" dirty="0"/>
              <a:t>"It's a SaaS engineering course."</a:t>
            </a:r>
          </a:p>
          <a:p>
            <a:endParaRPr lang="en-US" dirty="0"/>
          </a:p>
          <a:p>
            <a:r>
              <a:rPr lang="en-US" dirty="0"/>
              <a:t>Keep the focus on the product.</a:t>
            </a:r>
          </a:p>
          <a:p>
            <a:endParaRPr lang="en-US" dirty="0"/>
          </a:p>
          <a:p>
            <a:r>
              <a:rPr lang="en-US" dirty="0"/>
              <a:t>------------------------------------------------------------</a:t>
            </a:r>
          </a:p>
          <a:p>
            <a:endParaRPr lang="en-US" dirty="0"/>
          </a:p>
          <a:p>
            <a:r>
              <a:rPr lang="en-US" dirty="0"/>
              <a:t>RESPONSIVE DESIGN</a:t>
            </a:r>
          </a:p>
          <a:p>
            <a:endParaRPr lang="en-US" dirty="0"/>
          </a:p>
          <a:p>
            <a:r>
              <a:rPr lang="en-US" dirty="0"/>
              <a:t>Point to the device icons.</a:t>
            </a:r>
          </a:p>
          <a:p>
            <a:endParaRPr lang="en-US" dirty="0"/>
          </a:p>
          <a:p>
            <a:r>
              <a:rPr lang="en-US" dirty="0"/>
              <a:t>Ask:</a:t>
            </a:r>
          </a:p>
          <a:p>
            <a:endParaRPr lang="en-US" dirty="0"/>
          </a:p>
          <a:p>
            <a:r>
              <a:rPr lang="en-US" dirty="0"/>
              <a:t>"Should Atlas </a:t>
            </a:r>
            <a:r>
              <a:rPr lang="en-US" dirty="0" err="1"/>
              <a:t>TaskFlow</a:t>
            </a:r>
            <a:r>
              <a:rPr lang="en-US" dirty="0"/>
              <a:t> only work on laptops?"</a:t>
            </a:r>
          </a:p>
          <a:p>
            <a:endParaRPr lang="en-US" dirty="0"/>
          </a:p>
          <a:p>
            <a:r>
              <a:rPr lang="en-US" dirty="0"/>
              <a:t>Students answer:</a:t>
            </a:r>
          </a:p>
          <a:p>
            <a:endParaRPr lang="en-US" dirty="0"/>
          </a:p>
          <a:p>
            <a:r>
              <a:rPr lang="en-US" dirty="0"/>
              <a:t>"No."</a:t>
            </a:r>
          </a:p>
          <a:p>
            <a:endParaRPr lang="en-US" dirty="0"/>
          </a:p>
          <a:p>
            <a:r>
              <a:rPr lang="en-US" dirty="0"/>
              <a:t>Explain.</a:t>
            </a:r>
          </a:p>
          <a:p>
            <a:endParaRPr lang="en-US" dirty="0"/>
          </a:p>
          <a:p>
            <a:r>
              <a:rPr lang="en-US" dirty="0"/>
              <a:t>"A SaaS application should work wherever the user is."</a:t>
            </a:r>
          </a:p>
          <a:p>
            <a:endParaRPr lang="en-US" dirty="0"/>
          </a:p>
          <a:p>
            <a:r>
              <a:rPr lang="en-US" dirty="0"/>
              <a:t>Briefly discuss:</a:t>
            </a:r>
          </a:p>
          <a:p>
            <a:endParaRPr lang="en-US" dirty="0"/>
          </a:p>
          <a:p>
            <a:r>
              <a:rPr lang="en-US" dirty="0"/>
              <a:t>Desktop</a:t>
            </a:r>
          </a:p>
          <a:p>
            <a:endParaRPr lang="en-US" dirty="0"/>
          </a:p>
          <a:p>
            <a:r>
              <a:rPr lang="en-US" dirty="0"/>
              <a:t>Tablet</a:t>
            </a:r>
          </a:p>
          <a:p>
            <a:endParaRPr lang="en-US" dirty="0"/>
          </a:p>
          <a:p>
            <a:r>
              <a:rPr lang="en-US" dirty="0"/>
              <a:t>Mobile</a:t>
            </a:r>
          </a:p>
          <a:p>
            <a:endParaRPr lang="en-US" dirty="0"/>
          </a:p>
          <a:p>
            <a:r>
              <a:rPr lang="en-US" dirty="0"/>
              <a:t>No deep dive into responsive CSS.</a:t>
            </a:r>
          </a:p>
          <a:p>
            <a:endParaRPr lang="en-US" dirty="0"/>
          </a:p>
          <a:p>
            <a:r>
              <a:rPr lang="en-US" dirty="0"/>
              <a:t>------------------------------------------------------------</a:t>
            </a:r>
          </a:p>
          <a:p>
            <a:endParaRPr lang="en-US" dirty="0"/>
          </a:p>
          <a:p>
            <a:r>
              <a:rPr lang="en-US" dirty="0"/>
              <a:t>REUSABLE COMPONENTS</a:t>
            </a:r>
          </a:p>
          <a:p>
            <a:endParaRPr lang="en-US" dirty="0"/>
          </a:p>
          <a:p>
            <a:r>
              <a:rPr lang="en-US" dirty="0"/>
              <a:t>Show the examples.</a:t>
            </a:r>
          </a:p>
          <a:p>
            <a:endParaRPr lang="en-US" dirty="0"/>
          </a:p>
          <a:p>
            <a:r>
              <a:rPr lang="en-US" dirty="0"/>
              <a:t>Cards.</a:t>
            </a:r>
          </a:p>
          <a:p>
            <a:endParaRPr lang="en-US" dirty="0"/>
          </a:p>
          <a:p>
            <a:r>
              <a:rPr lang="en-US" dirty="0"/>
              <a:t>Buttons.</a:t>
            </a:r>
          </a:p>
          <a:p>
            <a:endParaRPr lang="en-US" dirty="0"/>
          </a:p>
          <a:p>
            <a:r>
              <a:rPr lang="en-US" dirty="0"/>
              <a:t>Tables.</a:t>
            </a:r>
          </a:p>
          <a:p>
            <a:endParaRPr lang="en-US" dirty="0"/>
          </a:p>
          <a:p>
            <a:r>
              <a:rPr lang="en-US" dirty="0"/>
              <a:t>Navigation.</a:t>
            </a:r>
          </a:p>
          <a:p>
            <a:endParaRPr lang="en-US" dirty="0"/>
          </a:p>
          <a:p>
            <a:r>
              <a:rPr lang="en-US" dirty="0"/>
              <a:t>Explain.</a:t>
            </a:r>
          </a:p>
          <a:p>
            <a:endParaRPr lang="en-US" dirty="0"/>
          </a:p>
          <a:p>
            <a:r>
              <a:rPr lang="en-US" dirty="0"/>
              <a:t>"Good developers don't rebuild everything."</a:t>
            </a:r>
          </a:p>
          <a:p>
            <a:endParaRPr lang="en-US" dirty="0"/>
          </a:p>
          <a:p>
            <a:r>
              <a:rPr lang="en-US" dirty="0"/>
              <a:t>"They reuse consistent components."</a:t>
            </a:r>
          </a:p>
          <a:p>
            <a:endParaRPr lang="en-US" dirty="0"/>
          </a:p>
          <a:p>
            <a:r>
              <a:rPr lang="en-US" dirty="0"/>
              <a:t>------------------------------------------------------------</a:t>
            </a:r>
          </a:p>
          <a:p>
            <a:endParaRPr lang="en-US" dirty="0"/>
          </a:p>
          <a:p>
            <a:r>
              <a:rPr lang="en-US" dirty="0"/>
              <a:t>BUILD CHALLENGE</a:t>
            </a:r>
          </a:p>
          <a:p>
            <a:endParaRPr lang="en-US" dirty="0"/>
          </a:p>
          <a:p>
            <a:r>
              <a:rPr lang="en-US" dirty="0"/>
              <a:t>Challenge students.</a:t>
            </a:r>
          </a:p>
          <a:p>
            <a:endParaRPr lang="en-US" dirty="0"/>
          </a:p>
          <a:p>
            <a:r>
              <a:rPr lang="en-US" dirty="0"/>
              <a:t>Build the Dashboard page.</a:t>
            </a:r>
          </a:p>
          <a:p>
            <a:endParaRPr lang="en-US" dirty="0"/>
          </a:p>
          <a:p>
            <a:r>
              <a:rPr lang="en-US" dirty="0"/>
              <a:t>Use the Sprint 3 wireframe.</a:t>
            </a:r>
          </a:p>
          <a:p>
            <a:endParaRPr lang="en-US" dirty="0"/>
          </a:p>
          <a:p>
            <a:r>
              <a:rPr lang="en-US" dirty="0"/>
              <a:t>Use Bootstrap.</a:t>
            </a:r>
          </a:p>
          <a:p>
            <a:endParaRPr lang="en-US" dirty="0"/>
          </a:p>
          <a:p>
            <a:r>
              <a:rPr lang="en-US" dirty="0"/>
              <a:t>Run the application.</a:t>
            </a:r>
          </a:p>
          <a:p>
            <a:endParaRPr lang="en-US" dirty="0"/>
          </a:p>
          <a:p>
            <a:r>
              <a:rPr lang="en-US" dirty="0"/>
              <a:t>Compare your result to the original design.</a:t>
            </a:r>
          </a:p>
          <a:p>
            <a:endParaRPr lang="en-US" dirty="0"/>
          </a:p>
          <a:p>
            <a:r>
              <a:rPr lang="en-US" dirty="0"/>
              <a:t>Take a screenshot.</a:t>
            </a:r>
          </a:p>
          <a:p>
            <a:endParaRPr lang="en-US" dirty="0"/>
          </a:p>
          <a:p>
            <a:r>
              <a:rPr lang="en-US" dirty="0"/>
              <a:t>Save it in your engineering journal.</a:t>
            </a:r>
          </a:p>
          <a:p>
            <a:endParaRPr lang="en-US" dirty="0"/>
          </a:p>
          <a:p>
            <a:r>
              <a:rPr lang="en-US" dirty="0"/>
              <a:t>------------------------------------------------------------</a:t>
            </a:r>
          </a:p>
          <a:p>
            <a:endParaRPr lang="en-US" dirty="0"/>
          </a:p>
          <a:p>
            <a:r>
              <a:rPr lang="en-US" dirty="0"/>
              <a:t>ENGINEERING INSIGHT</a:t>
            </a:r>
          </a:p>
          <a:p>
            <a:endParaRPr lang="en-US" dirty="0"/>
          </a:p>
          <a:p>
            <a:r>
              <a:rPr lang="en-US" dirty="0"/>
              <a:t>Read the quote.</a:t>
            </a:r>
          </a:p>
          <a:p>
            <a:endParaRPr lang="en-US" dirty="0"/>
          </a:p>
          <a:p>
            <a:r>
              <a:rPr lang="en-US" dirty="0"/>
              <a:t>"A great user interface turns functionality into a great experience."</a:t>
            </a:r>
          </a:p>
          <a:p>
            <a:endParaRPr lang="en-US" dirty="0"/>
          </a:p>
          <a:p>
            <a:r>
              <a:rPr lang="en-US" dirty="0"/>
              <a:t>Pause.</a:t>
            </a:r>
          </a:p>
          <a:p>
            <a:endParaRPr lang="en-US" dirty="0"/>
          </a:p>
          <a:p>
            <a:r>
              <a:rPr lang="en-US" dirty="0"/>
              <a:t>Explain.</a:t>
            </a:r>
          </a:p>
          <a:p>
            <a:endParaRPr lang="en-US" dirty="0"/>
          </a:p>
          <a:p>
            <a:r>
              <a:rPr lang="en-US" dirty="0"/>
              <a:t>"Users don't see our Controllers."</a:t>
            </a:r>
          </a:p>
          <a:p>
            <a:endParaRPr lang="en-US" dirty="0"/>
          </a:p>
          <a:p>
            <a:r>
              <a:rPr lang="en-US" dirty="0"/>
              <a:t>"They don't see our Models."</a:t>
            </a:r>
          </a:p>
          <a:p>
            <a:endParaRPr lang="en-US" dirty="0"/>
          </a:p>
          <a:p>
            <a:r>
              <a:rPr lang="en-US" dirty="0"/>
              <a:t>"They see the interface."</a:t>
            </a:r>
          </a:p>
          <a:p>
            <a:endParaRPr lang="en-US" dirty="0"/>
          </a:p>
          <a:p>
            <a:r>
              <a:rPr lang="en-US" dirty="0"/>
              <a:t>"That's why design matters."</a:t>
            </a:r>
          </a:p>
          <a:p>
            <a:endParaRPr lang="en-US" dirty="0"/>
          </a:p>
          <a:p>
            <a:r>
              <a:rPr lang="en-US" dirty="0"/>
              <a:t>------------------------------------------------------------</a:t>
            </a:r>
          </a:p>
          <a:p>
            <a:endParaRPr lang="en-US" dirty="0"/>
          </a:p>
          <a:p>
            <a:r>
              <a:rPr lang="en-US" dirty="0"/>
              <a:t>SPRINT ROADMAP</a:t>
            </a:r>
          </a:p>
          <a:p>
            <a:endParaRPr lang="en-US" dirty="0"/>
          </a:p>
          <a:p>
            <a:r>
              <a:rPr lang="en-US" dirty="0"/>
              <a:t>Point to Sprint 4.</a:t>
            </a:r>
          </a:p>
          <a:p>
            <a:endParaRPr lang="en-US" dirty="0"/>
          </a:p>
          <a:p>
            <a:r>
              <a:rPr lang="en-US" dirty="0"/>
              <a:t>Review where we are.</a:t>
            </a:r>
          </a:p>
          <a:p>
            <a:endParaRPr lang="en-US" dirty="0"/>
          </a:p>
          <a:p>
            <a:r>
              <a:rPr lang="en-US" dirty="0"/>
              <a:t>Engineering Brief</a:t>
            </a:r>
          </a:p>
          <a:p>
            <a:endParaRPr lang="en-US" dirty="0"/>
          </a:p>
          <a:p>
            <a:r>
              <a:rPr lang="en-US" dirty="0"/>
              <a:t>↓</a:t>
            </a:r>
          </a:p>
          <a:p>
            <a:endParaRPr lang="en-US" dirty="0"/>
          </a:p>
          <a:p>
            <a:r>
              <a:rPr lang="en-US" dirty="0"/>
              <a:t>How SaaS Works</a:t>
            </a:r>
          </a:p>
          <a:p>
            <a:endParaRPr lang="en-US" dirty="0"/>
          </a:p>
          <a:p>
            <a:r>
              <a:rPr lang="en-US" dirty="0"/>
              <a:t>↓</a:t>
            </a:r>
          </a:p>
          <a:p>
            <a:endParaRPr lang="en-US" dirty="0"/>
          </a:p>
          <a:p>
            <a:r>
              <a:rPr lang="en-US" dirty="0"/>
              <a:t>Build Atlas </a:t>
            </a:r>
            <a:r>
              <a:rPr lang="en-US" dirty="0" err="1"/>
              <a:t>TaskFlow</a:t>
            </a:r>
            <a:endParaRPr lang="en-US" dirty="0"/>
          </a:p>
          <a:p>
            <a:endParaRPr lang="en-US" dirty="0"/>
          </a:p>
          <a:p>
            <a:r>
              <a:rPr lang="en-US" dirty="0"/>
              <a:t>↓</a:t>
            </a:r>
          </a:p>
          <a:p>
            <a:endParaRPr lang="en-US" dirty="0"/>
          </a:p>
          <a:p>
            <a:r>
              <a:rPr lang="en-US" dirty="0"/>
              <a:t>Understand MVC</a:t>
            </a:r>
          </a:p>
          <a:p>
            <a:endParaRPr lang="en-US" dirty="0"/>
          </a:p>
          <a:p>
            <a:r>
              <a:rPr lang="en-US" dirty="0"/>
              <a:t>↓</a:t>
            </a:r>
          </a:p>
          <a:p>
            <a:endParaRPr lang="en-US" dirty="0"/>
          </a:p>
          <a:p>
            <a:r>
              <a:rPr lang="en-US" dirty="0"/>
              <a:t>Build the Interface</a:t>
            </a:r>
          </a:p>
          <a:p>
            <a:endParaRPr lang="en-US" dirty="0"/>
          </a:p>
          <a:p>
            <a:r>
              <a:rPr lang="en-US" dirty="0"/>
              <a:t>↓</a:t>
            </a:r>
          </a:p>
          <a:p>
            <a:endParaRPr lang="en-US" dirty="0"/>
          </a:p>
          <a:p>
            <a:r>
              <a:rPr lang="en-US" dirty="0"/>
              <a:t>Run &amp; Test</a:t>
            </a:r>
          </a:p>
          <a:p>
            <a:endParaRPr lang="en-US" dirty="0"/>
          </a:p>
          <a:p>
            <a:r>
              <a:rPr lang="en-US" dirty="0"/>
              <a:t>↓</a:t>
            </a:r>
          </a:p>
          <a:p>
            <a:endParaRPr lang="en-US" dirty="0"/>
          </a:p>
          <a:p>
            <a:r>
              <a:rPr lang="en-US" dirty="0"/>
              <a:t>Deploy to Azure</a:t>
            </a:r>
          </a:p>
          <a:p>
            <a:endParaRPr lang="en-US" dirty="0"/>
          </a:p>
          <a:p>
            <a:r>
              <a:rPr lang="en-US" dirty="0"/>
              <a:t>Explain.</a:t>
            </a:r>
          </a:p>
          <a:p>
            <a:endParaRPr lang="en-US" dirty="0"/>
          </a:p>
          <a:p>
            <a:r>
              <a:rPr lang="en-US" dirty="0"/>
              <a:t>"Our application is beginning to look real."</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"What happens after we finish building?"</a:t>
            </a:r>
          </a:p>
          <a:p>
            <a:endParaRPr lang="en-US" dirty="0"/>
          </a:p>
          <a:p>
            <a:r>
              <a:rPr lang="en-US" dirty="0"/>
              <a:t>Students answer:</a:t>
            </a:r>
          </a:p>
          <a:p>
            <a:endParaRPr lang="en-US" dirty="0"/>
          </a:p>
          <a:p>
            <a:r>
              <a:rPr lang="en-US" dirty="0"/>
              <a:t>"We test."</a:t>
            </a:r>
          </a:p>
          <a:p>
            <a:endParaRPr lang="en-US" dirty="0"/>
          </a:p>
          <a:p>
            <a:r>
              <a:rPr lang="en-US" dirty="0"/>
              <a:t>Exactly.</a:t>
            </a:r>
          </a:p>
          <a:p>
            <a:endParaRPr lang="en-US" dirty="0"/>
          </a:p>
          <a:p>
            <a:r>
              <a:rPr lang="en-US" dirty="0"/>
              <a:t>"Every engineer tests before deployment."</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part of your wireframe was easiest to build?"</a:t>
            </a:r>
          </a:p>
          <a:p>
            <a:endParaRPr lang="en-US" dirty="0"/>
          </a:p>
          <a:p>
            <a:r>
              <a:rPr lang="en-US" dirty="0"/>
              <a:t>"What was more difficult than expected?"</a:t>
            </a:r>
          </a:p>
          <a:p>
            <a:endParaRPr lang="en-US" dirty="0"/>
          </a:p>
          <a:p>
            <a:r>
              <a:rPr lang="en-US" dirty="0"/>
              <a:t>"Did building the interface change any of your design ideas?"</a:t>
            </a:r>
          </a:p>
          <a:p>
            <a:endParaRPr lang="en-US" dirty="0"/>
          </a:p>
          <a:p>
            <a:r>
              <a:rPr lang="en-US" dirty="0"/>
              <a:t>Explain that iteration is part of engineering.</a:t>
            </a:r>
          </a:p>
          <a:p>
            <a:endParaRPr lang="en-US" dirty="0"/>
          </a:p>
          <a:p>
            <a:r>
              <a:rPr lang="en-US" dirty="0"/>
              <a:t>------------------------------------------------------------</a:t>
            </a:r>
          </a:p>
          <a:p>
            <a:endParaRPr lang="en-US" dirty="0"/>
          </a:p>
          <a:p>
            <a:r>
              <a:rPr lang="en-US" dirty="0"/>
              <a:t>THE MOMENT</a:t>
            </a:r>
          </a:p>
          <a:p>
            <a:endParaRPr lang="en-US" dirty="0"/>
          </a:p>
          <a:p>
            <a:r>
              <a:rPr lang="en-US" dirty="0"/>
              <a:t>Walk to the front of the room.</a:t>
            </a:r>
          </a:p>
          <a:p>
            <a:endParaRPr lang="en-US" dirty="0"/>
          </a:p>
          <a:p>
            <a:r>
              <a:rPr lang="en-US" dirty="0"/>
              <a:t>Point at the completed dashboard.</a:t>
            </a:r>
          </a:p>
          <a:p>
            <a:endParaRPr lang="en-US" dirty="0"/>
          </a:p>
          <a:p>
            <a:r>
              <a:rPr lang="en-US" dirty="0"/>
              <a:t>Then say...</a:t>
            </a:r>
          </a:p>
          <a:p>
            <a:endParaRPr lang="en-US" dirty="0"/>
          </a:p>
          <a:p>
            <a:r>
              <a:rPr lang="en-US" dirty="0"/>
              <a:t>"Three weeks ago..."</a:t>
            </a:r>
          </a:p>
          <a:p>
            <a:endParaRPr lang="en-US" dirty="0"/>
          </a:p>
          <a:p>
            <a:r>
              <a:rPr lang="en-US" dirty="0"/>
              <a:t>"This existed only on paper."</a:t>
            </a:r>
          </a:p>
          <a:p>
            <a:endParaRPr lang="en-US" dirty="0"/>
          </a:p>
          <a:p>
            <a:r>
              <a:rPr lang="en-US" dirty="0"/>
              <a:t>Pause.</a:t>
            </a:r>
          </a:p>
          <a:p>
            <a:endParaRPr lang="en-US" dirty="0"/>
          </a:p>
          <a:p>
            <a:r>
              <a:rPr lang="en-US" dirty="0"/>
              <a:t>"Today..."</a:t>
            </a:r>
          </a:p>
          <a:p>
            <a:endParaRPr lang="en-US" dirty="0"/>
          </a:p>
          <a:p>
            <a:r>
              <a:rPr lang="en-US" dirty="0"/>
              <a:t>"It exists in your browser."</a:t>
            </a:r>
          </a:p>
          <a:p>
            <a:endParaRPr lang="en-US" dirty="0"/>
          </a:p>
          <a:p>
            <a:r>
              <a:rPr lang="en-US" dirty="0"/>
              <a:t>Smile.</a:t>
            </a:r>
          </a:p>
          <a:p>
            <a:endParaRPr lang="en-US" dirty="0"/>
          </a:p>
          <a:p>
            <a:r>
              <a:rPr lang="en-US" dirty="0"/>
              <a:t>"That's engineering."</a:t>
            </a:r>
          </a:p>
          <a:p>
            <a:endParaRPr lang="en-US" dirty="0"/>
          </a:p>
          <a:p>
            <a:r>
              <a:rPr lang="en-US" dirty="0"/>
              <a:t>------------------------------------------------------------</a:t>
            </a:r>
          </a:p>
          <a:p>
            <a:endParaRPr lang="en-US" dirty="0"/>
          </a:p>
          <a:p>
            <a:r>
              <a:rPr lang="en-US" dirty="0"/>
              <a:t>ESTIMATED TIME</a:t>
            </a:r>
          </a:p>
          <a:p>
            <a:endParaRPr lang="en-US" dirty="0"/>
          </a:p>
          <a:p>
            <a:r>
              <a:rPr lang="en-US" dirty="0"/>
              <a:t>Sprint Review.......................5 minutes</a:t>
            </a:r>
          </a:p>
          <a:p>
            <a:endParaRPr lang="en-US" dirty="0"/>
          </a:p>
          <a:p>
            <a:r>
              <a:rPr lang="en-US" dirty="0"/>
              <a:t>Wireframe Review...................10 minutes</a:t>
            </a:r>
          </a:p>
          <a:p>
            <a:endParaRPr lang="en-US" dirty="0"/>
          </a:p>
          <a:p>
            <a:r>
              <a:rPr lang="en-US" dirty="0"/>
              <a:t>UI Development Process.............15 minutes</a:t>
            </a:r>
          </a:p>
          <a:p>
            <a:endParaRPr lang="en-US" dirty="0"/>
          </a:p>
          <a:p>
            <a:r>
              <a:rPr lang="en-US" dirty="0"/>
              <a:t>Responsive Design..................8 minutes</a:t>
            </a:r>
          </a:p>
          <a:p>
            <a:endParaRPr lang="en-US" dirty="0"/>
          </a:p>
          <a:p>
            <a:r>
              <a:rPr lang="en-US" dirty="0"/>
              <a:t>Hands-on Build....................18 minutes</a:t>
            </a:r>
          </a:p>
          <a:p>
            <a:endParaRPr lang="en-US" dirty="0"/>
          </a:p>
          <a:p>
            <a:r>
              <a:rPr lang="en-US" dirty="0"/>
              <a:t>Discussion.........................6 minutes</a:t>
            </a:r>
          </a:p>
          <a:p>
            <a:endParaRPr lang="en-US" dirty="0"/>
          </a:p>
          <a:p>
            <a:r>
              <a:rPr lang="en-US" dirty="0"/>
              <a:t>Closing............................3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should be a workshop-first lesson.</a:t>
            </a:r>
          </a:p>
          <a:p>
            <a:endParaRPr lang="en-US" dirty="0"/>
          </a:p>
          <a:p>
            <a:r>
              <a:rPr lang="en-US" dirty="0"/>
              <a:t>Spend most of the class walking around helping students implement</a:t>
            </a:r>
          </a:p>
          <a:p>
            <a:r>
              <a:rPr lang="en-US" dirty="0"/>
              <a:t>their Dashboard page.</a:t>
            </a:r>
          </a:p>
          <a:p>
            <a:endParaRPr lang="en-US" dirty="0"/>
          </a:p>
          <a:p>
            <a:r>
              <a:rPr lang="en-US" dirty="0"/>
              <a:t>Keep reminding students that they are following their own design</a:t>
            </a:r>
          </a:p>
          <a:p>
            <a:r>
              <a:rPr lang="en-US" dirty="0"/>
              <a:t>documents from Sprint 3.</a:t>
            </a:r>
          </a:p>
          <a:p>
            <a:endParaRPr lang="en-US" dirty="0"/>
          </a:p>
          <a:p>
            <a:r>
              <a:rPr lang="en-US" dirty="0"/>
              <a:t>Avoid spending significant time teaching HTML, CSS, or Bootstrap</a:t>
            </a:r>
          </a:p>
          <a:p>
            <a:r>
              <a:rPr lang="en-US" dirty="0"/>
              <a:t>features in depth.</a:t>
            </a:r>
          </a:p>
          <a:p>
            <a:endParaRPr lang="en-US" dirty="0"/>
          </a:p>
          <a:p>
            <a:r>
              <a:rPr lang="en-US" dirty="0"/>
              <a:t>Introduce only the components necessary to build the interface.</a:t>
            </a:r>
          </a:p>
          <a:p>
            <a:endParaRPr lang="en-US" dirty="0"/>
          </a:p>
          <a:p>
            <a:r>
              <a:rPr lang="en-US" dirty="0"/>
              <a:t>The learning objective is not Bootstrap mastery.</a:t>
            </a:r>
          </a:p>
          <a:p>
            <a:endParaRPr lang="en-US" dirty="0"/>
          </a:p>
          <a:p>
            <a:r>
              <a:rPr lang="en-US" dirty="0"/>
              <a:t>The learning objective is understanding how thoughtful design becomes</a:t>
            </a:r>
          </a:p>
          <a:p>
            <a:r>
              <a:rPr lang="en-US" dirty="0"/>
              <a:t>working software.</a:t>
            </a:r>
          </a:p>
          <a:p>
            <a:endParaRPr lang="en-US" dirty="0"/>
          </a:p>
          <a:p>
            <a:r>
              <a:rPr lang="en-US" dirty="0"/>
              <a:t>Close with:</a:t>
            </a:r>
          </a:p>
          <a:p>
            <a:endParaRPr lang="en-US" dirty="0"/>
          </a:p>
          <a:p>
            <a:r>
              <a:rPr lang="en-US" dirty="0"/>
              <a:t>"Engineers..."</a:t>
            </a:r>
          </a:p>
          <a:p>
            <a:endParaRPr lang="en-US" dirty="0"/>
          </a:p>
          <a:p>
            <a:r>
              <a:rPr lang="en-US" dirty="0"/>
              <a:t>"You've taken an idea..."</a:t>
            </a:r>
          </a:p>
          <a:p>
            <a:endParaRPr lang="en-US" dirty="0"/>
          </a:p>
          <a:p>
            <a:r>
              <a:rPr lang="en-US" dirty="0"/>
              <a:t>"You turned it into a design."</a:t>
            </a:r>
          </a:p>
          <a:p>
            <a:endParaRPr lang="en-US" dirty="0"/>
          </a:p>
          <a:p>
            <a:r>
              <a:rPr lang="en-US" dirty="0"/>
              <a:t>"And today..."</a:t>
            </a:r>
          </a:p>
          <a:p>
            <a:endParaRPr lang="en-US" dirty="0"/>
          </a:p>
          <a:p>
            <a:r>
              <a:rPr lang="en-US" dirty="0"/>
              <a:t>"You turned that design into a real user interface."</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5</a:t>
            </a:fld>
            <a:endParaRPr lang="en-US"/>
          </a:p>
        </p:txBody>
      </p:sp>
    </p:spTree>
    <p:extLst>
      <p:ext uri="{BB962C8B-B14F-4D97-AF65-F5344CB8AC3E}">
        <p14:creationId xmlns:p14="http://schemas.microsoft.com/office/powerpoint/2010/main" val="1599813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RUNNING &amp; TESTING ATLAS TASKFLOW</a:t>
            </a:r>
          </a:p>
          <a:p>
            <a:endParaRPr lang="en-US" dirty="0"/>
          </a:p>
          <a:p>
            <a:r>
              <a:rPr lang="en-US" dirty="0"/>
              <a:t>============================================================</a:t>
            </a:r>
          </a:p>
          <a:p>
            <a:endParaRPr lang="en-US" dirty="0"/>
          </a:p>
          <a:p>
            <a:r>
              <a:rPr lang="en-US" dirty="0"/>
              <a:t>SLIDE PURPOSE</a:t>
            </a:r>
          </a:p>
          <a:p>
            <a:endParaRPr lang="en-US" dirty="0"/>
          </a:p>
          <a:p>
            <a:r>
              <a:rPr lang="en-US" dirty="0"/>
              <a:t>Introduce students to the importance of testing throughout software</a:t>
            </a:r>
          </a:p>
          <a:p>
            <a:r>
              <a:rPr lang="en-US" dirty="0"/>
              <a:t>development.</a:t>
            </a:r>
          </a:p>
          <a:p>
            <a:endParaRPr lang="en-US" dirty="0"/>
          </a:p>
          <a:p>
            <a:r>
              <a:rPr lang="en-US" dirty="0"/>
              <a:t>Students should understand that testing is not something performed only</a:t>
            </a:r>
          </a:p>
          <a:p>
            <a:r>
              <a:rPr lang="en-US" dirty="0"/>
              <a:t>at the end of a project.</a:t>
            </a:r>
          </a:p>
          <a:p>
            <a:endParaRPr lang="en-US" dirty="0"/>
          </a:p>
          <a:p>
            <a:r>
              <a:rPr lang="en-US" dirty="0"/>
              <a:t>Professional engineers test continuously while they build.</a:t>
            </a:r>
          </a:p>
          <a:p>
            <a:endParaRPr lang="en-US" dirty="0"/>
          </a:p>
          <a:p>
            <a:r>
              <a:rPr lang="en-US" dirty="0"/>
              <a:t>The objective of this lesson is to develop good engineering habits by</a:t>
            </a:r>
          </a:p>
          <a:p>
            <a:r>
              <a:rPr lang="en-US" dirty="0"/>
              <a:t>running, validating, troubleshooting, and improving Atlas </a:t>
            </a:r>
            <a:r>
              <a:rPr lang="en-US" dirty="0" err="1"/>
              <a:t>TaskFlow</a:t>
            </a:r>
            <a:endParaRPr lang="en-US" dirty="0"/>
          </a:p>
          <a:p>
            <a:r>
              <a:rPr lang="en-US" dirty="0"/>
              <a:t>before deployment.</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"I have a question."</a:t>
            </a:r>
          </a:p>
          <a:p>
            <a:endParaRPr lang="en-US" dirty="0"/>
          </a:p>
          <a:p>
            <a:r>
              <a:rPr lang="en-US" dirty="0"/>
              <a:t>"How many of you have written code..."</a:t>
            </a:r>
          </a:p>
          <a:p>
            <a:endParaRPr lang="en-US" dirty="0"/>
          </a:p>
          <a:p>
            <a:r>
              <a:rPr lang="en-US" dirty="0"/>
              <a:t>"...without running it?"</a:t>
            </a:r>
          </a:p>
          <a:p>
            <a:endParaRPr lang="en-US" dirty="0"/>
          </a:p>
          <a:p>
            <a:r>
              <a:rPr lang="en-US" dirty="0"/>
              <a:t>(Laughter usually follows.)</a:t>
            </a:r>
          </a:p>
          <a:p>
            <a:endParaRPr lang="en-US" dirty="0"/>
          </a:p>
          <a:p>
            <a:r>
              <a:rPr lang="en-US" dirty="0"/>
              <a:t>Continue.</a:t>
            </a:r>
          </a:p>
          <a:p>
            <a:endParaRPr lang="en-US" dirty="0"/>
          </a:p>
          <a:p>
            <a:r>
              <a:rPr lang="en-US" dirty="0"/>
              <a:t>"We've all done it."</a:t>
            </a:r>
          </a:p>
          <a:p>
            <a:endParaRPr lang="en-US" dirty="0"/>
          </a:p>
          <a:p>
            <a:r>
              <a:rPr lang="en-US" dirty="0"/>
              <a:t>"We get excited."</a:t>
            </a:r>
          </a:p>
          <a:p>
            <a:endParaRPr lang="en-US" dirty="0"/>
          </a:p>
          <a:p>
            <a:r>
              <a:rPr lang="en-US" dirty="0"/>
              <a:t>"We write code."</a:t>
            </a:r>
          </a:p>
          <a:p>
            <a:endParaRPr lang="en-US" dirty="0"/>
          </a:p>
          <a:p>
            <a:r>
              <a:rPr lang="en-US" dirty="0"/>
              <a:t>"We keep writing."</a:t>
            </a:r>
          </a:p>
          <a:p>
            <a:endParaRPr lang="en-US" dirty="0"/>
          </a:p>
          <a:p>
            <a:r>
              <a:rPr lang="en-US" dirty="0"/>
              <a:t>"And eventually..."</a:t>
            </a:r>
          </a:p>
          <a:p>
            <a:endParaRPr lang="en-US" dirty="0"/>
          </a:p>
          <a:p>
            <a:r>
              <a:rPr lang="en-US" dirty="0"/>
              <a:t>"We press Run."</a:t>
            </a:r>
          </a:p>
          <a:p>
            <a:endParaRPr lang="en-US" dirty="0"/>
          </a:p>
          <a:p>
            <a:r>
              <a:rPr lang="en-US" dirty="0"/>
              <a:t>Pause.</a:t>
            </a:r>
          </a:p>
          <a:p>
            <a:endParaRPr lang="en-US" dirty="0"/>
          </a:p>
          <a:p>
            <a:r>
              <a:rPr lang="en-US" dirty="0"/>
              <a:t>"Professional engineers don't work that way."</a:t>
            </a:r>
          </a:p>
          <a:p>
            <a:endParaRPr lang="en-US" dirty="0"/>
          </a:p>
          <a:p>
            <a:r>
              <a:rPr lang="en-US" dirty="0"/>
              <a:t>"They test constantly."</a:t>
            </a:r>
          </a:p>
          <a:p>
            <a:endParaRPr lang="en-US" dirty="0"/>
          </a:p>
          <a:p>
            <a:r>
              <a:rPr lang="en-US" dirty="0"/>
              <a:t>------------------------------------------------------------</a:t>
            </a:r>
          </a:p>
          <a:p>
            <a:endParaRPr lang="en-US" dirty="0"/>
          </a:p>
          <a:p>
            <a:r>
              <a:rPr lang="en-US" dirty="0"/>
              <a:t>THE BIG IDEA</a:t>
            </a:r>
          </a:p>
          <a:p>
            <a:endParaRPr lang="en-US" dirty="0"/>
          </a:p>
          <a:p>
            <a:r>
              <a:rPr lang="en-US" dirty="0"/>
              <a:t>Point to the subtitle.</a:t>
            </a:r>
          </a:p>
          <a:p>
            <a:endParaRPr lang="en-US" dirty="0"/>
          </a:p>
          <a:p>
            <a:r>
              <a:rPr lang="en-US" dirty="0"/>
              <a:t>"Test early."</a:t>
            </a:r>
          </a:p>
          <a:p>
            <a:endParaRPr lang="en-US" dirty="0"/>
          </a:p>
          <a:p>
            <a:r>
              <a:rPr lang="en-US" dirty="0"/>
              <a:t>"Test often."</a:t>
            </a:r>
          </a:p>
          <a:p>
            <a:endParaRPr lang="en-US" dirty="0"/>
          </a:p>
          <a:p>
            <a:r>
              <a:rPr lang="en-US" dirty="0"/>
              <a:t>"Deliver with confidence."</a:t>
            </a:r>
          </a:p>
          <a:p>
            <a:endParaRPr lang="en-US" dirty="0"/>
          </a:p>
          <a:p>
            <a:r>
              <a:rPr lang="en-US" dirty="0"/>
              <a:t>Explain.</a:t>
            </a:r>
          </a:p>
          <a:p>
            <a:endParaRPr lang="en-US" dirty="0"/>
          </a:p>
          <a:p>
            <a:r>
              <a:rPr lang="en-US" dirty="0"/>
              <a:t>"Testing isn't about proving you're right."</a:t>
            </a:r>
          </a:p>
          <a:p>
            <a:endParaRPr lang="en-US" dirty="0"/>
          </a:p>
          <a:p>
            <a:r>
              <a:rPr lang="en-US" dirty="0"/>
              <a:t>"It's about discovering what needs improvement."</a:t>
            </a:r>
          </a:p>
          <a:p>
            <a:endParaRPr lang="en-US" dirty="0"/>
          </a:p>
          <a:p>
            <a:r>
              <a:rPr lang="en-US" dirty="0"/>
              <a:t>"The earlier we find problems..."</a:t>
            </a:r>
          </a:p>
          <a:p>
            <a:endParaRPr lang="en-US" dirty="0"/>
          </a:p>
          <a:p>
            <a:r>
              <a:rPr lang="en-US" dirty="0"/>
              <a:t>"The easier they are to fix."</a:t>
            </a:r>
          </a:p>
          <a:p>
            <a:endParaRPr lang="en-US" dirty="0"/>
          </a:p>
          <a:p>
            <a:r>
              <a:rPr lang="en-US" dirty="0"/>
              <a:t>------------------------------------------------------------</a:t>
            </a:r>
          </a:p>
          <a:p>
            <a:endParaRPr lang="en-US" dirty="0"/>
          </a:p>
          <a:p>
            <a:r>
              <a:rPr lang="en-US" dirty="0"/>
              <a:t>WHY TEST?</a:t>
            </a:r>
          </a:p>
          <a:p>
            <a:endParaRPr lang="en-US" dirty="0"/>
          </a:p>
          <a:p>
            <a:r>
              <a:rPr lang="en-US" dirty="0"/>
              <a:t>Walk through the panel.</a:t>
            </a:r>
          </a:p>
          <a:p>
            <a:endParaRPr lang="en-US" dirty="0"/>
          </a:p>
          <a:p>
            <a:r>
              <a:rPr lang="en-US" dirty="0"/>
              <a:t>Testing helps us:</a:t>
            </a:r>
          </a:p>
          <a:p>
            <a:endParaRPr lang="en-US" dirty="0"/>
          </a:p>
          <a:p>
            <a:r>
              <a:rPr lang="en-US" dirty="0"/>
              <a:t>Find problems early.</a:t>
            </a:r>
          </a:p>
          <a:p>
            <a:endParaRPr lang="en-US" dirty="0"/>
          </a:p>
          <a:p>
            <a:r>
              <a:rPr lang="en-US" dirty="0"/>
              <a:t>Ensure features work correctly.</a:t>
            </a:r>
          </a:p>
          <a:p>
            <a:endParaRPr lang="en-US" dirty="0"/>
          </a:p>
          <a:p>
            <a:r>
              <a:rPr lang="en-US" dirty="0"/>
              <a:t>Create a better user experience.</a:t>
            </a:r>
          </a:p>
          <a:p>
            <a:endParaRPr lang="en-US" dirty="0"/>
          </a:p>
          <a:p>
            <a:r>
              <a:rPr lang="en-US" dirty="0"/>
              <a:t>Prevent production issues.</a:t>
            </a:r>
          </a:p>
          <a:p>
            <a:endParaRPr lang="en-US" dirty="0"/>
          </a:p>
          <a:p>
            <a:r>
              <a:rPr lang="en-US" dirty="0"/>
              <a:t>Build confidence.</a:t>
            </a:r>
          </a:p>
          <a:p>
            <a:endParaRPr lang="en-US" dirty="0"/>
          </a:p>
          <a:p>
            <a:r>
              <a:rPr lang="en-US" dirty="0"/>
              <a:t>Explain.</a:t>
            </a:r>
          </a:p>
          <a:p>
            <a:endParaRPr lang="en-US" dirty="0"/>
          </a:p>
          <a:p>
            <a:r>
              <a:rPr lang="en-US" dirty="0"/>
              <a:t>"Every test you perform today..."</a:t>
            </a:r>
          </a:p>
          <a:p>
            <a:endParaRPr lang="en-US" dirty="0"/>
          </a:p>
          <a:p>
            <a:r>
              <a:rPr lang="en-US" dirty="0"/>
              <a:t>"Saves someone frustration tomorrow."</a:t>
            </a:r>
          </a:p>
          <a:p>
            <a:endParaRPr lang="en-US" dirty="0"/>
          </a:p>
          <a:p>
            <a:r>
              <a:rPr lang="en-US" dirty="0"/>
              <a:t>------------------------------------------------------------</a:t>
            </a:r>
          </a:p>
          <a:p>
            <a:endParaRPr lang="en-US" dirty="0"/>
          </a:p>
          <a:p>
            <a:r>
              <a:rPr lang="en-US" dirty="0"/>
              <a:t>THE TESTING PROCESS</a:t>
            </a:r>
          </a:p>
          <a:p>
            <a:endParaRPr lang="en-US" dirty="0"/>
          </a:p>
          <a:p>
            <a:r>
              <a:rPr lang="en-US" dirty="0"/>
              <a:t>Move through each step.</a:t>
            </a:r>
          </a:p>
          <a:p>
            <a:endParaRPr lang="en-US" dirty="0"/>
          </a:p>
          <a:p>
            <a:r>
              <a:rPr lang="en-US" dirty="0"/>
              <a:t>STEP 1</a:t>
            </a:r>
          </a:p>
          <a:p>
            <a:endParaRPr lang="en-US" dirty="0"/>
          </a:p>
          <a:p>
            <a:r>
              <a:rPr lang="en-US" dirty="0"/>
              <a:t>Run the Application.</a:t>
            </a:r>
          </a:p>
          <a:p>
            <a:endParaRPr lang="en-US" dirty="0"/>
          </a:p>
          <a:p>
            <a:r>
              <a:rPr lang="en-US" dirty="0"/>
              <a:t>Press F5.</a:t>
            </a:r>
          </a:p>
          <a:p>
            <a:endParaRPr lang="en-US" dirty="0"/>
          </a:p>
          <a:p>
            <a:r>
              <a:rPr lang="en-US" dirty="0"/>
              <a:t>Open the browser.</a:t>
            </a:r>
          </a:p>
          <a:p>
            <a:endParaRPr lang="en-US" dirty="0"/>
          </a:p>
          <a:p>
            <a:r>
              <a:rPr lang="en-US" dirty="0"/>
              <a:t>Confirm the application starts.</a:t>
            </a:r>
          </a:p>
          <a:p>
            <a:endParaRPr lang="en-US" dirty="0"/>
          </a:p>
          <a:p>
            <a:r>
              <a:rPr lang="en-US" dirty="0"/>
              <a:t>Pause.</a:t>
            </a:r>
          </a:p>
          <a:p>
            <a:endParaRPr lang="en-US" dirty="0"/>
          </a:p>
          <a:p>
            <a:r>
              <a:rPr lang="en-US" dirty="0"/>
              <a:t>"Success begins here."</a:t>
            </a:r>
          </a:p>
          <a:p>
            <a:endParaRPr lang="en-US" dirty="0"/>
          </a:p>
          <a:p>
            <a:r>
              <a:rPr lang="en-US" dirty="0"/>
              <a:t>------------------------------------------------------------</a:t>
            </a:r>
          </a:p>
          <a:p>
            <a:endParaRPr lang="en-US" dirty="0"/>
          </a:p>
          <a:p>
            <a:r>
              <a:rPr lang="en-US" dirty="0"/>
              <a:t>STEP 2</a:t>
            </a:r>
          </a:p>
          <a:p>
            <a:endParaRPr lang="en-US" dirty="0"/>
          </a:p>
          <a:p>
            <a:r>
              <a:rPr lang="en-US" dirty="0"/>
              <a:t>Check Key Areas.</a:t>
            </a:r>
          </a:p>
          <a:p>
            <a:endParaRPr lang="en-US" dirty="0"/>
          </a:p>
          <a:p>
            <a:r>
              <a:rPr lang="en-US" dirty="0"/>
              <a:t>Navigate through:</a:t>
            </a:r>
          </a:p>
          <a:p>
            <a:endParaRPr lang="en-US" dirty="0"/>
          </a:p>
          <a:p>
            <a:r>
              <a:rPr lang="en-US" dirty="0"/>
              <a:t>Dashboard</a:t>
            </a:r>
          </a:p>
          <a:p>
            <a:endParaRPr lang="en-US" dirty="0"/>
          </a:p>
          <a:p>
            <a:r>
              <a:rPr lang="en-US" dirty="0"/>
              <a:t>Tasks</a:t>
            </a:r>
          </a:p>
          <a:p>
            <a:endParaRPr lang="en-US" dirty="0"/>
          </a:p>
          <a:p>
            <a:r>
              <a:rPr lang="en-US" dirty="0"/>
              <a:t>Projects</a:t>
            </a:r>
          </a:p>
          <a:p>
            <a:endParaRPr lang="en-US" dirty="0"/>
          </a:p>
          <a:p>
            <a:r>
              <a:rPr lang="en-US" dirty="0"/>
              <a:t>Navigation</a:t>
            </a:r>
          </a:p>
          <a:p>
            <a:endParaRPr lang="en-US" dirty="0"/>
          </a:p>
          <a:p>
            <a:r>
              <a:rPr lang="en-US" dirty="0"/>
              <a:t>Menus</a:t>
            </a:r>
          </a:p>
          <a:p>
            <a:endParaRPr lang="en-US" dirty="0"/>
          </a:p>
          <a:p>
            <a:r>
              <a:rPr lang="en-US" dirty="0"/>
              <a:t>Buttons</a:t>
            </a:r>
          </a:p>
          <a:p>
            <a:endParaRPr lang="en-US" dirty="0"/>
          </a:p>
          <a:p>
            <a:r>
              <a:rPr lang="en-US" dirty="0"/>
              <a:t>Explain.</a:t>
            </a:r>
          </a:p>
          <a:p>
            <a:endParaRPr lang="en-US" dirty="0"/>
          </a:p>
          <a:p>
            <a:r>
              <a:rPr lang="en-US" dirty="0"/>
              <a:t>"Don't assume."</a:t>
            </a:r>
          </a:p>
          <a:p>
            <a:endParaRPr lang="en-US" dirty="0"/>
          </a:p>
          <a:p>
            <a:r>
              <a:rPr lang="en-US" dirty="0"/>
              <a:t>"Verify."</a:t>
            </a:r>
          </a:p>
          <a:p>
            <a:endParaRPr lang="en-US" dirty="0"/>
          </a:p>
          <a:p>
            <a:r>
              <a:rPr lang="en-US" dirty="0"/>
              <a:t>------------------------------------------------------------</a:t>
            </a:r>
          </a:p>
          <a:p>
            <a:endParaRPr lang="en-US" dirty="0"/>
          </a:p>
          <a:p>
            <a:r>
              <a:rPr lang="en-US" dirty="0"/>
              <a:t>STEP 3</a:t>
            </a:r>
          </a:p>
          <a:p>
            <a:endParaRPr lang="en-US" dirty="0"/>
          </a:p>
          <a:p>
            <a:r>
              <a:rPr lang="en-US" dirty="0"/>
              <a:t>Find Issues.</a:t>
            </a:r>
          </a:p>
          <a:p>
            <a:endParaRPr lang="en-US" dirty="0"/>
          </a:p>
          <a:p>
            <a:r>
              <a:rPr lang="en-US" dirty="0"/>
              <a:t>Tell students:</a:t>
            </a:r>
          </a:p>
          <a:p>
            <a:endParaRPr lang="en-US" dirty="0"/>
          </a:p>
          <a:p>
            <a:r>
              <a:rPr lang="en-US" dirty="0"/>
              <a:t>"I expect you to find problems."</a:t>
            </a:r>
          </a:p>
          <a:p>
            <a:endParaRPr lang="en-US" dirty="0"/>
          </a:p>
          <a:p>
            <a:r>
              <a:rPr lang="en-US" dirty="0"/>
              <a:t>Smile.</a:t>
            </a:r>
          </a:p>
          <a:p>
            <a:endParaRPr lang="en-US" dirty="0"/>
          </a:p>
          <a:p>
            <a:r>
              <a:rPr lang="en-US" dirty="0"/>
              <a:t>"If you don't..."</a:t>
            </a:r>
          </a:p>
          <a:p>
            <a:endParaRPr lang="en-US" dirty="0"/>
          </a:p>
          <a:p>
            <a:r>
              <a:rPr lang="en-US" dirty="0"/>
              <a:t>"You probably aren't looking carefully enough."</a:t>
            </a:r>
          </a:p>
          <a:p>
            <a:endParaRPr lang="en-US" dirty="0"/>
          </a:p>
          <a:p>
            <a:r>
              <a:rPr lang="en-US" dirty="0"/>
              <a:t>Explain.</a:t>
            </a:r>
          </a:p>
          <a:p>
            <a:endParaRPr lang="en-US" dirty="0"/>
          </a:p>
          <a:p>
            <a:r>
              <a:rPr lang="en-US" dirty="0"/>
              <a:t>"Finding bugs is success."</a:t>
            </a:r>
          </a:p>
          <a:p>
            <a:endParaRPr lang="en-US" dirty="0"/>
          </a:p>
          <a:p>
            <a:r>
              <a:rPr lang="en-US" dirty="0"/>
              <a:t>Ignoring bugs is failure.</a:t>
            </a:r>
          </a:p>
          <a:p>
            <a:endParaRPr lang="en-US" dirty="0"/>
          </a:p>
          <a:p>
            <a:r>
              <a:rPr lang="en-US" dirty="0"/>
              <a:t>------------------------------------------------------------</a:t>
            </a:r>
          </a:p>
          <a:p>
            <a:endParaRPr lang="en-US" dirty="0"/>
          </a:p>
          <a:p>
            <a:r>
              <a:rPr lang="en-US" dirty="0"/>
              <a:t>STEP 4</a:t>
            </a:r>
          </a:p>
          <a:p>
            <a:endParaRPr lang="en-US" dirty="0"/>
          </a:p>
          <a:p>
            <a:r>
              <a:rPr lang="en-US" dirty="0"/>
              <a:t>Fix the Problem.</a:t>
            </a:r>
          </a:p>
          <a:p>
            <a:endParaRPr lang="en-US" dirty="0"/>
          </a:p>
          <a:p>
            <a:r>
              <a:rPr lang="en-US" dirty="0"/>
              <a:t>Update the code.</a:t>
            </a:r>
          </a:p>
          <a:p>
            <a:endParaRPr lang="en-US" dirty="0"/>
          </a:p>
          <a:p>
            <a:r>
              <a:rPr lang="en-US" dirty="0"/>
              <a:t>Save.</a:t>
            </a:r>
          </a:p>
          <a:p>
            <a:endParaRPr lang="en-US" dirty="0"/>
          </a:p>
          <a:p>
            <a:r>
              <a:rPr lang="en-US" dirty="0"/>
              <a:t>Rebuild.</a:t>
            </a:r>
          </a:p>
          <a:p>
            <a:endParaRPr lang="en-US" dirty="0"/>
          </a:p>
          <a:p>
            <a:r>
              <a:rPr lang="en-US" dirty="0"/>
              <a:t>Explain.</a:t>
            </a:r>
          </a:p>
          <a:p>
            <a:endParaRPr lang="en-US" dirty="0"/>
          </a:p>
          <a:p>
            <a:r>
              <a:rPr lang="en-US" dirty="0"/>
              <a:t>"Software engineering is iterative."</a:t>
            </a:r>
          </a:p>
          <a:p>
            <a:endParaRPr lang="en-US" dirty="0"/>
          </a:p>
          <a:p>
            <a:r>
              <a:rPr lang="en-US" dirty="0"/>
              <a:t>"Fix."</a:t>
            </a:r>
          </a:p>
          <a:p>
            <a:endParaRPr lang="en-US" dirty="0"/>
          </a:p>
          <a:p>
            <a:r>
              <a:rPr lang="en-US" dirty="0"/>
              <a:t>"Improve."</a:t>
            </a:r>
          </a:p>
          <a:p>
            <a:endParaRPr lang="en-US" dirty="0"/>
          </a:p>
          <a:p>
            <a:r>
              <a:rPr lang="en-US" dirty="0"/>
              <a:t>"Repeat."</a:t>
            </a:r>
          </a:p>
          <a:p>
            <a:endParaRPr lang="en-US" dirty="0"/>
          </a:p>
          <a:p>
            <a:r>
              <a:rPr lang="en-US" dirty="0"/>
              <a:t>------------------------------------------------------------</a:t>
            </a:r>
          </a:p>
          <a:p>
            <a:endParaRPr lang="en-US" dirty="0"/>
          </a:p>
          <a:p>
            <a:r>
              <a:rPr lang="en-US" dirty="0"/>
              <a:t>STEP 5</a:t>
            </a:r>
          </a:p>
          <a:p>
            <a:endParaRPr lang="en-US" dirty="0"/>
          </a:p>
          <a:p>
            <a:r>
              <a:rPr lang="en-US" dirty="0"/>
              <a:t>Test Again.</a:t>
            </a:r>
          </a:p>
          <a:p>
            <a:endParaRPr lang="en-US" dirty="0"/>
          </a:p>
          <a:p>
            <a:r>
              <a:rPr lang="en-US" dirty="0"/>
              <a:t>Ask:</a:t>
            </a:r>
          </a:p>
          <a:p>
            <a:endParaRPr lang="en-US" dirty="0"/>
          </a:p>
          <a:p>
            <a:r>
              <a:rPr lang="en-US" dirty="0"/>
              <a:t>"After fixing something..."</a:t>
            </a:r>
          </a:p>
          <a:p>
            <a:endParaRPr lang="en-US" dirty="0"/>
          </a:p>
          <a:p>
            <a:r>
              <a:rPr lang="en-US" dirty="0"/>
              <a:t>"Should we trust it?"</a:t>
            </a:r>
          </a:p>
          <a:p>
            <a:endParaRPr lang="en-US" dirty="0"/>
          </a:p>
          <a:p>
            <a:r>
              <a:rPr lang="en-US" dirty="0"/>
              <a:t>Students answer:</a:t>
            </a:r>
          </a:p>
          <a:p>
            <a:endParaRPr lang="en-US" dirty="0"/>
          </a:p>
          <a:p>
            <a:r>
              <a:rPr lang="en-US" dirty="0"/>
              <a:t>"No."</a:t>
            </a:r>
          </a:p>
          <a:p>
            <a:endParaRPr lang="en-US" dirty="0"/>
          </a:p>
          <a:p>
            <a:r>
              <a:rPr lang="en-US" dirty="0"/>
              <a:t>Exactly.</a:t>
            </a:r>
          </a:p>
          <a:p>
            <a:endParaRPr lang="en-US" dirty="0"/>
          </a:p>
          <a:p>
            <a:r>
              <a:rPr lang="en-US" dirty="0"/>
              <a:t>"We verify."</a:t>
            </a:r>
          </a:p>
          <a:p>
            <a:endParaRPr lang="en-US" dirty="0"/>
          </a:p>
          <a:p>
            <a:r>
              <a:rPr lang="en-US" dirty="0"/>
              <a:t>------------------------------------------------------------</a:t>
            </a:r>
          </a:p>
          <a:p>
            <a:endParaRPr lang="en-US" dirty="0"/>
          </a:p>
          <a:p>
            <a:r>
              <a:rPr lang="en-US" dirty="0"/>
              <a:t>STEP 6</a:t>
            </a:r>
          </a:p>
          <a:p>
            <a:endParaRPr lang="en-US" dirty="0"/>
          </a:p>
          <a:p>
            <a:r>
              <a:rPr lang="en-US" dirty="0"/>
              <a:t>Move Forward.</a:t>
            </a:r>
          </a:p>
          <a:p>
            <a:endParaRPr lang="en-US" dirty="0"/>
          </a:p>
          <a:p>
            <a:r>
              <a:rPr lang="en-US" dirty="0"/>
              <a:t>Explain.</a:t>
            </a:r>
          </a:p>
          <a:p>
            <a:endParaRPr lang="en-US" dirty="0"/>
          </a:p>
          <a:p>
            <a:r>
              <a:rPr lang="en-US" dirty="0"/>
              <a:t>"Only after a feature works..."</a:t>
            </a:r>
          </a:p>
          <a:p>
            <a:endParaRPr lang="en-US" dirty="0"/>
          </a:p>
          <a:p>
            <a:r>
              <a:rPr lang="en-US" dirty="0"/>
              <a:t>"Do we begin building the next one."</a:t>
            </a:r>
          </a:p>
          <a:p>
            <a:endParaRPr lang="en-US" dirty="0"/>
          </a:p>
          <a:p>
            <a:r>
              <a:rPr lang="en-US" dirty="0"/>
              <a:t>------------------------------------------------------------</a:t>
            </a:r>
          </a:p>
          <a:p>
            <a:endParaRPr lang="en-US" dirty="0"/>
          </a:p>
          <a:p>
            <a:r>
              <a:rPr lang="en-US" dirty="0"/>
              <a:t>TESTING PRINCIPLES</a:t>
            </a:r>
          </a:p>
          <a:p>
            <a:endParaRPr lang="en-US" dirty="0"/>
          </a:p>
          <a:p>
            <a:r>
              <a:rPr lang="en-US" dirty="0"/>
              <a:t>Walk through each.</a:t>
            </a:r>
          </a:p>
          <a:p>
            <a:endParaRPr lang="en-US" dirty="0"/>
          </a:p>
          <a:p>
            <a:r>
              <a:rPr lang="en-US" dirty="0"/>
              <a:t>Test the user experience.</a:t>
            </a:r>
          </a:p>
          <a:p>
            <a:endParaRPr lang="en-US" dirty="0"/>
          </a:p>
          <a:p>
            <a:r>
              <a:rPr lang="en-US" dirty="0"/>
              <a:t>Test every feature.</a:t>
            </a:r>
          </a:p>
          <a:p>
            <a:endParaRPr lang="en-US" dirty="0"/>
          </a:p>
          <a:p>
            <a:r>
              <a:rPr lang="en-US" dirty="0"/>
              <a:t>Test on multiple devices.</a:t>
            </a:r>
          </a:p>
          <a:p>
            <a:endParaRPr lang="en-US" dirty="0"/>
          </a:p>
          <a:p>
            <a:r>
              <a:rPr lang="en-US" dirty="0"/>
              <a:t>Test early.</a:t>
            </a:r>
          </a:p>
          <a:p>
            <a:endParaRPr lang="en-US" dirty="0"/>
          </a:p>
          <a:p>
            <a:r>
              <a:rPr lang="en-US" dirty="0"/>
              <a:t>Never stop improving.</a:t>
            </a:r>
          </a:p>
          <a:p>
            <a:endParaRPr lang="en-US" dirty="0"/>
          </a:p>
          <a:p>
            <a:r>
              <a:rPr lang="en-US" dirty="0"/>
              <a:t>Explain.</a:t>
            </a:r>
          </a:p>
          <a:p>
            <a:endParaRPr lang="en-US" dirty="0"/>
          </a:p>
          <a:p>
            <a:r>
              <a:rPr lang="en-US" dirty="0"/>
              <a:t>"Testing isn't only about code."</a:t>
            </a:r>
          </a:p>
          <a:p>
            <a:endParaRPr lang="en-US" dirty="0"/>
          </a:p>
          <a:p>
            <a:r>
              <a:rPr lang="en-US" dirty="0"/>
              <a:t>"It's about people."</a:t>
            </a:r>
          </a:p>
          <a:p>
            <a:endParaRPr lang="en-US" dirty="0"/>
          </a:p>
          <a:p>
            <a:r>
              <a:rPr lang="en-US" dirty="0"/>
              <a:t>------------------------------------------------------------</a:t>
            </a:r>
          </a:p>
          <a:p>
            <a:endParaRPr lang="en-US" dirty="0"/>
          </a:p>
          <a:p>
            <a:r>
              <a:rPr lang="en-US" dirty="0"/>
              <a:t>THINGS TO TEST</a:t>
            </a:r>
          </a:p>
          <a:p>
            <a:endParaRPr lang="en-US" dirty="0"/>
          </a:p>
          <a:p>
            <a:r>
              <a:rPr lang="en-US" dirty="0"/>
              <a:t>Review the checklist.</a:t>
            </a:r>
          </a:p>
          <a:p>
            <a:endParaRPr lang="en-US" dirty="0"/>
          </a:p>
          <a:p>
            <a:r>
              <a:rPr lang="en-US" dirty="0"/>
              <a:t>Navigation.</a:t>
            </a:r>
          </a:p>
          <a:p>
            <a:endParaRPr lang="en-US" dirty="0"/>
          </a:p>
          <a:p>
            <a:r>
              <a:rPr lang="en-US" dirty="0"/>
              <a:t>Buttons.</a:t>
            </a:r>
          </a:p>
          <a:p>
            <a:endParaRPr lang="en-US" dirty="0"/>
          </a:p>
          <a:p>
            <a:r>
              <a:rPr lang="en-US" dirty="0"/>
              <a:t>Forms.</a:t>
            </a:r>
          </a:p>
          <a:p>
            <a:endParaRPr lang="en-US" dirty="0"/>
          </a:p>
          <a:p>
            <a:r>
              <a:rPr lang="en-US" dirty="0"/>
              <a:t>Displayed data.</a:t>
            </a:r>
          </a:p>
          <a:p>
            <a:endParaRPr lang="en-US" dirty="0"/>
          </a:p>
          <a:p>
            <a:r>
              <a:rPr lang="en-US" dirty="0"/>
              <a:t>Responsive layout.</a:t>
            </a:r>
          </a:p>
          <a:p>
            <a:endParaRPr lang="en-US" dirty="0"/>
          </a:p>
          <a:p>
            <a:r>
              <a:rPr lang="en-US" dirty="0"/>
              <a:t>Performance.</a:t>
            </a:r>
          </a:p>
          <a:p>
            <a:endParaRPr lang="en-US" dirty="0"/>
          </a:p>
          <a:p>
            <a:r>
              <a:rPr lang="en-US" dirty="0"/>
              <a:t>Ask students:</a:t>
            </a:r>
          </a:p>
          <a:p>
            <a:endParaRPr lang="en-US" dirty="0"/>
          </a:p>
          <a:p>
            <a:r>
              <a:rPr lang="en-US" dirty="0"/>
              <a:t>"If a button doesn't work..."</a:t>
            </a:r>
          </a:p>
          <a:p>
            <a:endParaRPr lang="en-US" dirty="0"/>
          </a:p>
          <a:p>
            <a:r>
              <a:rPr lang="en-US" dirty="0"/>
              <a:t>"Does the application work?"</a:t>
            </a:r>
          </a:p>
          <a:p>
            <a:endParaRPr lang="en-US" dirty="0"/>
          </a:p>
          <a:p>
            <a:r>
              <a:rPr lang="en-US" dirty="0"/>
              <a:t>Guide discussion.</a:t>
            </a:r>
          </a:p>
          <a:p>
            <a:endParaRPr lang="en-US" dirty="0"/>
          </a:p>
          <a:p>
            <a:r>
              <a:rPr lang="en-US" dirty="0"/>
              <a:t>------------------------------------------------------------</a:t>
            </a:r>
          </a:p>
          <a:p>
            <a:endParaRPr lang="en-US" dirty="0"/>
          </a:p>
          <a:p>
            <a:r>
              <a:rPr lang="en-US" dirty="0"/>
              <a:t>TESTING CHECKLIST</a:t>
            </a:r>
          </a:p>
          <a:p>
            <a:endParaRPr lang="en-US" dirty="0"/>
          </a:p>
          <a:p>
            <a:r>
              <a:rPr lang="en-US" dirty="0"/>
              <a:t>Walk through the checklist.</a:t>
            </a:r>
          </a:p>
          <a:p>
            <a:endParaRPr lang="en-US" dirty="0"/>
          </a:p>
          <a:p>
            <a:r>
              <a:rPr lang="en-US" dirty="0"/>
              <a:t>Application launches.</a:t>
            </a:r>
          </a:p>
          <a:p>
            <a:endParaRPr lang="en-US" dirty="0"/>
          </a:p>
          <a:p>
            <a:r>
              <a:rPr lang="en-US" dirty="0"/>
              <a:t>Navigation works.</a:t>
            </a:r>
          </a:p>
          <a:p>
            <a:endParaRPr lang="en-US" dirty="0"/>
          </a:p>
          <a:p>
            <a:r>
              <a:rPr lang="en-US" dirty="0"/>
              <a:t>Buttons work.</a:t>
            </a:r>
          </a:p>
          <a:p>
            <a:endParaRPr lang="en-US" dirty="0"/>
          </a:p>
          <a:p>
            <a:r>
              <a:rPr lang="en-US" dirty="0"/>
              <a:t>Forms respond.</a:t>
            </a:r>
          </a:p>
          <a:p>
            <a:endParaRPr lang="en-US" dirty="0"/>
          </a:p>
          <a:p>
            <a:r>
              <a:rPr lang="en-US" dirty="0"/>
              <a:t>Pages display correctly.</a:t>
            </a:r>
          </a:p>
          <a:p>
            <a:endParaRPr lang="en-US" dirty="0"/>
          </a:p>
          <a:p>
            <a:r>
              <a:rPr lang="en-US" dirty="0"/>
              <a:t>No obvious errors.</a:t>
            </a:r>
          </a:p>
          <a:p>
            <a:endParaRPr lang="en-US" dirty="0"/>
          </a:p>
          <a:p>
            <a:r>
              <a:rPr lang="en-US" dirty="0"/>
              <a:t>Performance feels smooth.</a:t>
            </a:r>
          </a:p>
          <a:p>
            <a:endParaRPr lang="en-US" dirty="0"/>
          </a:p>
          <a:p>
            <a:r>
              <a:rPr lang="en-US" dirty="0"/>
              <a:t>Explain.</a:t>
            </a:r>
          </a:p>
          <a:p>
            <a:endParaRPr lang="en-US" dirty="0"/>
          </a:p>
          <a:p>
            <a:r>
              <a:rPr lang="en-US" dirty="0"/>
              <a:t>"This is the beginning of quality assurance."</a:t>
            </a:r>
          </a:p>
          <a:p>
            <a:endParaRPr lang="en-US" dirty="0"/>
          </a:p>
          <a:p>
            <a:r>
              <a:rPr lang="en-US" dirty="0"/>
              <a:t>------------------------------------------------------------</a:t>
            </a:r>
          </a:p>
          <a:p>
            <a:endParaRPr lang="en-US" dirty="0"/>
          </a:p>
          <a:p>
            <a:r>
              <a:rPr lang="en-US" dirty="0"/>
              <a:t>HOW TO RUN ATLAS TASKFLOW</a:t>
            </a:r>
          </a:p>
          <a:p>
            <a:endParaRPr lang="en-US" dirty="0"/>
          </a:p>
          <a:p>
            <a:r>
              <a:rPr lang="en-US" dirty="0"/>
              <a:t>Show students.</a:t>
            </a:r>
          </a:p>
          <a:p>
            <a:endParaRPr lang="en-US" dirty="0"/>
          </a:p>
          <a:p>
            <a:r>
              <a:rPr lang="en-US" dirty="0"/>
              <a:t>Press F5.</a:t>
            </a:r>
          </a:p>
          <a:p>
            <a:endParaRPr lang="en-US" dirty="0"/>
          </a:p>
          <a:p>
            <a:r>
              <a:rPr lang="en-US" dirty="0"/>
              <a:t>Visual Studio builds.</a:t>
            </a:r>
          </a:p>
          <a:p>
            <a:endParaRPr lang="en-US" dirty="0"/>
          </a:p>
          <a:p>
            <a:r>
              <a:rPr lang="en-US" dirty="0"/>
              <a:t>Browser opens.</a:t>
            </a:r>
          </a:p>
          <a:p>
            <a:endParaRPr lang="en-US" dirty="0"/>
          </a:p>
          <a:p>
            <a:r>
              <a:rPr lang="en-US" dirty="0"/>
              <a:t>Application launches.</a:t>
            </a:r>
          </a:p>
          <a:p>
            <a:endParaRPr lang="en-US" dirty="0"/>
          </a:p>
          <a:p>
            <a:r>
              <a:rPr lang="en-US" dirty="0"/>
              <a:t>Pause.</a:t>
            </a:r>
          </a:p>
          <a:p>
            <a:endParaRPr lang="en-US" dirty="0"/>
          </a:p>
          <a:p>
            <a:r>
              <a:rPr lang="en-US" dirty="0"/>
              <a:t>Celebrate.</a:t>
            </a:r>
          </a:p>
          <a:p>
            <a:endParaRPr lang="en-US" dirty="0"/>
          </a:p>
          <a:p>
            <a:r>
              <a:rPr lang="en-US" dirty="0"/>
              <a:t>"It works."</a:t>
            </a:r>
          </a:p>
          <a:p>
            <a:endParaRPr lang="en-US" dirty="0"/>
          </a:p>
          <a:p>
            <a:r>
              <a:rPr lang="en-US" dirty="0"/>
              <a:t>------------------------------------------------------------</a:t>
            </a:r>
          </a:p>
          <a:p>
            <a:endParaRPr lang="en-US" dirty="0"/>
          </a:p>
          <a:p>
            <a:r>
              <a:rPr lang="en-US" dirty="0"/>
              <a:t>COMMON ISSUES</a:t>
            </a:r>
          </a:p>
          <a:p>
            <a:endParaRPr lang="en-US" dirty="0"/>
          </a:p>
          <a:p>
            <a:r>
              <a:rPr lang="en-US" dirty="0"/>
              <a:t>Review examples.</a:t>
            </a:r>
          </a:p>
          <a:p>
            <a:endParaRPr lang="en-US" dirty="0"/>
          </a:p>
          <a:p>
            <a:r>
              <a:rPr lang="en-US" dirty="0"/>
              <a:t>Broken link.</a:t>
            </a:r>
          </a:p>
          <a:p>
            <a:endParaRPr lang="en-US" dirty="0"/>
          </a:p>
          <a:p>
            <a:r>
              <a:rPr lang="en-US" dirty="0"/>
              <a:t>Missing page.</a:t>
            </a:r>
          </a:p>
          <a:p>
            <a:endParaRPr lang="en-US" dirty="0"/>
          </a:p>
          <a:p>
            <a:r>
              <a:rPr lang="en-US" dirty="0"/>
              <a:t>Incorrect route.</a:t>
            </a:r>
          </a:p>
          <a:p>
            <a:endParaRPr lang="en-US" dirty="0"/>
          </a:p>
          <a:p>
            <a:r>
              <a:rPr lang="en-US" dirty="0"/>
              <a:t>Layout issue.</a:t>
            </a:r>
          </a:p>
          <a:p>
            <a:endParaRPr lang="en-US" dirty="0"/>
          </a:p>
          <a:p>
            <a:r>
              <a:rPr lang="en-US" dirty="0"/>
              <a:t>Console errors.</a:t>
            </a:r>
          </a:p>
          <a:p>
            <a:endParaRPr lang="en-US" dirty="0"/>
          </a:p>
          <a:p>
            <a:r>
              <a:rPr lang="en-US" dirty="0"/>
              <a:t>Explain.</a:t>
            </a:r>
          </a:p>
          <a:p>
            <a:endParaRPr lang="en-US" dirty="0"/>
          </a:p>
          <a:p>
            <a:r>
              <a:rPr lang="en-US" dirty="0"/>
              <a:t>"Every engineer encounters these."</a:t>
            </a:r>
          </a:p>
          <a:p>
            <a:endParaRPr lang="en-US" dirty="0"/>
          </a:p>
          <a:p>
            <a:r>
              <a:rPr lang="en-US" dirty="0"/>
              <a:t>"The difference..."</a:t>
            </a:r>
          </a:p>
          <a:p>
            <a:endParaRPr lang="en-US" dirty="0"/>
          </a:p>
          <a:p>
            <a:r>
              <a:rPr lang="en-US" dirty="0"/>
              <a:t>"Is learning how to solve them."</a:t>
            </a:r>
          </a:p>
          <a:p>
            <a:endParaRPr lang="en-US" dirty="0"/>
          </a:p>
          <a:p>
            <a:r>
              <a:rPr lang="en-US" dirty="0"/>
              <a:t>------------------------------------------------------------</a:t>
            </a:r>
          </a:p>
          <a:p>
            <a:endParaRPr lang="en-US" dirty="0"/>
          </a:p>
          <a:p>
            <a:r>
              <a:rPr lang="en-US" dirty="0"/>
              <a:t>BUILD CHALLENGE</a:t>
            </a:r>
          </a:p>
          <a:p>
            <a:endParaRPr lang="en-US" dirty="0"/>
          </a:p>
          <a:p>
            <a:r>
              <a:rPr lang="en-US" dirty="0"/>
              <a:t>Challenge students.</a:t>
            </a:r>
          </a:p>
          <a:p>
            <a:endParaRPr lang="en-US" dirty="0"/>
          </a:p>
          <a:p>
            <a:r>
              <a:rPr lang="en-US" dirty="0"/>
              <a:t>Open Atlas </a:t>
            </a:r>
            <a:r>
              <a:rPr lang="en-US" dirty="0" err="1"/>
              <a:t>TaskFlow</a:t>
            </a:r>
            <a:r>
              <a:rPr lang="en-US" dirty="0"/>
              <a:t>.</a:t>
            </a:r>
          </a:p>
          <a:p>
            <a:endParaRPr lang="en-US" dirty="0"/>
          </a:p>
          <a:p>
            <a:r>
              <a:rPr lang="en-US" dirty="0"/>
              <a:t>Navigate every page.</a:t>
            </a:r>
          </a:p>
          <a:p>
            <a:endParaRPr lang="en-US" dirty="0"/>
          </a:p>
          <a:p>
            <a:r>
              <a:rPr lang="en-US" dirty="0"/>
              <a:t>Find one issue.</a:t>
            </a:r>
          </a:p>
          <a:p>
            <a:endParaRPr lang="en-US" dirty="0"/>
          </a:p>
          <a:p>
            <a:r>
              <a:rPr lang="en-US" dirty="0"/>
              <a:t>Fix it.</a:t>
            </a:r>
          </a:p>
          <a:p>
            <a:endParaRPr lang="en-US" dirty="0"/>
          </a:p>
          <a:p>
            <a:r>
              <a:rPr lang="en-US" dirty="0"/>
              <a:t>Run again.</a:t>
            </a:r>
          </a:p>
          <a:p>
            <a:endParaRPr lang="en-US" dirty="0"/>
          </a:p>
          <a:p>
            <a:r>
              <a:rPr lang="en-US" dirty="0"/>
              <a:t>Take a screenshot.</a:t>
            </a:r>
          </a:p>
          <a:p>
            <a:endParaRPr lang="en-US" dirty="0"/>
          </a:p>
          <a:p>
            <a:r>
              <a:rPr lang="en-US" dirty="0"/>
              <a:t>Add it to your engineering journal.</a:t>
            </a:r>
          </a:p>
          <a:p>
            <a:endParaRPr lang="en-US" dirty="0"/>
          </a:p>
          <a:p>
            <a:r>
              <a:rPr lang="en-US" dirty="0"/>
              <a:t>Explain.</a:t>
            </a:r>
          </a:p>
          <a:p>
            <a:endParaRPr lang="en-US" dirty="0"/>
          </a:p>
          <a:p>
            <a:r>
              <a:rPr lang="en-US" dirty="0"/>
              <a:t>"I don't want perfection."</a:t>
            </a:r>
          </a:p>
          <a:p>
            <a:endParaRPr lang="en-US" dirty="0"/>
          </a:p>
          <a:p>
            <a:r>
              <a:rPr lang="en-US" dirty="0"/>
              <a:t>"I want improvement."</a:t>
            </a:r>
          </a:p>
          <a:p>
            <a:endParaRPr lang="en-US" dirty="0"/>
          </a:p>
          <a:p>
            <a:r>
              <a:rPr lang="en-US" dirty="0"/>
              <a:t>------------------------------------------------------------</a:t>
            </a:r>
          </a:p>
          <a:p>
            <a:endParaRPr lang="en-US" dirty="0"/>
          </a:p>
          <a:p>
            <a:r>
              <a:rPr lang="en-US" dirty="0"/>
              <a:t>ENGINEERING INSIGHT</a:t>
            </a:r>
          </a:p>
          <a:p>
            <a:endParaRPr lang="en-US" dirty="0"/>
          </a:p>
          <a:p>
            <a:r>
              <a:rPr lang="en-US" dirty="0"/>
              <a:t>Read the quote.</a:t>
            </a:r>
          </a:p>
          <a:p>
            <a:endParaRPr lang="en-US" dirty="0"/>
          </a:p>
          <a:p>
            <a:r>
              <a:rPr lang="en-US" dirty="0"/>
              <a:t>"Testing isn't a separate phase."</a:t>
            </a:r>
          </a:p>
          <a:p>
            <a:endParaRPr lang="en-US" dirty="0"/>
          </a:p>
          <a:p>
            <a:r>
              <a:rPr lang="en-US" dirty="0"/>
              <a:t>"It's part of every step of development."</a:t>
            </a:r>
          </a:p>
          <a:p>
            <a:endParaRPr lang="en-US" dirty="0"/>
          </a:p>
          <a:p>
            <a:r>
              <a:rPr lang="en-US" dirty="0"/>
              <a:t>Pause.</a:t>
            </a:r>
          </a:p>
          <a:p>
            <a:endParaRPr lang="en-US" dirty="0"/>
          </a:p>
          <a:p>
            <a:r>
              <a:rPr lang="en-US" dirty="0"/>
              <a:t>Repeat it.</a:t>
            </a:r>
          </a:p>
          <a:p>
            <a:endParaRPr lang="en-US" dirty="0"/>
          </a:p>
          <a:p>
            <a:r>
              <a:rPr lang="en-US" dirty="0"/>
              <a:t>"This is how professional teams build software."</a:t>
            </a:r>
          </a:p>
          <a:p>
            <a:endParaRPr lang="en-US" dirty="0"/>
          </a:p>
          <a:p>
            <a:r>
              <a:rPr lang="en-US" dirty="0"/>
              <a:t>------------------------------------------------------------</a:t>
            </a:r>
          </a:p>
          <a:p>
            <a:endParaRPr lang="en-US" dirty="0"/>
          </a:p>
          <a:p>
            <a:r>
              <a:rPr lang="en-US" dirty="0"/>
              <a:t>SPRINT ROADMAP</a:t>
            </a:r>
          </a:p>
          <a:p>
            <a:endParaRPr lang="en-US" dirty="0"/>
          </a:p>
          <a:p>
            <a:r>
              <a:rPr lang="en-US" dirty="0"/>
              <a:t>Point to Sprint 4.</a:t>
            </a:r>
          </a:p>
          <a:p>
            <a:endParaRPr lang="en-US" dirty="0"/>
          </a:p>
          <a:p>
            <a:r>
              <a:rPr lang="en-US" dirty="0"/>
              <a:t>Explain.</a:t>
            </a:r>
          </a:p>
          <a:p>
            <a:endParaRPr lang="en-US" dirty="0"/>
          </a:p>
          <a:p>
            <a:r>
              <a:rPr lang="en-US" dirty="0"/>
              <a:t>We've built.</a:t>
            </a:r>
          </a:p>
          <a:p>
            <a:endParaRPr lang="en-US" dirty="0"/>
          </a:p>
          <a:p>
            <a:r>
              <a:rPr lang="en-US" dirty="0"/>
              <a:t>Now we verify.</a:t>
            </a:r>
          </a:p>
          <a:p>
            <a:endParaRPr lang="en-US" dirty="0"/>
          </a:p>
          <a:p>
            <a:r>
              <a:rPr lang="en-US" dirty="0"/>
              <a:t>Next...</a:t>
            </a:r>
          </a:p>
          <a:p>
            <a:endParaRPr lang="en-US" dirty="0"/>
          </a:p>
          <a:p>
            <a:r>
              <a:rPr lang="en-US" dirty="0"/>
              <a:t>We deploy.</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"When should users find bugs?"</a:t>
            </a:r>
          </a:p>
          <a:p>
            <a:endParaRPr lang="en-US" dirty="0"/>
          </a:p>
          <a:p>
            <a:r>
              <a:rPr lang="en-US" dirty="0"/>
              <a:t>Students answer:</a:t>
            </a:r>
          </a:p>
          <a:p>
            <a:endParaRPr lang="en-US" dirty="0"/>
          </a:p>
          <a:p>
            <a:r>
              <a:rPr lang="en-US" dirty="0"/>
              <a:t>"Never."</a:t>
            </a:r>
          </a:p>
          <a:p>
            <a:endParaRPr lang="en-US" dirty="0"/>
          </a:p>
          <a:p>
            <a:r>
              <a:rPr lang="en-US" dirty="0"/>
              <a:t>Smile.</a:t>
            </a:r>
          </a:p>
          <a:p>
            <a:endParaRPr lang="en-US" dirty="0"/>
          </a:p>
          <a:p>
            <a:r>
              <a:rPr lang="en-US" dirty="0"/>
              <a:t>"So who should find them?"</a:t>
            </a:r>
          </a:p>
          <a:p>
            <a:endParaRPr lang="en-US" dirty="0"/>
          </a:p>
          <a:p>
            <a:r>
              <a:rPr lang="en-US" dirty="0"/>
              <a:t>"We should."</a:t>
            </a:r>
          </a:p>
          <a:p>
            <a:endParaRPr lang="en-US" dirty="0"/>
          </a:p>
          <a:p>
            <a:r>
              <a:rPr lang="en-US" dirty="0"/>
              <a:t>"That's why we test."</a:t>
            </a:r>
          </a:p>
          <a:p>
            <a:endParaRPr lang="en-US" dirty="0"/>
          </a:p>
          <a:p>
            <a:r>
              <a:rPr lang="en-US" dirty="0"/>
              <a:t>------------------------------------------------------------</a:t>
            </a:r>
          </a:p>
          <a:p>
            <a:endParaRPr lang="en-US" dirty="0"/>
          </a:p>
          <a:p>
            <a:r>
              <a:rPr lang="en-US" dirty="0"/>
              <a:t>CLASS DISCUSSION</a:t>
            </a:r>
          </a:p>
          <a:p>
            <a:endParaRPr lang="en-US" dirty="0"/>
          </a:p>
          <a:p>
            <a:r>
              <a:rPr lang="en-US" dirty="0"/>
              <a:t>Ask students:</a:t>
            </a:r>
          </a:p>
          <a:p>
            <a:endParaRPr lang="en-US" dirty="0"/>
          </a:p>
          <a:p>
            <a:r>
              <a:rPr lang="en-US" dirty="0"/>
              <a:t>"What problem did you discover today?"</a:t>
            </a:r>
          </a:p>
          <a:p>
            <a:endParaRPr lang="en-US" dirty="0"/>
          </a:p>
          <a:p>
            <a:r>
              <a:rPr lang="en-US" dirty="0"/>
              <a:t>"What surprised you?"</a:t>
            </a:r>
          </a:p>
          <a:p>
            <a:endParaRPr lang="en-US" dirty="0"/>
          </a:p>
          <a:p>
            <a:r>
              <a:rPr lang="en-US" dirty="0"/>
              <a:t>"What bug took the longest to solve?"</a:t>
            </a:r>
          </a:p>
          <a:p>
            <a:endParaRPr lang="en-US" dirty="0"/>
          </a:p>
          <a:p>
            <a:r>
              <a:rPr lang="en-US" dirty="0"/>
              <a:t>Encourage students to share solutions.</a:t>
            </a:r>
          </a:p>
          <a:p>
            <a:endParaRPr lang="en-US" dirty="0"/>
          </a:p>
          <a:p>
            <a:r>
              <a:rPr lang="en-US" dirty="0"/>
              <a:t>Software engineering is collaborative.</a:t>
            </a:r>
          </a:p>
          <a:p>
            <a:endParaRPr lang="en-US" dirty="0"/>
          </a:p>
          <a:p>
            <a:r>
              <a:rPr lang="en-US" dirty="0"/>
              <a:t>------------------------------------------------------------</a:t>
            </a:r>
          </a:p>
          <a:p>
            <a:endParaRPr lang="en-US" dirty="0"/>
          </a:p>
          <a:p>
            <a:r>
              <a:rPr lang="en-US" dirty="0"/>
              <a:t>THE MOMENT</a:t>
            </a:r>
          </a:p>
          <a:p>
            <a:endParaRPr lang="en-US" dirty="0"/>
          </a:p>
          <a:p>
            <a:r>
              <a:rPr lang="en-US" dirty="0"/>
              <a:t>Walk around the classroom.</a:t>
            </a:r>
          </a:p>
          <a:p>
            <a:endParaRPr lang="en-US" dirty="0"/>
          </a:p>
          <a:p>
            <a:r>
              <a:rPr lang="en-US" dirty="0"/>
              <a:t>Watch students clicking through their applications.</a:t>
            </a:r>
          </a:p>
          <a:p>
            <a:endParaRPr lang="en-US" dirty="0"/>
          </a:p>
          <a:p>
            <a:r>
              <a:rPr lang="en-US" dirty="0"/>
              <a:t>Then say...</a:t>
            </a:r>
          </a:p>
          <a:p>
            <a:endParaRPr lang="en-US" dirty="0"/>
          </a:p>
          <a:p>
            <a:r>
              <a:rPr lang="en-US" dirty="0"/>
              <a:t>"Today..."</a:t>
            </a:r>
          </a:p>
          <a:p>
            <a:endParaRPr lang="en-US" dirty="0"/>
          </a:p>
          <a:p>
            <a:r>
              <a:rPr lang="en-US" dirty="0"/>
              <a:t>"You stopped being someone who writes code."</a:t>
            </a:r>
          </a:p>
          <a:p>
            <a:endParaRPr lang="en-US" dirty="0"/>
          </a:p>
          <a:p>
            <a:r>
              <a:rPr lang="en-US" dirty="0"/>
              <a:t>Pause.</a:t>
            </a:r>
          </a:p>
          <a:p>
            <a:endParaRPr lang="en-US" dirty="0"/>
          </a:p>
          <a:p>
            <a:r>
              <a:rPr lang="en-US" dirty="0"/>
              <a:t>"You became someone who validates software."</a:t>
            </a:r>
          </a:p>
          <a:p>
            <a:endParaRPr lang="en-US" dirty="0"/>
          </a:p>
          <a:p>
            <a:r>
              <a:rPr lang="en-US" dirty="0"/>
              <a:t>"And that's one of the biggest differences between a programmer..."</a:t>
            </a:r>
          </a:p>
          <a:p>
            <a:endParaRPr lang="en-US" dirty="0"/>
          </a:p>
          <a:p>
            <a:r>
              <a:rPr lang="en-US" dirty="0"/>
              <a:t>"...and a software engineer."</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Why Testing Matters...............10 minutes</a:t>
            </a:r>
          </a:p>
          <a:p>
            <a:endParaRPr lang="en-US" dirty="0"/>
          </a:p>
          <a:p>
            <a:r>
              <a:rPr lang="en-US" dirty="0"/>
              <a:t>Testing Process...................15 minutes</a:t>
            </a:r>
          </a:p>
          <a:p>
            <a:endParaRPr lang="en-US" dirty="0"/>
          </a:p>
          <a:p>
            <a:r>
              <a:rPr lang="en-US" dirty="0"/>
              <a:t>Hands-on Testing..................20 minutes</a:t>
            </a:r>
          </a:p>
          <a:p>
            <a:endParaRPr lang="en-US" dirty="0"/>
          </a:p>
          <a:p>
            <a:r>
              <a:rPr lang="en-US" dirty="0"/>
              <a:t>Discussion........................10 minutes</a:t>
            </a:r>
          </a:p>
          <a:p>
            <a:endParaRPr lang="en-US" dirty="0"/>
          </a:p>
          <a:p>
            <a:r>
              <a:rPr lang="en-US" dirty="0"/>
              <a:t>Closing............................5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students actively testing throughout the lesson.</a:t>
            </a:r>
          </a:p>
          <a:p>
            <a:endParaRPr lang="en-US" dirty="0"/>
          </a:p>
          <a:p>
            <a:r>
              <a:rPr lang="en-US" dirty="0"/>
              <a:t>Resist the temptation to fix every issue for them.</a:t>
            </a:r>
          </a:p>
          <a:p>
            <a:endParaRPr lang="en-US" dirty="0"/>
          </a:p>
          <a:p>
            <a:r>
              <a:rPr lang="en-US" dirty="0"/>
              <a:t>Instead, ask guiding questions.</a:t>
            </a:r>
          </a:p>
          <a:p>
            <a:endParaRPr lang="en-US" dirty="0"/>
          </a:p>
          <a:p>
            <a:r>
              <a:rPr lang="en-US" dirty="0"/>
              <a:t>"What changed?"</a:t>
            </a:r>
          </a:p>
          <a:p>
            <a:endParaRPr lang="en-US" dirty="0"/>
          </a:p>
          <a:p>
            <a:r>
              <a:rPr lang="en-US" dirty="0"/>
              <a:t>"What were you expecting?"</a:t>
            </a:r>
          </a:p>
          <a:p>
            <a:endParaRPr lang="en-US" dirty="0"/>
          </a:p>
          <a:p>
            <a:r>
              <a:rPr lang="en-US" dirty="0"/>
              <a:t>"What does the browser tell you?"</a:t>
            </a:r>
          </a:p>
          <a:p>
            <a:endParaRPr lang="en-US" dirty="0"/>
          </a:p>
          <a:p>
            <a:r>
              <a:rPr lang="en-US" dirty="0"/>
              <a:t>"What does Visual Studio tell you?"</a:t>
            </a:r>
          </a:p>
          <a:p>
            <a:endParaRPr lang="en-US" dirty="0"/>
          </a:p>
          <a:p>
            <a:r>
              <a:rPr lang="en-US" dirty="0"/>
              <a:t>Encourage students to debug logically.</a:t>
            </a:r>
          </a:p>
          <a:p>
            <a:endParaRPr lang="en-US" dirty="0"/>
          </a:p>
          <a:p>
            <a:r>
              <a:rPr lang="en-US" dirty="0"/>
              <a:t>The goal is not simply finding bugs.</a:t>
            </a:r>
          </a:p>
          <a:p>
            <a:endParaRPr lang="en-US" dirty="0"/>
          </a:p>
          <a:p>
            <a:r>
              <a:rPr lang="en-US" dirty="0"/>
              <a:t>The goal is developing confidence in their engineering process.</a:t>
            </a:r>
          </a:p>
          <a:p>
            <a:endParaRPr lang="en-US" dirty="0"/>
          </a:p>
          <a:p>
            <a:r>
              <a:rPr lang="en-US" dirty="0"/>
              <a:t>Close with:</a:t>
            </a:r>
          </a:p>
          <a:p>
            <a:endParaRPr lang="en-US" dirty="0"/>
          </a:p>
          <a:p>
            <a:r>
              <a:rPr lang="en-US" dirty="0"/>
              <a:t>"Engineers..."</a:t>
            </a:r>
          </a:p>
          <a:p>
            <a:endParaRPr lang="en-US" dirty="0"/>
          </a:p>
          <a:p>
            <a:r>
              <a:rPr lang="en-US" dirty="0"/>
              <a:t>"Software isn't finished when it compiles."</a:t>
            </a:r>
          </a:p>
          <a:p>
            <a:endParaRPr lang="en-US" dirty="0"/>
          </a:p>
          <a:p>
            <a:r>
              <a:rPr lang="en-US" dirty="0"/>
              <a:t>"It's finished when it works."</a:t>
            </a:r>
          </a:p>
          <a:p>
            <a:endParaRPr lang="en-US" dirty="0"/>
          </a:p>
          <a:p>
            <a:r>
              <a:rPr lang="en-US" dirty="0"/>
              <a:t>"And tomorrow..."</a:t>
            </a:r>
          </a:p>
          <a:p>
            <a:endParaRPr lang="en-US" dirty="0"/>
          </a:p>
          <a:p>
            <a:r>
              <a:rPr lang="en-US" dirty="0"/>
              <a:t>"We're going to share it with the world."</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6</a:t>
            </a:fld>
            <a:endParaRPr lang="en-US"/>
          </a:p>
        </p:txBody>
      </p:sp>
    </p:spTree>
    <p:extLst>
      <p:ext uri="{BB962C8B-B14F-4D97-AF65-F5344CB8AC3E}">
        <p14:creationId xmlns:p14="http://schemas.microsoft.com/office/powerpoint/2010/main" val="2815227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DEPLOYING ATLAS TASKFLOW TO AZURE</a:t>
            </a:r>
          </a:p>
          <a:p>
            <a:endParaRPr lang="en-US" dirty="0"/>
          </a:p>
          <a:p>
            <a:r>
              <a:rPr lang="en-US" dirty="0"/>
              <a:t>============================================================</a:t>
            </a:r>
          </a:p>
          <a:p>
            <a:endParaRPr lang="en-US" dirty="0"/>
          </a:p>
          <a:p>
            <a:r>
              <a:rPr lang="en-US" dirty="0"/>
              <a:t>SLIDE PURPOSE</a:t>
            </a:r>
          </a:p>
          <a:p>
            <a:endParaRPr lang="en-US" dirty="0"/>
          </a:p>
          <a:p>
            <a:r>
              <a:rPr lang="en-US" dirty="0"/>
              <a:t>Guide students through publishing Atlas </a:t>
            </a:r>
            <a:r>
              <a:rPr lang="en-US" dirty="0" err="1"/>
              <a:t>TaskFlow</a:t>
            </a:r>
            <a:r>
              <a:rPr lang="en-US" dirty="0"/>
              <a:t> from their local</a:t>
            </a:r>
          </a:p>
          <a:p>
            <a:r>
              <a:rPr lang="en-US" dirty="0"/>
              <a:t>development environment to Microsoft Azure App Service.</a:t>
            </a:r>
          </a:p>
          <a:p>
            <a:endParaRPr lang="en-US" dirty="0"/>
          </a:p>
          <a:p>
            <a:r>
              <a:rPr lang="en-US" dirty="0"/>
              <a:t>Students should understand that deployment is what transforms a local</a:t>
            </a:r>
          </a:p>
          <a:p>
            <a:r>
              <a:rPr lang="en-US" dirty="0"/>
              <a:t>application into a Software as a Service (SaaS) application that users</a:t>
            </a:r>
          </a:p>
          <a:p>
            <a:r>
              <a:rPr lang="en-US" dirty="0"/>
              <a:t>can access through the internet.</a:t>
            </a:r>
          </a:p>
          <a:p>
            <a:endParaRPr lang="en-US" dirty="0"/>
          </a:p>
          <a:p>
            <a:r>
              <a:rPr lang="en-US" dirty="0"/>
              <a:t>The objective is not simply learning how to click the Publish button.</a:t>
            </a:r>
          </a:p>
          <a:p>
            <a:endParaRPr lang="en-US" dirty="0"/>
          </a:p>
          <a:p>
            <a:r>
              <a:rPr lang="en-US" dirty="0"/>
              <a:t>The objective is understanding the complete journey from developer to</a:t>
            </a:r>
          </a:p>
          <a:p>
            <a:r>
              <a:rPr lang="en-US" dirty="0"/>
              <a:t>user.</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Pause.</a:t>
            </a:r>
          </a:p>
          <a:p>
            <a:endParaRPr lang="en-US" dirty="0"/>
          </a:p>
          <a:p>
            <a:r>
              <a:rPr lang="en-US" dirty="0"/>
              <a:t>"Today is a milestone."</a:t>
            </a:r>
          </a:p>
          <a:p>
            <a:endParaRPr lang="en-US" dirty="0"/>
          </a:p>
          <a:p>
            <a:r>
              <a:rPr lang="en-US" dirty="0"/>
              <a:t>"Everything we've built..."</a:t>
            </a:r>
          </a:p>
          <a:p>
            <a:endParaRPr lang="en-US" dirty="0"/>
          </a:p>
          <a:p>
            <a:r>
              <a:rPr lang="en-US" dirty="0"/>
              <a:t>"Everything we've designed..."</a:t>
            </a:r>
          </a:p>
          <a:p>
            <a:endParaRPr lang="en-US" dirty="0"/>
          </a:p>
          <a:p>
            <a:r>
              <a:rPr lang="en-US" dirty="0"/>
              <a:t>"Everything we've tested..."</a:t>
            </a:r>
          </a:p>
          <a:p>
            <a:endParaRPr lang="en-US" dirty="0"/>
          </a:p>
          <a:p>
            <a:r>
              <a:rPr lang="en-US" dirty="0"/>
              <a:t>"Leaves our computer."</a:t>
            </a:r>
          </a:p>
          <a:p>
            <a:endParaRPr lang="en-US" dirty="0"/>
          </a:p>
          <a:p>
            <a:r>
              <a:rPr lang="en-US" dirty="0"/>
              <a:t>Pause.</a:t>
            </a:r>
          </a:p>
          <a:p>
            <a:endParaRPr lang="en-US" dirty="0"/>
          </a:p>
          <a:p>
            <a:r>
              <a:rPr lang="en-US" dirty="0"/>
              <a:t>"And becomes available to the world."</a:t>
            </a:r>
          </a:p>
          <a:p>
            <a:endParaRPr lang="en-US" dirty="0"/>
          </a:p>
          <a:p>
            <a:r>
              <a:rPr lang="en-US" dirty="0"/>
              <a:t>Smile.</a:t>
            </a:r>
          </a:p>
          <a:p>
            <a:endParaRPr lang="en-US" dirty="0"/>
          </a:p>
          <a:p>
            <a:r>
              <a:rPr lang="en-US" dirty="0"/>
              <a:t>"Welcome to deployment."</a:t>
            </a:r>
          </a:p>
          <a:p>
            <a:endParaRPr lang="en-US" dirty="0"/>
          </a:p>
          <a:p>
            <a:r>
              <a:rPr lang="en-US" dirty="0"/>
              <a:t>------------------------------------------------------------</a:t>
            </a:r>
          </a:p>
          <a:p>
            <a:endParaRPr lang="en-US" dirty="0"/>
          </a:p>
          <a:p>
            <a:r>
              <a:rPr lang="en-US" dirty="0"/>
              <a:t>THE BIG IDEA</a:t>
            </a:r>
          </a:p>
          <a:p>
            <a:endParaRPr lang="en-US" dirty="0"/>
          </a:p>
          <a:p>
            <a:r>
              <a:rPr lang="en-US" dirty="0"/>
              <a:t>Point to the subtitle.</a:t>
            </a:r>
          </a:p>
          <a:p>
            <a:endParaRPr lang="en-US" dirty="0"/>
          </a:p>
          <a:p>
            <a:r>
              <a:rPr lang="en-US" dirty="0"/>
              <a:t>"From your computer..."</a:t>
            </a:r>
          </a:p>
          <a:p>
            <a:endParaRPr lang="en-US" dirty="0"/>
          </a:p>
          <a:p>
            <a:r>
              <a:rPr lang="en-US" dirty="0"/>
              <a:t>"...to the cloud."</a:t>
            </a:r>
          </a:p>
          <a:p>
            <a:endParaRPr lang="en-US" dirty="0"/>
          </a:p>
          <a:p>
            <a:r>
              <a:rPr lang="en-US" dirty="0"/>
              <a:t>Explain.</a:t>
            </a:r>
          </a:p>
          <a:p>
            <a:endParaRPr lang="en-US" dirty="0"/>
          </a:p>
          <a:p>
            <a:r>
              <a:rPr lang="en-US" dirty="0"/>
              <a:t>"Until now..."</a:t>
            </a:r>
          </a:p>
          <a:p>
            <a:endParaRPr lang="en-US" dirty="0"/>
          </a:p>
          <a:p>
            <a:r>
              <a:rPr lang="en-US" dirty="0"/>
              <a:t>"Atlas </a:t>
            </a:r>
            <a:r>
              <a:rPr lang="en-US" dirty="0" err="1"/>
              <a:t>TaskFlow</a:t>
            </a:r>
            <a:r>
              <a:rPr lang="en-US" dirty="0"/>
              <a:t> has only existed on your machine."</a:t>
            </a:r>
          </a:p>
          <a:p>
            <a:endParaRPr lang="en-US" dirty="0"/>
          </a:p>
          <a:p>
            <a:r>
              <a:rPr lang="en-US" dirty="0"/>
              <a:t>"If someone wanted to use your application..."</a:t>
            </a:r>
          </a:p>
          <a:p>
            <a:endParaRPr lang="en-US" dirty="0"/>
          </a:p>
          <a:p>
            <a:r>
              <a:rPr lang="en-US" dirty="0"/>
              <a:t>"They couldn't."</a:t>
            </a:r>
          </a:p>
          <a:p>
            <a:endParaRPr lang="en-US" dirty="0"/>
          </a:p>
          <a:p>
            <a:r>
              <a:rPr lang="en-US" dirty="0"/>
              <a:t>"But today..."</a:t>
            </a:r>
          </a:p>
          <a:p>
            <a:endParaRPr lang="en-US" dirty="0"/>
          </a:p>
          <a:p>
            <a:r>
              <a:rPr lang="en-US" dirty="0"/>
              <a:t>"That changes."</a:t>
            </a:r>
          </a:p>
          <a:p>
            <a:endParaRPr lang="en-US" dirty="0"/>
          </a:p>
          <a:p>
            <a:r>
              <a:rPr lang="en-US" dirty="0"/>
              <a:t>------------------------------------------------------------</a:t>
            </a:r>
          </a:p>
          <a:p>
            <a:endParaRPr lang="en-US" dirty="0"/>
          </a:p>
          <a:p>
            <a:r>
              <a:rPr lang="en-US" dirty="0"/>
              <a:t>WHY DEPLOY TO AZURE?</a:t>
            </a:r>
          </a:p>
          <a:p>
            <a:endParaRPr lang="en-US" dirty="0"/>
          </a:p>
          <a:p>
            <a:r>
              <a:rPr lang="en-US" dirty="0"/>
              <a:t>Walk through each point.</a:t>
            </a:r>
          </a:p>
          <a:p>
            <a:endParaRPr lang="en-US" dirty="0"/>
          </a:p>
          <a:p>
            <a:r>
              <a:rPr lang="en-US" dirty="0"/>
              <a:t>Available anywhere.</a:t>
            </a:r>
          </a:p>
          <a:p>
            <a:endParaRPr lang="en-US" dirty="0"/>
          </a:p>
          <a:p>
            <a:r>
              <a:rPr lang="en-US" dirty="0"/>
              <a:t>Reliable.</a:t>
            </a:r>
          </a:p>
          <a:p>
            <a:endParaRPr lang="en-US" dirty="0"/>
          </a:p>
          <a:p>
            <a:r>
              <a:rPr lang="en-US" dirty="0"/>
              <a:t>Scalable.</a:t>
            </a:r>
          </a:p>
          <a:p>
            <a:endParaRPr lang="en-US" dirty="0"/>
          </a:p>
          <a:p>
            <a:r>
              <a:rPr lang="en-US" dirty="0"/>
              <a:t>Secure.</a:t>
            </a:r>
          </a:p>
          <a:p>
            <a:endParaRPr lang="en-US" dirty="0"/>
          </a:p>
          <a:p>
            <a:r>
              <a:rPr lang="en-US" dirty="0"/>
              <a:t>Professional.</a:t>
            </a:r>
          </a:p>
          <a:p>
            <a:endParaRPr lang="en-US" dirty="0"/>
          </a:p>
          <a:p>
            <a:r>
              <a:rPr lang="en-US" dirty="0"/>
              <a:t>Explain.</a:t>
            </a:r>
          </a:p>
          <a:p>
            <a:endParaRPr lang="en-US" dirty="0"/>
          </a:p>
          <a:p>
            <a:r>
              <a:rPr lang="en-US" dirty="0"/>
              <a:t>"Users don't care what's on your laptop."</a:t>
            </a:r>
          </a:p>
          <a:p>
            <a:endParaRPr lang="en-US" dirty="0"/>
          </a:p>
          <a:p>
            <a:r>
              <a:rPr lang="en-US" dirty="0"/>
              <a:t>"They care about what's available when they need it."</a:t>
            </a:r>
          </a:p>
          <a:p>
            <a:endParaRPr lang="en-US" dirty="0"/>
          </a:p>
          <a:p>
            <a:r>
              <a:rPr lang="en-US" dirty="0"/>
              <a:t>That's why cloud hosting exists.</a:t>
            </a:r>
          </a:p>
          <a:p>
            <a:endParaRPr lang="en-US" dirty="0"/>
          </a:p>
          <a:p>
            <a:r>
              <a:rPr lang="en-US" dirty="0"/>
              <a:t>------------------------------------------------------------</a:t>
            </a:r>
          </a:p>
          <a:p>
            <a:endParaRPr lang="en-US" dirty="0"/>
          </a:p>
          <a:p>
            <a:r>
              <a:rPr lang="en-US" dirty="0"/>
              <a:t>LOCAL VS CLOUD</a:t>
            </a:r>
          </a:p>
          <a:p>
            <a:endParaRPr lang="en-US" dirty="0"/>
          </a:p>
          <a:p>
            <a:r>
              <a:rPr lang="en-US" dirty="0"/>
              <a:t>Point to the banner.</a:t>
            </a:r>
          </a:p>
          <a:p>
            <a:endParaRPr lang="en-US" dirty="0"/>
          </a:p>
          <a:p>
            <a:r>
              <a:rPr lang="en-US" dirty="0"/>
              <a:t>Read it.</a:t>
            </a:r>
          </a:p>
          <a:p>
            <a:endParaRPr lang="en-US" dirty="0"/>
          </a:p>
          <a:p>
            <a:r>
              <a:rPr lang="en-US" dirty="0"/>
              <a:t>"Local is great for building."</a:t>
            </a:r>
          </a:p>
          <a:p>
            <a:endParaRPr lang="en-US" dirty="0"/>
          </a:p>
          <a:p>
            <a:r>
              <a:rPr lang="en-US" dirty="0"/>
              <a:t>"Azure is where your users live."</a:t>
            </a:r>
          </a:p>
          <a:p>
            <a:endParaRPr lang="en-US" dirty="0"/>
          </a:p>
          <a:p>
            <a:r>
              <a:rPr lang="en-US" dirty="0"/>
              <a:t>Pause.</a:t>
            </a:r>
          </a:p>
          <a:p>
            <a:endParaRPr lang="en-US" dirty="0"/>
          </a:p>
          <a:p>
            <a:r>
              <a:rPr lang="en-US" dirty="0"/>
              <a:t>Ask:</a:t>
            </a:r>
          </a:p>
          <a:p>
            <a:endParaRPr lang="en-US" dirty="0"/>
          </a:p>
          <a:p>
            <a:r>
              <a:rPr lang="en-US" dirty="0"/>
              <a:t>"If your laptop is turned off..."</a:t>
            </a:r>
          </a:p>
          <a:p>
            <a:endParaRPr lang="en-US" dirty="0"/>
          </a:p>
          <a:p>
            <a:r>
              <a:rPr lang="en-US" dirty="0"/>
              <a:t>"Can your users access localhost?"</a:t>
            </a:r>
          </a:p>
          <a:p>
            <a:endParaRPr lang="en-US" dirty="0"/>
          </a:p>
          <a:p>
            <a:r>
              <a:rPr lang="en-US" dirty="0"/>
              <a:t>Students answer:</a:t>
            </a:r>
          </a:p>
          <a:p>
            <a:endParaRPr lang="en-US" dirty="0"/>
          </a:p>
          <a:p>
            <a:r>
              <a:rPr lang="en-US" dirty="0"/>
              <a:t>"No."</a:t>
            </a:r>
          </a:p>
          <a:p>
            <a:endParaRPr lang="en-US" dirty="0"/>
          </a:p>
          <a:p>
            <a:r>
              <a:rPr lang="en-US" dirty="0"/>
              <a:t>Exactly.</a:t>
            </a:r>
          </a:p>
          <a:p>
            <a:endParaRPr lang="en-US" dirty="0"/>
          </a:p>
          <a:p>
            <a:r>
              <a:rPr lang="en-US" dirty="0"/>
              <a:t>"So where should our application live?"</a:t>
            </a:r>
          </a:p>
          <a:p>
            <a:endParaRPr lang="en-US" dirty="0"/>
          </a:p>
          <a:p>
            <a:r>
              <a:rPr lang="en-US" dirty="0"/>
              <a:t>"The cloud."</a:t>
            </a:r>
          </a:p>
          <a:p>
            <a:endParaRPr lang="en-US" dirty="0"/>
          </a:p>
          <a:p>
            <a:r>
              <a:rPr lang="en-US" dirty="0"/>
              <a:t>------------------------------------------------------------</a:t>
            </a:r>
          </a:p>
          <a:p>
            <a:endParaRPr lang="en-US" dirty="0"/>
          </a:p>
          <a:p>
            <a:r>
              <a:rPr lang="en-US" dirty="0"/>
              <a:t>THE DEPLOYMENT PROCESS</a:t>
            </a:r>
          </a:p>
          <a:p>
            <a:endParaRPr lang="en-US" dirty="0"/>
          </a:p>
          <a:p>
            <a:r>
              <a:rPr lang="en-US" dirty="0"/>
              <a:t>Walk through each step.</a:t>
            </a:r>
          </a:p>
          <a:p>
            <a:endParaRPr lang="en-US" dirty="0"/>
          </a:p>
          <a:p>
            <a:r>
              <a:rPr lang="en-US" dirty="0"/>
              <a:t>STEP 1</a:t>
            </a:r>
          </a:p>
          <a:p>
            <a:endParaRPr lang="en-US" dirty="0"/>
          </a:p>
          <a:p>
            <a:r>
              <a:rPr lang="en-US" dirty="0"/>
              <a:t>Prepare the Project.</a:t>
            </a:r>
          </a:p>
          <a:p>
            <a:endParaRPr lang="en-US" dirty="0"/>
          </a:p>
          <a:p>
            <a:r>
              <a:rPr lang="en-US" dirty="0"/>
              <a:t>Explain.</a:t>
            </a:r>
          </a:p>
          <a:p>
            <a:endParaRPr lang="en-US" dirty="0"/>
          </a:p>
          <a:p>
            <a:r>
              <a:rPr lang="en-US" dirty="0"/>
              <a:t>"Before deployment..."</a:t>
            </a:r>
          </a:p>
          <a:p>
            <a:endParaRPr lang="en-US" dirty="0"/>
          </a:p>
          <a:p>
            <a:r>
              <a:rPr lang="en-US" dirty="0"/>
              <a:t>"The application should build successfully."</a:t>
            </a:r>
          </a:p>
          <a:p>
            <a:endParaRPr lang="en-US" dirty="0"/>
          </a:p>
          <a:p>
            <a:r>
              <a:rPr lang="en-US" dirty="0"/>
              <a:t>"No errors."</a:t>
            </a:r>
          </a:p>
          <a:p>
            <a:endParaRPr lang="en-US" dirty="0"/>
          </a:p>
          <a:p>
            <a:r>
              <a:rPr lang="en-US" dirty="0"/>
              <a:t>"No broken pages."</a:t>
            </a:r>
          </a:p>
          <a:p>
            <a:endParaRPr lang="en-US" dirty="0"/>
          </a:p>
          <a:p>
            <a:r>
              <a:rPr lang="en-US" dirty="0"/>
              <a:t>------------------------------------------------------------</a:t>
            </a:r>
          </a:p>
          <a:p>
            <a:endParaRPr lang="en-US" dirty="0"/>
          </a:p>
          <a:p>
            <a:r>
              <a:rPr lang="en-US" dirty="0"/>
              <a:t>STEP 2</a:t>
            </a:r>
          </a:p>
          <a:p>
            <a:endParaRPr lang="en-US" dirty="0"/>
          </a:p>
          <a:p>
            <a:r>
              <a:rPr lang="en-US" dirty="0"/>
              <a:t>Publish</a:t>
            </a:r>
          </a:p>
          <a:p>
            <a:endParaRPr lang="en-US" dirty="0"/>
          </a:p>
          <a:p>
            <a:r>
              <a:rPr lang="en-US" dirty="0"/>
              <a:t>Explain.</a:t>
            </a:r>
          </a:p>
          <a:p>
            <a:endParaRPr lang="en-US" dirty="0"/>
          </a:p>
          <a:p>
            <a:r>
              <a:rPr lang="en-US" dirty="0"/>
              <a:t>"In Visual Studio..."</a:t>
            </a:r>
          </a:p>
          <a:p>
            <a:endParaRPr lang="en-US" dirty="0"/>
          </a:p>
          <a:p>
            <a:r>
              <a:rPr lang="en-US" dirty="0"/>
              <a:t>"We choose Publish."</a:t>
            </a:r>
          </a:p>
          <a:p>
            <a:endParaRPr lang="en-US" dirty="0"/>
          </a:p>
          <a:p>
            <a:r>
              <a:rPr lang="en-US" dirty="0"/>
              <a:t>Visual Studio packages the application.</a:t>
            </a:r>
          </a:p>
          <a:p>
            <a:endParaRPr lang="en-US" dirty="0"/>
          </a:p>
          <a:p>
            <a:r>
              <a:rPr lang="en-US" dirty="0"/>
              <a:t>------------------------------------------------------------</a:t>
            </a:r>
          </a:p>
          <a:p>
            <a:endParaRPr lang="en-US" dirty="0"/>
          </a:p>
          <a:p>
            <a:r>
              <a:rPr lang="en-US" dirty="0"/>
              <a:t>STEP 3</a:t>
            </a:r>
          </a:p>
          <a:p>
            <a:endParaRPr lang="en-US" dirty="0"/>
          </a:p>
          <a:p>
            <a:r>
              <a:rPr lang="en-US" dirty="0"/>
              <a:t>Choose Azure App Service</a:t>
            </a:r>
          </a:p>
          <a:p>
            <a:endParaRPr lang="en-US" dirty="0"/>
          </a:p>
          <a:p>
            <a:r>
              <a:rPr lang="en-US" dirty="0"/>
              <a:t>Explain.</a:t>
            </a:r>
          </a:p>
          <a:p>
            <a:endParaRPr lang="en-US" dirty="0"/>
          </a:p>
          <a:p>
            <a:r>
              <a:rPr lang="en-US" dirty="0"/>
              <a:t>"This is Microsoft's cloud hosting platform."</a:t>
            </a:r>
          </a:p>
          <a:p>
            <a:endParaRPr lang="en-US" dirty="0"/>
          </a:p>
          <a:p>
            <a:r>
              <a:rPr lang="en-US" dirty="0"/>
              <a:t>"Our application now has a home."</a:t>
            </a:r>
          </a:p>
          <a:p>
            <a:endParaRPr lang="en-US" dirty="0"/>
          </a:p>
          <a:p>
            <a:r>
              <a:rPr lang="en-US" dirty="0"/>
              <a:t>------------------------------------------------------------</a:t>
            </a:r>
          </a:p>
          <a:p>
            <a:endParaRPr lang="en-US" dirty="0"/>
          </a:p>
          <a:p>
            <a:r>
              <a:rPr lang="en-US" dirty="0"/>
              <a:t>STEP 4</a:t>
            </a:r>
          </a:p>
          <a:p>
            <a:endParaRPr lang="en-US" dirty="0"/>
          </a:p>
          <a:p>
            <a:r>
              <a:rPr lang="en-US" dirty="0"/>
              <a:t>Configure</a:t>
            </a:r>
          </a:p>
          <a:p>
            <a:endParaRPr lang="en-US" dirty="0"/>
          </a:p>
          <a:p>
            <a:r>
              <a:rPr lang="en-US" dirty="0"/>
              <a:t>Explain.</a:t>
            </a:r>
          </a:p>
          <a:p>
            <a:endParaRPr lang="en-US" dirty="0"/>
          </a:p>
          <a:p>
            <a:r>
              <a:rPr lang="en-US" dirty="0"/>
              <a:t>"We verify our settings."</a:t>
            </a:r>
          </a:p>
          <a:p>
            <a:endParaRPr lang="en-US" dirty="0"/>
          </a:p>
          <a:p>
            <a:r>
              <a:rPr lang="en-US" dirty="0"/>
              <a:t>Resource Group.</a:t>
            </a:r>
          </a:p>
          <a:p>
            <a:endParaRPr lang="en-US" dirty="0"/>
          </a:p>
          <a:p>
            <a:r>
              <a:rPr lang="en-US" dirty="0"/>
              <a:t>App Service.</a:t>
            </a:r>
          </a:p>
          <a:p>
            <a:endParaRPr lang="en-US" dirty="0"/>
          </a:p>
          <a:p>
            <a:r>
              <a:rPr lang="en-US" dirty="0"/>
              <a:t>Runtime.</a:t>
            </a:r>
          </a:p>
          <a:p>
            <a:endParaRPr lang="en-US" dirty="0"/>
          </a:p>
          <a:p>
            <a:r>
              <a:rPr lang="en-US" dirty="0"/>
              <a:t>Region.</a:t>
            </a:r>
          </a:p>
          <a:p>
            <a:endParaRPr lang="en-US" dirty="0"/>
          </a:p>
          <a:p>
            <a:r>
              <a:rPr lang="en-US" dirty="0"/>
              <a:t>No deep dive.</a:t>
            </a:r>
          </a:p>
          <a:p>
            <a:endParaRPr lang="en-US" dirty="0"/>
          </a:p>
          <a:p>
            <a:r>
              <a:rPr lang="en-US" dirty="0"/>
              <a:t>Simply explain that these settings tell Azure how to host the application.</a:t>
            </a:r>
          </a:p>
          <a:p>
            <a:endParaRPr lang="en-US" dirty="0"/>
          </a:p>
          <a:p>
            <a:r>
              <a:rPr lang="en-US" dirty="0"/>
              <a:t>------------------------------------------------------------</a:t>
            </a:r>
          </a:p>
          <a:p>
            <a:endParaRPr lang="en-US" dirty="0"/>
          </a:p>
          <a:p>
            <a:r>
              <a:rPr lang="en-US" dirty="0"/>
              <a:t>STEP 5</a:t>
            </a:r>
          </a:p>
          <a:p>
            <a:endParaRPr lang="en-US" dirty="0"/>
          </a:p>
          <a:p>
            <a:r>
              <a:rPr lang="en-US" dirty="0"/>
              <a:t>Deploy</a:t>
            </a:r>
          </a:p>
          <a:p>
            <a:endParaRPr lang="en-US" dirty="0"/>
          </a:p>
          <a:p>
            <a:r>
              <a:rPr lang="en-US" dirty="0"/>
              <a:t>Pause.</a:t>
            </a:r>
          </a:p>
          <a:p>
            <a:endParaRPr lang="en-US" dirty="0"/>
          </a:p>
          <a:p>
            <a:r>
              <a:rPr lang="en-US" dirty="0"/>
              <a:t>Smile.</a:t>
            </a:r>
          </a:p>
          <a:p>
            <a:endParaRPr lang="en-US" dirty="0"/>
          </a:p>
          <a:p>
            <a:r>
              <a:rPr lang="en-US" dirty="0"/>
              <a:t>"This is the exciting part."</a:t>
            </a:r>
          </a:p>
          <a:p>
            <a:endParaRPr lang="en-US" dirty="0"/>
          </a:p>
          <a:p>
            <a:r>
              <a:rPr lang="en-US" dirty="0"/>
              <a:t>Visual Studio uploads the application.</a:t>
            </a:r>
          </a:p>
          <a:p>
            <a:endParaRPr lang="en-US" dirty="0"/>
          </a:p>
          <a:p>
            <a:r>
              <a:rPr lang="en-US" dirty="0"/>
              <a:t>Files are copied.</a:t>
            </a:r>
          </a:p>
          <a:p>
            <a:endParaRPr lang="en-US" dirty="0"/>
          </a:p>
          <a:p>
            <a:r>
              <a:rPr lang="en-US" dirty="0"/>
              <a:t>Azure starts the application.</a:t>
            </a:r>
          </a:p>
          <a:p>
            <a:endParaRPr lang="en-US" dirty="0"/>
          </a:p>
          <a:p>
            <a:r>
              <a:rPr lang="en-US" dirty="0"/>
              <a:t>------------------------------------------------------------</a:t>
            </a:r>
          </a:p>
          <a:p>
            <a:endParaRPr lang="en-US" dirty="0"/>
          </a:p>
          <a:p>
            <a:r>
              <a:rPr lang="en-US" dirty="0"/>
              <a:t>STEP 6</a:t>
            </a:r>
          </a:p>
          <a:p>
            <a:endParaRPr lang="en-US" dirty="0"/>
          </a:p>
          <a:p>
            <a:r>
              <a:rPr lang="en-US" dirty="0"/>
              <a:t>Verify</a:t>
            </a:r>
          </a:p>
          <a:p>
            <a:endParaRPr lang="en-US" dirty="0"/>
          </a:p>
          <a:p>
            <a:r>
              <a:rPr lang="en-US" dirty="0"/>
              <a:t>Open the URL.</a:t>
            </a:r>
          </a:p>
          <a:p>
            <a:endParaRPr lang="en-US" dirty="0"/>
          </a:p>
          <a:p>
            <a:r>
              <a:rPr lang="en-US" dirty="0"/>
              <a:t>Refresh.</a:t>
            </a:r>
          </a:p>
          <a:p>
            <a:endParaRPr lang="en-US" dirty="0"/>
          </a:p>
          <a:p>
            <a:r>
              <a:rPr lang="en-US" dirty="0"/>
              <a:t>Click through the pages.</a:t>
            </a:r>
          </a:p>
          <a:p>
            <a:endParaRPr lang="en-US" dirty="0"/>
          </a:p>
          <a:p>
            <a:r>
              <a:rPr lang="en-US" dirty="0"/>
              <a:t>Explain.</a:t>
            </a:r>
          </a:p>
          <a:p>
            <a:endParaRPr lang="en-US" dirty="0"/>
          </a:p>
          <a:p>
            <a:r>
              <a:rPr lang="en-US" dirty="0"/>
              <a:t>"Never assume deployment worked."</a:t>
            </a:r>
          </a:p>
          <a:p>
            <a:endParaRPr lang="en-US" dirty="0"/>
          </a:p>
          <a:p>
            <a:r>
              <a:rPr lang="en-US" dirty="0"/>
              <a:t>"Always verify."</a:t>
            </a:r>
          </a:p>
          <a:p>
            <a:endParaRPr lang="en-US" dirty="0"/>
          </a:p>
          <a:p>
            <a:r>
              <a:rPr lang="en-US" dirty="0"/>
              <a:t>------------------------------------------------------------</a:t>
            </a:r>
          </a:p>
          <a:p>
            <a:endParaRPr lang="en-US" dirty="0"/>
          </a:p>
          <a:p>
            <a:r>
              <a:rPr lang="en-US" dirty="0"/>
              <a:t>STEP 7</a:t>
            </a:r>
          </a:p>
          <a:p>
            <a:endParaRPr lang="en-US" dirty="0"/>
          </a:p>
          <a:p>
            <a:r>
              <a:rPr lang="en-US" dirty="0"/>
              <a:t>Share</a:t>
            </a:r>
          </a:p>
          <a:p>
            <a:endParaRPr lang="en-US" dirty="0"/>
          </a:p>
          <a:p>
            <a:r>
              <a:rPr lang="en-US" dirty="0"/>
              <a:t>Explain.</a:t>
            </a:r>
          </a:p>
          <a:p>
            <a:endParaRPr lang="en-US" dirty="0"/>
          </a:p>
          <a:p>
            <a:r>
              <a:rPr lang="en-US" dirty="0"/>
              <a:t>"Your application now has an address."</a:t>
            </a:r>
          </a:p>
          <a:p>
            <a:endParaRPr lang="en-US" dirty="0"/>
          </a:p>
          <a:p>
            <a:r>
              <a:rPr lang="en-US" dirty="0"/>
              <a:t>"It's no longer just your project."</a:t>
            </a:r>
          </a:p>
          <a:p>
            <a:endParaRPr lang="en-US" dirty="0"/>
          </a:p>
          <a:p>
            <a:r>
              <a:rPr lang="en-US" dirty="0"/>
              <a:t>"It has become a service."</a:t>
            </a:r>
          </a:p>
          <a:p>
            <a:endParaRPr lang="en-US" dirty="0"/>
          </a:p>
          <a:p>
            <a:r>
              <a:rPr lang="en-US" dirty="0"/>
              <a:t>------------------------------------------------------------</a:t>
            </a:r>
          </a:p>
          <a:p>
            <a:endParaRPr lang="en-US" dirty="0"/>
          </a:p>
          <a:p>
            <a:r>
              <a:rPr lang="en-US" dirty="0"/>
              <a:t>AZURE APP SERVICE</a:t>
            </a:r>
          </a:p>
          <a:p>
            <a:endParaRPr lang="en-US" dirty="0"/>
          </a:p>
          <a:p>
            <a:r>
              <a:rPr lang="en-US" dirty="0"/>
              <a:t>Review the panel.</a:t>
            </a:r>
          </a:p>
          <a:p>
            <a:endParaRPr lang="en-US" dirty="0"/>
          </a:p>
          <a:p>
            <a:r>
              <a:rPr lang="en-US" dirty="0"/>
              <a:t>Easy deployment.</a:t>
            </a:r>
          </a:p>
          <a:p>
            <a:endParaRPr lang="en-US" dirty="0"/>
          </a:p>
          <a:p>
            <a:r>
              <a:rPr lang="en-US" dirty="0"/>
              <a:t>Reliable hosting.</a:t>
            </a:r>
          </a:p>
          <a:p>
            <a:endParaRPr lang="en-US" dirty="0"/>
          </a:p>
          <a:p>
            <a:r>
              <a:rPr lang="en-US" dirty="0"/>
              <a:t>Automatic scaling.</a:t>
            </a:r>
          </a:p>
          <a:p>
            <a:endParaRPr lang="en-US" dirty="0"/>
          </a:p>
          <a:p>
            <a:r>
              <a:rPr lang="en-US" dirty="0"/>
              <a:t>HTTPS support.</a:t>
            </a:r>
          </a:p>
          <a:p>
            <a:endParaRPr lang="en-US" dirty="0"/>
          </a:p>
          <a:p>
            <a:r>
              <a:rPr lang="en-US" dirty="0"/>
              <a:t>Professional infrastructure.</a:t>
            </a:r>
          </a:p>
          <a:p>
            <a:endParaRPr lang="en-US" dirty="0"/>
          </a:p>
          <a:p>
            <a:r>
              <a:rPr lang="en-US" dirty="0"/>
              <a:t>Explain.</a:t>
            </a:r>
          </a:p>
          <a:p>
            <a:endParaRPr lang="en-US" dirty="0"/>
          </a:p>
          <a:p>
            <a:r>
              <a:rPr lang="en-US" dirty="0"/>
              <a:t>"Microsoft manages the servers."</a:t>
            </a:r>
          </a:p>
          <a:p>
            <a:endParaRPr lang="en-US" dirty="0"/>
          </a:p>
          <a:p>
            <a:r>
              <a:rPr lang="en-US" dirty="0"/>
              <a:t>"We focus on building software."</a:t>
            </a:r>
          </a:p>
          <a:p>
            <a:endParaRPr lang="en-US" dirty="0"/>
          </a:p>
          <a:p>
            <a:r>
              <a:rPr lang="en-US" dirty="0"/>
              <a:t>------------------------------------------------------------</a:t>
            </a:r>
          </a:p>
          <a:p>
            <a:endParaRPr lang="en-US" dirty="0"/>
          </a:p>
          <a:p>
            <a:r>
              <a:rPr lang="en-US" dirty="0"/>
              <a:t>VISUAL STUDIO PUBLISH</a:t>
            </a:r>
          </a:p>
          <a:p>
            <a:endParaRPr lang="en-US" dirty="0"/>
          </a:p>
          <a:p>
            <a:r>
              <a:rPr lang="en-US" dirty="0"/>
              <a:t>Walk students through the publishing process.</a:t>
            </a:r>
          </a:p>
          <a:p>
            <a:endParaRPr lang="en-US" dirty="0"/>
          </a:p>
          <a:p>
            <a:r>
              <a:rPr lang="en-US" dirty="0"/>
              <a:t>Right-click project.</a:t>
            </a:r>
          </a:p>
          <a:p>
            <a:endParaRPr lang="en-US" dirty="0"/>
          </a:p>
          <a:p>
            <a:r>
              <a:rPr lang="en-US" dirty="0"/>
              <a:t>Publish.</a:t>
            </a:r>
          </a:p>
          <a:p>
            <a:endParaRPr lang="en-US" dirty="0"/>
          </a:p>
          <a:p>
            <a:r>
              <a:rPr lang="en-US" dirty="0"/>
              <a:t>Azure.</a:t>
            </a:r>
          </a:p>
          <a:p>
            <a:endParaRPr lang="en-US" dirty="0"/>
          </a:p>
          <a:p>
            <a:r>
              <a:rPr lang="en-US" dirty="0"/>
              <a:t>App Service.</a:t>
            </a:r>
          </a:p>
          <a:p>
            <a:endParaRPr lang="en-US" dirty="0"/>
          </a:p>
          <a:p>
            <a:r>
              <a:rPr lang="en-US" dirty="0"/>
              <a:t>Select resource.</a:t>
            </a:r>
          </a:p>
          <a:p>
            <a:endParaRPr lang="en-US" dirty="0"/>
          </a:p>
          <a:p>
            <a:r>
              <a:rPr lang="en-US" dirty="0"/>
              <a:t>Publish.</a:t>
            </a:r>
          </a:p>
          <a:p>
            <a:endParaRPr lang="en-US" dirty="0"/>
          </a:p>
          <a:p>
            <a:r>
              <a:rPr lang="en-US" dirty="0"/>
              <a:t>Keep the demonstration slow.</a:t>
            </a:r>
          </a:p>
          <a:p>
            <a:endParaRPr lang="en-US" dirty="0"/>
          </a:p>
          <a:p>
            <a:r>
              <a:rPr lang="en-US" dirty="0"/>
              <a:t>------------------------------------------------------------</a:t>
            </a:r>
          </a:p>
          <a:p>
            <a:endParaRPr lang="en-US" dirty="0"/>
          </a:p>
          <a:p>
            <a:r>
              <a:rPr lang="en-US" dirty="0"/>
              <a:t>WHAT HAPPENS IN AZURE?</a:t>
            </a:r>
          </a:p>
          <a:p>
            <a:endParaRPr lang="en-US" dirty="0"/>
          </a:p>
          <a:p>
            <a:r>
              <a:rPr lang="en-US" dirty="0"/>
              <a:t>Point to the diagram.</a:t>
            </a:r>
          </a:p>
          <a:p>
            <a:endParaRPr lang="en-US" dirty="0"/>
          </a:p>
          <a:p>
            <a:r>
              <a:rPr lang="en-US" dirty="0"/>
              <a:t>Explain.</a:t>
            </a:r>
          </a:p>
          <a:p>
            <a:endParaRPr lang="en-US" dirty="0"/>
          </a:p>
          <a:p>
            <a:r>
              <a:rPr lang="en-US" dirty="0"/>
              <a:t>"Our code leaves Visual Studio."</a:t>
            </a:r>
          </a:p>
          <a:p>
            <a:endParaRPr lang="en-US" dirty="0"/>
          </a:p>
          <a:p>
            <a:r>
              <a:rPr lang="en-US" dirty="0"/>
              <a:t>↓</a:t>
            </a:r>
          </a:p>
          <a:p>
            <a:endParaRPr lang="en-US" dirty="0"/>
          </a:p>
          <a:p>
            <a:r>
              <a:rPr lang="en-US" dirty="0"/>
              <a:t>Azure receives it.</a:t>
            </a:r>
          </a:p>
          <a:p>
            <a:endParaRPr lang="en-US" dirty="0"/>
          </a:p>
          <a:p>
            <a:r>
              <a:rPr lang="en-US" dirty="0"/>
              <a:t>↓</a:t>
            </a:r>
          </a:p>
          <a:p>
            <a:endParaRPr lang="en-US" dirty="0"/>
          </a:p>
          <a:p>
            <a:r>
              <a:rPr lang="en-US" dirty="0"/>
              <a:t>Azure hosts it.</a:t>
            </a:r>
          </a:p>
          <a:p>
            <a:endParaRPr lang="en-US" dirty="0"/>
          </a:p>
          <a:p>
            <a:r>
              <a:rPr lang="en-US" dirty="0"/>
              <a:t>↓</a:t>
            </a:r>
          </a:p>
          <a:p>
            <a:endParaRPr lang="en-US" dirty="0"/>
          </a:p>
          <a:p>
            <a:r>
              <a:rPr lang="en-US" dirty="0"/>
              <a:t>Users connect through a browser.</a:t>
            </a:r>
          </a:p>
          <a:p>
            <a:endParaRPr lang="en-US" dirty="0"/>
          </a:p>
          <a:p>
            <a:r>
              <a:rPr lang="en-US" dirty="0"/>
              <a:t>Pause.</a:t>
            </a:r>
          </a:p>
          <a:p>
            <a:endParaRPr lang="en-US" dirty="0"/>
          </a:p>
          <a:p>
            <a:r>
              <a:rPr lang="en-US" dirty="0"/>
              <a:t>"This..."</a:t>
            </a:r>
          </a:p>
          <a:p>
            <a:endParaRPr lang="en-US" dirty="0"/>
          </a:p>
          <a:p>
            <a:r>
              <a:rPr lang="en-US" dirty="0"/>
              <a:t>"is Software as a Service."</a:t>
            </a:r>
          </a:p>
          <a:p>
            <a:endParaRPr lang="en-US" dirty="0"/>
          </a:p>
          <a:p>
            <a:r>
              <a:rPr lang="en-US" dirty="0"/>
              <a:t>------------------------------------------------------------</a:t>
            </a:r>
          </a:p>
          <a:p>
            <a:endParaRPr lang="en-US" dirty="0"/>
          </a:p>
          <a:p>
            <a:r>
              <a:rPr lang="en-US" dirty="0"/>
              <a:t>LIVE APPLICATION</a:t>
            </a:r>
          </a:p>
          <a:p>
            <a:endParaRPr lang="en-US" dirty="0"/>
          </a:p>
          <a:p>
            <a:r>
              <a:rPr lang="en-US" dirty="0"/>
              <a:t>Point to the example.</a:t>
            </a:r>
          </a:p>
          <a:p>
            <a:endParaRPr lang="en-US" dirty="0"/>
          </a:p>
          <a:p>
            <a:r>
              <a:rPr lang="en-US" dirty="0"/>
              <a:t>Ask:</a:t>
            </a:r>
          </a:p>
          <a:p>
            <a:endParaRPr lang="en-US" dirty="0"/>
          </a:p>
          <a:p>
            <a:r>
              <a:rPr lang="en-US" dirty="0"/>
              <a:t>"Where is Atlas </a:t>
            </a:r>
            <a:r>
              <a:rPr lang="en-US" dirty="0" err="1"/>
              <a:t>TaskFlow</a:t>
            </a:r>
            <a:r>
              <a:rPr lang="en-US" dirty="0"/>
              <a:t> running now?"</a:t>
            </a:r>
          </a:p>
          <a:p>
            <a:endParaRPr lang="en-US" dirty="0"/>
          </a:p>
          <a:p>
            <a:r>
              <a:rPr lang="en-US" dirty="0"/>
              <a:t>Students answer:</a:t>
            </a:r>
          </a:p>
          <a:p>
            <a:endParaRPr lang="en-US" dirty="0"/>
          </a:p>
          <a:p>
            <a:r>
              <a:rPr lang="en-US" dirty="0"/>
              <a:t>"In Azure."</a:t>
            </a:r>
          </a:p>
          <a:p>
            <a:endParaRPr lang="en-US" dirty="0"/>
          </a:p>
          <a:p>
            <a:r>
              <a:rPr lang="en-US" dirty="0"/>
              <a:t>Smile.</a:t>
            </a:r>
          </a:p>
          <a:p>
            <a:endParaRPr lang="en-US" dirty="0"/>
          </a:p>
          <a:p>
            <a:r>
              <a:rPr lang="en-US" dirty="0"/>
              <a:t>"Exactly."</a:t>
            </a:r>
          </a:p>
          <a:p>
            <a:endParaRPr lang="en-US" dirty="0"/>
          </a:p>
          <a:p>
            <a:r>
              <a:rPr lang="en-US" dirty="0"/>
              <a:t>"Not on my computer."</a:t>
            </a:r>
          </a:p>
          <a:p>
            <a:endParaRPr lang="en-US" dirty="0"/>
          </a:p>
          <a:p>
            <a:r>
              <a:rPr lang="en-US" dirty="0"/>
              <a:t>------------------------------------------------------------</a:t>
            </a:r>
          </a:p>
          <a:p>
            <a:endParaRPr lang="en-US" dirty="0"/>
          </a:p>
          <a:p>
            <a:r>
              <a:rPr lang="en-US" dirty="0"/>
              <a:t>BUILD CHALLENGE</a:t>
            </a:r>
          </a:p>
          <a:p>
            <a:endParaRPr lang="en-US" dirty="0"/>
          </a:p>
          <a:p>
            <a:r>
              <a:rPr lang="en-US" dirty="0"/>
              <a:t>Challenge students.</a:t>
            </a:r>
          </a:p>
          <a:p>
            <a:endParaRPr lang="en-US" dirty="0"/>
          </a:p>
          <a:p>
            <a:r>
              <a:rPr lang="en-US" dirty="0"/>
              <a:t>Deploy Atlas </a:t>
            </a:r>
            <a:r>
              <a:rPr lang="en-US" dirty="0" err="1"/>
              <a:t>TaskFlow</a:t>
            </a:r>
            <a:r>
              <a:rPr lang="en-US" dirty="0"/>
              <a:t>.</a:t>
            </a:r>
          </a:p>
          <a:p>
            <a:endParaRPr lang="en-US" dirty="0"/>
          </a:p>
          <a:p>
            <a:r>
              <a:rPr lang="en-US" dirty="0"/>
              <a:t>Open the live URL.</a:t>
            </a:r>
          </a:p>
          <a:p>
            <a:endParaRPr lang="en-US" dirty="0"/>
          </a:p>
          <a:p>
            <a:r>
              <a:rPr lang="en-US" dirty="0"/>
              <a:t>Navigate every page.</a:t>
            </a:r>
          </a:p>
          <a:p>
            <a:endParaRPr lang="en-US" dirty="0"/>
          </a:p>
          <a:p>
            <a:r>
              <a:rPr lang="en-US" dirty="0"/>
              <a:t>Verify everything works.</a:t>
            </a:r>
          </a:p>
          <a:p>
            <a:endParaRPr lang="en-US" dirty="0"/>
          </a:p>
          <a:p>
            <a:r>
              <a:rPr lang="en-US" dirty="0"/>
              <a:t>Take a screenshot.</a:t>
            </a:r>
          </a:p>
          <a:p>
            <a:endParaRPr lang="en-US" dirty="0"/>
          </a:p>
          <a:p>
            <a:r>
              <a:rPr lang="en-US" dirty="0"/>
              <a:t>Record the URL in your engineering journal.</a:t>
            </a:r>
          </a:p>
          <a:p>
            <a:endParaRPr lang="en-US" dirty="0"/>
          </a:p>
          <a:p>
            <a:r>
              <a:rPr lang="en-US" dirty="0"/>
              <a:t>Explain.</a:t>
            </a:r>
          </a:p>
          <a:p>
            <a:endParaRPr lang="en-US" dirty="0"/>
          </a:p>
          <a:p>
            <a:r>
              <a:rPr lang="en-US" dirty="0"/>
              <a:t>"Today your application earns its web address."</a:t>
            </a:r>
          </a:p>
          <a:p>
            <a:endParaRPr lang="en-US" dirty="0"/>
          </a:p>
          <a:p>
            <a:r>
              <a:rPr lang="en-US" dirty="0"/>
              <a:t>------------------------------------------------------------</a:t>
            </a:r>
          </a:p>
          <a:p>
            <a:endParaRPr lang="en-US" dirty="0"/>
          </a:p>
          <a:p>
            <a:r>
              <a:rPr lang="en-US" dirty="0"/>
              <a:t>AZURE CHECKLIST</a:t>
            </a:r>
          </a:p>
          <a:p>
            <a:endParaRPr lang="en-US" dirty="0"/>
          </a:p>
          <a:p>
            <a:r>
              <a:rPr lang="en-US" dirty="0"/>
              <a:t>Walk through each item.</a:t>
            </a:r>
          </a:p>
          <a:p>
            <a:endParaRPr lang="en-US" dirty="0"/>
          </a:p>
          <a:p>
            <a:r>
              <a:rPr lang="en-US" dirty="0"/>
              <a:t>Azure account.</a:t>
            </a:r>
          </a:p>
          <a:p>
            <a:endParaRPr lang="en-US" dirty="0"/>
          </a:p>
          <a:p>
            <a:r>
              <a:rPr lang="en-US" dirty="0"/>
              <a:t>App Service.</a:t>
            </a:r>
          </a:p>
          <a:p>
            <a:endParaRPr lang="en-US" dirty="0"/>
          </a:p>
          <a:p>
            <a:r>
              <a:rPr lang="en-US" dirty="0"/>
              <a:t>Publish profile.</a:t>
            </a:r>
          </a:p>
          <a:p>
            <a:endParaRPr lang="en-US" dirty="0"/>
          </a:p>
          <a:p>
            <a:r>
              <a:rPr lang="en-US" dirty="0"/>
              <a:t>Deployment.</a:t>
            </a:r>
          </a:p>
          <a:p>
            <a:endParaRPr lang="en-US" dirty="0"/>
          </a:p>
          <a:p>
            <a:r>
              <a:rPr lang="en-US" dirty="0"/>
              <a:t>Live URL.</a:t>
            </a:r>
          </a:p>
          <a:p>
            <a:endParaRPr lang="en-US" dirty="0"/>
          </a:p>
          <a:p>
            <a:r>
              <a:rPr lang="en-US" dirty="0"/>
              <a:t>HTTPS.</a:t>
            </a:r>
          </a:p>
          <a:p>
            <a:endParaRPr lang="en-US" dirty="0"/>
          </a:p>
          <a:p>
            <a:r>
              <a:rPr lang="en-US" dirty="0"/>
              <a:t>Working pages.</a:t>
            </a:r>
          </a:p>
          <a:p>
            <a:endParaRPr lang="en-US" dirty="0"/>
          </a:p>
          <a:p>
            <a:r>
              <a:rPr lang="en-US" dirty="0"/>
              <a:t>Explain.</a:t>
            </a:r>
          </a:p>
          <a:p>
            <a:endParaRPr lang="en-US" dirty="0"/>
          </a:p>
          <a:p>
            <a:r>
              <a:rPr lang="en-US" dirty="0"/>
              <a:t>"Professional engineers verify deployments before announcing them."</a:t>
            </a:r>
          </a:p>
          <a:p>
            <a:endParaRPr lang="en-US" dirty="0"/>
          </a:p>
          <a:p>
            <a:r>
              <a:rPr lang="en-US" dirty="0"/>
              <a:t>------------------------------------------------------------</a:t>
            </a:r>
          </a:p>
          <a:p>
            <a:endParaRPr lang="en-US" dirty="0"/>
          </a:p>
          <a:p>
            <a:r>
              <a:rPr lang="en-US" dirty="0"/>
              <a:t>ENGINEERING LESSON</a:t>
            </a:r>
          </a:p>
          <a:p>
            <a:endParaRPr lang="en-US" dirty="0"/>
          </a:p>
          <a:p>
            <a:r>
              <a:rPr lang="en-US" dirty="0"/>
              <a:t>Read today's statement.</a:t>
            </a:r>
          </a:p>
          <a:p>
            <a:endParaRPr lang="en-US" dirty="0"/>
          </a:p>
          <a:p>
            <a:r>
              <a:rPr lang="en-US" dirty="0"/>
              <a:t>"Your application."</a:t>
            </a:r>
          </a:p>
          <a:p>
            <a:endParaRPr lang="en-US" dirty="0"/>
          </a:p>
          <a:p>
            <a:r>
              <a:rPr lang="en-US" dirty="0"/>
              <a:t>"Your URL."</a:t>
            </a:r>
          </a:p>
          <a:p>
            <a:endParaRPr lang="en-US" dirty="0"/>
          </a:p>
          <a:p>
            <a:r>
              <a:rPr lang="en-US" dirty="0"/>
              <a:t>"Your moment."</a:t>
            </a:r>
          </a:p>
          <a:p>
            <a:endParaRPr lang="en-US" dirty="0"/>
          </a:p>
          <a:p>
            <a:r>
              <a:rPr lang="en-US" dirty="0"/>
              <a:t>Pause.</a:t>
            </a:r>
          </a:p>
          <a:p>
            <a:endParaRPr lang="en-US" dirty="0"/>
          </a:p>
          <a:p>
            <a:r>
              <a:rPr lang="en-US" dirty="0"/>
              <a:t>Explain.</a:t>
            </a:r>
          </a:p>
          <a:p>
            <a:endParaRPr lang="en-US" dirty="0"/>
          </a:p>
          <a:p>
            <a:r>
              <a:rPr lang="en-US" dirty="0"/>
              <a:t>"This isn't just another assignment."</a:t>
            </a:r>
          </a:p>
          <a:p>
            <a:endParaRPr lang="en-US" dirty="0"/>
          </a:p>
          <a:p>
            <a:r>
              <a:rPr lang="en-US" dirty="0"/>
              <a:t>"You've built something people can actually visit."</a:t>
            </a:r>
          </a:p>
          <a:p>
            <a:endParaRPr lang="en-US" dirty="0"/>
          </a:p>
          <a:p>
            <a:r>
              <a:rPr lang="en-US" dirty="0"/>
              <a:t>------------------------------------------------------------</a:t>
            </a:r>
          </a:p>
          <a:p>
            <a:endParaRPr lang="en-US" dirty="0"/>
          </a:p>
          <a:p>
            <a:r>
              <a:rPr lang="en-US" dirty="0"/>
              <a:t>SPRINT ROADMAP</a:t>
            </a:r>
          </a:p>
          <a:p>
            <a:endParaRPr lang="en-US" dirty="0"/>
          </a:p>
          <a:p>
            <a:r>
              <a:rPr lang="en-US" dirty="0"/>
              <a:t>Point to Sprint 4.</a:t>
            </a:r>
          </a:p>
          <a:p>
            <a:endParaRPr lang="en-US" dirty="0"/>
          </a:p>
          <a:p>
            <a:r>
              <a:rPr lang="en-US" dirty="0"/>
              <a:t>Review the journey.</a:t>
            </a:r>
          </a:p>
          <a:p>
            <a:endParaRPr lang="en-US" dirty="0"/>
          </a:p>
          <a:p>
            <a:r>
              <a:rPr lang="en-US" dirty="0"/>
              <a:t>Engineering Brief.</a:t>
            </a:r>
          </a:p>
          <a:p>
            <a:endParaRPr lang="en-US" dirty="0"/>
          </a:p>
          <a:p>
            <a:r>
              <a:rPr lang="en-US" dirty="0"/>
              <a:t>↓</a:t>
            </a:r>
          </a:p>
          <a:p>
            <a:endParaRPr lang="en-US" dirty="0"/>
          </a:p>
          <a:p>
            <a:r>
              <a:rPr lang="en-US" dirty="0"/>
              <a:t>How SaaS Works.</a:t>
            </a:r>
          </a:p>
          <a:p>
            <a:endParaRPr lang="en-US" dirty="0"/>
          </a:p>
          <a:p>
            <a:r>
              <a:rPr lang="en-US" dirty="0"/>
              <a:t>↓</a:t>
            </a:r>
          </a:p>
          <a:p>
            <a:endParaRPr lang="en-US" dirty="0"/>
          </a:p>
          <a:p>
            <a:r>
              <a:rPr lang="en-US" dirty="0"/>
              <a:t>Create Project.</a:t>
            </a:r>
          </a:p>
          <a:p>
            <a:endParaRPr lang="en-US" dirty="0"/>
          </a:p>
          <a:p>
            <a:r>
              <a:rPr lang="en-US" dirty="0"/>
              <a:t>↓</a:t>
            </a:r>
          </a:p>
          <a:p>
            <a:endParaRPr lang="en-US" dirty="0"/>
          </a:p>
          <a:p>
            <a:r>
              <a:rPr lang="en-US" dirty="0"/>
              <a:t>Understand MVC.</a:t>
            </a:r>
          </a:p>
          <a:p>
            <a:endParaRPr lang="en-US" dirty="0"/>
          </a:p>
          <a:p>
            <a:r>
              <a:rPr lang="en-US" dirty="0"/>
              <a:t>↓</a:t>
            </a:r>
          </a:p>
          <a:p>
            <a:endParaRPr lang="en-US" dirty="0"/>
          </a:p>
          <a:p>
            <a:r>
              <a:rPr lang="en-US" dirty="0"/>
              <a:t>Build Interface.</a:t>
            </a:r>
          </a:p>
          <a:p>
            <a:endParaRPr lang="en-US" dirty="0"/>
          </a:p>
          <a:p>
            <a:r>
              <a:rPr lang="en-US" dirty="0"/>
              <a:t>↓</a:t>
            </a:r>
          </a:p>
          <a:p>
            <a:endParaRPr lang="en-US" dirty="0"/>
          </a:p>
          <a:p>
            <a:r>
              <a:rPr lang="en-US" dirty="0"/>
              <a:t>Run &amp; Test.</a:t>
            </a:r>
          </a:p>
          <a:p>
            <a:endParaRPr lang="en-US" dirty="0"/>
          </a:p>
          <a:p>
            <a:r>
              <a:rPr lang="en-US" dirty="0"/>
              <a:t>↓</a:t>
            </a:r>
          </a:p>
          <a:p>
            <a:endParaRPr lang="en-US" dirty="0"/>
          </a:p>
          <a:p>
            <a:r>
              <a:rPr lang="en-US" dirty="0"/>
              <a:t>Deploy.</a:t>
            </a:r>
          </a:p>
          <a:p>
            <a:endParaRPr lang="en-US" dirty="0"/>
          </a:p>
          <a:p>
            <a:r>
              <a:rPr lang="en-US" dirty="0"/>
              <a:t>Explain.</a:t>
            </a:r>
          </a:p>
          <a:p>
            <a:endParaRPr lang="en-US" dirty="0"/>
          </a:p>
          <a:p>
            <a:r>
              <a:rPr lang="en-US" dirty="0"/>
              <a:t>"Every lesson led here."</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"Our application looks great."</a:t>
            </a:r>
          </a:p>
          <a:p>
            <a:endParaRPr lang="en-US" dirty="0"/>
          </a:p>
          <a:p>
            <a:r>
              <a:rPr lang="en-US" dirty="0"/>
              <a:t>"But what happens if we close it?"</a:t>
            </a:r>
          </a:p>
          <a:p>
            <a:endParaRPr lang="en-US" dirty="0"/>
          </a:p>
          <a:p>
            <a:r>
              <a:rPr lang="en-US" dirty="0"/>
              <a:t>Students answer:</a:t>
            </a:r>
          </a:p>
          <a:p>
            <a:endParaRPr lang="en-US" dirty="0"/>
          </a:p>
          <a:p>
            <a:r>
              <a:rPr lang="en-US" dirty="0"/>
              <a:t>"It forgets everything."</a:t>
            </a:r>
          </a:p>
          <a:p>
            <a:endParaRPr lang="en-US" dirty="0"/>
          </a:p>
          <a:p>
            <a:r>
              <a:rPr lang="en-US" dirty="0"/>
              <a:t>Smile.</a:t>
            </a:r>
          </a:p>
          <a:p>
            <a:endParaRPr lang="en-US" dirty="0"/>
          </a:p>
          <a:p>
            <a:r>
              <a:rPr lang="en-US" dirty="0"/>
              <a:t>"Exactly."</a:t>
            </a:r>
          </a:p>
          <a:p>
            <a:endParaRPr lang="en-US" dirty="0"/>
          </a:p>
          <a:p>
            <a:r>
              <a:rPr lang="en-US" dirty="0"/>
              <a:t>"Sprint 5 gives Atlas </a:t>
            </a:r>
            <a:r>
              <a:rPr lang="en-US" dirty="0" err="1"/>
              <a:t>TaskFlow</a:t>
            </a:r>
            <a:r>
              <a:rPr lang="en-US" dirty="0"/>
              <a:t> a memory."</a:t>
            </a:r>
          </a:p>
          <a:p>
            <a:endParaRPr lang="en-US" dirty="0"/>
          </a:p>
          <a:p>
            <a:r>
              <a:rPr lang="en-US" dirty="0"/>
              <a:t>------------------------------------------------------------</a:t>
            </a:r>
          </a:p>
          <a:p>
            <a:endParaRPr lang="en-US" dirty="0"/>
          </a:p>
          <a:p>
            <a:r>
              <a:rPr lang="en-US" dirty="0"/>
              <a:t>CLASS DISCUSSION</a:t>
            </a:r>
          </a:p>
          <a:p>
            <a:endParaRPr lang="en-US" dirty="0"/>
          </a:p>
          <a:p>
            <a:r>
              <a:rPr lang="en-US" dirty="0"/>
              <a:t>Ask students:</a:t>
            </a:r>
          </a:p>
          <a:p>
            <a:endParaRPr lang="en-US" dirty="0"/>
          </a:p>
          <a:p>
            <a:r>
              <a:rPr lang="en-US" dirty="0"/>
              <a:t>"How did it feel opening your application through a real URL?"</a:t>
            </a:r>
          </a:p>
          <a:p>
            <a:endParaRPr lang="en-US" dirty="0"/>
          </a:p>
          <a:p>
            <a:r>
              <a:rPr lang="en-US" dirty="0"/>
              <a:t>"What surprised you during deployment?"</a:t>
            </a:r>
          </a:p>
          <a:p>
            <a:endParaRPr lang="en-US" dirty="0"/>
          </a:p>
          <a:p>
            <a:r>
              <a:rPr lang="en-US" dirty="0"/>
              <a:t>"What problems did you solve?"</a:t>
            </a:r>
          </a:p>
          <a:p>
            <a:endParaRPr lang="en-US" dirty="0"/>
          </a:p>
          <a:p>
            <a:r>
              <a:rPr lang="en-US" dirty="0"/>
              <a:t>Encourage students to celebrate one another's success.</a:t>
            </a:r>
          </a:p>
          <a:p>
            <a:endParaRPr lang="en-US" dirty="0"/>
          </a:p>
          <a:p>
            <a:r>
              <a:rPr lang="en-US" dirty="0"/>
              <a:t>------------------------------------------------------------</a:t>
            </a:r>
          </a:p>
          <a:p>
            <a:endParaRPr lang="en-US" dirty="0"/>
          </a:p>
          <a:p>
            <a:r>
              <a:rPr lang="en-US" dirty="0"/>
              <a:t>THE MOMENT</a:t>
            </a:r>
          </a:p>
          <a:p>
            <a:endParaRPr lang="en-US" dirty="0"/>
          </a:p>
          <a:p>
            <a:r>
              <a:rPr lang="en-US" dirty="0"/>
              <a:t>This is the moment.</a:t>
            </a:r>
          </a:p>
          <a:p>
            <a:endParaRPr lang="en-US" dirty="0"/>
          </a:p>
          <a:p>
            <a:r>
              <a:rPr lang="en-US" dirty="0"/>
              <a:t>Walk around the room.</a:t>
            </a:r>
          </a:p>
          <a:p>
            <a:endParaRPr lang="en-US" dirty="0"/>
          </a:p>
          <a:p>
            <a:r>
              <a:rPr lang="en-US" dirty="0"/>
              <a:t>Wait until everyone has deployed.</a:t>
            </a:r>
          </a:p>
          <a:p>
            <a:endParaRPr lang="en-US" dirty="0"/>
          </a:p>
          <a:p>
            <a:r>
              <a:rPr lang="en-US" dirty="0"/>
              <a:t>Then ask:</a:t>
            </a:r>
          </a:p>
          <a:p>
            <a:endParaRPr lang="en-US" dirty="0"/>
          </a:p>
          <a:p>
            <a:r>
              <a:rPr lang="en-US" dirty="0"/>
              <a:t>"Everyone..."</a:t>
            </a:r>
          </a:p>
          <a:p>
            <a:endParaRPr lang="en-US" dirty="0"/>
          </a:p>
          <a:p>
            <a:r>
              <a:rPr lang="en-US" dirty="0"/>
              <a:t>"Open your application."</a:t>
            </a:r>
          </a:p>
          <a:p>
            <a:endParaRPr lang="en-US" dirty="0"/>
          </a:p>
          <a:p>
            <a:r>
              <a:rPr lang="en-US" dirty="0"/>
              <a:t>Pause.</a:t>
            </a:r>
          </a:p>
          <a:p>
            <a:endParaRPr lang="en-US" dirty="0"/>
          </a:p>
          <a:p>
            <a:r>
              <a:rPr lang="en-US" dirty="0"/>
              <a:t>"Now..."</a:t>
            </a:r>
          </a:p>
          <a:p>
            <a:endParaRPr lang="en-US" dirty="0"/>
          </a:p>
          <a:p>
            <a:r>
              <a:rPr lang="en-US" dirty="0"/>
              <a:t>"Look at the address bar."</a:t>
            </a:r>
          </a:p>
          <a:p>
            <a:endParaRPr lang="en-US" dirty="0"/>
          </a:p>
          <a:p>
            <a:r>
              <a:rPr lang="en-US" dirty="0"/>
              <a:t>Pause again.</a:t>
            </a:r>
          </a:p>
          <a:p>
            <a:endParaRPr lang="en-US" dirty="0"/>
          </a:p>
          <a:p>
            <a:r>
              <a:rPr lang="en-US" dirty="0"/>
              <a:t>Then say...</a:t>
            </a:r>
          </a:p>
          <a:p>
            <a:endParaRPr lang="en-US" dirty="0"/>
          </a:p>
          <a:p>
            <a:r>
              <a:rPr lang="en-US" dirty="0"/>
              <a:t>"That..."</a:t>
            </a:r>
          </a:p>
          <a:p>
            <a:endParaRPr lang="en-US" dirty="0"/>
          </a:p>
          <a:p>
            <a:r>
              <a:rPr lang="en-US" dirty="0"/>
              <a:t>"isn't localhost."</a:t>
            </a:r>
          </a:p>
          <a:p>
            <a:endParaRPr lang="en-US" dirty="0"/>
          </a:p>
          <a:p>
            <a:r>
              <a:rPr lang="en-US" dirty="0"/>
              <a:t>"That isn't your computer."</a:t>
            </a:r>
          </a:p>
          <a:p>
            <a:endParaRPr lang="en-US" dirty="0"/>
          </a:p>
          <a:p>
            <a:r>
              <a:rPr lang="en-US" dirty="0"/>
              <a:t>"That's your application..."</a:t>
            </a:r>
          </a:p>
          <a:p>
            <a:endParaRPr lang="en-US" dirty="0"/>
          </a:p>
          <a:p>
            <a:r>
              <a:rPr lang="en-US" dirty="0"/>
              <a:t>"Running in the cloud."</a:t>
            </a:r>
          </a:p>
          <a:p>
            <a:endParaRPr lang="en-US" dirty="0"/>
          </a:p>
          <a:p>
            <a:r>
              <a:rPr lang="en-US" dirty="0"/>
              <a:t>Smile.</a:t>
            </a:r>
          </a:p>
          <a:p>
            <a:endParaRPr lang="en-US" dirty="0"/>
          </a:p>
          <a:p>
            <a:r>
              <a:rPr lang="en-US" dirty="0"/>
              <a:t>"Congratulations."</a:t>
            </a:r>
          </a:p>
          <a:p>
            <a:endParaRPr lang="en-US" dirty="0"/>
          </a:p>
          <a:p>
            <a:r>
              <a:rPr lang="en-US" dirty="0"/>
              <a:t>"You've built a Software as a Service application."</a:t>
            </a:r>
          </a:p>
          <a:p>
            <a:endParaRPr lang="en-US" dirty="0"/>
          </a:p>
          <a:p>
            <a:r>
              <a:rPr lang="en-US" dirty="0"/>
              <a:t>Allow that moment to sink in.</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Why Azure?.........................10 minutes</a:t>
            </a:r>
          </a:p>
          <a:p>
            <a:endParaRPr lang="en-US" dirty="0"/>
          </a:p>
          <a:p>
            <a:r>
              <a:rPr lang="en-US" dirty="0"/>
              <a:t>Deployment Process.................15 minutes</a:t>
            </a:r>
          </a:p>
          <a:p>
            <a:endParaRPr lang="en-US" dirty="0"/>
          </a:p>
          <a:p>
            <a:r>
              <a:rPr lang="en-US" dirty="0"/>
              <a:t>Hands-on Deployment................20 minutes</a:t>
            </a:r>
          </a:p>
          <a:p>
            <a:endParaRPr lang="en-US" dirty="0"/>
          </a:p>
          <a:p>
            <a:r>
              <a:rPr lang="en-US" dirty="0"/>
              <a:t>Verification.......................10 minutes</a:t>
            </a:r>
          </a:p>
          <a:p>
            <a:endParaRPr lang="en-US" dirty="0"/>
          </a:p>
          <a:p>
            <a:r>
              <a:rPr lang="en-US" dirty="0"/>
              <a:t>Discussion..........................5 minutes</a:t>
            </a:r>
          </a:p>
          <a:p>
            <a:endParaRPr lang="en-US" dirty="0"/>
          </a:p>
          <a:p>
            <a:r>
              <a:rPr lang="en-US" dirty="0"/>
              <a:t>Closing.............................5 minutes</a:t>
            </a:r>
          </a:p>
          <a:p>
            <a:endParaRPr lang="en-US" dirty="0"/>
          </a:p>
          <a:p>
            <a:r>
              <a:rPr lang="en-US" dirty="0"/>
              <a:t>Total..............................70 minutes</a:t>
            </a:r>
          </a:p>
          <a:p>
            <a:endParaRPr lang="en-US" dirty="0"/>
          </a:p>
          <a:p>
            <a:r>
              <a:rPr lang="en-US" dirty="0"/>
              <a:t>------------------------------------------------------------</a:t>
            </a:r>
          </a:p>
          <a:p>
            <a:endParaRPr lang="en-US" dirty="0"/>
          </a:p>
          <a:p>
            <a:r>
              <a:rPr lang="en-US" dirty="0"/>
              <a:t>INSTRUCTOR NOTES</a:t>
            </a:r>
          </a:p>
          <a:p>
            <a:endParaRPr lang="en-US" dirty="0"/>
          </a:p>
          <a:p>
            <a:r>
              <a:rPr lang="en-US" dirty="0"/>
              <a:t>This lesson is more than a deployment walkthrough.</a:t>
            </a:r>
          </a:p>
          <a:p>
            <a:endParaRPr lang="en-US" dirty="0"/>
          </a:p>
          <a:p>
            <a:r>
              <a:rPr lang="en-US" dirty="0"/>
              <a:t>It is the emotional payoff for everything students have accomplished</a:t>
            </a:r>
          </a:p>
          <a:p>
            <a:r>
              <a:rPr lang="en-US" dirty="0"/>
              <a:t>throughout Sprint 4.</a:t>
            </a:r>
          </a:p>
          <a:p>
            <a:endParaRPr lang="en-US" dirty="0"/>
          </a:p>
          <a:p>
            <a:r>
              <a:rPr lang="en-US" dirty="0"/>
              <a:t>Move slowly during the live demonstration.</a:t>
            </a:r>
          </a:p>
          <a:p>
            <a:endParaRPr lang="en-US" dirty="0"/>
          </a:p>
          <a:p>
            <a:r>
              <a:rPr lang="en-US" dirty="0"/>
              <a:t>Celebrate every successful deployment.</a:t>
            </a:r>
          </a:p>
          <a:p>
            <a:endParaRPr lang="en-US" dirty="0"/>
          </a:p>
          <a:p>
            <a:r>
              <a:rPr lang="en-US" dirty="0"/>
              <a:t>Have students share their live URLs with one another and visit each</a:t>
            </a:r>
          </a:p>
          <a:p>
            <a:r>
              <a:rPr lang="en-US" dirty="0"/>
              <a:t>other's applications.</a:t>
            </a:r>
          </a:p>
          <a:p>
            <a:endParaRPr lang="en-US" dirty="0"/>
          </a:p>
          <a:p>
            <a:r>
              <a:rPr lang="en-US" dirty="0"/>
              <a:t>This reinforces one of the core ideas of SaaS:</a:t>
            </a:r>
          </a:p>
          <a:p>
            <a:endParaRPr lang="en-US" dirty="0"/>
          </a:p>
          <a:p>
            <a:r>
              <a:rPr lang="en-US" dirty="0"/>
              <a:t>Software exists to be used by others.</a:t>
            </a:r>
          </a:p>
          <a:p>
            <a:endParaRPr lang="en-US" dirty="0"/>
          </a:p>
          <a:p>
            <a:r>
              <a:rPr lang="en-US" dirty="0"/>
              <a:t>Avoid discussing advanced Azure topics such as App Service Plans,</a:t>
            </a:r>
          </a:p>
          <a:p>
            <a:r>
              <a:rPr lang="en-US" dirty="0"/>
              <a:t>virtual networks, deployment slots, CI/CD pipelines, containers, or</a:t>
            </a:r>
          </a:p>
          <a:p>
            <a:r>
              <a:rPr lang="en-US" dirty="0"/>
              <a:t>resource optimization.</a:t>
            </a:r>
          </a:p>
          <a:p>
            <a:endParaRPr lang="en-US" dirty="0"/>
          </a:p>
          <a:p>
            <a:r>
              <a:rPr lang="en-US" dirty="0"/>
              <a:t>Those belong in later courses.</a:t>
            </a:r>
          </a:p>
          <a:p>
            <a:endParaRPr lang="en-US" dirty="0"/>
          </a:p>
          <a:p>
            <a:r>
              <a:rPr lang="en-US" dirty="0"/>
              <a:t>Today's objective is simple:</a:t>
            </a:r>
          </a:p>
          <a:p>
            <a:endParaRPr lang="en-US" dirty="0"/>
          </a:p>
          <a:p>
            <a:r>
              <a:rPr lang="en-US" dirty="0"/>
              <a:t>Students experience the transition from</a:t>
            </a:r>
          </a:p>
          <a:p>
            <a:endParaRPr lang="en-US" dirty="0"/>
          </a:p>
          <a:p>
            <a:r>
              <a:rPr lang="en-US" dirty="0"/>
              <a:t>Developer</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Cloud</a:t>
            </a:r>
          </a:p>
          <a:p>
            <a:endParaRPr lang="en-US" dirty="0"/>
          </a:p>
          <a:p>
            <a:r>
              <a:rPr lang="en-US" dirty="0"/>
              <a:t>↓</a:t>
            </a:r>
          </a:p>
          <a:p>
            <a:endParaRPr lang="en-US" dirty="0"/>
          </a:p>
          <a:p>
            <a:r>
              <a:rPr lang="en-US" dirty="0"/>
              <a:t>User.</a:t>
            </a:r>
          </a:p>
          <a:p>
            <a:endParaRPr lang="en-US" dirty="0"/>
          </a:p>
          <a:p>
            <a:r>
              <a:rPr lang="en-US" dirty="0"/>
              <a:t>Close with:</a:t>
            </a:r>
          </a:p>
          <a:p>
            <a:endParaRPr lang="en-US" dirty="0"/>
          </a:p>
          <a:p>
            <a:r>
              <a:rPr lang="en-US" dirty="0"/>
              <a:t>"Engineers..."</a:t>
            </a:r>
          </a:p>
          <a:p>
            <a:endParaRPr lang="en-US" dirty="0"/>
          </a:p>
          <a:p>
            <a:r>
              <a:rPr lang="en-US" dirty="0"/>
              <a:t>"You started this sprint with an empty project."</a:t>
            </a:r>
          </a:p>
          <a:p>
            <a:endParaRPr lang="en-US" dirty="0"/>
          </a:p>
          <a:p>
            <a:r>
              <a:rPr lang="en-US" dirty="0"/>
              <a:t>"You leave this sprint with a live cloud application."</a:t>
            </a:r>
          </a:p>
          <a:p>
            <a:endParaRPr lang="en-US" dirty="0"/>
          </a:p>
          <a:p>
            <a:r>
              <a:rPr lang="en-US" dirty="0"/>
              <a:t>"Welcome to Software as a Service."</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7</a:t>
            </a:fld>
            <a:endParaRPr lang="en-US"/>
          </a:p>
        </p:txBody>
      </p:sp>
    </p:spTree>
    <p:extLst>
      <p:ext uri="{BB962C8B-B14F-4D97-AF65-F5344CB8AC3E}">
        <p14:creationId xmlns:p14="http://schemas.microsoft.com/office/powerpoint/2010/main" val="4177186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4</a:t>
            </a:r>
          </a:p>
          <a:p>
            <a:endParaRPr lang="en-US" dirty="0"/>
          </a:p>
          <a:p>
            <a:r>
              <a:rPr lang="en-US" dirty="0"/>
              <a:t>REVIEW &amp; RETROSPECTIVE</a:t>
            </a:r>
          </a:p>
          <a:p>
            <a:endParaRPr lang="en-US" dirty="0"/>
          </a:p>
          <a:p>
            <a:r>
              <a:rPr lang="en-US" dirty="0"/>
              <a:t>============================================================</a:t>
            </a:r>
          </a:p>
          <a:p>
            <a:endParaRPr lang="en-US" dirty="0"/>
          </a:p>
          <a:p>
            <a:r>
              <a:rPr lang="en-US" dirty="0"/>
              <a:t>SLIDE PURPOSE</a:t>
            </a:r>
          </a:p>
          <a:p>
            <a:endParaRPr lang="en-US" dirty="0"/>
          </a:p>
          <a:p>
            <a:r>
              <a:rPr lang="en-US" dirty="0"/>
              <a:t>Celebrate the completion of Sprint 4 and reflect on the engineering</a:t>
            </a:r>
          </a:p>
          <a:p>
            <a:r>
              <a:rPr lang="en-US" dirty="0"/>
              <a:t>journey from design to deployment.</a:t>
            </a:r>
          </a:p>
          <a:p>
            <a:endParaRPr lang="en-US" dirty="0"/>
          </a:p>
          <a:p>
            <a:r>
              <a:rPr lang="en-US" dirty="0"/>
              <a:t>Students should recognize the progress they have made, connect the</a:t>
            </a:r>
          </a:p>
          <a:p>
            <a:r>
              <a:rPr lang="en-US" dirty="0"/>
              <a:t>lessons learned throughout the sprint, and prepare for Sprint 5 where</a:t>
            </a:r>
          </a:p>
          <a:p>
            <a:r>
              <a:rPr lang="en-US" dirty="0"/>
              <a:t>Atlas </a:t>
            </a:r>
            <a:r>
              <a:rPr lang="en-US" dirty="0" err="1"/>
              <a:t>TaskFlow</a:t>
            </a:r>
            <a:r>
              <a:rPr lang="en-US" dirty="0"/>
              <a:t> will begin storing data.</a:t>
            </a:r>
          </a:p>
          <a:p>
            <a:endParaRPr lang="en-US" dirty="0"/>
          </a:p>
          <a:p>
            <a:r>
              <a:rPr lang="en-US" dirty="0"/>
              <a:t>This lesson reinforces the engineering mindset of continuous</a:t>
            </a:r>
          </a:p>
          <a:p>
            <a:r>
              <a:rPr lang="en-US" dirty="0"/>
              <a:t>improvement.</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Pause.</a:t>
            </a:r>
          </a:p>
          <a:p>
            <a:endParaRPr lang="en-US" dirty="0"/>
          </a:p>
          <a:p>
            <a:r>
              <a:rPr lang="en-US" dirty="0"/>
              <a:t>"I don't want to start class with a lecture today."</a:t>
            </a:r>
          </a:p>
          <a:p>
            <a:endParaRPr lang="en-US" dirty="0"/>
          </a:p>
          <a:p>
            <a:r>
              <a:rPr lang="en-US" dirty="0"/>
              <a:t>"I want to start with a question."</a:t>
            </a:r>
          </a:p>
          <a:p>
            <a:endParaRPr lang="en-US" dirty="0"/>
          </a:p>
          <a:p>
            <a:r>
              <a:rPr lang="en-US" dirty="0"/>
              <a:t>"How many of you now have a live web application?"</a:t>
            </a:r>
          </a:p>
          <a:p>
            <a:endParaRPr lang="en-US" dirty="0"/>
          </a:p>
          <a:p>
            <a:r>
              <a:rPr lang="en-US" dirty="0"/>
              <a:t>Pause.</a:t>
            </a:r>
          </a:p>
          <a:p>
            <a:endParaRPr lang="en-US" dirty="0"/>
          </a:p>
          <a:p>
            <a:r>
              <a:rPr lang="en-US" dirty="0"/>
              <a:t>Smile.</a:t>
            </a:r>
          </a:p>
          <a:p>
            <a:endParaRPr lang="en-US" dirty="0"/>
          </a:p>
          <a:p>
            <a:r>
              <a:rPr lang="en-US" dirty="0"/>
              <a:t>"Take a second..."</a:t>
            </a:r>
          </a:p>
          <a:p>
            <a:endParaRPr lang="en-US" dirty="0"/>
          </a:p>
          <a:p>
            <a:r>
              <a:rPr lang="en-US" dirty="0"/>
              <a:t>"And appreciate that."</a:t>
            </a:r>
          </a:p>
          <a:p>
            <a:endParaRPr lang="en-US" dirty="0"/>
          </a:p>
          <a:p>
            <a:r>
              <a:rPr lang="en-US" dirty="0"/>
              <a:t>------------------------------------------------------------</a:t>
            </a:r>
          </a:p>
          <a:p>
            <a:endParaRPr lang="en-US" dirty="0"/>
          </a:p>
          <a:p>
            <a:r>
              <a:rPr lang="en-US" dirty="0"/>
              <a:t>THE BIG IDEA</a:t>
            </a:r>
          </a:p>
          <a:p>
            <a:endParaRPr lang="en-US" dirty="0"/>
          </a:p>
          <a:p>
            <a:r>
              <a:rPr lang="en-US" dirty="0"/>
              <a:t>Point to the statement at the top.</a:t>
            </a:r>
          </a:p>
          <a:p>
            <a:endParaRPr lang="en-US" dirty="0"/>
          </a:p>
          <a:p>
            <a:r>
              <a:rPr lang="en-US" dirty="0"/>
              <a:t>"You started Sprint 4 with a blank project."</a:t>
            </a:r>
          </a:p>
          <a:p>
            <a:endParaRPr lang="en-US" dirty="0"/>
          </a:p>
          <a:p>
            <a:r>
              <a:rPr lang="en-US" dirty="0"/>
              <a:t>"You finished Sprint 4 with a live application."</a:t>
            </a:r>
          </a:p>
          <a:p>
            <a:endParaRPr lang="en-US" dirty="0"/>
          </a:p>
          <a:p>
            <a:r>
              <a:rPr lang="en-US" dirty="0"/>
              <a:t>Pause.</a:t>
            </a:r>
          </a:p>
          <a:p>
            <a:endParaRPr lang="en-US" dirty="0"/>
          </a:p>
          <a:p>
            <a:r>
              <a:rPr lang="en-US" dirty="0"/>
              <a:t>"That's engineering."</a:t>
            </a:r>
          </a:p>
          <a:p>
            <a:endParaRPr lang="en-US" dirty="0"/>
          </a:p>
          <a:p>
            <a:r>
              <a:rPr lang="en-US" dirty="0"/>
              <a:t>Explain.</a:t>
            </a:r>
          </a:p>
          <a:p>
            <a:endParaRPr lang="en-US" dirty="0"/>
          </a:p>
          <a:p>
            <a:r>
              <a:rPr lang="en-US" dirty="0"/>
              <a:t>"Professional software isn't created overnight."</a:t>
            </a:r>
          </a:p>
          <a:p>
            <a:endParaRPr lang="en-US" dirty="0"/>
          </a:p>
          <a:p>
            <a:r>
              <a:rPr lang="en-US" dirty="0"/>
              <a:t>"It grows through planning..."</a:t>
            </a:r>
          </a:p>
          <a:p>
            <a:endParaRPr lang="en-US" dirty="0"/>
          </a:p>
          <a:p>
            <a:r>
              <a:rPr lang="en-US" dirty="0"/>
              <a:t>"Building..."</a:t>
            </a:r>
          </a:p>
          <a:p>
            <a:endParaRPr lang="en-US" dirty="0"/>
          </a:p>
          <a:p>
            <a:r>
              <a:rPr lang="en-US" dirty="0"/>
              <a:t>"Testing..."</a:t>
            </a:r>
          </a:p>
          <a:p>
            <a:endParaRPr lang="en-US" dirty="0"/>
          </a:p>
          <a:p>
            <a:r>
              <a:rPr lang="en-US" dirty="0"/>
              <a:t>"And continuous improvement."</a:t>
            </a:r>
          </a:p>
          <a:p>
            <a:endParaRPr lang="en-US" dirty="0"/>
          </a:p>
          <a:p>
            <a:r>
              <a:rPr lang="en-US" dirty="0"/>
              <a:t>------------------------------------------------------------</a:t>
            </a:r>
          </a:p>
          <a:p>
            <a:endParaRPr lang="en-US" dirty="0"/>
          </a:p>
          <a:p>
            <a:r>
              <a:rPr lang="en-US" dirty="0"/>
              <a:t>SPRINT 4 AT A GLANCE</a:t>
            </a:r>
          </a:p>
          <a:p>
            <a:endParaRPr lang="en-US" dirty="0"/>
          </a:p>
          <a:p>
            <a:r>
              <a:rPr lang="en-US" dirty="0"/>
              <a:t>Walk through each accomplishment.</a:t>
            </a:r>
          </a:p>
          <a:p>
            <a:endParaRPr lang="en-US" dirty="0"/>
          </a:p>
          <a:p>
            <a:r>
              <a:rPr lang="en-US" dirty="0"/>
              <a:t>You understood SaaS.</a:t>
            </a:r>
          </a:p>
          <a:p>
            <a:endParaRPr lang="en-US" dirty="0"/>
          </a:p>
          <a:p>
            <a:r>
              <a:rPr lang="en-US" dirty="0"/>
              <a:t>You created an MVC project.</a:t>
            </a:r>
          </a:p>
          <a:p>
            <a:endParaRPr lang="en-US" dirty="0"/>
          </a:p>
          <a:p>
            <a:r>
              <a:rPr lang="en-US" dirty="0"/>
              <a:t>You learned MVC.</a:t>
            </a:r>
          </a:p>
          <a:p>
            <a:endParaRPr lang="en-US" dirty="0"/>
          </a:p>
          <a:p>
            <a:r>
              <a:rPr lang="en-US" dirty="0"/>
              <a:t>You built the interface.</a:t>
            </a:r>
          </a:p>
          <a:p>
            <a:endParaRPr lang="en-US" dirty="0"/>
          </a:p>
          <a:p>
            <a:r>
              <a:rPr lang="en-US" dirty="0"/>
              <a:t>You tested your application.</a:t>
            </a:r>
          </a:p>
          <a:p>
            <a:endParaRPr lang="en-US" dirty="0"/>
          </a:p>
          <a:p>
            <a:r>
              <a:rPr lang="en-US" dirty="0"/>
              <a:t>You deployed to Azure.</a:t>
            </a:r>
          </a:p>
          <a:p>
            <a:endParaRPr lang="en-US" dirty="0"/>
          </a:p>
          <a:p>
            <a:r>
              <a:rPr lang="en-US" dirty="0"/>
              <a:t>You published Atlas </a:t>
            </a:r>
            <a:r>
              <a:rPr lang="en-US" dirty="0" err="1"/>
              <a:t>TaskFlow</a:t>
            </a:r>
            <a:r>
              <a:rPr lang="en-US" dirty="0"/>
              <a:t>.</a:t>
            </a:r>
          </a:p>
          <a:p>
            <a:endParaRPr lang="en-US" dirty="0"/>
          </a:p>
          <a:p>
            <a:r>
              <a:rPr lang="en-US" dirty="0"/>
              <a:t>Pause.</a:t>
            </a:r>
          </a:p>
          <a:p>
            <a:endParaRPr lang="en-US" dirty="0"/>
          </a:p>
          <a:p>
            <a:r>
              <a:rPr lang="en-US" dirty="0"/>
              <a:t>"Think about everything you accomplished."</a:t>
            </a:r>
          </a:p>
          <a:p>
            <a:endParaRPr lang="en-US" dirty="0"/>
          </a:p>
          <a:p>
            <a:r>
              <a:rPr lang="en-US" dirty="0"/>
              <a:t>"None of this existed just a few weeks ago."</a:t>
            </a:r>
          </a:p>
          <a:p>
            <a:endParaRPr lang="en-US" dirty="0"/>
          </a:p>
          <a:p>
            <a:r>
              <a:rPr lang="en-US" dirty="0"/>
              <a:t>------------------------------------------------------------</a:t>
            </a:r>
          </a:p>
          <a:p>
            <a:endParaRPr lang="en-US" dirty="0"/>
          </a:p>
          <a:p>
            <a:r>
              <a:rPr lang="en-US" dirty="0"/>
              <a:t>THE JOURNEY</a:t>
            </a:r>
          </a:p>
          <a:p>
            <a:endParaRPr lang="en-US" dirty="0"/>
          </a:p>
          <a:p>
            <a:r>
              <a:rPr lang="en-US" dirty="0"/>
              <a:t>Point to the timeline.</a:t>
            </a:r>
          </a:p>
          <a:p>
            <a:endParaRPr lang="en-US" dirty="0"/>
          </a:p>
          <a:p>
            <a:r>
              <a:rPr lang="en-US" dirty="0"/>
              <a:t>Walk through each milestone.</a:t>
            </a:r>
          </a:p>
          <a:p>
            <a:endParaRPr lang="en-US" dirty="0"/>
          </a:p>
          <a:p>
            <a:r>
              <a:rPr lang="en-US" dirty="0"/>
              <a:t>Understand SaaS.</a:t>
            </a:r>
          </a:p>
          <a:p>
            <a:endParaRPr lang="en-US" dirty="0"/>
          </a:p>
          <a:p>
            <a:r>
              <a:rPr lang="en-US" dirty="0"/>
              <a:t>↓</a:t>
            </a:r>
          </a:p>
          <a:p>
            <a:endParaRPr lang="en-US" dirty="0"/>
          </a:p>
          <a:p>
            <a:r>
              <a:rPr lang="en-US" dirty="0"/>
              <a:t>Create Project.</a:t>
            </a:r>
          </a:p>
          <a:p>
            <a:endParaRPr lang="en-US" dirty="0"/>
          </a:p>
          <a:p>
            <a:r>
              <a:rPr lang="en-US" dirty="0"/>
              <a:t>↓</a:t>
            </a:r>
          </a:p>
          <a:p>
            <a:endParaRPr lang="en-US" dirty="0"/>
          </a:p>
          <a:p>
            <a:r>
              <a:rPr lang="en-US" dirty="0"/>
              <a:t>Learn MVC.</a:t>
            </a:r>
          </a:p>
          <a:p>
            <a:endParaRPr lang="en-US" dirty="0"/>
          </a:p>
          <a:p>
            <a:r>
              <a:rPr lang="en-US" dirty="0"/>
              <a:t>↓</a:t>
            </a:r>
          </a:p>
          <a:p>
            <a:endParaRPr lang="en-US" dirty="0"/>
          </a:p>
          <a:p>
            <a:r>
              <a:rPr lang="en-US" dirty="0"/>
              <a:t>Build Interface.</a:t>
            </a:r>
          </a:p>
          <a:p>
            <a:endParaRPr lang="en-US" dirty="0"/>
          </a:p>
          <a:p>
            <a:r>
              <a:rPr lang="en-US" dirty="0"/>
              <a:t>↓</a:t>
            </a:r>
          </a:p>
          <a:p>
            <a:endParaRPr lang="en-US" dirty="0"/>
          </a:p>
          <a:p>
            <a:r>
              <a:rPr lang="en-US" dirty="0"/>
              <a:t>Run &amp; Test.</a:t>
            </a:r>
          </a:p>
          <a:p>
            <a:endParaRPr lang="en-US" dirty="0"/>
          </a:p>
          <a:p>
            <a:r>
              <a:rPr lang="en-US" dirty="0"/>
              <a:t>↓</a:t>
            </a:r>
          </a:p>
          <a:p>
            <a:endParaRPr lang="en-US" dirty="0"/>
          </a:p>
          <a:p>
            <a:r>
              <a:rPr lang="en-US" dirty="0"/>
              <a:t>Deploy.</a:t>
            </a:r>
          </a:p>
          <a:p>
            <a:endParaRPr lang="en-US" dirty="0"/>
          </a:p>
          <a:p>
            <a:r>
              <a:rPr lang="en-US" dirty="0"/>
              <a:t>↓</a:t>
            </a:r>
          </a:p>
          <a:p>
            <a:endParaRPr lang="en-US" dirty="0"/>
          </a:p>
          <a:p>
            <a:r>
              <a:rPr lang="en-US" dirty="0"/>
              <a:t>Live on the Web.</a:t>
            </a:r>
          </a:p>
          <a:p>
            <a:endParaRPr lang="en-US" dirty="0"/>
          </a:p>
          <a:p>
            <a:r>
              <a:rPr lang="en-US" dirty="0"/>
              <a:t>Explain.</a:t>
            </a:r>
          </a:p>
          <a:p>
            <a:endParaRPr lang="en-US" dirty="0"/>
          </a:p>
          <a:p>
            <a:r>
              <a:rPr lang="en-US" dirty="0"/>
              <a:t>"Every lesson built upon the one before it."</a:t>
            </a:r>
          </a:p>
          <a:p>
            <a:endParaRPr lang="en-US" dirty="0"/>
          </a:p>
          <a:p>
            <a:r>
              <a:rPr lang="en-US" dirty="0"/>
              <a:t>"There were no random activities."</a:t>
            </a:r>
          </a:p>
          <a:p>
            <a:endParaRPr lang="en-US" dirty="0"/>
          </a:p>
          <a:p>
            <a:r>
              <a:rPr lang="en-US" dirty="0"/>
              <a:t>"We built one application together."</a:t>
            </a:r>
          </a:p>
          <a:p>
            <a:endParaRPr lang="en-US" dirty="0"/>
          </a:p>
          <a:p>
            <a:r>
              <a:rPr lang="en-US" dirty="0"/>
              <a:t>------------------------------------------------------------</a:t>
            </a:r>
          </a:p>
          <a:p>
            <a:endParaRPr lang="en-US" dirty="0"/>
          </a:p>
          <a:p>
            <a:r>
              <a:rPr lang="en-US" dirty="0"/>
              <a:t>BEFORE &amp; AFTER</a:t>
            </a:r>
          </a:p>
          <a:p>
            <a:endParaRPr lang="en-US" dirty="0"/>
          </a:p>
          <a:p>
            <a:r>
              <a:rPr lang="en-US" dirty="0"/>
              <a:t>Point to the comparison.</a:t>
            </a:r>
          </a:p>
          <a:p>
            <a:endParaRPr lang="en-US" dirty="0"/>
          </a:p>
          <a:p>
            <a:r>
              <a:rPr lang="en-US" dirty="0"/>
              <a:t>BEFORE</a:t>
            </a:r>
          </a:p>
          <a:p>
            <a:endParaRPr lang="en-US" dirty="0"/>
          </a:p>
          <a:p>
            <a:r>
              <a:rPr lang="en-US" dirty="0"/>
              <a:t>Wireframes.</a:t>
            </a:r>
          </a:p>
          <a:p>
            <a:endParaRPr lang="en-US" dirty="0"/>
          </a:p>
          <a:p>
            <a:r>
              <a:rPr lang="en-US" dirty="0"/>
              <a:t>Ideas.</a:t>
            </a:r>
          </a:p>
          <a:p>
            <a:endParaRPr lang="en-US" dirty="0"/>
          </a:p>
          <a:p>
            <a:r>
              <a:rPr lang="en-US" dirty="0"/>
              <a:t>Sketches.</a:t>
            </a:r>
          </a:p>
          <a:p>
            <a:endParaRPr lang="en-US" dirty="0"/>
          </a:p>
          <a:p>
            <a:r>
              <a:rPr lang="en-US" dirty="0"/>
              <a:t>No application.</a:t>
            </a:r>
          </a:p>
          <a:p>
            <a:endParaRPr lang="en-US" dirty="0"/>
          </a:p>
          <a:p>
            <a:r>
              <a:rPr lang="en-US" dirty="0"/>
              <a:t>AFTER</a:t>
            </a:r>
          </a:p>
          <a:p>
            <a:endParaRPr lang="en-US" dirty="0"/>
          </a:p>
          <a:p>
            <a:r>
              <a:rPr lang="en-US" dirty="0"/>
              <a:t>Running MVC application.</a:t>
            </a:r>
          </a:p>
          <a:p>
            <a:endParaRPr lang="en-US" dirty="0"/>
          </a:p>
          <a:p>
            <a:r>
              <a:rPr lang="en-US" dirty="0"/>
              <a:t>Professional interface.</a:t>
            </a:r>
          </a:p>
          <a:p>
            <a:endParaRPr lang="en-US" dirty="0"/>
          </a:p>
          <a:p>
            <a:r>
              <a:rPr lang="en-US" dirty="0"/>
              <a:t>Cloud deployment.</a:t>
            </a:r>
          </a:p>
          <a:p>
            <a:endParaRPr lang="en-US" dirty="0"/>
          </a:p>
          <a:p>
            <a:r>
              <a:rPr lang="en-US" dirty="0"/>
              <a:t>Live URL.</a:t>
            </a:r>
          </a:p>
          <a:p>
            <a:endParaRPr lang="en-US" dirty="0"/>
          </a:p>
          <a:p>
            <a:r>
              <a:rPr lang="en-US" dirty="0"/>
              <a:t>Ask:</a:t>
            </a:r>
          </a:p>
          <a:p>
            <a:endParaRPr lang="en-US" dirty="0"/>
          </a:p>
          <a:p>
            <a:r>
              <a:rPr lang="en-US" dirty="0"/>
              <a:t>"Which side would you rather demonstrate to an employer?"</a:t>
            </a:r>
          </a:p>
          <a:p>
            <a:endParaRPr lang="en-US" dirty="0"/>
          </a:p>
          <a:p>
            <a:r>
              <a:rPr lang="en-US" dirty="0"/>
              <a:t>Students usually smile.</a:t>
            </a:r>
          </a:p>
          <a:p>
            <a:endParaRPr lang="en-US" dirty="0"/>
          </a:p>
          <a:p>
            <a:r>
              <a:rPr lang="en-US" dirty="0"/>
              <a:t>------------------------------------------------------------</a:t>
            </a:r>
          </a:p>
          <a:p>
            <a:endParaRPr lang="en-US" dirty="0"/>
          </a:p>
          <a:p>
            <a:r>
              <a:rPr lang="en-US" dirty="0"/>
              <a:t>WHAT WE ACCOMPLISHED</a:t>
            </a:r>
          </a:p>
          <a:p>
            <a:endParaRPr lang="en-US" dirty="0"/>
          </a:p>
          <a:p>
            <a:r>
              <a:rPr lang="en-US" dirty="0"/>
              <a:t>Discuss each area.</a:t>
            </a:r>
          </a:p>
          <a:p>
            <a:endParaRPr lang="en-US" dirty="0"/>
          </a:p>
          <a:p>
            <a:r>
              <a:rPr lang="en-US" dirty="0"/>
              <a:t>Engineering Mindset</a:t>
            </a:r>
          </a:p>
          <a:p>
            <a:endParaRPr lang="en-US" dirty="0"/>
          </a:p>
          <a:p>
            <a:r>
              <a:rPr lang="en-US" dirty="0"/>
              <a:t>Planning before coding.</a:t>
            </a:r>
          </a:p>
          <a:p>
            <a:endParaRPr lang="en-US" dirty="0"/>
          </a:p>
          <a:p>
            <a:r>
              <a:rPr lang="en-US" dirty="0"/>
              <a:t>MVC Structure</a:t>
            </a:r>
          </a:p>
          <a:p>
            <a:endParaRPr lang="en-US" dirty="0"/>
          </a:p>
          <a:p>
            <a:r>
              <a:rPr lang="en-US" dirty="0"/>
              <a:t>Organizing software.</a:t>
            </a:r>
          </a:p>
          <a:p>
            <a:endParaRPr lang="en-US" dirty="0"/>
          </a:p>
          <a:p>
            <a:r>
              <a:rPr lang="en-US" dirty="0"/>
              <a:t>User Interface</a:t>
            </a:r>
          </a:p>
          <a:p>
            <a:endParaRPr lang="en-US" dirty="0"/>
          </a:p>
          <a:p>
            <a:r>
              <a:rPr lang="en-US" dirty="0"/>
              <a:t>Building for users.</a:t>
            </a:r>
          </a:p>
          <a:p>
            <a:endParaRPr lang="en-US" dirty="0"/>
          </a:p>
          <a:p>
            <a:r>
              <a:rPr lang="en-US" dirty="0"/>
              <a:t>Quality &amp; Testing</a:t>
            </a:r>
          </a:p>
          <a:p>
            <a:endParaRPr lang="en-US" dirty="0"/>
          </a:p>
          <a:p>
            <a:r>
              <a:rPr lang="en-US" dirty="0"/>
              <a:t>Finding problems before users do.</a:t>
            </a:r>
          </a:p>
          <a:p>
            <a:endParaRPr lang="en-US" dirty="0"/>
          </a:p>
          <a:p>
            <a:r>
              <a:rPr lang="en-US" dirty="0"/>
              <a:t>Cloud Deployment</a:t>
            </a:r>
          </a:p>
          <a:p>
            <a:endParaRPr lang="en-US" dirty="0"/>
          </a:p>
          <a:p>
            <a:r>
              <a:rPr lang="en-US" dirty="0"/>
              <a:t>Making software available anywhere.</a:t>
            </a:r>
          </a:p>
          <a:p>
            <a:endParaRPr lang="en-US" dirty="0"/>
          </a:p>
          <a:p>
            <a:r>
              <a:rPr lang="en-US" dirty="0"/>
              <a:t>Explain.</a:t>
            </a:r>
          </a:p>
          <a:p>
            <a:endParaRPr lang="en-US" dirty="0"/>
          </a:p>
          <a:p>
            <a:r>
              <a:rPr lang="en-US" dirty="0"/>
              <a:t>"These aren't isolated skills."</a:t>
            </a:r>
          </a:p>
          <a:p>
            <a:endParaRPr lang="en-US" dirty="0"/>
          </a:p>
          <a:p>
            <a:r>
              <a:rPr lang="en-US" dirty="0"/>
              <a:t>"They're habits."</a:t>
            </a:r>
          </a:p>
          <a:p>
            <a:endParaRPr lang="en-US" dirty="0"/>
          </a:p>
          <a:p>
            <a:r>
              <a:rPr lang="en-US" dirty="0"/>
              <a:t>------------------------------------------------------------</a:t>
            </a:r>
          </a:p>
          <a:p>
            <a:endParaRPr lang="en-US" dirty="0"/>
          </a:p>
          <a:p>
            <a:r>
              <a:rPr lang="en-US" dirty="0"/>
              <a:t>KEY TAKEAWAYS</a:t>
            </a:r>
          </a:p>
          <a:p>
            <a:endParaRPr lang="en-US" dirty="0"/>
          </a:p>
          <a:p>
            <a:r>
              <a:rPr lang="en-US" dirty="0"/>
              <a:t>Walk through each lesson.</a:t>
            </a:r>
          </a:p>
          <a:p>
            <a:endParaRPr lang="en-US" dirty="0"/>
          </a:p>
          <a:p>
            <a:r>
              <a:rPr lang="en-US" dirty="0"/>
              <a:t>Design drives development.</a:t>
            </a:r>
          </a:p>
          <a:p>
            <a:endParaRPr lang="en-US" dirty="0"/>
          </a:p>
          <a:p>
            <a:r>
              <a:rPr lang="en-US" dirty="0"/>
              <a:t>Architecture matters.</a:t>
            </a:r>
          </a:p>
          <a:p>
            <a:endParaRPr lang="en-US" dirty="0"/>
          </a:p>
          <a:p>
            <a:r>
              <a:rPr lang="en-US" dirty="0"/>
              <a:t>Testing builds quality.</a:t>
            </a:r>
          </a:p>
          <a:p>
            <a:endParaRPr lang="en-US" dirty="0"/>
          </a:p>
          <a:p>
            <a:r>
              <a:rPr lang="en-US" dirty="0"/>
              <a:t>Deployment delivers value.</a:t>
            </a:r>
          </a:p>
          <a:p>
            <a:endParaRPr lang="en-US" dirty="0"/>
          </a:p>
          <a:p>
            <a:r>
              <a:rPr lang="en-US" dirty="0"/>
              <a:t>Explain.</a:t>
            </a:r>
          </a:p>
          <a:p>
            <a:endParaRPr lang="en-US" dirty="0"/>
          </a:p>
          <a:p>
            <a:r>
              <a:rPr lang="en-US" dirty="0"/>
              <a:t>"Technology changes."</a:t>
            </a:r>
          </a:p>
          <a:p>
            <a:endParaRPr lang="en-US" dirty="0"/>
          </a:p>
          <a:p>
            <a:r>
              <a:rPr lang="en-US" dirty="0"/>
              <a:t>"These ideas don't."</a:t>
            </a:r>
          </a:p>
          <a:p>
            <a:endParaRPr lang="en-US" dirty="0"/>
          </a:p>
          <a:p>
            <a:r>
              <a:rPr lang="en-US" dirty="0"/>
              <a:t>"They're engineering principles."</a:t>
            </a:r>
          </a:p>
          <a:p>
            <a:endParaRPr lang="en-US" dirty="0"/>
          </a:p>
          <a:p>
            <a:r>
              <a:rPr lang="en-US" dirty="0"/>
              <a:t>------------------------------------------------------------</a:t>
            </a:r>
          </a:p>
          <a:p>
            <a:endParaRPr lang="en-US" dirty="0"/>
          </a:p>
          <a:p>
            <a:r>
              <a:rPr lang="en-US" dirty="0"/>
              <a:t>LESSONS LEARNED</a:t>
            </a:r>
          </a:p>
          <a:p>
            <a:endParaRPr lang="en-US" dirty="0"/>
          </a:p>
          <a:p>
            <a:r>
              <a:rPr lang="en-US" dirty="0"/>
              <a:t>Read each item.</a:t>
            </a:r>
          </a:p>
          <a:p>
            <a:endParaRPr lang="en-US" dirty="0"/>
          </a:p>
          <a:p>
            <a:r>
              <a:rPr lang="en-US" dirty="0"/>
              <a:t>Plan before you code.</a:t>
            </a:r>
          </a:p>
          <a:p>
            <a:endParaRPr lang="en-US" dirty="0"/>
          </a:p>
          <a:p>
            <a:r>
              <a:rPr lang="en-US" dirty="0"/>
              <a:t>Follow architecture.</a:t>
            </a:r>
          </a:p>
          <a:p>
            <a:endParaRPr lang="en-US" dirty="0"/>
          </a:p>
          <a:p>
            <a:r>
              <a:rPr lang="en-US" dirty="0"/>
              <a:t>Build one feature at a time.</a:t>
            </a:r>
          </a:p>
          <a:p>
            <a:endParaRPr lang="en-US" dirty="0"/>
          </a:p>
          <a:p>
            <a:r>
              <a:rPr lang="en-US" dirty="0"/>
              <a:t>Test often.</a:t>
            </a:r>
          </a:p>
          <a:p>
            <a:endParaRPr lang="en-US" dirty="0"/>
          </a:p>
          <a:p>
            <a:r>
              <a:rPr lang="en-US" dirty="0"/>
              <a:t>Improve continuously.</a:t>
            </a:r>
          </a:p>
          <a:p>
            <a:endParaRPr lang="en-US" dirty="0"/>
          </a:p>
          <a:p>
            <a:r>
              <a:rPr lang="en-US" dirty="0"/>
              <a:t>Deployment isn't the end.</a:t>
            </a:r>
          </a:p>
          <a:p>
            <a:endParaRPr lang="en-US" dirty="0"/>
          </a:p>
          <a:p>
            <a:r>
              <a:rPr lang="en-US" dirty="0"/>
              <a:t>Pause.</a:t>
            </a:r>
          </a:p>
          <a:p>
            <a:endParaRPr lang="en-US" dirty="0"/>
          </a:p>
          <a:p>
            <a:r>
              <a:rPr lang="en-US" dirty="0"/>
              <a:t>"It's the beginning."</a:t>
            </a:r>
          </a:p>
          <a:p>
            <a:endParaRPr lang="en-US" dirty="0"/>
          </a:p>
          <a:p>
            <a:r>
              <a:rPr lang="en-US" dirty="0"/>
              <a:t>Explain why.</a:t>
            </a:r>
          </a:p>
          <a:p>
            <a:endParaRPr lang="en-US" dirty="0"/>
          </a:p>
          <a:p>
            <a:r>
              <a:rPr lang="en-US" dirty="0"/>
              <a:t>"Deployment simply means..."</a:t>
            </a:r>
          </a:p>
          <a:p>
            <a:endParaRPr lang="en-US" dirty="0"/>
          </a:p>
          <a:p>
            <a:r>
              <a:rPr lang="en-US" dirty="0"/>
              <a:t>"Now people can start using your software."</a:t>
            </a:r>
          </a:p>
          <a:p>
            <a:endParaRPr lang="en-US" dirty="0"/>
          </a:p>
          <a:p>
            <a:r>
              <a:rPr lang="en-US" dirty="0"/>
              <a:t>------------------------------------------------------------</a:t>
            </a:r>
          </a:p>
          <a:p>
            <a:endParaRPr lang="en-US" dirty="0"/>
          </a:p>
          <a:p>
            <a:r>
              <a:rPr lang="en-US" dirty="0"/>
              <a:t>RETROSPECTIVE CHALLENGE</a:t>
            </a:r>
          </a:p>
          <a:p>
            <a:endParaRPr lang="en-US" dirty="0"/>
          </a:p>
          <a:p>
            <a:r>
              <a:rPr lang="en-US" dirty="0"/>
              <a:t>Have students open their engineering journal.</a:t>
            </a:r>
          </a:p>
          <a:p>
            <a:endParaRPr lang="en-US" dirty="0"/>
          </a:p>
          <a:p>
            <a:r>
              <a:rPr lang="en-US" dirty="0"/>
              <a:t>Ask them to answer:</a:t>
            </a:r>
          </a:p>
          <a:p>
            <a:endParaRPr lang="en-US" dirty="0"/>
          </a:p>
          <a:p>
            <a:r>
              <a:rPr lang="en-US" dirty="0"/>
              <a:t>What was your biggest success?</a:t>
            </a:r>
          </a:p>
          <a:p>
            <a:endParaRPr lang="en-US" dirty="0"/>
          </a:p>
          <a:p>
            <a:r>
              <a:rPr lang="en-US" dirty="0"/>
              <a:t>What challenged you the most?</a:t>
            </a:r>
          </a:p>
          <a:p>
            <a:endParaRPr lang="en-US" dirty="0"/>
          </a:p>
          <a:p>
            <a:r>
              <a:rPr lang="en-US" dirty="0"/>
              <a:t>What are you most proud of?</a:t>
            </a:r>
          </a:p>
          <a:p>
            <a:endParaRPr lang="en-US" dirty="0"/>
          </a:p>
          <a:p>
            <a:r>
              <a:rPr lang="en-US" dirty="0"/>
              <a:t>If you built Atlas </a:t>
            </a:r>
            <a:r>
              <a:rPr lang="en-US" dirty="0" err="1"/>
              <a:t>TaskFlow</a:t>
            </a:r>
            <a:r>
              <a:rPr lang="en-US" dirty="0"/>
              <a:t> again...</a:t>
            </a:r>
          </a:p>
          <a:p>
            <a:endParaRPr lang="en-US" dirty="0"/>
          </a:p>
          <a:p>
            <a:r>
              <a:rPr lang="en-US" dirty="0"/>
              <a:t>What would you improve?</a:t>
            </a:r>
          </a:p>
          <a:p>
            <a:endParaRPr lang="en-US" dirty="0"/>
          </a:p>
          <a:p>
            <a:r>
              <a:rPr lang="en-US" dirty="0"/>
              <a:t>Allow time for writing.</a:t>
            </a:r>
          </a:p>
          <a:p>
            <a:endParaRPr lang="en-US" dirty="0"/>
          </a:p>
          <a:p>
            <a:r>
              <a:rPr lang="en-US" dirty="0"/>
              <a:t>Then invite volunteers to share.</a:t>
            </a:r>
          </a:p>
          <a:p>
            <a:endParaRPr lang="en-US" dirty="0"/>
          </a:p>
          <a:p>
            <a:r>
              <a:rPr lang="en-US" dirty="0"/>
              <a:t>------------------------------------------------------------</a:t>
            </a:r>
          </a:p>
          <a:p>
            <a:endParaRPr lang="en-US" dirty="0"/>
          </a:p>
          <a:p>
            <a:r>
              <a:rPr lang="en-US" dirty="0"/>
              <a:t>THE QUOTE</a:t>
            </a:r>
          </a:p>
          <a:p>
            <a:endParaRPr lang="en-US" dirty="0"/>
          </a:p>
          <a:p>
            <a:r>
              <a:rPr lang="en-US" dirty="0"/>
              <a:t>Read the quote.</a:t>
            </a:r>
          </a:p>
          <a:p>
            <a:endParaRPr lang="en-US" dirty="0"/>
          </a:p>
          <a:p>
            <a:r>
              <a:rPr lang="en-US" dirty="0"/>
              <a:t>"Alone we can do so little..."</a:t>
            </a:r>
          </a:p>
          <a:p>
            <a:endParaRPr lang="en-US" dirty="0"/>
          </a:p>
          <a:p>
            <a:r>
              <a:rPr lang="en-US" dirty="0"/>
              <a:t>"Together we can do so much."</a:t>
            </a:r>
          </a:p>
          <a:p>
            <a:endParaRPr lang="en-US" dirty="0"/>
          </a:p>
          <a:p>
            <a:r>
              <a:rPr lang="en-US" dirty="0"/>
              <a:t>Explain.</a:t>
            </a:r>
          </a:p>
          <a:p>
            <a:endParaRPr lang="en-US" dirty="0"/>
          </a:p>
          <a:p>
            <a:r>
              <a:rPr lang="en-US" dirty="0"/>
              <a:t>"No engineer builds software entirely alone."</a:t>
            </a:r>
          </a:p>
          <a:p>
            <a:endParaRPr lang="en-US" dirty="0"/>
          </a:p>
          <a:p>
            <a:r>
              <a:rPr lang="en-US" dirty="0"/>
              <a:t>"Software is a team sport."</a:t>
            </a:r>
          </a:p>
          <a:p>
            <a:endParaRPr lang="en-US" dirty="0"/>
          </a:p>
          <a:p>
            <a:r>
              <a:rPr lang="en-US" dirty="0"/>
              <a:t>Relate it to:</a:t>
            </a:r>
          </a:p>
          <a:p>
            <a:endParaRPr lang="en-US" dirty="0"/>
          </a:p>
          <a:p>
            <a:r>
              <a:rPr lang="en-US" dirty="0"/>
              <a:t>Code reviews.</a:t>
            </a:r>
          </a:p>
          <a:p>
            <a:endParaRPr lang="en-US" dirty="0"/>
          </a:p>
          <a:p>
            <a:r>
              <a:rPr lang="en-US" dirty="0"/>
              <a:t>Testing.</a:t>
            </a:r>
          </a:p>
          <a:p>
            <a:endParaRPr lang="en-US" dirty="0"/>
          </a:p>
          <a:p>
            <a:r>
              <a:rPr lang="en-US" dirty="0"/>
              <a:t>Design.</a:t>
            </a:r>
          </a:p>
          <a:p>
            <a:endParaRPr lang="en-US" dirty="0"/>
          </a:p>
          <a:p>
            <a:r>
              <a:rPr lang="en-US" dirty="0"/>
              <a:t>Deployment.</a:t>
            </a:r>
          </a:p>
          <a:p>
            <a:endParaRPr lang="en-US" dirty="0"/>
          </a:p>
          <a:p>
            <a:r>
              <a:rPr lang="en-US" dirty="0"/>
              <a:t>Professional collaboration.</a:t>
            </a:r>
          </a:p>
          <a:p>
            <a:endParaRPr lang="en-US" dirty="0"/>
          </a:p>
          <a:p>
            <a:r>
              <a:rPr lang="en-US" dirty="0"/>
              <a:t>------------------------------------------------------------</a:t>
            </a:r>
          </a:p>
          <a:p>
            <a:endParaRPr lang="en-US" dirty="0"/>
          </a:p>
          <a:p>
            <a:r>
              <a:rPr lang="en-US" dirty="0"/>
              <a:t>SPRINT ROADMAP</a:t>
            </a:r>
          </a:p>
          <a:p>
            <a:endParaRPr lang="en-US" dirty="0"/>
          </a:p>
          <a:p>
            <a:r>
              <a:rPr lang="en-US" dirty="0"/>
              <a:t>Review the complete journey.</a:t>
            </a:r>
          </a:p>
          <a:p>
            <a:endParaRPr lang="en-US" dirty="0"/>
          </a:p>
          <a:p>
            <a:r>
              <a:rPr lang="en-US" dirty="0"/>
              <a:t>Sprint 0</a:t>
            </a:r>
          </a:p>
          <a:p>
            <a:endParaRPr lang="en-US" dirty="0"/>
          </a:p>
          <a:p>
            <a:r>
              <a:rPr lang="en-US" dirty="0"/>
              <a:t>Joined Atlas.</a:t>
            </a:r>
          </a:p>
          <a:p>
            <a:endParaRPr lang="en-US" dirty="0"/>
          </a:p>
          <a:p>
            <a:r>
              <a:rPr lang="en-US" dirty="0"/>
              <a:t>Sprint 1</a:t>
            </a:r>
          </a:p>
          <a:p>
            <a:endParaRPr lang="en-US" dirty="0"/>
          </a:p>
          <a:p>
            <a:r>
              <a:rPr lang="en-US" dirty="0"/>
              <a:t>Think like an engineer.</a:t>
            </a:r>
          </a:p>
          <a:p>
            <a:endParaRPr lang="en-US" dirty="0"/>
          </a:p>
          <a:p>
            <a:r>
              <a:rPr lang="en-US" dirty="0"/>
              <a:t>Sprint 2</a:t>
            </a:r>
          </a:p>
          <a:p>
            <a:endParaRPr lang="en-US" dirty="0"/>
          </a:p>
          <a:p>
            <a:r>
              <a:rPr lang="en-US" dirty="0"/>
              <a:t>Understand SaaS.</a:t>
            </a:r>
          </a:p>
          <a:p>
            <a:endParaRPr lang="en-US" dirty="0"/>
          </a:p>
          <a:p>
            <a:r>
              <a:rPr lang="en-US" dirty="0"/>
              <a:t>Sprint 3</a:t>
            </a:r>
          </a:p>
          <a:p>
            <a:endParaRPr lang="en-US" dirty="0"/>
          </a:p>
          <a:p>
            <a:r>
              <a:rPr lang="en-US" dirty="0"/>
              <a:t>Design.</a:t>
            </a:r>
          </a:p>
          <a:p>
            <a:endParaRPr lang="en-US" dirty="0"/>
          </a:p>
          <a:p>
            <a:r>
              <a:rPr lang="en-US" dirty="0"/>
              <a:t>Sprint 4</a:t>
            </a:r>
          </a:p>
          <a:p>
            <a:endParaRPr lang="en-US" dirty="0"/>
          </a:p>
          <a:p>
            <a:r>
              <a:rPr lang="en-US" dirty="0"/>
              <a:t>Build and Deploy.</a:t>
            </a:r>
          </a:p>
          <a:p>
            <a:endParaRPr lang="en-US" dirty="0"/>
          </a:p>
          <a:p>
            <a:r>
              <a:rPr lang="en-US" dirty="0"/>
              <a:t>Pause.</a:t>
            </a:r>
          </a:p>
          <a:p>
            <a:endParaRPr lang="en-US" dirty="0"/>
          </a:p>
          <a:p>
            <a:r>
              <a:rPr lang="en-US" dirty="0"/>
              <a:t>Then point to Sprint 5.</a:t>
            </a:r>
          </a:p>
          <a:p>
            <a:endParaRPr lang="en-US" dirty="0"/>
          </a:p>
          <a:p>
            <a:r>
              <a:rPr lang="en-US" dirty="0"/>
              <a:t>"Our journey isn't over."</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"Our application looks great."</a:t>
            </a:r>
          </a:p>
          <a:p>
            <a:endParaRPr lang="en-US" dirty="0"/>
          </a:p>
          <a:p>
            <a:r>
              <a:rPr lang="en-US" dirty="0"/>
              <a:t>"It runs."</a:t>
            </a:r>
          </a:p>
          <a:p>
            <a:endParaRPr lang="en-US" dirty="0"/>
          </a:p>
          <a:p>
            <a:r>
              <a:rPr lang="en-US" dirty="0"/>
              <a:t>"It's online."</a:t>
            </a:r>
          </a:p>
          <a:p>
            <a:endParaRPr lang="en-US" dirty="0"/>
          </a:p>
          <a:p>
            <a:r>
              <a:rPr lang="en-US" dirty="0"/>
              <a:t>"But what's missing?"</a:t>
            </a:r>
          </a:p>
          <a:p>
            <a:endParaRPr lang="en-US" dirty="0"/>
          </a:p>
          <a:p>
            <a:r>
              <a:rPr lang="en-US" dirty="0"/>
              <a:t>Students answer:</a:t>
            </a:r>
          </a:p>
          <a:p>
            <a:endParaRPr lang="en-US" dirty="0"/>
          </a:p>
          <a:p>
            <a:r>
              <a:rPr lang="en-US" dirty="0"/>
              <a:t>"It doesn't remember anything."</a:t>
            </a:r>
          </a:p>
          <a:p>
            <a:endParaRPr lang="en-US" dirty="0"/>
          </a:p>
          <a:p>
            <a:r>
              <a:rPr lang="en-US" dirty="0"/>
              <a:t>Exactly.</a:t>
            </a:r>
          </a:p>
          <a:p>
            <a:endParaRPr lang="en-US" dirty="0"/>
          </a:p>
          <a:p>
            <a:r>
              <a:rPr lang="en-US" dirty="0"/>
              <a:t>"Sprint 5 changes that."</a:t>
            </a:r>
          </a:p>
          <a:p>
            <a:endParaRPr lang="en-US" dirty="0"/>
          </a:p>
          <a:p>
            <a:r>
              <a:rPr lang="en-US" dirty="0"/>
              <a:t>"We're giving Atlas </a:t>
            </a:r>
            <a:r>
              <a:rPr lang="en-US" dirty="0" err="1"/>
              <a:t>TaskFlow</a:t>
            </a:r>
            <a:r>
              <a:rPr lang="en-US" dirty="0"/>
              <a:t> a memory."</a:t>
            </a:r>
          </a:p>
          <a:p>
            <a:endParaRPr lang="en-US" dirty="0"/>
          </a:p>
          <a:p>
            <a:r>
              <a:rPr lang="en-US" dirty="0"/>
              <a:t>------------------------------------------------------------</a:t>
            </a:r>
          </a:p>
          <a:p>
            <a:endParaRPr lang="en-US" dirty="0"/>
          </a:p>
          <a:p>
            <a:r>
              <a:rPr lang="en-US" dirty="0"/>
              <a:t>CLASS DISCUSSION</a:t>
            </a:r>
          </a:p>
          <a:p>
            <a:endParaRPr lang="en-US" dirty="0"/>
          </a:p>
          <a:p>
            <a:r>
              <a:rPr lang="en-US" dirty="0"/>
              <a:t>Ask students:</a:t>
            </a:r>
          </a:p>
          <a:p>
            <a:endParaRPr lang="en-US" dirty="0"/>
          </a:p>
          <a:p>
            <a:r>
              <a:rPr lang="en-US" dirty="0"/>
              <a:t>"What lesson changed the way you think about software?"</a:t>
            </a:r>
          </a:p>
          <a:p>
            <a:endParaRPr lang="en-US" dirty="0"/>
          </a:p>
          <a:p>
            <a:r>
              <a:rPr lang="en-US" dirty="0"/>
              <a:t>"What accomplishment are you most proud of?"</a:t>
            </a:r>
          </a:p>
          <a:p>
            <a:endParaRPr lang="en-US" dirty="0"/>
          </a:p>
          <a:p>
            <a:r>
              <a:rPr lang="en-US" dirty="0"/>
              <a:t>"What surprised you about building a web application?"</a:t>
            </a:r>
          </a:p>
          <a:p>
            <a:endParaRPr lang="en-US" dirty="0"/>
          </a:p>
          <a:p>
            <a:r>
              <a:rPr lang="en-US" dirty="0"/>
              <a:t>"What advice would you give next semester's students?"</a:t>
            </a:r>
          </a:p>
          <a:p>
            <a:endParaRPr lang="en-US" dirty="0"/>
          </a:p>
          <a:p>
            <a:r>
              <a:rPr lang="en-US" dirty="0"/>
              <a:t>Allow students to celebrate one another.</a:t>
            </a:r>
          </a:p>
          <a:p>
            <a:endParaRPr lang="en-US" dirty="0"/>
          </a:p>
          <a:p>
            <a:r>
              <a:rPr lang="en-US" dirty="0"/>
              <a:t>------------------------------------------------------------</a:t>
            </a:r>
          </a:p>
          <a:p>
            <a:endParaRPr lang="en-US" dirty="0"/>
          </a:p>
          <a:p>
            <a:r>
              <a:rPr lang="en-US" dirty="0"/>
              <a:t>THE MOMENT</a:t>
            </a:r>
          </a:p>
          <a:p>
            <a:endParaRPr lang="en-US" dirty="0"/>
          </a:p>
          <a:p>
            <a:r>
              <a:rPr lang="en-US" dirty="0"/>
              <a:t>This is the close of Sprint 4.</a:t>
            </a:r>
          </a:p>
          <a:p>
            <a:endParaRPr lang="en-US" dirty="0"/>
          </a:p>
          <a:p>
            <a:r>
              <a:rPr lang="en-US" dirty="0"/>
              <a:t>Walk to the center of the room.</a:t>
            </a:r>
          </a:p>
          <a:p>
            <a:endParaRPr lang="en-US" dirty="0"/>
          </a:p>
          <a:p>
            <a:r>
              <a:rPr lang="en-US" dirty="0"/>
              <a:t>Pause.</a:t>
            </a:r>
          </a:p>
          <a:p>
            <a:endParaRPr lang="en-US" dirty="0"/>
          </a:p>
          <a:p>
            <a:r>
              <a:rPr lang="en-US" dirty="0"/>
              <a:t>Then say...</a:t>
            </a:r>
          </a:p>
          <a:p>
            <a:endParaRPr lang="en-US" dirty="0"/>
          </a:p>
          <a:p>
            <a:r>
              <a:rPr lang="en-US" dirty="0"/>
              <a:t>"When we began this sprint..."</a:t>
            </a:r>
          </a:p>
          <a:p>
            <a:endParaRPr lang="en-US" dirty="0"/>
          </a:p>
          <a:p>
            <a:r>
              <a:rPr lang="en-US" dirty="0"/>
              <a:t>"Atlas </a:t>
            </a:r>
            <a:r>
              <a:rPr lang="en-US" dirty="0" err="1"/>
              <a:t>TaskFlow</a:t>
            </a:r>
            <a:r>
              <a:rPr lang="en-US" dirty="0"/>
              <a:t> was an idea."</a:t>
            </a:r>
          </a:p>
          <a:p>
            <a:endParaRPr lang="en-US" dirty="0"/>
          </a:p>
          <a:p>
            <a:r>
              <a:rPr lang="en-US" dirty="0"/>
              <a:t>"You designed it."</a:t>
            </a:r>
          </a:p>
          <a:p>
            <a:endParaRPr lang="en-US" dirty="0"/>
          </a:p>
          <a:p>
            <a:r>
              <a:rPr lang="en-US" dirty="0"/>
              <a:t>"You organized it."</a:t>
            </a:r>
          </a:p>
          <a:p>
            <a:endParaRPr lang="en-US" dirty="0"/>
          </a:p>
          <a:p>
            <a:r>
              <a:rPr lang="en-US" dirty="0"/>
              <a:t>"You built it."</a:t>
            </a:r>
          </a:p>
          <a:p>
            <a:endParaRPr lang="en-US" dirty="0"/>
          </a:p>
          <a:p>
            <a:r>
              <a:rPr lang="en-US" dirty="0"/>
              <a:t>"You tested it."</a:t>
            </a:r>
          </a:p>
          <a:p>
            <a:endParaRPr lang="en-US" dirty="0"/>
          </a:p>
          <a:p>
            <a:r>
              <a:rPr lang="en-US" dirty="0"/>
              <a:t>"You deployed it."</a:t>
            </a:r>
          </a:p>
          <a:p>
            <a:endParaRPr lang="en-US" dirty="0"/>
          </a:p>
          <a:p>
            <a:r>
              <a:rPr lang="en-US" dirty="0"/>
              <a:t>Pause.</a:t>
            </a:r>
          </a:p>
          <a:p>
            <a:endParaRPr lang="en-US" dirty="0"/>
          </a:p>
          <a:p>
            <a:r>
              <a:rPr lang="en-US" dirty="0"/>
              <a:t>"And now..."</a:t>
            </a:r>
          </a:p>
          <a:p>
            <a:endParaRPr lang="en-US" dirty="0"/>
          </a:p>
          <a:p>
            <a:r>
              <a:rPr lang="en-US" dirty="0"/>
              <a:t>"It's real."</a:t>
            </a:r>
          </a:p>
          <a:p>
            <a:endParaRPr lang="en-US" dirty="0"/>
          </a:p>
          <a:p>
            <a:r>
              <a:rPr lang="en-US" dirty="0"/>
              <a:t>Long pause.</a:t>
            </a:r>
          </a:p>
          <a:p>
            <a:endParaRPr lang="en-US" dirty="0"/>
          </a:p>
          <a:p>
            <a:r>
              <a:rPr lang="en-US" dirty="0"/>
              <a:t>"Take a moment."</a:t>
            </a:r>
          </a:p>
          <a:p>
            <a:endParaRPr lang="en-US" dirty="0"/>
          </a:p>
          <a:p>
            <a:r>
              <a:rPr lang="en-US" dirty="0"/>
              <a:t>"That's something you created."</a:t>
            </a:r>
          </a:p>
          <a:p>
            <a:endParaRPr lang="en-US" dirty="0"/>
          </a:p>
          <a:p>
            <a:r>
              <a:rPr lang="en-US" dirty="0"/>
              <a:t>------------------------------------------------------------</a:t>
            </a:r>
          </a:p>
          <a:p>
            <a:endParaRPr lang="en-US" dirty="0"/>
          </a:p>
          <a:p>
            <a:r>
              <a:rPr lang="en-US" dirty="0"/>
              <a:t>TRANSITION TO SPRINT 5</a:t>
            </a:r>
          </a:p>
          <a:p>
            <a:endParaRPr lang="en-US" dirty="0"/>
          </a:p>
          <a:p>
            <a:r>
              <a:rPr lang="en-US" dirty="0"/>
              <a:t>Smile.</a:t>
            </a:r>
          </a:p>
          <a:p>
            <a:endParaRPr lang="en-US" dirty="0"/>
          </a:p>
          <a:p>
            <a:r>
              <a:rPr lang="en-US" dirty="0"/>
              <a:t>Then ask:</a:t>
            </a:r>
          </a:p>
          <a:p>
            <a:endParaRPr lang="en-US" dirty="0"/>
          </a:p>
          <a:p>
            <a:r>
              <a:rPr lang="en-US" dirty="0"/>
              <a:t>"What happens if I close Atlas </a:t>
            </a:r>
            <a:r>
              <a:rPr lang="en-US" dirty="0" err="1"/>
              <a:t>TaskFlow</a:t>
            </a:r>
            <a:r>
              <a:rPr lang="en-US" dirty="0"/>
              <a:t> right now?"</a:t>
            </a:r>
          </a:p>
          <a:p>
            <a:endParaRPr lang="en-US" dirty="0"/>
          </a:p>
          <a:p>
            <a:r>
              <a:rPr lang="en-US" dirty="0"/>
              <a:t>Students answer:</a:t>
            </a:r>
          </a:p>
          <a:p>
            <a:endParaRPr lang="en-US" dirty="0"/>
          </a:p>
          <a:p>
            <a:r>
              <a:rPr lang="en-US" dirty="0"/>
              <a:t>"We lose everything."</a:t>
            </a:r>
          </a:p>
          <a:p>
            <a:endParaRPr lang="en-US" dirty="0"/>
          </a:p>
          <a:p>
            <a:r>
              <a:rPr lang="en-US" dirty="0"/>
              <a:t>Exactly.</a:t>
            </a:r>
          </a:p>
          <a:p>
            <a:endParaRPr lang="en-US" dirty="0"/>
          </a:p>
          <a:p>
            <a:r>
              <a:rPr lang="en-US" dirty="0"/>
              <a:t>"Our application has no memory."</a:t>
            </a:r>
          </a:p>
          <a:p>
            <a:endParaRPr lang="en-US" dirty="0"/>
          </a:p>
          <a:p>
            <a:r>
              <a:rPr lang="en-US" dirty="0"/>
              <a:t>"So next sprint..."</a:t>
            </a:r>
          </a:p>
          <a:p>
            <a:endParaRPr lang="en-US" dirty="0"/>
          </a:p>
          <a:p>
            <a:r>
              <a:rPr lang="en-US" dirty="0"/>
              <a:t>"We're going to teach it how to remember."</a:t>
            </a:r>
          </a:p>
          <a:p>
            <a:endParaRPr lang="en-US" dirty="0"/>
          </a:p>
          <a:p>
            <a:r>
              <a:rPr lang="en-US" dirty="0"/>
              <a:t>------------------------------------------------------------</a:t>
            </a:r>
          </a:p>
          <a:p>
            <a:endParaRPr lang="en-US" dirty="0"/>
          </a:p>
          <a:p>
            <a:r>
              <a:rPr lang="en-US" dirty="0"/>
              <a:t>ESTIMATED TIME</a:t>
            </a:r>
          </a:p>
          <a:p>
            <a:endParaRPr lang="en-US" dirty="0"/>
          </a:p>
          <a:p>
            <a:r>
              <a:rPr lang="en-US" dirty="0"/>
              <a:t>Sprint Reflection...................10 minutes</a:t>
            </a:r>
          </a:p>
          <a:p>
            <a:endParaRPr lang="en-US" dirty="0"/>
          </a:p>
          <a:p>
            <a:r>
              <a:rPr lang="en-US" dirty="0"/>
              <a:t>Journey Review......................10 minutes</a:t>
            </a:r>
          </a:p>
          <a:p>
            <a:endParaRPr lang="en-US" dirty="0"/>
          </a:p>
          <a:p>
            <a:r>
              <a:rPr lang="en-US" dirty="0"/>
              <a:t>Engineering Lessons.................10 minutes</a:t>
            </a:r>
          </a:p>
          <a:p>
            <a:endParaRPr lang="en-US" dirty="0"/>
          </a:p>
          <a:p>
            <a:r>
              <a:rPr lang="en-US" dirty="0"/>
              <a:t>Retrospective Activity..............20 minutes</a:t>
            </a:r>
          </a:p>
          <a:p>
            <a:endParaRPr lang="en-US" dirty="0"/>
          </a:p>
          <a:p>
            <a:r>
              <a:rPr lang="en-US" dirty="0"/>
              <a:t>Class Discussion....................10 minutes</a:t>
            </a:r>
          </a:p>
          <a:p>
            <a:endParaRPr lang="en-US" dirty="0"/>
          </a:p>
          <a:p>
            <a:r>
              <a:rPr lang="en-US" dirty="0"/>
              <a:t>Sprint Close.........................5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this lesson conversational.</a:t>
            </a:r>
          </a:p>
          <a:p>
            <a:endParaRPr lang="en-US" dirty="0"/>
          </a:p>
          <a:p>
            <a:r>
              <a:rPr lang="en-US" dirty="0"/>
              <a:t>Celebrate student accomplishments.</a:t>
            </a:r>
          </a:p>
          <a:p>
            <a:endParaRPr lang="en-US" dirty="0"/>
          </a:p>
          <a:p>
            <a:r>
              <a:rPr lang="en-US" dirty="0"/>
              <a:t>Allow students to demonstrate their live applications to one another.</a:t>
            </a:r>
          </a:p>
          <a:p>
            <a:endParaRPr lang="en-US" dirty="0"/>
          </a:p>
          <a:p>
            <a:r>
              <a:rPr lang="en-US" dirty="0"/>
              <a:t>Encourage discussion rather than lecture.</a:t>
            </a:r>
          </a:p>
          <a:p>
            <a:endParaRPr lang="en-US" dirty="0"/>
          </a:p>
          <a:p>
            <a:r>
              <a:rPr lang="en-US" dirty="0"/>
              <a:t>Students should leave feeling proud of what they have accomplished and</a:t>
            </a:r>
          </a:p>
          <a:p>
            <a:r>
              <a:rPr lang="en-US" dirty="0"/>
              <a:t>motivated for Sprint 5.</a:t>
            </a:r>
          </a:p>
          <a:p>
            <a:endParaRPr lang="en-US" dirty="0"/>
          </a:p>
          <a:p>
            <a:r>
              <a:rPr lang="en-US" dirty="0"/>
              <a:t>This is an opportunity to reinforce confidence.</a:t>
            </a:r>
          </a:p>
          <a:p>
            <a:endParaRPr lang="en-US" dirty="0"/>
          </a:p>
          <a:p>
            <a:r>
              <a:rPr lang="en-US" dirty="0"/>
              <a:t>Remind them that just a few weeks ago, many had never created or</a:t>
            </a:r>
          </a:p>
          <a:p>
            <a:r>
              <a:rPr lang="en-US" dirty="0"/>
              <a:t>deployed a web application.</a:t>
            </a:r>
          </a:p>
          <a:p>
            <a:endParaRPr lang="en-US" dirty="0"/>
          </a:p>
          <a:p>
            <a:r>
              <a:rPr lang="en-US" dirty="0"/>
              <a:t>Today they have a cloud-hosted SaaS application they can share with</a:t>
            </a:r>
          </a:p>
          <a:p>
            <a:r>
              <a:rPr lang="en-US" dirty="0"/>
              <a:t>others.</a:t>
            </a:r>
          </a:p>
          <a:p>
            <a:endParaRPr lang="en-US" dirty="0"/>
          </a:p>
          <a:p>
            <a:r>
              <a:rPr lang="en-US" dirty="0"/>
              <a:t>Close with:</a:t>
            </a:r>
          </a:p>
          <a:p>
            <a:endParaRPr lang="en-US" dirty="0"/>
          </a:p>
          <a:p>
            <a:r>
              <a:rPr lang="en-US" dirty="0"/>
              <a:t>"Engineers..."</a:t>
            </a:r>
          </a:p>
          <a:p>
            <a:endParaRPr lang="en-US" dirty="0"/>
          </a:p>
          <a:p>
            <a:r>
              <a:rPr lang="en-US" dirty="0"/>
              <a:t>"You didn't just complete Sprint 4."</a:t>
            </a:r>
          </a:p>
          <a:p>
            <a:endParaRPr lang="en-US" dirty="0"/>
          </a:p>
          <a:p>
            <a:r>
              <a:rPr lang="en-US" dirty="0"/>
              <a:t>"You crossed one of the biggest milestones in this course."</a:t>
            </a:r>
          </a:p>
          <a:p>
            <a:endParaRPr lang="en-US" dirty="0"/>
          </a:p>
          <a:p>
            <a:r>
              <a:rPr lang="en-US" dirty="0"/>
              <a:t>"You turned an idea into a live application."</a:t>
            </a:r>
          </a:p>
          <a:p>
            <a:endParaRPr lang="en-US" dirty="0"/>
          </a:p>
          <a:p>
            <a:r>
              <a:rPr lang="en-US" dirty="0"/>
              <a:t>"Take pride in that."</a:t>
            </a:r>
          </a:p>
          <a:p>
            <a:endParaRPr lang="en-US" dirty="0"/>
          </a:p>
          <a:p>
            <a:r>
              <a:rPr lang="en-US" dirty="0"/>
              <a:t>"Next sprint..."</a:t>
            </a:r>
          </a:p>
          <a:p>
            <a:endParaRPr lang="en-US" dirty="0"/>
          </a:p>
          <a:p>
            <a:r>
              <a:rPr lang="en-US" dirty="0"/>
              <a:t>"We make Atlas </a:t>
            </a:r>
            <a:r>
              <a:rPr lang="en-US" dirty="0" err="1"/>
              <a:t>TaskFlow</a:t>
            </a:r>
            <a:r>
              <a:rPr lang="en-US" dirty="0"/>
              <a:t> smarter."</a:t>
            </a:r>
          </a:p>
          <a:p>
            <a:endParaRPr lang="en-US" dirty="0"/>
          </a:p>
          <a:p>
            <a:r>
              <a:rPr lang="en-US" dirty="0"/>
              <a:t>============================================================</a:t>
            </a:r>
          </a:p>
        </p:txBody>
      </p:sp>
      <p:sp>
        <p:nvSpPr>
          <p:cNvPr id="4" name="Slide Number Placeholder 3"/>
          <p:cNvSpPr>
            <a:spLocks noGrp="1"/>
          </p:cNvSpPr>
          <p:nvPr>
            <p:ph type="sldNum" sz="quarter" idx="5"/>
          </p:nvPr>
        </p:nvSpPr>
        <p:spPr/>
        <p:txBody>
          <a:bodyPr/>
          <a:lstStyle/>
          <a:p>
            <a:fld id="{2FD926CD-6670-42D0-85D8-84B9A42AA528}" type="slidenum">
              <a:rPr lang="en-US" smtClean="0"/>
              <a:t>8</a:t>
            </a:fld>
            <a:endParaRPr lang="en-US"/>
          </a:p>
        </p:txBody>
      </p:sp>
    </p:spTree>
    <p:extLst>
      <p:ext uri="{BB962C8B-B14F-4D97-AF65-F5344CB8AC3E}">
        <p14:creationId xmlns:p14="http://schemas.microsoft.com/office/powerpoint/2010/main" val="2929867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3B934-6BAA-15B0-D63E-0FCC460B53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7A6284-61BE-5018-F7E6-5F29539781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9D4124-A9AA-F6F8-4EFD-520275023DBD}"/>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5" name="Footer Placeholder 4">
            <a:extLst>
              <a:ext uri="{FF2B5EF4-FFF2-40B4-BE49-F238E27FC236}">
                <a16:creationId xmlns:a16="http://schemas.microsoft.com/office/drawing/2014/main" id="{B8786836-1F45-006D-E660-CEE896ADD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8C9EC5-E5D4-F8B5-7B2A-11F84211BA83}"/>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445273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2D07-C5A2-C26F-DBF3-A2B5444B5C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8083B-ECD0-D236-36BB-628B68FF38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898E2-C8B0-DCB1-C56D-952A398885B4}"/>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5" name="Footer Placeholder 4">
            <a:extLst>
              <a:ext uri="{FF2B5EF4-FFF2-40B4-BE49-F238E27FC236}">
                <a16:creationId xmlns:a16="http://schemas.microsoft.com/office/drawing/2014/main" id="{60ED3AA5-36DA-CC1C-109D-B5AC54AE2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99E33-8994-6EE2-BBA4-ECDA8EE698E6}"/>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29635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191F-899D-1760-2DC4-9B6047A2C7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6524E4-1361-8BF8-1033-A5415868EB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E38280-761F-D861-3519-5CFB4715D650}"/>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5" name="Footer Placeholder 4">
            <a:extLst>
              <a:ext uri="{FF2B5EF4-FFF2-40B4-BE49-F238E27FC236}">
                <a16:creationId xmlns:a16="http://schemas.microsoft.com/office/drawing/2014/main" id="{9E4C3096-A02C-C237-B1F0-9DFE30151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27C2EB-39B4-AA2A-13D4-8611D9C5F13A}"/>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3798359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298FD-DFC9-C9E7-DB80-37BE5D5F32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66E0CD-BCF8-A5C5-D7EA-42A63416C7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ADE38A-FE62-DBBF-7FE1-DAE47AB472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6157F9-5A25-4326-3478-12667F6A207E}"/>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6" name="Footer Placeholder 5">
            <a:extLst>
              <a:ext uri="{FF2B5EF4-FFF2-40B4-BE49-F238E27FC236}">
                <a16:creationId xmlns:a16="http://schemas.microsoft.com/office/drawing/2014/main" id="{8BCC8B7F-C6AA-80A5-EBC1-8DC15F722A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63B45F-A7F6-6A72-EA01-C4B2EA89EC5A}"/>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127243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DB37-97A2-9C89-C661-8CAB335238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367739-F34B-2C6B-4CBE-7018E3C99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60413D-72AB-BA80-0588-A5CDA36BB4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9F1117-12D5-FFE1-A1B3-D3F8468DA7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F6C0B-9EFE-0A6F-ACE1-0897B29B1A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4A3A6C-B13E-9772-AEB5-A24C00500893}"/>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8" name="Footer Placeholder 7">
            <a:extLst>
              <a:ext uri="{FF2B5EF4-FFF2-40B4-BE49-F238E27FC236}">
                <a16:creationId xmlns:a16="http://schemas.microsoft.com/office/drawing/2014/main" id="{27F571A6-D8AC-7002-26B8-A955DB3585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4B458E-9BC0-0A0E-F8DA-493571ABEEEC}"/>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447524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093F-874D-3005-521A-86DB6009E9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69F234-89B7-7DC2-080E-F02131CE1317}"/>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4" name="Footer Placeholder 3">
            <a:extLst>
              <a:ext uri="{FF2B5EF4-FFF2-40B4-BE49-F238E27FC236}">
                <a16:creationId xmlns:a16="http://schemas.microsoft.com/office/drawing/2014/main" id="{2575AB5C-C9C5-F8D3-0B9D-17FAE1B35A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96DBD9-6258-3830-33CB-A6D848E0415F}"/>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684474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6D04BC-8855-05D8-4400-85262A13949D}"/>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3" name="Footer Placeholder 2">
            <a:extLst>
              <a:ext uri="{FF2B5EF4-FFF2-40B4-BE49-F238E27FC236}">
                <a16:creationId xmlns:a16="http://schemas.microsoft.com/office/drawing/2014/main" id="{7D4B7C09-949D-5F49-E021-6373073DFE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80DC88-639B-4C6D-9294-A330E9ED6115}"/>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2342266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F8CAA-6C32-D394-5A9B-8F3F0BD3EF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B2AF1C-575D-A286-44C2-2726EEFB9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6C83DB-A738-D38B-47F8-035EF369F3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DF8B8-0A24-1A92-48FB-E55C39E0CDB3}"/>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6" name="Footer Placeholder 5">
            <a:extLst>
              <a:ext uri="{FF2B5EF4-FFF2-40B4-BE49-F238E27FC236}">
                <a16:creationId xmlns:a16="http://schemas.microsoft.com/office/drawing/2014/main" id="{D9F7676D-C40A-8D9C-2747-3B5F938E1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2D8A7A-183A-6A4E-9FB1-29E48E526EBD}"/>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3898549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66E4-1990-8C7D-401F-F79CE4CE82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4A379D-3F1F-35A2-D711-C81B7357B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BFABC6-0091-408F-B7B3-8D5716D0DC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1AB750-3928-B62F-EC9A-84AC17570324}"/>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6" name="Footer Placeholder 5">
            <a:extLst>
              <a:ext uri="{FF2B5EF4-FFF2-40B4-BE49-F238E27FC236}">
                <a16:creationId xmlns:a16="http://schemas.microsoft.com/office/drawing/2014/main" id="{F5D63927-950C-E11E-DBA0-666220073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1618AE-A5D6-A45A-C3A0-EA15D67C748E}"/>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417806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3981F-A61F-0356-610E-9E62172E50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527870-3B8D-6C0C-5D60-456CB12C70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A6219-E32F-D49E-DCDE-56769E34C048}"/>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5" name="Footer Placeholder 4">
            <a:extLst>
              <a:ext uri="{FF2B5EF4-FFF2-40B4-BE49-F238E27FC236}">
                <a16:creationId xmlns:a16="http://schemas.microsoft.com/office/drawing/2014/main" id="{45972A5E-86DB-C782-F01F-0B4D428EE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40D34-C9EF-55F7-9EBF-8724652B254C}"/>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974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1979A0-4A75-0E45-8D77-4F91DCB57E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45FB37-764E-CB1C-64E3-FCD296DFFD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138DE-7C96-16A6-7E82-BE987A254F5A}"/>
              </a:ext>
            </a:extLst>
          </p:cNvPr>
          <p:cNvSpPr>
            <a:spLocks noGrp="1"/>
          </p:cNvSpPr>
          <p:nvPr>
            <p:ph type="dt" sz="half" idx="10"/>
          </p:nvPr>
        </p:nvSpPr>
        <p:spPr/>
        <p:txBody>
          <a:bodyPr/>
          <a:lstStyle/>
          <a:p>
            <a:fld id="{53B98D21-3A25-4DC3-9C2A-BAC14CF4D812}" type="datetimeFigureOut">
              <a:rPr lang="en-US" smtClean="0"/>
              <a:t>8/13/2026</a:t>
            </a:fld>
            <a:endParaRPr lang="en-US"/>
          </a:p>
        </p:txBody>
      </p:sp>
      <p:sp>
        <p:nvSpPr>
          <p:cNvPr id="5" name="Footer Placeholder 4">
            <a:extLst>
              <a:ext uri="{FF2B5EF4-FFF2-40B4-BE49-F238E27FC236}">
                <a16:creationId xmlns:a16="http://schemas.microsoft.com/office/drawing/2014/main" id="{1DDF104B-5C1E-6EE1-7BB1-0C23E6881D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5415ED-2CB8-86F3-FCCA-ED024938BD91}"/>
              </a:ext>
            </a:extLst>
          </p:cNvPr>
          <p:cNvSpPr>
            <a:spLocks noGrp="1"/>
          </p:cNvSpPr>
          <p:nvPr>
            <p:ph type="sldNum" sz="quarter" idx="12"/>
          </p:nvPr>
        </p:nvSpPr>
        <p:spPr/>
        <p:txBody>
          <a:bodyPr/>
          <a:lstStyle/>
          <a:p>
            <a:fld id="{26615022-5478-4238-8960-A9C2076EAA43}" type="slidenum">
              <a:rPr lang="en-US" smtClean="0"/>
              <a:t>‹#›</a:t>
            </a:fld>
            <a:endParaRPr lang="en-US"/>
          </a:p>
        </p:txBody>
      </p:sp>
    </p:spTree>
    <p:extLst>
      <p:ext uri="{BB962C8B-B14F-4D97-AF65-F5344CB8AC3E}">
        <p14:creationId xmlns:p14="http://schemas.microsoft.com/office/powerpoint/2010/main" val="2357628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865C5-14D0-606A-5381-FCEEF25E62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3D6A2D-7AD7-D96C-43F1-F88D341B12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6FD215-204F-F2CB-1562-5F5FEC1E0F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B98D21-3A25-4DC3-9C2A-BAC14CF4D812}" type="datetimeFigureOut">
              <a:rPr lang="en-US" smtClean="0"/>
              <a:t>8/13/2026</a:t>
            </a:fld>
            <a:endParaRPr lang="en-US"/>
          </a:p>
        </p:txBody>
      </p:sp>
      <p:sp>
        <p:nvSpPr>
          <p:cNvPr id="5" name="Footer Placeholder 4">
            <a:extLst>
              <a:ext uri="{FF2B5EF4-FFF2-40B4-BE49-F238E27FC236}">
                <a16:creationId xmlns:a16="http://schemas.microsoft.com/office/drawing/2014/main" id="{01C08E75-74C8-7B1C-1367-BFCE8B4369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75A905-DB63-C952-102F-ABCA79D27A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615022-5478-4238-8960-A9C2076EAA43}" type="slidenum">
              <a:rPr lang="en-US" smtClean="0"/>
              <a:t>‹#›</a:t>
            </a:fld>
            <a:endParaRPr lang="en-US"/>
          </a:p>
        </p:txBody>
      </p:sp>
    </p:spTree>
    <p:extLst>
      <p:ext uri="{BB962C8B-B14F-4D97-AF65-F5344CB8AC3E}">
        <p14:creationId xmlns:p14="http://schemas.microsoft.com/office/powerpoint/2010/main" val="767584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F4B0-57C1-9BB0-5ACC-60D68381996D}"/>
              </a:ext>
            </a:extLst>
          </p:cNvPr>
          <p:cNvSpPr>
            <a:spLocks noGrp="1"/>
          </p:cNvSpPr>
          <p:nvPr>
            <p:ph type="ctrTitle"/>
          </p:nvPr>
        </p:nvSpPr>
        <p:spPr/>
        <p:txBody>
          <a:bodyPr/>
          <a:lstStyle/>
          <a:p>
            <a:r>
              <a:rPr lang="en-US" dirty="0"/>
              <a:t>4-01</a:t>
            </a:r>
          </a:p>
        </p:txBody>
      </p:sp>
      <p:sp>
        <p:nvSpPr>
          <p:cNvPr id="3" name="Subtitle 2">
            <a:extLst>
              <a:ext uri="{FF2B5EF4-FFF2-40B4-BE49-F238E27FC236}">
                <a16:creationId xmlns:a16="http://schemas.microsoft.com/office/drawing/2014/main" id="{13CC775F-48B3-A05C-E1FC-EFDBD57886F3}"/>
              </a:ext>
            </a:extLst>
          </p:cNvPr>
          <p:cNvSpPr>
            <a:spLocks noGrp="1"/>
          </p:cNvSpPr>
          <p:nvPr>
            <p:ph type="subTitle" idx="1"/>
          </p:nvPr>
        </p:nvSpPr>
        <p:spPr/>
        <p:txBody>
          <a:bodyPr/>
          <a:lstStyle/>
          <a:p>
            <a:endParaRPr lang="en-US"/>
          </a:p>
        </p:txBody>
      </p:sp>
      <p:pic>
        <p:nvPicPr>
          <p:cNvPr id="9" name="Picture 8" descr="A detailed infographic outlining Sprint 4 for building a SaaS application using Atlas TaskFlow, focusing on transforming a Flask design into a cloud-hosted app. It includes sections on sprint story, mission, learning outcomes, deliverables, success criteria, engineering mindset, and roadmap, with color-coded boxes and icons emphasizing key tasks, technologies, and goals.&#10;&#10;">
            <a:extLst>
              <a:ext uri="{FF2B5EF4-FFF2-40B4-BE49-F238E27FC236}">
                <a16:creationId xmlns:a16="http://schemas.microsoft.com/office/drawing/2014/main" id="{925970DF-902B-C2BE-F53D-32C37CACEADD}"/>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075336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D1EE3-9AD7-E039-6F64-EFCEC153FD27}"/>
              </a:ext>
            </a:extLst>
          </p:cNvPr>
          <p:cNvSpPr>
            <a:spLocks noGrp="1"/>
          </p:cNvSpPr>
          <p:nvPr>
            <p:ph type="title"/>
          </p:nvPr>
        </p:nvSpPr>
        <p:spPr/>
        <p:txBody>
          <a:bodyPr/>
          <a:lstStyle/>
          <a:p>
            <a:r>
              <a:rPr lang="en-US" dirty="0"/>
              <a:t>4-02</a:t>
            </a:r>
          </a:p>
        </p:txBody>
      </p:sp>
      <p:sp>
        <p:nvSpPr>
          <p:cNvPr id="3" name="Content Placeholder 2">
            <a:extLst>
              <a:ext uri="{FF2B5EF4-FFF2-40B4-BE49-F238E27FC236}">
                <a16:creationId xmlns:a16="http://schemas.microsoft.com/office/drawing/2014/main" id="{7E7E8C58-649C-BE2E-D2BA-F8CDCC6233E3}"/>
              </a:ext>
            </a:extLst>
          </p:cNvPr>
          <p:cNvSpPr>
            <a:spLocks noGrp="1"/>
          </p:cNvSpPr>
          <p:nvPr>
            <p:ph idx="1"/>
          </p:nvPr>
        </p:nvSpPr>
        <p:spPr/>
        <p:txBody>
          <a:bodyPr/>
          <a:lstStyle/>
          <a:p>
            <a:endParaRPr lang="en-US"/>
          </a:p>
        </p:txBody>
      </p:sp>
      <p:pic>
        <p:nvPicPr>
          <p:cNvPr id="5" name="Picture 4" descr="Diagram explaining how a SaaS application works by illustrating user requests and application responses through a browser and cloud services. It highlights key components like user, browser, Azure App Service, Atlas Taskflow MVC application, and HTML response, with labeled arrows showing data flow and includes engineering insights, architecture setup, and build challenge tips.&#10;&#10;">
            <a:extLst>
              <a:ext uri="{FF2B5EF4-FFF2-40B4-BE49-F238E27FC236}">
                <a16:creationId xmlns:a16="http://schemas.microsoft.com/office/drawing/2014/main" id="{F3039624-AA11-D489-51BA-2D1D9B1D5A96}"/>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569426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2BB2-6473-5B7F-3225-8EBDF36D82EF}"/>
              </a:ext>
            </a:extLst>
          </p:cNvPr>
          <p:cNvSpPr>
            <a:spLocks noGrp="1"/>
          </p:cNvSpPr>
          <p:nvPr>
            <p:ph type="title"/>
          </p:nvPr>
        </p:nvSpPr>
        <p:spPr/>
        <p:txBody>
          <a:bodyPr/>
          <a:lstStyle/>
          <a:p>
            <a:r>
              <a:rPr lang="en-US" dirty="0"/>
              <a:t>4-03</a:t>
            </a:r>
          </a:p>
        </p:txBody>
      </p:sp>
      <p:sp>
        <p:nvSpPr>
          <p:cNvPr id="3" name="Content Placeholder 2">
            <a:extLst>
              <a:ext uri="{FF2B5EF4-FFF2-40B4-BE49-F238E27FC236}">
                <a16:creationId xmlns:a16="http://schemas.microsoft.com/office/drawing/2014/main" id="{3BFB7BE4-EB72-2944-2B73-FEF8B4262484}"/>
              </a:ext>
            </a:extLst>
          </p:cNvPr>
          <p:cNvSpPr>
            <a:spLocks noGrp="1"/>
          </p:cNvSpPr>
          <p:nvPr>
            <p:ph idx="1"/>
          </p:nvPr>
        </p:nvSpPr>
        <p:spPr/>
        <p:txBody>
          <a:bodyPr/>
          <a:lstStyle/>
          <a:p>
            <a:endParaRPr lang="en-US"/>
          </a:p>
        </p:txBody>
      </p:sp>
      <p:pic>
        <p:nvPicPr>
          <p:cNvPr id="5" name="Picture 4" descr="Infographic diagram outlining Sprint 4 Core Lesson for Building Atlas Taskflow, detailing project creation steps with icons for Visual Studio, ASP.NET Core, Azure, and Atlas Taskflow, alongside architecture spotlight and engineering insight. It includes a project structure overview with color-coded folders, a build challenge, sprint roadmap, and today's goal, emphasizing creating a foundation for SaaS applications using Microsoft and Atlas Taskflow tools.&#10;">
            <a:extLst>
              <a:ext uri="{FF2B5EF4-FFF2-40B4-BE49-F238E27FC236}">
                <a16:creationId xmlns:a16="http://schemas.microsoft.com/office/drawing/2014/main" id="{BB342395-AFA3-5554-729C-424E00CB709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009082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F52C8-25F0-972D-A0F5-1755F46CB561}"/>
              </a:ext>
            </a:extLst>
          </p:cNvPr>
          <p:cNvSpPr>
            <a:spLocks noGrp="1"/>
          </p:cNvSpPr>
          <p:nvPr>
            <p:ph type="title"/>
          </p:nvPr>
        </p:nvSpPr>
        <p:spPr/>
        <p:txBody>
          <a:bodyPr/>
          <a:lstStyle/>
          <a:p>
            <a:r>
              <a:rPr lang="en-US" dirty="0"/>
              <a:t>4-04</a:t>
            </a:r>
          </a:p>
        </p:txBody>
      </p:sp>
      <p:sp>
        <p:nvSpPr>
          <p:cNvPr id="3" name="Content Placeholder 2">
            <a:extLst>
              <a:ext uri="{FF2B5EF4-FFF2-40B4-BE49-F238E27FC236}">
                <a16:creationId xmlns:a16="http://schemas.microsoft.com/office/drawing/2014/main" id="{37999F06-4804-B7E3-3763-7038F274C963}"/>
              </a:ext>
            </a:extLst>
          </p:cNvPr>
          <p:cNvSpPr>
            <a:spLocks noGrp="1"/>
          </p:cNvSpPr>
          <p:nvPr>
            <p:ph idx="1"/>
          </p:nvPr>
        </p:nvSpPr>
        <p:spPr/>
        <p:txBody>
          <a:bodyPr/>
          <a:lstStyle/>
          <a:p>
            <a:endParaRPr lang="en-US"/>
          </a:p>
        </p:txBody>
      </p:sp>
      <p:pic>
        <p:nvPicPr>
          <p:cNvPr id="5" name="Picture 4" descr="Diagram explaining Model-View-Controller (MVC) architecture for organizing SaaS applications, featuring labeled sections on MVC definition, key benefits, architecture components, and request flow. Uses color-coded boxes and arrows to illustrate roles of User, Controller, Model, and View, highlighting separation of concerns, maintainability, and scalability with examples and sprint roadmap.&#10;&#10;">
            <a:extLst>
              <a:ext uri="{FF2B5EF4-FFF2-40B4-BE49-F238E27FC236}">
                <a16:creationId xmlns:a16="http://schemas.microsoft.com/office/drawing/2014/main" id="{395D3404-9A47-C615-D8AC-A7B28BE1A4A4}"/>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455154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D80F-5474-F889-B9EF-81C70571F5D7}"/>
              </a:ext>
            </a:extLst>
          </p:cNvPr>
          <p:cNvSpPr>
            <a:spLocks noGrp="1"/>
          </p:cNvSpPr>
          <p:nvPr>
            <p:ph type="title"/>
          </p:nvPr>
        </p:nvSpPr>
        <p:spPr/>
        <p:txBody>
          <a:bodyPr/>
          <a:lstStyle/>
          <a:p>
            <a:r>
              <a:rPr lang="en-US" dirty="0"/>
              <a:t>4-05</a:t>
            </a:r>
          </a:p>
        </p:txBody>
      </p:sp>
      <p:sp>
        <p:nvSpPr>
          <p:cNvPr id="3" name="Content Placeholder 2">
            <a:extLst>
              <a:ext uri="{FF2B5EF4-FFF2-40B4-BE49-F238E27FC236}">
                <a16:creationId xmlns:a16="http://schemas.microsoft.com/office/drawing/2014/main" id="{A3AAC234-4D05-5C88-7357-B7B9D724CED6}"/>
              </a:ext>
            </a:extLst>
          </p:cNvPr>
          <p:cNvSpPr>
            <a:spLocks noGrp="1"/>
          </p:cNvSpPr>
          <p:nvPr>
            <p:ph idx="1"/>
          </p:nvPr>
        </p:nvSpPr>
        <p:spPr/>
        <p:txBody>
          <a:bodyPr/>
          <a:lstStyle/>
          <a:p>
            <a:endParaRPr lang="en-US"/>
          </a:p>
        </p:txBody>
      </p:sp>
      <p:pic>
        <p:nvPicPr>
          <p:cNvPr id="5" name="Picture 4" descr="A detailed infographic outlines Sprint 4 of a course lesson focused on building user interfaces using Atlas Workflow, featuring steps from wireframing to testing and rebuilding. It includes color-coded sections for goals, key principles, development process, tools, and challenges, with sample wireframes, flowcharts, and design tips emphasizing responsive, user-friendly design and Bootstrap integration.&#10;&#10;">
            <a:extLst>
              <a:ext uri="{FF2B5EF4-FFF2-40B4-BE49-F238E27FC236}">
                <a16:creationId xmlns:a16="http://schemas.microsoft.com/office/drawing/2014/main" id="{58BE943A-D953-13E8-59D6-D81DD4A49EB8}"/>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320518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73B5-D3A3-0139-2DE6-42A8BE95CBF0}"/>
              </a:ext>
            </a:extLst>
          </p:cNvPr>
          <p:cNvSpPr>
            <a:spLocks noGrp="1"/>
          </p:cNvSpPr>
          <p:nvPr>
            <p:ph type="title"/>
          </p:nvPr>
        </p:nvSpPr>
        <p:spPr/>
        <p:txBody>
          <a:bodyPr/>
          <a:lstStyle/>
          <a:p>
            <a:r>
              <a:rPr lang="en-US" dirty="0"/>
              <a:t>4-06</a:t>
            </a:r>
          </a:p>
        </p:txBody>
      </p:sp>
      <p:sp>
        <p:nvSpPr>
          <p:cNvPr id="3" name="Content Placeholder 2">
            <a:extLst>
              <a:ext uri="{FF2B5EF4-FFF2-40B4-BE49-F238E27FC236}">
                <a16:creationId xmlns:a16="http://schemas.microsoft.com/office/drawing/2014/main" id="{59309DB6-A277-EA7B-7869-137CDD530B76}"/>
              </a:ext>
            </a:extLst>
          </p:cNvPr>
          <p:cNvSpPr>
            <a:spLocks noGrp="1"/>
          </p:cNvSpPr>
          <p:nvPr>
            <p:ph idx="1"/>
          </p:nvPr>
        </p:nvSpPr>
        <p:spPr/>
        <p:txBody>
          <a:bodyPr/>
          <a:lstStyle/>
          <a:p>
            <a:endParaRPr lang="en-US"/>
          </a:p>
        </p:txBody>
      </p:sp>
      <p:pic>
        <p:nvPicPr>
          <p:cNvPr id="5" name="Picture 4" descr="A detailed infographic outlining the Running &amp; Testing Atlas Taskflow for Sprint 4 Core Lesson, focusing on testing principles, process steps, and key tasks to ensure software reliability and user confidence. It features color-coded sections with icons, a step-by-step sprint roadmap, testing goals, common issues, solutions, and a central flowchart illustrating how to run the Atlas Taskflow effectively.&#10;">
            <a:extLst>
              <a:ext uri="{FF2B5EF4-FFF2-40B4-BE49-F238E27FC236}">
                <a16:creationId xmlns:a16="http://schemas.microsoft.com/office/drawing/2014/main" id="{BF3749A1-D4E6-9E86-2AA6-E956C277A2C1}"/>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452910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A57F2-1246-B90F-C6D7-6422B5EE56C9}"/>
              </a:ext>
            </a:extLst>
          </p:cNvPr>
          <p:cNvSpPr>
            <a:spLocks noGrp="1"/>
          </p:cNvSpPr>
          <p:nvPr>
            <p:ph type="title"/>
          </p:nvPr>
        </p:nvSpPr>
        <p:spPr/>
        <p:txBody>
          <a:bodyPr/>
          <a:lstStyle/>
          <a:p>
            <a:r>
              <a:rPr lang="en-US" dirty="0"/>
              <a:t>4-07</a:t>
            </a:r>
          </a:p>
        </p:txBody>
      </p:sp>
      <p:sp>
        <p:nvSpPr>
          <p:cNvPr id="3" name="Content Placeholder 2">
            <a:extLst>
              <a:ext uri="{FF2B5EF4-FFF2-40B4-BE49-F238E27FC236}">
                <a16:creationId xmlns:a16="http://schemas.microsoft.com/office/drawing/2014/main" id="{79928706-C499-764F-EC9A-42E510861D3E}"/>
              </a:ext>
            </a:extLst>
          </p:cNvPr>
          <p:cNvSpPr>
            <a:spLocks noGrp="1"/>
          </p:cNvSpPr>
          <p:nvPr>
            <p:ph idx="1"/>
          </p:nvPr>
        </p:nvSpPr>
        <p:spPr/>
        <p:txBody>
          <a:bodyPr/>
          <a:lstStyle/>
          <a:p>
            <a:endParaRPr lang="en-US"/>
          </a:p>
        </p:txBody>
      </p:sp>
      <p:pic>
        <p:nvPicPr>
          <p:cNvPr id="5" name="Picture 4" descr="Infographic diagram illustrating the step-by-step process of deploying Atlas TaskFlow to Azure, including preparation, configuration, deployment, and verification stages. It features color-coded sections with icons, a deployment checklist, Azure App Service overview, build challenge tips, and example TaskFlow screenshots to guide users through cloud deployment efficiently.&#10;&#10;">
            <a:extLst>
              <a:ext uri="{FF2B5EF4-FFF2-40B4-BE49-F238E27FC236}">
                <a16:creationId xmlns:a16="http://schemas.microsoft.com/office/drawing/2014/main" id="{A5844CD8-6450-178C-15D7-D71BA55E2D8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985448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CFFA-07C1-8B32-309E-AB9B0F1788A6}"/>
              </a:ext>
            </a:extLst>
          </p:cNvPr>
          <p:cNvSpPr>
            <a:spLocks noGrp="1"/>
          </p:cNvSpPr>
          <p:nvPr>
            <p:ph type="title"/>
          </p:nvPr>
        </p:nvSpPr>
        <p:spPr/>
        <p:txBody>
          <a:bodyPr/>
          <a:lstStyle/>
          <a:p>
            <a:r>
              <a:rPr lang="en-US" dirty="0"/>
              <a:t>4-08</a:t>
            </a:r>
          </a:p>
        </p:txBody>
      </p:sp>
      <p:sp>
        <p:nvSpPr>
          <p:cNvPr id="3" name="Content Placeholder 2">
            <a:extLst>
              <a:ext uri="{FF2B5EF4-FFF2-40B4-BE49-F238E27FC236}">
                <a16:creationId xmlns:a16="http://schemas.microsoft.com/office/drawing/2014/main" id="{D6897FAB-718E-BE3E-800A-57564883F774}"/>
              </a:ext>
            </a:extLst>
          </p:cNvPr>
          <p:cNvSpPr>
            <a:spLocks noGrp="1"/>
          </p:cNvSpPr>
          <p:nvPr>
            <p:ph idx="1"/>
          </p:nvPr>
        </p:nvSpPr>
        <p:spPr/>
        <p:txBody>
          <a:bodyPr/>
          <a:lstStyle/>
          <a:p>
            <a:endParaRPr lang="en-US"/>
          </a:p>
        </p:txBody>
      </p:sp>
      <p:pic>
        <p:nvPicPr>
          <p:cNvPr id="5" name="Picture 4" descr="Infographic summarizing Sprint 4 review and retrospective for a core lesson on Atlas Taskflow, highlighting key achievements such as understanding user stories, building a live application, and deploying to Azure. It features a sprint journey timeline with icons for each phase, key takeaways, a retrospective challenge, sprint goals, and a roadmap, using blue, orange, and white colors with clear labels and section headers.&#10;">
            <a:extLst>
              <a:ext uri="{FF2B5EF4-FFF2-40B4-BE49-F238E27FC236}">
                <a16:creationId xmlns:a16="http://schemas.microsoft.com/office/drawing/2014/main" id="{BA1AFF1F-88B6-5D4D-3DD4-7C752770D97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881479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38EC5-C84D-C273-0BAB-39D82114D7D7}"/>
              </a:ext>
            </a:extLst>
          </p:cNvPr>
          <p:cNvSpPr>
            <a:spLocks noGrp="1"/>
          </p:cNvSpPr>
          <p:nvPr>
            <p:ph type="title"/>
          </p:nvPr>
        </p:nvSpPr>
        <p:spPr/>
        <p:txBody>
          <a:bodyPr/>
          <a:lstStyle/>
          <a:p>
            <a:r>
              <a:rPr lang="en-US" dirty="0"/>
              <a:t>4-09</a:t>
            </a:r>
          </a:p>
        </p:txBody>
      </p:sp>
      <p:sp>
        <p:nvSpPr>
          <p:cNvPr id="3" name="Content Placeholder 2">
            <a:extLst>
              <a:ext uri="{FF2B5EF4-FFF2-40B4-BE49-F238E27FC236}">
                <a16:creationId xmlns:a16="http://schemas.microsoft.com/office/drawing/2014/main" id="{3ACA0F62-6920-CCA2-402B-4ECCEBD5F7E1}"/>
              </a:ext>
            </a:extLst>
          </p:cNvPr>
          <p:cNvSpPr>
            <a:spLocks noGrp="1"/>
          </p:cNvSpPr>
          <p:nvPr>
            <p:ph idx="1"/>
          </p:nvPr>
        </p:nvSpPr>
        <p:spPr/>
        <p:txBody>
          <a:bodyPr/>
          <a:lstStyle/>
          <a:p>
            <a:endParaRPr lang="en-US"/>
          </a:p>
        </p:txBody>
      </p:sp>
      <p:pic>
        <p:nvPicPr>
          <p:cNvPr id="5" name="Picture 4" descr="Dashboard screenshot from Atlas TaskFlow celebrating completion of Sprint 4 in a software engineering project. It includes sections for sprint reflection questions, sprint achievements, progress metrics, and motivational messages, using blue, green, and orange colors with icons and checkmarks to highlight milestones and next steps.&#10;">
            <a:extLst>
              <a:ext uri="{FF2B5EF4-FFF2-40B4-BE49-F238E27FC236}">
                <a16:creationId xmlns:a16="http://schemas.microsoft.com/office/drawing/2014/main" id="{6B411BF9-6965-A6C2-7DA2-3D397CC9C6F5}"/>
              </a:ext>
            </a:extLst>
          </p:cNvPr>
          <p:cNvPicPr>
            <a:picLocks noChangeAspect="1"/>
          </p:cNvPicPr>
          <p:nvPr/>
        </p:nvPicPr>
        <p:blipFill>
          <a:blip r:embed="rId2"/>
          <a:stretch>
            <a:fillRect/>
          </a:stretch>
        </p:blipFill>
        <p:spPr>
          <a:xfrm>
            <a:off x="3239" y="0"/>
            <a:ext cx="12185522" cy="6858000"/>
          </a:xfrm>
          <a:prstGeom prst="rect">
            <a:avLst/>
          </a:prstGeom>
        </p:spPr>
      </p:pic>
      <p:pic>
        <p:nvPicPr>
          <p:cNvPr id="7" name="Picture 6" descr="Dashboard screenshot from Atlas TaskFlow celebrating completion of Sprint 4 in a software engineering project. It includes sections for sprint reflection questions, sprint achievements, progress metrics, and motivational messages, using blue, green, and orange colors with icons and checkmarks to highlight milestones and next steps.">
            <a:extLst>
              <a:ext uri="{FF2B5EF4-FFF2-40B4-BE49-F238E27FC236}">
                <a16:creationId xmlns:a16="http://schemas.microsoft.com/office/drawing/2014/main" id="{C754179B-0E2F-583F-A9A3-D5EA2CC825B0}"/>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166914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2910</TotalTime>
  <Words>8873</Words>
  <Application>Microsoft Office PowerPoint</Application>
  <PresentationFormat>Widescreen</PresentationFormat>
  <Paragraphs>4165</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4-01</vt:lpstr>
      <vt:lpstr>4-02</vt:lpstr>
      <vt:lpstr>4-03</vt:lpstr>
      <vt:lpstr>4-04</vt:lpstr>
      <vt:lpstr>4-05</vt:lpstr>
      <vt:lpstr>4-06</vt:lpstr>
      <vt:lpstr>4-07</vt:lpstr>
      <vt:lpstr>4-08</vt:lpstr>
      <vt:lpstr>4-09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2</cp:revision>
  <dcterms:created xsi:type="dcterms:W3CDTF">2026-08-07T03:11:19Z</dcterms:created>
  <dcterms:modified xsi:type="dcterms:W3CDTF">2026-08-13T18:13:40Z</dcterms:modified>
</cp:coreProperties>
</file>